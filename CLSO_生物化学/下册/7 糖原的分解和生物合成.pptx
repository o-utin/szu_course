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68"/>
  </p:handoutMasterIdLst>
  <p:sldIdLst>
    <p:sldId id="316" r:id="rId3"/>
    <p:sldId id="293" r:id="rId4"/>
    <p:sldId id="294" r:id="rId5"/>
    <p:sldId id="317" r:id="rId6"/>
    <p:sldId id="318" r:id="rId7"/>
    <p:sldId id="295" r:id="rId8"/>
    <p:sldId id="319" r:id="rId9"/>
    <p:sldId id="361" r:id="rId10"/>
    <p:sldId id="296" r:id="rId11"/>
    <p:sldId id="322" r:id="rId12"/>
    <p:sldId id="349" r:id="rId13"/>
    <p:sldId id="363" r:id="rId14"/>
    <p:sldId id="364" r:id="rId15"/>
    <p:sldId id="354" r:id="rId17"/>
    <p:sldId id="353" r:id="rId18"/>
    <p:sldId id="365" r:id="rId19"/>
    <p:sldId id="352" r:id="rId20"/>
    <p:sldId id="397" r:id="rId21"/>
    <p:sldId id="405" r:id="rId22"/>
    <p:sldId id="366" r:id="rId23"/>
    <p:sldId id="398" r:id="rId24"/>
    <p:sldId id="348" r:id="rId25"/>
    <p:sldId id="378" r:id="rId26"/>
    <p:sldId id="359" r:id="rId27"/>
    <p:sldId id="355" r:id="rId28"/>
    <p:sldId id="357" r:id="rId29"/>
    <p:sldId id="358" r:id="rId30"/>
    <p:sldId id="350" r:id="rId31"/>
    <p:sldId id="330" r:id="rId32"/>
    <p:sldId id="332" r:id="rId33"/>
    <p:sldId id="351" r:id="rId34"/>
    <p:sldId id="367" r:id="rId35"/>
    <p:sldId id="323" r:id="rId36"/>
    <p:sldId id="379" r:id="rId37"/>
    <p:sldId id="324" r:id="rId38"/>
    <p:sldId id="325" r:id="rId39"/>
    <p:sldId id="380" r:id="rId40"/>
    <p:sldId id="384" r:id="rId41"/>
    <p:sldId id="385" r:id="rId42"/>
    <p:sldId id="326" r:id="rId43"/>
    <p:sldId id="394" r:id="rId44"/>
    <p:sldId id="393" r:id="rId45"/>
    <p:sldId id="396" r:id="rId46"/>
    <p:sldId id="381" r:id="rId47"/>
    <p:sldId id="310" r:id="rId48"/>
    <p:sldId id="390" r:id="rId49"/>
    <p:sldId id="288" r:id="rId50"/>
    <p:sldId id="416" r:id="rId51"/>
    <p:sldId id="417" r:id="rId52"/>
    <p:sldId id="418" r:id="rId53"/>
    <p:sldId id="419" r:id="rId54"/>
    <p:sldId id="420" r:id="rId55"/>
    <p:sldId id="421" r:id="rId56"/>
    <p:sldId id="422" r:id="rId57"/>
    <p:sldId id="423" r:id="rId58"/>
    <p:sldId id="424" r:id="rId59"/>
    <p:sldId id="425" r:id="rId60"/>
    <p:sldId id="426" r:id="rId61"/>
    <p:sldId id="427" r:id="rId62"/>
    <p:sldId id="430" r:id="rId63"/>
    <p:sldId id="431" r:id="rId64"/>
    <p:sldId id="432" r:id="rId65"/>
    <p:sldId id="433" r:id="rId66"/>
    <p:sldId id="434" r:id="rId67"/>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EBFF"/>
    <a:srgbClr val="FFCCFF"/>
    <a:srgbClr val="A50021"/>
    <a:srgbClr val="D9EDEF"/>
    <a:srgbClr val="CC0000"/>
    <a:srgbClr val="FFF7F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125"/>
    <p:restoredTop sz="93323"/>
  </p:normalViewPr>
  <p:slideViewPr>
    <p:cSldViewPr showGuides="1">
      <p:cViewPr>
        <p:scale>
          <a:sx n="100" d="100"/>
          <a:sy n="100" d="100"/>
        </p:scale>
        <p:origin x="2160" y="2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1"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A61CCFE-B35E-854A-87AB-FE58846F858A}" type="datetimeFigureOut">
              <a:rPr kumimoji="0" lang="en-US" sz="1200" b="1"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sz="1200" b="1"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1"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B077A0B-5471-614F-AF50-117E7CD9B570}" type="slidenum">
              <a:rPr kumimoji="0" lang="en-US" sz="1200" b="1"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sz="1200" b="1"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b="0">
                <a:latin typeface="Times New Roman" panose="0202060305040502030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charset="0"/>
              <a:ea typeface="宋体" pitchFamily="2" charset="-122"/>
              <a:cs typeface="+mn-cs"/>
            </a:endParaRPr>
          </a:p>
        </p:txBody>
      </p:sp>
      <p:sp>
        <p:nvSpPr>
          <p:cNvPr id="2662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b="0">
                <a:latin typeface="Times New Roman" panose="02020603050405020304"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itchFamily="2" charset="-122"/>
              <a:cs typeface="+mn-cs"/>
            </a:endParaRPr>
          </a:p>
        </p:txBody>
      </p:sp>
      <p:sp>
        <p:nvSpPr>
          <p:cNvPr id="1331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662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b="0">
                <a:latin typeface="Times New Roman" panose="0202060305040502030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itchFamily="2" charset="-122"/>
              <a:cs typeface="+mn-cs"/>
            </a:endParaRPr>
          </a:p>
        </p:txBody>
      </p:sp>
      <p:sp>
        <p:nvSpPr>
          <p:cNvPr id="2662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b="0">
                <a:latin typeface="Times New Roman" panose="0202060305040502030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564D698-D5AA-D348-A57E-DFE27C65F428}" type="slidenum">
              <a:rPr kumimoji="1" lang="zh-CN" altLang="en-US" sz="1200" b="0" i="0" u="none" strike="noStrike" kern="1200" cap="none" spc="0" normalizeH="0" baseline="0" noProof="0" smtClean="0">
                <a:ln>
                  <a:noFill/>
                </a:ln>
                <a:solidFill>
                  <a:schemeClr val="tx1"/>
                </a:solidFill>
                <a:effectLst/>
                <a:uLnTx/>
                <a:uFillTx/>
                <a:latin typeface="Times New Roman" panose="02020603050405020304" charset="0"/>
                <a:ea typeface="宋体" pitchFamily="2" charset="-122"/>
                <a:cs typeface="+mn-cs"/>
              </a:rPr>
            </a:fld>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Slide Image Placeholder 1"/>
          <p:cNvSpPr>
            <a:spLocks noGrp="1" noRot="1" noChangeAspect="1" noTextEdit="1"/>
          </p:cNvSpPr>
          <p:nvPr>
            <p:ph type="sldImg"/>
          </p:nvPr>
        </p:nvSpPr>
        <p:spPr>
          <a:ln/>
        </p:spPr>
      </p:sp>
      <p:sp>
        <p:nvSpPr>
          <p:cNvPr id="83970" name="Notes Placeholder 2"/>
          <p:cNvSpPr>
            <a:spLocks noGrp="1"/>
          </p:cNvSpPr>
          <p:nvPr>
            <p:ph type="body" idx="1"/>
          </p:nvPr>
        </p:nvSpPr>
        <p:spPr>
          <a:ln/>
        </p:spPr>
        <p:txBody>
          <a:bodyPr wrap="square" lIns="91440" tIns="45720" rIns="91440" bIns="45720" anchor="t" anchorCtr="0"/>
          <a:p>
            <a:pPr lvl="0"/>
          </a:p>
        </p:txBody>
      </p:sp>
      <p:sp>
        <p:nvSpPr>
          <p:cNvPr id="83971"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a:latin typeface="Times New Roman" panose="02020603050405020304" charset="0"/>
              </a:rPr>
            </a:fld>
            <a:endParaRPr lang="zh-CN" altLang="en-US" sz="1200" b="0">
              <a:latin typeface="Times New Roman" panose="020206030504050203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a:fld>
            <a:endParaRPr lang="zh-CN" altLang="en-US"/>
          </a:p>
        </p:txBody>
      </p:sp>
      <p:sp>
        <p:nvSpPr>
          <p:cNvPr id="65538" name="Rectangle 2"/>
          <p:cNvSpPr>
            <a:spLocks noRot="1" noTextEdit="1"/>
          </p:cNvSpPr>
          <p:nvPr>
            <p:ph type="sldImg"/>
          </p:nvPr>
        </p:nvSpPr>
        <p:spPr>
          <a:ln/>
        </p:spPr>
      </p:sp>
      <p:sp>
        <p:nvSpPr>
          <p:cNvPr id="65539" name="Rectangle 3"/>
          <p:cNvSpPr>
            <a:spLocks noGrp="1"/>
          </p:cNvSpPr>
          <p:nvPr>
            <p:ph type="body" idx="1"/>
          </p:nvPr>
        </p:nvSpPr>
        <p:spPr>
          <a:xfrm>
            <a:off x="0" y="4343400"/>
            <a:ext cx="6858000" cy="4114800"/>
          </a:xfrm>
          <a:ln/>
        </p:spPr>
        <p:txBody>
          <a:bodyPr wrap="square" lIns="91440" tIns="45720" rIns="91440" bIns="45720" anchor="t" anchorCtr="0"/>
          <a:p>
            <a:pPr lvl="0" eaLnBrk="1" hangingPunct="1"/>
            <a:r>
              <a:rPr lang="zh-CN" altLang="en-US" sz="2800" b="1"/>
              <a:t>     </a:t>
            </a:r>
            <a:endParaRPr lang="zh-CN" altLang="en-US" sz="2400"/>
          </a:p>
        </p:txBody>
      </p:sp>
      <p:sp>
        <p:nvSpPr>
          <p:cNvPr id="65540" name="Text Box 4"/>
          <p:cNvSpPr txBox="1"/>
          <p:nvPr/>
        </p:nvSpPr>
        <p:spPr>
          <a:xfrm>
            <a:off x="152400" y="4343400"/>
            <a:ext cx="6477000" cy="519113"/>
          </a:xfrm>
          <a:prstGeom prst="rect">
            <a:avLst/>
          </a:prstGeom>
          <a:noFill/>
          <a:ln w="9525">
            <a:noFill/>
          </a:ln>
        </p:spPr>
        <p:txBody>
          <a:bodyPr>
            <a:spAutoFit/>
          </a:bodyPr>
          <a:p>
            <a:pPr lvl="0" eaLnBrk="1" hangingPunct="1">
              <a:spcBef>
                <a:spcPct val="0"/>
              </a:spcBef>
              <a:buClr>
                <a:schemeClr val="accent1"/>
              </a:buClr>
              <a:buFont typeface="Wingdings" panose="05000000000000000000" pitchFamily="2" charset="2"/>
              <a:buChar char="•"/>
            </a:pPr>
            <a:r>
              <a:rPr lang="zh-CN" altLang="en-US" sz="2800" b="1">
                <a:solidFill>
                  <a:schemeClr val="accent2"/>
                </a:solidFill>
                <a:latin typeface="Abadi MT Condensed Light" pitchFamily="34" charset="0"/>
                <a:ea typeface="黑体" pitchFamily="49" charset="-122"/>
              </a:rPr>
              <a:t>     </a:t>
            </a:r>
            <a:endParaRPr lang="zh-CN" altLang="en-US" sz="2800" b="1">
              <a:solidFill>
                <a:schemeClr val="accent2"/>
              </a:solidFill>
              <a:latin typeface="Abadi MT Condensed Light" pitchFamily="34" charset="0"/>
              <a:ea typeface="黑体"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a:fld>
            <a:endParaRPr lang="zh-CN" altLang="en-US"/>
          </a:p>
        </p:txBody>
      </p:sp>
      <p:sp>
        <p:nvSpPr>
          <p:cNvPr id="67586" name="Rectangle 2"/>
          <p:cNvSpPr>
            <a:spLocks noRot="1" noTextEdit="1"/>
          </p:cNvSpPr>
          <p:nvPr>
            <p:ph type="sldImg"/>
          </p:nvPr>
        </p:nvSpPr>
        <p:spPr>
          <a:ln/>
        </p:spPr>
      </p:sp>
      <p:sp>
        <p:nvSpPr>
          <p:cNvPr id="67587" name="Rectangle 3"/>
          <p:cNvSpPr>
            <a:spLocks noGrp="1"/>
          </p:cNvSpPr>
          <p:nvPr>
            <p:ph type="body" idx="1"/>
          </p:nvPr>
        </p:nvSpPr>
        <p:spPr>
          <a:xfrm>
            <a:off x="0" y="4343400"/>
            <a:ext cx="6858000" cy="4114800"/>
          </a:xfrm>
          <a:ln/>
        </p:spPr>
        <p:txBody>
          <a:bodyPr wrap="square" lIns="91440" tIns="45720" rIns="91440" bIns="45720" anchor="t" anchorCtr="0"/>
          <a:p>
            <a:pPr lvl="0" eaLnBrk="1" hangingPunct="1"/>
            <a:r>
              <a:rPr lang="zh-CN" altLang="en-US" sz="2800" b="1"/>
              <a:t>     </a:t>
            </a:r>
            <a:endParaRPr lang="zh-CN" altLang="en-US" sz="2400"/>
          </a:p>
        </p:txBody>
      </p:sp>
      <p:sp>
        <p:nvSpPr>
          <p:cNvPr id="67588" name="Text Box 4"/>
          <p:cNvSpPr txBox="1"/>
          <p:nvPr/>
        </p:nvSpPr>
        <p:spPr>
          <a:xfrm>
            <a:off x="152400" y="4343400"/>
            <a:ext cx="6477000" cy="519113"/>
          </a:xfrm>
          <a:prstGeom prst="rect">
            <a:avLst/>
          </a:prstGeom>
          <a:noFill/>
          <a:ln w="9525">
            <a:noFill/>
          </a:ln>
        </p:spPr>
        <p:txBody>
          <a:bodyPr>
            <a:spAutoFit/>
          </a:bodyPr>
          <a:p>
            <a:pPr lvl="0" eaLnBrk="1" hangingPunct="1">
              <a:spcBef>
                <a:spcPct val="0"/>
              </a:spcBef>
              <a:buClr>
                <a:schemeClr val="accent1"/>
              </a:buClr>
              <a:buFont typeface="Wingdings" panose="05000000000000000000" pitchFamily="2" charset="2"/>
              <a:buChar char="•"/>
            </a:pPr>
            <a:r>
              <a:rPr lang="zh-CN" altLang="en-US" sz="2800" b="1">
                <a:solidFill>
                  <a:schemeClr val="accent2"/>
                </a:solidFill>
                <a:latin typeface="Abadi MT Condensed Light" pitchFamily="34" charset="0"/>
                <a:ea typeface="黑体" pitchFamily="49" charset="-122"/>
              </a:rPr>
              <a:t>    </a:t>
            </a:r>
            <a:endParaRPr lang="zh-CN" altLang="en-US" sz="2800" b="1">
              <a:solidFill>
                <a:schemeClr val="accent2"/>
              </a:solidFill>
              <a:latin typeface="Abadi MT Condensed Light" pitchFamily="34" charset="0"/>
              <a:ea typeface="黑体"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a:fld>
            <a:endParaRPr lang="zh-CN" altLang="en-US"/>
          </a:p>
        </p:txBody>
      </p:sp>
      <p:sp>
        <p:nvSpPr>
          <p:cNvPr id="77826" name="Rectangle 2"/>
          <p:cNvSpPr>
            <a:spLocks noRot="1" noTextEdit="1"/>
          </p:cNvSpPr>
          <p:nvPr>
            <p:ph type="sldImg"/>
          </p:nvPr>
        </p:nvSpPr>
        <p:spPr>
          <a:ln/>
        </p:spPr>
      </p:sp>
      <p:sp>
        <p:nvSpPr>
          <p:cNvPr id="77827" name="Rectangle 3"/>
          <p:cNvSpPr>
            <a:spLocks noGrp="1"/>
          </p:cNvSpPr>
          <p:nvPr>
            <p:ph type="body" idx="1"/>
          </p:nvPr>
        </p:nvSpPr>
        <p:spPr>
          <a:xfrm>
            <a:off x="0" y="4343400"/>
            <a:ext cx="6858000" cy="4114800"/>
          </a:xfrm>
          <a:ln/>
        </p:spPr>
        <p:txBody>
          <a:bodyPr wrap="square" lIns="91440" tIns="45720" rIns="91440" bIns="45720" anchor="t" anchorCtr="0"/>
          <a:p>
            <a:pPr lvl="0" eaLnBrk="1" hangingPunct="1"/>
            <a:r>
              <a:rPr lang="zh-CN" altLang="en-US" sz="2800" b="1"/>
              <a:t> </a:t>
            </a:r>
            <a:r>
              <a:rPr lang="en-US" altLang="zh-CN"/>
              <a:t>epinephrine and glucagon regulate glycogen phosphorylase using second messenger amplification systems that are linked to G proteins. Epinephrine activates adenylate cyclase through a G-protein that, in turn, increases levels of cAMP. cAMP binds to and releases an active form of protein kinase A (PKA). Next, PKA phosphorylates phosphorylase kinase, which, in turn, phosphorylates glycogen phosphorylase b, transforming it into the active glycogen phosphorylase a. This phosphorylation is added onto the glycogen phosphorylase b serine 14. In the liver, epinephrine activates another G-protein-linked receptor that triggers a different cascade, resulting in the activation of Phospholipase C (PLC). PLC indirectly causes the release of calcium from the hepatocytes' endoplasmic reticulum into the cytosol. The increased calcium availability binds to the calmodulin subunit and activates glycogen phosphorylase kinase. Glycogen phosphorylase kinase activates glycogen phosphorylase in the same manner mentioned previously.</a:t>
            </a:r>
            <a:endParaRPr lang="zh-CN" altLang="en-US"/>
          </a:p>
        </p:txBody>
      </p:sp>
      <p:sp>
        <p:nvSpPr>
          <p:cNvPr id="77828" name="Text Box 4"/>
          <p:cNvSpPr txBox="1"/>
          <p:nvPr/>
        </p:nvSpPr>
        <p:spPr>
          <a:xfrm>
            <a:off x="152400" y="4343400"/>
            <a:ext cx="6477000" cy="519113"/>
          </a:xfrm>
          <a:prstGeom prst="rect">
            <a:avLst/>
          </a:prstGeom>
          <a:noFill/>
          <a:ln w="9525">
            <a:noFill/>
          </a:ln>
        </p:spPr>
        <p:txBody>
          <a:bodyPr>
            <a:spAutoFit/>
          </a:bodyPr>
          <a:p>
            <a:pPr lvl="0" eaLnBrk="1" hangingPunct="1">
              <a:spcBef>
                <a:spcPct val="0"/>
              </a:spcBef>
              <a:buClr>
                <a:schemeClr val="accent1"/>
              </a:buClr>
              <a:buFont typeface="Wingdings" panose="05000000000000000000" pitchFamily="2" charset="2"/>
              <a:buChar char="•"/>
            </a:pPr>
            <a:r>
              <a:rPr lang="zh-CN" altLang="en-US" sz="2800" b="1">
                <a:solidFill>
                  <a:schemeClr val="accent2"/>
                </a:solidFill>
                <a:latin typeface="Abadi MT Condensed Light" pitchFamily="34" charset="0"/>
                <a:ea typeface="黑体" pitchFamily="49" charset="-122"/>
              </a:rPr>
              <a:t>    </a:t>
            </a:r>
            <a:endParaRPr lang="zh-CN" altLang="en-US" sz="2800" b="1">
              <a:solidFill>
                <a:schemeClr val="accent2"/>
              </a:solidFill>
              <a:latin typeface="Abadi MT Condensed Light" pitchFamily="34" charset="0"/>
              <a:ea typeface="黑体" pitchFamily="49" charset="-122"/>
            </a:endParaRPr>
          </a:p>
        </p:txBody>
      </p:sp>
      <p:sp>
        <p:nvSpPr>
          <p:cNvPr id="77829" name="Text Box 5"/>
          <p:cNvSpPr txBox="1"/>
          <p:nvPr/>
        </p:nvSpPr>
        <p:spPr>
          <a:xfrm>
            <a:off x="-92075" y="4384675"/>
            <a:ext cx="6950075" cy="4362450"/>
          </a:xfrm>
          <a:prstGeom prst="rect">
            <a:avLst/>
          </a:prstGeom>
          <a:noFill/>
          <a:ln w="9525">
            <a:noFill/>
          </a:ln>
        </p:spPr>
        <p:txBody>
          <a:bodyPr>
            <a:spAutoFit/>
          </a:bodyPr>
          <a:p>
            <a:pPr lvl="0" eaLnBrk="1" hangingPunct="1">
              <a:spcBef>
                <a:spcPct val="0"/>
              </a:spcBef>
            </a:pPr>
            <a:r>
              <a:rPr lang="zh-CN" altLang="en-US" sz="2800" b="1">
                <a:ea typeface="黑体" pitchFamily="49" charset="-122"/>
              </a:rPr>
              <a:t>        糖原合成与分解两个对立途径中，限速酶受同一调节系统的控制，有十分重要的生理意义。</a:t>
            </a:r>
            <a:endParaRPr lang="zh-CN" altLang="en-US" sz="2800" b="1">
              <a:ea typeface="黑体" pitchFamily="49" charset="-122"/>
            </a:endParaRPr>
          </a:p>
          <a:p>
            <a:pPr lvl="0" eaLnBrk="1" hangingPunct="1">
              <a:spcBef>
                <a:spcPct val="0"/>
              </a:spcBef>
            </a:pPr>
            <a:r>
              <a:rPr lang="zh-CN" altLang="en-US" sz="2800" b="1">
                <a:ea typeface="黑体" pitchFamily="49" charset="-122"/>
              </a:rPr>
              <a:t>        当机体受到某些因素的影响，如体内血糖浓度下降，促使肾上腺素及胰高血糖素分泌增加，这两种激素通过</a:t>
            </a:r>
            <a:r>
              <a:rPr lang="en-US" altLang="zh-CN" sz="2800" b="1">
                <a:ea typeface="黑体" pitchFamily="49" charset="-122"/>
              </a:rPr>
              <a:t>cAMP-</a:t>
            </a:r>
            <a:r>
              <a:rPr lang="zh-CN" altLang="en-US" sz="2800" b="1">
                <a:ea typeface="黑体" pitchFamily="49" charset="-122"/>
              </a:rPr>
              <a:t>蛋白激酶系统，一方面活化了肝细胞中磷酸化酶，使糖原分解加速，另一方面促使肝脏、肌肉和脂肪细胞中糖原合酶失活，抑制了糖原的合成，这样更有得于迅速将葡萄糖释放至血液中。</a:t>
            </a:r>
            <a:endParaRPr lang="zh-CN" altLang="en-US" sz="2800" b="1">
              <a:ea typeface="黑体"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18116"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b="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b="0">
                <a:ea typeface="宋体"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218118"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CF256A11-29E6-C24C-877C-4D2C01F21128}" type="slidenum">
              <a:rPr kumimoji="0" lang="zh-CN" altLang="en-US"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dir="ru"/>
  </p:transition>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8060402020202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8060402020202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8060402020202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80604020202020204" pitchFamily="34" charset="0"/>
          <a:ea typeface="宋体" pitchFamily="2" charset="-122"/>
        </a:defRPr>
      </a:lvl5pPr>
      <a:lvl6pPr marL="457200" algn="ctr" rtl="0" fontAlgn="base">
        <a:spcBef>
          <a:spcPct val="0"/>
        </a:spcBef>
        <a:spcAft>
          <a:spcPct val="0"/>
        </a:spcAft>
        <a:defRPr sz="4400">
          <a:solidFill>
            <a:schemeClr val="tx2"/>
          </a:solidFill>
          <a:latin typeface="Arial" panose="02080604020202020204" pitchFamily="34" charset="0"/>
          <a:ea typeface="宋体" pitchFamily="2" charset="-122"/>
        </a:defRPr>
      </a:lvl6pPr>
      <a:lvl7pPr marL="914400" algn="ctr" rtl="0" fontAlgn="base">
        <a:spcBef>
          <a:spcPct val="0"/>
        </a:spcBef>
        <a:spcAft>
          <a:spcPct val="0"/>
        </a:spcAft>
        <a:defRPr sz="4400">
          <a:solidFill>
            <a:schemeClr val="tx2"/>
          </a:solidFill>
          <a:latin typeface="Arial" panose="02080604020202020204" pitchFamily="34" charset="0"/>
          <a:ea typeface="宋体" pitchFamily="2" charset="-122"/>
        </a:defRPr>
      </a:lvl7pPr>
      <a:lvl8pPr marL="1371600" algn="ctr" rtl="0" fontAlgn="base">
        <a:spcBef>
          <a:spcPct val="0"/>
        </a:spcBef>
        <a:spcAft>
          <a:spcPct val="0"/>
        </a:spcAft>
        <a:defRPr sz="4400">
          <a:solidFill>
            <a:schemeClr val="tx2"/>
          </a:solidFill>
          <a:latin typeface="Arial" panose="02080604020202020204" pitchFamily="34" charset="0"/>
          <a:ea typeface="宋体" pitchFamily="2" charset="-122"/>
        </a:defRPr>
      </a:lvl8pPr>
      <a:lvl9pPr marL="1828800" algn="ctr" rtl="0" fontAlgn="base">
        <a:spcBef>
          <a:spcPct val="0"/>
        </a:spcBef>
        <a:spcAft>
          <a:spcPct val="0"/>
        </a:spcAft>
        <a:defRPr sz="4400">
          <a:solidFill>
            <a:schemeClr val="tx2"/>
          </a:solidFill>
          <a:latin typeface="Arial" panose="0208060402020202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jpeg"/><Relationship Id="rId2" Type="http://schemas.openxmlformats.org/officeDocument/2006/relationships/hyperlink" Target="http://www.whfreeman.com/biochem5/" TargetMode="External"/><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jpeg"/><Relationship Id="rId1" Type="http://schemas.openxmlformats.org/officeDocument/2006/relationships/image" Target="../media/image24.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p:nvPr/>
        </p:nvSpPr>
        <p:spPr>
          <a:xfrm>
            <a:off x="511175" y="2236788"/>
            <a:ext cx="8237538" cy="255746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120000"/>
              </a:lnSpc>
              <a:spcBef>
                <a:spcPct val="0"/>
              </a:spcBef>
              <a:buNone/>
            </a:pPr>
            <a:r>
              <a:rPr lang="zh-CN" altLang="en-US" sz="4700" b="1">
                <a:solidFill>
                  <a:schemeClr val="tx2"/>
                </a:solidFill>
                <a:latin typeface="Times New Roman" panose="02020603050405020304" charset="0"/>
              </a:rPr>
              <a:t>第</a:t>
            </a:r>
            <a:r>
              <a:rPr lang="en-US" altLang="zh-CN" sz="4700" b="1">
                <a:solidFill>
                  <a:schemeClr val="tx2"/>
                </a:solidFill>
                <a:latin typeface="Times New Roman" panose="02020603050405020304" charset="0"/>
              </a:rPr>
              <a:t>7</a:t>
            </a:r>
            <a:r>
              <a:rPr lang="zh-CN" altLang="en-US" sz="4700" b="1">
                <a:solidFill>
                  <a:schemeClr val="tx2"/>
                </a:solidFill>
                <a:latin typeface="Times New Roman" panose="02020603050405020304" charset="0"/>
              </a:rPr>
              <a:t>章 糖原的分解和生物合成</a:t>
            </a:r>
            <a:endParaRPr lang="en-US" altLang="zh-CN" sz="4700" b="1">
              <a:solidFill>
                <a:schemeClr val="tx2"/>
              </a:solidFill>
              <a:latin typeface="Tahoma" pitchFamily="34" charset="0"/>
            </a:endParaRPr>
          </a:p>
          <a:p>
            <a:pPr marL="0" lvl="0" indent="0" algn="ctr" eaLnBrk="1" hangingPunct="1">
              <a:lnSpc>
                <a:spcPct val="120000"/>
              </a:lnSpc>
              <a:spcBef>
                <a:spcPct val="0"/>
              </a:spcBef>
              <a:buNone/>
            </a:pPr>
            <a:r>
              <a:rPr lang="en-US" altLang="zh-CN" sz="4400" b="1">
                <a:solidFill>
                  <a:schemeClr val="tx2"/>
                </a:solidFill>
                <a:latin typeface="Times New Roman" panose="02020603050405020304" charset="0"/>
              </a:rPr>
              <a:t>Glycogen Breakdown &amp; Biosynthesis of Glycogen</a:t>
            </a:r>
            <a:endParaRPr lang="zh-CN" altLang="en-US" sz="4400" b="1">
              <a:solidFill>
                <a:schemeClr val="tx2"/>
              </a:solidFill>
              <a:latin typeface="Times New Roman" panose="02020603050405020304" charset="0"/>
            </a:endParaRPr>
          </a:p>
        </p:txBody>
      </p:sp>
      <p:sp>
        <p:nvSpPr>
          <p:cNvPr id="14338"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noChangeArrowheads="1"/>
          </p:cNvSpPr>
          <p:nvPr>
            <p:ph idx="1"/>
          </p:nvPr>
        </p:nvSpPr>
        <p:spPr>
          <a:xfrm>
            <a:off x="1116013" y="1628775"/>
            <a:ext cx="6399213" cy="3171825"/>
          </a:xfrm>
        </p:spPr>
        <p:txBody>
          <a:bodyPr vert="horz" wrap="square" lIns="91440" tIns="45720" rIns="91440" bIns="45720" numCol="1" anchor="t" anchorCtr="0" compatLnSpc="1"/>
          <a:p>
            <a:pPr eaLnBrk="1" hangingPunct="1">
              <a:buNone/>
            </a:pPr>
            <a:r>
              <a:rPr lang="en-US" altLang="zh-CN" sz="4000" b="1">
                <a:solidFill>
                  <a:srgbClr val="660033"/>
                </a:solidFill>
                <a:effectLst>
                  <a:outerShdw blurRad="38100" dist="38100" dir="2700000">
                    <a:srgbClr val="C0C0C0"/>
                  </a:outerShdw>
                </a:effectLst>
                <a:latin typeface="宋体" pitchFamily="2" charset="-122"/>
              </a:rPr>
              <a:t>1</a:t>
            </a:r>
            <a:r>
              <a:rPr lang="zh-CN" altLang="en-US" sz="4000" b="1">
                <a:solidFill>
                  <a:srgbClr val="660033"/>
                </a:solidFill>
                <a:effectLst>
                  <a:outerShdw blurRad="38100" dist="38100" dir="2700000">
                    <a:srgbClr val="C0C0C0"/>
                  </a:outerShdw>
                </a:effectLst>
                <a:latin typeface="宋体" pitchFamily="2" charset="-122"/>
              </a:rPr>
              <a:t>、糖原的生物学意义</a:t>
            </a:r>
            <a:endParaRPr lang="zh-CN" altLang="en-US" sz="4000" b="1">
              <a:solidFill>
                <a:srgbClr val="660033"/>
              </a:solidFill>
              <a:effectLst>
                <a:outerShdw blurRad="38100" dist="38100" dir="2700000">
                  <a:srgbClr val="C0C0C0"/>
                </a:outerShdw>
              </a:effectLst>
              <a:latin typeface="宋体" pitchFamily="2" charset="-122"/>
            </a:endParaRPr>
          </a:p>
          <a:p>
            <a:pPr eaLnBrk="1" hangingPunct="1">
              <a:buNone/>
            </a:pPr>
            <a:r>
              <a:rPr lang="en-US" altLang="zh-CN" sz="4000" b="1">
                <a:solidFill>
                  <a:srgbClr val="660033"/>
                </a:solidFill>
                <a:effectLst>
                  <a:outerShdw blurRad="38100" dist="38100" dir="2700000">
                    <a:srgbClr val="C0C0C0"/>
                  </a:outerShdw>
                </a:effectLst>
                <a:latin typeface="宋体" pitchFamily="2" charset="-122"/>
              </a:rPr>
              <a:t>2</a:t>
            </a:r>
            <a:r>
              <a:rPr lang="zh-CN" altLang="en-US" sz="4000" b="1">
                <a:solidFill>
                  <a:srgbClr val="660033"/>
                </a:solidFill>
                <a:effectLst>
                  <a:outerShdw blurRad="38100" dist="38100" dir="2700000">
                    <a:srgbClr val="C0C0C0"/>
                  </a:outerShdw>
                </a:effectLst>
                <a:latin typeface="宋体" pitchFamily="2" charset="-122"/>
              </a:rPr>
              <a:t>、糖原的降解</a:t>
            </a:r>
            <a:endParaRPr lang="zh-CN" altLang="en-US" sz="4000" b="1">
              <a:solidFill>
                <a:srgbClr val="660033"/>
              </a:solidFill>
              <a:effectLst>
                <a:outerShdw blurRad="38100" dist="38100" dir="2700000">
                  <a:srgbClr val="C0C0C0"/>
                </a:outerShdw>
              </a:effectLst>
              <a:latin typeface="宋体" pitchFamily="2" charset="-122"/>
            </a:endParaRPr>
          </a:p>
          <a:p>
            <a:pPr eaLnBrk="1" hangingPunct="1">
              <a:buNone/>
            </a:pPr>
            <a:r>
              <a:rPr lang="en-US" altLang="zh-CN" sz="4000" b="1">
                <a:solidFill>
                  <a:srgbClr val="660033"/>
                </a:solidFill>
                <a:effectLst>
                  <a:outerShdw blurRad="38100" dist="38100" dir="2700000">
                    <a:srgbClr val="C0C0C0"/>
                  </a:outerShdw>
                </a:effectLst>
                <a:latin typeface="宋体" pitchFamily="2" charset="-122"/>
              </a:rPr>
              <a:t>3</a:t>
            </a:r>
            <a:r>
              <a:rPr lang="zh-CN" altLang="en-US" sz="4000" b="1">
                <a:solidFill>
                  <a:srgbClr val="660033"/>
                </a:solidFill>
                <a:effectLst>
                  <a:outerShdw blurRad="38100" dist="38100" dir="2700000">
                    <a:srgbClr val="C0C0C0"/>
                  </a:outerShdw>
                </a:effectLst>
                <a:latin typeface="宋体" pitchFamily="2" charset="-122"/>
              </a:rPr>
              <a:t>、糖原的生物合成</a:t>
            </a:r>
            <a:endParaRPr lang="zh-CN" altLang="en-US" sz="4000" b="1">
              <a:solidFill>
                <a:srgbClr val="660033"/>
              </a:solidFill>
              <a:effectLst>
                <a:outerShdw blurRad="38100" dist="38100" dir="2700000">
                  <a:srgbClr val="C0C0C0"/>
                </a:outerShdw>
              </a:effectLst>
              <a:latin typeface="宋体" pitchFamily="2" charset="-122"/>
            </a:endParaRPr>
          </a:p>
          <a:p>
            <a:pPr eaLnBrk="1" hangingPunct="1">
              <a:buNone/>
            </a:pPr>
            <a:r>
              <a:rPr lang="en-US" altLang="zh-CN" sz="4000" b="1">
                <a:solidFill>
                  <a:srgbClr val="660033"/>
                </a:solidFill>
                <a:effectLst>
                  <a:outerShdw blurRad="38100" dist="38100" dir="2700000">
                    <a:srgbClr val="C0C0C0"/>
                  </a:outerShdw>
                </a:effectLst>
                <a:latin typeface="宋体" pitchFamily="2" charset="-122"/>
              </a:rPr>
              <a:t>4</a:t>
            </a:r>
            <a:r>
              <a:rPr lang="zh-CN" altLang="en-US" sz="4000" b="1">
                <a:solidFill>
                  <a:srgbClr val="660033"/>
                </a:solidFill>
                <a:effectLst>
                  <a:outerShdw blurRad="38100" dist="38100" dir="2700000">
                    <a:srgbClr val="C0C0C0"/>
                  </a:outerShdw>
                </a:effectLst>
                <a:latin typeface="宋体" pitchFamily="2" charset="-122"/>
              </a:rPr>
              <a:t>、糖原代谢的调控</a:t>
            </a:r>
            <a:endParaRPr lang="zh-CN" altLang="en-US" sz="4000" b="1">
              <a:solidFill>
                <a:srgbClr val="660033"/>
              </a:solidFill>
              <a:effectLst>
                <a:outerShdw blurRad="38100" dist="38100" dir="2700000">
                  <a:srgbClr val="C0C0C0"/>
                </a:outerShdw>
              </a:effectLst>
              <a:latin typeface="宋体" pitchFamily="2" charset="-122"/>
            </a:endParaRPr>
          </a:p>
        </p:txBody>
      </p:sp>
      <p:sp>
        <p:nvSpPr>
          <p:cNvPr id="15362"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noChangeArrowheads="1"/>
          </p:cNvSpPr>
          <p:nvPr>
            <p:ph type="title"/>
          </p:nvPr>
        </p:nvSpPr>
        <p:spPr>
          <a:xfrm>
            <a:off x="1331913" y="404813"/>
            <a:ext cx="6488113" cy="715963"/>
          </a:xfrm>
        </p:spPr>
        <p:txBody>
          <a:bodyPr vert="horz" wrap="square" lIns="91440" tIns="45720" rIns="91440" bIns="45720" numCol="1" anchor="ctr" anchorCtr="0" compatLnSpc="1"/>
          <a:p>
            <a:pPr eaLnBrk="1" hangingPunct="1"/>
            <a:r>
              <a:rPr lang="en-US" altLang="zh-CN" sz="3200" b="1">
                <a:solidFill>
                  <a:srgbClr val="660033"/>
                </a:solidFill>
                <a:effectLst>
                  <a:outerShdw blurRad="38100" dist="38100" dir="2700000">
                    <a:srgbClr val="C0C0C0"/>
                  </a:outerShdw>
                </a:effectLst>
                <a:latin typeface="黑体" pitchFamily="49" charset="-122"/>
                <a:ea typeface="黑体" pitchFamily="49" charset="-122"/>
              </a:rPr>
              <a:t>1.</a:t>
            </a:r>
            <a:r>
              <a:rPr lang="zh-CN" altLang="en-US" sz="3200" b="1">
                <a:solidFill>
                  <a:srgbClr val="660033"/>
                </a:solidFill>
                <a:effectLst>
                  <a:outerShdw blurRad="38100" dist="38100" dir="2700000">
                    <a:srgbClr val="C0C0C0"/>
                  </a:outerShdw>
                </a:effectLst>
                <a:latin typeface="黑体" pitchFamily="49" charset="-122"/>
                <a:ea typeface="黑体" pitchFamily="49" charset="-122"/>
              </a:rPr>
              <a:t>糖原的生物学意义</a:t>
            </a:r>
            <a:endParaRPr lang="zh-CN" altLang="en-US" sz="3200" b="1">
              <a:solidFill>
                <a:srgbClr val="660033"/>
              </a:solidFill>
              <a:effectLst>
                <a:outerShdw blurRad="38100" dist="38100" dir="2700000">
                  <a:srgbClr val="C0C0C0"/>
                </a:outerShdw>
              </a:effectLst>
              <a:latin typeface="黑体" pitchFamily="49" charset="-122"/>
              <a:ea typeface="黑体" pitchFamily="49" charset="-122"/>
            </a:endParaRPr>
          </a:p>
        </p:txBody>
      </p:sp>
      <p:sp>
        <p:nvSpPr>
          <p:cNvPr id="50179" name="Rectangle 3"/>
          <p:cNvSpPr/>
          <p:nvPr/>
        </p:nvSpPr>
        <p:spPr>
          <a:xfrm>
            <a:off x="827088" y="1484313"/>
            <a:ext cx="7848600" cy="47069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None/>
            </a:pPr>
            <a:r>
              <a:rPr lang="zh-CN" altLang="en-US" sz="2800" b="1">
                <a:solidFill>
                  <a:srgbClr val="CC0000"/>
                </a:solidFill>
                <a:latin typeface="Times New Roman" panose="02020603050405020304" charset="0"/>
              </a:rPr>
              <a:t>糖原</a:t>
            </a:r>
            <a:r>
              <a:rPr lang="zh-CN" altLang="en-US" sz="2800" b="1">
                <a:solidFill>
                  <a:schemeClr val="tx2"/>
                </a:solidFill>
                <a:latin typeface="Times New Roman" panose="02020603050405020304" charset="0"/>
              </a:rPr>
              <a:t>－</a:t>
            </a:r>
            <a:r>
              <a:rPr lang="zh-CN" altLang="en-US" sz="2800" b="1">
                <a:solidFill>
                  <a:schemeClr val="tx2"/>
                </a:solidFill>
                <a:latin typeface="Times New Roman" panose="02020603050405020304" charset="0"/>
                <a:ea typeface="楷体_GB2312" pitchFamily="49" charset="-122"/>
              </a:rPr>
              <a:t>动物体内肝脏和肌肉中葡萄糖贮存方式</a:t>
            </a:r>
            <a:r>
              <a:rPr lang="en-US" altLang="zh-CN" sz="2800" b="1">
                <a:solidFill>
                  <a:schemeClr val="tx2"/>
                </a:solidFill>
                <a:latin typeface="Times New Roman" panose="02020603050405020304" charset="0"/>
                <a:ea typeface="楷体_GB2312" pitchFamily="49" charset="-122"/>
              </a:rPr>
              <a:t>.</a:t>
            </a:r>
            <a:endParaRPr lang="en-US" altLang="zh-CN" sz="2800" b="1">
              <a:solidFill>
                <a:schemeClr val="tx2"/>
              </a:solidFill>
              <a:latin typeface="Times New Roman" panose="02020603050405020304" charset="0"/>
              <a:ea typeface="楷体_GB2312" pitchFamily="49" charset="-122"/>
            </a:endParaRPr>
          </a:p>
          <a:p>
            <a:pPr marL="0" lvl="0" indent="0" eaLnBrk="1" hangingPunct="1">
              <a:lnSpc>
                <a:spcPct val="120000"/>
              </a:lnSpc>
              <a:spcBef>
                <a:spcPct val="0"/>
              </a:spcBef>
              <a:buNone/>
            </a:pPr>
            <a:endParaRPr lang="zh-CN" altLang="en-US" sz="2800" b="1">
              <a:solidFill>
                <a:schemeClr val="accent2"/>
              </a:solidFill>
              <a:latin typeface="Times New Roman" panose="02020603050405020304" charset="0"/>
            </a:endParaRPr>
          </a:p>
          <a:p>
            <a:pPr marL="0" lvl="0" indent="0" eaLnBrk="1" hangingPunct="1">
              <a:lnSpc>
                <a:spcPct val="120000"/>
              </a:lnSpc>
              <a:spcBef>
                <a:spcPct val="0"/>
              </a:spcBef>
              <a:buNone/>
            </a:pPr>
            <a:r>
              <a:rPr lang="zh-CN" altLang="en-US" sz="2800" b="1">
                <a:solidFill>
                  <a:schemeClr val="accent2"/>
                </a:solidFill>
                <a:latin typeface="Times New Roman" panose="02020603050405020304" charset="0"/>
              </a:rPr>
              <a:t>肝糖原</a:t>
            </a:r>
            <a:r>
              <a:rPr lang="zh-CN" altLang="en-US" sz="2800" b="1">
                <a:solidFill>
                  <a:schemeClr val="tx2"/>
                </a:solidFill>
                <a:latin typeface="Times New Roman" panose="02020603050405020304" charset="0"/>
                <a:ea typeface="楷体_GB2312" pitchFamily="49" charset="-122"/>
              </a:rPr>
              <a:t>的作用主要是迅速补充血糖</a:t>
            </a:r>
            <a:r>
              <a:rPr lang="zh-CN" altLang="en-US" sz="2800" b="1">
                <a:solidFill>
                  <a:schemeClr val="tx2"/>
                </a:solidFill>
                <a:latin typeface="Times New Roman" panose="02020603050405020304" charset="0"/>
              </a:rPr>
              <a:t>；</a:t>
            </a:r>
            <a:endParaRPr lang="zh-CN" altLang="en-US" sz="2800" b="1">
              <a:solidFill>
                <a:schemeClr val="tx2"/>
              </a:solidFill>
              <a:latin typeface="Times New Roman" panose="02020603050405020304" charset="0"/>
            </a:endParaRPr>
          </a:p>
          <a:p>
            <a:pPr marL="0" lvl="0" indent="0" eaLnBrk="1" hangingPunct="1">
              <a:lnSpc>
                <a:spcPct val="120000"/>
              </a:lnSpc>
              <a:spcBef>
                <a:spcPct val="0"/>
              </a:spcBef>
              <a:buNone/>
            </a:pPr>
            <a:r>
              <a:rPr lang="zh-CN" altLang="en-US" sz="2800" b="1">
                <a:solidFill>
                  <a:schemeClr val="accent2"/>
                </a:solidFill>
                <a:latin typeface="Times New Roman" panose="02020603050405020304" charset="0"/>
              </a:rPr>
              <a:t>肌糖原</a:t>
            </a:r>
            <a:r>
              <a:rPr lang="zh-CN" altLang="en-US" sz="2800" b="1">
                <a:solidFill>
                  <a:schemeClr val="tx2"/>
                </a:solidFill>
                <a:latin typeface="Times New Roman" panose="02020603050405020304" charset="0"/>
                <a:ea typeface="楷体_GB2312" pitchFamily="49" charset="-122"/>
              </a:rPr>
              <a:t>主要是供给肌肉收缩时能量</a:t>
            </a:r>
            <a:r>
              <a:rPr lang="zh-CN" altLang="en-US" sz="2800" b="1">
                <a:solidFill>
                  <a:schemeClr val="tx2"/>
                </a:solidFill>
                <a:latin typeface="Times New Roman" panose="02020603050405020304" charset="0"/>
              </a:rPr>
              <a:t>。</a:t>
            </a:r>
            <a:endParaRPr lang="zh-CN" altLang="en-US" sz="2800" b="1">
              <a:solidFill>
                <a:schemeClr val="tx2"/>
              </a:solidFill>
              <a:latin typeface="Times New Roman" panose="02020603050405020304" charset="0"/>
            </a:endParaRPr>
          </a:p>
          <a:p>
            <a:pPr marL="0" lvl="0" indent="0" eaLnBrk="1" hangingPunct="1">
              <a:lnSpc>
                <a:spcPct val="120000"/>
              </a:lnSpc>
              <a:spcBef>
                <a:spcPct val="0"/>
              </a:spcBef>
              <a:buNone/>
            </a:pPr>
            <a:endParaRPr lang="zh-CN" altLang="en-US" sz="2800" b="1">
              <a:solidFill>
                <a:schemeClr val="tx2"/>
              </a:solidFill>
              <a:latin typeface="Times New Roman" panose="02020603050405020304" charset="0"/>
            </a:endParaRPr>
          </a:p>
          <a:p>
            <a:pPr marL="0" lvl="0" indent="0" eaLnBrk="1" hangingPunct="1">
              <a:lnSpc>
                <a:spcPct val="120000"/>
              </a:lnSpc>
              <a:spcBef>
                <a:spcPct val="0"/>
              </a:spcBef>
              <a:buNone/>
            </a:pPr>
            <a:r>
              <a:rPr lang="zh-CN" altLang="en-US" sz="2800" b="1">
                <a:solidFill>
                  <a:schemeClr val="tx2"/>
                </a:solidFill>
                <a:latin typeface="Times New Roman" panose="02020603050405020304" charset="0"/>
                <a:ea typeface="黑体" pitchFamily="49" charset="-122"/>
              </a:rPr>
              <a:t>淀粉</a:t>
            </a:r>
            <a:r>
              <a:rPr lang="zh-CN" altLang="en-US" sz="2800" b="1">
                <a:solidFill>
                  <a:schemeClr val="tx2"/>
                </a:solidFill>
                <a:latin typeface="Times New Roman" panose="02020603050405020304" charset="0"/>
              </a:rPr>
              <a:t>－</a:t>
            </a:r>
            <a:r>
              <a:rPr lang="zh-CN" altLang="en-US" sz="2800" b="1">
                <a:solidFill>
                  <a:schemeClr val="tx2"/>
                </a:solidFill>
                <a:latin typeface="楷体_GB2312" pitchFamily="49" charset="-122"/>
                <a:ea typeface="楷体_GB2312" pitchFamily="49" charset="-122"/>
              </a:rPr>
              <a:t>植物体内葡萄糖贮存方式</a:t>
            </a:r>
            <a:r>
              <a:rPr lang="en-US" altLang="zh-CN" sz="2800" b="1">
                <a:solidFill>
                  <a:schemeClr val="tx2"/>
                </a:solidFill>
                <a:latin typeface="楷体_GB2312" pitchFamily="49" charset="-122"/>
                <a:ea typeface="楷体_GB2312" pitchFamily="49" charset="-122"/>
              </a:rPr>
              <a:t>.</a:t>
            </a:r>
            <a:endParaRPr lang="en-US" altLang="zh-CN"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SzPct val="70000"/>
              <a:buFont typeface="Wingdings" panose="05000000000000000000" pitchFamily="2" charset="2"/>
              <a:buChar char="Ø"/>
            </a:pPr>
            <a:r>
              <a:rPr lang="zh-CN" altLang="en-US" sz="2800" b="1">
                <a:solidFill>
                  <a:srgbClr val="660066"/>
                </a:solidFill>
                <a:latin typeface="Times New Roman" panose="02020603050405020304" charset="0"/>
              </a:rPr>
              <a:t>为何不是葡萄糖，而是以糖原形式贮存？</a:t>
            </a:r>
            <a:endParaRPr lang="zh-CN" altLang="en-US" sz="2800" b="1">
              <a:solidFill>
                <a:srgbClr val="660066"/>
              </a:solidFill>
              <a:latin typeface="Times New Roman" panose="02020603050405020304" charset="0"/>
            </a:endParaRPr>
          </a:p>
          <a:p>
            <a:pPr marL="0" lvl="0" indent="0" eaLnBrk="1" hangingPunct="1">
              <a:lnSpc>
                <a:spcPct val="120000"/>
              </a:lnSpc>
              <a:spcBef>
                <a:spcPct val="0"/>
              </a:spcBef>
              <a:buSzPct val="70000"/>
              <a:buFont typeface="Wingdings" panose="05000000000000000000" pitchFamily="2" charset="2"/>
              <a:buChar char="Ø"/>
            </a:pPr>
            <a:r>
              <a:rPr lang="zh-CN" altLang="en-US" sz="2800" b="1">
                <a:solidFill>
                  <a:srgbClr val="660066"/>
                </a:solidFill>
                <a:latin typeface="Times New Roman" panose="02020603050405020304" charset="0"/>
              </a:rPr>
              <a:t>为何是糖原，而不是脂类？</a:t>
            </a:r>
            <a:endParaRPr lang="zh-CN" altLang="en-US" sz="2800" b="1">
              <a:solidFill>
                <a:srgbClr val="660066"/>
              </a:solidFill>
              <a:latin typeface="Times New Roman" panose="02020603050405020304" charset="0"/>
            </a:endParaRPr>
          </a:p>
        </p:txBody>
      </p:sp>
      <p:sp>
        <p:nvSpPr>
          <p:cNvPr id="1638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0179">
                                            <p:txEl>
                                              <p:charRg st="0" end="22"/>
                                            </p:txEl>
                                          </p:spTgt>
                                        </p:tgtEl>
                                        <p:attrNameLst>
                                          <p:attrName>style.visibility</p:attrName>
                                        </p:attrNameLst>
                                      </p:cBhvr>
                                      <p:to>
                                        <p:strVal val="visible"/>
                                      </p:to>
                                    </p:set>
                                    <p:animEffect transition="in" filter="slide(fromBottom)">
                                      <p:cBhvr>
                                        <p:cTn id="7" dur="500"/>
                                        <p:tgtEl>
                                          <p:spTgt spid="50179">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0179">
                                            <p:txEl>
                                              <p:charRg st="23" end="40"/>
                                            </p:txEl>
                                          </p:spTgt>
                                        </p:tgtEl>
                                        <p:attrNameLst>
                                          <p:attrName>style.visibility</p:attrName>
                                        </p:attrNameLst>
                                      </p:cBhvr>
                                      <p:to>
                                        <p:strVal val="visible"/>
                                      </p:to>
                                    </p:set>
                                    <p:animEffect transition="in" filter="slide(fromBottom)">
                                      <p:cBhvr>
                                        <p:cTn id="12" dur="500"/>
                                        <p:tgtEl>
                                          <p:spTgt spid="50179">
                                            <p:txEl>
                                              <p:charRg st="23"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0179">
                                            <p:txEl>
                                              <p:charRg st="40" end="57"/>
                                            </p:txEl>
                                          </p:spTgt>
                                        </p:tgtEl>
                                        <p:attrNameLst>
                                          <p:attrName>style.visibility</p:attrName>
                                        </p:attrNameLst>
                                      </p:cBhvr>
                                      <p:to>
                                        <p:strVal val="visible"/>
                                      </p:to>
                                    </p:set>
                                    <p:animEffect transition="in" filter="slide(fromBottom)">
                                      <p:cBhvr>
                                        <p:cTn id="17" dur="500"/>
                                        <p:tgtEl>
                                          <p:spTgt spid="50179">
                                            <p:txEl>
                                              <p:charRg st="40"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0179">
                                            <p:txEl>
                                              <p:charRg st="58" end="74"/>
                                            </p:txEl>
                                          </p:spTgt>
                                        </p:tgtEl>
                                        <p:attrNameLst>
                                          <p:attrName>style.visibility</p:attrName>
                                        </p:attrNameLst>
                                      </p:cBhvr>
                                      <p:to>
                                        <p:strVal val="visible"/>
                                      </p:to>
                                    </p:set>
                                    <p:animEffect transition="in" filter="slide(fromBottom)">
                                      <p:cBhvr>
                                        <p:cTn id="22" dur="500"/>
                                        <p:tgtEl>
                                          <p:spTgt spid="50179">
                                            <p:txEl>
                                              <p:charRg st="58" end="7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0179">
                                            <p:txEl>
                                              <p:charRg st="75" end="94"/>
                                            </p:txEl>
                                          </p:spTgt>
                                        </p:tgtEl>
                                        <p:attrNameLst>
                                          <p:attrName>style.visibility</p:attrName>
                                        </p:attrNameLst>
                                      </p:cBhvr>
                                      <p:to>
                                        <p:strVal val="visible"/>
                                      </p:to>
                                    </p:set>
                                    <p:animEffect transition="in" filter="slide(fromBottom)">
                                      <p:cBhvr>
                                        <p:cTn id="27" dur="500"/>
                                        <p:tgtEl>
                                          <p:spTgt spid="50179">
                                            <p:txEl>
                                              <p:charRg st="75" end="9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0179">
                                            <p:txEl>
                                              <p:charRg st="94" end="107"/>
                                            </p:txEl>
                                          </p:spTgt>
                                        </p:tgtEl>
                                        <p:attrNameLst>
                                          <p:attrName>style.visibility</p:attrName>
                                        </p:attrNameLst>
                                      </p:cBhvr>
                                      <p:to>
                                        <p:strVal val="visible"/>
                                      </p:to>
                                    </p:set>
                                    <p:animEffect transition="in" filter="slide(fromBottom)">
                                      <p:cBhvr>
                                        <p:cTn id="32" dur="500"/>
                                        <p:tgtEl>
                                          <p:spTgt spid="50179">
                                            <p:txEl>
                                              <p:charRg st="94" end="10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7" name="Rectangle 3"/>
          <p:cNvSpPr/>
          <p:nvPr/>
        </p:nvSpPr>
        <p:spPr>
          <a:xfrm>
            <a:off x="684213" y="981075"/>
            <a:ext cx="7921625" cy="53133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spcBef>
                <a:spcPct val="0"/>
              </a:spcBef>
              <a:buNone/>
            </a:pPr>
            <a:r>
              <a:rPr lang="zh-CN" altLang="en-US" sz="2400" b="1">
                <a:solidFill>
                  <a:schemeClr val="tx2"/>
                </a:solidFill>
                <a:latin typeface="宋体" pitchFamily="2" charset="-122"/>
              </a:rPr>
              <a:t>（</a:t>
            </a:r>
            <a:r>
              <a:rPr lang="en-US" altLang="zh-CN" sz="2400" b="1">
                <a:solidFill>
                  <a:schemeClr val="tx2"/>
                </a:solidFill>
                <a:latin typeface="宋体" pitchFamily="2" charset="-122"/>
              </a:rPr>
              <a:t>1</a:t>
            </a:r>
            <a:r>
              <a:rPr lang="zh-CN" altLang="en-US" sz="2400" b="1">
                <a:solidFill>
                  <a:schemeClr val="tx2"/>
                </a:solidFill>
                <a:latin typeface="宋体" pitchFamily="2" charset="-122"/>
              </a:rPr>
              <a:t>）</a:t>
            </a:r>
            <a:r>
              <a:rPr lang="zh-CN" altLang="en-US" sz="2400" b="1">
                <a:solidFill>
                  <a:schemeClr val="tx2"/>
                </a:solidFill>
                <a:latin typeface="楷体_GB2312" pitchFamily="49" charset="-122"/>
                <a:ea typeface="楷体_GB2312" pitchFamily="49" charset="-122"/>
              </a:rPr>
              <a:t>产生高渗性</a:t>
            </a:r>
            <a:r>
              <a:rPr lang="en-US" altLang="zh-CN" sz="2400" b="1">
                <a:solidFill>
                  <a:schemeClr val="tx2"/>
                </a:solidFill>
                <a:latin typeface="楷体_GB2312" pitchFamily="49" charset="-122"/>
                <a:ea typeface="楷体_GB2312" pitchFamily="49" charset="-122"/>
              </a:rPr>
              <a:t>,</a:t>
            </a:r>
            <a:r>
              <a:rPr lang="zh-CN" altLang="en-US" sz="2400" b="1">
                <a:solidFill>
                  <a:schemeClr val="tx2"/>
                </a:solidFill>
                <a:latin typeface="楷体_GB2312" pitchFamily="49" charset="-122"/>
                <a:ea typeface="楷体_GB2312" pitchFamily="49" charset="-122"/>
              </a:rPr>
              <a:t>导致尿量显著增多，可致机体脱水，甚至发生高渗性非酮症糖尿病性昏迷，危及生命。 </a:t>
            </a:r>
            <a:endParaRPr lang="zh-CN" altLang="en-US" sz="2400" b="1">
              <a:solidFill>
                <a:schemeClr val="tx2"/>
              </a:solidFill>
              <a:latin typeface="楷体_GB2312" pitchFamily="49" charset="-122"/>
              <a:ea typeface="楷体_GB2312" pitchFamily="49" charset="-122"/>
            </a:endParaRPr>
          </a:p>
          <a:p>
            <a:pPr marL="0" lvl="0" indent="0" eaLnBrk="1" hangingPunct="1">
              <a:lnSpc>
                <a:spcPct val="110000"/>
              </a:lnSpc>
              <a:spcBef>
                <a:spcPct val="0"/>
              </a:spcBef>
              <a:buNone/>
            </a:pPr>
            <a:endParaRPr lang="zh-CN" altLang="en-US" sz="2400" b="1">
              <a:solidFill>
                <a:schemeClr val="tx2"/>
              </a:solidFill>
              <a:latin typeface="楷体_GB2312" pitchFamily="49" charset="-122"/>
              <a:ea typeface="楷体_GB2312" pitchFamily="49" charset="-122"/>
            </a:endParaRPr>
          </a:p>
          <a:p>
            <a:pPr marL="0" lvl="0" indent="0" eaLnBrk="1" hangingPunct="1">
              <a:lnSpc>
                <a:spcPct val="110000"/>
              </a:lnSpc>
              <a:spcBef>
                <a:spcPct val="0"/>
              </a:spcBef>
              <a:buNone/>
            </a:pPr>
            <a:r>
              <a:rPr lang="zh-CN" altLang="en-US" sz="2400" b="1">
                <a:solidFill>
                  <a:schemeClr val="tx2"/>
                </a:solidFill>
                <a:latin typeface="楷体_GB2312" pitchFamily="49" charset="-122"/>
                <a:ea typeface="楷体_GB2312" pitchFamily="49" charset="-122"/>
              </a:rPr>
              <a:t>（</a:t>
            </a:r>
            <a:r>
              <a:rPr lang="en-US" altLang="zh-CN" sz="2400" b="1">
                <a:solidFill>
                  <a:schemeClr val="tx2"/>
                </a:solidFill>
                <a:latin typeface="楷体_GB2312" pitchFamily="49" charset="-122"/>
                <a:ea typeface="楷体_GB2312" pitchFamily="49" charset="-122"/>
              </a:rPr>
              <a:t>2</a:t>
            </a:r>
            <a:r>
              <a:rPr lang="zh-CN" altLang="en-US" sz="2400" b="1">
                <a:solidFill>
                  <a:schemeClr val="tx2"/>
                </a:solidFill>
                <a:latin typeface="楷体_GB2312" pitchFamily="49" charset="-122"/>
                <a:ea typeface="楷体_GB2312" pitchFamily="49" charset="-122"/>
              </a:rPr>
              <a:t>）随着大量液体排出，体内电解质也随之排出，引起水、电解质紊乱，极易并发各种急性病症。 </a:t>
            </a:r>
            <a:endParaRPr lang="zh-CN" altLang="en-US" sz="2400" b="1">
              <a:solidFill>
                <a:schemeClr val="tx2"/>
              </a:solidFill>
              <a:latin typeface="楷体_GB2312" pitchFamily="49" charset="-122"/>
              <a:ea typeface="楷体_GB2312" pitchFamily="49" charset="-122"/>
            </a:endParaRPr>
          </a:p>
          <a:p>
            <a:pPr marL="0" lvl="0" indent="0" eaLnBrk="1" hangingPunct="1">
              <a:lnSpc>
                <a:spcPct val="110000"/>
              </a:lnSpc>
              <a:spcBef>
                <a:spcPct val="0"/>
              </a:spcBef>
              <a:buNone/>
            </a:pPr>
            <a:endParaRPr lang="zh-CN" altLang="en-US" sz="2400" b="1">
              <a:solidFill>
                <a:schemeClr val="tx2"/>
              </a:solidFill>
              <a:latin typeface="楷体_GB2312" pitchFamily="49" charset="-122"/>
              <a:ea typeface="楷体_GB2312" pitchFamily="49" charset="-122"/>
            </a:endParaRPr>
          </a:p>
          <a:p>
            <a:pPr marL="0" lvl="0" indent="0" eaLnBrk="1" hangingPunct="1">
              <a:lnSpc>
                <a:spcPct val="110000"/>
              </a:lnSpc>
              <a:spcBef>
                <a:spcPct val="0"/>
              </a:spcBef>
              <a:buNone/>
            </a:pPr>
            <a:r>
              <a:rPr lang="zh-CN" altLang="en-US" sz="2400" b="1">
                <a:solidFill>
                  <a:schemeClr val="tx2"/>
                </a:solidFill>
                <a:latin typeface="楷体_GB2312" pitchFamily="49" charset="-122"/>
                <a:ea typeface="楷体_GB2312" pitchFamily="49" charset="-122"/>
              </a:rPr>
              <a:t>（</a:t>
            </a:r>
            <a:r>
              <a:rPr lang="en-US" altLang="zh-CN" sz="2400" b="1">
                <a:solidFill>
                  <a:schemeClr val="tx2"/>
                </a:solidFill>
                <a:latin typeface="楷体_GB2312" pitchFamily="49" charset="-122"/>
                <a:ea typeface="楷体_GB2312" pitchFamily="49" charset="-122"/>
              </a:rPr>
              <a:t>3</a:t>
            </a:r>
            <a:r>
              <a:rPr lang="zh-CN" altLang="en-US" sz="2400" b="1">
                <a:solidFill>
                  <a:schemeClr val="tx2"/>
                </a:solidFill>
                <a:latin typeface="楷体_GB2312" pitchFamily="49" charset="-122"/>
                <a:ea typeface="楷体_GB2312" pitchFamily="49" charset="-122"/>
              </a:rPr>
              <a:t>）血糖增高，不断刺激胰岛</a:t>
            </a:r>
            <a:r>
              <a:rPr lang="en-US" altLang="zh-CN" sz="2400" b="1">
                <a:solidFill>
                  <a:schemeClr val="tx2"/>
                </a:solidFill>
                <a:latin typeface="楷体_GB2312" pitchFamily="49" charset="-122"/>
                <a:ea typeface="楷体_GB2312" pitchFamily="49" charset="-122"/>
              </a:rPr>
              <a:t>β-</a:t>
            </a:r>
            <a:r>
              <a:rPr lang="zh-CN" altLang="en-US" sz="2400" b="1">
                <a:solidFill>
                  <a:schemeClr val="tx2"/>
                </a:solidFill>
                <a:latin typeface="楷体_GB2312" pitchFamily="49" charset="-122"/>
                <a:ea typeface="楷体_GB2312" pitchFamily="49" charset="-122"/>
              </a:rPr>
              <a:t>细胞分泌胰岛素，而且长期的刺激可使</a:t>
            </a:r>
            <a:r>
              <a:rPr lang="en-US" altLang="zh-CN" sz="2400" b="1">
                <a:solidFill>
                  <a:schemeClr val="tx2"/>
                </a:solidFill>
                <a:latin typeface="楷体_GB2312" pitchFamily="49" charset="-122"/>
                <a:ea typeface="楷体_GB2312" pitchFamily="49" charset="-122"/>
              </a:rPr>
              <a:t>β-</a:t>
            </a:r>
            <a:r>
              <a:rPr lang="zh-CN" altLang="en-US" sz="2400" b="1">
                <a:solidFill>
                  <a:schemeClr val="tx2"/>
                </a:solidFill>
                <a:latin typeface="楷体_GB2312" pitchFamily="49" charset="-122"/>
                <a:ea typeface="楷体_GB2312" pitchFamily="49" charset="-122"/>
              </a:rPr>
              <a:t>细胞功能衰竭，而加重糖尿病病情。 </a:t>
            </a:r>
            <a:endParaRPr lang="zh-CN" altLang="en-US" sz="2400" b="1">
              <a:solidFill>
                <a:schemeClr val="tx2"/>
              </a:solidFill>
              <a:latin typeface="楷体_GB2312" pitchFamily="49" charset="-122"/>
              <a:ea typeface="楷体_GB2312" pitchFamily="49" charset="-122"/>
            </a:endParaRPr>
          </a:p>
          <a:p>
            <a:pPr marL="0" lvl="0" indent="0" eaLnBrk="1" hangingPunct="1">
              <a:lnSpc>
                <a:spcPct val="110000"/>
              </a:lnSpc>
              <a:spcBef>
                <a:spcPct val="0"/>
              </a:spcBef>
              <a:buNone/>
            </a:pPr>
            <a:endParaRPr lang="zh-CN" altLang="en-US" sz="2400" b="1">
              <a:solidFill>
                <a:schemeClr val="tx2"/>
              </a:solidFill>
              <a:latin typeface="楷体_GB2312" pitchFamily="49" charset="-122"/>
              <a:ea typeface="楷体_GB2312" pitchFamily="49" charset="-122"/>
            </a:endParaRPr>
          </a:p>
          <a:p>
            <a:pPr marL="0" lvl="0" indent="0" eaLnBrk="1" hangingPunct="1">
              <a:lnSpc>
                <a:spcPct val="110000"/>
              </a:lnSpc>
              <a:spcBef>
                <a:spcPct val="0"/>
              </a:spcBef>
              <a:buNone/>
            </a:pPr>
            <a:r>
              <a:rPr lang="zh-CN" altLang="en-US" sz="2400" b="1">
                <a:solidFill>
                  <a:schemeClr val="tx2"/>
                </a:solidFill>
                <a:latin typeface="楷体_GB2312" pitchFamily="49" charset="-122"/>
                <a:ea typeface="楷体_GB2312" pitchFamily="49" charset="-122"/>
              </a:rPr>
              <a:t>（</a:t>
            </a:r>
            <a:r>
              <a:rPr lang="en-US" altLang="zh-CN" sz="2400" b="1">
                <a:solidFill>
                  <a:schemeClr val="tx2"/>
                </a:solidFill>
                <a:latin typeface="楷体_GB2312" pitchFamily="49" charset="-122"/>
                <a:ea typeface="楷体_GB2312" pitchFamily="49" charset="-122"/>
              </a:rPr>
              <a:t>4</a:t>
            </a:r>
            <a:r>
              <a:rPr lang="zh-CN" altLang="en-US" sz="2400" b="1">
                <a:solidFill>
                  <a:schemeClr val="tx2"/>
                </a:solidFill>
                <a:latin typeface="楷体_GB2312" pitchFamily="49" charset="-122"/>
                <a:ea typeface="楷体_GB2312" pitchFamily="49" charset="-122"/>
              </a:rPr>
              <a:t>）长期高血糖使脏器</a:t>
            </a:r>
            <a:r>
              <a:rPr lang="en-US" altLang="zh-CN" sz="2400" b="1">
                <a:solidFill>
                  <a:schemeClr val="tx2"/>
                </a:solidFill>
                <a:latin typeface="楷体_GB2312" pitchFamily="49" charset="-122"/>
                <a:ea typeface="楷体_GB2312" pitchFamily="49" charset="-122"/>
              </a:rPr>
              <a:t>/</a:t>
            </a:r>
            <a:r>
              <a:rPr lang="zh-CN" altLang="en-US" sz="2400" b="1">
                <a:solidFill>
                  <a:schemeClr val="tx2"/>
                </a:solidFill>
                <a:latin typeface="楷体_GB2312" pitchFamily="49" charset="-122"/>
                <a:ea typeface="楷体_GB2312" pitchFamily="49" charset="-122"/>
              </a:rPr>
              <a:t>组织病变</a:t>
            </a:r>
            <a:r>
              <a:rPr lang="en-US" altLang="zh-CN" sz="2400" b="1">
                <a:solidFill>
                  <a:schemeClr val="tx2"/>
                </a:solidFill>
                <a:latin typeface="楷体_GB2312" pitchFamily="49" charset="-122"/>
                <a:ea typeface="楷体_GB2312" pitchFamily="49" charset="-122"/>
              </a:rPr>
              <a:t>,</a:t>
            </a:r>
            <a:r>
              <a:rPr lang="zh-CN" altLang="en-US" sz="2400" b="1">
                <a:solidFill>
                  <a:schemeClr val="tx2"/>
                </a:solidFill>
                <a:latin typeface="楷体_GB2312" pitchFamily="49" charset="-122"/>
                <a:ea typeface="楷体_GB2312" pitchFamily="49" charset="-122"/>
              </a:rPr>
              <a:t>常见如</a:t>
            </a:r>
            <a:r>
              <a:rPr lang="en-US" altLang="zh-CN" sz="2400" b="1">
                <a:solidFill>
                  <a:schemeClr val="tx2"/>
                </a:solidFill>
                <a:latin typeface="楷体_GB2312" pitchFamily="49" charset="-122"/>
                <a:ea typeface="楷体_GB2312" pitchFamily="49" charset="-122"/>
              </a:rPr>
              <a:t>:</a:t>
            </a:r>
            <a:r>
              <a:rPr lang="zh-CN" altLang="en-US" sz="2400" b="1">
                <a:solidFill>
                  <a:schemeClr val="tx2"/>
                </a:solidFill>
                <a:latin typeface="楷体_GB2312" pitchFamily="49" charset="-122"/>
                <a:ea typeface="楷体_GB2312" pitchFamily="49" charset="-122"/>
              </a:rPr>
              <a:t>毛细血管管壁增厚，管腔变细，红细胞不易通过，组织细胞缺氧；肾小球硬化</a:t>
            </a:r>
            <a:r>
              <a:rPr lang="en-US" altLang="zh-CN" sz="2400" b="1">
                <a:solidFill>
                  <a:schemeClr val="tx2"/>
                </a:solidFill>
                <a:latin typeface="楷体_GB2312" pitchFamily="49" charset="-122"/>
                <a:ea typeface="楷体_GB2312" pitchFamily="49" charset="-122"/>
              </a:rPr>
              <a:t>, </a:t>
            </a:r>
            <a:r>
              <a:rPr lang="zh-CN" altLang="en-US" sz="2400" b="1">
                <a:solidFill>
                  <a:schemeClr val="tx2"/>
                </a:solidFill>
                <a:latin typeface="楷体_GB2312" pitchFamily="49" charset="-122"/>
                <a:ea typeface="楷体_GB2312" pitchFamily="49" charset="-122"/>
              </a:rPr>
              <a:t>肾乳头坏死；神经细胞变性，神经纤维发生节段性脱髓鞘病变；心、脑、下肢等多处动脉硬化等。</a:t>
            </a:r>
            <a:r>
              <a:rPr lang="zh-CN" altLang="en-US" sz="2400" b="1">
                <a:latin typeface="楷体_GB2312" pitchFamily="49" charset="-122"/>
                <a:ea typeface="楷体_GB2312" pitchFamily="49" charset="-122"/>
              </a:rPr>
              <a:t> </a:t>
            </a:r>
            <a:endParaRPr lang="zh-CN" altLang="en-US" sz="2400" b="1">
              <a:latin typeface="楷体_GB2312" pitchFamily="49" charset="-122"/>
              <a:ea typeface="楷体_GB2312" pitchFamily="49" charset="-122"/>
            </a:endParaRPr>
          </a:p>
        </p:txBody>
      </p:sp>
      <p:sp>
        <p:nvSpPr>
          <p:cNvPr id="82949" name="Rectangle 5"/>
          <p:cNvSpPr>
            <a:spLocks noChangeArrowheads="1"/>
          </p:cNvSpPr>
          <p:nvPr/>
        </p:nvSpPr>
        <p:spPr bwMode="auto">
          <a:xfrm>
            <a:off x="2124075" y="333375"/>
            <a:ext cx="4806950" cy="519113"/>
          </a:xfrm>
          <a:prstGeom prst="rect">
            <a:avLst/>
          </a:prstGeom>
          <a:noFill/>
          <a:ln w="12700">
            <a:noFill/>
            <a:miter lim="800000"/>
            <a:headEnd type="none" w="sm" len="sm"/>
            <a:tailEnd type="none" w="sm" len="sm"/>
          </a:ln>
          <a:effec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effectLst>
                  <a:outerShdw blurRad="38100" dist="38100" dir="2700000">
                    <a:srgbClr val="C0C0C0"/>
                  </a:outerShdw>
                </a:effectLst>
                <a:latin typeface="黑体" pitchFamily="49" charset="-122"/>
                <a:ea typeface="宋体" pitchFamily="2" charset="-122"/>
              </a:rPr>
              <a:t>1.1 </a:t>
            </a:r>
            <a:r>
              <a:rPr lang="zh-CN" altLang="en-US" sz="2800" b="1">
                <a:effectLst>
                  <a:outerShdw blurRad="38100" dist="38100" dir="2700000">
                    <a:srgbClr val="C0C0C0"/>
                  </a:outerShdw>
                </a:effectLst>
                <a:latin typeface="黑体" pitchFamily="49" charset="-122"/>
                <a:ea typeface="黑体" pitchFamily="49" charset="-122"/>
              </a:rPr>
              <a:t>高血糖对人体的主要危害</a:t>
            </a:r>
            <a:endParaRPr lang="zh-CN" altLang="en-US" sz="2800" b="1">
              <a:effectLst>
                <a:outerShdw blurRad="38100" dist="38100" dir="2700000">
                  <a:srgbClr val="C0C0C0"/>
                </a:outerShdw>
              </a:effectLst>
              <a:latin typeface="黑体" pitchFamily="49" charset="-122"/>
              <a:ea typeface="黑体" pitchFamily="49" charset="-122"/>
            </a:endParaRPr>
          </a:p>
        </p:txBody>
      </p:sp>
      <p:sp>
        <p:nvSpPr>
          <p:cNvPr id="17411"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2947">
                                            <p:txEl>
                                              <p:charRg st="0" end="49"/>
                                            </p:txEl>
                                          </p:spTgt>
                                        </p:tgtEl>
                                        <p:attrNameLst>
                                          <p:attrName>style.visibility</p:attrName>
                                        </p:attrNameLst>
                                      </p:cBhvr>
                                      <p:to>
                                        <p:strVal val="visible"/>
                                      </p:to>
                                    </p:set>
                                    <p:animEffect transition="in" filter="slide(fromBottom)">
                                      <p:cBhvr>
                                        <p:cTn id="7" dur="500"/>
                                        <p:tgtEl>
                                          <p:spTgt spid="82947">
                                            <p:txEl>
                                              <p:charRg st="0"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2947">
                                            <p:txEl>
                                              <p:charRg st="50" end="96"/>
                                            </p:txEl>
                                          </p:spTgt>
                                        </p:tgtEl>
                                        <p:attrNameLst>
                                          <p:attrName>style.visibility</p:attrName>
                                        </p:attrNameLst>
                                      </p:cBhvr>
                                      <p:to>
                                        <p:strVal val="visible"/>
                                      </p:to>
                                    </p:set>
                                    <p:animEffect transition="in" filter="slide(fromBottom)">
                                      <p:cBhvr>
                                        <p:cTn id="12" dur="500"/>
                                        <p:tgtEl>
                                          <p:spTgt spid="82947">
                                            <p:txEl>
                                              <p:charRg st="50" end="9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2947">
                                            <p:txEl>
                                              <p:charRg st="97" end="150"/>
                                            </p:txEl>
                                          </p:spTgt>
                                        </p:tgtEl>
                                        <p:attrNameLst>
                                          <p:attrName>style.visibility</p:attrName>
                                        </p:attrNameLst>
                                      </p:cBhvr>
                                      <p:to>
                                        <p:strVal val="visible"/>
                                      </p:to>
                                    </p:set>
                                    <p:animEffect transition="in" filter="slide(fromBottom)">
                                      <p:cBhvr>
                                        <p:cTn id="17" dur="500"/>
                                        <p:tgtEl>
                                          <p:spTgt spid="82947">
                                            <p:txEl>
                                              <p:charRg st="97" end="1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2947">
                                            <p:txEl>
                                              <p:charRg st="151" end="253"/>
                                            </p:txEl>
                                          </p:spTgt>
                                        </p:tgtEl>
                                        <p:attrNameLst>
                                          <p:attrName>style.visibility</p:attrName>
                                        </p:attrNameLst>
                                      </p:cBhvr>
                                      <p:to>
                                        <p:strVal val="visible"/>
                                      </p:to>
                                    </p:set>
                                    <p:animEffect transition="in" filter="slide(fromBottom)">
                                      <p:cBhvr>
                                        <p:cTn id="22" dur="500"/>
                                        <p:tgtEl>
                                          <p:spTgt spid="82947">
                                            <p:txEl>
                                              <p:charRg st="151" end="2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ChangeArrowheads="1"/>
          </p:cNvSpPr>
          <p:nvPr>
            <p:ph type="title"/>
          </p:nvPr>
        </p:nvSpPr>
        <p:spPr>
          <a:xfrm>
            <a:off x="900113" y="333375"/>
            <a:ext cx="7294563" cy="579438"/>
          </a:xfrm>
        </p:spPr>
        <p:txBody>
          <a:bodyPr vert="horz" wrap="square" lIns="91440" tIns="45720" rIns="91440" bIns="45720" numCol="1" anchor="ctr" anchorCtr="0" compatLnSpc="1"/>
          <a:p>
            <a:pPr eaLnBrk="1" hangingPunct="1"/>
            <a:r>
              <a:rPr lang="en-US" altLang="zh-CN" sz="3200" b="1">
                <a:solidFill>
                  <a:schemeClr val="tx1"/>
                </a:solidFill>
                <a:effectLst>
                  <a:outerShdw blurRad="38100" dist="38100" dir="2700000">
                    <a:srgbClr val="C0C0C0"/>
                  </a:outerShdw>
                </a:effectLst>
                <a:latin typeface="黑体" pitchFamily="49" charset="-122"/>
                <a:ea typeface="黑体" pitchFamily="49" charset="-122"/>
              </a:rPr>
              <a:t>1.2 </a:t>
            </a:r>
            <a:r>
              <a:rPr lang="zh-CN" altLang="en-US" sz="3200" b="1">
                <a:solidFill>
                  <a:schemeClr val="tx1"/>
                </a:solidFill>
                <a:effectLst>
                  <a:outerShdw blurRad="38100" dist="38100" dir="2700000">
                    <a:srgbClr val="C0C0C0"/>
                  </a:outerShdw>
                </a:effectLst>
                <a:latin typeface="黑体" pitchFamily="49" charset="-122"/>
                <a:ea typeface="黑体" pitchFamily="49" charset="-122"/>
              </a:rPr>
              <a:t>糖原比脂类更适为中转性贮存物质</a:t>
            </a:r>
            <a:endParaRPr lang="en-US" altLang="zh-CN" sz="3200" b="1">
              <a:solidFill>
                <a:schemeClr val="tx1"/>
              </a:solidFill>
              <a:effectLst>
                <a:outerShdw blurRad="38100" dist="38100" dir="2700000">
                  <a:srgbClr val="C0C0C0"/>
                </a:outerShdw>
              </a:effectLst>
              <a:latin typeface="黑体" pitchFamily="49" charset="-122"/>
              <a:ea typeface="黑体" pitchFamily="49" charset="-122"/>
            </a:endParaRPr>
          </a:p>
        </p:txBody>
      </p:sp>
      <p:sp>
        <p:nvSpPr>
          <p:cNvPr id="84995" name="Rectangle 3"/>
          <p:cNvSpPr/>
          <p:nvPr/>
        </p:nvSpPr>
        <p:spPr>
          <a:xfrm>
            <a:off x="900113" y="1557338"/>
            <a:ext cx="7416800" cy="4194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高效能</a:t>
            </a:r>
            <a:r>
              <a:rPr lang="en-US" altLang="zh-CN" sz="2800" b="1">
                <a:solidFill>
                  <a:schemeClr val="tx2"/>
                </a:solidFill>
                <a:latin typeface="楷体_GB2312" pitchFamily="49" charset="-122"/>
                <a:ea typeface="楷体_GB2312" pitchFamily="49" charset="-122"/>
              </a:rPr>
              <a:t>:G</a:t>
            </a:r>
            <a:r>
              <a:rPr lang="zh-CN" altLang="en-US" sz="2800" b="1">
                <a:solidFill>
                  <a:schemeClr val="tx2"/>
                </a:solidFill>
                <a:latin typeface="楷体_GB2312" pitchFamily="49" charset="-122"/>
                <a:ea typeface="楷体_GB2312" pitchFamily="49" charset="-122"/>
              </a:rPr>
              <a:t>是机体主要能源物质；糖原分解直接产生</a:t>
            </a:r>
            <a:r>
              <a:rPr lang="en-US" altLang="zh-CN" sz="2800" b="1">
                <a:solidFill>
                  <a:schemeClr val="tx2"/>
                </a:solidFill>
                <a:latin typeface="楷体_GB2312" pitchFamily="49" charset="-122"/>
                <a:ea typeface="楷体_GB2312" pitchFamily="49" charset="-122"/>
              </a:rPr>
              <a:t>G-1-P</a:t>
            </a:r>
            <a:r>
              <a:rPr lang="zh-CN" altLang="en-US" sz="2800" b="1">
                <a:solidFill>
                  <a:schemeClr val="tx2"/>
                </a:solidFill>
                <a:latin typeface="楷体_GB2312" pitchFamily="49" charset="-122"/>
                <a:ea typeface="楷体_GB2312" pitchFamily="49" charset="-122"/>
              </a:rPr>
              <a:t>无需进行生物转化即可分解代谢                                         </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被迅速动用</a:t>
            </a:r>
            <a:r>
              <a:rPr lang="en-US" altLang="zh-CN" sz="2800" b="1">
                <a:solidFill>
                  <a:schemeClr val="tx2"/>
                </a:solidFill>
                <a:latin typeface="楷体_GB2312" pitchFamily="49" charset="-122"/>
                <a:ea typeface="楷体_GB2312" pitchFamily="49" charset="-122"/>
              </a:rPr>
              <a:t>:</a:t>
            </a:r>
            <a:r>
              <a:rPr lang="zh-CN" altLang="en-US" sz="2800" b="1">
                <a:solidFill>
                  <a:schemeClr val="tx2"/>
                </a:solidFill>
                <a:latin typeface="楷体_GB2312" pitchFamily="49" charset="-122"/>
                <a:ea typeface="楷体_GB2312" pitchFamily="49" charset="-122"/>
              </a:rPr>
              <a:t>多分支</a:t>
            </a:r>
            <a:r>
              <a:rPr lang="en-US" altLang="zh-CN" sz="2800" b="1">
                <a:solidFill>
                  <a:schemeClr val="tx2"/>
                </a:solidFill>
                <a:latin typeface="楷体_GB2312" pitchFamily="49" charset="-122"/>
                <a:ea typeface="楷体_GB2312" pitchFamily="49" charset="-122"/>
              </a:rPr>
              <a:t>,</a:t>
            </a:r>
            <a:r>
              <a:rPr lang="zh-CN" altLang="en-US" sz="2800" b="1">
                <a:solidFill>
                  <a:schemeClr val="tx2"/>
                </a:solidFill>
                <a:latin typeface="楷体_GB2312" pitchFamily="49" charset="-122"/>
                <a:ea typeface="楷体_GB2312" pitchFamily="49" charset="-122"/>
              </a:rPr>
              <a:t> 迅速分解释放</a:t>
            </a:r>
            <a:r>
              <a:rPr lang="en-US" altLang="zh-CN" sz="2800" b="1">
                <a:solidFill>
                  <a:schemeClr val="tx2"/>
                </a:solidFill>
                <a:latin typeface="楷体_GB2312" pitchFamily="49" charset="-122"/>
                <a:ea typeface="楷体_GB2312" pitchFamily="49" charset="-122"/>
              </a:rPr>
              <a:t>G</a:t>
            </a:r>
            <a:endParaRPr lang="en-US" altLang="zh-CN"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能灵敏地维持血糖水平</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None/>
            </a:pPr>
            <a:r>
              <a:rPr lang="zh-CN" altLang="en-US" sz="2800" b="1">
                <a:solidFill>
                  <a:schemeClr val="accent2"/>
                </a:solidFill>
                <a:latin typeface="楷体_GB2312" pitchFamily="49" charset="-122"/>
                <a:ea typeface="楷体_GB2312" pitchFamily="49" charset="-122"/>
              </a:rPr>
              <a:t>（动物不能将脂肪酸转变为葡萄糖前体）</a:t>
            </a:r>
            <a:endParaRPr lang="zh-CN" altLang="en-US" sz="2800" b="1">
              <a:solidFill>
                <a:schemeClr val="accent2"/>
              </a:solidFill>
              <a:latin typeface="楷体_GB2312" pitchFamily="49" charset="-122"/>
              <a:ea typeface="楷体_GB2312" pitchFamily="49" charset="-122"/>
            </a:endParaRPr>
          </a:p>
        </p:txBody>
      </p:sp>
      <p:sp>
        <p:nvSpPr>
          <p:cNvPr id="1843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4995">
                                            <p:txEl>
                                              <p:charRg st="0" end="84"/>
                                            </p:txEl>
                                          </p:spTgt>
                                        </p:tgtEl>
                                        <p:attrNameLst>
                                          <p:attrName>style.visibility</p:attrName>
                                        </p:attrNameLst>
                                      </p:cBhvr>
                                      <p:to>
                                        <p:strVal val="visible"/>
                                      </p:to>
                                    </p:set>
                                    <p:animEffect transition="in" filter="slide(fromBottom)">
                                      <p:cBhvr>
                                        <p:cTn id="7" dur="500"/>
                                        <p:tgtEl>
                                          <p:spTgt spid="84995">
                                            <p:txEl>
                                              <p:charRg st="0" end="8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4995">
                                            <p:txEl>
                                              <p:charRg st="85" end="104"/>
                                            </p:txEl>
                                          </p:spTgt>
                                        </p:tgtEl>
                                        <p:attrNameLst>
                                          <p:attrName>style.visibility</p:attrName>
                                        </p:attrNameLst>
                                      </p:cBhvr>
                                      <p:to>
                                        <p:strVal val="visible"/>
                                      </p:to>
                                    </p:set>
                                    <p:animEffect transition="in" filter="slide(fromBottom)">
                                      <p:cBhvr>
                                        <p:cTn id="12" dur="500"/>
                                        <p:tgtEl>
                                          <p:spTgt spid="84995">
                                            <p:txEl>
                                              <p:charRg st="85" end="10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4995">
                                            <p:txEl>
                                              <p:charRg st="105" end="116"/>
                                            </p:txEl>
                                          </p:spTgt>
                                        </p:tgtEl>
                                        <p:attrNameLst>
                                          <p:attrName>style.visibility</p:attrName>
                                        </p:attrNameLst>
                                      </p:cBhvr>
                                      <p:to>
                                        <p:strVal val="visible"/>
                                      </p:to>
                                    </p:set>
                                    <p:animEffect transition="in" filter="slide(fromBottom)">
                                      <p:cBhvr>
                                        <p:cTn id="17" dur="500"/>
                                        <p:tgtEl>
                                          <p:spTgt spid="84995">
                                            <p:txEl>
                                              <p:charRg st="105" end="1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4995">
                                            <p:txEl>
                                              <p:charRg st="117" end="136"/>
                                            </p:txEl>
                                          </p:spTgt>
                                        </p:tgtEl>
                                        <p:attrNameLst>
                                          <p:attrName>style.visibility</p:attrName>
                                        </p:attrNameLst>
                                      </p:cBhvr>
                                      <p:to>
                                        <p:strVal val="visible"/>
                                      </p:to>
                                    </p:set>
                                    <p:animEffect transition="in" filter="slide(fromBottom)">
                                      <p:cBhvr>
                                        <p:cTn id="22" dur="500"/>
                                        <p:tgtEl>
                                          <p:spTgt spid="84995">
                                            <p:txEl>
                                              <p:charRg st="117"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5" name="Rectangle 5"/>
          <p:cNvSpPr>
            <a:spLocks noChangeArrowheads="1"/>
          </p:cNvSpPr>
          <p:nvPr/>
        </p:nvSpPr>
        <p:spPr bwMode="auto">
          <a:xfrm>
            <a:off x="1187450" y="260350"/>
            <a:ext cx="6623050" cy="574675"/>
          </a:xfrm>
          <a:prstGeom prst="rect">
            <a:avLst/>
          </a:prstGeom>
          <a:noFill/>
          <a:ln w="9525">
            <a:noFill/>
            <a:miter lim="800000"/>
          </a:ln>
          <a:effectLst/>
        </p:spPr>
        <p:txBody>
          <a:bodyPr anchor="b"/>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a:effectLst>
                  <a:outerShdw blurRad="38100" dist="38100" dir="2700000">
                    <a:srgbClr val="C0C0C0"/>
                  </a:outerShdw>
                </a:effectLst>
                <a:latin typeface="黑体" pitchFamily="49" charset="-122"/>
                <a:ea typeface="黑体" pitchFamily="49" charset="-122"/>
              </a:rPr>
              <a:t>1.3 </a:t>
            </a:r>
            <a:r>
              <a:rPr lang="zh-CN" altLang="en-US" sz="2800" b="1">
                <a:effectLst>
                  <a:outerShdw blurRad="38100" dist="38100" dir="2700000">
                    <a:srgbClr val="C0C0C0"/>
                  </a:outerShdw>
                </a:effectLst>
                <a:latin typeface="黑体" pitchFamily="49" charset="-122"/>
                <a:ea typeface="黑体" pitchFamily="49" charset="-122"/>
              </a:rPr>
              <a:t>糖原的结构特点</a:t>
            </a:r>
            <a:endParaRPr lang="en-US" altLang="zh-CN" sz="2800" b="1">
              <a:effectLst>
                <a:outerShdw blurRad="38100" dist="38100" dir="2700000">
                  <a:srgbClr val="C0C0C0"/>
                </a:outerShdw>
              </a:effectLst>
              <a:latin typeface="黑体" pitchFamily="49" charset="-122"/>
              <a:ea typeface="黑体" pitchFamily="49" charset="-122"/>
            </a:endParaRPr>
          </a:p>
        </p:txBody>
      </p:sp>
      <p:sp>
        <p:nvSpPr>
          <p:cNvPr id="51206" name="Rectangle 6"/>
          <p:cNvSpPr/>
          <p:nvPr/>
        </p:nvSpPr>
        <p:spPr>
          <a:xfrm>
            <a:off x="827088" y="1052513"/>
            <a:ext cx="7777162" cy="5219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树枝状的多聚葡萄糖</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分子量</a:t>
            </a:r>
            <a:r>
              <a:rPr lang="en-US" altLang="zh-CN" sz="2800" b="1">
                <a:solidFill>
                  <a:schemeClr val="tx2"/>
                </a:solidFill>
                <a:latin typeface="楷体_GB2312" pitchFamily="49" charset="-122"/>
                <a:ea typeface="楷体_GB2312" pitchFamily="49" charset="-122"/>
              </a:rPr>
              <a:t>100</a:t>
            </a:r>
            <a:r>
              <a:rPr lang="zh-CN" altLang="en-US" sz="2800" b="1">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1000</a:t>
            </a:r>
            <a:r>
              <a:rPr lang="zh-CN" altLang="en-US" sz="2800" b="1">
                <a:solidFill>
                  <a:schemeClr val="tx2"/>
                </a:solidFill>
                <a:latin typeface="楷体_GB2312" pitchFamily="49" charset="-122"/>
                <a:ea typeface="楷体_GB2312" pitchFamily="49" charset="-122"/>
              </a:rPr>
              <a:t>万</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含有多个非还原性末端（合成与分解均由此端开始延伸或降解）</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Font typeface="Wingdings" panose="05000000000000000000" pitchFamily="2" charset="2"/>
              <a:buChar char="Ø"/>
            </a:pPr>
            <a:r>
              <a:rPr lang="zh-CN" altLang="en-US" sz="2800" b="1">
                <a:solidFill>
                  <a:schemeClr val="tx2"/>
                </a:solidFill>
                <a:latin typeface="楷体_GB2312" pitchFamily="49" charset="-122"/>
                <a:ea typeface="楷体_GB2312" pitchFamily="49" charset="-122"/>
              </a:rPr>
              <a:t>直链内葡萄糖单位以</a:t>
            </a:r>
            <a:r>
              <a:rPr lang="en-US" altLang="zh-CN" sz="2800" b="1">
                <a:solidFill>
                  <a:schemeClr val="tx2"/>
                </a:solidFill>
                <a:latin typeface="楷体_GB2312" pitchFamily="49" charset="-122"/>
                <a:ea typeface="楷体_GB2312" pitchFamily="49" charset="-122"/>
              </a:rPr>
              <a:t>α1</a:t>
            </a:r>
            <a:r>
              <a:rPr lang="zh-CN" altLang="en-US" sz="2800" b="1">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4-</a:t>
            </a:r>
            <a:r>
              <a:rPr lang="zh-CN" altLang="en-US" sz="2800" b="1">
                <a:solidFill>
                  <a:schemeClr val="tx2"/>
                </a:solidFill>
                <a:latin typeface="楷体_GB2312" pitchFamily="49" charset="-122"/>
                <a:ea typeface="楷体_GB2312" pitchFamily="49" charset="-122"/>
              </a:rPr>
              <a:t>糖苷键（占总糖苷键</a:t>
            </a:r>
            <a:r>
              <a:rPr lang="en-US" altLang="zh-CN" sz="2800" b="1">
                <a:solidFill>
                  <a:schemeClr val="tx2"/>
                </a:solidFill>
                <a:latin typeface="楷体_GB2312" pitchFamily="49" charset="-122"/>
                <a:ea typeface="楷体_GB2312" pitchFamily="49" charset="-122"/>
              </a:rPr>
              <a:t>93%</a:t>
            </a:r>
            <a:r>
              <a:rPr lang="zh-CN" altLang="en-US" sz="2800" b="1">
                <a:solidFill>
                  <a:schemeClr val="tx2"/>
                </a:solidFill>
                <a:latin typeface="楷体_GB2312" pitchFamily="49" charset="-122"/>
                <a:ea typeface="楷体_GB2312" pitchFamily="49" charset="-122"/>
              </a:rPr>
              <a:t>）连接；支链之间以</a:t>
            </a:r>
            <a:r>
              <a:rPr lang="en-US" altLang="zh-CN" sz="2800" b="1">
                <a:solidFill>
                  <a:schemeClr val="tx2"/>
                </a:solidFill>
                <a:latin typeface="楷体_GB2312" pitchFamily="49" charset="-122"/>
                <a:ea typeface="楷体_GB2312" pitchFamily="49" charset="-122"/>
              </a:rPr>
              <a:t>α1</a:t>
            </a:r>
            <a:r>
              <a:rPr lang="zh-CN" altLang="en-US" sz="2800" b="1">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6-</a:t>
            </a:r>
            <a:r>
              <a:rPr lang="zh-CN" altLang="en-US" sz="2800" b="1">
                <a:solidFill>
                  <a:schemeClr val="tx2"/>
                </a:solidFill>
                <a:latin typeface="楷体_GB2312" pitchFamily="49" charset="-122"/>
                <a:ea typeface="楷体_GB2312" pitchFamily="49" charset="-122"/>
              </a:rPr>
              <a:t>糖苷键（</a:t>
            </a:r>
            <a:r>
              <a:rPr lang="en-US" altLang="zh-CN" sz="2800" b="1">
                <a:solidFill>
                  <a:schemeClr val="tx2"/>
                </a:solidFill>
                <a:latin typeface="楷体_GB2312" pitchFamily="49" charset="-122"/>
                <a:ea typeface="楷体_GB2312" pitchFamily="49" charset="-122"/>
              </a:rPr>
              <a:t>7</a:t>
            </a:r>
            <a:r>
              <a:rPr lang="zh-CN" altLang="en-US" sz="2800" b="1">
                <a:solidFill>
                  <a:schemeClr val="tx2"/>
                </a:solidFill>
                <a:latin typeface="楷体_GB2312" pitchFamily="49" charset="-122"/>
                <a:ea typeface="楷体_GB2312" pitchFamily="49" charset="-122"/>
              </a:rPr>
              <a:t>％）连接成分支。</a:t>
            </a:r>
            <a:endParaRPr lang="zh-CN" altLang="en-US" sz="2800" b="1">
              <a:solidFill>
                <a:schemeClr val="tx2"/>
              </a:solidFill>
              <a:latin typeface="楷体_GB2312" pitchFamily="49" charset="-122"/>
              <a:ea typeface="楷体_GB2312" pitchFamily="49" charset="-122"/>
            </a:endParaRPr>
          </a:p>
        </p:txBody>
      </p:sp>
      <p:sp>
        <p:nvSpPr>
          <p:cNvPr id="19459"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1206">
                                            <p:txEl>
                                              <p:charRg st="0" end="10"/>
                                            </p:txEl>
                                          </p:spTgt>
                                        </p:tgtEl>
                                        <p:attrNameLst>
                                          <p:attrName>style.visibility</p:attrName>
                                        </p:attrNameLst>
                                      </p:cBhvr>
                                      <p:to>
                                        <p:strVal val="visible"/>
                                      </p:to>
                                    </p:set>
                                    <p:animEffect transition="in" filter="slide(fromBottom)">
                                      <p:cBhvr>
                                        <p:cTn id="7" dur="500"/>
                                        <p:tgtEl>
                                          <p:spTgt spid="51206">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1206">
                                            <p:txEl>
                                              <p:charRg st="11" end="24"/>
                                            </p:txEl>
                                          </p:spTgt>
                                        </p:tgtEl>
                                        <p:attrNameLst>
                                          <p:attrName>style.visibility</p:attrName>
                                        </p:attrNameLst>
                                      </p:cBhvr>
                                      <p:to>
                                        <p:strVal val="visible"/>
                                      </p:to>
                                    </p:set>
                                    <p:animEffect transition="in" filter="slide(fromBottom)">
                                      <p:cBhvr>
                                        <p:cTn id="12" dur="500"/>
                                        <p:tgtEl>
                                          <p:spTgt spid="51206">
                                            <p:txEl>
                                              <p:charRg st="11"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1206">
                                            <p:txEl>
                                              <p:charRg st="25" end="54"/>
                                            </p:txEl>
                                          </p:spTgt>
                                        </p:tgtEl>
                                        <p:attrNameLst>
                                          <p:attrName>style.visibility</p:attrName>
                                        </p:attrNameLst>
                                      </p:cBhvr>
                                      <p:to>
                                        <p:strVal val="visible"/>
                                      </p:to>
                                    </p:set>
                                    <p:animEffect transition="in" filter="slide(fromBottom)">
                                      <p:cBhvr>
                                        <p:cTn id="17" dur="500"/>
                                        <p:tgtEl>
                                          <p:spTgt spid="51206">
                                            <p:txEl>
                                              <p:charRg st="25" end="5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1206">
                                            <p:txEl>
                                              <p:charRg st="55" end="109"/>
                                            </p:txEl>
                                          </p:spTgt>
                                        </p:tgtEl>
                                        <p:attrNameLst>
                                          <p:attrName>style.visibility</p:attrName>
                                        </p:attrNameLst>
                                      </p:cBhvr>
                                      <p:to>
                                        <p:strVal val="visible"/>
                                      </p:to>
                                    </p:set>
                                    <p:animEffect transition="in" filter="slide(fromBottom)">
                                      <p:cBhvr>
                                        <p:cTn id="22" dur="500"/>
                                        <p:tgtEl>
                                          <p:spTgt spid="51206">
                                            <p:txEl>
                                              <p:charRg st="55"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3"/>
          <p:cNvSpPr/>
          <p:nvPr/>
        </p:nvSpPr>
        <p:spPr>
          <a:xfrm>
            <a:off x="2627313" y="2636838"/>
            <a:ext cx="3744912"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a:latin typeface="Times New Roman" panose="02020603050405020304" charset="0"/>
                <a:ea typeface="黑体" pitchFamily="49" charset="-122"/>
              </a:rPr>
              <a:t>肝糖原普通</a:t>
            </a:r>
            <a:r>
              <a:rPr lang="en-US" altLang="zh-CN" sz="2800">
                <a:latin typeface="Times New Roman" panose="02020603050405020304" charset="0"/>
                <a:ea typeface="黑体" pitchFamily="49" charset="-122"/>
              </a:rPr>
              <a:t> </a:t>
            </a:r>
            <a:r>
              <a:rPr lang="zh-CN" altLang="en-US" sz="2800">
                <a:latin typeface="Times New Roman" panose="02020603050405020304" charset="0"/>
                <a:ea typeface="黑体" pitchFamily="49" charset="-122"/>
              </a:rPr>
              <a:t>显微观察</a:t>
            </a:r>
            <a:endParaRPr lang="zh-CN" altLang="en-US" sz="2800">
              <a:latin typeface="Times New Roman" panose="02020603050405020304" charset="0"/>
              <a:ea typeface="黑体" pitchFamily="49" charset="-122"/>
            </a:endParaRPr>
          </a:p>
        </p:txBody>
      </p:sp>
      <p:pic>
        <p:nvPicPr>
          <p:cNvPr id="20482" name="Picture 9" descr="Pag721Fig1"/>
          <p:cNvPicPr>
            <a:picLocks noChangeAspect="1"/>
          </p:cNvPicPr>
          <p:nvPr/>
        </p:nvPicPr>
        <p:blipFill>
          <a:blip r:embed="rId1"/>
          <a:srcRect t="30574" b="30157"/>
          <a:stretch>
            <a:fillRect/>
          </a:stretch>
        </p:blipFill>
        <p:spPr>
          <a:xfrm>
            <a:off x="611188" y="620713"/>
            <a:ext cx="6985000" cy="1943100"/>
          </a:xfrm>
          <a:prstGeom prst="rect">
            <a:avLst/>
          </a:prstGeom>
          <a:noFill/>
          <a:ln w="9525">
            <a:noFill/>
          </a:ln>
        </p:spPr>
      </p:pic>
      <p:pic>
        <p:nvPicPr>
          <p:cNvPr id="20483" name="Picture 15" descr="histo_glycogen"/>
          <p:cNvPicPr>
            <a:picLocks noChangeAspect="1"/>
          </p:cNvPicPr>
          <p:nvPr/>
        </p:nvPicPr>
        <p:blipFill>
          <a:blip r:embed="rId2"/>
          <a:stretch>
            <a:fillRect/>
          </a:stretch>
        </p:blipFill>
        <p:spPr>
          <a:xfrm>
            <a:off x="611188" y="3500438"/>
            <a:ext cx="6985000" cy="1838325"/>
          </a:xfrm>
          <a:prstGeom prst="rect">
            <a:avLst/>
          </a:prstGeom>
          <a:noFill/>
          <a:ln w="9525">
            <a:noFill/>
          </a:ln>
        </p:spPr>
      </p:pic>
      <p:sp>
        <p:nvSpPr>
          <p:cNvPr id="20484" name="Rectangle 16"/>
          <p:cNvSpPr/>
          <p:nvPr/>
        </p:nvSpPr>
        <p:spPr>
          <a:xfrm>
            <a:off x="2339975" y="5516563"/>
            <a:ext cx="4105275"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a:latin typeface="Times New Roman" panose="02020603050405020304" charset="0"/>
                <a:ea typeface="黑体" pitchFamily="49" charset="-122"/>
              </a:rPr>
              <a:t>肝糖原颗粒电子显微照片</a:t>
            </a:r>
            <a:endParaRPr lang="zh-CN" altLang="en-US" sz="2800">
              <a:latin typeface="Times New Roman" panose="02020603050405020304" charset="0"/>
              <a:ea typeface="黑体" pitchFamily="49" charset="-122"/>
            </a:endParaRPr>
          </a:p>
        </p:txBody>
      </p:sp>
      <p:sp>
        <p:nvSpPr>
          <p:cNvPr id="2048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5" name="Picture 7" descr="Glycogen_structure"/>
          <p:cNvPicPr>
            <a:picLocks noChangeAspect="1"/>
          </p:cNvPicPr>
          <p:nvPr/>
        </p:nvPicPr>
        <p:blipFill>
          <a:blip r:embed="rId1"/>
          <a:stretch>
            <a:fillRect/>
          </a:stretch>
        </p:blipFill>
        <p:spPr>
          <a:xfrm>
            <a:off x="454025" y="935038"/>
            <a:ext cx="5761038" cy="5692775"/>
          </a:xfrm>
          <a:prstGeom prst="rect">
            <a:avLst/>
          </a:prstGeom>
          <a:noFill/>
          <a:ln w="9525">
            <a:noFill/>
          </a:ln>
        </p:spPr>
      </p:pic>
      <p:sp>
        <p:nvSpPr>
          <p:cNvPr id="21506" name="Text Box 9"/>
          <p:cNvSpPr txBox="1"/>
          <p:nvPr/>
        </p:nvSpPr>
        <p:spPr>
          <a:xfrm>
            <a:off x="539750" y="333375"/>
            <a:ext cx="2592388"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黑体" pitchFamily="49" charset="-122"/>
              </a:rPr>
              <a:t>糖原结构示意</a:t>
            </a:r>
            <a:endParaRPr lang="zh-CN" altLang="en-US" sz="2800" b="1">
              <a:ea typeface="黑体" pitchFamily="49" charset="-122"/>
            </a:endParaRPr>
          </a:p>
        </p:txBody>
      </p:sp>
      <p:sp>
        <p:nvSpPr>
          <p:cNvPr id="21507" name="Text Box 12"/>
          <p:cNvSpPr txBox="1"/>
          <p:nvPr/>
        </p:nvSpPr>
        <p:spPr>
          <a:xfrm>
            <a:off x="5148263" y="620713"/>
            <a:ext cx="3600450" cy="946150"/>
          </a:xfrm>
          <a:prstGeom prst="rect">
            <a:avLst/>
          </a:prstGeom>
          <a:solidFill>
            <a:srgbClr val="D9EDEF"/>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糖原由聚糖链和生糖原蛋白两种成分组成</a:t>
            </a:r>
            <a:r>
              <a:rPr lang="en-US" altLang="zh-CN" sz="2800" b="1">
                <a:latin typeface="楷体_GB2312" pitchFamily="49" charset="-122"/>
                <a:ea typeface="宋体" pitchFamily="2" charset="-122"/>
              </a:rPr>
              <a:t>. </a:t>
            </a:r>
            <a:endParaRPr lang="en-US" altLang="zh-CN" sz="2800" b="1">
              <a:latin typeface="楷体_GB2312" pitchFamily="49" charset="-122"/>
              <a:ea typeface="宋体" pitchFamily="2" charset="-122"/>
            </a:endParaRPr>
          </a:p>
        </p:txBody>
      </p:sp>
      <p:sp>
        <p:nvSpPr>
          <p:cNvPr id="180238" name="AutoShape 14"/>
          <p:cNvSpPr/>
          <p:nvPr/>
        </p:nvSpPr>
        <p:spPr>
          <a:xfrm>
            <a:off x="6573838" y="2144713"/>
            <a:ext cx="2160587" cy="935037"/>
          </a:xfrm>
          <a:prstGeom prst="borderCallout2">
            <a:avLst>
              <a:gd name="adj1" fmla="val 12222"/>
              <a:gd name="adj2" fmla="val -3528"/>
              <a:gd name="adj3" fmla="val 12222"/>
              <a:gd name="adj4" fmla="val -33579"/>
              <a:gd name="adj5" fmla="val 161968"/>
              <a:gd name="adj6" fmla="val -117782"/>
            </a:avLst>
          </a:prstGeom>
          <a:noFill/>
          <a:ln w="38100" cap="flat" cmpd="sng">
            <a:solidFill>
              <a:schemeClr val="accent2"/>
            </a:solidFill>
            <a:prstDash val="solid"/>
            <a:miter/>
            <a:headEnd type="none" w="sm" len="sm"/>
            <a:tailEnd type="none" w="sm" len="sm"/>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a:solidFill>
                  <a:srgbClr val="CC0000"/>
                </a:solidFill>
                <a:ea typeface="黑体" pitchFamily="49" charset="-122"/>
              </a:rPr>
              <a:t>生糖原蛋白</a:t>
            </a:r>
            <a:endParaRPr lang="en-US" altLang="zh-CN" sz="2400">
              <a:solidFill>
                <a:srgbClr val="CC0000"/>
              </a:solidFill>
              <a:ea typeface="宋体" pitchFamily="2" charset="-122"/>
            </a:endParaRPr>
          </a:p>
          <a:p>
            <a:pPr marL="0" lvl="0" indent="0" eaLnBrk="1" hangingPunct="1">
              <a:spcBef>
                <a:spcPct val="0"/>
              </a:spcBef>
              <a:buNone/>
            </a:pPr>
            <a:r>
              <a:rPr lang="en-US" altLang="zh-CN" sz="2400">
                <a:ea typeface="宋体" pitchFamily="2" charset="-122"/>
              </a:rPr>
              <a:t>(</a:t>
            </a:r>
            <a:r>
              <a:rPr lang="zh-CN" altLang="en-US" sz="2400">
                <a:ea typeface="黑体" pitchFamily="49" charset="-122"/>
              </a:rPr>
              <a:t>糖原引物蛋白</a:t>
            </a:r>
            <a:r>
              <a:rPr lang="en-US" altLang="zh-CN" sz="2400">
                <a:ea typeface="宋体" pitchFamily="2" charset="-122"/>
              </a:rPr>
              <a:t>)</a:t>
            </a:r>
            <a:endParaRPr lang="en-US" altLang="zh-CN" sz="2400">
              <a:ea typeface="宋体" pitchFamily="2" charset="-122"/>
            </a:endParaRPr>
          </a:p>
        </p:txBody>
      </p:sp>
      <p:sp>
        <p:nvSpPr>
          <p:cNvPr id="180239" name="AutoShape 15"/>
          <p:cNvSpPr/>
          <p:nvPr/>
        </p:nvSpPr>
        <p:spPr>
          <a:xfrm>
            <a:off x="6573838" y="3671888"/>
            <a:ext cx="1296987" cy="504825"/>
          </a:xfrm>
          <a:prstGeom prst="borderCallout2">
            <a:avLst>
              <a:gd name="adj1" fmla="val 22644"/>
              <a:gd name="adj2" fmla="val -5875"/>
              <a:gd name="adj3" fmla="val 22644"/>
              <a:gd name="adj4" fmla="val -78704"/>
              <a:gd name="adj5" fmla="val 22954"/>
              <a:gd name="adj6" fmla="val -165241"/>
            </a:avLst>
          </a:prstGeom>
          <a:noFill/>
          <a:ln w="38100" cap="flat" cmpd="sng">
            <a:solidFill>
              <a:srgbClr val="CC0000"/>
            </a:solidFill>
            <a:prstDash val="solid"/>
            <a:miter/>
            <a:headEnd type="none" w="sm" len="sm"/>
            <a:tailEnd type="none" w="sm" len="sm"/>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a:solidFill>
                  <a:srgbClr val="CC0000"/>
                </a:solidFill>
                <a:ea typeface="黑体" pitchFamily="49" charset="-122"/>
              </a:rPr>
              <a:t>聚糖链</a:t>
            </a:r>
            <a:endParaRPr lang="en-US" altLang="zh-CN" sz="2400">
              <a:solidFill>
                <a:srgbClr val="CC0000"/>
              </a:solidFill>
              <a:ea typeface="宋体" pitchFamily="2" charset="-122"/>
            </a:endParaRPr>
          </a:p>
        </p:txBody>
      </p:sp>
      <p:sp>
        <p:nvSpPr>
          <p:cNvPr id="180240" name="Line 16"/>
          <p:cNvSpPr/>
          <p:nvPr/>
        </p:nvSpPr>
        <p:spPr>
          <a:xfrm>
            <a:off x="5710238" y="4103688"/>
            <a:ext cx="792162" cy="0"/>
          </a:xfrm>
          <a:prstGeom prst="line">
            <a:avLst/>
          </a:prstGeom>
          <a:ln w="38100" cap="flat" cmpd="sng">
            <a:solidFill>
              <a:srgbClr val="CC0000"/>
            </a:solidFill>
            <a:prstDash val="solid"/>
            <a:miter/>
            <a:headEnd type="none" w="sm" len="sm"/>
            <a:tailEnd type="none" w="sm" len="sm"/>
          </a:ln>
        </p:spPr>
      </p:sp>
      <p:sp>
        <p:nvSpPr>
          <p:cNvPr id="180241" name="AutoShape 17"/>
          <p:cNvSpPr/>
          <p:nvPr/>
        </p:nvSpPr>
        <p:spPr>
          <a:xfrm>
            <a:off x="6573838" y="4535488"/>
            <a:ext cx="2160587" cy="503237"/>
          </a:xfrm>
          <a:prstGeom prst="borderCallout2">
            <a:avLst>
              <a:gd name="adj1" fmla="val 22713"/>
              <a:gd name="adj2" fmla="val -3528"/>
              <a:gd name="adj3" fmla="val 22713"/>
              <a:gd name="adj4" fmla="val -12199"/>
              <a:gd name="adj5" fmla="val 55838"/>
              <a:gd name="adj6" fmla="val -22412"/>
            </a:avLst>
          </a:prstGeom>
          <a:noFill/>
          <a:ln w="38100" cap="flat" cmpd="sng">
            <a:solidFill>
              <a:schemeClr val="accent2"/>
            </a:solidFill>
            <a:prstDash val="solid"/>
            <a:miter/>
            <a:headEnd type="none" w="sm" len="sm"/>
            <a:tailEnd type="none" w="sm" len="sm"/>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a:ea typeface="黑体" pitchFamily="49" charset="-122"/>
              </a:rPr>
              <a:t>糖链非还原端</a:t>
            </a:r>
            <a:endParaRPr lang="en-US" altLang="zh-CN" sz="2400">
              <a:ea typeface="宋体" pitchFamily="2" charset="-122"/>
            </a:endParaRPr>
          </a:p>
        </p:txBody>
      </p:sp>
      <p:sp>
        <p:nvSpPr>
          <p:cNvPr id="180242" name="Line 18"/>
          <p:cNvSpPr/>
          <p:nvPr/>
        </p:nvSpPr>
        <p:spPr>
          <a:xfrm>
            <a:off x="5999163" y="5040313"/>
            <a:ext cx="503237" cy="0"/>
          </a:xfrm>
          <a:prstGeom prst="line">
            <a:avLst/>
          </a:prstGeom>
          <a:ln w="38100" cap="flat" cmpd="sng">
            <a:solidFill>
              <a:schemeClr val="accent2"/>
            </a:solidFill>
            <a:prstDash val="solid"/>
            <a:miter/>
            <a:headEnd type="none" w="sm" len="sm"/>
            <a:tailEnd type="none" w="sm" len="sm"/>
          </a:ln>
        </p:spPr>
      </p:sp>
      <p:sp>
        <p:nvSpPr>
          <p:cNvPr id="21513"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0238"/>
                                        </p:tgtEl>
                                        <p:attrNameLst>
                                          <p:attrName>style.visibility</p:attrName>
                                        </p:attrNameLst>
                                      </p:cBhvr>
                                      <p:to>
                                        <p:strVal val="visible"/>
                                      </p:to>
                                    </p:set>
                                    <p:animEffect transition="in" filter="checkerboard(across)">
                                      <p:cBhvr>
                                        <p:cTn id="7" dur="500"/>
                                        <p:tgtEl>
                                          <p:spTgt spid="18023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0239"/>
                                        </p:tgtEl>
                                        <p:attrNameLst>
                                          <p:attrName>style.visibility</p:attrName>
                                        </p:attrNameLst>
                                      </p:cBhvr>
                                      <p:to>
                                        <p:strVal val="visible"/>
                                      </p:to>
                                    </p:set>
                                    <p:animEffect transition="in" filter="checkerboard(across)">
                                      <p:cBhvr>
                                        <p:cTn id="12" dur="500"/>
                                        <p:tgtEl>
                                          <p:spTgt spid="180239"/>
                                        </p:tgtEl>
                                      </p:cBhvr>
                                    </p:animEffect>
                                  </p:childTnLst>
                                </p:cTn>
                              </p:par>
                              <p:par>
                                <p:cTn id="13" presetID="5" presetClass="entr" presetSubtype="10" fill="hold" nodeType="withEffect">
                                  <p:stCondLst>
                                    <p:cond delay="0"/>
                                  </p:stCondLst>
                                  <p:childTnLst>
                                    <p:set>
                                      <p:cBhvr>
                                        <p:cTn id="14" dur="1" fill="hold">
                                          <p:stCondLst>
                                            <p:cond delay="0"/>
                                          </p:stCondLst>
                                        </p:cTn>
                                        <p:tgtEl>
                                          <p:spTgt spid="180240"/>
                                        </p:tgtEl>
                                        <p:attrNameLst>
                                          <p:attrName>style.visibility</p:attrName>
                                        </p:attrNameLst>
                                      </p:cBhvr>
                                      <p:to>
                                        <p:strVal val="visible"/>
                                      </p:to>
                                    </p:set>
                                    <p:animEffect transition="in" filter="checkerboard(across)">
                                      <p:cBhvr>
                                        <p:cTn id="15" dur="500"/>
                                        <p:tgtEl>
                                          <p:spTgt spid="180240"/>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180241"/>
                                        </p:tgtEl>
                                        <p:attrNameLst>
                                          <p:attrName>style.visibility</p:attrName>
                                        </p:attrNameLst>
                                      </p:cBhvr>
                                      <p:to>
                                        <p:strVal val="visible"/>
                                      </p:to>
                                    </p:set>
                                    <p:animEffect transition="in" filter="checkerboard(across)">
                                      <p:cBhvr>
                                        <p:cTn id="20" dur="500"/>
                                        <p:tgtEl>
                                          <p:spTgt spid="180241"/>
                                        </p:tgtEl>
                                      </p:cBhvr>
                                    </p:animEffect>
                                  </p:childTnLst>
                                </p:cTn>
                              </p:par>
                              <p:par>
                                <p:cTn id="21" presetID="5" presetClass="entr" presetSubtype="10" fill="hold" nodeType="withEffect">
                                  <p:stCondLst>
                                    <p:cond delay="0"/>
                                  </p:stCondLst>
                                  <p:childTnLst>
                                    <p:set>
                                      <p:cBhvr>
                                        <p:cTn id="22" dur="1" fill="hold">
                                          <p:stCondLst>
                                            <p:cond delay="0"/>
                                          </p:stCondLst>
                                        </p:cTn>
                                        <p:tgtEl>
                                          <p:spTgt spid="180242"/>
                                        </p:tgtEl>
                                        <p:attrNameLst>
                                          <p:attrName>style.visibility</p:attrName>
                                        </p:attrNameLst>
                                      </p:cBhvr>
                                      <p:to>
                                        <p:strVal val="visible"/>
                                      </p:to>
                                    </p:set>
                                    <p:animEffect transition="in" filter="checkerboard(across)">
                                      <p:cBhvr>
                                        <p:cTn id="23" dur="500"/>
                                        <p:tgtEl>
                                          <p:spTgt spid="18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8" grpId="0" animBg="1"/>
      <p:bldP spid="180239" grpId="0" animBg="1"/>
      <p:bldP spid="1802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29" name="Picture 2" descr="309A"/>
          <p:cNvPicPr>
            <a:picLocks noChangeAspect="1"/>
          </p:cNvPicPr>
          <p:nvPr/>
        </p:nvPicPr>
        <p:blipFill>
          <a:blip r:embed="rId1">
            <a:lum bright="-39999" contrast="84000"/>
          </a:blip>
          <a:srcRect l="2361" t="32460" r="48039" b="5873"/>
          <a:stretch>
            <a:fillRect/>
          </a:stretch>
        </p:blipFill>
        <p:spPr>
          <a:xfrm>
            <a:off x="0" y="692150"/>
            <a:ext cx="4932363" cy="4144963"/>
          </a:xfrm>
          <a:prstGeom prst="rect">
            <a:avLst/>
          </a:prstGeom>
          <a:noFill/>
          <a:ln w="9525">
            <a:noFill/>
          </a:ln>
        </p:spPr>
      </p:pic>
      <p:sp>
        <p:nvSpPr>
          <p:cNvPr id="22530" name="Text Box 6"/>
          <p:cNvSpPr txBox="1"/>
          <p:nvPr/>
        </p:nvSpPr>
        <p:spPr>
          <a:xfrm>
            <a:off x="4427538" y="822325"/>
            <a:ext cx="2501900" cy="892175"/>
          </a:xfrm>
          <a:prstGeom prst="rect">
            <a:avLst/>
          </a:prstGeom>
          <a:solidFill>
            <a:srgbClr val="D9EDEF"/>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黑体" pitchFamily="49" charset="-122"/>
                <a:ea typeface="黑体" pitchFamily="49" charset="-122"/>
              </a:rPr>
              <a:t>非还原端</a:t>
            </a:r>
            <a:r>
              <a:rPr lang="en-US" altLang="zh-CN" sz="2400">
                <a:latin typeface="楷体_GB2312" pitchFamily="49" charset="-122"/>
                <a:ea typeface="宋体" pitchFamily="2" charset="-122"/>
              </a:rPr>
              <a:t>-</a:t>
            </a:r>
            <a:r>
              <a:rPr lang="zh-CN" altLang="en-US" sz="2400">
                <a:latin typeface="楷体_GB2312" pitchFamily="49" charset="-122"/>
                <a:ea typeface="楷体_GB2312" pitchFamily="49" charset="-122"/>
              </a:rPr>
              <a:t>具有游离</a:t>
            </a:r>
            <a:r>
              <a:rPr lang="en-US" altLang="zh-CN" sz="2400">
                <a:latin typeface="楷体_GB2312" pitchFamily="49" charset="-122"/>
                <a:ea typeface="宋体" pitchFamily="2" charset="-122"/>
              </a:rPr>
              <a:t>C</a:t>
            </a:r>
            <a:r>
              <a:rPr lang="en-US" altLang="zh-CN" sz="2400" baseline="-25000">
                <a:latin typeface="楷体_GB2312" pitchFamily="49" charset="-122"/>
                <a:ea typeface="宋体" pitchFamily="2" charset="-122"/>
              </a:rPr>
              <a:t>1</a:t>
            </a:r>
            <a:r>
              <a:rPr lang="zh-CN" altLang="en-US" sz="2400">
                <a:latin typeface="楷体_GB2312" pitchFamily="49" charset="-122"/>
                <a:ea typeface="楷体_GB2312" pitchFamily="49" charset="-122"/>
              </a:rPr>
              <a:t>、</a:t>
            </a:r>
            <a:r>
              <a:rPr lang="en-US" altLang="zh-CN" sz="2400">
                <a:latin typeface="楷体_GB2312" pitchFamily="49" charset="-122"/>
                <a:ea typeface="宋体" pitchFamily="2" charset="-122"/>
              </a:rPr>
              <a:t>C</a:t>
            </a:r>
            <a:r>
              <a:rPr lang="en-US" altLang="zh-CN" sz="2400" baseline="-25000">
                <a:latin typeface="楷体_GB2312" pitchFamily="49" charset="-122"/>
                <a:ea typeface="宋体" pitchFamily="2" charset="-122"/>
              </a:rPr>
              <a:t>6</a:t>
            </a:r>
            <a:r>
              <a:rPr lang="zh-CN" altLang="en-US" sz="2400">
                <a:latin typeface="楷体_GB2312" pitchFamily="49" charset="-122"/>
                <a:ea typeface="楷体_GB2312" pitchFamily="49" charset="-122"/>
              </a:rPr>
              <a:t>羟基</a:t>
            </a:r>
            <a:endParaRPr lang="zh-CN" altLang="en-US" sz="2400">
              <a:latin typeface="楷体_GB2312" pitchFamily="49" charset="-122"/>
              <a:ea typeface="楷体_GB2312" pitchFamily="49" charset="-122"/>
            </a:endParaRPr>
          </a:p>
        </p:txBody>
      </p:sp>
      <p:sp>
        <p:nvSpPr>
          <p:cNvPr id="22531" name="Text Box 10"/>
          <p:cNvSpPr txBox="1"/>
          <p:nvPr/>
        </p:nvSpPr>
        <p:spPr>
          <a:xfrm>
            <a:off x="144463" y="763588"/>
            <a:ext cx="936625" cy="11922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800"/>
          </a:p>
          <a:p>
            <a:pPr marL="0" lvl="0" indent="0" eaLnBrk="1" hangingPunct="1">
              <a:spcBef>
                <a:spcPct val="50000"/>
              </a:spcBef>
              <a:buNone/>
            </a:pPr>
            <a:endParaRPr lang="zh-CN" altLang="en-US" sz="1800"/>
          </a:p>
          <a:p>
            <a:pPr marL="0" lvl="0" indent="0" eaLnBrk="1" hangingPunct="1">
              <a:spcBef>
                <a:spcPct val="50000"/>
              </a:spcBef>
              <a:buNone/>
            </a:pPr>
            <a:endParaRPr lang="zh-CN" altLang="en-US" sz="1800"/>
          </a:p>
        </p:txBody>
      </p:sp>
      <p:sp>
        <p:nvSpPr>
          <p:cNvPr id="22532" name="Text Box 12"/>
          <p:cNvSpPr txBox="1"/>
          <p:nvPr/>
        </p:nvSpPr>
        <p:spPr>
          <a:xfrm>
            <a:off x="755650" y="4797425"/>
            <a:ext cx="3671888" cy="15525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a:solidFill>
                  <a:schemeClr val="hlink"/>
                </a:solidFill>
                <a:sym typeface="Symbol" pitchFamily="18" charset="2"/>
              </a:rPr>
              <a:t></a:t>
            </a:r>
            <a:r>
              <a:rPr lang="en-US" altLang="zh-CN" sz="2400">
                <a:solidFill>
                  <a:schemeClr val="hlink"/>
                </a:solidFill>
                <a:sym typeface="Wingdings" panose="05000000000000000000" pitchFamily="2" charset="2"/>
              </a:rPr>
              <a:t>1</a:t>
            </a:r>
            <a:r>
              <a:rPr lang="en-US" altLang="zh-CN" sz="2400">
                <a:solidFill>
                  <a:schemeClr val="hlink"/>
                </a:solidFill>
              </a:rPr>
              <a:t>6:</a:t>
            </a:r>
            <a:r>
              <a:rPr lang="en-US" altLang="zh-CN" sz="2400"/>
              <a:t> </a:t>
            </a:r>
            <a:r>
              <a:rPr lang="zh-CN" altLang="en-US" sz="2400" b="1">
                <a:ea typeface="楷体_GB2312" pitchFamily="49" charset="-122"/>
              </a:rPr>
              <a:t>支链点糖基连接</a:t>
            </a:r>
            <a:endParaRPr lang="zh-CN" altLang="en-US" sz="2400" b="1">
              <a:ea typeface="楷体_GB2312" pitchFamily="49" charset="-122"/>
            </a:endParaRPr>
          </a:p>
          <a:p>
            <a:pPr marL="0" lvl="0" indent="0" eaLnBrk="1" hangingPunct="1">
              <a:spcBef>
                <a:spcPct val="50000"/>
              </a:spcBef>
              <a:buNone/>
            </a:pPr>
            <a:endParaRPr lang="zh-CN" altLang="en-US" sz="2400"/>
          </a:p>
          <a:p>
            <a:pPr marL="0" lvl="0" indent="0" eaLnBrk="1" hangingPunct="1">
              <a:spcBef>
                <a:spcPct val="50000"/>
              </a:spcBef>
              <a:buNone/>
            </a:pPr>
            <a:r>
              <a:rPr lang="en-US" altLang="zh-CN" sz="2400">
                <a:solidFill>
                  <a:srgbClr val="A50021"/>
                </a:solidFill>
                <a:sym typeface="Symbol" pitchFamily="18" charset="2"/>
              </a:rPr>
              <a:t></a:t>
            </a:r>
            <a:r>
              <a:rPr lang="en-US" altLang="zh-CN" sz="2400">
                <a:solidFill>
                  <a:srgbClr val="A50021"/>
                </a:solidFill>
                <a:sym typeface="Wingdings" panose="05000000000000000000" pitchFamily="2" charset="2"/>
              </a:rPr>
              <a:t>1</a:t>
            </a:r>
            <a:r>
              <a:rPr lang="en-US" altLang="zh-CN" sz="2400">
                <a:solidFill>
                  <a:srgbClr val="A50021"/>
                </a:solidFill>
              </a:rPr>
              <a:t>4:</a:t>
            </a:r>
            <a:r>
              <a:rPr lang="en-US" altLang="zh-CN" sz="2400"/>
              <a:t> </a:t>
            </a:r>
            <a:r>
              <a:rPr lang="zh-CN" altLang="en-US" sz="2400" b="1">
                <a:ea typeface="楷体_GB2312" pitchFamily="49" charset="-122"/>
              </a:rPr>
              <a:t>直链中糖基连接</a:t>
            </a:r>
            <a:endParaRPr lang="zh-CN" altLang="en-US" sz="2400" b="1">
              <a:ea typeface="楷体_GB2312" pitchFamily="49" charset="-122"/>
            </a:endParaRPr>
          </a:p>
        </p:txBody>
      </p:sp>
      <p:grpSp>
        <p:nvGrpSpPr>
          <p:cNvPr id="22533" name="Group 15"/>
          <p:cNvGrpSpPr/>
          <p:nvPr/>
        </p:nvGrpSpPr>
        <p:grpSpPr>
          <a:xfrm>
            <a:off x="4391025" y="2506663"/>
            <a:ext cx="4752975" cy="3213100"/>
            <a:chOff x="2764" y="1616"/>
            <a:chExt cx="2994" cy="2024"/>
          </a:xfrm>
        </p:grpSpPr>
        <p:pic>
          <p:nvPicPr>
            <p:cNvPr id="22549" name="Picture 9" descr="GlycogenForms"/>
            <p:cNvPicPr>
              <a:picLocks noChangeAspect="1"/>
            </p:cNvPicPr>
            <p:nvPr/>
          </p:nvPicPr>
          <p:blipFill>
            <a:blip r:embed="rId2"/>
            <a:srcRect r="28967"/>
            <a:stretch>
              <a:fillRect/>
            </a:stretch>
          </p:blipFill>
          <p:spPr>
            <a:xfrm>
              <a:off x="2764" y="1616"/>
              <a:ext cx="2994" cy="2024"/>
            </a:xfrm>
            <a:prstGeom prst="rect">
              <a:avLst/>
            </a:prstGeom>
            <a:noFill/>
            <a:ln w="9525">
              <a:noFill/>
            </a:ln>
          </p:spPr>
        </p:pic>
        <p:sp>
          <p:nvSpPr>
            <p:cNvPr id="22550" name="Text Box 11"/>
            <p:cNvSpPr txBox="1"/>
            <p:nvPr/>
          </p:nvSpPr>
          <p:spPr>
            <a:xfrm>
              <a:off x="2805" y="1780"/>
              <a:ext cx="1769" cy="327"/>
            </a:xfrm>
            <a:prstGeom prst="rect">
              <a:avLst/>
            </a:prstGeom>
            <a:solidFill>
              <a:schemeClr val="bg2"/>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solidFill>
                    <a:srgbClr val="FFF7FF"/>
                  </a:solidFill>
                  <a:ea typeface="黑体" pitchFamily="49" charset="-122"/>
                </a:rPr>
                <a:t>糖原中的化学键</a:t>
              </a:r>
              <a:endParaRPr lang="zh-CN" altLang="en-US" sz="2800">
                <a:solidFill>
                  <a:srgbClr val="FFF7FF"/>
                </a:solidFill>
                <a:ea typeface="黑体" pitchFamily="49" charset="-122"/>
              </a:endParaRPr>
            </a:p>
          </p:txBody>
        </p:sp>
      </p:grpSp>
      <p:grpSp>
        <p:nvGrpSpPr>
          <p:cNvPr id="22534" name="Group 24"/>
          <p:cNvGrpSpPr/>
          <p:nvPr/>
        </p:nvGrpSpPr>
        <p:grpSpPr>
          <a:xfrm>
            <a:off x="4038600" y="5646738"/>
            <a:ext cx="3744913" cy="519112"/>
            <a:chOff x="2544" y="3557"/>
            <a:chExt cx="2359" cy="327"/>
          </a:xfrm>
        </p:grpSpPr>
        <p:sp>
          <p:nvSpPr>
            <p:cNvPr id="22545" name="Line 13"/>
            <p:cNvSpPr/>
            <p:nvPr/>
          </p:nvSpPr>
          <p:spPr>
            <a:xfrm>
              <a:off x="3597" y="3566"/>
              <a:ext cx="0" cy="318"/>
            </a:xfrm>
            <a:prstGeom prst="line">
              <a:avLst/>
            </a:prstGeom>
            <a:ln w="38100" cap="flat" cmpd="sng">
              <a:solidFill>
                <a:srgbClr val="A50021"/>
              </a:solidFill>
              <a:prstDash val="solid"/>
              <a:miter/>
              <a:headEnd type="none" w="sm" len="sm"/>
              <a:tailEnd type="none" w="sm" len="sm"/>
            </a:ln>
          </p:spPr>
        </p:sp>
        <p:sp>
          <p:nvSpPr>
            <p:cNvPr id="22546" name="Line 16"/>
            <p:cNvSpPr/>
            <p:nvPr/>
          </p:nvSpPr>
          <p:spPr>
            <a:xfrm>
              <a:off x="4250" y="3566"/>
              <a:ext cx="0" cy="318"/>
            </a:xfrm>
            <a:prstGeom prst="line">
              <a:avLst/>
            </a:prstGeom>
            <a:ln w="38100" cap="flat" cmpd="sng">
              <a:solidFill>
                <a:srgbClr val="A50021"/>
              </a:solidFill>
              <a:prstDash val="solid"/>
              <a:miter/>
              <a:headEnd type="none" w="sm" len="sm"/>
              <a:tailEnd type="none" w="sm" len="sm"/>
            </a:ln>
          </p:spPr>
        </p:sp>
        <p:sp>
          <p:nvSpPr>
            <p:cNvPr id="22547" name="Line 17"/>
            <p:cNvSpPr/>
            <p:nvPr/>
          </p:nvSpPr>
          <p:spPr>
            <a:xfrm>
              <a:off x="4894" y="3557"/>
              <a:ext cx="0" cy="318"/>
            </a:xfrm>
            <a:prstGeom prst="line">
              <a:avLst/>
            </a:prstGeom>
            <a:ln w="38100" cap="flat" cmpd="sng">
              <a:solidFill>
                <a:srgbClr val="A50021"/>
              </a:solidFill>
              <a:prstDash val="solid"/>
              <a:miter/>
              <a:headEnd type="none" w="sm" len="sm"/>
              <a:tailEnd type="none" w="sm" len="sm"/>
            </a:ln>
          </p:spPr>
        </p:sp>
        <p:sp>
          <p:nvSpPr>
            <p:cNvPr id="22548" name="Line 19"/>
            <p:cNvSpPr/>
            <p:nvPr/>
          </p:nvSpPr>
          <p:spPr>
            <a:xfrm flipH="1" flipV="1">
              <a:off x="2544" y="3884"/>
              <a:ext cx="2359" cy="0"/>
            </a:xfrm>
            <a:prstGeom prst="line">
              <a:avLst/>
            </a:prstGeom>
            <a:ln w="38100" cap="flat" cmpd="sng">
              <a:solidFill>
                <a:srgbClr val="A50021"/>
              </a:solidFill>
              <a:prstDash val="solid"/>
              <a:miter/>
              <a:headEnd type="none" w="sm" len="sm"/>
              <a:tailEnd type="none" w="sm" len="sm"/>
            </a:ln>
          </p:spPr>
        </p:sp>
      </p:grpSp>
      <p:grpSp>
        <p:nvGrpSpPr>
          <p:cNvPr id="22535" name="Group 23"/>
          <p:cNvGrpSpPr/>
          <p:nvPr/>
        </p:nvGrpSpPr>
        <p:grpSpPr>
          <a:xfrm>
            <a:off x="3995738" y="4652963"/>
            <a:ext cx="3024187" cy="431800"/>
            <a:chOff x="2517" y="2931"/>
            <a:chExt cx="1905" cy="272"/>
          </a:xfrm>
        </p:grpSpPr>
        <p:sp>
          <p:nvSpPr>
            <p:cNvPr id="22543" name="Line 20"/>
            <p:cNvSpPr/>
            <p:nvPr/>
          </p:nvSpPr>
          <p:spPr>
            <a:xfrm flipH="1">
              <a:off x="2744" y="2931"/>
              <a:ext cx="1678" cy="0"/>
            </a:xfrm>
            <a:prstGeom prst="line">
              <a:avLst/>
            </a:prstGeom>
            <a:ln w="38100" cap="flat" cmpd="sng">
              <a:solidFill>
                <a:schemeClr val="hlink"/>
              </a:solidFill>
              <a:prstDash val="solid"/>
              <a:miter/>
              <a:headEnd type="none" w="sm" len="sm"/>
              <a:tailEnd type="none" w="sm" len="sm"/>
            </a:ln>
          </p:spPr>
        </p:sp>
        <p:sp>
          <p:nvSpPr>
            <p:cNvPr id="22544" name="Line 22"/>
            <p:cNvSpPr/>
            <p:nvPr/>
          </p:nvSpPr>
          <p:spPr>
            <a:xfrm flipH="1">
              <a:off x="2517" y="2931"/>
              <a:ext cx="227" cy="272"/>
            </a:xfrm>
            <a:prstGeom prst="line">
              <a:avLst/>
            </a:prstGeom>
            <a:ln w="38100" cap="flat" cmpd="sng">
              <a:solidFill>
                <a:schemeClr val="hlink"/>
              </a:solidFill>
              <a:prstDash val="solid"/>
              <a:miter/>
              <a:headEnd type="none" w="sm" len="sm"/>
              <a:tailEnd type="none" w="sm" len="sm"/>
            </a:ln>
          </p:spPr>
        </p:sp>
      </p:grpSp>
      <p:sp>
        <p:nvSpPr>
          <p:cNvPr id="22536" name="Text Box 25"/>
          <p:cNvSpPr txBox="1"/>
          <p:nvPr/>
        </p:nvSpPr>
        <p:spPr>
          <a:xfrm rot="-4661624">
            <a:off x="-319087" y="3756025"/>
            <a:ext cx="1512887" cy="3968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a:ea typeface="黑体" pitchFamily="49" charset="-122"/>
              </a:rPr>
              <a:t>非还原端</a:t>
            </a:r>
            <a:endParaRPr lang="zh-CN" altLang="en-US" sz="2000">
              <a:ea typeface="黑体" pitchFamily="49" charset="-122"/>
            </a:endParaRPr>
          </a:p>
        </p:txBody>
      </p:sp>
      <p:grpSp>
        <p:nvGrpSpPr>
          <p:cNvPr id="22537" name="Group 28"/>
          <p:cNvGrpSpPr/>
          <p:nvPr/>
        </p:nvGrpSpPr>
        <p:grpSpPr>
          <a:xfrm rot="2194587">
            <a:off x="827088" y="2781300"/>
            <a:ext cx="69850" cy="865188"/>
            <a:chOff x="158" y="3339"/>
            <a:chExt cx="46" cy="454"/>
          </a:xfrm>
        </p:grpSpPr>
        <p:sp>
          <p:nvSpPr>
            <p:cNvPr id="22541" name="Arc 26"/>
            <p:cNvSpPr/>
            <p:nvPr/>
          </p:nvSpPr>
          <p:spPr>
            <a:xfrm flipH="1">
              <a:off x="158" y="3387"/>
              <a:ext cx="46" cy="406"/>
            </a:xfrm>
            <a:custGeom>
              <a:avLst/>
              <a:gdLst>
                <a:gd name="txL" fmla="*/ 0 w 21600"/>
                <a:gd name="txT" fmla="*/ 0 h 41324"/>
                <a:gd name="txR" fmla="*/ 21600 w 21600"/>
                <a:gd name="txB" fmla="*/ 41324 h 41324"/>
              </a:gdLst>
              <a:ahLst/>
              <a:cxnLst>
                <a:cxn ang="0">
                  <a:pos x="0" y="0"/>
                </a:cxn>
                <a:cxn ang="0">
                  <a:pos x="0" y="0"/>
                </a:cxn>
                <a:cxn ang="0">
                  <a:pos x="0" y="0"/>
                </a:cxn>
              </a:cxnLst>
              <a:rect l="txL" t="txT" r="txR" b="txB"/>
              <a:pathLst>
                <a:path w="21600" h="41324" fill="none">
                  <a:moveTo>
                    <a:pt x="3571" y="0"/>
                  </a:moveTo>
                  <a:cubicBezTo>
                    <a:pt x="13977" y="1745"/>
                    <a:pt x="21600" y="10752"/>
                    <a:pt x="21600" y="21303"/>
                  </a:cubicBezTo>
                  <a:cubicBezTo>
                    <a:pt x="21600" y="30101"/>
                    <a:pt x="16263" y="38020"/>
                    <a:pt x="8107" y="41323"/>
                  </a:cubicBezTo>
                </a:path>
                <a:path w="21600" h="41324" stroke="0">
                  <a:moveTo>
                    <a:pt x="3571" y="0"/>
                  </a:moveTo>
                  <a:cubicBezTo>
                    <a:pt x="13977" y="1745"/>
                    <a:pt x="21600" y="10752"/>
                    <a:pt x="21600" y="21303"/>
                  </a:cubicBezTo>
                  <a:cubicBezTo>
                    <a:pt x="21600" y="30101"/>
                    <a:pt x="16263" y="38020"/>
                    <a:pt x="8107" y="41323"/>
                  </a:cubicBezTo>
                  <a:lnTo>
                    <a:pt x="0" y="21303"/>
                  </a:lnTo>
                  <a:lnTo>
                    <a:pt x="3571" y="0"/>
                  </a:lnTo>
                  <a:close/>
                </a:path>
              </a:pathLst>
            </a:custGeom>
            <a:noFill/>
            <a:ln w="28575" cap="flat" cmpd="sng">
              <a:solidFill>
                <a:srgbClr val="CC0000">
                  <a:alpha val="100000"/>
                </a:srgbClr>
              </a:solidFill>
              <a:prstDash val="solid"/>
              <a:miter lim="800000"/>
              <a:headEnd type="none" w="sm" len="sm"/>
              <a:tailEnd type="none" w="sm" len="sm"/>
            </a:ln>
          </p:spPr>
          <p:txBody>
            <a:bodyPr/>
            <a:p>
              <a:endParaRPr lang="zh-CN" altLang="en-US"/>
            </a:p>
          </p:txBody>
        </p:sp>
        <p:sp>
          <p:nvSpPr>
            <p:cNvPr id="22542" name="Line 27"/>
            <p:cNvSpPr/>
            <p:nvPr/>
          </p:nvSpPr>
          <p:spPr>
            <a:xfrm flipV="1">
              <a:off x="167" y="3339"/>
              <a:ext cx="37" cy="110"/>
            </a:xfrm>
            <a:prstGeom prst="line">
              <a:avLst/>
            </a:prstGeom>
            <a:ln w="38100" cap="flat" cmpd="sng">
              <a:solidFill>
                <a:srgbClr val="CC0000"/>
              </a:solidFill>
              <a:prstDash val="solid"/>
              <a:miter/>
              <a:headEnd type="none" w="sm" len="sm"/>
              <a:tailEnd type="triangle" w="sm" len="sm"/>
            </a:ln>
          </p:spPr>
        </p:sp>
      </p:grpSp>
      <p:sp>
        <p:nvSpPr>
          <p:cNvPr id="22538" name="Text Box 32"/>
          <p:cNvSpPr txBox="1"/>
          <p:nvPr/>
        </p:nvSpPr>
        <p:spPr>
          <a:xfrm>
            <a:off x="6156325" y="1773238"/>
            <a:ext cx="298767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a:sym typeface="Symbol" pitchFamily="18" charset="2"/>
              </a:rPr>
              <a:t>二级结构：</a:t>
            </a:r>
            <a:r>
              <a:rPr lang="en-US" altLang="zh-CN" sz="2400">
                <a:sym typeface="Symbol" pitchFamily="18" charset="2"/>
              </a:rPr>
              <a:t>-</a:t>
            </a:r>
            <a:r>
              <a:rPr lang="zh-CN" altLang="en-US" sz="2400">
                <a:sym typeface="Symbol" pitchFamily="18" charset="2"/>
              </a:rPr>
              <a:t>螺旋</a:t>
            </a:r>
            <a:endParaRPr lang="zh-CN" altLang="en-US" sz="2400">
              <a:sym typeface="Symbol" pitchFamily="18" charset="2"/>
            </a:endParaRPr>
          </a:p>
        </p:txBody>
      </p:sp>
      <p:sp>
        <p:nvSpPr>
          <p:cNvPr id="22539" name="Line 33"/>
          <p:cNvSpPr/>
          <p:nvPr/>
        </p:nvSpPr>
        <p:spPr>
          <a:xfrm>
            <a:off x="8388350" y="2276475"/>
            <a:ext cx="0" cy="215900"/>
          </a:xfrm>
          <a:prstGeom prst="line">
            <a:avLst/>
          </a:prstGeom>
          <a:ln w="12700" cap="flat" cmpd="sng">
            <a:solidFill>
              <a:schemeClr val="tx1"/>
            </a:solidFill>
            <a:prstDash val="solid"/>
            <a:miter/>
            <a:headEnd type="none" w="sm" len="sm"/>
            <a:tailEnd type="triangle" w="sm" len="sm"/>
          </a:ln>
        </p:spPr>
      </p:sp>
      <p:sp>
        <p:nvSpPr>
          <p:cNvPr id="22540"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noChangeArrowheads="1"/>
          </p:cNvSpPr>
          <p:nvPr>
            <p:ph type="title"/>
          </p:nvPr>
        </p:nvSpPr>
        <p:spPr>
          <a:xfrm>
            <a:off x="1331913" y="404813"/>
            <a:ext cx="6488113" cy="7159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smtClean="0">
                <a:ln>
                  <a:noFill/>
                </a:ln>
                <a:solidFill>
                  <a:srgbClr val="660033"/>
                </a:solidFill>
                <a:effectLst>
                  <a:outerShdw blurRad="38100" dist="38100" dir="2700000" algn="tl">
                    <a:srgbClr val="C0C0C0"/>
                  </a:outerShdw>
                </a:effectLst>
                <a:uLnTx/>
                <a:uFillTx/>
                <a:latin typeface="黑体" pitchFamily="49" charset="-122"/>
                <a:ea typeface="黑体" pitchFamily="49" charset="-122"/>
                <a:cs typeface="+mj-cs"/>
              </a:rPr>
              <a:t>2</a:t>
            </a:r>
            <a:r>
              <a:rPr kumimoji="1" lang="zh-CN" altLang="en-US" sz="3200" b="1" i="0" u="none" strike="noStrike" kern="0" cap="none" spc="0" normalizeH="0" baseline="0" noProof="0" smtClean="0">
                <a:ln>
                  <a:noFill/>
                </a:ln>
                <a:solidFill>
                  <a:srgbClr val="660033"/>
                </a:solidFill>
                <a:effectLst>
                  <a:outerShdw blurRad="38100" dist="38100" dir="2700000" algn="tl">
                    <a:srgbClr val="C0C0C0"/>
                  </a:outerShdw>
                </a:effectLst>
                <a:uLnTx/>
                <a:uFillTx/>
                <a:latin typeface="黑体" pitchFamily="49" charset="-122"/>
                <a:ea typeface="黑体" pitchFamily="49" charset="-122"/>
                <a:cs typeface="+mj-cs"/>
              </a:rPr>
              <a:t> 糖原的降解</a:t>
            </a:r>
            <a:endParaRPr kumimoji="1" lang="zh-CN" altLang="en-US" sz="3200" b="1" i="0" u="none" strike="noStrike" kern="0" cap="none" spc="0" normalizeH="0" baseline="0" noProof="0" smtClean="0">
              <a:ln>
                <a:noFill/>
              </a:ln>
              <a:solidFill>
                <a:srgbClr val="660033"/>
              </a:solidFill>
              <a:effectLst>
                <a:outerShdw blurRad="38100" dist="38100" dir="2700000" algn="tl">
                  <a:srgbClr val="C0C0C0"/>
                </a:outerShdw>
              </a:effectLst>
              <a:uLnTx/>
              <a:uFillTx/>
              <a:latin typeface="黑体" pitchFamily="49" charset="-122"/>
              <a:ea typeface="黑体" pitchFamily="49" charset="-122"/>
              <a:cs typeface="+mj-cs"/>
            </a:endParaRPr>
          </a:p>
        </p:txBody>
      </p:sp>
      <p:sp>
        <p:nvSpPr>
          <p:cNvPr id="23554" name="Rectangle 4"/>
          <p:cNvSpPr>
            <a:spLocks noGrp="1"/>
          </p:cNvSpPr>
          <p:nvPr>
            <p:ph idx="1"/>
          </p:nvPr>
        </p:nvSpPr>
        <p:spPr>
          <a:xfrm>
            <a:off x="900113" y="3141663"/>
            <a:ext cx="7923212" cy="2524125"/>
          </a:xfrm>
          <a:ln/>
        </p:spPr>
        <p:txBody>
          <a:bodyPr vert="horz" wrap="square" lIns="91440" tIns="45720" rIns="91440" bIns="45720" anchor="t" anchorCtr="0"/>
          <a:p>
            <a:pPr eaLnBrk="1" hangingPunct="1">
              <a:lnSpc>
                <a:spcPct val="90000"/>
              </a:lnSpc>
              <a:spcBef>
                <a:spcPct val="60000"/>
              </a:spcBef>
              <a:buNone/>
            </a:pPr>
            <a:r>
              <a:rPr lang="zh-CN" altLang="en-US" sz="2800" b="1">
                <a:solidFill>
                  <a:schemeClr val="tx2"/>
                </a:solidFill>
                <a:latin typeface="楷体_GB2312" pitchFamily="49" charset="-122"/>
                <a:ea typeface="楷体_GB2312" pitchFamily="49" charset="-122"/>
              </a:rPr>
              <a:t>①糖原磷酸化酶</a:t>
            </a:r>
            <a:r>
              <a:rPr lang="en-US" altLang="zh-CN" sz="2800" b="1">
                <a:solidFill>
                  <a:schemeClr val="tx2"/>
                </a:solidFill>
                <a:latin typeface="楷体_GB2312" pitchFamily="49" charset="-122"/>
                <a:ea typeface="楷体_GB2312" pitchFamily="49" charset="-122"/>
              </a:rPr>
              <a:t>(</a:t>
            </a:r>
            <a:r>
              <a:rPr lang="zh-CN" altLang="en-US" sz="2800" b="1">
                <a:solidFill>
                  <a:schemeClr val="tx2"/>
                </a:solidFill>
                <a:latin typeface="楷体_GB2312" pitchFamily="49" charset="-122"/>
                <a:ea typeface="楷体_GB2312" pitchFamily="49" charset="-122"/>
              </a:rPr>
              <a:t>辅酶</a:t>
            </a:r>
            <a:r>
              <a:rPr lang="en-US" altLang="zh-CN" sz="2800" b="1">
                <a:solidFill>
                  <a:srgbClr val="CC0000"/>
                </a:solidFill>
                <a:latin typeface="楷体_GB2312" pitchFamily="49" charset="-122"/>
                <a:ea typeface="楷体_GB2312" pitchFamily="49" charset="-122"/>
              </a:rPr>
              <a:t>PLP</a:t>
            </a:r>
            <a:r>
              <a:rPr lang="en-US" altLang="zh-CN" sz="2800" b="1">
                <a:solidFill>
                  <a:schemeClr val="tx2"/>
                </a:solidFill>
                <a:latin typeface="楷体_GB2312" pitchFamily="49" charset="-122"/>
                <a:ea typeface="楷体_GB2312" pitchFamily="49" charset="-122"/>
              </a:rPr>
              <a:t>)	   </a:t>
            </a:r>
            <a:r>
              <a:rPr lang="zh-CN" altLang="en-US" sz="2800" b="1">
                <a:solidFill>
                  <a:schemeClr val="tx2"/>
                </a:solidFill>
                <a:latin typeface="楷体_GB2312" pitchFamily="49" charset="-122"/>
                <a:ea typeface="楷体_GB2312" pitchFamily="49" charset="-122"/>
              </a:rPr>
              <a:t>直链糖基降解</a:t>
            </a:r>
            <a:endParaRPr lang="zh-CN" altLang="en-US" sz="2800" b="1">
              <a:solidFill>
                <a:schemeClr val="tx2"/>
              </a:solidFill>
              <a:latin typeface="楷体_GB2312" pitchFamily="49" charset="-122"/>
              <a:ea typeface="楷体_GB2312" pitchFamily="49" charset="-122"/>
            </a:endParaRPr>
          </a:p>
          <a:p>
            <a:pPr eaLnBrk="1" hangingPunct="1">
              <a:lnSpc>
                <a:spcPct val="90000"/>
              </a:lnSpc>
              <a:spcBef>
                <a:spcPct val="60000"/>
              </a:spcBef>
              <a:buNone/>
            </a:pPr>
            <a:r>
              <a:rPr lang="zh-CN" altLang="en-US" sz="2800" b="1">
                <a:solidFill>
                  <a:schemeClr val="tx2"/>
                </a:solidFill>
                <a:latin typeface="楷体_GB2312" pitchFamily="49" charset="-122"/>
                <a:ea typeface="楷体_GB2312" pitchFamily="49" charset="-122"/>
              </a:rPr>
              <a:t>②糖原脱支酶（糖基转移酶）   去分支糖基</a:t>
            </a:r>
            <a:endParaRPr lang="zh-CN" altLang="en-US" sz="2800" b="1">
              <a:solidFill>
                <a:schemeClr val="tx2"/>
              </a:solidFill>
              <a:latin typeface="楷体_GB2312" pitchFamily="49" charset="-122"/>
              <a:ea typeface="楷体_GB2312" pitchFamily="49" charset="-122"/>
            </a:endParaRPr>
          </a:p>
          <a:p>
            <a:pPr eaLnBrk="1" hangingPunct="1">
              <a:lnSpc>
                <a:spcPct val="90000"/>
              </a:lnSpc>
              <a:spcBef>
                <a:spcPct val="60000"/>
              </a:spcBef>
              <a:buNone/>
            </a:pPr>
            <a:r>
              <a:rPr lang="zh-CN" altLang="en-US" sz="2800" b="1">
                <a:solidFill>
                  <a:schemeClr val="tx2"/>
                </a:solidFill>
                <a:latin typeface="楷体_GB2312" pitchFamily="49" charset="-122"/>
                <a:ea typeface="楷体_GB2312" pitchFamily="49" charset="-122"/>
              </a:rPr>
              <a:t>③磷酸葡萄糖变位酶           </a:t>
            </a:r>
            <a:r>
              <a:rPr lang="en-US" altLang="zh-CN" sz="2800" b="1">
                <a:solidFill>
                  <a:schemeClr val="tx2"/>
                </a:solidFill>
                <a:latin typeface="楷体_GB2312" pitchFamily="49" charset="-122"/>
                <a:ea typeface="楷体_GB2312" pitchFamily="49" charset="-122"/>
              </a:rPr>
              <a:t>G-1-P→G-6-P</a:t>
            </a:r>
            <a:endParaRPr lang="en-US" altLang="zh-CN" sz="2800" b="1">
              <a:solidFill>
                <a:schemeClr val="tx2"/>
              </a:solidFill>
              <a:latin typeface="楷体_GB2312" pitchFamily="49" charset="-122"/>
              <a:ea typeface="楷体_GB2312" pitchFamily="49" charset="-122"/>
            </a:endParaRPr>
          </a:p>
          <a:p>
            <a:pPr eaLnBrk="1" hangingPunct="1">
              <a:lnSpc>
                <a:spcPct val="90000"/>
              </a:lnSpc>
              <a:spcBef>
                <a:spcPct val="60000"/>
              </a:spcBef>
              <a:buNone/>
            </a:pPr>
            <a:r>
              <a:rPr lang="en-US" altLang="zh-CN" sz="2800" b="1">
                <a:solidFill>
                  <a:schemeClr val="tx2"/>
                </a:solidFill>
                <a:latin typeface="楷体_GB2312" pitchFamily="49" charset="-122"/>
                <a:ea typeface="楷体_GB2312" pitchFamily="49" charset="-122"/>
              </a:rPr>
              <a:t>④</a:t>
            </a:r>
            <a:r>
              <a:rPr lang="zh-CN" altLang="en-US" sz="2800" b="1">
                <a:solidFill>
                  <a:schemeClr val="tx2"/>
                </a:solidFill>
                <a:latin typeface="楷体_GB2312" pitchFamily="49" charset="-122"/>
                <a:ea typeface="楷体_GB2312" pitchFamily="49" charset="-122"/>
              </a:rPr>
              <a:t>葡萄糖</a:t>
            </a:r>
            <a:r>
              <a:rPr lang="en-US" altLang="zh-CN" sz="2800" b="1">
                <a:solidFill>
                  <a:schemeClr val="tx2"/>
                </a:solidFill>
                <a:latin typeface="楷体_GB2312" pitchFamily="49" charset="-122"/>
                <a:ea typeface="楷体_GB2312" pitchFamily="49" charset="-122"/>
              </a:rPr>
              <a:t>-6-</a:t>
            </a:r>
            <a:r>
              <a:rPr lang="zh-CN" altLang="en-US" sz="2800" b="1">
                <a:solidFill>
                  <a:schemeClr val="tx2"/>
                </a:solidFill>
                <a:latin typeface="楷体_GB2312" pitchFamily="49" charset="-122"/>
                <a:ea typeface="楷体_GB2312" pitchFamily="49" charset="-122"/>
              </a:rPr>
              <a:t>磷酸酶		   </a:t>
            </a:r>
            <a:r>
              <a:rPr lang="en-US" altLang="zh-CN" sz="2800" b="1">
                <a:solidFill>
                  <a:schemeClr val="tx2"/>
                </a:solidFill>
                <a:latin typeface="楷体_GB2312" pitchFamily="49" charset="-122"/>
                <a:ea typeface="楷体_GB2312" pitchFamily="49" charset="-122"/>
              </a:rPr>
              <a:t>G-6-P→G</a:t>
            </a:r>
            <a:endParaRPr lang="en-US" altLang="zh-CN" sz="2800" b="1">
              <a:solidFill>
                <a:schemeClr val="tx2"/>
              </a:solidFill>
              <a:latin typeface="楷体_GB2312" pitchFamily="49" charset="-122"/>
              <a:ea typeface="楷体_GB2312" pitchFamily="49" charset="-122"/>
            </a:endParaRPr>
          </a:p>
        </p:txBody>
      </p:sp>
      <p:sp>
        <p:nvSpPr>
          <p:cNvPr id="23555" name="Text Box 5"/>
          <p:cNvSpPr txBox="1"/>
          <p:nvPr/>
        </p:nvSpPr>
        <p:spPr>
          <a:xfrm>
            <a:off x="1116013" y="1412875"/>
            <a:ext cx="4464050"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宋体" pitchFamily="2" charset="-122"/>
              </a:rPr>
              <a:t>2.1 </a:t>
            </a:r>
            <a:r>
              <a:rPr lang="zh-CN" altLang="en-US" sz="2800">
                <a:latin typeface="黑体" pitchFamily="49" charset="-122"/>
                <a:ea typeface="黑体" pitchFamily="49" charset="-122"/>
              </a:rPr>
              <a:t>参与糖原降解的酶类</a:t>
            </a:r>
            <a:endParaRPr lang="zh-CN" altLang="en-US" sz="2800">
              <a:latin typeface="黑体" pitchFamily="49" charset="-122"/>
              <a:ea typeface="黑体" pitchFamily="49" charset="-122"/>
            </a:endParaRPr>
          </a:p>
        </p:txBody>
      </p:sp>
      <p:sp>
        <p:nvSpPr>
          <p:cNvPr id="23556" name="Text Box 6"/>
          <p:cNvSpPr txBox="1"/>
          <p:nvPr/>
        </p:nvSpPr>
        <p:spPr>
          <a:xfrm>
            <a:off x="1619250" y="2420938"/>
            <a:ext cx="201612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黑体" pitchFamily="49" charset="-122"/>
                <a:ea typeface="黑体" pitchFamily="49" charset="-122"/>
              </a:rPr>
              <a:t>酶 名 称</a:t>
            </a:r>
            <a:endParaRPr lang="zh-CN" altLang="en-US" sz="2800">
              <a:latin typeface="黑体" pitchFamily="49" charset="-122"/>
              <a:ea typeface="黑体" pitchFamily="49" charset="-122"/>
            </a:endParaRPr>
          </a:p>
        </p:txBody>
      </p:sp>
      <p:sp>
        <p:nvSpPr>
          <p:cNvPr id="23557" name="Text Box 7"/>
          <p:cNvSpPr txBox="1"/>
          <p:nvPr/>
        </p:nvSpPr>
        <p:spPr>
          <a:xfrm>
            <a:off x="6156325" y="2420938"/>
            <a:ext cx="2303463"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黑体" pitchFamily="49" charset="-122"/>
                <a:ea typeface="黑体" pitchFamily="49" charset="-122"/>
              </a:rPr>
              <a:t>酶催化反应</a:t>
            </a:r>
            <a:endParaRPr lang="zh-CN" altLang="en-US" sz="2800">
              <a:latin typeface="黑体" pitchFamily="49" charset="-122"/>
              <a:ea typeface="黑体" pitchFamily="49" charset="-122"/>
            </a:endParaRPr>
          </a:p>
        </p:txBody>
      </p:sp>
      <p:sp>
        <p:nvSpPr>
          <p:cNvPr id="23558" name="Line 8"/>
          <p:cNvSpPr/>
          <p:nvPr/>
        </p:nvSpPr>
        <p:spPr>
          <a:xfrm>
            <a:off x="900113" y="2349500"/>
            <a:ext cx="7488237" cy="0"/>
          </a:xfrm>
          <a:prstGeom prst="line">
            <a:avLst/>
          </a:prstGeom>
          <a:ln w="12700" cap="flat" cmpd="sng">
            <a:solidFill>
              <a:schemeClr val="tx1"/>
            </a:solidFill>
            <a:prstDash val="solid"/>
            <a:miter/>
            <a:headEnd type="none" w="sm" len="sm"/>
            <a:tailEnd type="none" w="sm" len="sm"/>
          </a:ln>
        </p:spPr>
      </p:sp>
      <p:sp>
        <p:nvSpPr>
          <p:cNvPr id="23559" name="Line 9"/>
          <p:cNvSpPr/>
          <p:nvPr/>
        </p:nvSpPr>
        <p:spPr>
          <a:xfrm>
            <a:off x="900113" y="3068638"/>
            <a:ext cx="7488237" cy="0"/>
          </a:xfrm>
          <a:prstGeom prst="line">
            <a:avLst/>
          </a:prstGeom>
          <a:ln w="12700" cap="flat" cmpd="sng">
            <a:solidFill>
              <a:schemeClr val="tx1"/>
            </a:solidFill>
            <a:prstDash val="solid"/>
            <a:miter/>
            <a:headEnd type="none" w="sm" len="sm"/>
            <a:tailEnd type="none" w="sm" len="sm"/>
          </a:ln>
        </p:spPr>
      </p:sp>
      <p:sp>
        <p:nvSpPr>
          <p:cNvPr id="23560" name="Line 10"/>
          <p:cNvSpPr/>
          <p:nvPr/>
        </p:nvSpPr>
        <p:spPr>
          <a:xfrm>
            <a:off x="971550" y="2349500"/>
            <a:ext cx="7488238" cy="0"/>
          </a:xfrm>
          <a:prstGeom prst="line">
            <a:avLst/>
          </a:prstGeom>
          <a:ln w="12700" cap="flat" cmpd="sng">
            <a:solidFill>
              <a:schemeClr val="tx1"/>
            </a:solidFill>
            <a:prstDash val="solid"/>
            <a:miter/>
            <a:headEnd type="none" w="sm" len="sm"/>
            <a:tailEnd type="none" w="sm" len="sm"/>
          </a:ln>
        </p:spPr>
      </p:sp>
      <p:sp>
        <p:nvSpPr>
          <p:cNvPr id="23561" name="Line 11"/>
          <p:cNvSpPr/>
          <p:nvPr/>
        </p:nvSpPr>
        <p:spPr>
          <a:xfrm>
            <a:off x="914400" y="5734050"/>
            <a:ext cx="7488238" cy="0"/>
          </a:xfrm>
          <a:prstGeom prst="line">
            <a:avLst/>
          </a:prstGeom>
          <a:ln w="12700" cap="flat" cmpd="sng">
            <a:solidFill>
              <a:schemeClr val="tx1"/>
            </a:solidFill>
            <a:prstDash val="solid"/>
            <a:miter/>
            <a:headEnd type="none" w="sm" len="sm"/>
            <a:tailEnd type="none" w="sm" len="sm"/>
          </a:ln>
        </p:spPr>
      </p:sp>
      <p:sp>
        <p:nvSpPr>
          <p:cNvPr id="23562" name="Line 12"/>
          <p:cNvSpPr/>
          <p:nvPr/>
        </p:nvSpPr>
        <p:spPr>
          <a:xfrm>
            <a:off x="2700338" y="5516563"/>
            <a:ext cx="0" cy="504825"/>
          </a:xfrm>
          <a:prstGeom prst="line">
            <a:avLst/>
          </a:prstGeom>
          <a:ln w="12700" cap="flat" cmpd="sng">
            <a:solidFill>
              <a:schemeClr val="tx1"/>
            </a:solidFill>
            <a:prstDash val="solid"/>
            <a:miter/>
            <a:headEnd type="none" w="sm" len="sm"/>
            <a:tailEnd type="triangle" w="sm" len="sm"/>
          </a:ln>
        </p:spPr>
      </p:sp>
      <p:sp>
        <p:nvSpPr>
          <p:cNvPr id="23563" name="Text Box 13"/>
          <p:cNvSpPr txBox="1"/>
          <p:nvPr/>
        </p:nvSpPr>
        <p:spPr>
          <a:xfrm>
            <a:off x="1116013" y="5876925"/>
            <a:ext cx="3673475"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chemeClr val="accent2"/>
                </a:solidFill>
                <a:ea typeface="楷体_GB2312" pitchFamily="49" charset="-122"/>
              </a:rPr>
              <a:t>骨骼肌细胞缺乏此酶</a:t>
            </a:r>
            <a:endParaRPr lang="en-US" altLang="zh-CN" sz="2800" b="1">
              <a:solidFill>
                <a:schemeClr val="accent2"/>
              </a:solidFill>
              <a:ea typeface="楷体_GB2312" pitchFamily="49" charset="-122"/>
            </a:endParaRPr>
          </a:p>
        </p:txBody>
      </p:sp>
      <p:sp>
        <p:nvSpPr>
          <p:cNvPr id="23564" name="Text Box 14"/>
          <p:cNvSpPr txBox="1"/>
          <p:nvPr/>
        </p:nvSpPr>
        <p:spPr>
          <a:xfrm>
            <a:off x="4859338" y="5919788"/>
            <a:ext cx="3995737"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CC0000"/>
                </a:solidFill>
                <a:latin typeface="楷体_GB2312" pitchFamily="49" charset="-122"/>
                <a:ea typeface="楷体_GB2312" pitchFamily="49" charset="-122"/>
              </a:rPr>
              <a:t>（</a:t>
            </a:r>
            <a:r>
              <a:rPr lang="en-US" altLang="zh-CN" sz="2400" b="1">
                <a:solidFill>
                  <a:srgbClr val="CC0000"/>
                </a:solidFill>
                <a:latin typeface="楷体_GB2312" pitchFamily="49" charset="-122"/>
                <a:ea typeface="楷体_GB2312" pitchFamily="49" charset="-122"/>
              </a:rPr>
              <a:t>G</a:t>
            </a:r>
            <a:r>
              <a:rPr lang="zh-CN" altLang="en-US" sz="2400" b="1">
                <a:solidFill>
                  <a:srgbClr val="CC0000"/>
                </a:solidFill>
                <a:latin typeface="楷体_GB2312" pitchFamily="49" charset="-122"/>
                <a:ea typeface="楷体_GB2312" pitchFamily="49" charset="-122"/>
              </a:rPr>
              <a:t>与</a:t>
            </a:r>
            <a:r>
              <a:rPr lang="en-US" altLang="zh-CN" sz="2400" b="1">
                <a:solidFill>
                  <a:srgbClr val="CC0000"/>
                </a:solidFill>
                <a:latin typeface="楷体_GB2312" pitchFamily="49" charset="-122"/>
                <a:ea typeface="楷体_GB2312" pitchFamily="49" charset="-122"/>
              </a:rPr>
              <a:t>G-P</a:t>
            </a:r>
            <a:r>
              <a:rPr lang="zh-CN" altLang="en-US" sz="2400" b="1">
                <a:solidFill>
                  <a:srgbClr val="CC0000"/>
                </a:solidFill>
                <a:latin typeface="楷体_GB2312" pitchFamily="49" charset="-122"/>
                <a:ea typeface="楷体_GB2312" pitchFamily="49" charset="-122"/>
              </a:rPr>
              <a:t>细胞通透性不同</a:t>
            </a:r>
            <a:r>
              <a:rPr lang="en-US" altLang="zh-CN" sz="2400" b="1">
                <a:solidFill>
                  <a:srgbClr val="CC0000"/>
                </a:solidFill>
                <a:latin typeface="楷体_GB2312" pitchFamily="49" charset="-122"/>
                <a:ea typeface="楷体_GB2312" pitchFamily="49" charset="-122"/>
              </a:rPr>
              <a:t>!</a:t>
            </a:r>
            <a:r>
              <a:rPr lang="zh-CN" altLang="en-US" sz="2400" b="1">
                <a:solidFill>
                  <a:srgbClr val="CC0000"/>
                </a:solidFill>
                <a:latin typeface="楷体_GB2312" pitchFamily="49" charset="-122"/>
                <a:ea typeface="楷体_GB2312" pitchFamily="49" charset="-122"/>
              </a:rPr>
              <a:t>）</a:t>
            </a:r>
            <a:endParaRPr lang="zh-CN" altLang="en-US" sz="2400" b="1">
              <a:solidFill>
                <a:srgbClr val="CC0000"/>
              </a:solidFill>
              <a:latin typeface="楷体_GB2312" pitchFamily="49" charset="-122"/>
              <a:ea typeface="楷体_GB2312" pitchFamily="49" charset="-122"/>
            </a:endParaRPr>
          </a:p>
        </p:txBody>
      </p:sp>
      <p:sp>
        <p:nvSpPr>
          <p:cNvPr id="2356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7" name="Picture 5" descr="An external file that holds a picture, illustration, etc., usually as some form of binary object. The name of referred object is ch21f4.jpg. "/>
          <p:cNvPicPr>
            <a:picLocks noChangeAspect="1"/>
          </p:cNvPicPr>
          <p:nvPr/>
        </p:nvPicPr>
        <p:blipFill>
          <a:blip r:embed="rId1"/>
          <a:stretch>
            <a:fillRect/>
          </a:stretch>
        </p:blipFill>
        <p:spPr>
          <a:xfrm>
            <a:off x="1547813" y="1052513"/>
            <a:ext cx="5976937" cy="5443537"/>
          </a:xfrm>
          <a:prstGeom prst="rect">
            <a:avLst/>
          </a:prstGeom>
          <a:noFill/>
          <a:ln w="9525">
            <a:noFill/>
          </a:ln>
        </p:spPr>
      </p:pic>
      <p:sp>
        <p:nvSpPr>
          <p:cNvPr id="117766" name="Rectangle 6"/>
          <p:cNvSpPr/>
          <p:nvPr/>
        </p:nvSpPr>
        <p:spPr>
          <a:xfrm>
            <a:off x="1647825" y="1773238"/>
            <a:ext cx="2305050" cy="8223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solidFill>
                  <a:srgbClr val="CC0000"/>
                </a:solidFill>
                <a:latin typeface="Times New Roman" panose="02020603050405020304" charset="0"/>
                <a:ea typeface="楷体_GB2312" pitchFamily="49" charset="-122"/>
              </a:rPr>
              <a:t>糖原磷酸化酶</a:t>
            </a:r>
            <a:endParaRPr lang="zh-CN" altLang="en-US" sz="2400" b="1">
              <a:solidFill>
                <a:srgbClr val="CC0000"/>
              </a:solidFill>
              <a:latin typeface="Times New Roman" panose="02020603050405020304" charset="0"/>
              <a:ea typeface="楷体_GB2312" pitchFamily="49" charset="-122"/>
            </a:endParaRPr>
          </a:p>
          <a:p>
            <a:pPr marL="0" lvl="0" indent="0" algn="ctr" eaLnBrk="1" hangingPunct="1">
              <a:spcBef>
                <a:spcPct val="0"/>
              </a:spcBef>
              <a:buNone/>
            </a:pPr>
            <a:r>
              <a:rPr lang="zh-CN" altLang="en-US" sz="2400" b="1">
                <a:solidFill>
                  <a:srgbClr val="CC0000"/>
                </a:solidFill>
                <a:latin typeface="Times New Roman" panose="02020603050405020304" charset="0"/>
                <a:ea typeface="楷体_GB2312" pitchFamily="49" charset="-122"/>
              </a:rPr>
              <a:t>（磷酸吡多醛）</a:t>
            </a:r>
            <a:endParaRPr lang="zh-CN" altLang="en-US" sz="2400" b="1">
              <a:solidFill>
                <a:srgbClr val="CC0000"/>
              </a:solidFill>
              <a:latin typeface="Times New Roman" panose="02020603050405020304" charset="0"/>
              <a:ea typeface="楷体_GB2312" pitchFamily="49" charset="-122"/>
            </a:endParaRPr>
          </a:p>
        </p:txBody>
      </p:sp>
      <p:sp>
        <p:nvSpPr>
          <p:cNvPr id="117767" name="Rectangle 7"/>
          <p:cNvSpPr>
            <a:spLocks noChangeArrowheads="1"/>
          </p:cNvSpPr>
          <p:nvPr/>
        </p:nvSpPr>
        <p:spPr bwMode="auto">
          <a:xfrm>
            <a:off x="1187450" y="131763"/>
            <a:ext cx="6488113" cy="715963"/>
          </a:xfrm>
          <a:prstGeom prst="rect">
            <a:avLst/>
          </a:prstGeom>
          <a:noFill/>
          <a:ln w="9525">
            <a:noFill/>
            <a:miter lim="800000"/>
          </a:ln>
          <a:effectLst/>
        </p:spPr>
        <p:txBody>
          <a:bodyPr anchor="ct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b="1">
                <a:effectLst>
                  <a:outerShdw blurRad="38100" dist="38100" dir="2700000">
                    <a:srgbClr val="C0C0C0"/>
                  </a:outerShdw>
                </a:effectLst>
                <a:latin typeface="黑体" pitchFamily="49" charset="-122"/>
                <a:ea typeface="黑体" pitchFamily="49" charset="-122"/>
              </a:rPr>
              <a:t>糖原降解概览</a:t>
            </a:r>
            <a:endParaRPr lang="zh-CN" altLang="en-US" b="1">
              <a:effectLst>
                <a:outerShdw blurRad="38100" dist="38100" dir="2700000">
                  <a:srgbClr val="C0C0C0"/>
                </a:outerShdw>
              </a:effectLst>
              <a:latin typeface="黑体" pitchFamily="49" charset="-122"/>
              <a:ea typeface="黑体" pitchFamily="49" charset="-122"/>
            </a:endParaRPr>
          </a:p>
        </p:txBody>
      </p:sp>
      <p:sp>
        <p:nvSpPr>
          <p:cNvPr id="24580" name="Text Box 8"/>
          <p:cNvSpPr txBox="1"/>
          <p:nvPr/>
        </p:nvSpPr>
        <p:spPr>
          <a:xfrm>
            <a:off x="7005638" y="1166813"/>
            <a:ext cx="863600" cy="835025"/>
          </a:xfrm>
          <a:prstGeom prst="rect">
            <a:avLst/>
          </a:prstGeom>
          <a:solidFill>
            <a:srgbClr val="FFEB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糖原核心</a:t>
            </a:r>
            <a:endParaRPr lang="zh-CN" altLang="en-US" sz="2400" b="1">
              <a:ea typeface="楷体_GB2312" pitchFamily="49" charset="-122"/>
            </a:endParaRPr>
          </a:p>
        </p:txBody>
      </p:sp>
      <p:sp>
        <p:nvSpPr>
          <p:cNvPr id="24581" name="Text Box 9"/>
          <p:cNvSpPr txBox="1"/>
          <p:nvPr/>
        </p:nvSpPr>
        <p:spPr>
          <a:xfrm>
            <a:off x="7005638" y="2852738"/>
            <a:ext cx="863600" cy="835025"/>
          </a:xfrm>
          <a:prstGeom prst="rect">
            <a:avLst/>
          </a:prstGeom>
          <a:solidFill>
            <a:srgbClr val="FFEB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糖原核心</a:t>
            </a:r>
            <a:endParaRPr lang="zh-CN" altLang="en-US" sz="2400" b="1">
              <a:ea typeface="楷体_GB2312" pitchFamily="49" charset="-122"/>
            </a:endParaRPr>
          </a:p>
        </p:txBody>
      </p:sp>
      <p:sp>
        <p:nvSpPr>
          <p:cNvPr id="24582" name="Text Box 10"/>
          <p:cNvSpPr txBox="1"/>
          <p:nvPr/>
        </p:nvSpPr>
        <p:spPr>
          <a:xfrm>
            <a:off x="6977063" y="4537075"/>
            <a:ext cx="863600" cy="835025"/>
          </a:xfrm>
          <a:prstGeom prst="rect">
            <a:avLst/>
          </a:prstGeom>
          <a:solidFill>
            <a:srgbClr val="FFEB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糖原核心</a:t>
            </a:r>
            <a:endParaRPr lang="zh-CN" altLang="en-US" sz="2400" b="1">
              <a:ea typeface="楷体_GB2312" pitchFamily="49" charset="-122"/>
            </a:endParaRPr>
          </a:p>
        </p:txBody>
      </p:sp>
      <p:sp>
        <p:nvSpPr>
          <p:cNvPr id="24583" name="Text Box 11"/>
          <p:cNvSpPr txBox="1"/>
          <p:nvPr/>
        </p:nvSpPr>
        <p:spPr>
          <a:xfrm>
            <a:off x="6977063" y="5994400"/>
            <a:ext cx="863600" cy="835025"/>
          </a:xfrm>
          <a:prstGeom prst="rect">
            <a:avLst/>
          </a:prstGeom>
          <a:solidFill>
            <a:srgbClr val="FFEB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糖原核心</a:t>
            </a:r>
            <a:endParaRPr lang="zh-CN" altLang="en-US" sz="2400" b="1">
              <a:ea typeface="楷体_GB2312" pitchFamily="49" charset="-122"/>
            </a:endParaRPr>
          </a:p>
        </p:txBody>
      </p:sp>
      <p:sp>
        <p:nvSpPr>
          <p:cNvPr id="117772" name="Rectangle 12"/>
          <p:cNvSpPr/>
          <p:nvPr/>
        </p:nvSpPr>
        <p:spPr>
          <a:xfrm>
            <a:off x="2008188" y="3644900"/>
            <a:ext cx="1943100" cy="8223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latin typeface="Times New Roman" panose="02020603050405020304" charset="0"/>
                <a:ea typeface="楷体_GB2312" pitchFamily="49" charset="-122"/>
              </a:rPr>
              <a:t>糖原脱支酶</a:t>
            </a:r>
            <a:r>
              <a:rPr lang="en-US" altLang="zh-CN" sz="2400" b="1">
                <a:latin typeface="Times New Roman" panose="02020603050405020304" charset="0"/>
                <a:ea typeface="楷体_GB2312" pitchFamily="49" charset="-122"/>
              </a:rPr>
              <a:t>(</a:t>
            </a:r>
            <a:r>
              <a:rPr lang="zh-CN" altLang="en-US" sz="2400" b="1">
                <a:solidFill>
                  <a:schemeClr val="hlink"/>
                </a:solidFill>
                <a:latin typeface="Times New Roman" panose="02020603050405020304" charset="0"/>
                <a:ea typeface="楷体_GB2312" pitchFamily="49" charset="-122"/>
              </a:rPr>
              <a:t>寡糖基转移</a:t>
            </a:r>
            <a:r>
              <a:rPr lang="en-US" altLang="zh-CN" sz="2400" b="1">
                <a:latin typeface="Times New Roman" panose="02020603050405020304" charset="0"/>
                <a:ea typeface="楷体_GB2312" pitchFamily="49" charset="-122"/>
              </a:rPr>
              <a:t>)</a:t>
            </a:r>
            <a:endParaRPr lang="en-US" altLang="zh-CN" sz="2400" b="1">
              <a:latin typeface="Times New Roman" panose="02020603050405020304" charset="0"/>
              <a:ea typeface="楷体_GB2312" pitchFamily="49" charset="-122"/>
            </a:endParaRPr>
          </a:p>
        </p:txBody>
      </p:sp>
      <p:sp>
        <p:nvSpPr>
          <p:cNvPr id="117773" name="Rectangle 13"/>
          <p:cNvSpPr/>
          <p:nvPr/>
        </p:nvSpPr>
        <p:spPr>
          <a:xfrm>
            <a:off x="2124075" y="5229225"/>
            <a:ext cx="1943100" cy="8223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latin typeface="Times New Roman" panose="02020603050405020304" charset="0"/>
                <a:ea typeface="楷体_GB2312" pitchFamily="49" charset="-122"/>
              </a:rPr>
              <a:t>糖原脱支酶</a:t>
            </a:r>
            <a:r>
              <a:rPr lang="en-US" altLang="zh-CN" sz="2400" b="1">
                <a:latin typeface="Times New Roman" panose="02020603050405020304" charset="0"/>
                <a:ea typeface="楷体_GB2312" pitchFamily="49" charset="-122"/>
              </a:rPr>
              <a:t>(</a:t>
            </a:r>
            <a:r>
              <a:rPr lang="zh-CN" altLang="en-US" sz="2400" b="1">
                <a:solidFill>
                  <a:schemeClr val="accent2"/>
                </a:solidFill>
                <a:latin typeface="Times New Roman" panose="02020603050405020304" charset="0"/>
                <a:ea typeface="楷体_GB2312" pitchFamily="49" charset="-122"/>
              </a:rPr>
              <a:t>糖苷键水解</a:t>
            </a:r>
            <a:r>
              <a:rPr lang="en-US" altLang="zh-CN" sz="2400" b="1">
                <a:latin typeface="Times New Roman" panose="02020603050405020304" charset="0"/>
                <a:ea typeface="楷体_GB2312" pitchFamily="49" charset="-122"/>
              </a:rPr>
              <a:t>)</a:t>
            </a:r>
            <a:endParaRPr lang="en-US" altLang="zh-CN" sz="2400" b="1">
              <a:latin typeface="Times New Roman" panose="02020603050405020304" charset="0"/>
              <a:ea typeface="楷体_GB2312" pitchFamily="49" charset="-122"/>
            </a:endParaRPr>
          </a:p>
        </p:txBody>
      </p:sp>
      <p:sp>
        <p:nvSpPr>
          <p:cNvPr id="117774" name="Text Box 14"/>
          <p:cNvSpPr txBox="1"/>
          <p:nvPr/>
        </p:nvSpPr>
        <p:spPr>
          <a:xfrm>
            <a:off x="5292725" y="2205038"/>
            <a:ext cx="1727200" cy="495300"/>
          </a:xfrm>
          <a:prstGeom prst="rect">
            <a:avLst/>
          </a:prstGeom>
          <a:solidFill>
            <a:srgbClr val="FFFFCC"/>
          </a:solidFill>
          <a:ln w="381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a:solidFill>
                  <a:schemeClr val="accent2"/>
                </a:solidFill>
                <a:ea typeface="黑体" pitchFamily="49" charset="-122"/>
              </a:rPr>
              <a:t>磷酸解</a:t>
            </a:r>
            <a:endParaRPr lang="zh-CN" altLang="en-US" sz="2400">
              <a:solidFill>
                <a:schemeClr val="accent2"/>
              </a:solidFill>
              <a:ea typeface="黑体" pitchFamily="49" charset="-122"/>
            </a:endParaRPr>
          </a:p>
        </p:txBody>
      </p:sp>
      <p:sp>
        <p:nvSpPr>
          <p:cNvPr id="117775" name="Text Box 15"/>
          <p:cNvSpPr txBox="1"/>
          <p:nvPr/>
        </p:nvSpPr>
        <p:spPr>
          <a:xfrm>
            <a:off x="4859338" y="5445125"/>
            <a:ext cx="1512887" cy="495300"/>
          </a:xfrm>
          <a:prstGeom prst="rect">
            <a:avLst/>
          </a:prstGeom>
          <a:solidFill>
            <a:srgbClr val="D9EDEF"/>
          </a:solidFill>
          <a:ln w="381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a:solidFill>
                  <a:schemeClr val="accent2"/>
                </a:solidFill>
                <a:ea typeface="黑体" pitchFamily="49" charset="-122"/>
              </a:rPr>
              <a:t>水  解</a:t>
            </a:r>
            <a:endParaRPr lang="zh-CN" altLang="en-US" sz="2400">
              <a:solidFill>
                <a:schemeClr val="accent2"/>
              </a:solidFill>
              <a:ea typeface="黑体" pitchFamily="49" charset="-122"/>
            </a:endParaRPr>
          </a:p>
        </p:txBody>
      </p:sp>
      <p:sp>
        <p:nvSpPr>
          <p:cNvPr id="24588"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7766"/>
                                        </p:tgtEl>
                                        <p:attrNameLst>
                                          <p:attrName>style.visibility</p:attrName>
                                        </p:attrNameLst>
                                      </p:cBhvr>
                                      <p:to>
                                        <p:strVal val="visible"/>
                                      </p:to>
                                    </p:set>
                                    <p:animEffect transition="in" filter="checkerboard(across)">
                                      <p:cBhvr>
                                        <p:cTn id="7" dur="500"/>
                                        <p:tgtEl>
                                          <p:spTgt spid="11776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7774"/>
                                        </p:tgtEl>
                                        <p:attrNameLst>
                                          <p:attrName>style.visibility</p:attrName>
                                        </p:attrNameLst>
                                      </p:cBhvr>
                                      <p:to>
                                        <p:strVal val="visible"/>
                                      </p:to>
                                    </p:set>
                                    <p:animEffect transition="in" filter="checkerboard(across)">
                                      <p:cBhvr>
                                        <p:cTn id="12" dur="500"/>
                                        <p:tgtEl>
                                          <p:spTgt spid="1177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7772"/>
                                        </p:tgtEl>
                                        <p:attrNameLst>
                                          <p:attrName>style.visibility</p:attrName>
                                        </p:attrNameLst>
                                      </p:cBhvr>
                                      <p:to>
                                        <p:strVal val="visible"/>
                                      </p:to>
                                    </p:set>
                                    <p:animEffect transition="in" filter="fade">
                                      <p:cBhvr>
                                        <p:cTn id="17" dur="2000"/>
                                        <p:tgtEl>
                                          <p:spTgt spid="11777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7773"/>
                                        </p:tgtEl>
                                        <p:attrNameLst>
                                          <p:attrName>style.visibility</p:attrName>
                                        </p:attrNameLst>
                                      </p:cBhvr>
                                      <p:to>
                                        <p:strVal val="visible"/>
                                      </p:to>
                                    </p:set>
                                    <p:animEffect transition="in" filter="checkerboard(across)">
                                      <p:cBhvr>
                                        <p:cTn id="22" dur="500"/>
                                        <p:tgtEl>
                                          <p:spTgt spid="11777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17775"/>
                                        </p:tgtEl>
                                        <p:attrNameLst>
                                          <p:attrName>style.visibility</p:attrName>
                                        </p:attrNameLst>
                                      </p:cBhvr>
                                      <p:to>
                                        <p:strVal val="visible"/>
                                      </p:to>
                                    </p:set>
                                    <p:animEffect transition="in" filter="checkerboard(across)">
                                      <p:cBhvr>
                                        <p:cTn id="25" dur="500"/>
                                        <p:tgtEl>
                                          <p:spTgt spid="117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6" grpId="0" animBg="1"/>
      <p:bldP spid="117772" grpId="0" animBg="1"/>
      <p:bldP spid="117773" grpId="0" animBg="1"/>
      <p:bldP spid="117774" grpId="0" animBg="1"/>
      <p:bldP spid="11777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6"/>
          <p:cNvGrpSpPr/>
          <p:nvPr/>
        </p:nvGrpSpPr>
        <p:grpSpPr>
          <a:xfrm>
            <a:off x="1331913" y="2881313"/>
            <a:ext cx="2087562" cy="1916112"/>
            <a:chOff x="1247" y="3203"/>
            <a:chExt cx="1134" cy="1117"/>
          </a:xfrm>
        </p:grpSpPr>
        <p:pic>
          <p:nvPicPr>
            <p:cNvPr id="25611" name="Picture 32"/>
            <p:cNvPicPr>
              <a:picLocks noChangeAspect="1"/>
            </p:cNvPicPr>
            <p:nvPr/>
          </p:nvPicPr>
          <p:blipFill>
            <a:blip r:embed="rId1">
              <a:lum bright="-39999" contrast="60000"/>
            </a:blip>
            <a:srcRect l="36906" t="34401" r="37111" b="34019"/>
            <a:stretch>
              <a:fillRect/>
            </a:stretch>
          </p:blipFill>
          <p:spPr>
            <a:xfrm>
              <a:off x="1247" y="3295"/>
              <a:ext cx="1088" cy="1025"/>
            </a:xfrm>
            <a:prstGeom prst="rect">
              <a:avLst/>
            </a:prstGeom>
            <a:noFill/>
            <a:ln w="9525">
              <a:noFill/>
            </a:ln>
          </p:spPr>
        </p:pic>
        <p:sp>
          <p:nvSpPr>
            <p:cNvPr id="25612" name="Rectangle 34"/>
            <p:cNvSpPr/>
            <p:nvPr/>
          </p:nvSpPr>
          <p:spPr>
            <a:xfrm>
              <a:off x="1247" y="3249"/>
              <a:ext cx="770" cy="453"/>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a:p>
          </p:txBody>
        </p:sp>
        <p:sp>
          <p:nvSpPr>
            <p:cNvPr id="25613" name="Rectangle 35"/>
            <p:cNvSpPr/>
            <p:nvPr/>
          </p:nvSpPr>
          <p:spPr>
            <a:xfrm>
              <a:off x="1973" y="3203"/>
              <a:ext cx="408" cy="181"/>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a:p>
          </p:txBody>
        </p:sp>
      </p:grpSp>
      <p:pic>
        <p:nvPicPr>
          <p:cNvPr id="25602" name="Picture 5" descr="glycogen"/>
          <p:cNvPicPr>
            <a:picLocks noChangeAspect="1"/>
          </p:cNvPicPr>
          <p:nvPr/>
        </p:nvPicPr>
        <p:blipFill>
          <a:blip r:embed="rId2"/>
          <a:stretch>
            <a:fillRect/>
          </a:stretch>
        </p:blipFill>
        <p:spPr>
          <a:xfrm>
            <a:off x="971550" y="836613"/>
            <a:ext cx="7632700" cy="2957512"/>
          </a:xfrm>
          <a:prstGeom prst="rect">
            <a:avLst/>
          </a:prstGeom>
          <a:noFill/>
          <a:ln w="9525">
            <a:noFill/>
          </a:ln>
        </p:spPr>
      </p:pic>
      <p:pic>
        <p:nvPicPr>
          <p:cNvPr id="223265" name="Picture 33"/>
          <p:cNvPicPr>
            <a:picLocks noChangeAspect="1"/>
          </p:cNvPicPr>
          <p:nvPr/>
        </p:nvPicPr>
        <p:blipFill>
          <a:blip r:embed="rId3">
            <a:lum bright="-39999" contrast="60000"/>
          </a:blip>
          <a:srcRect l="21021" t="42021" r="7983" b="26271"/>
          <a:stretch>
            <a:fillRect/>
          </a:stretch>
        </p:blipFill>
        <p:spPr>
          <a:xfrm>
            <a:off x="439738" y="4797425"/>
            <a:ext cx="4852987" cy="1655763"/>
          </a:xfrm>
          <a:prstGeom prst="rect">
            <a:avLst/>
          </a:prstGeom>
          <a:noFill/>
          <a:ln w="9525">
            <a:noFill/>
          </a:ln>
        </p:spPr>
      </p:pic>
      <p:sp>
        <p:nvSpPr>
          <p:cNvPr id="25604" name="Text Box 37"/>
          <p:cNvSpPr txBox="1"/>
          <p:nvPr/>
        </p:nvSpPr>
        <p:spPr>
          <a:xfrm>
            <a:off x="2887663" y="3200400"/>
            <a:ext cx="287337" cy="3667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a:t>
            </a:r>
            <a:endParaRPr lang="en-US" altLang="zh-CN" sz="1800" b="1"/>
          </a:p>
        </p:txBody>
      </p:sp>
      <p:sp>
        <p:nvSpPr>
          <p:cNvPr id="223270" name="Line 38"/>
          <p:cNvSpPr/>
          <p:nvPr/>
        </p:nvSpPr>
        <p:spPr>
          <a:xfrm flipV="1">
            <a:off x="2930525" y="3500438"/>
            <a:ext cx="100013" cy="360362"/>
          </a:xfrm>
          <a:prstGeom prst="line">
            <a:avLst/>
          </a:prstGeom>
          <a:ln w="28575" cap="flat" cmpd="sng">
            <a:solidFill>
              <a:schemeClr val="accent2"/>
            </a:solidFill>
            <a:prstDash val="solid"/>
            <a:miter/>
            <a:headEnd type="none" w="sm" len="sm"/>
            <a:tailEnd type="triangle" w="sm" len="sm"/>
          </a:ln>
        </p:spPr>
      </p:sp>
      <p:sp>
        <p:nvSpPr>
          <p:cNvPr id="223272" name="Rectangle 40"/>
          <p:cNvSpPr/>
          <p:nvPr/>
        </p:nvSpPr>
        <p:spPr>
          <a:xfrm>
            <a:off x="3160713" y="3989388"/>
            <a:ext cx="2305050" cy="8223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solidFill>
                  <a:srgbClr val="CC0000"/>
                </a:solidFill>
                <a:latin typeface="Times New Roman" panose="02020603050405020304" charset="0"/>
                <a:ea typeface="楷体_GB2312" pitchFamily="49" charset="-122"/>
              </a:rPr>
              <a:t>糖原磷酸化酶</a:t>
            </a:r>
            <a:endParaRPr lang="zh-CN" altLang="en-US" sz="2400" b="1">
              <a:solidFill>
                <a:srgbClr val="CC0000"/>
              </a:solidFill>
              <a:latin typeface="Times New Roman" panose="02020603050405020304" charset="0"/>
              <a:ea typeface="楷体_GB2312" pitchFamily="49" charset="-122"/>
            </a:endParaRPr>
          </a:p>
          <a:p>
            <a:pPr marL="0" lvl="0" indent="0" algn="ctr" eaLnBrk="1" hangingPunct="1">
              <a:spcBef>
                <a:spcPct val="0"/>
              </a:spcBef>
              <a:buNone/>
            </a:pPr>
            <a:r>
              <a:rPr lang="zh-CN" altLang="en-US" sz="2400" b="1">
                <a:solidFill>
                  <a:schemeClr val="accent2"/>
                </a:solidFill>
                <a:latin typeface="Times New Roman" panose="02020603050405020304" charset="0"/>
                <a:ea typeface="楷体_GB2312" pitchFamily="49" charset="-122"/>
              </a:rPr>
              <a:t>（磷酸吡多醛）</a:t>
            </a:r>
            <a:endParaRPr lang="zh-CN" altLang="en-US" sz="2400" b="1">
              <a:solidFill>
                <a:schemeClr val="accent2"/>
              </a:solidFill>
              <a:latin typeface="Times New Roman" panose="02020603050405020304" charset="0"/>
              <a:ea typeface="楷体_GB2312" pitchFamily="49" charset="-122"/>
            </a:endParaRPr>
          </a:p>
        </p:txBody>
      </p:sp>
      <p:sp>
        <p:nvSpPr>
          <p:cNvPr id="223273" name="Text Box 41"/>
          <p:cNvSpPr txBox="1"/>
          <p:nvPr/>
        </p:nvSpPr>
        <p:spPr>
          <a:xfrm>
            <a:off x="5580063" y="4076700"/>
            <a:ext cx="3168650" cy="2339975"/>
          </a:xfrm>
          <a:prstGeom prst="rect">
            <a:avLst/>
          </a:prstGeom>
          <a:noFill/>
          <a:ln w="57150" cap="flat" cmpd="sng">
            <a:solidFill>
              <a:schemeClr val="accent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a:latin typeface="楷体_GB2312" pitchFamily="49" charset="-122"/>
                <a:ea typeface="楷体_GB2312" pitchFamily="49" charset="-122"/>
              </a:rPr>
              <a:t>磷酸基团进攻非还原端的</a:t>
            </a:r>
            <a:r>
              <a:rPr lang="zh-CN" altLang="en-US" sz="2400">
                <a:latin typeface="楷体_GB2312" pitchFamily="49" charset="-122"/>
                <a:ea typeface="楷体_GB2312" pitchFamily="49" charset="-122"/>
                <a:sym typeface="Symbol" pitchFamily="18" charset="2"/>
              </a:rPr>
              <a:t> </a:t>
            </a:r>
            <a:r>
              <a:rPr lang="en-US" altLang="zh-CN" sz="2400">
                <a:latin typeface="楷体_GB2312" pitchFamily="49" charset="-122"/>
                <a:ea typeface="宋体" pitchFamily="2" charset="-122"/>
                <a:sym typeface="Symbol" pitchFamily="18" charset="2"/>
              </a:rPr>
              <a:t>1,4</a:t>
            </a:r>
            <a:r>
              <a:rPr lang="zh-CN" altLang="en-US" sz="2400">
                <a:latin typeface="楷体_GB2312" pitchFamily="49" charset="-122"/>
                <a:ea typeface="楷体_GB2312" pitchFamily="49" charset="-122"/>
                <a:sym typeface="Symbol" pitchFamily="18" charset="2"/>
              </a:rPr>
              <a:t>糖苷键的富电子</a:t>
            </a:r>
            <a:r>
              <a:rPr lang="en-US" altLang="zh-CN" sz="2400">
                <a:latin typeface="Times New Roman" panose="02020603050405020304" charset="0"/>
                <a:cs typeface="Times New Roman" panose="02020603050405020304" charset="0"/>
                <a:sym typeface="Symbol" pitchFamily="18" charset="2"/>
              </a:rPr>
              <a:t>O</a:t>
            </a:r>
            <a:r>
              <a:rPr lang="en-US" altLang="zh-CN" sz="2400">
                <a:latin typeface="楷体_GB2312" pitchFamily="49" charset="-122"/>
                <a:ea typeface="宋体" pitchFamily="2" charset="-122"/>
                <a:sym typeface="Symbol" pitchFamily="18" charset="2"/>
              </a:rPr>
              <a:t>, </a:t>
            </a:r>
            <a:r>
              <a:rPr lang="zh-CN" altLang="en-US" sz="2400">
                <a:latin typeface="楷体_GB2312" pitchFamily="49" charset="-122"/>
                <a:ea typeface="楷体_GB2312" pitchFamily="49" charset="-122"/>
                <a:sym typeface="Symbol" pitchFamily="18" charset="2"/>
              </a:rPr>
              <a:t>导致糖苷键断裂</a:t>
            </a:r>
            <a:r>
              <a:rPr lang="en-US" altLang="zh-CN" sz="2400">
                <a:latin typeface="楷体_GB2312" pitchFamily="49" charset="-122"/>
                <a:ea typeface="宋体" pitchFamily="2" charset="-122"/>
                <a:sym typeface="Symbol" pitchFamily="18" charset="2"/>
              </a:rPr>
              <a:t>,</a:t>
            </a:r>
            <a:r>
              <a:rPr lang="zh-CN" altLang="en-US" sz="2400">
                <a:latin typeface="楷体_GB2312" pitchFamily="49" charset="-122"/>
                <a:ea typeface="楷体_GB2312" pitchFamily="49" charset="-122"/>
                <a:sym typeface="Symbol" pitchFamily="18" charset="2"/>
              </a:rPr>
              <a:t>释放一个</a:t>
            </a:r>
            <a:r>
              <a:rPr lang="en-US" altLang="zh-CN" sz="2400">
                <a:latin typeface="楷体_GB2312" pitchFamily="49" charset="-122"/>
                <a:ea typeface="宋体" pitchFamily="2" charset="-122"/>
                <a:sym typeface="Symbol" pitchFamily="18" charset="2"/>
              </a:rPr>
              <a:t>1-</a:t>
            </a:r>
            <a:r>
              <a:rPr lang="zh-CN" altLang="en-US" sz="2400">
                <a:latin typeface="楷体_GB2312" pitchFamily="49" charset="-122"/>
                <a:ea typeface="楷体_GB2312" pitchFamily="49" charset="-122"/>
                <a:sym typeface="Symbol" pitchFamily="18" charset="2"/>
              </a:rPr>
              <a:t>磷酸</a:t>
            </a:r>
            <a:r>
              <a:rPr lang="en-US" altLang="zh-CN" sz="2400">
                <a:latin typeface="楷体_GB2312" pitchFamily="49" charset="-122"/>
                <a:ea typeface="宋体" pitchFamily="2" charset="-122"/>
                <a:sym typeface="Symbol" pitchFamily="18" charset="2"/>
              </a:rPr>
              <a:t>-</a:t>
            </a:r>
            <a:r>
              <a:rPr lang="zh-CN" altLang="en-US" sz="2400">
                <a:latin typeface="楷体_GB2312" pitchFamily="49" charset="-122"/>
                <a:ea typeface="楷体_GB2312" pitchFamily="49" charset="-122"/>
                <a:sym typeface="Symbol" pitchFamily="18" charset="2"/>
              </a:rPr>
              <a:t>葡萄糖</a:t>
            </a:r>
            <a:r>
              <a:rPr lang="en-US" altLang="zh-CN" sz="2400">
                <a:latin typeface="楷体_GB2312" pitchFamily="49" charset="-122"/>
                <a:ea typeface="宋体" pitchFamily="2" charset="-122"/>
                <a:sym typeface="Symbol" pitchFamily="18" charset="2"/>
              </a:rPr>
              <a:t>(G-1-P)</a:t>
            </a:r>
            <a:r>
              <a:rPr lang="zh-CN" altLang="en-US" sz="2400">
                <a:latin typeface="楷体_GB2312" pitchFamily="49" charset="-122"/>
                <a:ea typeface="楷体_GB2312" pitchFamily="49" charset="-122"/>
                <a:sym typeface="Symbol" pitchFamily="18" charset="2"/>
              </a:rPr>
              <a:t>和减少一个糖基的糖原</a:t>
            </a:r>
            <a:r>
              <a:rPr lang="en-US" altLang="zh-CN" sz="2400">
                <a:latin typeface="楷体_GB2312" pitchFamily="49" charset="-122"/>
                <a:ea typeface="宋体" pitchFamily="2" charset="-122"/>
                <a:sym typeface="Symbol" pitchFamily="18" charset="2"/>
              </a:rPr>
              <a:t>.</a:t>
            </a:r>
            <a:endParaRPr lang="en-US" altLang="zh-CN" sz="2400">
              <a:latin typeface="楷体_GB2312" pitchFamily="49" charset="-122"/>
              <a:ea typeface="宋体" pitchFamily="2" charset="-122"/>
              <a:sym typeface="Symbol" pitchFamily="18" charset="2"/>
            </a:endParaRPr>
          </a:p>
        </p:txBody>
      </p:sp>
      <p:sp>
        <p:nvSpPr>
          <p:cNvPr id="25608" name="Text Box 42"/>
          <p:cNvSpPr txBox="1"/>
          <p:nvPr/>
        </p:nvSpPr>
        <p:spPr>
          <a:xfrm>
            <a:off x="1979613" y="188913"/>
            <a:ext cx="4464050"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宋体" pitchFamily="2" charset="-122"/>
              </a:rPr>
              <a:t>2.2 </a:t>
            </a:r>
            <a:r>
              <a:rPr lang="zh-CN" altLang="en-US" sz="2800">
                <a:latin typeface="黑体" pitchFamily="49" charset="-122"/>
                <a:ea typeface="黑体" pitchFamily="49" charset="-122"/>
              </a:rPr>
              <a:t> 糖原的磷酸解反应 </a:t>
            </a:r>
            <a:endParaRPr lang="zh-CN" altLang="en-US" sz="2800">
              <a:latin typeface="黑体" pitchFamily="49" charset="-122"/>
              <a:ea typeface="黑体" pitchFamily="49" charset="-122"/>
            </a:endParaRPr>
          </a:p>
        </p:txBody>
      </p:sp>
      <p:sp>
        <p:nvSpPr>
          <p:cNvPr id="25609" name="Text Box 43"/>
          <p:cNvSpPr txBox="1"/>
          <p:nvPr/>
        </p:nvSpPr>
        <p:spPr>
          <a:xfrm>
            <a:off x="1649413" y="5646738"/>
            <a:ext cx="200025" cy="3365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600" b="1">
                <a:solidFill>
                  <a:srgbClr val="CC0000"/>
                </a:solidFill>
              </a:rPr>
              <a:t>O</a:t>
            </a:r>
            <a:endParaRPr lang="en-US" altLang="zh-CN" sz="1600" b="1">
              <a:solidFill>
                <a:srgbClr val="CC0000"/>
              </a:solidFill>
            </a:endParaRPr>
          </a:p>
        </p:txBody>
      </p:sp>
      <p:sp>
        <p:nvSpPr>
          <p:cNvPr id="25610" name="Slide Number Placeholder 2"/>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270"/>
                                        </p:tgtEl>
                                        <p:attrNameLst>
                                          <p:attrName>style.visibility</p:attrName>
                                        </p:attrNameLst>
                                      </p:cBhvr>
                                      <p:to>
                                        <p:strVal val="visible"/>
                                      </p:to>
                                    </p:set>
                                    <p:animEffect transition="in" filter="fade">
                                      <p:cBhvr>
                                        <p:cTn id="7" dur="2000"/>
                                        <p:tgtEl>
                                          <p:spTgt spid="223270"/>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3272"/>
                                        </p:tgtEl>
                                        <p:attrNameLst>
                                          <p:attrName>style.visibility</p:attrName>
                                        </p:attrNameLst>
                                      </p:cBhvr>
                                      <p:to>
                                        <p:strVal val="visible"/>
                                      </p:to>
                                    </p:set>
                                    <p:animEffect transition="in" filter="fade">
                                      <p:cBhvr>
                                        <p:cTn id="15" dur="2000"/>
                                        <p:tgtEl>
                                          <p:spTgt spid="22327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3265"/>
                                        </p:tgtEl>
                                        <p:attrNameLst>
                                          <p:attrName>style.visibility</p:attrName>
                                        </p:attrNameLst>
                                      </p:cBhvr>
                                      <p:to>
                                        <p:strVal val="visible"/>
                                      </p:to>
                                    </p:set>
                                    <p:animEffect transition="in" filter="fade">
                                      <p:cBhvr>
                                        <p:cTn id="20" dur="2000"/>
                                        <p:tgtEl>
                                          <p:spTgt spid="22326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3273"/>
                                        </p:tgtEl>
                                        <p:attrNameLst>
                                          <p:attrName>style.visibility</p:attrName>
                                        </p:attrNameLst>
                                      </p:cBhvr>
                                      <p:to>
                                        <p:strVal val="visible"/>
                                      </p:to>
                                    </p:set>
                                    <p:animEffect transition="in" filter="fade">
                                      <p:cBhvr>
                                        <p:cTn id="25" dur="2000"/>
                                        <p:tgtEl>
                                          <p:spTgt spid="223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72" grpId="0" animBg="1"/>
      <p:bldP spid="22327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5" name="Group 7"/>
          <p:cNvGrpSpPr/>
          <p:nvPr/>
        </p:nvGrpSpPr>
        <p:grpSpPr>
          <a:xfrm>
            <a:off x="1187450" y="1196975"/>
            <a:ext cx="7129463" cy="576263"/>
            <a:chOff x="793" y="1026"/>
            <a:chExt cx="4536" cy="323"/>
          </a:xfrm>
        </p:grpSpPr>
        <p:sp>
          <p:nvSpPr>
            <p:cNvPr id="26631" name="Text Box 4"/>
            <p:cNvSpPr txBox="1"/>
            <p:nvPr/>
          </p:nvSpPr>
          <p:spPr>
            <a:xfrm>
              <a:off x="793" y="1026"/>
              <a:ext cx="4536" cy="323"/>
            </a:xfrm>
            <a:prstGeom prst="rect">
              <a:avLst/>
            </a:prstGeom>
            <a:noFill/>
            <a:ln w="57150" cap="flat" cmpd="sng">
              <a:solidFill>
                <a:schemeClr val="accent1"/>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黑体" pitchFamily="49" charset="-122"/>
                  <a:ea typeface="黑体" pitchFamily="49" charset="-122"/>
                </a:rPr>
                <a:t>糖原</a:t>
              </a:r>
              <a:r>
                <a:rPr lang="en-US" altLang="zh-CN" sz="2800">
                  <a:latin typeface="黑体" pitchFamily="49" charset="-122"/>
                  <a:ea typeface="宋体" pitchFamily="2" charset="-122"/>
                </a:rPr>
                <a:t>(G)</a:t>
              </a:r>
              <a:r>
                <a:rPr lang="en-US" altLang="zh-CN" sz="2800" baseline="-25000">
                  <a:latin typeface="黑体" pitchFamily="49" charset="-122"/>
                  <a:ea typeface="宋体" pitchFamily="2" charset="-122"/>
                </a:rPr>
                <a:t>n</a:t>
              </a:r>
              <a:r>
                <a:rPr lang="en-US" altLang="zh-CN" sz="2800">
                  <a:latin typeface="黑体" pitchFamily="49" charset="-122"/>
                  <a:ea typeface="宋体" pitchFamily="2" charset="-122"/>
                </a:rPr>
                <a:t> + Pi         G-1-P + </a:t>
              </a:r>
              <a:r>
                <a:rPr lang="zh-CN" altLang="en-US" sz="2800">
                  <a:latin typeface="黑体" pitchFamily="49" charset="-122"/>
                  <a:ea typeface="黑体" pitchFamily="49" charset="-122"/>
                </a:rPr>
                <a:t>糖原</a:t>
              </a:r>
              <a:r>
                <a:rPr lang="en-US" altLang="zh-CN" sz="2800">
                  <a:latin typeface="黑体" pitchFamily="49" charset="-122"/>
                  <a:ea typeface="宋体" pitchFamily="2" charset="-122"/>
                </a:rPr>
                <a:t>(G)</a:t>
              </a:r>
              <a:r>
                <a:rPr lang="en-US" altLang="zh-CN" sz="2800" baseline="-25000">
                  <a:latin typeface="黑体" pitchFamily="49" charset="-122"/>
                  <a:ea typeface="宋体" pitchFamily="2" charset="-122"/>
                </a:rPr>
                <a:t>n-1</a:t>
              </a:r>
              <a:r>
                <a:rPr lang="en-US" altLang="zh-CN" sz="2800">
                  <a:latin typeface="黑体" pitchFamily="49" charset="-122"/>
                  <a:ea typeface="宋体" pitchFamily="2" charset="-122"/>
                </a:rPr>
                <a:t> </a:t>
              </a:r>
              <a:endParaRPr lang="en-US" altLang="zh-CN" sz="2800">
                <a:latin typeface="黑体" pitchFamily="49" charset="-122"/>
                <a:ea typeface="宋体" pitchFamily="2" charset="-122"/>
              </a:endParaRPr>
            </a:p>
          </p:txBody>
        </p:sp>
        <p:sp>
          <p:nvSpPr>
            <p:cNvPr id="26632" name="Line 5"/>
            <p:cNvSpPr/>
            <p:nvPr/>
          </p:nvSpPr>
          <p:spPr>
            <a:xfrm>
              <a:off x="2426" y="1162"/>
              <a:ext cx="726" cy="0"/>
            </a:xfrm>
            <a:prstGeom prst="line">
              <a:avLst/>
            </a:prstGeom>
            <a:ln w="38100" cap="flat" cmpd="sng">
              <a:solidFill>
                <a:schemeClr val="accent2"/>
              </a:solidFill>
              <a:prstDash val="solid"/>
              <a:miter/>
              <a:headEnd type="none" w="sm" len="sm"/>
              <a:tailEnd type="triangle" w="sm" len="sm"/>
            </a:ln>
          </p:spPr>
        </p:sp>
        <p:sp>
          <p:nvSpPr>
            <p:cNvPr id="26633" name="Line 6"/>
            <p:cNvSpPr/>
            <p:nvPr/>
          </p:nvSpPr>
          <p:spPr>
            <a:xfrm flipH="1">
              <a:off x="2408" y="1252"/>
              <a:ext cx="726" cy="0"/>
            </a:xfrm>
            <a:prstGeom prst="line">
              <a:avLst/>
            </a:prstGeom>
            <a:ln w="38100" cap="flat" cmpd="sng">
              <a:solidFill>
                <a:schemeClr val="accent2"/>
              </a:solidFill>
              <a:prstDash val="solid"/>
              <a:miter/>
              <a:headEnd type="none" w="sm" len="sm"/>
              <a:tailEnd type="triangle" w="sm" len="sm"/>
            </a:ln>
          </p:spPr>
        </p:sp>
      </p:grpSp>
      <p:sp>
        <p:nvSpPr>
          <p:cNvPr id="26626" name="Text Box 8"/>
          <p:cNvSpPr txBox="1"/>
          <p:nvPr/>
        </p:nvSpPr>
        <p:spPr>
          <a:xfrm>
            <a:off x="971550" y="6092825"/>
            <a:ext cx="7405688" cy="523875"/>
          </a:xfrm>
          <a:prstGeom prst="rect">
            <a:avLst/>
          </a:prstGeom>
          <a:solidFill>
            <a:schemeClr val="accent1"/>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rPr>
              <a:t>磷酸解与水解的区别、磷酸解的优越性？</a:t>
            </a:r>
            <a:r>
              <a:rPr lang="en-US" altLang="zh-CN" sz="2800" b="1">
                <a:latin typeface="Times New Roman" panose="02020603050405020304" charset="0"/>
              </a:rPr>
              <a:t>P160</a:t>
            </a:r>
            <a:endParaRPr lang="en-US" altLang="zh-CN" sz="2800" b="1">
              <a:latin typeface="Times New Roman" panose="02020603050405020304" charset="0"/>
            </a:endParaRPr>
          </a:p>
        </p:txBody>
      </p:sp>
      <p:sp>
        <p:nvSpPr>
          <p:cNvPr id="26627" name="Text Box 9"/>
          <p:cNvSpPr txBox="1"/>
          <p:nvPr/>
        </p:nvSpPr>
        <p:spPr>
          <a:xfrm>
            <a:off x="1042988" y="2276475"/>
            <a:ext cx="7345362" cy="9461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楷体_GB2312" pitchFamily="49" charset="-122"/>
                <a:ea typeface="楷体_GB2312" pitchFamily="49" charset="-122"/>
              </a:rPr>
              <a:t>磷酸解是正磷酸作为一个基团加到游离出来的葡萄糖分子半缩醛羟基</a:t>
            </a:r>
            <a:r>
              <a:rPr lang="en-US" altLang="zh-CN" sz="2800">
                <a:latin typeface="楷体_GB2312" pitchFamily="49" charset="-122"/>
                <a:ea typeface="宋体" pitchFamily="2" charset="-122"/>
              </a:rPr>
              <a:t>(C</a:t>
            </a:r>
            <a:r>
              <a:rPr lang="en-US" altLang="zh-CN" sz="2800" baseline="-25000">
                <a:latin typeface="楷体_GB2312" pitchFamily="49" charset="-122"/>
                <a:ea typeface="宋体" pitchFamily="2" charset="-122"/>
              </a:rPr>
              <a:t>1</a:t>
            </a:r>
            <a:r>
              <a:rPr lang="en-US" altLang="zh-CN" sz="2800">
                <a:latin typeface="楷体_GB2312" pitchFamily="49" charset="-122"/>
                <a:ea typeface="宋体" pitchFamily="2" charset="-122"/>
              </a:rPr>
              <a:t>)</a:t>
            </a:r>
            <a:r>
              <a:rPr lang="zh-CN" altLang="en-US" sz="2800">
                <a:latin typeface="楷体_GB2312" pitchFamily="49" charset="-122"/>
                <a:ea typeface="楷体_GB2312" pitchFamily="49" charset="-122"/>
              </a:rPr>
              <a:t>上</a:t>
            </a:r>
            <a:endParaRPr lang="zh-CN" altLang="en-US" sz="2800">
              <a:latin typeface="楷体_GB2312" pitchFamily="49" charset="-122"/>
              <a:ea typeface="楷体_GB2312" pitchFamily="49" charset="-122"/>
            </a:endParaRPr>
          </a:p>
        </p:txBody>
      </p:sp>
      <p:sp>
        <p:nvSpPr>
          <p:cNvPr id="26628" name="Text Box 11"/>
          <p:cNvSpPr txBox="1"/>
          <p:nvPr/>
        </p:nvSpPr>
        <p:spPr>
          <a:xfrm>
            <a:off x="1042988" y="3357563"/>
            <a:ext cx="7345362" cy="24415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楷体_GB2312" pitchFamily="49" charset="-122"/>
                <a:ea typeface="楷体_GB2312" pitchFamily="49" charset="-122"/>
              </a:rPr>
              <a:t>磷酸解在体外是可逆反应</a:t>
            </a:r>
            <a:r>
              <a:rPr lang="en-US" altLang="zh-CN" sz="2800">
                <a:latin typeface="楷体_GB2312" pitchFamily="49" charset="-122"/>
                <a:ea typeface="宋体" pitchFamily="2" charset="-122"/>
              </a:rPr>
              <a:t>,</a:t>
            </a:r>
            <a:r>
              <a:rPr lang="zh-CN" altLang="en-US" sz="2800">
                <a:latin typeface="楷体_GB2312" pitchFamily="49" charset="-122"/>
                <a:ea typeface="楷体_GB2312" pitchFamily="49" charset="-122"/>
              </a:rPr>
              <a:t>但是在细胞内</a:t>
            </a:r>
            <a:r>
              <a:rPr lang="en-US" altLang="zh-CN" sz="2800">
                <a:latin typeface="楷体_GB2312" pitchFamily="49" charset="-122"/>
                <a:ea typeface="宋体" pitchFamily="2" charset="-122"/>
              </a:rPr>
              <a:t>,</a:t>
            </a:r>
            <a:r>
              <a:rPr lang="zh-CN" altLang="en-US" sz="2800">
                <a:latin typeface="楷体_GB2312" pitchFamily="49" charset="-122"/>
                <a:ea typeface="楷体_GB2312" pitchFamily="49" charset="-122"/>
              </a:rPr>
              <a:t>因</a:t>
            </a:r>
            <a:r>
              <a:rPr lang="en-US" altLang="zh-CN" sz="2800">
                <a:latin typeface="楷体_GB2312" pitchFamily="49" charset="-122"/>
                <a:ea typeface="宋体" pitchFamily="2" charset="-122"/>
              </a:rPr>
              <a:t>[Pi]/[G-1-P]</a:t>
            </a:r>
            <a:r>
              <a:rPr lang="zh-CN" altLang="en-US" sz="2800">
                <a:latin typeface="楷体_GB2312" pitchFamily="49" charset="-122"/>
                <a:ea typeface="楷体_GB2312" pitchFamily="49" charset="-122"/>
              </a:rPr>
              <a:t>比值远大于</a:t>
            </a:r>
            <a:r>
              <a:rPr lang="en-US" altLang="zh-CN" sz="2800">
                <a:latin typeface="楷体_GB2312" pitchFamily="49" charset="-122"/>
                <a:ea typeface="宋体" pitchFamily="2" charset="-122"/>
              </a:rPr>
              <a:t>100,</a:t>
            </a:r>
            <a:r>
              <a:rPr lang="zh-CN" altLang="en-US" sz="2800">
                <a:latin typeface="楷体_GB2312" pitchFamily="49" charset="-122"/>
                <a:ea typeface="楷体_GB2312" pitchFamily="49" charset="-122"/>
              </a:rPr>
              <a:t>所以</a:t>
            </a:r>
            <a:r>
              <a:rPr lang="en-US" altLang="zh-CN" sz="2800">
                <a:latin typeface="楷体_GB2312" pitchFamily="49" charset="-122"/>
                <a:ea typeface="宋体" pitchFamily="2" charset="-122"/>
              </a:rPr>
              <a:t>,</a:t>
            </a:r>
            <a:r>
              <a:rPr lang="zh-CN" altLang="en-US" sz="2800">
                <a:latin typeface="楷体_GB2312" pitchFamily="49" charset="-122"/>
                <a:ea typeface="楷体_GB2312" pitchFamily="49" charset="-122"/>
              </a:rPr>
              <a:t>反应趋向于发生磷酸解</a:t>
            </a:r>
            <a:r>
              <a:rPr lang="en-US" altLang="zh-CN" sz="2800">
                <a:latin typeface="楷体_GB2312" pitchFamily="49" charset="-122"/>
                <a:ea typeface="宋体" pitchFamily="2" charset="-122"/>
              </a:rPr>
              <a:t>. </a:t>
            </a:r>
            <a:endParaRPr lang="en-US" altLang="zh-CN" sz="2800">
              <a:latin typeface="楷体_GB2312" pitchFamily="49" charset="-122"/>
              <a:ea typeface="宋体" pitchFamily="2" charset="-122"/>
            </a:endParaRPr>
          </a:p>
          <a:p>
            <a:pPr marL="0" lvl="0" indent="0" eaLnBrk="1" hangingPunct="1">
              <a:spcBef>
                <a:spcPct val="50000"/>
              </a:spcBef>
              <a:buNone/>
            </a:pPr>
            <a:r>
              <a:rPr lang="zh-CN" altLang="en-US" sz="2800">
                <a:latin typeface="楷体_GB2312" pitchFamily="49" charset="-122"/>
                <a:ea typeface="楷体_GB2312" pitchFamily="49" charset="-122"/>
              </a:rPr>
              <a:t>磷酸解产物已经磷酸化</a:t>
            </a:r>
            <a:r>
              <a:rPr lang="en-US" altLang="zh-CN" sz="2800">
                <a:latin typeface="楷体_GB2312" pitchFamily="49" charset="-122"/>
                <a:ea typeface="宋体" pitchFamily="2" charset="-122"/>
              </a:rPr>
              <a:t>,</a:t>
            </a:r>
            <a:r>
              <a:rPr lang="zh-CN" altLang="en-US" sz="2800">
                <a:latin typeface="楷体_GB2312" pitchFamily="49" charset="-122"/>
                <a:ea typeface="楷体_GB2312" pitchFamily="49" charset="-122"/>
              </a:rPr>
              <a:t>不用再消耗</a:t>
            </a:r>
            <a:r>
              <a:rPr lang="en-US" altLang="zh-CN" sz="2800">
                <a:latin typeface="楷体_GB2312" pitchFamily="49" charset="-122"/>
                <a:ea typeface="宋体" pitchFamily="2" charset="-122"/>
              </a:rPr>
              <a:t>ATP</a:t>
            </a:r>
            <a:r>
              <a:rPr lang="zh-CN" altLang="en-US" sz="2800">
                <a:latin typeface="楷体_GB2312" pitchFamily="49" charset="-122"/>
                <a:ea typeface="楷体_GB2312" pitchFamily="49" charset="-122"/>
              </a:rPr>
              <a:t>产生磷酸葡萄糖</a:t>
            </a:r>
            <a:r>
              <a:rPr lang="en-US" altLang="zh-CN" sz="2800">
                <a:latin typeface="楷体_GB2312" pitchFamily="49" charset="-122"/>
                <a:ea typeface="宋体" pitchFamily="2" charset="-122"/>
              </a:rPr>
              <a:t>,</a:t>
            </a:r>
            <a:r>
              <a:rPr lang="zh-CN" altLang="en-US" sz="2800">
                <a:latin typeface="楷体_GB2312" pitchFamily="49" charset="-122"/>
                <a:ea typeface="楷体_GB2312" pitchFamily="49" charset="-122"/>
              </a:rPr>
              <a:t>为糖酵解提供方便</a:t>
            </a:r>
            <a:r>
              <a:rPr lang="en-US" altLang="zh-CN" sz="2800">
                <a:latin typeface="楷体_GB2312" pitchFamily="49" charset="-122"/>
                <a:ea typeface="宋体" pitchFamily="2" charset="-122"/>
              </a:rPr>
              <a:t>.</a:t>
            </a:r>
            <a:endParaRPr lang="en-US" altLang="zh-CN" sz="2800">
              <a:latin typeface="楷体_GB2312" pitchFamily="49" charset="-122"/>
              <a:ea typeface="宋体" pitchFamily="2" charset="-122"/>
            </a:endParaRPr>
          </a:p>
        </p:txBody>
      </p:sp>
      <p:sp>
        <p:nvSpPr>
          <p:cNvPr id="26629" name="Text Box 12"/>
          <p:cNvSpPr txBox="1"/>
          <p:nvPr/>
        </p:nvSpPr>
        <p:spPr>
          <a:xfrm>
            <a:off x="1116013" y="404813"/>
            <a:ext cx="4751387"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宋体" pitchFamily="2" charset="-122"/>
              </a:rPr>
              <a:t>2.2.1 </a:t>
            </a:r>
            <a:r>
              <a:rPr lang="zh-CN" altLang="en-US" sz="2800">
                <a:latin typeface="黑体" pitchFamily="49" charset="-122"/>
                <a:ea typeface="黑体" pitchFamily="49" charset="-122"/>
              </a:rPr>
              <a:t>化学反应式</a:t>
            </a:r>
            <a:r>
              <a:rPr lang="en-US" altLang="zh-CN" sz="2800">
                <a:latin typeface="黑体" pitchFamily="49" charset="-122"/>
                <a:ea typeface="宋体" pitchFamily="2" charset="-122"/>
              </a:rPr>
              <a:t> </a:t>
            </a:r>
            <a:endParaRPr lang="en-US" altLang="zh-CN" sz="2800">
              <a:latin typeface="黑体" pitchFamily="49" charset="-122"/>
              <a:ea typeface="宋体" pitchFamily="2" charset="-122"/>
            </a:endParaRPr>
          </a:p>
        </p:txBody>
      </p:sp>
      <p:sp>
        <p:nvSpPr>
          <p:cNvPr id="26630"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49" name="Picture 5" descr="ch21f8[1]"/>
          <p:cNvPicPr>
            <a:picLocks noChangeAspect="1"/>
          </p:cNvPicPr>
          <p:nvPr/>
        </p:nvPicPr>
        <p:blipFill>
          <a:blip r:embed="rId1"/>
          <a:stretch>
            <a:fillRect/>
          </a:stretch>
        </p:blipFill>
        <p:spPr>
          <a:xfrm>
            <a:off x="395288" y="1196975"/>
            <a:ext cx="8459787" cy="3489325"/>
          </a:xfrm>
          <a:prstGeom prst="rect">
            <a:avLst/>
          </a:prstGeom>
          <a:noFill/>
          <a:ln w="9525">
            <a:noFill/>
          </a:ln>
        </p:spPr>
      </p:pic>
      <p:sp>
        <p:nvSpPr>
          <p:cNvPr id="27650" name="Rectangle 7"/>
          <p:cNvSpPr/>
          <p:nvPr/>
        </p:nvSpPr>
        <p:spPr>
          <a:xfrm>
            <a:off x="827088" y="4868863"/>
            <a:ext cx="7704137" cy="15525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latin typeface="楷体_GB2312" pitchFamily="49" charset="-122"/>
                <a:ea typeface="楷体_GB2312" pitchFamily="49" charset="-122"/>
              </a:rPr>
              <a:t>PLP</a:t>
            </a:r>
            <a:r>
              <a:rPr lang="zh-CN" altLang="en-US" sz="2400" b="1">
                <a:latin typeface="楷体_GB2312" pitchFamily="49" charset="-122"/>
                <a:ea typeface="楷体_GB2312" pitchFamily="49" charset="-122"/>
              </a:rPr>
              <a:t>通过氢键结合转运无机磷酸基团 </a:t>
            </a:r>
            <a:r>
              <a:rPr lang="en-US" altLang="zh-CN" sz="2400" b="1">
                <a:latin typeface="楷体_GB2312" pitchFamily="49" charset="-122"/>
                <a:ea typeface="楷体_GB2312" pitchFamily="49" charset="-122"/>
              </a:rPr>
              <a:t>HPO</a:t>
            </a:r>
            <a:r>
              <a:rPr lang="en-US" altLang="zh-CN" sz="2400" b="1" baseline="-25000">
                <a:latin typeface="楷体_GB2312" pitchFamily="49" charset="-122"/>
                <a:ea typeface="楷体_GB2312" pitchFamily="49" charset="-122"/>
              </a:rPr>
              <a:t>4</a:t>
            </a:r>
            <a:r>
              <a:rPr lang="en-US" altLang="zh-CN" sz="2400" b="1" baseline="30000">
                <a:latin typeface="楷体_GB2312" pitchFamily="49" charset="-122"/>
                <a:ea typeface="楷体_GB2312" pitchFamily="49" charset="-122"/>
              </a:rPr>
              <a:t>2-</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红色示</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该磷酸基团贡献其</a:t>
            </a:r>
            <a:r>
              <a:rPr lang="en-US" altLang="zh-CN" sz="2400" b="1">
                <a:latin typeface="楷体_GB2312" pitchFamily="49" charset="-122"/>
                <a:ea typeface="楷体_GB2312" pitchFamily="49" charset="-122"/>
              </a:rPr>
              <a:t>H</a:t>
            </a:r>
            <a:r>
              <a:rPr lang="en-US" altLang="zh-CN" sz="2400" b="1" baseline="30000">
                <a:latin typeface="楷体_GB2312" pitchFamily="49" charset="-122"/>
                <a:ea typeface="楷体_GB2312" pitchFamily="49" charset="-122"/>
              </a:rPr>
              <a:t>+</a:t>
            </a:r>
            <a:r>
              <a:rPr lang="zh-CN" altLang="en-US" sz="2400" b="1">
                <a:latin typeface="楷体_GB2312" pitchFamily="49" charset="-122"/>
                <a:ea typeface="楷体_GB2312" pitchFamily="49" charset="-122"/>
              </a:rPr>
              <a:t>给</a:t>
            </a:r>
            <a:r>
              <a:rPr lang="zh-CN" altLang="en-US" sz="2400" b="1">
                <a:latin typeface="楷体_GB2312" pitchFamily="49" charset="-122"/>
                <a:ea typeface="楷体_GB2312" pitchFamily="49" charset="-122"/>
                <a:sym typeface="Symbol" pitchFamily="18" charset="2"/>
              </a:rPr>
              <a:t></a:t>
            </a:r>
            <a:r>
              <a:rPr lang="en-US" altLang="zh-CN" sz="2400" b="1">
                <a:latin typeface="楷体_GB2312" pitchFamily="49" charset="-122"/>
                <a:ea typeface="楷体_GB2312" pitchFamily="49" charset="-122"/>
                <a:sym typeface="Symbol" pitchFamily="18" charset="2"/>
              </a:rPr>
              <a:t>-</a:t>
            </a:r>
            <a:r>
              <a:rPr lang="en-US" altLang="zh-CN" sz="2400" b="1">
                <a:latin typeface="楷体_GB2312" pitchFamily="49" charset="-122"/>
                <a:ea typeface="楷体_GB2312" pitchFamily="49" charset="-122"/>
              </a:rPr>
              <a:t>1,4</a:t>
            </a:r>
            <a:r>
              <a:rPr lang="zh-CN" altLang="en-US" sz="2400" b="1">
                <a:latin typeface="楷体_GB2312" pitchFamily="49" charset="-122"/>
                <a:ea typeface="楷体_GB2312" pitchFamily="49" charset="-122"/>
              </a:rPr>
              <a:t>糖苷键上的富电子</a:t>
            </a:r>
            <a:r>
              <a:rPr lang="en-US" altLang="zh-CN" sz="2400" b="1">
                <a:latin typeface="楷体_GB2312" pitchFamily="49" charset="-122"/>
                <a:ea typeface="楷体_GB2312" pitchFamily="49" charset="-122"/>
              </a:rPr>
              <a:t>O,</a:t>
            </a:r>
            <a:r>
              <a:rPr lang="zh-CN" altLang="en-US" sz="2400" b="1">
                <a:latin typeface="楷体_GB2312" pitchFamily="49" charset="-122"/>
                <a:ea typeface="楷体_GB2312" pitchFamily="49" charset="-122"/>
              </a:rPr>
              <a:t>导致电子云转移</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糖苷键破裂</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产生</a:t>
            </a:r>
            <a:r>
              <a:rPr lang="zh-CN" altLang="en-US" sz="2400" b="1">
                <a:solidFill>
                  <a:srgbClr val="A50021"/>
                </a:solidFill>
                <a:latin typeface="楷体_GB2312" pitchFamily="49" charset="-122"/>
                <a:ea typeface="楷体_GB2312" pitchFamily="49" charset="-122"/>
              </a:rPr>
              <a:t>葡萄糖正碳离子过渡态</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然后接受磷酸基团的转移形成磷酸酯键</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生成</a:t>
            </a:r>
            <a:r>
              <a:rPr lang="en-US" altLang="zh-CN" sz="2400" b="1">
                <a:latin typeface="楷体_GB2312" pitchFamily="49" charset="-122"/>
                <a:ea typeface="楷体_GB2312" pitchFamily="49" charset="-122"/>
              </a:rPr>
              <a:t>G-1-P</a:t>
            </a:r>
            <a:r>
              <a:rPr lang="zh-CN" altLang="en-US" sz="2400" b="1">
                <a:latin typeface="楷体_GB2312" pitchFamily="49" charset="-122"/>
                <a:ea typeface="楷体_GB2312" pitchFamily="49" charset="-122"/>
              </a:rPr>
              <a:t>产物</a:t>
            </a:r>
            <a:r>
              <a:rPr lang="en-US" altLang="zh-CN" sz="2400" b="1">
                <a:latin typeface="楷体_GB2312" pitchFamily="49" charset="-122"/>
                <a:ea typeface="楷体_GB2312" pitchFamily="49" charset="-122"/>
              </a:rPr>
              <a:t>.</a:t>
            </a:r>
            <a:endParaRPr lang="en-US" altLang="zh-CN" sz="2400" b="1">
              <a:latin typeface="楷体_GB2312" pitchFamily="49" charset="-122"/>
              <a:ea typeface="楷体_GB2312" pitchFamily="49" charset="-122"/>
            </a:endParaRPr>
          </a:p>
        </p:txBody>
      </p:sp>
      <p:sp>
        <p:nvSpPr>
          <p:cNvPr id="27651" name="Text Box 8"/>
          <p:cNvSpPr txBox="1"/>
          <p:nvPr/>
        </p:nvSpPr>
        <p:spPr>
          <a:xfrm>
            <a:off x="2268538" y="260350"/>
            <a:ext cx="4681537"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a:ea typeface="宋体" pitchFamily="2" charset="-122"/>
              </a:rPr>
              <a:t>2.2.2 </a:t>
            </a:r>
            <a:r>
              <a:rPr lang="zh-CN" altLang="en-US" sz="2800" b="1">
                <a:ea typeface="黑体" pitchFamily="49" charset="-122"/>
              </a:rPr>
              <a:t>糖原磷酸解的反应机制</a:t>
            </a:r>
            <a:endParaRPr lang="zh-CN" altLang="en-US" sz="2800" b="1">
              <a:ea typeface="黑体" pitchFamily="49" charset="-122"/>
            </a:endParaRPr>
          </a:p>
        </p:txBody>
      </p:sp>
      <p:sp>
        <p:nvSpPr>
          <p:cNvPr id="27652" name="Text Box 9"/>
          <p:cNvSpPr txBox="1"/>
          <p:nvPr/>
        </p:nvSpPr>
        <p:spPr>
          <a:xfrm>
            <a:off x="3203575" y="1095375"/>
            <a:ext cx="2376488" cy="457200"/>
          </a:xfrm>
          <a:prstGeom prst="rect">
            <a:avLst/>
          </a:prstGeom>
          <a:solidFill>
            <a:srgbClr val="D9EDEF"/>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正碳离子中间体</a:t>
            </a:r>
            <a:endParaRPr lang="zh-CN" altLang="en-US" sz="2400" b="1">
              <a:ea typeface="楷体_GB2312" pitchFamily="49" charset="-122"/>
            </a:endParaRPr>
          </a:p>
        </p:txBody>
      </p:sp>
      <p:sp>
        <p:nvSpPr>
          <p:cNvPr id="27653" name="Oval 10"/>
          <p:cNvSpPr/>
          <p:nvPr/>
        </p:nvSpPr>
        <p:spPr>
          <a:xfrm>
            <a:off x="1490663" y="4394200"/>
            <a:ext cx="720725" cy="360363"/>
          </a:xfrm>
          <a:prstGeom prst="ellipse">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1800"/>
              <a:t>酶</a:t>
            </a:r>
            <a:endParaRPr lang="zh-CN" altLang="en-US" sz="1800"/>
          </a:p>
        </p:txBody>
      </p:sp>
      <p:sp>
        <p:nvSpPr>
          <p:cNvPr id="27654" name="Oval 11"/>
          <p:cNvSpPr/>
          <p:nvPr/>
        </p:nvSpPr>
        <p:spPr>
          <a:xfrm>
            <a:off x="4298950" y="4379913"/>
            <a:ext cx="720725" cy="360362"/>
          </a:xfrm>
          <a:prstGeom prst="ellipse">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1800"/>
              <a:t>酶</a:t>
            </a:r>
            <a:endParaRPr lang="zh-CN" altLang="en-US" sz="1800"/>
          </a:p>
        </p:txBody>
      </p:sp>
      <p:sp>
        <p:nvSpPr>
          <p:cNvPr id="27655" name="Oval 12"/>
          <p:cNvSpPr/>
          <p:nvPr/>
        </p:nvSpPr>
        <p:spPr>
          <a:xfrm>
            <a:off x="8480425" y="4394200"/>
            <a:ext cx="720725" cy="360363"/>
          </a:xfrm>
          <a:prstGeom prst="ellipse">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1800"/>
              <a:t>酶</a:t>
            </a:r>
            <a:endParaRPr lang="zh-CN" altLang="en-US" sz="1800"/>
          </a:p>
        </p:txBody>
      </p:sp>
      <p:sp>
        <p:nvSpPr>
          <p:cNvPr id="2765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3" name="Picture 4" descr="An external file that holds a picture, illustration, etc., usually as some form of binary object. The name of referred object is ch21f7.jpg. "/>
          <p:cNvPicPr>
            <a:picLocks noChangeAspect="1"/>
          </p:cNvPicPr>
          <p:nvPr/>
        </p:nvPicPr>
        <p:blipFill>
          <a:blip r:embed="rId1"/>
          <a:stretch>
            <a:fillRect/>
          </a:stretch>
        </p:blipFill>
        <p:spPr>
          <a:xfrm>
            <a:off x="3635375" y="1125538"/>
            <a:ext cx="2720975" cy="4321175"/>
          </a:xfrm>
          <a:prstGeom prst="rect">
            <a:avLst/>
          </a:prstGeom>
          <a:noFill/>
          <a:ln w="9525">
            <a:noFill/>
          </a:ln>
        </p:spPr>
      </p:pic>
      <p:sp>
        <p:nvSpPr>
          <p:cNvPr id="28674" name="Rectangle 6"/>
          <p:cNvSpPr/>
          <p:nvPr/>
        </p:nvSpPr>
        <p:spPr>
          <a:xfrm>
            <a:off x="900113" y="5516563"/>
            <a:ext cx="7632700" cy="9461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t>  </a:t>
            </a:r>
            <a:r>
              <a:rPr lang="zh-CN" altLang="en-US" sz="2800" b="1">
                <a:latin typeface="楷体_GB2312" pitchFamily="49" charset="-122"/>
                <a:ea typeface="楷体_GB2312" pitchFamily="49" charset="-122"/>
              </a:rPr>
              <a:t>磷酸吡哆醛</a:t>
            </a:r>
            <a:r>
              <a:rPr lang="en-US" altLang="zh-CN" sz="2800" b="1">
                <a:latin typeface="楷体_GB2312" pitchFamily="49" charset="-122"/>
                <a:ea typeface="楷体_GB2312" pitchFamily="49" charset="-122"/>
              </a:rPr>
              <a:t>(VitB</a:t>
            </a:r>
            <a:r>
              <a:rPr lang="en-US" altLang="zh-CN" sz="2800" b="1" baseline="-25000">
                <a:latin typeface="楷体_GB2312" pitchFamily="49" charset="-122"/>
                <a:ea typeface="楷体_GB2312" pitchFamily="49" charset="-122"/>
              </a:rPr>
              <a:t>6</a:t>
            </a:r>
            <a:r>
              <a:rPr lang="en-US" altLang="zh-CN" sz="2800" b="1">
                <a:latin typeface="楷体_GB2312" pitchFamily="49" charset="-122"/>
                <a:ea typeface="楷体_GB2312" pitchFamily="49" charset="-122"/>
              </a:rPr>
              <a:t>,PLP,</a:t>
            </a:r>
            <a:r>
              <a:rPr lang="zh-CN" altLang="en-US" sz="2800" b="1">
                <a:latin typeface="楷体_GB2312" pitchFamily="49" charset="-122"/>
                <a:ea typeface="楷体_GB2312" pitchFamily="49" charset="-122"/>
              </a:rPr>
              <a:t>红色部分示</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与糖原磷酸酶中的</a:t>
            </a:r>
            <a:r>
              <a:rPr lang="en-US" altLang="zh-CN" sz="2800" b="1">
                <a:latin typeface="楷体_GB2312" pitchFamily="49" charset="-122"/>
                <a:ea typeface="楷体_GB2312" pitchFamily="49" charset="-122"/>
              </a:rPr>
              <a:t>Lys</a:t>
            </a:r>
            <a:r>
              <a:rPr lang="zh-CN" altLang="en-US" sz="2800" b="1">
                <a:latin typeface="楷体_GB2312" pitchFamily="49" charset="-122"/>
                <a:ea typeface="楷体_GB2312" pitchFamily="49" charset="-122"/>
              </a:rPr>
              <a:t>残基</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通过希夫碱形式连接</a:t>
            </a:r>
            <a:r>
              <a:rPr lang="en-US" altLang="zh-CN" sz="2800" b="1">
                <a:latin typeface="楷体_GB2312" pitchFamily="49" charset="-122"/>
                <a:ea typeface="楷体_GB2312" pitchFamily="49" charset="-122"/>
              </a:rPr>
              <a:t>.</a:t>
            </a:r>
            <a:r>
              <a:rPr lang="en-US" altLang="zh-CN" sz="2800">
                <a:latin typeface="楷体_GB2312" pitchFamily="49" charset="-122"/>
                <a:ea typeface="楷体_GB2312" pitchFamily="49" charset="-122"/>
              </a:rPr>
              <a:t> </a:t>
            </a:r>
            <a:endParaRPr lang="en-US" altLang="zh-CN" sz="2800">
              <a:latin typeface="楷体_GB2312" pitchFamily="49" charset="-122"/>
              <a:ea typeface="楷体_GB2312" pitchFamily="49" charset="-122"/>
            </a:endParaRPr>
          </a:p>
        </p:txBody>
      </p:sp>
      <p:sp>
        <p:nvSpPr>
          <p:cNvPr id="28675" name="Rectangle 7"/>
          <p:cNvSpPr/>
          <p:nvPr/>
        </p:nvSpPr>
        <p:spPr>
          <a:xfrm>
            <a:off x="827088" y="476250"/>
            <a:ext cx="7416800"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ahoma" pitchFamily="34" charset="0"/>
                <a:ea typeface="黑体" pitchFamily="49" charset="-122"/>
              </a:rPr>
              <a:t>磷酸吡哆醛的化学结构及其与酶的希夫碱连接</a:t>
            </a:r>
            <a:endParaRPr lang="en-US" altLang="zh-CN" sz="2800">
              <a:latin typeface="楷体_GB2312" pitchFamily="49" charset="-122"/>
              <a:ea typeface="黑体" pitchFamily="49" charset="-122"/>
            </a:endParaRPr>
          </a:p>
        </p:txBody>
      </p:sp>
      <p:sp>
        <p:nvSpPr>
          <p:cNvPr id="28676" name="Oval 9"/>
          <p:cNvSpPr/>
          <p:nvPr/>
        </p:nvSpPr>
        <p:spPr>
          <a:xfrm>
            <a:off x="3419475" y="3429000"/>
            <a:ext cx="1511300" cy="1368425"/>
          </a:xfrm>
          <a:prstGeom prst="ellipse">
            <a:avLst/>
          </a:prstGeom>
          <a:noFill/>
          <a:ln w="38100" cap="flat" cmpd="sng">
            <a:solidFill>
              <a:srgbClr val="CC0000"/>
            </a:solidFill>
            <a:prstDash val="dash"/>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28677" name="Line 10"/>
          <p:cNvSpPr/>
          <p:nvPr/>
        </p:nvSpPr>
        <p:spPr>
          <a:xfrm flipH="1" flipV="1">
            <a:off x="3059113" y="3357563"/>
            <a:ext cx="504825" cy="358775"/>
          </a:xfrm>
          <a:prstGeom prst="line">
            <a:avLst/>
          </a:prstGeom>
          <a:ln w="38100" cap="flat" cmpd="sng">
            <a:solidFill>
              <a:srgbClr val="CC0000"/>
            </a:solidFill>
            <a:prstDash val="solid"/>
            <a:miter/>
            <a:headEnd type="none" w="sm" len="sm"/>
            <a:tailEnd type="triangle" w="sm" len="sm"/>
          </a:ln>
        </p:spPr>
      </p:sp>
      <p:sp>
        <p:nvSpPr>
          <p:cNvPr id="28678" name="AutoShape 11"/>
          <p:cNvSpPr/>
          <p:nvPr/>
        </p:nvSpPr>
        <p:spPr>
          <a:xfrm>
            <a:off x="914400" y="2074863"/>
            <a:ext cx="2233613" cy="1296987"/>
          </a:xfrm>
          <a:prstGeom prst="roundRect">
            <a:avLst>
              <a:gd name="adj" fmla="val 16667"/>
            </a:avLst>
          </a:prstGeom>
          <a:noFill/>
          <a:ln w="57150" cap="flat" cmpd="sng">
            <a:solidFill>
              <a:schemeClr val="accent2"/>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a:solidFill>
                  <a:schemeClr val="accent2"/>
                </a:solidFill>
                <a:latin typeface="黑体" pitchFamily="49" charset="-122"/>
                <a:ea typeface="黑体" pitchFamily="49" charset="-122"/>
              </a:rPr>
              <a:t>起传递游离</a:t>
            </a:r>
            <a:r>
              <a:rPr lang="en-US" altLang="zh-CN" sz="2400">
                <a:solidFill>
                  <a:schemeClr val="accent2"/>
                </a:solidFill>
                <a:latin typeface="黑体" pitchFamily="49" charset="-122"/>
                <a:ea typeface="宋体" pitchFamily="2" charset="-122"/>
              </a:rPr>
              <a:t>Pi</a:t>
            </a:r>
            <a:endParaRPr lang="en-US" altLang="zh-CN" sz="2400">
              <a:solidFill>
                <a:schemeClr val="accent2"/>
              </a:solidFill>
              <a:latin typeface="黑体" pitchFamily="49" charset="-122"/>
              <a:ea typeface="宋体" pitchFamily="2" charset="-122"/>
            </a:endParaRPr>
          </a:p>
          <a:p>
            <a:pPr marL="0" lvl="0" indent="0" eaLnBrk="1" hangingPunct="1">
              <a:spcBef>
                <a:spcPct val="0"/>
              </a:spcBef>
              <a:buNone/>
            </a:pPr>
            <a:r>
              <a:rPr lang="zh-CN" altLang="en-US" sz="2400">
                <a:solidFill>
                  <a:schemeClr val="accent2"/>
                </a:solidFill>
                <a:latin typeface="黑体" pitchFamily="49" charset="-122"/>
                <a:ea typeface="黑体" pitchFamily="49" charset="-122"/>
              </a:rPr>
              <a:t>基团的作用</a:t>
            </a:r>
            <a:r>
              <a:rPr lang="en-US" altLang="zh-CN" sz="2400">
                <a:solidFill>
                  <a:schemeClr val="accent2"/>
                </a:solidFill>
                <a:latin typeface="黑体" pitchFamily="49" charset="-122"/>
                <a:ea typeface="宋体" pitchFamily="2" charset="-122"/>
              </a:rPr>
              <a:t>.</a:t>
            </a:r>
            <a:r>
              <a:rPr lang="zh-CN" altLang="en-US" sz="2400">
                <a:solidFill>
                  <a:schemeClr val="accent2"/>
                </a:solidFill>
                <a:latin typeface="黑体" pitchFamily="49" charset="-122"/>
                <a:ea typeface="黑体" pitchFamily="49" charset="-122"/>
              </a:rPr>
              <a:t>故</a:t>
            </a:r>
            <a:endParaRPr lang="zh-CN" altLang="en-US" sz="2400">
              <a:solidFill>
                <a:schemeClr val="accent2"/>
              </a:solidFill>
              <a:latin typeface="黑体" pitchFamily="49" charset="-122"/>
              <a:ea typeface="黑体" pitchFamily="49" charset="-122"/>
            </a:endParaRPr>
          </a:p>
          <a:p>
            <a:pPr marL="0" lvl="0" indent="0" eaLnBrk="1" hangingPunct="1">
              <a:spcBef>
                <a:spcPct val="0"/>
              </a:spcBef>
              <a:buNone/>
            </a:pPr>
            <a:r>
              <a:rPr lang="en-US" altLang="zh-CN" sz="2400">
                <a:solidFill>
                  <a:schemeClr val="accent2"/>
                </a:solidFill>
                <a:latin typeface="黑体" pitchFamily="49" charset="-122"/>
                <a:ea typeface="宋体" pitchFamily="2" charset="-122"/>
              </a:rPr>
              <a:t>PLP</a:t>
            </a:r>
            <a:r>
              <a:rPr lang="zh-CN" altLang="en-US" sz="2400">
                <a:solidFill>
                  <a:schemeClr val="accent2"/>
                </a:solidFill>
                <a:latin typeface="黑体" pitchFamily="49" charset="-122"/>
                <a:ea typeface="黑体" pitchFamily="49" charset="-122"/>
              </a:rPr>
              <a:t>是</a:t>
            </a:r>
            <a:r>
              <a:rPr lang="en-US" altLang="zh-CN" sz="2400">
                <a:solidFill>
                  <a:schemeClr val="accent2"/>
                </a:solidFill>
                <a:latin typeface="黑体" pitchFamily="49" charset="-122"/>
                <a:ea typeface="宋体" pitchFamily="2" charset="-122"/>
              </a:rPr>
              <a:t>Pi</a:t>
            </a:r>
            <a:r>
              <a:rPr lang="zh-CN" altLang="en-US" sz="2400">
                <a:solidFill>
                  <a:schemeClr val="accent2"/>
                </a:solidFill>
                <a:latin typeface="黑体" pitchFamily="49" charset="-122"/>
                <a:ea typeface="黑体" pitchFamily="49" charset="-122"/>
              </a:rPr>
              <a:t>的载体</a:t>
            </a:r>
            <a:endParaRPr lang="zh-CN" altLang="en-US" sz="2400">
              <a:solidFill>
                <a:schemeClr val="accent2"/>
              </a:solidFill>
              <a:latin typeface="黑体" pitchFamily="49" charset="-122"/>
              <a:ea typeface="黑体" pitchFamily="49" charset="-122"/>
            </a:endParaRPr>
          </a:p>
        </p:txBody>
      </p:sp>
      <p:sp>
        <p:nvSpPr>
          <p:cNvPr id="28679" name="Oval 13"/>
          <p:cNvSpPr/>
          <p:nvPr/>
        </p:nvSpPr>
        <p:spPr>
          <a:xfrm>
            <a:off x="4067175" y="1700213"/>
            <a:ext cx="720725" cy="360362"/>
          </a:xfrm>
          <a:prstGeom prst="ellipse">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1800"/>
              <a:t>酶</a:t>
            </a:r>
            <a:endParaRPr lang="zh-CN" altLang="en-US" sz="1800"/>
          </a:p>
        </p:txBody>
      </p:sp>
      <p:sp>
        <p:nvSpPr>
          <p:cNvPr id="28680" name="Text Box 14"/>
          <p:cNvSpPr txBox="1"/>
          <p:nvPr/>
        </p:nvSpPr>
        <p:spPr>
          <a:xfrm>
            <a:off x="2051050" y="4437063"/>
            <a:ext cx="1655763"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a:solidFill>
                  <a:schemeClr val="accent2"/>
                </a:solidFill>
              </a:rPr>
              <a:t>上一页中蓝色示意的</a:t>
            </a:r>
            <a:r>
              <a:rPr lang="en-US" altLang="zh-CN" sz="1800">
                <a:solidFill>
                  <a:schemeClr val="accent2"/>
                </a:solidFill>
              </a:rPr>
              <a:t>P</a:t>
            </a:r>
            <a:r>
              <a:rPr lang="zh-CN" altLang="en-US" sz="1800">
                <a:solidFill>
                  <a:schemeClr val="accent2"/>
                </a:solidFill>
              </a:rPr>
              <a:t>基团</a:t>
            </a:r>
            <a:endParaRPr lang="zh-CN" altLang="en-US" sz="1800">
              <a:solidFill>
                <a:schemeClr val="accent2"/>
              </a:solidFill>
            </a:endParaRPr>
          </a:p>
        </p:txBody>
      </p:sp>
      <p:sp>
        <p:nvSpPr>
          <p:cNvPr id="28681"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4"/>
          <p:cNvSpPr txBox="1"/>
          <p:nvPr/>
        </p:nvSpPr>
        <p:spPr>
          <a:xfrm>
            <a:off x="1547813" y="620713"/>
            <a:ext cx="5545137"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800"/>
          </a:p>
        </p:txBody>
      </p:sp>
      <p:sp>
        <p:nvSpPr>
          <p:cNvPr id="29698" name="Text Box 5"/>
          <p:cNvSpPr txBox="1"/>
          <p:nvPr/>
        </p:nvSpPr>
        <p:spPr>
          <a:xfrm>
            <a:off x="1476375" y="333375"/>
            <a:ext cx="5327650"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a:latin typeface="黑体" pitchFamily="49" charset="-122"/>
                <a:ea typeface="宋体" pitchFamily="2" charset="-122"/>
              </a:rPr>
              <a:t>2.2.3 </a:t>
            </a:r>
            <a:r>
              <a:rPr lang="zh-CN" altLang="en-US" sz="2800" b="1">
                <a:latin typeface="黑体" pitchFamily="49" charset="-122"/>
                <a:ea typeface="黑体" pitchFamily="49" charset="-122"/>
              </a:rPr>
              <a:t>糖原磷酸化酶的分子结构</a:t>
            </a:r>
            <a:endParaRPr lang="en-US" altLang="zh-CN" sz="2800" b="1">
              <a:latin typeface="黑体" pitchFamily="49" charset="-122"/>
              <a:ea typeface="宋体" pitchFamily="2" charset="-122"/>
            </a:endParaRPr>
          </a:p>
        </p:txBody>
      </p:sp>
      <p:sp>
        <p:nvSpPr>
          <p:cNvPr id="29699" name="Text Box 6"/>
          <p:cNvSpPr txBox="1"/>
          <p:nvPr/>
        </p:nvSpPr>
        <p:spPr>
          <a:xfrm>
            <a:off x="539750" y="981075"/>
            <a:ext cx="8928100"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ea typeface="黑体" pitchFamily="49" charset="-122"/>
              </a:rPr>
              <a:t>糖原磷酸化酶</a:t>
            </a:r>
            <a:r>
              <a:rPr lang="en-US" altLang="zh-CN" sz="2800">
                <a:ea typeface="宋体" pitchFamily="2" charset="-122"/>
              </a:rPr>
              <a:t>:</a:t>
            </a:r>
            <a:r>
              <a:rPr lang="zh-CN" altLang="en-US" sz="2400" b="1">
                <a:solidFill>
                  <a:srgbClr val="CC0000"/>
                </a:solidFill>
                <a:latin typeface="楷体_GB2312" pitchFamily="49" charset="-122"/>
                <a:ea typeface="楷体_GB2312" pitchFamily="49" charset="-122"/>
              </a:rPr>
              <a:t>调节糖原分解的关键酶（共价修饰</a:t>
            </a:r>
            <a:r>
              <a:rPr lang="en-US" altLang="zh-CN" sz="2400" b="1">
                <a:solidFill>
                  <a:srgbClr val="CC0000"/>
                </a:solidFill>
                <a:latin typeface="楷体_GB2312" pitchFamily="49" charset="-122"/>
                <a:ea typeface="宋体" pitchFamily="2" charset="-122"/>
              </a:rPr>
              <a:t>+</a:t>
            </a:r>
            <a:r>
              <a:rPr lang="zh-CN" altLang="en-US" sz="2400" b="1">
                <a:solidFill>
                  <a:srgbClr val="CC0000"/>
                </a:solidFill>
                <a:latin typeface="楷体_GB2312" pitchFamily="49" charset="-122"/>
                <a:ea typeface="楷体_GB2312" pitchFamily="49" charset="-122"/>
              </a:rPr>
              <a:t>别构调节）</a:t>
            </a:r>
            <a:endParaRPr lang="zh-CN" altLang="en-US" sz="2400" b="1">
              <a:solidFill>
                <a:srgbClr val="CC0000"/>
              </a:solidFill>
              <a:latin typeface="楷体_GB2312" pitchFamily="49" charset="-122"/>
              <a:ea typeface="楷体_GB2312" pitchFamily="49" charset="-122"/>
            </a:endParaRPr>
          </a:p>
        </p:txBody>
      </p:sp>
      <p:sp>
        <p:nvSpPr>
          <p:cNvPr id="29700" name="Text Box 7"/>
          <p:cNvSpPr txBox="1"/>
          <p:nvPr/>
        </p:nvSpPr>
        <p:spPr>
          <a:xfrm>
            <a:off x="611188" y="1700213"/>
            <a:ext cx="4681537"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hlink"/>
                </a:solidFill>
                <a:latin typeface="黑体" pitchFamily="49" charset="-122"/>
                <a:ea typeface="黑体" pitchFamily="49" charset="-122"/>
              </a:rPr>
              <a:t>同二聚体</a:t>
            </a:r>
            <a:r>
              <a:rPr lang="en-US" altLang="zh-CN" sz="2400" b="1">
                <a:latin typeface="楷体_GB2312" pitchFamily="49" charset="-122"/>
                <a:ea typeface="宋体" pitchFamily="2" charset="-122"/>
              </a:rPr>
              <a:t>:</a:t>
            </a:r>
            <a:r>
              <a:rPr lang="zh-CN" altLang="en-US" sz="2400" b="1">
                <a:latin typeface="楷体_GB2312" pitchFamily="49" charset="-122"/>
                <a:ea typeface="楷体_GB2312" pitchFamily="49" charset="-122"/>
              </a:rPr>
              <a:t>含两个相同的亚基</a:t>
            </a:r>
            <a:endParaRPr lang="zh-CN" altLang="en-US" sz="2400" b="1">
              <a:latin typeface="楷体_GB2312" pitchFamily="49" charset="-122"/>
              <a:ea typeface="楷体_GB2312" pitchFamily="49" charset="-122"/>
            </a:endParaRPr>
          </a:p>
        </p:txBody>
      </p:sp>
      <p:sp>
        <p:nvSpPr>
          <p:cNvPr id="29701" name="Rectangle 8"/>
          <p:cNvSpPr/>
          <p:nvPr/>
        </p:nvSpPr>
        <p:spPr>
          <a:xfrm>
            <a:off x="568325" y="3530600"/>
            <a:ext cx="17081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hlink"/>
                </a:solidFill>
                <a:ea typeface="黑体" pitchFamily="49" charset="-122"/>
              </a:rPr>
              <a:t>两个结构域</a:t>
            </a:r>
            <a:endParaRPr lang="zh-CN" altLang="en-US" sz="2400" b="1">
              <a:solidFill>
                <a:schemeClr val="hlink"/>
              </a:solidFill>
              <a:ea typeface="黑体" pitchFamily="49" charset="-122"/>
            </a:endParaRPr>
          </a:p>
        </p:txBody>
      </p:sp>
      <p:sp>
        <p:nvSpPr>
          <p:cNvPr id="225289" name="Rectangle 9"/>
          <p:cNvSpPr/>
          <p:nvPr/>
        </p:nvSpPr>
        <p:spPr>
          <a:xfrm>
            <a:off x="611188" y="5497513"/>
            <a:ext cx="20129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chemeClr val="hlink"/>
                </a:solidFill>
                <a:latin typeface="黑体" pitchFamily="49" charset="-122"/>
                <a:ea typeface="宋体" pitchFamily="2" charset="-122"/>
              </a:rPr>
              <a:t>a</a:t>
            </a:r>
            <a:r>
              <a:rPr lang="zh-CN" altLang="en-US" sz="2400" b="1">
                <a:solidFill>
                  <a:schemeClr val="hlink"/>
                </a:solidFill>
                <a:latin typeface="黑体" pitchFamily="49" charset="-122"/>
                <a:ea typeface="黑体" pitchFamily="49" charset="-122"/>
              </a:rPr>
              <a:t>和</a:t>
            </a:r>
            <a:r>
              <a:rPr lang="en-US" altLang="zh-CN" sz="2400" b="1">
                <a:solidFill>
                  <a:schemeClr val="hlink"/>
                </a:solidFill>
                <a:latin typeface="黑体" pitchFamily="49" charset="-122"/>
                <a:ea typeface="宋体" pitchFamily="2" charset="-122"/>
              </a:rPr>
              <a:t>b</a:t>
            </a:r>
            <a:r>
              <a:rPr lang="zh-CN" altLang="en-US" sz="2400" b="1">
                <a:solidFill>
                  <a:schemeClr val="hlink"/>
                </a:solidFill>
                <a:latin typeface="黑体" pitchFamily="49" charset="-122"/>
                <a:ea typeface="黑体" pitchFamily="49" charset="-122"/>
              </a:rPr>
              <a:t>两种形式</a:t>
            </a:r>
            <a:endParaRPr lang="en-US" altLang="zh-CN" sz="2400" b="1">
              <a:solidFill>
                <a:schemeClr val="hlink"/>
              </a:solidFill>
              <a:latin typeface="黑体" pitchFamily="49" charset="-122"/>
              <a:ea typeface="宋体" pitchFamily="2" charset="-122"/>
            </a:endParaRPr>
          </a:p>
        </p:txBody>
      </p:sp>
      <p:sp>
        <p:nvSpPr>
          <p:cNvPr id="29703" name="Text Box 10"/>
          <p:cNvSpPr txBox="1"/>
          <p:nvPr/>
        </p:nvSpPr>
        <p:spPr>
          <a:xfrm>
            <a:off x="2297113" y="2852738"/>
            <a:ext cx="2160587"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chemeClr val="accent2"/>
                </a:solidFill>
                <a:ea typeface="宋体" pitchFamily="2" charset="-122"/>
              </a:rPr>
              <a:t>N-</a:t>
            </a:r>
            <a:r>
              <a:rPr lang="zh-CN" altLang="en-US" sz="2400" b="1">
                <a:solidFill>
                  <a:schemeClr val="accent2"/>
                </a:solidFill>
                <a:ea typeface="楷体_GB2312" pitchFamily="49" charset="-122"/>
              </a:rPr>
              <a:t>端结构域</a:t>
            </a:r>
            <a:endParaRPr lang="zh-CN" altLang="en-US" sz="2400" b="1">
              <a:solidFill>
                <a:schemeClr val="accent2"/>
              </a:solidFill>
              <a:ea typeface="楷体_GB2312" pitchFamily="49" charset="-122"/>
            </a:endParaRPr>
          </a:p>
        </p:txBody>
      </p:sp>
      <p:sp>
        <p:nvSpPr>
          <p:cNvPr id="29704" name="Text Box 11"/>
          <p:cNvSpPr txBox="1"/>
          <p:nvPr/>
        </p:nvSpPr>
        <p:spPr>
          <a:xfrm>
            <a:off x="2268538" y="4292600"/>
            <a:ext cx="1871662"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rgbClr val="A50021"/>
                </a:solidFill>
                <a:ea typeface="宋体" pitchFamily="2" charset="-122"/>
              </a:rPr>
              <a:t>C-</a:t>
            </a:r>
            <a:r>
              <a:rPr lang="zh-CN" altLang="en-US" sz="2400" b="1">
                <a:solidFill>
                  <a:srgbClr val="A50021"/>
                </a:solidFill>
                <a:ea typeface="楷体_GB2312" pitchFamily="49" charset="-122"/>
              </a:rPr>
              <a:t>端结构域</a:t>
            </a:r>
            <a:endParaRPr lang="zh-CN" altLang="en-US" sz="2400" b="1">
              <a:solidFill>
                <a:srgbClr val="A50021"/>
              </a:solidFill>
              <a:ea typeface="楷体_GB2312" pitchFamily="49" charset="-122"/>
            </a:endParaRPr>
          </a:p>
        </p:txBody>
      </p:sp>
      <p:sp>
        <p:nvSpPr>
          <p:cNvPr id="225292" name="Text Box 12"/>
          <p:cNvSpPr txBox="1"/>
          <p:nvPr/>
        </p:nvSpPr>
        <p:spPr>
          <a:xfrm>
            <a:off x="4083050" y="2349500"/>
            <a:ext cx="22701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ea typeface="楷体_GB2312" pitchFamily="49" charset="-122"/>
              </a:rPr>
              <a:t>界面亚结构域</a:t>
            </a:r>
            <a:endParaRPr lang="zh-CN" altLang="en-US" sz="2400" b="1">
              <a:solidFill>
                <a:schemeClr val="accent2"/>
              </a:solidFill>
              <a:ea typeface="楷体_GB2312" pitchFamily="49" charset="-122"/>
            </a:endParaRPr>
          </a:p>
        </p:txBody>
      </p:sp>
      <p:sp>
        <p:nvSpPr>
          <p:cNvPr id="225293" name="Rectangle 13"/>
          <p:cNvSpPr/>
          <p:nvPr/>
        </p:nvSpPr>
        <p:spPr>
          <a:xfrm>
            <a:off x="6156325" y="1830388"/>
            <a:ext cx="2087563"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solidFill>
                  <a:schemeClr val="accent2"/>
                </a:solidFill>
                <a:ea typeface="宋体" pitchFamily="2" charset="-122"/>
              </a:rPr>
              <a:t>Ser14 P</a:t>
            </a:r>
            <a:r>
              <a:rPr lang="zh-CN" altLang="en-US" sz="2400" b="1">
                <a:solidFill>
                  <a:schemeClr val="accent2"/>
                </a:solidFill>
                <a:ea typeface="楷体_GB2312" pitchFamily="49" charset="-122"/>
              </a:rPr>
              <a:t>位点</a:t>
            </a:r>
            <a:endParaRPr lang="zh-CN" altLang="en-US" sz="2400" b="1">
              <a:solidFill>
                <a:schemeClr val="accent2"/>
              </a:solidFill>
              <a:ea typeface="楷体_GB2312" pitchFamily="49" charset="-122"/>
            </a:endParaRPr>
          </a:p>
        </p:txBody>
      </p:sp>
      <p:sp>
        <p:nvSpPr>
          <p:cNvPr id="225294" name="Rectangle 14"/>
          <p:cNvSpPr/>
          <p:nvPr/>
        </p:nvSpPr>
        <p:spPr>
          <a:xfrm>
            <a:off x="6142038" y="2344738"/>
            <a:ext cx="20129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solidFill>
                  <a:schemeClr val="accent2"/>
                </a:solidFill>
                <a:ea typeface="楷体_GB2312" pitchFamily="49" charset="-122"/>
              </a:rPr>
              <a:t>别构调节位点</a:t>
            </a:r>
            <a:endParaRPr lang="zh-CN" altLang="en-US" sz="2400" b="1">
              <a:solidFill>
                <a:schemeClr val="accent2"/>
              </a:solidFill>
              <a:ea typeface="楷体_GB2312" pitchFamily="49" charset="-122"/>
            </a:endParaRPr>
          </a:p>
        </p:txBody>
      </p:sp>
      <p:sp>
        <p:nvSpPr>
          <p:cNvPr id="225295" name="Rectangle 15"/>
          <p:cNvSpPr/>
          <p:nvPr/>
        </p:nvSpPr>
        <p:spPr>
          <a:xfrm>
            <a:off x="6156325" y="2862263"/>
            <a:ext cx="2317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ea typeface="楷体_GB2312" pitchFamily="49" charset="-122"/>
              </a:rPr>
              <a:t>二聚体接触部位</a:t>
            </a:r>
            <a:endParaRPr lang="zh-CN" altLang="en-US" sz="2400" b="1">
              <a:solidFill>
                <a:schemeClr val="accent2"/>
              </a:solidFill>
              <a:ea typeface="楷体_GB2312" pitchFamily="49" charset="-122"/>
            </a:endParaRPr>
          </a:p>
        </p:txBody>
      </p:sp>
      <p:sp>
        <p:nvSpPr>
          <p:cNvPr id="225296" name="Text Box 16"/>
          <p:cNvSpPr txBox="1"/>
          <p:nvPr/>
        </p:nvSpPr>
        <p:spPr>
          <a:xfrm>
            <a:off x="4067175" y="3357563"/>
            <a:ext cx="2808288"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ea typeface="楷体_GB2312" pitchFamily="49" charset="-122"/>
              </a:rPr>
              <a:t>糖原结合亚结构域</a:t>
            </a:r>
            <a:endParaRPr lang="zh-CN" altLang="en-US" sz="2400" b="1">
              <a:solidFill>
                <a:schemeClr val="accent2"/>
              </a:solidFill>
              <a:ea typeface="楷体_GB2312" pitchFamily="49" charset="-122"/>
            </a:endParaRPr>
          </a:p>
        </p:txBody>
      </p:sp>
      <p:sp>
        <p:nvSpPr>
          <p:cNvPr id="225297" name="Rectangle 17"/>
          <p:cNvSpPr/>
          <p:nvPr/>
        </p:nvSpPr>
        <p:spPr>
          <a:xfrm>
            <a:off x="2700338" y="5229225"/>
            <a:ext cx="3043237"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ea typeface="宋体" pitchFamily="2" charset="-122"/>
              </a:rPr>
              <a:t>a: Ser14-P</a:t>
            </a:r>
            <a:r>
              <a:rPr lang="zh-CN" altLang="en-US" sz="2400" b="1">
                <a:ea typeface="楷体_GB2312" pitchFamily="49" charset="-122"/>
              </a:rPr>
              <a:t>化</a:t>
            </a:r>
            <a:r>
              <a:rPr lang="en-US" altLang="zh-CN" sz="2400" b="1">
                <a:ea typeface="宋体" pitchFamily="2" charset="-122"/>
              </a:rPr>
              <a:t>,</a:t>
            </a:r>
            <a:r>
              <a:rPr lang="zh-CN" altLang="en-US" sz="2400" b="1">
                <a:ea typeface="楷体_GB2312" pitchFamily="49" charset="-122"/>
              </a:rPr>
              <a:t>高活性</a:t>
            </a:r>
            <a:r>
              <a:rPr lang="zh-CN" altLang="en-US" sz="1800">
                <a:ea typeface="楷体_GB2312" pitchFamily="49" charset="-122"/>
              </a:rPr>
              <a:t> </a:t>
            </a:r>
            <a:endParaRPr lang="zh-CN" altLang="en-US" sz="1800">
              <a:ea typeface="楷体_GB2312" pitchFamily="49" charset="-122"/>
            </a:endParaRPr>
          </a:p>
        </p:txBody>
      </p:sp>
      <p:sp>
        <p:nvSpPr>
          <p:cNvPr id="225298" name="Rectangle 18"/>
          <p:cNvSpPr/>
          <p:nvPr/>
        </p:nvSpPr>
        <p:spPr>
          <a:xfrm>
            <a:off x="2714625" y="5848350"/>
            <a:ext cx="2995613"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ea typeface="宋体" pitchFamily="2" charset="-122"/>
              </a:rPr>
              <a:t>b: Ser14-</a:t>
            </a:r>
            <a:r>
              <a:rPr lang="zh-CN" altLang="en-US" sz="2400" b="1">
                <a:ea typeface="楷体_GB2312" pitchFamily="49" charset="-122"/>
              </a:rPr>
              <a:t>去</a:t>
            </a:r>
            <a:r>
              <a:rPr lang="en-US" altLang="zh-CN" sz="2400" b="1">
                <a:ea typeface="宋体" pitchFamily="2" charset="-122"/>
              </a:rPr>
              <a:t>P,</a:t>
            </a:r>
            <a:r>
              <a:rPr lang="zh-CN" altLang="en-US" sz="2400" b="1">
                <a:ea typeface="楷体_GB2312" pitchFamily="49" charset="-122"/>
              </a:rPr>
              <a:t>低活性</a:t>
            </a:r>
            <a:endParaRPr lang="zh-CN" altLang="en-US" sz="2400" b="1">
              <a:ea typeface="楷体_GB2312" pitchFamily="49" charset="-122"/>
            </a:endParaRPr>
          </a:p>
        </p:txBody>
      </p:sp>
      <p:sp>
        <p:nvSpPr>
          <p:cNvPr id="225299" name="Text Box 19"/>
          <p:cNvSpPr txBox="1"/>
          <p:nvPr/>
        </p:nvSpPr>
        <p:spPr>
          <a:xfrm>
            <a:off x="4000500" y="4286250"/>
            <a:ext cx="50768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a:t> </a:t>
            </a:r>
            <a:r>
              <a:rPr lang="en-US" altLang="zh-CN" sz="2400" b="1">
                <a:solidFill>
                  <a:srgbClr val="660066"/>
                </a:solidFill>
                <a:ea typeface="宋体" pitchFamily="2" charset="-122"/>
              </a:rPr>
              <a:t>PLP</a:t>
            </a:r>
            <a:r>
              <a:rPr lang="zh-CN" altLang="en-US" sz="2400" b="1">
                <a:solidFill>
                  <a:srgbClr val="660066"/>
                </a:solidFill>
                <a:ea typeface="楷体_GB2312" pitchFamily="49" charset="-122"/>
              </a:rPr>
              <a:t>结合部位</a:t>
            </a:r>
            <a:r>
              <a:rPr lang="en-US" altLang="zh-CN" sz="2400" b="1">
                <a:solidFill>
                  <a:srgbClr val="660066"/>
                </a:solidFill>
                <a:ea typeface="宋体" pitchFamily="2" charset="-122"/>
              </a:rPr>
              <a:t>;</a:t>
            </a:r>
            <a:r>
              <a:rPr lang="zh-CN" altLang="en-US" sz="2400" b="1">
                <a:solidFill>
                  <a:srgbClr val="660066"/>
                </a:solidFill>
                <a:ea typeface="楷体_GB2312" pitchFamily="49" charset="-122"/>
              </a:rPr>
              <a:t>磷酸解催化中心</a:t>
            </a:r>
            <a:r>
              <a:rPr lang="en-US" altLang="zh-CN" sz="2400" b="1">
                <a:solidFill>
                  <a:srgbClr val="660066"/>
                </a:solidFill>
                <a:ea typeface="宋体" pitchFamily="2" charset="-122"/>
              </a:rPr>
              <a:t>(</a:t>
            </a:r>
            <a:r>
              <a:rPr lang="zh-CN" altLang="en-US" sz="2400" b="1">
                <a:solidFill>
                  <a:srgbClr val="660066"/>
                </a:solidFill>
                <a:ea typeface="楷体_GB2312" pitchFamily="49" charset="-122"/>
              </a:rPr>
              <a:t>疏水</a:t>
            </a:r>
            <a:r>
              <a:rPr lang="en-US" altLang="zh-CN" sz="2400" b="1">
                <a:solidFill>
                  <a:srgbClr val="660066"/>
                </a:solidFill>
                <a:ea typeface="宋体" pitchFamily="2" charset="-122"/>
              </a:rPr>
              <a:t>)</a:t>
            </a:r>
            <a:endParaRPr lang="en-US" altLang="zh-CN" sz="2400" b="1">
              <a:solidFill>
                <a:srgbClr val="660066"/>
              </a:solidFill>
              <a:ea typeface="宋体" pitchFamily="2" charset="-122"/>
            </a:endParaRPr>
          </a:p>
        </p:txBody>
      </p:sp>
      <p:sp>
        <p:nvSpPr>
          <p:cNvPr id="225300" name="AutoShape 20"/>
          <p:cNvSpPr/>
          <p:nvPr/>
        </p:nvSpPr>
        <p:spPr>
          <a:xfrm>
            <a:off x="4067175" y="2565400"/>
            <a:ext cx="73025" cy="1079500"/>
          </a:xfrm>
          <a:prstGeom prst="leftBrace">
            <a:avLst>
              <a:gd name="adj1" fmla="val 123188"/>
              <a:gd name="adj2" fmla="val 50000"/>
            </a:avLst>
          </a:prstGeom>
          <a:noFill/>
          <a:ln w="28575" cap="flat" cmpd="sng">
            <a:solidFill>
              <a:schemeClr val="accent2"/>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225301" name="AutoShape 21"/>
          <p:cNvSpPr/>
          <p:nvPr/>
        </p:nvSpPr>
        <p:spPr>
          <a:xfrm>
            <a:off x="6084888" y="2060575"/>
            <a:ext cx="73025" cy="1079500"/>
          </a:xfrm>
          <a:prstGeom prst="leftBrace">
            <a:avLst>
              <a:gd name="adj1" fmla="val 123188"/>
              <a:gd name="adj2" fmla="val 50000"/>
            </a:avLst>
          </a:prstGeom>
          <a:noFill/>
          <a:ln w="28575" cap="flat" cmpd="sng">
            <a:solidFill>
              <a:schemeClr val="accent2"/>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29715" name="AutoShape 23"/>
          <p:cNvSpPr/>
          <p:nvPr/>
        </p:nvSpPr>
        <p:spPr>
          <a:xfrm>
            <a:off x="2297113" y="3170238"/>
            <a:ext cx="71437" cy="1295400"/>
          </a:xfrm>
          <a:prstGeom prst="leftBrace">
            <a:avLst>
              <a:gd name="adj1" fmla="val 151112"/>
              <a:gd name="adj2" fmla="val 50000"/>
            </a:avLst>
          </a:prstGeom>
          <a:noFill/>
          <a:ln w="381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a:p>
        </p:txBody>
      </p:sp>
      <p:sp>
        <p:nvSpPr>
          <p:cNvPr id="225304" name="AutoShape 24"/>
          <p:cNvSpPr/>
          <p:nvPr/>
        </p:nvSpPr>
        <p:spPr>
          <a:xfrm>
            <a:off x="2641600" y="5473700"/>
            <a:ext cx="71438" cy="647700"/>
          </a:xfrm>
          <a:prstGeom prst="leftBrace">
            <a:avLst>
              <a:gd name="adj1" fmla="val 75555"/>
              <a:gd name="adj2" fmla="val 50000"/>
            </a:avLst>
          </a:prstGeom>
          <a:noFill/>
          <a:ln w="381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a:p>
        </p:txBody>
      </p:sp>
      <p:sp>
        <p:nvSpPr>
          <p:cNvPr id="2971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5300"/>
                                        </p:tgtEl>
                                        <p:attrNameLst>
                                          <p:attrName>style.visibility</p:attrName>
                                        </p:attrNameLst>
                                      </p:cBhvr>
                                      <p:to>
                                        <p:strVal val="visible"/>
                                      </p:to>
                                    </p:set>
                                    <p:animEffect transition="in" filter="checkerboard(across)">
                                      <p:cBhvr>
                                        <p:cTn id="7" dur="500"/>
                                        <p:tgtEl>
                                          <p:spTgt spid="22530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25292"/>
                                        </p:tgtEl>
                                        <p:attrNameLst>
                                          <p:attrName>style.visibility</p:attrName>
                                        </p:attrNameLst>
                                      </p:cBhvr>
                                      <p:to>
                                        <p:strVal val="visible"/>
                                      </p:to>
                                    </p:set>
                                    <p:animEffect transition="in" filter="checkerboard(across)">
                                      <p:cBhvr>
                                        <p:cTn id="10" dur="500"/>
                                        <p:tgtEl>
                                          <p:spTgt spid="22529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25296"/>
                                        </p:tgtEl>
                                        <p:attrNameLst>
                                          <p:attrName>style.visibility</p:attrName>
                                        </p:attrNameLst>
                                      </p:cBhvr>
                                      <p:to>
                                        <p:strVal val="visible"/>
                                      </p:to>
                                    </p:set>
                                    <p:animEffect transition="in" filter="checkerboard(across)">
                                      <p:cBhvr>
                                        <p:cTn id="13" dur="500"/>
                                        <p:tgtEl>
                                          <p:spTgt spid="22529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25301"/>
                                        </p:tgtEl>
                                        <p:attrNameLst>
                                          <p:attrName>style.visibility</p:attrName>
                                        </p:attrNameLst>
                                      </p:cBhvr>
                                      <p:to>
                                        <p:strVal val="visible"/>
                                      </p:to>
                                    </p:set>
                                    <p:animEffect transition="in" filter="checkerboard(across)">
                                      <p:cBhvr>
                                        <p:cTn id="18" dur="500"/>
                                        <p:tgtEl>
                                          <p:spTgt spid="225301"/>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225293"/>
                                        </p:tgtEl>
                                        <p:attrNameLst>
                                          <p:attrName>style.visibility</p:attrName>
                                        </p:attrNameLst>
                                      </p:cBhvr>
                                      <p:to>
                                        <p:strVal val="visible"/>
                                      </p:to>
                                    </p:set>
                                    <p:animEffect transition="in" filter="checkerboard(across)">
                                      <p:cBhvr>
                                        <p:cTn id="21" dur="500"/>
                                        <p:tgtEl>
                                          <p:spTgt spid="225293"/>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25294"/>
                                        </p:tgtEl>
                                        <p:attrNameLst>
                                          <p:attrName>style.visibility</p:attrName>
                                        </p:attrNameLst>
                                      </p:cBhvr>
                                      <p:to>
                                        <p:strVal val="visible"/>
                                      </p:to>
                                    </p:set>
                                    <p:animEffect transition="in" filter="checkerboard(across)">
                                      <p:cBhvr>
                                        <p:cTn id="26" dur="500"/>
                                        <p:tgtEl>
                                          <p:spTgt spid="22529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25295"/>
                                        </p:tgtEl>
                                        <p:attrNameLst>
                                          <p:attrName>style.visibility</p:attrName>
                                        </p:attrNameLst>
                                      </p:cBhvr>
                                      <p:to>
                                        <p:strVal val="visible"/>
                                      </p:to>
                                    </p:set>
                                    <p:animEffect transition="in" filter="checkerboard(across)">
                                      <p:cBhvr>
                                        <p:cTn id="31" dur="500"/>
                                        <p:tgtEl>
                                          <p:spTgt spid="225295"/>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25299"/>
                                        </p:tgtEl>
                                        <p:attrNameLst>
                                          <p:attrName>style.visibility</p:attrName>
                                        </p:attrNameLst>
                                      </p:cBhvr>
                                      <p:to>
                                        <p:strVal val="visible"/>
                                      </p:to>
                                    </p:set>
                                    <p:animEffect transition="in" filter="checkerboard(across)">
                                      <p:cBhvr>
                                        <p:cTn id="34" dur="500"/>
                                        <p:tgtEl>
                                          <p:spTgt spid="225299"/>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225289"/>
                                        </p:tgtEl>
                                        <p:attrNameLst>
                                          <p:attrName>style.visibility</p:attrName>
                                        </p:attrNameLst>
                                      </p:cBhvr>
                                      <p:to>
                                        <p:strVal val="visible"/>
                                      </p:to>
                                    </p:set>
                                    <p:animEffect transition="in" filter="checkerboard(across)">
                                      <p:cBhvr>
                                        <p:cTn id="39" dur="500"/>
                                        <p:tgtEl>
                                          <p:spTgt spid="225289"/>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225304"/>
                                        </p:tgtEl>
                                        <p:attrNameLst>
                                          <p:attrName>style.visibility</p:attrName>
                                        </p:attrNameLst>
                                      </p:cBhvr>
                                      <p:to>
                                        <p:strVal val="visible"/>
                                      </p:to>
                                    </p:set>
                                    <p:animEffect transition="in" filter="checkerboard(across)">
                                      <p:cBhvr>
                                        <p:cTn id="42" dur="500"/>
                                        <p:tgtEl>
                                          <p:spTgt spid="225304"/>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25297"/>
                                        </p:tgtEl>
                                        <p:attrNameLst>
                                          <p:attrName>style.visibility</p:attrName>
                                        </p:attrNameLst>
                                      </p:cBhvr>
                                      <p:to>
                                        <p:strVal val="visible"/>
                                      </p:to>
                                    </p:set>
                                    <p:animEffect transition="in" filter="checkerboard(across)">
                                      <p:cBhvr>
                                        <p:cTn id="47" dur="500"/>
                                        <p:tgtEl>
                                          <p:spTgt spid="225297"/>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25298"/>
                                        </p:tgtEl>
                                        <p:attrNameLst>
                                          <p:attrName>style.visibility</p:attrName>
                                        </p:attrNameLst>
                                      </p:cBhvr>
                                      <p:to>
                                        <p:strVal val="visible"/>
                                      </p:to>
                                    </p:set>
                                    <p:animEffect transition="in" filter="checkerboard(across)">
                                      <p:cBhvr>
                                        <p:cTn id="52" dur="500"/>
                                        <p:tgtEl>
                                          <p:spTgt spid="22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9" grpId="0"/>
      <p:bldP spid="225292" grpId="0"/>
      <p:bldP spid="225293" grpId="0"/>
      <p:bldP spid="225294" grpId="0"/>
      <p:bldP spid="225295" grpId="0"/>
      <p:bldP spid="225296" grpId="0"/>
      <p:bldP spid="225297" grpId="0"/>
      <p:bldP spid="225298" grpId="0"/>
      <p:bldP spid="225299" grpId="0"/>
      <p:bldP spid="225300" grpId="0" animBg="1"/>
      <p:bldP spid="225301" grpId="0" animBg="1"/>
      <p:bldP spid="22530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1" name="Picture 5" descr="An external file that holds a picture, illustration, etc., usually as some form of binary object. The name of referred object is ch21f6.jpg. "/>
          <p:cNvPicPr>
            <a:picLocks noChangeAspect="1"/>
          </p:cNvPicPr>
          <p:nvPr/>
        </p:nvPicPr>
        <p:blipFill>
          <a:blip r:embed="rId1"/>
          <a:stretch>
            <a:fillRect/>
          </a:stretch>
        </p:blipFill>
        <p:spPr>
          <a:xfrm>
            <a:off x="971550" y="234950"/>
            <a:ext cx="7416800" cy="5018088"/>
          </a:xfrm>
          <a:prstGeom prst="rect">
            <a:avLst/>
          </a:prstGeom>
          <a:noFill/>
          <a:ln w="9525">
            <a:noFill/>
          </a:ln>
        </p:spPr>
      </p:pic>
      <p:pic>
        <p:nvPicPr>
          <p:cNvPr id="30722" name="Picture 7" descr="graphic element">
            <a:hlinkClick r:id="rId2"/>
          </p:cNvPr>
          <p:cNvPicPr>
            <a:picLocks noChangeAspect="1"/>
          </p:cNvPicPr>
          <p:nvPr/>
        </p:nvPicPr>
        <p:blipFill>
          <a:blip r:embed="rId3"/>
          <a:stretch>
            <a:fillRect/>
          </a:stretch>
        </p:blipFill>
        <p:spPr>
          <a:xfrm>
            <a:off x="2109788" y="3475038"/>
            <a:ext cx="285750" cy="266700"/>
          </a:xfrm>
          <a:prstGeom prst="rect">
            <a:avLst/>
          </a:prstGeom>
          <a:noFill/>
          <a:ln w="9525">
            <a:noFill/>
          </a:ln>
        </p:spPr>
      </p:pic>
      <p:sp>
        <p:nvSpPr>
          <p:cNvPr id="120841" name="Rectangle 9"/>
          <p:cNvSpPr/>
          <p:nvPr/>
        </p:nvSpPr>
        <p:spPr>
          <a:xfrm>
            <a:off x="539750" y="5516563"/>
            <a:ext cx="8280400" cy="94615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磷酸化酶</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各个亚基</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黄</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白</a:t>
            </a:r>
            <a:r>
              <a:rPr lang="en-US" altLang="zh-CN" sz="2800" b="1">
                <a:latin typeface="楷体_GB2312" pitchFamily="49" charset="-122"/>
                <a:ea typeface="楷体_GB2312" pitchFamily="49" charset="-122"/>
              </a:rPr>
              <a:t>) 680Lys</a:t>
            </a:r>
            <a:r>
              <a:rPr lang="zh-CN" altLang="en-US" sz="2800" b="1">
                <a:latin typeface="楷体_GB2312" pitchFamily="49" charset="-122"/>
                <a:ea typeface="楷体_GB2312" pitchFamily="49" charset="-122"/>
              </a:rPr>
              <a:t>结合</a:t>
            </a:r>
            <a:r>
              <a:rPr lang="en-US" altLang="zh-CN" sz="2800" b="1">
                <a:latin typeface="楷体_GB2312" pitchFamily="49" charset="-122"/>
                <a:ea typeface="楷体_GB2312" pitchFamily="49" charset="-122"/>
              </a:rPr>
              <a:t>PLP</a:t>
            </a:r>
            <a:r>
              <a:rPr lang="zh-CN" altLang="en-US" sz="2800" b="1">
                <a:latin typeface="楷体_GB2312" pitchFamily="49" charset="-122"/>
                <a:ea typeface="楷体_GB2312" pitchFamily="49" charset="-122"/>
              </a:rPr>
              <a:t>辅基</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再与</a:t>
            </a:r>
            <a:r>
              <a:rPr lang="en-US" altLang="zh-CN" sz="2800" b="1">
                <a:latin typeface="楷体_GB2312" pitchFamily="49" charset="-122"/>
                <a:ea typeface="楷体_GB2312" pitchFamily="49" charset="-122"/>
              </a:rPr>
              <a:t>568 Lys</a:t>
            </a:r>
            <a:r>
              <a:rPr lang="zh-CN" altLang="en-US" sz="2800" b="1">
                <a:latin typeface="楷体_GB2312" pitchFamily="49" charset="-122"/>
                <a:ea typeface="楷体_GB2312" pitchFamily="49" charset="-122"/>
              </a:rPr>
              <a:t>共同作用</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结合</a:t>
            </a:r>
            <a:r>
              <a:rPr lang="en-US" altLang="zh-CN" sz="2800" b="1">
                <a:latin typeface="楷体_GB2312" pitchFamily="49" charset="-122"/>
                <a:ea typeface="楷体_GB2312" pitchFamily="49" charset="-122"/>
              </a:rPr>
              <a:t>Pi,</a:t>
            </a:r>
            <a:r>
              <a:rPr lang="zh-CN" altLang="en-US" sz="2800" b="1">
                <a:latin typeface="楷体_GB2312" pitchFamily="49" charset="-122"/>
                <a:ea typeface="楷体_GB2312" pitchFamily="49" charset="-122"/>
              </a:rPr>
              <a:t>发挥</a:t>
            </a:r>
            <a:r>
              <a:rPr lang="en-US" altLang="zh-CN" sz="2800" b="1">
                <a:latin typeface="楷体_GB2312" pitchFamily="49" charset="-122"/>
                <a:ea typeface="楷体_GB2312" pitchFamily="49" charset="-122"/>
              </a:rPr>
              <a:t>Pi</a:t>
            </a:r>
            <a:r>
              <a:rPr lang="zh-CN" altLang="en-US" sz="2800" b="1">
                <a:latin typeface="楷体_GB2312" pitchFamily="49" charset="-122"/>
                <a:ea typeface="楷体_GB2312" pitchFamily="49" charset="-122"/>
              </a:rPr>
              <a:t>载体作用</a:t>
            </a:r>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30724" name="Text Box 10"/>
          <p:cNvSpPr txBox="1"/>
          <p:nvPr/>
        </p:nvSpPr>
        <p:spPr>
          <a:xfrm>
            <a:off x="323850" y="1989138"/>
            <a:ext cx="1511300"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CC0000"/>
                </a:solidFill>
                <a:ea typeface="楷体_GB2312" pitchFamily="49" charset="-122"/>
              </a:rPr>
              <a:t>催化中心</a:t>
            </a:r>
            <a:endParaRPr lang="zh-CN" altLang="en-US" sz="2400" b="1">
              <a:solidFill>
                <a:srgbClr val="CC0000"/>
              </a:solidFill>
              <a:ea typeface="楷体_GB2312" pitchFamily="49" charset="-122"/>
            </a:endParaRPr>
          </a:p>
        </p:txBody>
      </p:sp>
      <p:sp>
        <p:nvSpPr>
          <p:cNvPr id="30725" name="Text Box 11"/>
          <p:cNvSpPr txBox="1"/>
          <p:nvPr/>
        </p:nvSpPr>
        <p:spPr>
          <a:xfrm>
            <a:off x="323850" y="4005263"/>
            <a:ext cx="1225550" cy="82232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糖原结合中心</a:t>
            </a:r>
            <a:endParaRPr lang="zh-CN" altLang="en-US" sz="2400" b="1">
              <a:ea typeface="楷体_GB2312" pitchFamily="49" charset="-122"/>
            </a:endParaRPr>
          </a:p>
        </p:txBody>
      </p:sp>
      <p:sp>
        <p:nvSpPr>
          <p:cNvPr id="30726" name="Text Box 12"/>
          <p:cNvSpPr txBox="1"/>
          <p:nvPr/>
        </p:nvSpPr>
        <p:spPr>
          <a:xfrm>
            <a:off x="4859338" y="260350"/>
            <a:ext cx="1225550" cy="82232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糖原结合中心</a:t>
            </a:r>
            <a:endParaRPr lang="zh-CN" altLang="en-US" sz="2400" b="1">
              <a:ea typeface="楷体_GB2312" pitchFamily="49" charset="-122"/>
            </a:endParaRPr>
          </a:p>
        </p:txBody>
      </p:sp>
      <p:sp>
        <p:nvSpPr>
          <p:cNvPr id="30727" name="Oval 15"/>
          <p:cNvSpPr/>
          <p:nvPr/>
        </p:nvSpPr>
        <p:spPr>
          <a:xfrm>
            <a:off x="5076825" y="908050"/>
            <a:ext cx="1871663" cy="2233613"/>
          </a:xfrm>
          <a:prstGeom prst="ellipse">
            <a:avLst/>
          </a:prstGeom>
          <a:noFill/>
          <a:ln w="57150" cap="flat" cmpd="sng">
            <a:solidFill>
              <a:srgbClr val="D9EDEF"/>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30728" name="Text Box 16"/>
          <p:cNvSpPr txBox="1"/>
          <p:nvPr/>
        </p:nvSpPr>
        <p:spPr>
          <a:xfrm>
            <a:off x="3851275" y="260350"/>
            <a:ext cx="1008063"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ea typeface="宋体" pitchFamily="2" charset="-122"/>
              </a:rPr>
              <a:t>P</a:t>
            </a:r>
            <a:r>
              <a:rPr lang="zh-CN" altLang="en-US" sz="2400" b="1">
                <a:ea typeface="楷体_GB2312" pitchFamily="49" charset="-122"/>
              </a:rPr>
              <a:t>位点</a:t>
            </a:r>
            <a:endParaRPr lang="zh-CN" altLang="en-US" sz="2400" b="1">
              <a:ea typeface="楷体_GB2312" pitchFamily="49" charset="-122"/>
            </a:endParaRPr>
          </a:p>
        </p:txBody>
      </p:sp>
      <p:sp>
        <p:nvSpPr>
          <p:cNvPr id="30729" name="Text Box 17"/>
          <p:cNvSpPr txBox="1"/>
          <p:nvPr/>
        </p:nvSpPr>
        <p:spPr>
          <a:xfrm>
            <a:off x="1316038" y="4652963"/>
            <a:ext cx="1008062" cy="82232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别构中心</a:t>
            </a:r>
            <a:endParaRPr lang="zh-CN" altLang="en-US" sz="2400" b="1">
              <a:ea typeface="楷体_GB2312" pitchFamily="49" charset="-122"/>
            </a:endParaRPr>
          </a:p>
        </p:txBody>
      </p:sp>
      <p:sp>
        <p:nvSpPr>
          <p:cNvPr id="30730" name="Line 18"/>
          <p:cNvSpPr/>
          <p:nvPr/>
        </p:nvSpPr>
        <p:spPr>
          <a:xfrm flipV="1">
            <a:off x="2051050" y="3789363"/>
            <a:ext cx="504825" cy="1008062"/>
          </a:xfrm>
          <a:prstGeom prst="line">
            <a:avLst/>
          </a:prstGeom>
          <a:ln w="12700" cap="flat" cmpd="sng">
            <a:solidFill>
              <a:schemeClr val="tx1"/>
            </a:solidFill>
            <a:prstDash val="solid"/>
            <a:miter/>
            <a:headEnd type="none" w="sm" len="sm"/>
            <a:tailEnd type="triangle" w="sm" len="sm"/>
          </a:ln>
        </p:spPr>
      </p:sp>
      <p:sp>
        <p:nvSpPr>
          <p:cNvPr id="30731" name="Line 19"/>
          <p:cNvSpPr/>
          <p:nvPr/>
        </p:nvSpPr>
        <p:spPr>
          <a:xfrm flipH="1">
            <a:off x="4211638" y="549275"/>
            <a:ext cx="144462" cy="1079500"/>
          </a:xfrm>
          <a:prstGeom prst="line">
            <a:avLst/>
          </a:prstGeom>
          <a:ln w="12700" cap="flat" cmpd="sng">
            <a:solidFill>
              <a:schemeClr val="tx1"/>
            </a:solidFill>
            <a:prstDash val="solid"/>
            <a:miter/>
            <a:headEnd type="none" w="sm" len="sm"/>
            <a:tailEnd type="triangle" w="sm" len="sm"/>
          </a:ln>
        </p:spPr>
      </p:sp>
      <p:sp>
        <p:nvSpPr>
          <p:cNvPr id="30732" name="Text Box 20"/>
          <p:cNvSpPr txBox="1"/>
          <p:nvPr/>
        </p:nvSpPr>
        <p:spPr>
          <a:xfrm>
            <a:off x="4830763" y="4581525"/>
            <a:ext cx="1512887" cy="24447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000"/>
          </a:p>
        </p:txBody>
      </p:sp>
      <p:sp>
        <p:nvSpPr>
          <p:cNvPr id="30733" name="Text Box 21"/>
          <p:cNvSpPr txBox="1"/>
          <p:nvPr/>
        </p:nvSpPr>
        <p:spPr>
          <a:xfrm>
            <a:off x="4140200" y="2997200"/>
            <a:ext cx="1296988" cy="24447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000"/>
          </a:p>
        </p:txBody>
      </p:sp>
      <p:sp>
        <p:nvSpPr>
          <p:cNvPr id="30734" name="Text Box 14"/>
          <p:cNvSpPr txBox="1"/>
          <p:nvPr/>
        </p:nvSpPr>
        <p:spPr>
          <a:xfrm>
            <a:off x="4859338" y="4437063"/>
            <a:ext cx="1922462"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solidFill>
                  <a:srgbClr val="A50021"/>
                </a:solidFill>
                <a:latin typeface="楷体_GB2312" pitchFamily="49" charset="-122"/>
                <a:ea typeface="宋体" pitchFamily="2" charset="-122"/>
              </a:rPr>
              <a:t>C-</a:t>
            </a:r>
            <a:r>
              <a:rPr lang="zh-CN" altLang="en-US" sz="2400" b="1">
                <a:solidFill>
                  <a:srgbClr val="A50021"/>
                </a:solidFill>
                <a:latin typeface="楷体_GB2312" pitchFamily="49" charset="-122"/>
                <a:ea typeface="楷体_GB2312" pitchFamily="49" charset="-122"/>
              </a:rPr>
              <a:t>端结构域</a:t>
            </a:r>
            <a:endParaRPr lang="zh-CN" altLang="en-US" sz="2400" b="1">
              <a:solidFill>
                <a:srgbClr val="A50021"/>
              </a:solidFill>
              <a:latin typeface="楷体_GB2312" pitchFamily="49" charset="-122"/>
              <a:ea typeface="楷体_GB2312" pitchFamily="49" charset="-122"/>
            </a:endParaRPr>
          </a:p>
        </p:txBody>
      </p:sp>
      <p:sp>
        <p:nvSpPr>
          <p:cNvPr id="30735" name="Text Box 13"/>
          <p:cNvSpPr txBox="1"/>
          <p:nvPr/>
        </p:nvSpPr>
        <p:spPr>
          <a:xfrm>
            <a:off x="0" y="3284538"/>
            <a:ext cx="18002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solidFill>
                  <a:schemeClr val="accent2"/>
                </a:solidFill>
                <a:latin typeface="楷体_GB2312" pitchFamily="49" charset="-122"/>
                <a:ea typeface="宋体" pitchFamily="2" charset="-122"/>
              </a:rPr>
              <a:t>N-</a:t>
            </a:r>
            <a:r>
              <a:rPr lang="zh-CN" altLang="en-US" sz="2400" b="1">
                <a:solidFill>
                  <a:schemeClr val="accent2"/>
                </a:solidFill>
                <a:latin typeface="楷体_GB2312" pitchFamily="49" charset="-122"/>
                <a:ea typeface="楷体_GB2312" pitchFamily="49" charset="-122"/>
              </a:rPr>
              <a:t>端结构域</a:t>
            </a:r>
            <a:endParaRPr lang="zh-CN" altLang="en-US" sz="2400" b="1">
              <a:solidFill>
                <a:schemeClr val="accent2"/>
              </a:solidFill>
              <a:latin typeface="楷体_GB2312" pitchFamily="49" charset="-122"/>
              <a:ea typeface="楷体_GB2312" pitchFamily="49" charset="-122"/>
            </a:endParaRPr>
          </a:p>
        </p:txBody>
      </p:sp>
      <p:sp>
        <p:nvSpPr>
          <p:cNvPr id="30736" name="Line 22"/>
          <p:cNvSpPr/>
          <p:nvPr/>
        </p:nvSpPr>
        <p:spPr>
          <a:xfrm>
            <a:off x="4486275" y="2579688"/>
            <a:ext cx="576263" cy="142875"/>
          </a:xfrm>
          <a:prstGeom prst="line">
            <a:avLst/>
          </a:prstGeom>
          <a:ln w="12700" cap="flat" cmpd="sng">
            <a:solidFill>
              <a:srgbClr val="CC0000"/>
            </a:solidFill>
            <a:prstDash val="solid"/>
            <a:miter/>
            <a:headEnd type="none" w="sm" len="sm"/>
            <a:tailEnd type="triangle" w="sm" len="sm"/>
          </a:ln>
        </p:spPr>
      </p:sp>
      <p:sp>
        <p:nvSpPr>
          <p:cNvPr id="3073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841"/>
                                        </p:tgtEl>
                                        <p:attrNameLst>
                                          <p:attrName>style.visibility</p:attrName>
                                        </p:attrNameLst>
                                      </p:cBhvr>
                                      <p:to>
                                        <p:strVal val="visible"/>
                                      </p:to>
                                    </p:set>
                                    <p:animEffect transition="in" filter="fade">
                                      <p:cBhvr>
                                        <p:cTn id="7" dur="2000"/>
                                        <p:tgtEl>
                                          <p:spTgt spid="120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745" name="Group 17"/>
          <p:cNvGrpSpPr/>
          <p:nvPr/>
        </p:nvGrpSpPr>
        <p:grpSpPr>
          <a:xfrm>
            <a:off x="611188" y="477838"/>
            <a:ext cx="7200900" cy="5826125"/>
            <a:chOff x="431" y="210"/>
            <a:chExt cx="4536" cy="3670"/>
          </a:xfrm>
        </p:grpSpPr>
        <p:pic>
          <p:nvPicPr>
            <p:cNvPr id="31761" name="Picture 4" descr="picrender"/>
            <p:cNvPicPr>
              <a:picLocks noChangeAspect="1"/>
            </p:cNvPicPr>
            <p:nvPr/>
          </p:nvPicPr>
          <p:blipFill>
            <a:blip r:embed="rId1"/>
            <a:srcRect t="-7443" r="44301"/>
            <a:stretch>
              <a:fillRect/>
            </a:stretch>
          </p:blipFill>
          <p:spPr>
            <a:xfrm>
              <a:off x="476" y="210"/>
              <a:ext cx="4491" cy="3652"/>
            </a:xfrm>
            <a:prstGeom prst="rect">
              <a:avLst/>
            </a:prstGeom>
            <a:noFill/>
            <a:ln w="9525">
              <a:noFill/>
            </a:ln>
          </p:spPr>
        </p:pic>
        <p:sp>
          <p:nvSpPr>
            <p:cNvPr id="31762" name="Text Box 5"/>
            <p:cNvSpPr txBox="1"/>
            <p:nvPr/>
          </p:nvSpPr>
          <p:spPr>
            <a:xfrm>
              <a:off x="930" y="500"/>
              <a:ext cx="1542" cy="288"/>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肾上腺素＋ 受体</a:t>
              </a:r>
              <a:endParaRPr lang="zh-CN" altLang="en-US" sz="2400" b="1">
                <a:ea typeface="楷体_GB2312" pitchFamily="49" charset="-122"/>
              </a:endParaRPr>
            </a:p>
          </p:txBody>
        </p:sp>
        <p:sp>
          <p:nvSpPr>
            <p:cNvPr id="31763" name="Text Box 6"/>
            <p:cNvSpPr txBox="1"/>
            <p:nvPr/>
          </p:nvSpPr>
          <p:spPr>
            <a:xfrm>
              <a:off x="476" y="935"/>
              <a:ext cx="635" cy="450"/>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腺苷环化酶</a:t>
              </a:r>
              <a:endParaRPr lang="zh-CN" altLang="en-US" sz="2000" b="1">
                <a:ea typeface="楷体_GB2312" pitchFamily="49" charset="-122"/>
              </a:endParaRPr>
            </a:p>
          </p:txBody>
        </p:sp>
        <p:sp>
          <p:nvSpPr>
            <p:cNvPr id="31764" name="Text Box 7"/>
            <p:cNvSpPr txBox="1"/>
            <p:nvPr/>
          </p:nvSpPr>
          <p:spPr>
            <a:xfrm>
              <a:off x="1655" y="935"/>
              <a:ext cx="635" cy="450"/>
            </a:xfrm>
            <a:prstGeom prst="rect">
              <a:avLst/>
            </a:prstGeom>
            <a:solidFill>
              <a:srgbClr val="D9EDEF"/>
            </a:solidFill>
            <a:ln w="12700" cap="flat" cmpd="sng">
              <a:solidFill>
                <a:schemeClr val="folHlink"/>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腺苷环化酶</a:t>
              </a:r>
              <a:endParaRPr lang="zh-CN" altLang="en-US" sz="2000" b="1">
                <a:ea typeface="楷体_GB2312" pitchFamily="49" charset="-122"/>
              </a:endParaRPr>
            </a:p>
          </p:txBody>
        </p:sp>
        <p:sp>
          <p:nvSpPr>
            <p:cNvPr id="31765" name="Text Box 8"/>
            <p:cNvSpPr txBox="1"/>
            <p:nvPr/>
          </p:nvSpPr>
          <p:spPr>
            <a:xfrm>
              <a:off x="1202" y="1661"/>
              <a:ext cx="454" cy="258"/>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a:ea typeface="楷体_GB2312" pitchFamily="49" charset="-122"/>
                </a:rPr>
                <a:t>ATP</a:t>
              </a:r>
              <a:endParaRPr lang="en-US" altLang="zh-CN" sz="2000" b="1">
                <a:ea typeface="楷体_GB2312" pitchFamily="49" charset="-122"/>
              </a:endParaRPr>
            </a:p>
          </p:txBody>
        </p:sp>
        <p:sp>
          <p:nvSpPr>
            <p:cNvPr id="31766" name="Rectangle 9"/>
            <p:cNvSpPr/>
            <p:nvPr/>
          </p:nvSpPr>
          <p:spPr>
            <a:xfrm>
              <a:off x="2181" y="1634"/>
              <a:ext cx="454" cy="272"/>
            </a:xfrm>
            <a:prstGeom prst="rect">
              <a:avLst/>
            </a:prstGeom>
            <a:solidFill>
              <a:schemeClr val="accent1"/>
            </a:solidFill>
            <a:ln w="12700" cap="flat" cmpd="sng">
              <a:solidFill>
                <a:schemeClr val="folHlink"/>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a:t>cAMP</a:t>
              </a:r>
              <a:endParaRPr lang="zh-CN" altLang="en-US" sz="1800" b="1"/>
            </a:p>
          </p:txBody>
        </p:sp>
        <p:sp>
          <p:nvSpPr>
            <p:cNvPr id="31767" name="Text Box 10"/>
            <p:cNvSpPr txBox="1"/>
            <p:nvPr/>
          </p:nvSpPr>
          <p:spPr>
            <a:xfrm>
              <a:off x="1474" y="2205"/>
              <a:ext cx="635" cy="450"/>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蛋白激酶</a:t>
              </a:r>
              <a:r>
                <a:rPr lang="en-US" altLang="zh-CN" sz="2000" b="1">
                  <a:ea typeface="楷体_GB2312" pitchFamily="49" charset="-122"/>
                </a:rPr>
                <a:t>A</a:t>
              </a:r>
              <a:endParaRPr lang="en-US" altLang="zh-CN" sz="2000" b="1">
                <a:ea typeface="楷体_GB2312" pitchFamily="49" charset="-122"/>
              </a:endParaRPr>
            </a:p>
          </p:txBody>
        </p:sp>
        <p:sp>
          <p:nvSpPr>
            <p:cNvPr id="31768" name="Text Box 11"/>
            <p:cNvSpPr txBox="1"/>
            <p:nvPr/>
          </p:nvSpPr>
          <p:spPr>
            <a:xfrm>
              <a:off x="2608" y="2205"/>
              <a:ext cx="635" cy="450"/>
            </a:xfrm>
            <a:prstGeom prst="rect">
              <a:avLst/>
            </a:prstGeom>
            <a:solidFill>
              <a:srgbClr val="D9EDEF"/>
            </a:solidFill>
            <a:ln w="12700" cap="flat" cmpd="sng">
              <a:solidFill>
                <a:schemeClr val="folHlink"/>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蛋白激酶</a:t>
              </a:r>
              <a:r>
                <a:rPr lang="en-US" altLang="zh-CN" sz="2000" b="1">
                  <a:ea typeface="楷体_GB2312" pitchFamily="49" charset="-122"/>
                </a:rPr>
                <a:t>A</a:t>
              </a:r>
              <a:endParaRPr lang="en-US" altLang="zh-CN" sz="2000" b="1">
                <a:ea typeface="楷体_GB2312" pitchFamily="49" charset="-122"/>
              </a:endParaRPr>
            </a:p>
          </p:txBody>
        </p:sp>
        <p:sp>
          <p:nvSpPr>
            <p:cNvPr id="31769" name="Text Box 12"/>
            <p:cNvSpPr txBox="1"/>
            <p:nvPr/>
          </p:nvSpPr>
          <p:spPr>
            <a:xfrm>
              <a:off x="1782" y="2804"/>
              <a:ext cx="816" cy="450"/>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糖原磷酸化酶激酶</a:t>
              </a:r>
              <a:endParaRPr lang="en-US" altLang="zh-CN" sz="2000" b="1">
                <a:ea typeface="楷体_GB2312" pitchFamily="49" charset="-122"/>
              </a:endParaRPr>
            </a:p>
          </p:txBody>
        </p:sp>
        <p:sp>
          <p:nvSpPr>
            <p:cNvPr id="31770" name="Text Box 13"/>
            <p:cNvSpPr txBox="1"/>
            <p:nvPr/>
          </p:nvSpPr>
          <p:spPr>
            <a:xfrm>
              <a:off x="2517" y="3430"/>
              <a:ext cx="798" cy="450"/>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糖原磷酸化酶 </a:t>
              </a:r>
              <a:r>
                <a:rPr lang="en-US" altLang="zh-CN" sz="2000" b="1">
                  <a:ea typeface="楷体_GB2312" pitchFamily="49" charset="-122"/>
                </a:rPr>
                <a:t>b</a:t>
              </a:r>
              <a:endParaRPr lang="zh-CN" altLang="en-US" sz="2000" b="1">
                <a:ea typeface="楷体_GB2312" pitchFamily="49" charset="-122"/>
              </a:endParaRPr>
            </a:p>
          </p:txBody>
        </p:sp>
        <p:sp>
          <p:nvSpPr>
            <p:cNvPr id="31771" name="Text Box 14"/>
            <p:cNvSpPr txBox="1"/>
            <p:nvPr/>
          </p:nvSpPr>
          <p:spPr>
            <a:xfrm>
              <a:off x="3243" y="2795"/>
              <a:ext cx="816" cy="450"/>
            </a:xfrm>
            <a:prstGeom prst="rect">
              <a:avLst/>
            </a:prstGeom>
            <a:solidFill>
              <a:srgbClr val="D9EDEF"/>
            </a:solidFill>
            <a:ln w="12700" cap="flat" cmpd="sng">
              <a:solidFill>
                <a:schemeClr val="folHlink"/>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糖原磷酸化酶激酶</a:t>
              </a:r>
              <a:endParaRPr lang="en-US" altLang="zh-CN" sz="2000" b="1">
                <a:ea typeface="楷体_GB2312" pitchFamily="49" charset="-122"/>
              </a:endParaRPr>
            </a:p>
          </p:txBody>
        </p:sp>
        <p:sp>
          <p:nvSpPr>
            <p:cNvPr id="31772" name="Text Box 15"/>
            <p:cNvSpPr txBox="1"/>
            <p:nvPr/>
          </p:nvSpPr>
          <p:spPr>
            <a:xfrm>
              <a:off x="3969" y="3430"/>
              <a:ext cx="816" cy="450"/>
            </a:xfrm>
            <a:prstGeom prst="rect">
              <a:avLst/>
            </a:prstGeom>
            <a:solidFill>
              <a:srgbClr val="D9EDEF"/>
            </a:solidFill>
            <a:ln w="12700" cap="flat" cmpd="sng">
              <a:solidFill>
                <a:schemeClr val="folHlink"/>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糖原磷酸化酶 </a:t>
              </a:r>
              <a:r>
                <a:rPr lang="en-US" altLang="zh-CN" sz="2000" b="1">
                  <a:ea typeface="楷体_GB2312" pitchFamily="49" charset="-122"/>
                </a:rPr>
                <a:t>a</a:t>
              </a:r>
              <a:endParaRPr lang="en-US" altLang="zh-CN" sz="2000" b="1">
                <a:ea typeface="楷体_GB2312" pitchFamily="49" charset="-122"/>
              </a:endParaRPr>
            </a:p>
          </p:txBody>
        </p:sp>
        <p:sp>
          <p:nvSpPr>
            <p:cNvPr id="31773" name="Rectangle 16"/>
            <p:cNvSpPr/>
            <p:nvPr/>
          </p:nvSpPr>
          <p:spPr>
            <a:xfrm>
              <a:off x="431" y="2704"/>
              <a:ext cx="227" cy="181"/>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grpSp>
      <p:sp>
        <p:nvSpPr>
          <p:cNvPr id="31746" name="Rectangle 18"/>
          <p:cNvSpPr/>
          <p:nvPr/>
        </p:nvSpPr>
        <p:spPr>
          <a:xfrm>
            <a:off x="2411413" y="292100"/>
            <a:ext cx="4752975" cy="5191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ea typeface="宋体" pitchFamily="2" charset="-122"/>
              </a:rPr>
              <a:t>2.2.4 </a:t>
            </a:r>
            <a:r>
              <a:rPr lang="zh-CN" altLang="en-US" sz="2800" b="1">
                <a:ea typeface="黑体" pitchFamily="49" charset="-122"/>
              </a:rPr>
              <a:t>糖原磷酸化酶的调节</a:t>
            </a:r>
            <a:endParaRPr lang="zh-CN" altLang="en-US" sz="2800" b="1">
              <a:ea typeface="黑体" pitchFamily="49" charset="-122"/>
            </a:endParaRPr>
          </a:p>
        </p:txBody>
      </p:sp>
      <p:sp>
        <p:nvSpPr>
          <p:cNvPr id="261153" name="Text Box 33"/>
          <p:cNvSpPr txBox="1"/>
          <p:nvPr/>
        </p:nvSpPr>
        <p:spPr>
          <a:xfrm>
            <a:off x="5724525" y="966788"/>
            <a:ext cx="2951163" cy="3378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latin typeface="楷体_GB2312" pitchFamily="49" charset="-122"/>
                <a:ea typeface="楷体_GB2312" pitchFamily="49" charset="-122"/>
              </a:rPr>
              <a:t>糖原分解激素（胰高血糖素，肾上腺素）作用于细胞膜受体后，促进</a:t>
            </a:r>
            <a:r>
              <a:rPr lang="en-US" altLang="zh-CN" sz="2400" b="1">
                <a:solidFill>
                  <a:schemeClr val="accent2"/>
                </a:solidFill>
                <a:latin typeface="楷体_GB2312" pitchFamily="49" charset="-122"/>
                <a:ea typeface="楷体_GB2312" pitchFamily="49" charset="-122"/>
              </a:rPr>
              <a:t>cAMP</a:t>
            </a:r>
            <a:r>
              <a:rPr lang="zh-CN" altLang="en-US" sz="2400" b="1">
                <a:solidFill>
                  <a:schemeClr val="accent2"/>
                </a:solidFill>
                <a:latin typeface="楷体_GB2312" pitchFamily="49" charset="-122"/>
                <a:ea typeface="楷体_GB2312" pitchFamily="49" charset="-122"/>
              </a:rPr>
              <a:t>产生，引起信号传导通路酶的逐级磷酸化，最终使糖原磷酸化酶发生磷酸化，催化糖原磷酸解发生。</a:t>
            </a:r>
            <a:r>
              <a:rPr lang="en-US" altLang="zh-CN" sz="2400">
                <a:latin typeface="楷体_GB2312" pitchFamily="49" charset="-122"/>
                <a:ea typeface="楷体_GB2312" pitchFamily="49" charset="-122"/>
              </a:rPr>
              <a:t> </a:t>
            </a:r>
            <a:endParaRPr lang="en-US" altLang="zh-CN" sz="2400">
              <a:latin typeface="楷体_GB2312" pitchFamily="49" charset="-122"/>
              <a:ea typeface="楷体_GB2312" pitchFamily="49" charset="-122"/>
            </a:endParaRPr>
          </a:p>
        </p:txBody>
      </p:sp>
      <p:sp>
        <p:nvSpPr>
          <p:cNvPr id="31748" name="Text Box 34"/>
          <p:cNvSpPr txBox="1"/>
          <p:nvPr/>
        </p:nvSpPr>
        <p:spPr>
          <a:xfrm>
            <a:off x="7553325" y="5805488"/>
            <a:ext cx="1368425" cy="5191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高活性</a:t>
            </a:r>
            <a:endParaRPr lang="zh-CN" altLang="en-US" sz="2800" b="1">
              <a:ea typeface="楷体_GB2312" pitchFamily="49" charset="-122"/>
            </a:endParaRPr>
          </a:p>
        </p:txBody>
      </p:sp>
      <p:sp>
        <p:nvSpPr>
          <p:cNvPr id="31749" name="Text Box 35"/>
          <p:cNvSpPr txBox="1"/>
          <p:nvPr/>
        </p:nvSpPr>
        <p:spPr>
          <a:xfrm>
            <a:off x="2686050" y="5805488"/>
            <a:ext cx="136842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无活性</a:t>
            </a:r>
            <a:endParaRPr lang="zh-CN" altLang="en-US" sz="2800" b="1">
              <a:ea typeface="楷体_GB2312" pitchFamily="49" charset="-122"/>
            </a:endParaRPr>
          </a:p>
        </p:txBody>
      </p:sp>
      <p:grpSp>
        <p:nvGrpSpPr>
          <p:cNvPr id="3" name="Group 38"/>
          <p:cNvGrpSpPr/>
          <p:nvPr/>
        </p:nvGrpSpPr>
        <p:grpSpPr>
          <a:xfrm>
            <a:off x="5219700" y="6194425"/>
            <a:ext cx="1050925" cy="549275"/>
            <a:chOff x="3179" y="3994"/>
            <a:chExt cx="563" cy="272"/>
          </a:xfrm>
        </p:grpSpPr>
        <p:sp>
          <p:nvSpPr>
            <p:cNvPr id="31759" name="Arc 36"/>
            <p:cNvSpPr/>
            <p:nvPr/>
          </p:nvSpPr>
          <p:spPr>
            <a:xfrm flipH="1" flipV="1">
              <a:off x="3198" y="3994"/>
              <a:ext cx="544" cy="272"/>
            </a:xfrm>
            <a:custGeom>
              <a:avLst/>
              <a:gdLst>
                <a:gd name="txL" fmla="*/ 0 w 40171"/>
                <a:gd name="txT" fmla="*/ 0 h 21600"/>
                <a:gd name="txR" fmla="*/ 40171 w 40171"/>
                <a:gd name="txB" fmla="*/ 21600 h 21600"/>
              </a:gdLst>
              <a:ahLst/>
              <a:cxnLst>
                <a:cxn ang="0">
                  <a:pos x="0" y="0"/>
                </a:cxn>
                <a:cxn ang="0">
                  <a:pos x="0" y="0"/>
                </a:cxn>
                <a:cxn ang="0">
                  <a:pos x="0" y="0"/>
                </a:cxn>
              </a:cxnLst>
              <a:rect l="txL" t="txT" r="txR" b="txB"/>
              <a:pathLst>
                <a:path w="40171" h="21600" fill="none">
                  <a:moveTo>
                    <a:pt x="-1" y="13508"/>
                  </a:moveTo>
                  <a:cubicBezTo>
                    <a:pt x="3298" y="5344"/>
                    <a:pt x="11221" y="-1"/>
                    <a:pt x="20027" y="0"/>
                  </a:cubicBezTo>
                  <a:cubicBezTo>
                    <a:pt x="28947" y="0"/>
                    <a:pt x="36950" y="5483"/>
                    <a:pt x="40170" y="13803"/>
                  </a:cubicBezTo>
                </a:path>
                <a:path w="40171" h="21600" stroke="0">
                  <a:moveTo>
                    <a:pt x="-1" y="13508"/>
                  </a:moveTo>
                  <a:cubicBezTo>
                    <a:pt x="3298" y="5344"/>
                    <a:pt x="11221" y="-1"/>
                    <a:pt x="20027" y="0"/>
                  </a:cubicBezTo>
                  <a:cubicBezTo>
                    <a:pt x="28947" y="0"/>
                    <a:pt x="36950" y="5483"/>
                    <a:pt x="40170" y="13803"/>
                  </a:cubicBezTo>
                  <a:lnTo>
                    <a:pt x="20027" y="21600"/>
                  </a:lnTo>
                  <a:lnTo>
                    <a:pt x="-1" y="13508"/>
                  </a:lnTo>
                  <a:close/>
                </a:path>
              </a:pathLst>
            </a:custGeom>
            <a:noFill/>
            <a:ln w="28575" cap="flat" cmpd="sng">
              <a:solidFill>
                <a:srgbClr val="FF9900">
                  <a:alpha val="100000"/>
                </a:srgbClr>
              </a:solidFill>
              <a:prstDash val="solid"/>
              <a:miter lim="800000"/>
              <a:headEnd type="none" w="sm" len="sm"/>
              <a:tailEnd type="none" w="sm" len="sm"/>
            </a:ln>
          </p:spPr>
          <p:txBody>
            <a:bodyPr/>
            <a:p>
              <a:endParaRPr lang="zh-CN" altLang="en-US"/>
            </a:p>
          </p:txBody>
        </p:sp>
        <p:sp>
          <p:nvSpPr>
            <p:cNvPr id="31760" name="Line 37"/>
            <p:cNvSpPr/>
            <p:nvPr/>
          </p:nvSpPr>
          <p:spPr>
            <a:xfrm flipH="1" flipV="1">
              <a:off x="3179" y="4074"/>
              <a:ext cx="91" cy="91"/>
            </a:xfrm>
            <a:prstGeom prst="line">
              <a:avLst/>
            </a:prstGeom>
            <a:ln w="28575" cap="flat" cmpd="sng">
              <a:solidFill>
                <a:srgbClr val="FF9900"/>
              </a:solidFill>
              <a:prstDash val="solid"/>
              <a:miter/>
              <a:headEnd type="none" w="sm" len="sm"/>
              <a:tailEnd type="triangle" w="sm" len="sm"/>
            </a:ln>
          </p:spPr>
        </p:sp>
      </p:grpSp>
      <p:sp>
        <p:nvSpPr>
          <p:cNvPr id="31751" name="Text Box 39"/>
          <p:cNvSpPr txBox="1"/>
          <p:nvPr/>
        </p:nvSpPr>
        <p:spPr>
          <a:xfrm>
            <a:off x="755650" y="5589588"/>
            <a:ext cx="1223963"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800"/>
          </a:p>
        </p:txBody>
      </p:sp>
      <p:sp>
        <p:nvSpPr>
          <p:cNvPr id="261160" name="Text Box 40"/>
          <p:cNvSpPr txBox="1"/>
          <p:nvPr/>
        </p:nvSpPr>
        <p:spPr>
          <a:xfrm>
            <a:off x="827088" y="5805488"/>
            <a:ext cx="1728787" cy="835025"/>
          </a:xfrm>
          <a:prstGeom prst="rect">
            <a:avLst/>
          </a:prstGeom>
          <a:solidFill>
            <a:srgbClr val="FFFFCC"/>
          </a:solidFill>
          <a:ln w="12700" cap="flat" cmpd="sng">
            <a:solidFill>
              <a:srgbClr val="FF99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ea typeface="楷体_GB2312" pitchFamily="49" charset="-122"/>
              </a:rPr>
              <a:t>PP1</a:t>
            </a:r>
            <a:r>
              <a:rPr lang="zh-CN" altLang="en-US" sz="2400" b="1">
                <a:ea typeface="楷体_GB2312" pitchFamily="49" charset="-122"/>
              </a:rPr>
              <a:t>：磷蛋白磷酸酶</a:t>
            </a:r>
            <a:r>
              <a:rPr lang="en-US" altLang="zh-CN" sz="2400" b="1">
                <a:ea typeface="楷体_GB2312" pitchFamily="49" charset="-122"/>
              </a:rPr>
              <a:t>1</a:t>
            </a:r>
            <a:endParaRPr lang="en-US" altLang="zh-CN" sz="2400" b="1">
              <a:ea typeface="楷体_GB2312" pitchFamily="49" charset="-122"/>
            </a:endParaRPr>
          </a:p>
        </p:txBody>
      </p:sp>
      <p:sp>
        <p:nvSpPr>
          <p:cNvPr id="261161" name="AutoShape 41"/>
          <p:cNvSpPr/>
          <p:nvPr/>
        </p:nvSpPr>
        <p:spPr>
          <a:xfrm>
            <a:off x="3492500" y="1844675"/>
            <a:ext cx="358775" cy="360363"/>
          </a:xfrm>
          <a:prstGeom prst="sun">
            <a:avLst>
              <a:gd name="adj" fmla="val 25000"/>
            </a:avLst>
          </a:prstGeom>
          <a:solidFill>
            <a:srgbClr val="FF9900"/>
          </a:solidFill>
          <a:ln w="12700" cap="flat" cmpd="sng">
            <a:solidFill>
              <a:srgbClr val="FF99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261162" name="AutoShape 42"/>
          <p:cNvSpPr/>
          <p:nvPr/>
        </p:nvSpPr>
        <p:spPr>
          <a:xfrm>
            <a:off x="5003800" y="3860800"/>
            <a:ext cx="360363" cy="360363"/>
          </a:xfrm>
          <a:prstGeom prst="sun">
            <a:avLst>
              <a:gd name="adj" fmla="val 25000"/>
            </a:avLst>
          </a:prstGeom>
          <a:solidFill>
            <a:srgbClr val="FF9900"/>
          </a:solidFill>
          <a:ln w="12700" cap="flat" cmpd="sng">
            <a:solidFill>
              <a:srgbClr val="FF99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261163" name="AutoShape 43"/>
          <p:cNvSpPr/>
          <p:nvPr/>
        </p:nvSpPr>
        <p:spPr>
          <a:xfrm>
            <a:off x="6300788" y="4797425"/>
            <a:ext cx="360362" cy="360363"/>
          </a:xfrm>
          <a:prstGeom prst="sun">
            <a:avLst>
              <a:gd name="adj" fmla="val 25000"/>
            </a:avLst>
          </a:prstGeom>
          <a:solidFill>
            <a:srgbClr val="FF9900"/>
          </a:solidFill>
          <a:ln w="12700" cap="flat" cmpd="sng">
            <a:solidFill>
              <a:srgbClr val="FF99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261164" name="AutoShape 44"/>
          <p:cNvSpPr/>
          <p:nvPr/>
        </p:nvSpPr>
        <p:spPr>
          <a:xfrm>
            <a:off x="7451725" y="5661025"/>
            <a:ext cx="360363" cy="360363"/>
          </a:xfrm>
          <a:prstGeom prst="sun">
            <a:avLst>
              <a:gd name="adj" fmla="val 25000"/>
            </a:avLst>
          </a:prstGeom>
          <a:solidFill>
            <a:srgbClr val="FF9900"/>
          </a:solidFill>
          <a:ln w="12700" cap="flat" cmpd="sng">
            <a:solidFill>
              <a:srgbClr val="FF99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261165" name="Text Box 45"/>
          <p:cNvSpPr txBox="1"/>
          <p:nvPr/>
        </p:nvSpPr>
        <p:spPr>
          <a:xfrm>
            <a:off x="5437188" y="6223000"/>
            <a:ext cx="647700" cy="379413"/>
          </a:xfrm>
          <a:prstGeom prst="rect">
            <a:avLst/>
          </a:prstGeom>
          <a:solidFill>
            <a:srgbClr val="FFFFCC"/>
          </a:solidFill>
          <a:ln w="12700" cap="flat" cmpd="sng">
            <a:solidFill>
              <a:srgbClr val="FF99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1800" b="1">
                <a:ea typeface="楷体_GB2312" pitchFamily="49" charset="-122"/>
              </a:rPr>
              <a:t>PP1</a:t>
            </a:r>
            <a:endParaRPr lang="en-US" altLang="zh-CN" sz="1800" b="1">
              <a:ea typeface="楷体_GB2312" pitchFamily="49" charset="-122"/>
            </a:endParaRPr>
          </a:p>
        </p:txBody>
      </p:sp>
      <p:sp>
        <p:nvSpPr>
          <p:cNvPr id="31758"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1161"/>
                                        </p:tgtEl>
                                        <p:attrNameLst>
                                          <p:attrName>style.visibility</p:attrName>
                                        </p:attrNameLst>
                                      </p:cBhvr>
                                      <p:to>
                                        <p:strVal val="visible"/>
                                      </p:to>
                                    </p:set>
                                    <p:animEffect transition="in" filter="fade">
                                      <p:cBhvr>
                                        <p:cTn id="7" dur="2000"/>
                                        <p:tgtEl>
                                          <p:spTgt spid="2611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1162"/>
                                        </p:tgtEl>
                                        <p:attrNameLst>
                                          <p:attrName>style.visibility</p:attrName>
                                        </p:attrNameLst>
                                      </p:cBhvr>
                                      <p:to>
                                        <p:strVal val="visible"/>
                                      </p:to>
                                    </p:set>
                                    <p:animEffect transition="in" filter="fade">
                                      <p:cBhvr>
                                        <p:cTn id="12" dur="2000"/>
                                        <p:tgtEl>
                                          <p:spTgt spid="26116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61163"/>
                                        </p:tgtEl>
                                        <p:attrNameLst>
                                          <p:attrName>style.visibility</p:attrName>
                                        </p:attrNameLst>
                                      </p:cBhvr>
                                      <p:to>
                                        <p:strVal val="visible"/>
                                      </p:to>
                                    </p:set>
                                    <p:animEffect transition="in" filter="box(in)">
                                      <p:cBhvr>
                                        <p:cTn id="17" dur="500"/>
                                        <p:tgtEl>
                                          <p:spTgt spid="26116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261164"/>
                                        </p:tgtEl>
                                        <p:attrNameLst>
                                          <p:attrName>style.visibility</p:attrName>
                                        </p:attrNameLst>
                                      </p:cBhvr>
                                      <p:to>
                                        <p:strVal val="visible"/>
                                      </p:to>
                                    </p:set>
                                    <p:animEffect transition="in" filter="barn(inHorizontal)">
                                      <p:cBhvr>
                                        <p:cTn id="22" dur="500"/>
                                        <p:tgtEl>
                                          <p:spTgt spid="26116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61165"/>
                                        </p:tgtEl>
                                        <p:attrNameLst>
                                          <p:attrName>style.visibility</p:attrName>
                                        </p:attrNameLst>
                                      </p:cBhvr>
                                      <p:to>
                                        <p:strVal val="visible"/>
                                      </p:to>
                                    </p:set>
                                    <p:animEffect transition="in" filter="box(in)">
                                      <p:cBhvr>
                                        <p:cTn id="27" dur="500"/>
                                        <p:tgtEl>
                                          <p:spTgt spid="261165"/>
                                        </p:tgtEl>
                                      </p:cBhvr>
                                    </p:animEffect>
                                  </p:childTnLst>
                                </p:cTn>
                              </p:par>
                              <p:par>
                                <p:cTn id="28" presetID="4" presetClass="entr" presetSubtype="16"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ox(in)">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61160"/>
                                        </p:tgtEl>
                                        <p:attrNameLst>
                                          <p:attrName>style.visibility</p:attrName>
                                        </p:attrNameLst>
                                      </p:cBhvr>
                                      <p:to>
                                        <p:strVal val="visible"/>
                                      </p:to>
                                    </p:set>
                                    <p:animEffect transition="in" filter="fade">
                                      <p:cBhvr>
                                        <p:cTn id="35" dur="2000"/>
                                        <p:tgtEl>
                                          <p:spTgt spid="2611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61153"/>
                                        </p:tgtEl>
                                        <p:attrNameLst>
                                          <p:attrName>style.visibility</p:attrName>
                                        </p:attrNameLst>
                                      </p:cBhvr>
                                      <p:to>
                                        <p:strVal val="visible"/>
                                      </p:to>
                                    </p:set>
                                    <p:animEffect transition="in" filter="fade">
                                      <p:cBhvr>
                                        <p:cTn id="40" dur="2000"/>
                                        <p:tgtEl>
                                          <p:spTgt spid="261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53" grpId="0"/>
      <p:bldP spid="261160" grpId="0" animBg="1"/>
      <p:bldP spid="261161" grpId="0" animBg="1"/>
      <p:bldP spid="261162" grpId="0" animBg="1"/>
      <p:bldP spid="261163" grpId="0" animBg="1"/>
      <p:bldP spid="261164" grpId="0" animBg="1"/>
      <p:bldP spid="26116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Text Box 5"/>
          <p:cNvSpPr txBox="1"/>
          <p:nvPr/>
        </p:nvSpPr>
        <p:spPr>
          <a:xfrm>
            <a:off x="971550" y="692150"/>
            <a:ext cx="7488238" cy="18002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黑体" pitchFamily="49" charset="-122"/>
                <a:ea typeface="黑体" pitchFamily="49" charset="-122"/>
              </a:rPr>
              <a:t>激素的级联放大作用</a:t>
            </a:r>
            <a:r>
              <a:rPr lang="zh-CN" altLang="en-US" sz="2800" b="1">
                <a:latin typeface="楷体_GB2312" pitchFamily="49" charset="-122"/>
                <a:ea typeface="楷体_GB2312" pitchFamily="49" charset="-122"/>
              </a:rPr>
              <a:t>：信号分子（激素）结合于特异性膜受体后，通过</a:t>
            </a:r>
            <a:r>
              <a:rPr lang="zh-CN" altLang="en-US" sz="2800" b="1">
                <a:latin typeface="楷体_GB2312" pitchFamily="49" charset="-122"/>
                <a:ea typeface="楷体_GB2312" pitchFamily="49" charset="-122"/>
              </a:rPr>
              <a:t>激酶级联事件，即：一系列蛋白质（酶）的逐级磷酸化，籍此使信号逐级传送和放大。</a:t>
            </a:r>
            <a:endParaRPr lang="zh-CN" altLang="en-US" sz="2800" b="1">
              <a:latin typeface="楷体_GB2312" pitchFamily="49" charset="-122"/>
              <a:ea typeface="楷体_GB2312" pitchFamily="49" charset="-122"/>
            </a:endParaRPr>
          </a:p>
        </p:txBody>
      </p:sp>
      <p:sp>
        <p:nvSpPr>
          <p:cNvPr id="32770" name="Text Box 7"/>
          <p:cNvSpPr txBox="1"/>
          <p:nvPr/>
        </p:nvSpPr>
        <p:spPr>
          <a:xfrm>
            <a:off x="971550" y="3068638"/>
            <a:ext cx="7488238" cy="2014537"/>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黑体" pitchFamily="49" charset="-122"/>
                <a:ea typeface="黑体" pitchFamily="49" charset="-122"/>
              </a:rPr>
              <a:t>肾上腺素级联系统对糖原分解的调节</a:t>
            </a:r>
            <a:r>
              <a:rPr lang="zh-CN" altLang="en-US" sz="2800" b="1">
                <a:latin typeface="楷体_GB2312" pitchFamily="49" charset="-122"/>
                <a:ea typeface="楷体_GB2312" pitchFamily="49" charset="-122"/>
              </a:rPr>
              <a:t>：</a:t>
            </a:r>
            <a:endParaRPr lang="zh-CN" altLang="en-US" sz="2800" b="1">
              <a:latin typeface="楷体_GB2312" pitchFamily="49" charset="-122"/>
              <a:ea typeface="楷体_GB2312" pitchFamily="49" charset="-122"/>
            </a:endParaRPr>
          </a:p>
          <a:p>
            <a:pPr marL="0" lvl="0" indent="0" eaLnBrk="1" hangingPunct="1">
              <a:spcBef>
                <a:spcPct val="50000"/>
              </a:spcBef>
              <a:buNone/>
            </a:pPr>
            <a:r>
              <a:rPr lang="zh-CN" altLang="en-US" sz="2800" b="1">
                <a:solidFill>
                  <a:srgbClr val="CC0000"/>
                </a:solidFill>
                <a:latin typeface="楷体_GB2312" pitchFamily="49" charset="-122"/>
                <a:ea typeface="楷体_GB2312" pitchFamily="49" charset="-122"/>
              </a:rPr>
              <a:t>信号分子（激素）</a:t>
            </a:r>
            <a:r>
              <a:rPr lang="en-US" altLang="zh-CN" sz="2800" b="1">
                <a:latin typeface="楷体_GB2312" pitchFamily="49" charset="-122"/>
                <a:ea typeface="楷体_GB2312" pitchFamily="49" charset="-122"/>
                <a:sym typeface="Wingdings" panose="05000000000000000000" pitchFamily="2" charset="2"/>
              </a:rPr>
              <a:t> </a:t>
            </a:r>
            <a:r>
              <a:rPr lang="en-US" altLang="zh-CN" sz="2800" b="1">
                <a:latin typeface="楷体_GB2312" pitchFamily="49" charset="-122"/>
                <a:ea typeface="楷体_GB2312" pitchFamily="49" charset="-122"/>
              </a:rPr>
              <a:t>G</a:t>
            </a:r>
            <a:r>
              <a:rPr lang="zh-CN" altLang="en-US" sz="2800" b="1">
                <a:latin typeface="楷体_GB2312" pitchFamily="49" charset="-122"/>
                <a:ea typeface="楷体_GB2312" pitchFamily="49" charset="-122"/>
              </a:rPr>
              <a:t>蛋白偶联受体－</a:t>
            </a:r>
            <a:r>
              <a:rPr lang="en-US" altLang="zh-CN" sz="2800" b="1">
                <a:latin typeface="楷体_GB2312" pitchFamily="49" charset="-122"/>
                <a:ea typeface="楷体_GB2312" pitchFamily="49" charset="-122"/>
              </a:rPr>
              <a:t>G</a:t>
            </a:r>
            <a:r>
              <a:rPr lang="zh-CN" altLang="en-US" sz="2800" b="1">
                <a:latin typeface="楷体_GB2312" pitchFamily="49" charset="-122"/>
                <a:ea typeface="楷体_GB2312" pitchFamily="49" charset="-122"/>
              </a:rPr>
              <a:t>蛋白－腺苷环化酶－蛋白激酶</a:t>
            </a:r>
            <a:r>
              <a:rPr lang="en-US" altLang="zh-CN" sz="2800" b="1">
                <a:latin typeface="楷体_GB2312" pitchFamily="49" charset="-122"/>
                <a:ea typeface="楷体_GB2312" pitchFamily="49" charset="-122"/>
              </a:rPr>
              <a:t>A</a:t>
            </a:r>
            <a:r>
              <a:rPr lang="zh-CN" altLang="en-US" sz="2800" b="1">
                <a:latin typeface="楷体_GB2312" pitchFamily="49" charset="-122"/>
                <a:ea typeface="楷体_GB2312" pitchFamily="49" charset="-122"/>
              </a:rPr>
              <a:t>－糖原</a:t>
            </a:r>
            <a:r>
              <a:rPr lang="zh-CN" altLang="en-US" sz="2800" b="1">
                <a:latin typeface="楷体_GB2312" pitchFamily="49" charset="-122"/>
                <a:ea typeface="楷体_GB2312" pitchFamily="49" charset="-122"/>
              </a:rPr>
              <a:t>磷酸化酶激酶－糖原磷酸化酶</a:t>
            </a:r>
            <a:r>
              <a:rPr lang="en-US" altLang="zh-CN" sz="2800" b="1">
                <a:latin typeface="楷体_GB2312" pitchFamily="49" charset="-122"/>
                <a:ea typeface="楷体_GB2312" pitchFamily="49" charset="-122"/>
                <a:sym typeface="Wingdings" panose="05000000000000000000" pitchFamily="2" charset="2"/>
              </a:rPr>
              <a:t> </a:t>
            </a:r>
            <a:r>
              <a:rPr lang="zh-CN" altLang="en-US" sz="2800" b="1">
                <a:solidFill>
                  <a:srgbClr val="A50021"/>
                </a:solidFill>
                <a:latin typeface="楷体_GB2312" pitchFamily="49" charset="-122"/>
                <a:ea typeface="楷体_GB2312" pitchFamily="49" charset="-122"/>
                <a:sym typeface="Wingdings" panose="05000000000000000000" pitchFamily="2" charset="2"/>
              </a:rPr>
              <a:t>糖原降解</a:t>
            </a:r>
            <a:endParaRPr lang="zh-CN" altLang="en-US" sz="2800" b="1">
              <a:solidFill>
                <a:srgbClr val="A50021"/>
              </a:solidFill>
              <a:latin typeface="楷体_GB2312" pitchFamily="49" charset="-122"/>
              <a:ea typeface="楷体_GB2312" pitchFamily="49" charset="-122"/>
            </a:endParaRPr>
          </a:p>
        </p:txBody>
      </p:sp>
      <p:sp>
        <p:nvSpPr>
          <p:cNvPr id="32771"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4"/>
          <p:cNvSpPr/>
          <p:nvPr/>
        </p:nvSpPr>
        <p:spPr>
          <a:xfrm>
            <a:off x="2987675" y="476250"/>
            <a:ext cx="3028950" cy="519113"/>
          </a:xfrm>
          <a:prstGeom prst="rect">
            <a:avLst/>
          </a:prstGeom>
          <a:solidFill>
            <a:schemeClr val="bg1"/>
          </a:solid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ea typeface="黑体" pitchFamily="49" charset="-122"/>
              </a:rPr>
              <a:t>酶的共价修饰调节</a:t>
            </a:r>
            <a:endParaRPr lang="zh-CN" altLang="en-US" sz="2800" b="1">
              <a:ea typeface="黑体" pitchFamily="49" charset="-122"/>
            </a:endParaRPr>
          </a:p>
        </p:txBody>
      </p:sp>
      <p:sp>
        <p:nvSpPr>
          <p:cNvPr id="33794" name="Text Box 5"/>
          <p:cNvSpPr txBox="1"/>
          <p:nvPr/>
        </p:nvSpPr>
        <p:spPr>
          <a:xfrm>
            <a:off x="971550" y="1557338"/>
            <a:ext cx="7632700" cy="26543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rgbClr val="CC0000"/>
                </a:solidFill>
                <a:latin typeface="黑体" pitchFamily="49" charset="-122"/>
                <a:ea typeface="黑体" pitchFamily="49" charset="-122"/>
              </a:rPr>
              <a:t>共价修饰调节：</a:t>
            </a:r>
            <a:r>
              <a:rPr lang="zh-CN" altLang="en-US" sz="2800" b="1">
                <a:latin typeface="楷体_GB2312" pitchFamily="49" charset="-122"/>
                <a:ea typeface="楷体_GB2312" pitchFamily="49" charset="-122"/>
              </a:rPr>
              <a:t>生物体的一些酶（尤其是一些限速酶），</a:t>
            </a:r>
            <a:r>
              <a:rPr lang="zh-CN" altLang="en-US" sz="2800" b="1">
                <a:solidFill>
                  <a:srgbClr val="CC0000"/>
                </a:solidFill>
                <a:latin typeface="楷体_GB2312" pitchFamily="49" charset="-122"/>
                <a:ea typeface="楷体_GB2312" pitchFamily="49" charset="-122"/>
              </a:rPr>
              <a:t>在细胞内其它酶的作用下</a:t>
            </a:r>
            <a:r>
              <a:rPr lang="zh-CN" altLang="en-US" sz="2800" b="1">
                <a:latin typeface="楷体_GB2312" pitchFamily="49" charset="-122"/>
                <a:ea typeface="楷体_GB2312" pitchFamily="49" charset="-122"/>
              </a:rPr>
              <a:t>，其结构中某些特殊基团发生可逆的共价键生成或断裂（例如磷酸化或去磷酸化作用），从而引起酶活性的激活或抑制，快速改变该酶活性，调节某一代谢途径路，称为</a:t>
            </a:r>
            <a:r>
              <a:rPr lang="zh-CN" altLang="en-US" sz="2800" b="1">
                <a:solidFill>
                  <a:srgbClr val="CC0000"/>
                </a:solidFill>
                <a:latin typeface="黑体" pitchFamily="49" charset="-122"/>
                <a:ea typeface="黑体" pitchFamily="49" charset="-122"/>
              </a:rPr>
              <a:t>共价修饰调节</a:t>
            </a:r>
            <a:r>
              <a:rPr lang="zh-CN" altLang="en-US" sz="2800" b="1">
                <a:latin typeface="楷体_GB2312" pitchFamily="49" charset="-122"/>
                <a:ea typeface="楷体_GB2312" pitchFamily="49" charset="-122"/>
              </a:rPr>
              <a:t>。</a:t>
            </a:r>
            <a:endParaRPr lang="zh-CN" altLang="en-US" sz="2800" b="1">
              <a:latin typeface="楷体_GB2312" pitchFamily="49" charset="-122"/>
              <a:ea typeface="楷体_GB2312" pitchFamily="49" charset="-122"/>
            </a:endParaRPr>
          </a:p>
        </p:txBody>
      </p:sp>
      <p:sp>
        <p:nvSpPr>
          <p:cNvPr id="3379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ext Box 4"/>
          <p:cNvSpPr txBox="1"/>
          <p:nvPr/>
        </p:nvSpPr>
        <p:spPr>
          <a:xfrm>
            <a:off x="755650" y="476250"/>
            <a:ext cx="7777163" cy="26543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最常见的共价修饰是磷酸化修饰。通过</a:t>
            </a:r>
            <a:r>
              <a:rPr lang="zh-CN" altLang="en-US" sz="2800" b="1">
                <a:solidFill>
                  <a:srgbClr val="CC0000"/>
                </a:solidFill>
                <a:latin typeface="楷体_GB2312" pitchFamily="49" charset="-122"/>
                <a:ea typeface="楷体_GB2312" pitchFamily="49" charset="-122"/>
              </a:rPr>
              <a:t>蛋白激酶</a:t>
            </a:r>
            <a:r>
              <a:rPr lang="en-US" altLang="zh-CN" sz="2800" b="1">
                <a:solidFill>
                  <a:srgbClr val="CC0000"/>
                </a:solidFill>
                <a:latin typeface="楷体_GB2312" pitchFamily="49" charset="-122"/>
                <a:ea typeface="宋体" pitchFamily="2" charset="-122"/>
              </a:rPr>
              <a:t>(PK</a:t>
            </a:r>
            <a:r>
              <a:rPr lang="zh-CN" altLang="en-US" sz="2800" b="1">
                <a:solidFill>
                  <a:srgbClr val="CC0000"/>
                </a:solidFill>
                <a:latin typeface="楷体_GB2312" pitchFamily="49" charset="-122"/>
                <a:ea typeface="楷体_GB2312" pitchFamily="49" charset="-122"/>
              </a:rPr>
              <a:t>）</a:t>
            </a:r>
            <a:r>
              <a:rPr lang="zh-CN" altLang="en-US" sz="2800" b="1">
                <a:latin typeface="楷体_GB2312" pitchFamily="49" charset="-122"/>
                <a:ea typeface="楷体_GB2312" pitchFamily="49" charset="-122"/>
              </a:rPr>
              <a:t>的催化，被修饰酶分子中丝氨酸或酪氨酸侧链上的羟基进行磷酸化，也可通过</a:t>
            </a:r>
            <a:r>
              <a:rPr lang="zh-CN" altLang="en-US" sz="2800" b="1">
                <a:solidFill>
                  <a:srgbClr val="CC0000"/>
                </a:solidFill>
                <a:latin typeface="楷体_GB2312" pitchFamily="49" charset="-122"/>
                <a:ea typeface="楷体_GB2312" pitchFamily="49" charset="-122"/>
              </a:rPr>
              <a:t>各种磷酸酶</a:t>
            </a:r>
            <a:r>
              <a:rPr lang="zh-CN" altLang="en-US" sz="2800" b="1">
                <a:latin typeface="楷体_GB2312" pitchFamily="49" charset="-122"/>
                <a:ea typeface="楷体_GB2312" pitchFamily="49" charset="-122"/>
              </a:rPr>
              <a:t>（如：</a:t>
            </a:r>
            <a:r>
              <a:rPr lang="zh-CN" altLang="en-US" sz="2800" b="1">
                <a:solidFill>
                  <a:srgbClr val="CC0000"/>
                </a:solidFill>
                <a:latin typeface="楷体_GB2312" pitchFamily="49" charset="-122"/>
                <a:ea typeface="楷体_GB2312" pitchFamily="49" charset="-122"/>
              </a:rPr>
              <a:t>磷蛋白磷酸酶 </a:t>
            </a:r>
            <a:r>
              <a:rPr lang="en-US" altLang="zh-CN" sz="2800" b="1">
                <a:solidFill>
                  <a:srgbClr val="CC0000"/>
                </a:solidFill>
                <a:latin typeface="楷体_GB2312" pitchFamily="49" charset="-122"/>
                <a:ea typeface="宋体" pitchFamily="2" charset="-122"/>
              </a:rPr>
              <a:t>PP1</a:t>
            </a:r>
            <a:r>
              <a:rPr lang="zh-CN" altLang="en-US" sz="2800" b="1">
                <a:latin typeface="楷体_GB2312" pitchFamily="49" charset="-122"/>
                <a:ea typeface="楷体_GB2312" pitchFamily="49" charset="-122"/>
              </a:rPr>
              <a:t>）将此类磷酸基团去除，从而形成可逆的共价修饰。</a:t>
            </a:r>
            <a:r>
              <a:rPr lang="zh-CN" altLang="en-US" sz="2800" b="1">
                <a:solidFill>
                  <a:schemeClr val="accent2"/>
                </a:solidFill>
                <a:latin typeface="楷体_GB2312" pitchFamily="49" charset="-122"/>
                <a:ea typeface="楷体_GB2312" pitchFamily="49" charset="-122"/>
              </a:rPr>
              <a:t>磷酸化修饰是体内重要的快速调节酶活性的方式之一</a:t>
            </a:r>
            <a:r>
              <a:rPr lang="zh-CN" altLang="en-US" sz="2800" b="1">
                <a:latin typeface="楷体_GB2312" pitchFamily="49" charset="-122"/>
                <a:ea typeface="楷体_GB2312" pitchFamily="49" charset="-122"/>
              </a:rPr>
              <a:t>。</a:t>
            </a:r>
            <a:endParaRPr lang="zh-CN" altLang="en-US" sz="2800" b="1">
              <a:latin typeface="楷体_GB2312" pitchFamily="49" charset="-122"/>
              <a:ea typeface="楷体_GB2312" pitchFamily="49" charset="-122"/>
            </a:endParaRPr>
          </a:p>
        </p:txBody>
      </p:sp>
      <p:sp>
        <p:nvSpPr>
          <p:cNvPr id="262149" name="Text Box 5"/>
          <p:cNvSpPr txBox="1"/>
          <p:nvPr/>
        </p:nvSpPr>
        <p:spPr>
          <a:xfrm>
            <a:off x="755650" y="3213100"/>
            <a:ext cx="7848600"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不同的酶催化下级酶的磷酸化与去磷酸化的反应</a:t>
            </a:r>
            <a:endParaRPr lang="zh-CN" altLang="en-US" sz="2800" b="1">
              <a:latin typeface="楷体_GB2312" pitchFamily="49" charset="-122"/>
              <a:ea typeface="楷体_GB2312" pitchFamily="49" charset="-122"/>
            </a:endParaRPr>
          </a:p>
        </p:txBody>
      </p:sp>
      <p:sp>
        <p:nvSpPr>
          <p:cNvPr id="262150" name="Text Box 6"/>
          <p:cNvSpPr txBox="1"/>
          <p:nvPr/>
        </p:nvSpPr>
        <p:spPr>
          <a:xfrm>
            <a:off x="3708400" y="5661025"/>
            <a:ext cx="720725" cy="379413"/>
          </a:xfrm>
          <a:prstGeom prst="rect">
            <a:avLst/>
          </a:prstGeom>
          <a:solidFill>
            <a:srgbClr val="FFFFCC"/>
          </a:solidFill>
          <a:ln w="12700" cap="flat" cmpd="sng">
            <a:solidFill>
              <a:srgbClr val="FF99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PP1</a:t>
            </a:r>
            <a:endParaRPr lang="en-US" altLang="zh-CN" sz="1800" b="1"/>
          </a:p>
        </p:txBody>
      </p:sp>
      <p:sp>
        <p:nvSpPr>
          <p:cNvPr id="262152" name="Text Box 8"/>
          <p:cNvSpPr txBox="1"/>
          <p:nvPr/>
        </p:nvSpPr>
        <p:spPr>
          <a:xfrm>
            <a:off x="2268538" y="4724400"/>
            <a:ext cx="647700" cy="576263"/>
          </a:xfrm>
          <a:prstGeom prst="rect">
            <a:avLst/>
          </a:prstGeom>
          <a:noFill/>
          <a:ln w="57150" cap="flat" cmpd="sng">
            <a:solidFill>
              <a:schemeClr val="accent1"/>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800">
                <a:latin typeface="黑体" pitchFamily="49" charset="-122"/>
                <a:ea typeface="黑体" pitchFamily="49" charset="-122"/>
              </a:rPr>
              <a:t>酶</a:t>
            </a:r>
            <a:r>
              <a:rPr lang="en-US" altLang="zh-CN" sz="2800">
                <a:latin typeface="黑体" pitchFamily="49" charset="-122"/>
                <a:ea typeface="黑体" pitchFamily="49" charset="-122"/>
              </a:rPr>
              <a:t>  </a:t>
            </a:r>
            <a:endParaRPr lang="en-US" altLang="zh-CN" sz="2800">
              <a:latin typeface="黑体" pitchFamily="49" charset="-122"/>
              <a:ea typeface="黑体" pitchFamily="49" charset="-122"/>
            </a:endParaRPr>
          </a:p>
        </p:txBody>
      </p:sp>
      <p:grpSp>
        <p:nvGrpSpPr>
          <p:cNvPr id="2" name="Group 9"/>
          <p:cNvGrpSpPr/>
          <p:nvPr/>
        </p:nvGrpSpPr>
        <p:grpSpPr>
          <a:xfrm>
            <a:off x="2844800" y="5156200"/>
            <a:ext cx="2563813" cy="458788"/>
            <a:chOff x="3179" y="3994"/>
            <a:chExt cx="563" cy="272"/>
          </a:xfrm>
        </p:grpSpPr>
        <p:sp>
          <p:nvSpPr>
            <p:cNvPr id="34830" name="Arc 10"/>
            <p:cNvSpPr/>
            <p:nvPr/>
          </p:nvSpPr>
          <p:spPr>
            <a:xfrm flipH="1" flipV="1">
              <a:off x="3198" y="3994"/>
              <a:ext cx="544" cy="272"/>
            </a:xfrm>
            <a:custGeom>
              <a:avLst/>
              <a:gdLst>
                <a:gd name="txL" fmla="*/ 0 w 40171"/>
                <a:gd name="txT" fmla="*/ 0 h 21600"/>
                <a:gd name="txR" fmla="*/ 40171 w 40171"/>
                <a:gd name="txB" fmla="*/ 21600 h 21600"/>
              </a:gdLst>
              <a:ahLst/>
              <a:cxnLst>
                <a:cxn ang="0">
                  <a:pos x="0" y="0"/>
                </a:cxn>
                <a:cxn ang="0">
                  <a:pos x="0" y="0"/>
                </a:cxn>
                <a:cxn ang="0">
                  <a:pos x="0" y="0"/>
                </a:cxn>
              </a:cxnLst>
              <a:rect l="txL" t="txT" r="txR" b="txB"/>
              <a:pathLst>
                <a:path w="40171" h="21600" fill="none">
                  <a:moveTo>
                    <a:pt x="-1" y="13508"/>
                  </a:moveTo>
                  <a:cubicBezTo>
                    <a:pt x="3298" y="5344"/>
                    <a:pt x="11221" y="-1"/>
                    <a:pt x="20027" y="0"/>
                  </a:cubicBezTo>
                  <a:cubicBezTo>
                    <a:pt x="28947" y="0"/>
                    <a:pt x="36950" y="5483"/>
                    <a:pt x="40170" y="13803"/>
                  </a:cubicBezTo>
                </a:path>
                <a:path w="40171" h="21600" stroke="0">
                  <a:moveTo>
                    <a:pt x="-1" y="13508"/>
                  </a:moveTo>
                  <a:cubicBezTo>
                    <a:pt x="3298" y="5344"/>
                    <a:pt x="11221" y="-1"/>
                    <a:pt x="20027" y="0"/>
                  </a:cubicBezTo>
                  <a:cubicBezTo>
                    <a:pt x="28947" y="0"/>
                    <a:pt x="36950" y="5483"/>
                    <a:pt x="40170" y="13803"/>
                  </a:cubicBezTo>
                  <a:lnTo>
                    <a:pt x="20027" y="21600"/>
                  </a:lnTo>
                  <a:lnTo>
                    <a:pt x="-1" y="13508"/>
                  </a:lnTo>
                  <a:close/>
                </a:path>
              </a:pathLst>
            </a:custGeom>
            <a:noFill/>
            <a:ln w="28575" cap="flat" cmpd="sng">
              <a:solidFill>
                <a:srgbClr val="FF9900">
                  <a:alpha val="100000"/>
                </a:srgbClr>
              </a:solidFill>
              <a:prstDash val="solid"/>
              <a:miter lim="800000"/>
              <a:headEnd type="none" w="sm" len="sm"/>
              <a:tailEnd type="none" w="sm" len="sm"/>
            </a:ln>
          </p:spPr>
          <p:txBody>
            <a:bodyPr/>
            <a:p>
              <a:endParaRPr lang="zh-CN" altLang="en-US"/>
            </a:p>
          </p:txBody>
        </p:sp>
        <p:sp>
          <p:nvSpPr>
            <p:cNvPr id="34831" name="Line 11"/>
            <p:cNvSpPr/>
            <p:nvPr/>
          </p:nvSpPr>
          <p:spPr>
            <a:xfrm flipH="1" flipV="1">
              <a:off x="3179" y="4074"/>
              <a:ext cx="91" cy="91"/>
            </a:xfrm>
            <a:prstGeom prst="line">
              <a:avLst/>
            </a:prstGeom>
            <a:ln w="28575" cap="flat" cmpd="sng">
              <a:solidFill>
                <a:srgbClr val="FF9900"/>
              </a:solidFill>
              <a:prstDash val="solid"/>
              <a:miter/>
              <a:headEnd type="none" w="sm" len="sm"/>
              <a:tailEnd type="triangle" w="sm" len="sm"/>
            </a:ln>
          </p:spPr>
        </p:sp>
      </p:grpSp>
      <p:sp>
        <p:nvSpPr>
          <p:cNvPr id="262157" name="Oval 13"/>
          <p:cNvSpPr/>
          <p:nvPr/>
        </p:nvSpPr>
        <p:spPr>
          <a:xfrm>
            <a:off x="6054725" y="4868863"/>
            <a:ext cx="215900" cy="217487"/>
          </a:xfrm>
          <a:prstGeom prst="ellipse">
            <a:avLst/>
          </a:prstGeom>
          <a:solidFill>
            <a:srgbClr val="FF99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262158" name="Text Box 14"/>
          <p:cNvSpPr txBox="1"/>
          <p:nvPr/>
        </p:nvSpPr>
        <p:spPr>
          <a:xfrm>
            <a:off x="5364163" y="4724400"/>
            <a:ext cx="647700" cy="576263"/>
          </a:xfrm>
          <a:prstGeom prst="rect">
            <a:avLst/>
          </a:prstGeom>
          <a:noFill/>
          <a:ln w="57150" cap="flat" cmpd="sng">
            <a:solidFill>
              <a:schemeClr val="accent1"/>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800">
                <a:latin typeface="黑体" pitchFamily="49" charset="-122"/>
                <a:ea typeface="黑体" pitchFamily="49" charset="-122"/>
              </a:rPr>
              <a:t>酶</a:t>
            </a:r>
            <a:r>
              <a:rPr lang="en-US" altLang="zh-CN" sz="2800">
                <a:latin typeface="黑体" pitchFamily="49" charset="-122"/>
                <a:ea typeface="黑体" pitchFamily="49" charset="-122"/>
              </a:rPr>
              <a:t>  </a:t>
            </a:r>
            <a:endParaRPr lang="en-US" altLang="zh-CN" sz="2800">
              <a:latin typeface="黑体" pitchFamily="49" charset="-122"/>
              <a:ea typeface="黑体" pitchFamily="49" charset="-122"/>
            </a:endParaRPr>
          </a:p>
        </p:txBody>
      </p:sp>
      <p:grpSp>
        <p:nvGrpSpPr>
          <p:cNvPr id="3" name="Group 15"/>
          <p:cNvGrpSpPr/>
          <p:nvPr/>
        </p:nvGrpSpPr>
        <p:grpSpPr>
          <a:xfrm flipH="1" flipV="1">
            <a:off x="2844800" y="4364038"/>
            <a:ext cx="2592388" cy="577850"/>
            <a:chOff x="3179" y="3994"/>
            <a:chExt cx="563" cy="272"/>
          </a:xfrm>
        </p:grpSpPr>
        <p:sp>
          <p:nvSpPr>
            <p:cNvPr id="34828" name="Arc 16"/>
            <p:cNvSpPr/>
            <p:nvPr/>
          </p:nvSpPr>
          <p:spPr>
            <a:xfrm flipH="1" flipV="1">
              <a:off x="3198" y="3994"/>
              <a:ext cx="544" cy="272"/>
            </a:xfrm>
            <a:custGeom>
              <a:avLst/>
              <a:gdLst>
                <a:gd name="txL" fmla="*/ 0 w 40171"/>
                <a:gd name="txT" fmla="*/ 0 h 21600"/>
                <a:gd name="txR" fmla="*/ 40171 w 40171"/>
                <a:gd name="txB" fmla="*/ 21600 h 21600"/>
              </a:gdLst>
              <a:ahLst/>
              <a:cxnLst>
                <a:cxn ang="0">
                  <a:pos x="0" y="0"/>
                </a:cxn>
                <a:cxn ang="0">
                  <a:pos x="0" y="0"/>
                </a:cxn>
                <a:cxn ang="0">
                  <a:pos x="0" y="0"/>
                </a:cxn>
              </a:cxnLst>
              <a:rect l="txL" t="txT" r="txR" b="txB"/>
              <a:pathLst>
                <a:path w="40171" h="21600" fill="none">
                  <a:moveTo>
                    <a:pt x="-1" y="13508"/>
                  </a:moveTo>
                  <a:cubicBezTo>
                    <a:pt x="3298" y="5344"/>
                    <a:pt x="11221" y="-1"/>
                    <a:pt x="20027" y="0"/>
                  </a:cubicBezTo>
                  <a:cubicBezTo>
                    <a:pt x="28947" y="0"/>
                    <a:pt x="36950" y="5483"/>
                    <a:pt x="40170" y="13803"/>
                  </a:cubicBezTo>
                </a:path>
                <a:path w="40171" h="21600" stroke="0">
                  <a:moveTo>
                    <a:pt x="-1" y="13508"/>
                  </a:moveTo>
                  <a:cubicBezTo>
                    <a:pt x="3298" y="5344"/>
                    <a:pt x="11221" y="-1"/>
                    <a:pt x="20027" y="0"/>
                  </a:cubicBezTo>
                  <a:cubicBezTo>
                    <a:pt x="28947" y="0"/>
                    <a:pt x="36950" y="5483"/>
                    <a:pt x="40170" y="13803"/>
                  </a:cubicBezTo>
                  <a:lnTo>
                    <a:pt x="20027" y="21600"/>
                  </a:lnTo>
                  <a:lnTo>
                    <a:pt x="-1" y="13508"/>
                  </a:lnTo>
                  <a:close/>
                </a:path>
              </a:pathLst>
            </a:custGeom>
            <a:noFill/>
            <a:ln w="28575" cap="flat" cmpd="sng">
              <a:solidFill>
                <a:schemeClr val="accent2">
                  <a:alpha val="100000"/>
                </a:schemeClr>
              </a:solidFill>
              <a:prstDash val="solid"/>
              <a:miter lim="800000"/>
              <a:headEnd type="none" w="sm" len="sm"/>
              <a:tailEnd type="none" w="sm" len="sm"/>
            </a:ln>
          </p:spPr>
          <p:txBody>
            <a:bodyPr/>
            <a:p>
              <a:endParaRPr lang="zh-CN" altLang="en-US"/>
            </a:p>
          </p:txBody>
        </p:sp>
        <p:sp>
          <p:nvSpPr>
            <p:cNvPr id="34829" name="Line 17"/>
            <p:cNvSpPr/>
            <p:nvPr/>
          </p:nvSpPr>
          <p:spPr>
            <a:xfrm flipH="1" flipV="1">
              <a:off x="3179" y="4074"/>
              <a:ext cx="91" cy="91"/>
            </a:xfrm>
            <a:prstGeom prst="line">
              <a:avLst/>
            </a:prstGeom>
            <a:ln w="28575" cap="flat" cmpd="sng">
              <a:solidFill>
                <a:schemeClr val="accent2"/>
              </a:solidFill>
              <a:prstDash val="solid"/>
              <a:miter/>
              <a:headEnd type="none" w="sm" len="sm"/>
              <a:tailEnd type="triangle" w="sm" len="sm"/>
            </a:ln>
          </p:spPr>
        </p:sp>
      </p:grpSp>
      <p:sp>
        <p:nvSpPr>
          <p:cNvPr id="262162" name="Text Box 18"/>
          <p:cNvSpPr txBox="1"/>
          <p:nvPr/>
        </p:nvSpPr>
        <p:spPr>
          <a:xfrm>
            <a:off x="3779838" y="3976688"/>
            <a:ext cx="720725" cy="379412"/>
          </a:xfrm>
          <a:prstGeom prst="rect">
            <a:avLst/>
          </a:prstGeom>
          <a:solidFill>
            <a:srgbClr val="D9EDEF"/>
          </a:solidFill>
          <a:ln w="12700" cap="flat" cmpd="sng">
            <a:solidFill>
              <a:schemeClr val="accent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PKA </a:t>
            </a:r>
            <a:endParaRPr lang="en-US" altLang="zh-CN" sz="1800" b="1"/>
          </a:p>
        </p:txBody>
      </p:sp>
      <p:sp>
        <p:nvSpPr>
          <p:cNvPr id="262163" name="Text Box 19"/>
          <p:cNvSpPr txBox="1"/>
          <p:nvPr/>
        </p:nvSpPr>
        <p:spPr>
          <a:xfrm>
            <a:off x="2339975" y="6092825"/>
            <a:ext cx="4681538"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修饰前后的酶活性不同 </a:t>
            </a:r>
            <a:endParaRPr lang="zh-CN" altLang="en-US" sz="2800" b="1">
              <a:latin typeface="楷体_GB2312" pitchFamily="49" charset="-122"/>
              <a:ea typeface="楷体_GB2312" pitchFamily="49" charset="-122"/>
            </a:endParaRPr>
          </a:p>
        </p:txBody>
      </p:sp>
      <p:sp>
        <p:nvSpPr>
          <p:cNvPr id="34827" name="Slide Number Placeholder 3"/>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2149">
                                            <p:txEl>
                                              <p:charRg st="0" end="22"/>
                                            </p:txEl>
                                          </p:spTgt>
                                        </p:tgtEl>
                                        <p:attrNameLst>
                                          <p:attrName>style.visibility</p:attrName>
                                        </p:attrNameLst>
                                      </p:cBhvr>
                                      <p:to>
                                        <p:strVal val="visible"/>
                                      </p:to>
                                    </p:set>
                                    <p:animEffect transition="in" filter="checkerboard(across)">
                                      <p:cBhvr>
                                        <p:cTn id="7" dur="500"/>
                                        <p:tgtEl>
                                          <p:spTgt spid="262149">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2152"/>
                                        </p:tgtEl>
                                        <p:attrNameLst>
                                          <p:attrName>style.visibility</p:attrName>
                                        </p:attrNameLst>
                                      </p:cBhvr>
                                      <p:to>
                                        <p:strVal val="visible"/>
                                      </p:to>
                                    </p:set>
                                    <p:animEffect transition="in" filter="checkerboard(across)">
                                      <p:cBhvr>
                                        <p:cTn id="12" dur="500"/>
                                        <p:tgtEl>
                                          <p:spTgt spid="262152"/>
                                        </p:tgtEl>
                                      </p:cBhvr>
                                    </p:animEffect>
                                  </p:childTnLst>
                                </p:cTn>
                              </p:par>
                              <p:par>
                                <p:cTn id="13" presetID="5"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heckerboard(across)">
                                      <p:cBhvr>
                                        <p:cTn id="15" dur="500"/>
                                        <p:tgtEl>
                                          <p:spTgt spid="3"/>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62162"/>
                                        </p:tgtEl>
                                        <p:attrNameLst>
                                          <p:attrName>style.visibility</p:attrName>
                                        </p:attrNameLst>
                                      </p:cBhvr>
                                      <p:to>
                                        <p:strVal val="visible"/>
                                      </p:to>
                                    </p:set>
                                    <p:animEffect transition="in" filter="checkerboard(across)">
                                      <p:cBhvr>
                                        <p:cTn id="18" dur="500"/>
                                        <p:tgtEl>
                                          <p:spTgt spid="262162"/>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262158"/>
                                        </p:tgtEl>
                                        <p:attrNameLst>
                                          <p:attrName>style.visibility</p:attrName>
                                        </p:attrNameLst>
                                      </p:cBhvr>
                                      <p:to>
                                        <p:strVal val="visible"/>
                                      </p:to>
                                    </p:set>
                                    <p:animEffect transition="in" filter="checkerboard(across)">
                                      <p:cBhvr>
                                        <p:cTn id="21" dur="500"/>
                                        <p:tgtEl>
                                          <p:spTgt spid="262158"/>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262157"/>
                                        </p:tgtEl>
                                        <p:attrNameLst>
                                          <p:attrName>style.visibility</p:attrName>
                                        </p:attrNameLst>
                                      </p:cBhvr>
                                      <p:to>
                                        <p:strVal val="visible"/>
                                      </p:to>
                                    </p:set>
                                    <p:animEffect transition="in" filter="checkerboard(across)">
                                      <p:cBhvr>
                                        <p:cTn id="24" dur="500"/>
                                        <p:tgtEl>
                                          <p:spTgt spid="262157"/>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checkerboard(across)">
                                      <p:cBhvr>
                                        <p:cTn id="29" dur="500"/>
                                        <p:tgtEl>
                                          <p:spTgt spid="2"/>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262150"/>
                                        </p:tgtEl>
                                        <p:attrNameLst>
                                          <p:attrName>style.visibility</p:attrName>
                                        </p:attrNameLst>
                                      </p:cBhvr>
                                      <p:to>
                                        <p:strVal val="visible"/>
                                      </p:to>
                                    </p:set>
                                    <p:animEffect transition="in" filter="checkerboard(across)">
                                      <p:cBhvr>
                                        <p:cTn id="32" dur="500"/>
                                        <p:tgtEl>
                                          <p:spTgt spid="262150"/>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2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50" grpId="0" animBg="1"/>
      <p:bldP spid="262152" grpId="0" animBg="1"/>
      <p:bldP spid="262157" grpId="0" animBg="1"/>
      <p:bldP spid="262158" grpId="0" animBg="1"/>
      <p:bldP spid="262162" grpId="0" animBg="1"/>
      <p:bldP spid="26216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17"/>
          <p:cNvSpPr/>
          <p:nvPr/>
        </p:nvSpPr>
        <p:spPr>
          <a:xfrm>
            <a:off x="4479925" y="4968875"/>
            <a:ext cx="184150" cy="822325"/>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400">
              <a:latin typeface="Times New Roman" panose="02020603050405020304" charset="0"/>
            </a:endParaRPr>
          </a:p>
          <a:p>
            <a:pPr marL="0" lvl="0" indent="0">
              <a:spcBef>
                <a:spcPct val="0"/>
              </a:spcBef>
              <a:buNone/>
            </a:pPr>
            <a:endParaRPr lang="zh-CN" altLang="en-US" sz="2400">
              <a:latin typeface="Times New Roman" panose="02020603050405020304" charset="0"/>
            </a:endParaRPr>
          </a:p>
        </p:txBody>
      </p:sp>
      <p:sp>
        <p:nvSpPr>
          <p:cNvPr id="35842" name="Rectangle 23"/>
          <p:cNvSpPr/>
          <p:nvPr/>
        </p:nvSpPr>
        <p:spPr>
          <a:xfrm>
            <a:off x="2411413" y="476250"/>
            <a:ext cx="4292600" cy="5191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黑体" pitchFamily="49" charset="-122"/>
                <a:ea typeface="黑体" pitchFamily="49" charset="-122"/>
              </a:rPr>
              <a:t>酶的别构调节</a:t>
            </a:r>
            <a:r>
              <a:rPr lang="en-US" altLang="zh-CN" sz="2800" b="1">
                <a:latin typeface="黑体" pitchFamily="49" charset="-122"/>
                <a:ea typeface="黑体" pitchFamily="49" charset="-122"/>
              </a:rPr>
              <a:t>:</a:t>
            </a:r>
            <a:r>
              <a:rPr lang="zh-CN" altLang="en-US" sz="2800" b="1">
                <a:latin typeface="黑体" pitchFamily="49" charset="-122"/>
                <a:ea typeface="黑体" pitchFamily="49" charset="-122"/>
              </a:rPr>
              <a:t>激活或抑制</a:t>
            </a:r>
            <a:endParaRPr lang="zh-CN" altLang="en-US" sz="2800" b="1">
              <a:latin typeface="黑体" pitchFamily="49" charset="-122"/>
              <a:ea typeface="黑体" pitchFamily="49" charset="-122"/>
            </a:endParaRPr>
          </a:p>
        </p:txBody>
      </p:sp>
      <p:sp>
        <p:nvSpPr>
          <p:cNvPr id="35843" name="Rectangle 25"/>
          <p:cNvSpPr/>
          <p:nvPr/>
        </p:nvSpPr>
        <p:spPr>
          <a:xfrm>
            <a:off x="900113" y="1196975"/>
            <a:ext cx="7704137" cy="222726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rgbClr val="A50021"/>
                </a:solidFill>
                <a:latin typeface="黑体" pitchFamily="49" charset="-122"/>
                <a:ea typeface="黑体" pitchFamily="49" charset="-122"/>
              </a:rPr>
              <a:t>酶的别构调节</a:t>
            </a:r>
            <a:r>
              <a:rPr lang="en-US" altLang="zh-CN" sz="2800" b="1">
                <a:latin typeface="楷体_GB2312" pitchFamily="49" charset="-122"/>
                <a:ea typeface="宋体" pitchFamily="2" charset="-122"/>
              </a:rPr>
              <a:t>: </a:t>
            </a:r>
            <a:r>
              <a:rPr lang="zh-CN" altLang="en-US" sz="2800" b="1">
                <a:latin typeface="楷体_GB2312" pitchFamily="49" charset="-122"/>
                <a:ea typeface="楷体_GB2312" pitchFamily="49" charset="-122"/>
              </a:rPr>
              <a:t>酶分子中存在活性中心（催化亚基）和别构中心（调节亚基）</a:t>
            </a:r>
            <a:r>
              <a:rPr lang="en-US" altLang="zh-CN" sz="2800" b="1">
                <a:latin typeface="楷体_GB2312" pitchFamily="49" charset="-122"/>
                <a:ea typeface="宋体" pitchFamily="2" charset="-122"/>
              </a:rPr>
              <a:t>, </a:t>
            </a:r>
            <a:r>
              <a:rPr lang="zh-CN" altLang="en-US" sz="2800" b="1">
                <a:latin typeface="楷体_GB2312" pitchFamily="49" charset="-122"/>
                <a:ea typeface="楷体_GB2312" pitchFamily="49" charset="-122"/>
              </a:rPr>
              <a:t>当调节物分子结合于别构中心时</a:t>
            </a:r>
            <a:r>
              <a:rPr lang="en-US" altLang="zh-CN" sz="2800" b="1">
                <a:latin typeface="楷体_GB2312" pitchFamily="49" charset="-122"/>
                <a:ea typeface="宋体" pitchFamily="2" charset="-122"/>
              </a:rPr>
              <a:t>,</a:t>
            </a:r>
            <a:r>
              <a:rPr lang="zh-CN" altLang="en-US" sz="2800" b="1">
                <a:latin typeface="楷体_GB2312" pitchFamily="49" charset="-122"/>
                <a:ea typeface="楷体_GB2312" pitchFamily="49" charset="-122"/>
              </a:rPr>
              <a:t>引起酶的构象发生改变</a:t>
            </a:r>
            <a:r>
              <a:rPr lang="en-US" altLang="zh-CN" sz="2800" b="1">
                <a:latin typeface="楷体_GB2312" pitchFamily="49" charset="-122"/>
                <a:ea typeface="宋体" pitchFamily="2" charset="-122"/>
              </a:rPr>
              <a:t>, </a:t>
            </a:r>
            <a:r>
              <a:rPr lang="zh-CN" altLang="en-US" sz="2800" b="1">
                <a:latin typeface="楷体_GB2312" pitchFamily="49" charset="-122"/>
                <a:ea typeface="楷体_GB2312" pitchFamily="49" charset="-122"/>
              </a:rPr>
              <a:t>从而导致酶的活性相应改变</a:t>
            </a:r>
            <a:r>
              <a:rPr lang="en-US" altLang="zh-CN" sz="2800" b="1">
                <a:latin typeface="楷体_GB2312" pitchFamily="49" charset="-122"/>
                <a:ea typeface="宋体" pitchFamily="2" charset="-122"/>
              </a:rPr>
              <a:t>.</a:t>
            </a:r>
            <a:r>
              <a:rPr lang="zh-CN" altLang="en-US" sz="2800" b="1">
                <a:latin typeface="楷体_GB2312" pitchFamily="49" charset="-122"/>
                <a:ea typeface="楷体_GB2312" pitchFamily="49" charset="-122"/>
              </a:rPr>
              <a:t>这种酶活调节方式称为</a:t>
            </a:r>
            <a:r>
              <a:rPr lang="zh-CN" altLang="en-US" sz="2800" b="1">
                <a:solidFill>
                  <a:srgbClr val="A50021"/>
                </a:solidFill>
                <a:latin typeface="黑体" pitchFamily="49" charset="-122"/>
                <a:ea typeface="黑体" pitchFamily="49" charset="-122"/>
              </a:rPr>
              <a:t>酶的别构调节</a:t>
            </a:r>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116769" name="Rectangle 33"/>
          <p:cNvSpPr/>
          <p:nvPr/>
        </p:nvSpPr>
        <p:spPr>
          <a:xfrm>
            <a:off x="900113" y="3644900"/>
            <a:ext cx="7704137" cy="2014538"/>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与别构中心特异性结合引起酶构象改变和酶活性改变的调节物质称为</a:t>
            </a:r>
            <a:r>
              <a:rPr lang="zh-CN" altLang="en-US" sz="2800" b="1">
                <a:solidFill>
                  <a:srgbClr val="CC0000"/>
                </a:solidFill>
                <a:latin typeface="楷体_GB2312" pitchFamily="49" charset="-122"/>
                <a:ea typeface="楷体_GB2312" pitchFamily="49" charset="-122"/>
              </a:rPr>
              <a:t>别构效应物</a:t>
            </a:r>
            <a:r>
              <a:rPr lang="zh-CN" altLang="en-US" sz="2800" b="1">
                <a:latin typeface="楷体_GB2312" pitchFamily="49" charset="-122"/>
                <a:ea typeface="楷体_GB2312" pitchFamily="49" charset="-122"/>
              </a:rPr>
              <a:t>；具有别构调节机制的酶成为</a:t>
            </a:r>
            <a:r>
              <a:rPr lang="zh-CN" altLang="en-US" sz="2800" b="1">
                <a:solidFill>
                  <a:srgbClr val="CC0000"/>
                </a:solidFill>
                <a:latin typeface="楷体_GB2312" pitchFamily="49" charset="-122"/>
                <a:ea typeface="楷体_GB2312" pitchFamily="49" charset="-122"/>
              </a:rPr>
              <a:t>别构酶</a:t>
            </a:r>
            <a:r>
              <a:rPr lang="en-US" altLang="zh-CN" sz="2800" b="1">
                <a:latin typeface="楷体_GB2312" pitchFamily="49" charset="-122"/>
                <a:ea typeface="宋体" pitchFamily="2" charset="-122"/>
              </a:rPr>
              <a:t>. </a:t>
            </a:r>
            <a:endParaRPr lang="en-US" altLang="zh-CN" sz="2800" b="1">
              <a:latin typeface="楷体_GB2312" pitchFamily="49" charset="-122"/>
              <a:ea typeface="宋体" pitchFamily="2" charset="-122"/>
            </a:endParaRPr>
          </a:p>
          <a:p>
            <a:pPr marL="0" lvl="0" indent="0" eaLnBrk="1" hangingPunct="1">
              <a:spcBef>
                <a:spcPct val="50000"/>
              </a:spcBef>
              <a:buNone/>
            </a:pPr>
            <a:r>
              <a:rPr lang="zh-CN" altLang="en-US" sz="2800" b="1">
                <a:latin typeface="楷体_GB2312" pitchFamily="49" charset="-122"/>
                <a:ea typeface="楷体_GB2312" pitchFamily="49" charset="-122"/>
              </a:rPr>
              <a:t>别构调节与共价修饰调节均属于酶的快速调节。</a:t>
            </a:r>
            <a:endParaRPr lang="en-US" altLang="zh-CN" sz="2800" b="1">
              <a:latin typeface="楷体_GB2312" pitchFamily="49" charset="-122"/>
              <a:ea typeface="宋体" pitchFamily="2" charset="-122"/>
            </a:endParaRPr>
          </a:p>
        </p:txBody>
      </p:sp>
      <p:sp>
        <p:nvSpPr>
          <p:cNvPr id="3584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6769">
                                            <p:txEl>
                                              <p:charRg st="0" end="54"/>
                                            </p:txEl>
                                          </p:spTgt>
                                        </p:tgtEl>
                                        <p:attrNameLst>
                                          <p:attrName>style.visibility</p:attrName>
                                        </p:attrNameLst>
                                      </p:cBhvr>
                                      <p:to>
                                        <p:strVal val="visible"/>
                                      </p:to>
                                    </p:set>
                                    <p:animEffect transition="in" filter="checkerboard(across)">
                                      <p:cBhvr>
                                        <p:cTn id="7" dur="500"/>
                                        <p:tgtEl>
                                          <p:spTgt spid="116769">
                                            <p:txEl>
                                              <p:charRg st="0"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16769">
                                            <p:txEl>
                                              <p:charRg st="54" end="76"/>
                                            </p:txEl>
                                          </p:spTgt>
                                        </p:tgtEl>
                                        <p:attrNameLst>
                                          <p:attrName>style.visibility</p:attrName>
                                        </p:attrNameLst>
                                      </p:cBhvr>
                                      <p:to>
                                        <p:strVal val="visible"/>
                                      </p:to>
                                    </p:set>
                                    <p:anim calcmode="lin" valueType="num">
                                      <p:cBhvr>
                                        <p:cTn id="12" dur="2000" fill="hold"/>
                                        <p:tgtEl>
                                          <p:spTgt spid="116769">
                                            <p:txEl>
                                              <p:charRg st="54" end="76"/>
                                            </p:txEl>
                                          </p:spTgt>
                                        </p:tgtEl>
                                        <p:attrNameLst>
                                          <p:attrName>ppt_w</p:attrName>
                                        </p:attrNameLst>
                                      </p:cBhvr>
                                      <p:tavLst>
                                        <p:tav tm="0">
                                          <p:val>
                                            <p:fltVal val="0.000000"/>
                                          </p:val>
                                        </p:tav>
                                        <p:tav tm="100000">
                                          <p:val>
                                            <p:strVal val="#ppt_w"/>
                                          </p:val>
                                        </p:tav>
                                      </p:tavLst>
                                    </p:anim>
                                    <p:anim calcmode="lin" valueType="num">
                                      <p:cBhvr>
                                        <p:cTn id="13" dur="2000" fill="hold"/>
                                        <p:tgtEl>
                                          <p:spTgt spid="116769">
                                            <p:txEl>
                                              <p:charRg st="54" end="76"/>
                                            </p:txEl>
                                          </p:spTgt>
                                        </p:tgtEl>
                                        <p:attrNameLst>
                                          <p:attrName>ppt_h</p:attrName>
                                        </p:attrNameLst>
                                      </p:cBhvr>
                                      <p:tavLst>
                                        <p:tav tm="0">
                                          <p:val>
                                            <p:fltVal val="0.000000"/>
                                          </p:val>
                                        </p:tav>
                                        <p:tav tm="100000">
                                          <p:val>
                                            <p:strVal val="#ppt_h"/>
                                          </p:val>
                                        </p:tav>
                                      </p:tavLst>
                                    </p:anim>
                                    <p:animEffect transition="in" filter="fade">
                                      <p:cBhvr>
                                        <p:cTn id="14" dur="2000"/>
                                        <p:tgtEl>
                                          <p:spTgt spid="116769">
                                            <p:txEl>
                                              <p:charRg st="54"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5" name="Text Box 5"/>
          <p:cNvSpPr txBox="1"/>
          <p:nvPr/>
        </p:nvSpPr>
        <p:spPr>
          <a:xfrm>
            <a:off x="827088" y="3284538"/>
            <a:ext cx="7561262" cy="1373187"/>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rgbClr val="CC0000"/>
                </a:solidFill>
                <a:latin typeface="楷体_GB2312" pitchFamily="49" charset="-122"/>
                <a:ea typeface="楷体_GB2312" pitchFamily="49" charset="-122"/>
              </a:rPr>
              <a:t>酶的别构抑制</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酶分子与其底物有较高亲和性</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与效应物结合后</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引起酶构象发生改变</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 失去与底物的亲和力</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导致酶活性降低或丧失</a:t>
            </a:r>
            <a:r>
              <a:rPr lang="en-US" altLang="zh-CN" sz="2800" b="1">
                <a:latin typeface="楷体_GB2312" pitchFamily="49" charset="-122"/>
                <a:ea typeface="楷体_GB2312" pitchFamily="49" charset="-122"/>
              </a:rPr>
              <a:t>.</a:t>
            </a:r>
            <a:endParaRPr lang="en-US" altLang="zh-CN" sz="2800" b="1">
              <a:latin typeface="楷体_GB2312" pitchFamily="49" charset="-122"/>
              <a:ea typeface="楷体_GB2312" pitchFamily="49" charset="-122"/>
            </a:endParaRPr>
          </a:p>
        </p:txBody>
      </p:sp>
      <p:sp>
        <p:nvSpPr>
          <p:cNvPr id="240646" name="Rectangle 6"/>
          <p:cNvSpPr/>
          <p:nvPr/>
        </p:nvSpPr>
        <p:spPr>
          <a:xfrm>
            <a:off x="827088" y="4797425"/>
            <a:ext cx="7561262" cy="1373188"/>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chemeClr val="hlink"/>
                </a:solidFill>
                <a:latin typeface="楷体_GB2312" pitchFamily="49" charset="-122"/>
                <a:ea typeface="楷体_GB2312" pitchFamily="49" charset="-122"/>
              </a:rPr>
              <a:t>酶的别构激活</a:t>
            </a:r>
            <a:r>
              <a:rPr lang="en-US" altLang="zh-CN" sz="2800" b="1">
                <a:solidFill>
                  <a:schemeClr val="hlink"/>
                </a:solidFill>
                <a:latin typeface="楷体_GB2312" pitchFamily="49" charset="-122"/>
                <a:ea typeface="楷体_GB2312" pitchFamily="49" charset="-122"/>
              </a:rPr>
              <a:t>:</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酶分子与底物亲和力低</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与效应物结合后</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引起酶构象发生改变</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导致酶对底物的亲和力大大提高</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增加酶催化活性</a:t>
            </a:r>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pic>
        <p:nvPicPr>
          <p:cNvPr id="240648" name="Picture 8" descr="nchembio"/>
          <p:cNvPicPr>
            <a:picLocks noChangeAspect="1"/>
          </p:cNvPicPr>
          <p:nvPr/>
        </p:nvPicPr>
        <p:blipFill>
          <a:blip r:embed="rId1"/>
          <a:srcRect t="31924" r="51927" b="33711"/>
          <a:stretch>
            <a:fillRect/>
          </a:stretch>
        </p:blipFill>
        <p:spPr>
          <a:xfrm>
            <a:off x="468313" y="908050"/>
            <a:ext cx="4032250" cy="1971675"/>
          </a:xfrm>
          <a:prstGeom prst="rect">
            <a:avLst/>
          </a:prstGeom>
          <a:noFill/>
          <a:ln w="38100" cap="flat" cmpd="sng">
            <a:solidFill>
              <a:srgbClr val="CC0000"/>
            </a:solidFill>
            <a:prstDash val="solid"/>
            <a:miter/>
            <a:headEnd type="none" w="med" len="med"/>
            <a:tailEnd type="none" w="med" len="med"/>
          </a:ln>
        </p:spPr>
      </p:pic>
      <p:pic>
        <p:nvPicPr>
          <p:cNvPr id="240650" name="Picture 10" descr="nchembio"/>
          <p:cNvPicPr>
            <a:picLocks noChangeAspect="1"/>
          </p:cNvPicPr>
          <p:nvPr/>
        </p:nvPicPr>
        <p:blipFill>
          <a:blip r:embed="rId1"/>
          <a:srcRect t="66289" r="51927"/>
          <a:stretch>
            <a:fillRect/>
          </a:stretch>
        </p:blipFill>
        <p:spPr>
          <a:xfrm>
            <a:off x="4643438" y="908050"/>
            <a:ext cx="4032250" cy="2016125"/>
          </a:xfrm>
          <a:prstGeom prst="rect">
            <a:avLst/>
          </a:prstGeom>
          <a:noFill/>
          <a:ln w="38100" cap="flat" cmpd="sng">
            <a:solidFill>
              <a:schemeClr val="hlink"/>
            </a:solidFill>
            <a:prstDash val="solid"/>
            <a:miter/>
            <a:headEnd type="none" w="med" len="med"/>
            <a:tailEnd type="none" w="med" len="med"/>
          </a:ln>
        </p:spPr>
      </p:pic>
      <p:sp>
        <p:nvSpPr>
          <p:cNvPr id="240652" name="Text Box 12"/>
          <p:cNvSpPr txBox="1"/>
          <p:nvPr/>
        </p:nvSpPr>
        <p:spPr>
          <a:xfrm>
            <a:off x="4643438" y="908050"/>
            <a:ext cx="1512887"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hlink"/>
                </a:solidFill>
                <a:ea typeface="黑体" pitchFamily="49" charset="-122"/>
              </a:rPr>
              <a:t>别构激活</a:t>
            </a:r>
            <a:endParaRPr lang="zh-CN" altLang="en-US" sz="2400" b="1">
              <a:solidFill>
                <a:schemeClr val="hlink"/>
              </a:solidFill>
              <a:ea typeface="黑体" pitchFamily="49" charset="-122"/>
            </a:endParaRPr>
          </a:p>
        </p:txBody>
      </p:sp>
      <p:sp>
        <p:nvSpPr>
          <p:cNvPr id="36870" name="Text Box 13"/>
          <p:cNvSpPr txBox="1"/>
          <p:nvPr/>
        </p:nvSpPr>
        <p:spPr>
          <a:xfrm>
            <a:off x="468313" y="923925"/>
            <a:ext cx="1512887"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CC0000"/>
                </a:solidFill>
                <a:ea typeface="黑体" pitchFamily="49" charset="-122"/>
              </a:rPr>
              <a:t>别构抑制</a:t>
            </a:r>
            <a:endParaRPr lang="zh-CN" altLang="en-US" sz="2400" b="1">
              <a:solidFill>
                <a:srgbClr val="CC0000"/>
              </a:solidFill>
              <a:ea typeface="黑体" pitchFamily="49" charset="-122"/>
            </a:endParaRPr>
          </a:p>
        </p:txBody>
      </p:sp>
      <p:sp>
        <p:nvSpPr>
          <p:cNvPr id="36871" name="Text Box 14"/>
          <p:cNvSpPr txBox="1"/>
          <p:nvPr/>
        </p:nvSpPr>
        <p:spPr>
          <a:xfrm>
            <a:off x="2197100" y="1023938"/>
            <a:ext cx="1873250"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FF9900"/>
                </a:solidFill>
                <a:ea typeface="楷体_GB2312" pitchFamily="49" charset="-122"/>
              </a:rPr>
              <a:t>别构抑制剂</a:t>
            </a:r>
            <a:endParaRPr lang="zh-CN" altLang="en-US" sz="2400" b="1">
              <a:solidFill>
                <a:srgbClr val="FF9900"/>
              </a:solidFill>
              <a:ea typeface="楷体_GB2312" pitchFamily="49" charset="-122"/>
            </a:endParaRPr>
          </a:p>
        </p:txBody>
      </p:sp>
      <p:sp>
        <p:nvSpPr>
          <p:cNvPr id="240655" name="Text Box 15"/>
          <p:cNvSpPr txBox="1"/>
          <p:nvPr/>
        </p:nvSpPr>
        <p:spPr>
          <a:xfrm>
            <a:off x="6372225" y="981075"/>
            <a:ext cx="1873250"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FF9900"/>
                </a:solidFill>
                <a:ea typeface="楷体_GB2312" pitchFamily="49" charset="-122"/>
              </a:rPr>
              <a:t>别构激活剂</a:t>
            </a:r>
            <a:endParaRPr lang="zh-CN" altLang="en-US" sz="2400" b="1">
              <a:solidFill>
                <a:srgbClr val="FF9900"/>
              </a:solidFill>
              <a:ea typeface="楷体_GB2312" pitchFamily="49" charset="-122"/>
            </a:endParaRPr>
          </a:p>
        </p:txBody>
      </p:sp>
      <p:sp>
        <p:nvSpPr>
          <p:cNvPr id="36873" name="Line 16"/>
          <p:cNvSpPr/>
          <p:nvPr/>
        </p:nvSpPr>
        <p:spPr>
          <a:xfrm flipH="1">
            <a:off x="8316913" y="1700213"/>
            <a:ext cx="287337" cy="288925"/>
          </a:xfrm>
          <a:prstGeom prst="line">
            <a:avLst/>
          </a:prstGeom>
          <a:ln w="38100" cap="flat" cmpd="sng">
            <a:solidFill>
              <a:schemeClr val="tx1"/>
            </a:solidFill>
            <a:prstDash val="solid"/>
            <a:miter/>
            <a:headEnd type="none" w="sm" len="sm"/>
            <a:tailEnd type="triangle" w="sm" len="sm"/>
          </a:ln>
        </p:spPr>
      </p:sp>
      <p:sp>
        <p:nvSpPr>
          <p:cNvPr id="36874" name="Line 17"/>
          <p:cNvSpPr/>
          <p:nvPr/>
        </p:nvSpPr>
        <p:spPr>
          <a:xfrm flipH="1">
            <a:off x="4067175" y="1916113"/>
            <a:ext cx="287338" cy="288925"/>
          </a:xfrm>
          <a:prstGeom prst="line">
            <a:avLst/>
          </a:prstGeom>
          <a:ln w="38100" cap="flat" cmpd="sng">
            <a:solidFill>
              <a:schemeClr val="tx1"/>
            </a:solidFill>
            <a:prstDash val="solid"/>
            <a:miter/>
            <a:headEnd type="none" w="sm" len="sm"/>
            <a:tailEnd type="triangle" w="sm" len="sm"/>
          </a:ln>
        </p:spPr>
      </p:sp>
      <p:sp>
        <p:nvSpPr>
          <p:cNvPr id="36875" name="AutoShape 18"/>
          <p:cNvSpPr/>
          <p:nvPr/>
        </p:nvSpPr>
        <p:spPr>
          <a:xfrm>
            <a:off x="4140200" y="1916113"/>
            <a:ext cx="215900" cy="215900"/>
          </a:xfrm>
          <a:custGeom>
            <a:avLst/>
            <a:gdLst>
              <a:gd name="txL" fmla="*/ 3163 w 21600"/>
              <a:gd name="txT" fmla="*/ 3163 h 21600"/>
              <a:gd name="txR" fmla="*/ 18437 w 21600"/>
              <a:gd name="txB" fmla="*/ 18437 h 21600"/>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CC0000">
              <a:alpha val="100000"/>
            </a:srgbClr>
          </a:solidFill>
          <a:ln w="12700" cap="flat" cmpd="sng">
            <a:solidFill>
              <a:srgbClr val="A50021">
                <a:alpha val="100000"/>
              </a:srgbClr>
            </a:solidFill>
            <a:prstDash val="solid"/>
            <a:miter lim="800000"/>
            <a:headEnd type="none" w="sm" len="sm"/>
            <a:tailEnd type="none" w="sm" len="sm"/>
          </a:ln>
        </p:spPr>
        <p:txBody>
          <a:bodyPr/>
          <a:p>
            <a:endParaRPr lang="zh-CN" altLang="en-US"/>
          </a:p>
        </p:txBody>
      </p:sp>
      <p:sp>
        <p:nvSpPr>
          <p:cNvPr id="3687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6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240645"/>
                                        </p:tgtEl>
                                        <p:attrNameLst>
                                          <p:attrName>style.visibility</p:attrName>
                                        </p:attrNameLst>
                                      </p:cBhvr>
                                      <p:to>
                                        <p:strVal val="visible"/>
                                      </p:to>
                                    </p:set>
                                    <p:animEffect transition="in" filter="checkerboard(across)">
                                      <p:cBhvr>
                                        <p:cTn id="11" dur="500"/>
                                        <p:tgtEl>
                                          <p:spTgt spid="24064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406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4065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240652"/>
                                        </p:tgtEl>
                                        <p:attrNameLst>
                                          <p:attrName>style.visibility</p:attrName>
                                        </p:attrNameLst>
                                      </p:cBhvr>
                                      <p:to>
                                        <p:strVal val="visible"/>
                                      </p:to>
                                    </p:set>
                                    <p:animEffect transition="in" filter="checkerboard(across)">
                                      <p:cBhvr>
                                        <p:cTn id="24" dur="500"/>
                                        <p:tgtEl>
                                          <p:spTgt spid="240652"/>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240646"/>
                                        </p:tgtEl>
                                        <p:attrNameLst>
                                          <p:attrName>style.visibility</p:attrName>
                                        </p:attrNameLst>
                                      </p:cBhvr>
                                      <p:to>
                                        <p:strVal val="visible"/>
                                      </p:to>
                                    </p:set>
                                    <p:animEffect transition="in" filter="checkerboard(across)">
                                      <p:cBhvr>
                                        <p:cTn id="27" dur="500"/>
                                        <p:tgtEl>
                                          <p:spTgt spid="240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5" grpId="0"/>
      <p:bldP spid="240646" grpId="0"/>
      <p:bldP spid="240652" grpId="0" animBg="1"/>
      <p:bldP spid="24065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6"/>
          <p:cNvSpPr/>
          <p:nvPr/>
        </p:nvSpPr>
        <p:spPr>
          <a:xfrm>
            <a:off x="684213" y="5013325"/>
            <a:ext cx="8064500" cy="15525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latin typeface="楷体_GB2312" pitchFamily="49" charset="-122"/>
                <a:ea typeface="楷体_GB2312" pitchFamily="49" charset="-122"/>
              </a:rPr>
              <a:t>激素激活的</a:t>
            </a:r>
            <a:r>
              <a:rPr lang="zh-CN" altLang="en-US" sz="2400" b="1" u="sng">
                <a:latin typeface="楷体_GB2312" pitchFamily="49" charset="-122"/>
                <a:ea typeface="楷体_GB2312" pitchFamily="49" charset="-122"/>
              </a:rPr>
              <a:t>蛋白激酶</a:t>
            </a:r>
            <a:r>
              <a:rPr lang="en-US" altLang="zh-CN" sz="2400" b="1" u="sng">
                <a:latin typeface="楷体_GB2312" pitchFamily="49" charset="-122"/>
                <a:ea typeface="楷体_GB2312" pitchFamily="49" charset="-122"/>
              </a:rPr>
              <a:t>A</a:t>
            </a:r>
            <a:r>
              <a:rPr lang="zh-CN" altLang="en-US" sz="2400" b="1">
                <a:latin typeface="楷体_GB2312" pitchFamily="49" charset="-122"/>
                <a:ea typeface="楷体_GB2312" pitchFamily="49" charset="-122"/>
              </a:rPr>
              <a:t>使</a:t>
            </a:r>
            <a:r>
              <a:rPr lang="zh-CN" altLang="en-US" sz="2400" b="1" u="sng">
                <a:solidFill>
                  <a:srgbClr val="009900"/>
                </a:solidFill>
                <a:latin typeface="楷体_GB2312" pitchFamily="49" charset="-122"/>
                <a:ea typeface="楷体_GB2312" pitchFamily="49" charset="-122"/>
              </a:rPr>
              <a:t>糖原磷酸化酶激酶</a:t>
            </a:r>
            <a:r>
              <a:rPr lang="zh-CN" altLang="en-US" sz="2400" b="1">
                <a:latin typeface="楷体_GB2312" pitchFamily="49" charset="-122"/>
                <a:ea typeface="楷体_GB2312" pitchFamily="49" charset="-122"/>
              </a:rPr>
              <a:t>的</a:t>
            </a:r>
            <a:r>
              <a:rPr lang="zh-CN" altLang="en-US" sz="2400" b="1">
                <a:latin typeface="楷体_GB2312" pitchFamily="49" charset="-122"/>
                <a:ea typeface="楷体_GB2312" pitchFamily="49" charset="-122"/>
                <a:sym typeface="Symbol" pitchFamily="18" charset="2"/>
              </a:rPr>
              <a:t>－亚基发生</a:t>
            </a:r>
            <a:r>
              <a:rPr lang="en-US" altLang="zh-CN" sz="2400" b="1">
                <a:latin typeface="楷体_GB2312" pitchFamily="49" charset="-122"/>
                <a:ea typeface="楷体_GB2312" pitchFamily="49" charset="-122"/>
                <a:sym typeface="Symbol" pitchFamily="18" charset="2"/>
              </a:rPr>
              <a:t>P </a:t>
            </a:r>
            <a:r>
              <a:rPr lang="zh-CN" altLang="en-US" sz="2400" b="1">
                <a:latin typeface="楷体_GB2312" pitchFamily="49" charset="-122"/>
                <a:ea typeface="楷体_GB2312" pitchFamily="49" charset="-122"/>
                <a:sym typeface="Symbol" pitchFamily="18" charset="2"/>
              </a:rPr>
              <a:t>化，同时，</a:t>
            </a:r>
            <a:r>
              <a:rPr lang="en-US" altLang="zh-CN" sz="2400" b="1">
                <a:latin typeface="楷体_GB2312" pitchFamily="49" charset="-122"/>
                <a:ea typeface="楷体_GB2312" pitchFamily="49" charset="-122"/>
                <a:sym typeface="Symbol" pitchFamily="18" charset="2"/>
              </a:rPr>
              <a:t>Ca</a:t>
            </a:r>
            <a:r>
              <a:rPr lang="zh-CN" altLang="en-US" sz="2400" b="1" baseline="30000">
                <a:latin typeface="楷体_GB2312" pitchFamily="49" charset="-122"/>
                <a:ea typeface="楷体_GB2312" pitchFamily="49" charset="-122"/>
                <a:sym typeface="Symbol" pitchFamily="18" charset="2"/>
              </a:rPr>
              <a:t>＋＋</a:t>
            </a:r>
            <a:r>
              <a:rPr lang="zh-CN" altLang="en-US" sz="2400" b="1">
                <a:latin typeface="楷体_GB2312" pitchFamily="49" charset="-122"/>
                <a:ea typeface="楷体_GB2312" pitchFamily="49" charset="-122"/>
                <a:sym typeface="Symbol" pitchFamily="18" charset="2"/>
              </a:rPr>
              <a:t> 结合于其</a:t>
            </a:r>
            <a:r>
              <a:rPr lang="en-US" altLang="zh-CN" sz="2400" b="1">
                <a:latin typeface="楷体_GB2312" pitchFamily="49" charset="-122"/>
                <a:ea typeface="楷体_GB2312" pitchFamily="49" charset="-122"/>
              </a:rPr>
              <a:t>δ</a:t>
            </a:r>
            <a:r>
              <a:rPr lang="zh-CN" altLang="en-US" sz="2400" b="1">
                <a:latin typeface="楷体_GB2312" pitchFamily="49" charset="-122"/>
                <a:ea typeface="楷体_GB2312" pitchFamily="49" charset="-122"/>
              </a:rPr>
              <a:t>亚基，双重作用，使得</a:t>
            </a:r>
            <a:r>
              <a:rPr lang="zh-CN" altLang="en-US" sz="2400" b="1" u="sng">
                <a:solidFill>
                  <a:srgbClr val="009900"/>
                </a:solidFill>
                <a:latin typeface="楷体_GB2312" pitchFamily="49" charset="-122"/>
                <a:ea typeface="楷体_GB2312" pitchFamily="49" charset="-122"/>
              </a:rPr>
              <a:t>糖原磷酸化酶激酶</a:t>
            </a:r>
            <a:r>
              <a:rPr lang="zh-CN" altLang="en-US" sz="2400" b="1">
                <a:latin typeface="楷体_GB2312" pitchFamily="49" charset="-122"/>
                <a:ea typeface="楷体_GB2312" pitchFamily="49" charset="-122"/>
              </a:rPr>
              <a:t>具有完全的催化活性，促使</a:t>
            </a:r>
            <a:r>
              <a:rPr lang="zh-CN" altLang="en-US" sz="2400" b="1" u="sng">
                <a:solidFill>
                  <a:srgbClr val="CC0000"/>
                </a:solidFill>
                <a:latin typeface="楷体_GB2312" pitchFamily="49" charset="-122"/>
                <a:ea typeface="楷体_GB2312" pitchFamily="49" charset="-122"/>
              </a:rPr>
              <a:t>糖原磷酸化酶</a:t>
            </a:r>
            <a:r>
              <a:rPr lang="en-US" altLang="zh-CN" sz="2400" b="1" u="sng">
                <a:solidFill>
                  <a:srgbClr val="CC0000"/>
                </a:solidFill>
                <a:latin typeface="楷体_GB2312" pitchFamily="49" charset="-122"/>
                <a:ea typeface="楷体_GB2312" pitchFamily="49" charset="-122"/>
              </a:rPr>
              <a:t>b</a:t>
            </a:r>
            <a:r>
              <a:rPr lang="zh-CN" altLang="en-US" sz="2400" b="1">
                <a:latin typeface="楷体_GB2312" pitchFamily="49" charset="-122"/>
                <a:ea typeface="楷体_GB2312" pitchFamily="49" charset="-122"/>
              </a:rPr>
              <a:t>发生</a:t>
            </a:r>
            <a:r>
              <a:rPr lang="en-US" altLang="zh-CN" sz="2400" b="1">
                <a:latin typeface="楷体_GB2312" pitchFamily="49" charset="-122"/>
                <a:ea typeface="楷体_GB2312" pitchFamily="49" charset="-122"/>
              </a:rPr>
              <a:t>P</a:t>
            </a:r>
            <a:r>
              <a:rPr lang="zh-CN" altLang="en-US" sz="2400" b="1">
                <a:latin typeface="楷体_GB2312" pitchFamily="49" charset="-122"/>
                <a:ea typeface="楷体_GB2312" pitchFamily="49" charset="-122"/>
              </a:rPr>
              <a:t>化，成为有活性的</a:t>
            </a:r>
            <a:r>
              <a:rPr lang="zh-CN" altLang="en-US" sz="2400" b="1" u="sng">
                <a:solidFill>
                  <a:schemeClr val="hlink"/>
                </a:solidFill>
                <a:latin typeface="楷体_GB2312" pitchFamily="49" charset="-122"/>
                <a:ea typeface="楷体_GB2312" pitchFamily="49" charset="-122"/>
              </a:rPr>
              <a:t>糖原磷酸化酶</a:t>
            </a:r>
            <a:r>
              <a:rPr lang="en-US" altLang="zh-CN" sz="2400" b="1" u="sng">
                <a:solidFill>
                  <a:schemeClr val="hlink"/>
                </a:solidFill>
                <a:latin typeface="楷体_GB2312" pitchFamily="49" charset="-122"/>
                <a:ea typeface="楷体_GB2312" pitchFamily="49" charset="-122"/>
              </a:rPr>
              <a:t>a</a:t>
            </a:r>
            <a:r>
              <a:rPr lang="zh-CN" altLang="en-US" sz="2400" b="1">
                <a:latin typeface="楷体_GB2312" pitchFamily="49" charset="-122"/>
                <a:ea typeface="楷体_GB2312" pitchFamily="49" charset="-122"/>
              </a:rPr>
              <a:t>，</a:t>
            </a:r>
            <a:r>
              <a:rPr lang="zh-CN" altLang="en-US" sz="2400" b="1">
                <a:latin typeface="楷体_GB2312" pitchFamily="49" charset="-122"/>
                <a:ea typeface="楷体_GB2312" pitchFamily="49" charset="-122"/>
                <a:sym typeface="Symbol" pitchFamily="18" charset="2"/>
              </a:rPr>
              <a:t> </a:t>
            </a:r>
            <a:r>
              <a:rPr lang="zh-CN" altLang="en-US" sz="2400" b="1">
                <a:latin typeface="楷体_GB2312" pitchFamily="49" charset="-122"/>
                <a:ea typeface="楷体_GB2312" pitchFamily="49" charset="-122"/>
              </a:rPr>
              <a:t>促进糖原分解。</a:t>
            </a:r>
            <a:endParaRPr lang="zh-CN" altLang="en-US" sz="2400" b="1">
              <a:latin typeface="楷体_GB2312" pitchFamily="49" charset="-122"/>
              <a:ea typeface="楷体_GB2312" pitchFamily="49" charset="-122"/>
            </a:endParaRPr>
          </a:p>
        </p:txBody>
      </p:sp>
      <p:sp>
        <p:nvSpPr>
          <p:cNvPr id="37890" name="Text Box 7"/>
          <p:cNvSpPr txBox="1"/>
          <p:nvPr/>
        </p:nvSpPr>
        <p:spPr>
          <a:xfrm>
            <a:off x="1331913" y="333375"/>
            <a:ext cx="6840537"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黑体" pitchFamily="49" charset="-122"/>
              </a:rPr>
              <a:t>糖原磷酸化酶激酶与糖原磷酸化酶的激活</a:t>
            </a:r>
            <a:endParaRPr lang="zh-CN" altLang="en-US" sz="2800" b="1">
              <a:ea typeface="黑体" pitchFamily="49" charset="-122"/>
            </a:endParaRPr>
          </a:p>
        </p:txBody>
      </p:sp>
      <p:grpSp>
        <p:nvGrpSpPr>
          <p:cNvPr id="37891" name="Group 18"/>
          <p:cNvGrpSpPr/>
          <p:nvPr/>
        </p:nvGrpSpPr>
        <p:grpSpPr>
          <a:xfrm>
            <a:off x="323850" y="1196975"/>
            <a:ext cx="6264275" cy="3240088"/>
            <a:chOff x="294" y="754"/>
            <a:chExt cx="3946" cy="2041"/>
          </a:xfrm>
        </p:grpSpPr>
        <p:pic>
          <p:nvPicPr>
            <p:cNvPr id="37907" name="Picture 4" descr="An external file that holds a picture, illustration, etc., usually as some form of binary object. The name of referred object is ch21f13.jpg. "/>
            <p:cNvPicPr>
              <a:picLocks noChangeAspect="1"/>
            </p:cNvPicPr>
            <p:nvPr/>
          </p:nvPicPr>
          <p:blipFill>
            <a:blip r:embed="rId1"/>
            <a:srcRect r="13554"/>
            <a:stretch>
              <a:fillRect/>
            </a:stretch>
          </p:blipFill>
          <p:spPr>
            <a:xfrm>
              <a:off x="793" y="754"/>
              <a:ext cx="3176" cy="2041"/>
            </a:xfrm>
            <a:prstGeom prst="rect">
              <a:avLst/>
            </a:prstGeom>
            <a:noFill/>
            <a:ln w="9525">
              <a:noFill/>
            </a:ln>
          </p:spPr>
        </p:pic>
        <p:sp>
          <p:nvSpPr>
            <p:cNvPr id="37908" name="Text Box 8"/>
            <p:cNvSpPr txBox="1"/>
            <p:nvPr/>
          </p:nvSpPr>
          <p:spPr>
            <a:xfrm>
              <a:off x="385" y="799"/>
              <a:ext cx="1089" cy="288"/>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胰高血糖素</a:t>
              </a:r>
              <a:endParaRPr lang="zh-CN" altLang="en-US" sz="2400" b="1">
                <a:ea typeface="楷体_GB2312" pitchFamily="49" charset="-122"/>
              </a:endParaRPr>
            </a:p>
          </p:txBody>
        </p:sp>
        <p:sp>
          <p:nvSpPr>
            <p:cNvPr id="37909" name="Text Box 9"/>
            <p:cNvSpPr txBox="1"/>
            <p:nvPr/>
          </p:nvSpPr>
          <p:spPr>
            <a:xfrm>
              <a:off x="294" y="1888"/>
              <a:ext cx="1497" cy="25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solidFill>
                    <a:srgbClr val="CC0000"/>
                  </a:solidFill>
                  <a:ea typeface="楷体_GB2312" pitchFamily="49" charset="-122"/>
                </a:rPr>
                <a:t>无活磷酸化酶激酶</a:t>
              </a:r>
              <a:endParaRPr lang="zh-CN" altLang="en-US" sz="2000" b="1">
                <a:solidFill>
                  <a:srgbClr val="CC0000"/>
                </a:solidFill>
                <a:ea typeface="楷体_GB2312" pitchFamily="49" charset="-122"/>
              </a:endParaRPr>
            </a:p>
          </p:txBody>
        </p:sp>
        <p:sp>
          <p:nvSpPr>
            <p:cNvPr id="37910" name="Text Box 10"/>
            <p:cNvSpPr txBox="1"/>
            <p:nvPr/>
          </p:nvSpPr>
          <p:spPr>
            <a:xfrm>
              <a:off x="2834" y="1888"/>
              <a:ext cx="1406" cy="25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solidFill>
                    <a:schemeClr val="hlink"/>
                  </a:solidFill>
                  <a:ea typeface="楷体_GB2312" pitchFamily="49" charset="-122"/>
                </a:rPr>
                <a:t>高活磷酸化酶激酶</a:t>
              </a:r>
              <a:endParaRPr lang="zh-CN" altLang="en-US" sz="2000" b="1">
                <a:solidFill>
                  <a:schemeClr val="hlink"/>
                </a:solidFill>
                <a:ea typeface="楷体_GB2312" pitchFamily="49" charset="-122"/>
              </a:endParaRPr>
            </a:p>
          </p:txBody>
        </p:sp>
        <p:sp>
          <p:nvSpPr>
            <p:cNvPr id="37911" name="Arc 13"/>
            <p:cNvSpPr/>
            <p:nvPr/>
          </p:nvSpPr>
          <p:spPr>
            <a:xfrm flipH="1" flipV="1">
              <a:off x="793" y="1026"/>
              <a:ext cx="683" cy="363"/>
            </a:xfrm>
            <a:custGeom>
              <a:avLst/>
              <a:gdLst>
                <a:gd name="txL" fmla="*/ 0 w 36174"/>
                <a:gd name="txT" fmla="*/ 0 h 21600"/>
                <a:gd name="txR" fmla="*/ 36174 w 36174"/>
                <a:gd name="txB" fmla="*/ 21600 h 21600"/>
              </a:gdLst>
              <a:ahLst/>
              <a:cxnLst>
                <a:cxn ang="0">
                  <a:pos x="0" y="0"/>
                </a:cxn>
                <a:cxn ang="0">
                  <a:pos x="0" y="0"/>
                </a:cxn>
                <a:cxn ang="0">
                  <a:pos x="0" y="0"/>
                </a:cxn>
              </a:cxnLst>
              <a:rect l="txL" t="txT" r="txR" b="txB"/>
              <a:pathLst>
                <a:path w="36174" h="21600" fill="none">
                  <a:moveTo>
                    <a:pt x="0" y="5657"/>
                  </a:moveTo>
                  <a:cubicBezTo>
                    <a:pt x="3981" y="2018"/>
                    <a:pt x="9180" y="-1"/>
                    <a:pt x="14574" y="0"/>
                  </a:cubicBezTo>
                  <a:cubicBezTo>
                    <a:pt x="26503" y="0"/>
                    <a:pt x="36174" y="9670"/>
                    <a:pt x="36174" y="21600"/>
                  </a:cubicBezTo>
                </a:path>
                <a:path w="36174" h="21600" stroke="0">
                  <a:moveTo>
                    <a:pt x="0" y="5657"/>
                  </a:moveTo>
                  <a:cubicBezTo>
                    <a:pt x="3981" y="2018"/>
                    <a:pt x="9180" y="-1"/>
                    <a:pt x="14574" y="0"/>
                  </a:cubicBezTo>
                  <a:cubicBezTo>
                    <a:pt x="26503" y="0"/>
                    <a:pt x="36174" y="9670"/>
                    <a:pt x="36174" y="21600"/>
                  </a:cubicBezTo>
                  <a:lnTo>
                    <a:pt x="14574" y="21600"/>
                  </a:lnTo>
                  <a:lnTo>
                    <a:pt x="0" y="5657"/>
                  </a:lnTo>
                  <a:close/>
                </a:path>
              </a:pathLst>
            </a:custGeom>
            <a:noFill/>
            <a:ln w="12700" cap="flat" cmpd="sng">
              <a:solidFill>
                <a:srgbClr val="CC0000">
                  <a:alpha val="100000"/>
                </a:srgbClr>
              </a:solidFill>
              <a:prstDash val="dash"/>
              <a:miter lim="800000"/>
              <a:headEnd type="none" w="sm" len="sm"/>
              <a:tailEnd type="none" w="sm" len="sm"/>
            </a:ln>
          </p:spPr>
          <p:txBody>
            <a:bodyPr/>
            <a:p>
              <a:endParaRPr lang="zh-CN" altLang="en-US"/>
            </a:p>
          </p:txBody>
        </p:sp>
        <p:sp>
          <p:nvSpPr>
            <p:cNvPr id="37912" name="Rectangle 16"/>
            <p:cNvSpPr/>
            <p:nvPr/>
          </p:nvSpPr>
          <p:spPr>
            <a:xfrm>
              <a:off x="3787" y="2115"/>
              <a:ext cx="273" cy="680"/>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37913" name="Rectangle 17"/>
            <p:cNvSpPr/>
            <p:nvPr/>
          </p:nvSpPr>
          <p:spPr>
            <a:xfrm>
              <a:off x="3742" y="781"/>
              <a:ext cx="273" cy="680"/>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grpSp>
      <p:grpSp>
        <p:nvGrpSpPr>
          <p:cNvPr id="3" name="Group 20"/>
          <p:cNvGrpSpPr/>
          <p:nvPr/>
        </p:nvGrpSpPr>
        <p:grpSpPr>
          <a:xfrm>
            <a:off x="6804025" y="1227138"/>
            <a:ext cx="1295400" cy="3240087"/>
            <a:chOff x="4694" y="799"/>
            <a:chExt cx="816" cy="2041"/>
          </a:xfrm>
        </p:grpSpPr>
        <p:pic>
          <p:nvPicPr>
            <p:cNvPr id="37905" name="Picture 15" descr="An external file that holds a picture, illustration, etc., usually as some form of binary object. The name of referred object is ch21f13.jpg. "/>
            <p:cNvPicPr>
              <a:picLocks noChangeAspect="1"/>
            </p:cNvPicPr>
            <p:nvPr/>
          </p:nvPicPr>
          <p:blipFill>
            <a:blip r:embed="rId1"/>
            <a:srcRect l="81491"/>
            <a:stretch>
              <a:fillRect/>
            </a:stretch>
          </p:blipFill>
          <p:spPr>
            <a:xfrm>
              <a:off x="4830" y="799"/>
              <a:ext cx="680" cy="2041"/>
            </a:xfrm>
            <a:prstGeom prst="rect">
              <a:avLst/>
            </a:prstGeom>
            <a:solidFill>
              <a:schemeClr val="bg1"/>
            </a:solidFill>
            <a:ln w="9525">
              <a:noFill/>
            </a:ln>
          </p:spPr>
        </p:pic>
        <p:sp>
          <p:nvSpPr>
            <p:cNvPr id="37906" name="Rectangle 19"/>
            <p:cNvSpPr/>
            <p:nvPr/>
          </p:nvSpPr>
          <p:spPr>
            <a:xfrm>
              <a:off x="4694" y="1570"/>
              <a:ext cx="363" cy="454"/>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grpSp>
      <p:sp>
        <p:nvSpPr>
          <p:cNvPr id="128011" name="Text Box 11"/>
          <p:cNvSpPr txBox="1"/>
          <p:nvPr/>
        </p:nvSpPr>
        <p:spPr>
          <a:xfrm>
            <a:off x="6443663" y="2133600"/>
            <a:ext cx="2411412" cy="39687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solidFill>
                  <a:schemeClr val="hlink"/>
                </a:solidFill>
                <a:ea typeface="楷体_GB2312" pitchFamily="49" charset="-122"/>
              </a:rPr>
              <a:t>活性糖原磷酸化酶</a:t>
            </a:r>
            <a:r>
              <a:rPr lang="en-US" altLang="zh-CN" sz="2000" b="1">
                <a:solidFill>
                  <a:schemeClr val="hlink"/>
                </a:solidFill>
                <a:ea typeface="宋体" pitchFamily="2" charset="-122"/>
              </a:rPr>
              <a:t>a</a:t>
            </a:r>
            <a:r>
              <a:rPr lang="en-US" altLang="zh-CN" sz="2000" b="1">
                <a:solidFill>
                  <a:srgbClr val="CC0000"/>
                </a:solidFill>
                <a:ea typeface="宋体" pitchFamily="2" charset="-122"/>
              </a:rPr>
              <a:t> </a:t>
            </a:r>
            <a:endParaRPr lang="zh-CN" altLang="en-US" sz="2000" b="1">
              <a:solidFill>
                <a:srgbClr val="CC0000"/>
              </a:solidFill>
              <a:ea typeface="楷体_GB2312" pitchFamily="49" charset="-122"/>
            </a:endParaRPr>
          </a:p>
        </p:txBody>
      </p:sp>
      <p:sp>
        <p:nvSpPr>
          <p:cNvPr id="128012" name="Text Box 12"/>
          <p:cNvSpPr txBox="1"/>
          <p:nvPr/>
        </p:nvSpPr>
        <p:spPr>
          <a:xfrm>
            <a:off x="6516688" y="4292600"/>
            <a:ext cx="2411412" cy="39687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solidFill>
                  <a:srgbClr val="CC0000"/>
                </a:solidFill>
                <a:ea typeface="楷体_GB2312" pitchFamily="49" charset="-122"/>
              </a:rPr>
              <a:t>无活糖原磷酸化酶</a:t>
            </a:r>
            <a:r>
              <a:rPr lang="en-US" altLang="zh-CN" sz="2000" b="1">
                <a:solidFill>
                  <a:srgbClr val="CC0000"/>
                </a:solidFill>
                <a:ea typeface="宋体" pitchFamily="2" charset="-122"/>
              </a:rPr>
              <a:t>b </a:t>
            </a:r>
            <a:endParaRPr lang="zh-CN" altLang="en-US" sz="2000" b="1">
              <a:solidFill>
                <a:srgbClr val="CC0000"/>
              </a:solidFill>
              <a:ea typeface="楷体_GB2312" pitchFamily="49" charset="-122"/>
            </a:endParaRPr>
          </a:p>
        </p:txBody>
      </p:sp>
      <p:sp>
        <p:nvSpPr>
          <p:cNvPr id="128022" name="AutoShape 22"/>
          <p:cNvSpPr>
            <a:spLocks noChangeArrowheads="1"/>
          </p:cNvSpPr>
          <p:nvPr/>
        </p:nvSpPr>
        <p:spPr bwMode="auto">
          <a:xfrm>
            <a:off x="6516688" y="2708275"/>
            <a:ext cx="647700" cy="28733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128023" name="Line 23"/>
          <p:cNvSpPr/>
          <p:nvPr/>
        </p:nvSpPr>
        <p:spPr>
          <a:xfrm flipH="1" flipV="1">
            <a:off x="7553325" y="2492375"/>
            <a:ext cx="0" cy="720725"/>
          </a:xfrm>
          <a:prstGeom prst="line">
            <a:avLst/>
          </a:prstGeom>
          <a:ln w="38100" cap="flat" cmpd="sng">
            <a:solidFill>
              <a:srgbClr val="CC0000"/>
            </a:solidFill>
            <a:prstDash val="solid"/>
            <a:miter/>
            <a:headEnd type="none" w="sm" len="sm"/>
            <a:tailEnd type="triangle" w="sm" len="sm"/>
          </a:ln>
        </p:spPr>
      </p:sp>
      <p:sp>
        <p:nvSpPr>
          <p:cNvPr id="37897" name="Text Box 24"/>
          <p:cNvSpPr txBox="1"/>
          <p:nvPr/>
        </p:nvSpPr>
        <p:spPr>
          <a:xfrm>
            <a:off x="3087688" y="1873250"/>
            <a:ext cx="1223962" cy="3667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ea typeface="楷体_GB2312" pitchFamily="49" charset="-122"/>
              </a:rPr>
              <a:t>部分活化</a:t>
            </a:r>
            <a:endParaRPr lang="zh-CN" altLang="en-US" sz="1800" b="1">
              <a:ea typeface="楷体_GB2312" pitchFamily="49" charset="-122"/>
            </a:endParaRPr>
          </a:p>
        </p:txBody>
      </p:sp>
      <p:sp>
        <p:nvSpPr>
          <p:cNvPr id="37898" name="Text Box 25"/>
          <p:cNvSpPr txBox="1"/>
          <p:nvPr/>
        </p:nvSpPr>
        <p:spPr>
          <a:xfrm>
            <a:off x="3132138" y="4149725"/>
            <a:ext cx="1223962" cy="3667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ea typeface="楷体_GB2312" pitchFamily="49" charset="-122"/>
              </a:rPr>
              <a:t>部分活化</a:t>
            </a:r>
            <a:endParaRPr lang="zh-CN" altLang="en-US" sz="1800" b="1">
              <a:ea typeface="楷体_GB2312" pitchFamily="49" charset="-122"/>
            </a:endParaRPr>
          </a:p>
        </p:txBody>
      </p:sp>
      <p:sp>
        <p:nvSpPr>
          <p:cNvPr id="128026" name="AutoShape 26"/>
          <p:cNvSpPr/>
          <p:nvPr/>
        </p:nvSpPr>
        <p:spPr>
          <a:xfrm>
            <a:off x="4576763" y="1011238"/>
            <a:ext cx="1290637" cy="401637"/>
          </a:xfrm>
          <a:prstGeom prst="borderCallout2">
            <a:avLst>
              <a:gd name="adj1" fmla="val 28458"/>
              <a:gd name="adj2" fmla="val -5903"/>
              <a:gd name="adj3" fmla="val 28458"/>
              <a:gd name="adj4" fmla="val -19556"/>
              <a:gd name="adj5" fmla="val 100000"/>
              <a:gd name="adj6" fmla="val -33824"/>
            </a:avLst>
          </a:prstGeom>
          <a:solidFill>
            <a:schemeClr val="bg1"/>
          </a:solidFill>
          <a:ln w="38100" cap="flat" cmpd="sng">
            <a:solidFill>
              <a:srgbClr val="CC0000"/>
            </a:solidFill>
            <a:prstDash val="solid"/>
            <a:miter/>
            <a:headEnd type="none" w="sm" len="sm"/>
            <a:tailEnd type="none" w="sm" len="sm"/>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000">
                <a:ea typeface="黑体" pitchFamily="49" charset="-122"/>
              </a:rPr>
              <a:t>共价修饰</a:t>
            </a:r>
            <a:endParaRPr lang="zh-CN" altLang="en-US" sz="2000">
              <a:ea typeface="黑体" pitchFamily="49" charset="-122"/>
            </a:endParaRPr>
          </a:p>
        </p:txBody>
      </p:sp>
      <p:sp>
        <p:nvSpPr>
          <p:cNvPr id="128027" name="AutoShape 27"/>
          <p:cNvSpPr/>
          <p:nvPr/>
        </p:nvSpPr>
        <p:spPr>
          <a:xfrm>
            <a:off x="4572000" y="4365625"/>
            <a:ext cx="1290638" cy="401638"/>
          </a:xfrm>
          <a:prstGeom prst="borderCallout2">
            <a:avLst>
              <a:gd name="adj1" fmla="val 28458"/>
              <a:gd name="adj2" fmla="val -5903"/>
              <a:gd name="adj3" fmla="val 28458"/>
              <a:gd name="adj4" fmla="val -16111"/>
              <a:gd name="adj5" fmla="val -39130"/>
              <a:gd name="adj6" fmla="val -32102"/>
            </a:avLst>
          </a:prstGeom>
          <a:solidFill>
            <a:schemeClr val="bg1"/>
          </a:solidFill>
          <a:ln w="38100" cap="flat" cmpd="sng">
            <a:solidFill>
              <a:srgbClr val="CC0000"/>
            </a:solidFill>
            <a:prstDash val="solid"/>
            <a:miter/>
            <a:headEnd type="none" w="sm" len="sm"/>
            <a:tailEnd type="none" w="sm" len="sm"/>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000">
                <a:ea typeface="黑体" pitchFamily="49" charset="-122"/>
              </a:rPr>
              <a:t>别构激活</a:t>
            </a:r>
            <a:endParaRPr lang="zh-CN" altLang="en-US" sz="2000">
              <a:ea typeface="黑体" pitchFamily="49" charset="-122"/>
            </a:endParaRPr>
          </a:p>
        </p:txBody>
      </p:sp>
      <p:grpSp>
        <p:nvGrpSpPr>
          <p:cNvPr id="4" name="Group 30"/>
          <p:cNvGrpSpPr/>
          <p:nvPr/>
        </p:nvGrpSpPr>
        <p:grpSpPr>
          <a:xfrm>
            <a:off x="5940425" y="1125538"/>
            <a:ext cx="1152525" cy="358775"/>
            <a:chOff x="3742" y="709"/>
            <a:chExt cx="726" cy="226"/>
          </a:xfrm>
        </p:grpSpPr>
        <p:sp>
          <p:nvSpPr>
            <p:cNvPr id="37903" name="Line 28"/>
            <p:cNvSpPr/>
            <p:nvPr/>
          </p:nvSpPr>
          <p:spPr>
            <a:xfrm>
              <a:off x="3742" y="709"/>
              <a:ext cx="227" cy="0"/>
            </a:xfrm>
            <a:prstGeom prst="line">
              <a:avLst/>
            </a:prstGeom>
            <a:ln w="28575" cap="flat" cmpd="sng">
              <a:solidFill>
                <a:srgbClr val="CC0000"/>
              </a:solidFill>
              <a:prstDash val="solid"/>
              <a:miter/>
              <a:headEnd type="none" w="sm" len="sm"/>
              <a:tailEnd type="none" w="sm" len="sm"/>
            </a:ln>
          </p:spPr>
        </p:sp>
        <p:sp>
          <p:nvSpPr>
            <p:cNvPr id="37904" name="Line 29"/>
            <p:cNvSpPr/>
            <p:nvPr/>
          </p:nvSpPr>
          <p:spPr>
            <a:xfrm>
              <a:off x="3969" y="709"/>
              <a:ext cx="499" cy="226"/>
            </a:xfrm>
            <a:prstGeom prst="line">
              <a:avLst/>
            </a:prstGeom>
            <a:ln w="28575" cap="flat" cmpd="sng">
              <a:solidFill>
                <a:srgbClr val="CC0000"/>
              </a:solidFill>
              <a:prstDash val="solid"/>
              <a:miter/>
              <a:headEnd type="none" w="sm" len="sm"/>
              <a:tailEnd type="none" w="sm" len="sm"/>
            </a:ln>
          </p:spPr>
        </p:sp>
      </p:grpSp>
      <p:sp>
        <p:nvSpPr>
          <p:cNvPr id="37902"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8022"/>
                                        </p:tgtEl>
                                        <p:attrNameLst>
                                          <p:attrName>style.visibility</p:attrName>
                                        </p:attrNameLst>
                                      </p:cBhvr>
                                      <p:to>
                                        <p:strVal val="visible"/>
                                      </p:to>
                                    </p:set>
                                    <p:animEffect transition="in" filter="checkerboard(across)">
                                      <p:cBhvr>
                                        <p:cTn id="7" dur="500"/>
                                        <p:tgtEl>
                                          <p:spTgt spid="128022"/>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28012"/>
                                        </p:tgtEl>
                                        <p:attrNameLst>
                                          <p:attrName>style.visibility</p:attrName>
                                        </p:attrNameLst>
                                      </p:cBhvr>
                                      <p:to>
                                        <p:strVal val="visible"/>
                                      </p:to>
                                    </p:set>
                                    <p:animEffect transition="in" filter="checkerboard(across)">
                                      <p:cBhvr>
                                        <p:cTn id="13" dur="500"/>
                                        <p:tgtEl>
                                          <p:spTgt spid="12801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28023"/>
                                        </p:tgtEl>
                                        <p:attrNameLst>
                                          <p:attrName>style.visibility</p:attrName>
                                        </p:attrNameLst>
                                      </p:cBhvr>
                                      <p:to>
                                        <p:strVal val="visible"/>
                                      </p:to>
                                    </p:set>
                                    <p:animEffect transition="in" filter="checkerboard(across)">
                                      <p:cBhvr>
                                        <p:cTn id="18" dur="500"/>
                                        <p:tgtEl>
                                          <p:spTgt spid="12802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28011"/>
                                        </p:tgtEl>
                                        <p:attrNameLst>
                                          <p:attrName>style.visibility</p:attrName>
                                        </p:attrNameLst>
                                      </p:cBhvr>
                                      <p:to>
                                        <p:strVal val="visible"/>
                                      </p:to>
                                    </p:set>
                                    <p:animEffect transition="in" filter="checkerboard(across)">
                                      <p:cBhvr>
                                        <p:cTn id="23" dur="500"/>
                                        <p:tgtEl>
                                          <p:spTgt spid="128011"/>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28027"/>
                                        </p:tgtEl>
                                        <p:attrNameLst>
                                          <p:attrName>style.visibility</p:attrName>
                                        </p:attrNameLst>
                                      </p:cBhvr>
                                      <p:to>
                                        <p:strVal val="visible"/>
                                      </p:to>
                                    </p:set>
                                    <p:animEffect transition="in" filter="checkerboard(across)">
                                      <p:cBhvr>
                                        <p:cTn id="28" dur="500"/>
                                        <p:tgtEl>
                                          <p:spTgt spid="128027"/>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28026"/>
                                        </p:tgtEl>
                                        <p:attrNameLst>
                                          <p:attrName>style.visibility</p:attrName>
                                        </p:attrNameLst>
                                      </p:cBhvr>
                                      <p:to>
                                        <p:strVal val="visible"/>
                                      </p:to>
                                    </p:set>
                                    <p:animEffect transition="in" filter="checkerboard(across)">
                                      <p:cBhvr>
                                        <p:cTn id="31" dur="500"/>
                                        <p:tgtEl>
                                          <p:spTgt spid="128026"/>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heckerboard(across)">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11" grpId="0" animBg="1"/>
      <p:bldP spid="128012" grpId="0" animBg="1"/>
      <p:bldP spid="128026" grpId="0" animBg="1"/>
      <p:bldP spid="1280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3" name="Picture 4" descr="An external file that holds a picture, illustration, etc., usually as some form of binary object. The name of referred object is ch21f10.jpg. "/>
          <p:cNvPicPr>
            <a:picLocks noChangeAspect="1"/>
          </p:cNvPicPr>
          <p:nvPr/>
        </p:nvPicPr>
        <p:blipFill>
          <a:blip r:embed="rId1"/>
          <a:stretch>
            <a:fillRect/>
          </a:stretch>
        </p:blipFill>
        <p:spPr>
          <a:xfrm>
            <a:off x="2843213" y="606425"/>
            <a:ext cx="3829050" cy="4895850"/>
          </a:xfrm>
          <a:prstGeom prst="rect">
            <a:avLst/>
          </a:prstGeom>
          <a:noFill/>
          <a:ln w="9525">
            <a:noFill/>
          </a:ln>
        </p:spPr>
      </p:pic>
      <p:sp>
        <p:nvSpPr>
          <p:cNvPr id="123911" name="Rectangle 7"/>
          <p:cNvSpPr/>
          <p:nvPr/>
        </p:nvSpPr>
        <p:spPr>
          <a:xfrm>
            <a:off x="1763713" y="5661025"/>
            <a:ext cx="6840537" cy="8223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a:solidFill>
                  <a:schemeClr val="hlink"/>
                </a:solidFill>
                <a:latin typeface="黑体" pitchFamily="49" charset="-122"/>
                <a:ea typeface="黑体" pitchFamily="49" charset="-122"/>
              </a:rPr>
              <a:t>磷酸化酶</a:t>
            </a:r>
            <a:r>
              <a:rPr lang="en-US" altLang="zh-CN" sz="2400">
                <a:solidFill>
                  <a:schemeClr val="hlink"/>
                </a:solidFill>
                <a:latin typeface="黑体" pitchFamily="49" charset="-122"/>
                <a:ea typeface="黑体" pitchFamily="49" charset="-122"/>
              </a:rPr>
              <a:t>a</a:t>
            </a:r>
            <a:r>
              <a:rPr lang="en-US" altLang="zh-CN" sz="2400" b="1">
                <a:solidFill>
                  <a:schemeClr val="hlink"/>
                </a:solidFill>
                <a:latin typeface="楷体_GB2312" pitchFamily="49" charset="-122"/>
                <a:ea typeface="楷体_GB2312" pitchFamily="49" charset="-122"/>
              </a:rPr>
              <a:t> : </a:t>
            </a:r>
            <a:r>
              <a:rPr lang="zh-CN" altLang="en-US" sz="2400" b="1">
                <a:solidFill>
                  <a:schemeClr val="hlink"/>
                </a:solidFill>
                <a:latin typeface="楷体_GB2312" pitchFamily="49" charset="-122"/>
                <a:ea typeface="楷体_GB2312" pitchFamily="49" charset="-122"/>
              </a:rPr>
              <a:t>有</a:t>
            </a:r>
            <a:r>
              <a:rPr lang="en-US" altLang="zh-CN" sz="2400" b="1">
                <a:solidFill>
                  <a:schemeClr val="hlink"/>
                </a:solidFill>
                <a:latin typeface="楷体_GB2312" pitchFamily="49" charset="-122"/>
                <a:ea typeface="楷体_GB2312" pitchFamily="49" charset="-122"/>
              </a:rPr>
              <a:t>-P, </a:t>
            </a:r>
            <a:r>
              <a:rPr lang="zh-CN" altLang="en-US" sz="2400" b="1">
                <a:solidFill>
                  <a:schemeClr val="hlink"/>
                </a:solidFill>
                <a:latin typeface="楷体_GB2312" pitchFamily="49" charset="-122"/>
                <a:ea typeface="楷体_GB2312" pitchFamily="49" charset="-122"/>
              </a:rPr>
              <a:t>更趋于</a:t>
            </a:r>
            <a:r>
              <a:rPr lang="en-US" altLang="zh-CN" sz="2400" b="1">
                <a:solidFill>
                  <a:schemeClr val="hlink"/>
                </a:solidFill>
                <a:latin typeface="楷体_GB2312" pitchFamily="49" charset="-122"/>
                <a:ea typeface="楷体_GB2312" pitchFamily="49" charset="-122"/>
              </a:rPr>
              <a:t>R</a:t>
            </a:r>
            <a:r>
              <a:rPr lang="zh-CN" altLang="en-US" sz="2400" b="1">
                <a:solidFill>
                  <a:schemeClr val="hlink"/>
                </a:solidFill>
                <a:latin typeface="楷体_GB2312" pitchFamily="49" charset="-122"/>
                <a:ea typeface="楷体_GB2312" pitchFamily="49" charset="-122"/>
              </a:rPr>
              <a:t>状态</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高活性</a:t>
            </a:r>
            <a:endParaRPr lang="zh-CN" altLang="en-US" sz="2400" b="1">
              <a:solidFill>
                <a:schemeClr val="hlink"/>
              </a:solidFill>
              <a:latin typeface="楷体_GB2312" pitchFamily="49" charset="-122"/>
              <a:ea typeface="楷体_GB2312" pitchFamily="49" charset="-122"/>
            </a:endParaRPr>
          </a:p>
          <a:p>
            <a:pPr marL="0" lvl="0" indent="0" eaLnBrk="1" hangingPunct="1">
              <a:spcBef>
                <a:spcPct val="0"/>
              </a:spcBef>
              <a:buNone/>
            </a:pPr>
            <a:r>
              <a:rPr lang="zh-CN" altLang="en-US" sz="2400">
                <a:solidFill>
                  <a:srgbClr val="CC0000"/>
                </a:solidFill>
                <a:latin typeface="黑体" pitchFamily="49" charset="-122"/>
                <a:ea typeface="黑体" pitchFamily="49" charset="-122"/>
              </a:rPr>
              <a:t>磷酸化酶</a:t>
            </a:r>
            <a:r>
              <a:rPr lang="en-US" altLang="zh-CN" sz="2400">
                <a:solidFill>
                  <a:srgbClr val="CC0000"/>
                </a:solidFill>
                <a:latin typeface="黑体" pitchFamily="49" charset="-122"/>
                <a:ea typeface="黑体" pitchFamily="49" charset="-122"/>
              </a:rPr>
              <a:t>b</a:t>
            </a:r>
            <a:r>
              <a:rPr lang="en-US" altLang="zh-CN" sz="2400" b="1">
                <a:solidFill>
                  <a:srgbClr val="CC0000"/>
                </a:solidFill>
                <a:latin typeface="楷体_GB2312" pitchFamily="49" charset="-122"/>
                <a:ea typeface="楷体_GB2312" pitchFamily="49" charset="-122"/>
              </a:rPr>
              <a:t> : </a:t>
            </a:r>
            <a:r>
              <a:rPr lang="zh-CN" altLang="en-US" sz="2400" b="1">
                <a:solidFill>
                  <a:srgbClr val="CC0000"/>
                </a:solidFill>
                <a:latin typeface="楷体_GB2312" pitchFamily="49" charset="-122"/>
                <a:ea typeface="楷体_GB2312" pitchFamily="49" charset="-122"/>
              </a:rPr>
              <a:t>无</a:t>
            </a:r>
            <a:r>
              <a:rPr lang="en-US" altLang="zh-CN" sz="2400" b="1">
                <a:solidFill>
                  <a:srgbClr val="CC0000"/>
                </a:solidFill>
                <a:latin typeface="楷体_GB2312" pitchFamily="49" charset="-122"/>
                <a:ea typeface="楷体_GB2312" pitchFamily="49" charset="-122"/>
              </a:rPr>
              <a:t>-P, </a:t>
            </a:r>
            <a:r>
              <a:rPr lang="zh-CN" altLang="en-US" sz="2400" b="1">
                <a:solidFill>
                  <a:srgbClr val="CC0000"/>
                </a:solidFill>
                <a:latin typeface="楷体_GB2312" pitchFamily="49" charset="-122"/>
                <a:ea typeface="楷体_GB2312" pitchFamily="49" charset="-122"/>
              </a:rPr>
              <a:t>更趋于</a:t>
            </a:r>
            <a:r>
              <a:rPr lang="en-US" altLang="zh-CN" sz="2400" b="1">
                <a:solidFill>
                  <a:srgbClr val="CC0000"/>
                </a:solidFill>
                <a:latin typeface="楷体_GB2312" pitchFamily="49" charset="-122"/>
                <a:ea typeface="楷体_GB2312" pitchFamily="49" charset="-122"/>
              </a:rPr>
              <a:t>T</a:t>
            </a:r>
            <a:r>
              <a:rPr lang="zh-CN" altLang="en-US" sz="2400" b="1">
                <a:solidFill>
                  <a:srgbClr val="CC0000"/>
                </a:solidFill>
                <a:latin typeface="楷体_GB2312" pitchFamily="49" charset="-122"/>
                <a:ea typeface="楷体_GB2312" pitchFamily="49" charset="-122"/>
              </a:rPr>
              <a:t>状态</a:t>
            </a:r>
            <a:r>
              <a:rPr lang="en-US" altLang="zh-CN" sz="2400" b="1">
                <a:solidFill>
                  <a:srgbClr val="CC0000"/>
                </a:solidFill>
                <a:latin typeface="楷体_GB2312" pitchFamily="49" charset="-122"/>
                <a:ea typeface="楷体_GB2312" pitchFamily="49" charset="-122"/>
              </a:rPr>
              <a:t>,</a:t>
            </a:r>
            <a:r>
              <a:rPr lang="zh-CN" altLang="en-US" sz="2400" b="1">
                <a:solidFill>
                  <a:srgbClr val="CC0000"/>
                </a:solidFill>
                <a:latin typeface="楷体_GB2312" pitchFamily="49" charset="-122"/>
                <a:ea typeface="楷体_GB2312" pitchFamily="49" charset="-122"/>
              </a:rPr>
              <a:t>无活性</a:t>
            </a:r>
            <a:endParaRPr lang="zh-CN" altLang="en-US" sz="2400" b="1">
              <a:solidFill>
                <a:srgbClr val="CC0000"/>
              </a:solidFill>
              <a:latin typeface="楷体_GB2312" pitchFamily="49" charset="-122"/>
              <a:ea typeface="楷体_GB2312" pitchFamily="49" charset="-122"/>
            </a:endParaRPr>
          </a:p>
        </p:txBody>
      </p:sp>
      <p:sp>
        <p:nvSpPr>
          <p:cNvPr id="38915" name="Rectangle 8"/>
          <p:cNvSpPr/>
          <p:nvPr/>
        </p:nvSpPr>
        <p:spPr>
          <a:xfrm>
            <a:off x="1476375" y="260350"/>
            <a:ext cx="6624638" cy="5191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ea typeface="黑体" pitchFamily="49" charset="-122"/>
              </a:rPr>
              <a:t>糖原磷酸化酶的共价修饰调节与构象改变</a:t>
            </a:r>
            <a:endParaRPr lang="zh-CN" altLang="en-US" sz="2800" b="1">
              <a:ea typeface="黑体" pitchFamily="49" charset="-122"/>
            </a:endParaRPr>
          </a:p>
        </p:txBody>
      </p:sp>
      <p:sp>
        <p:nvSpPr>
          <p:cNvPr id="38916" name="Rectangle 9"/>
          <p:cNvSpPr/>
          <p:nvPr/>
        </p:nvSpPr>
        <p:spPr>
          <a:xfrm>
            <a:off x="1116013" y="1412875"/>
            <a:ext cx="17081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a:t>R:</a:t>
            </a:r>
            <a:r>
              <a:rPr lang="zh-CN" altLang="en-US" sz="2400" b="1">
                <a:ea typeface="楷体_GB2312" pitchFamily="49" charset="-122"/>
              </a:rPr>
              <a:t>松弛状态</a:t>
            </a:r>
            <a:endParaRPr lang="zh-CN" altLang="en-US" sz="2400" b="1">
              <a:ea typeface="楷体_GB2312" pitchFamily="49" charset="-122"/>
            </a:endParaRPr>
          </a:p>
        </p:txBody>
      </p:sp>
      <p:sp>
        <p:nvSpPr>
          <p:cNvPr id="38917" name="Rectangle 10"/>
          <p:cNvSpPr/>
          <p:nvPr/>
        </p:nvSpPr>
        <p:spPr>
          <a:xfrm>
            <a:off x="1071563" y="4162425"/>
            <a:ext cx="1774825"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ea typeface="宋体" pitchFamily="2" charset="-122"/>
              </a:rPr>
              <a:t>T :</a:t>
            </a:r>
            <a:r>
              <a:rPr lang="zh-CN" altLang="en-US" sz="2400" b="1">
                <a:ea typeface="楷体_GB2312" pitchFamily="49" charset="-122"/>
              </a:rPr>
              <a:t>紧张状态</a:t>
            </a:r>
            <a:endParaRPr lang="zh-CN" altLang="en-US" sz="2400" b="1">
              <a:ea typeface="楷体_GB2312" pitchFamily="49" charset="-122"/>
            </a:endParaRPr>
          </a:p>
        </p:txBody>
      </p:sp>
      <p:sp>
        <p:nvSpPr>
          <p:cNvPr id="38918" name="Text Box 11"/>
          <p:cNvSpPr txBox="1"/>
          <p:nvPr/>
        </p:nvSpPr>
        <p:spPr>
          <a:xfrm>
            <a:off x="3679825" y="2954338"/>
            <a:ext cx="24479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chemeClr val="accent2"/>
                </a:solidFill>
                <a:latin typeface="楷体_GB2312" pitchFamily="49" charset="-122"/>
                <a:ea typeface="宋体" pitchFamily="2" charset="-122"/>
              </a:rPr>
              <a:t>R</a:t>
            </a:r>
            <a:r>
              <a:rPr lang="zh-CN" altLang="en-US" sz="2400" b="1">
                <a:solidFill>
                  <a:schemeClr val="accent2"/>
                </a:solidFill>
                <a:latin typeface="楷体_GB2312" pitchFamily="49" charset="-122"/>
                <a:ea typeface="楷体_GB2312" pitchFamily="49" charset="-122"/>
              </a:rPr>
              <a:t>态与</a:t>
            </a:r>
            <a:r>
              <a:rPr lang="en-US" altLang="zh-CN" sz="2400" b="1">
                <a:solidFill>
                  <a:schemeClr val="accent2"/>
                </a:solidFill>
                <a:latin typeface="楷体_GB2312" pitchFamily="49" charset="-122"/>
                <a:ea typeface="宋体" pitchFamily="2" charset="-122"/>
              </a:rPr>
              <a:t>T</a:t>
            </a:r>
            <a:r>
              <a:rPr lang="zh-CN" altLang="en-US" sz="2400" b="1">
                <a:solidFill>
                  <a:schemeClr val="accent2"/>
                </a:solidFill>
                <a:latin typeface="楷体_GB2312" pitchFamily="49" charset="-122"/>
                <a:ea typeface="楷体_GB2312" pitchFamily="49" charset="-122"/>
              </a:rPr>
              <a:t>态的平衡</a:t>
            </a:r>
            <a:endParaRPr lang="zh-CN" altLang="en-US" sz="2400" b="1">
              <a:solidFill>
                <a:schemeClr val="accent2"/>
              </a:solidFill>
              <a:latin typeface="楷体_GB2312" pitchFamily="49" charset="-122"/>
              <a:ea typeface="楷体_GB2312" pitchFamily="49" charset="-122"/>
            </a:endParaRPr>
          </a:p>
        </p:txBody>
      </p:sp>
      <p:sp>
        <p:nvSpPr>
          <p:cNvPr id="123917" name="Text Box 13"/>
          <p:cNvSpPr txBox="1"/>
          <p:nvPr/>
        </p:nvSpPr>
        <p:spPr>
          <a:xfrm>
            <a:off x="7092950" y="1341438"/>
            <a:ext cx="719138"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hlink"/>
                </a:solidFill>
              </a:rPr>
              <a:t>酶</a:t>
            </a:r>
            <a:r>
              <a:rPr lang="en-US" altLang="zh-CN" sz="2400" b="1">
                <a:solidFill>
                  <a:schemeClr val="hlink"/>
                </a:solidFill>
              </a:rPr>
              <a:t>a</a:t>
            </a:r>
            <a:endParaRPr lang="en-US" altLang="zh-CN" sz="2400" b="1">
              <a:solidFill>
                <a:schemeClr val="hlink"/>
              </a:solidFill>
            </a:endParaRPr>
          </a:p>
        </p:txBody>
      </p:sp>
      <p:sp>
        <p:nvSpPr>
          <p:cNvPr id="38920" name="Text Box 14"/>
          <p:cNvSpPr txBox="1"/>
          <p:nvPr/>
        </p:nvSpPr>
        <p:spPr>
          <a:xfrm>
            <a:off x="2268538" y="4797425"/>
            <a:ext cx="719137"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CC0000"/>
                </a:solidFill>
              </a:rPr>
              <a:t>酶</a:t>
            </a:r>
            <a:r>
              <a:rPr lang="en-US" altLang="zh-CN" sz="2400" b="1">
                <a:solidFill>
                  <a:srgbClr val="CC0000"/>
                </a:solidFill>
              </a:rPr>
              <a:t>b</a:t>
            </a:r>
            <a:endParaRPr lang="en-US" altLang="zh-CN" sz="2400" b="1">
              <a:solidFill>
                <a:srgbClr val="CC0000"/>
              </a:solidFill>
            </a:endParaRPr>
          </a:p>
        </p:txBody>
      </p:sp>
      <p:sp>
        <p:nvSpPr>
          <p:cNvPr id="123919" name="Line 15"/>
          <p:cNvSpPr/>
          <p:nvPr/>
        </p:nvSpPr>
        <p:spPr>
          <a:xfrm flipV="1">
            <a:off x="6877050" y="2349500"/>
            <a:ext cx="0" cy="1223963"/>
          </a:xfrm>
          <a:prstGeom prst="line">
            <a:avLst/>
          </a:prstGeom>
          <a:ln w="57150" cap="flat" cmpd="sng">
            <a:solidFill>
              <a:schemeClr val="hlink"/>
            </a:solidFill>
            <a:prstDash val="solid"/>
            <a:miter/>
            <a:headEnd type="none" w="sm" len="sm"/>
            <a:tailEnd type="triangle" w="sm" len="sm"/>
          </a:ln>
        </p:spPr>
      </p:sp>
      <p:sp>
        <p:nvSpPr>
          <p:cNvPr id="123920" name="Line 16"/>
          <p:cNvSpPr/>
          <p:nvPr/>
        </p:nvSpPr>
        <p:spPr>
          <a:xfrm>
            <a:off x="2700338" y="2349500"/>
            <a:ext cx="0" cy="1225550"/>
          </a:xfrm>
          <a:prstGeom prst="line">
            <a:avLst/>
          </a:prstGeom>
          <a:ln w="57150" cap="flat" cmpd="sng">
            <a:solidFill>
              <a:srgbClr val="CC0000"/>
            </a:solidFill>
            <a:prstDash val="solid"/>
            <a:miter/>
            <a:headEnd type="none" w="sm" len="sm"/>
            <a:tailEnd type="triangle" w="sm" len="sm"/>
          </a:ln>
        </p:spPr>
      </p:sp>
      <p:sp>
        <p:nvSpPr>
          <p:cNvPr id="38923" name="Text Box 17"/>
          <p:cNvSpPr txBox="1"/>
          <p:nvPr/>
        </p:nvSpPr>
        <p:spPr>
          <a:xfrm>
            <a:off x="4572000" y="692150"/>
            <a:ext cx="649288" cy="64135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solidFill>
                  <a:srgbClr val="CC0000"/>
                </a:solidFill>
                <a:ea typeface="楷体_GB2312" pitchFamily="49" charset="-122"/>
              </a:rPr>
              <a:t>活性中心</a:t>
            </a:r>
            <a:endParaRPr lang="en-US" altLang="zh-CN" sz="1800" b="1">
              <a:solidFill>
                <a:srgbClr val="CC0000"/>
              </a:solidFill>
              <a:ea typeface="楷体_GB2312" pitchFamily="49" charset="-122"/>
            </a:endParaRPr>
          </a:p>
        </p:txBody>
      </p:sp>
      <p:sp>
        <p:nvSpPr>
          <p:cNvPr id="123922" name="Rectangle 18"/>
          <p:cNvSpPr/>
          <p:nvPr/>
        </p:nvSpPr>
        <p:spPr>
          <a:xfrm>
            <a:off x="5219700" y="836613"/>
            <a:ext cx="1547813" cy="1873250"/>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123923" name="Rectangle 19"/>
          <p:cNvSpPr/>
          <p:nvPr/>
        </p:nvSpPr>
        <p:spPr>
          <a:xfrm>
            <a:off x="4356100" y="1341438"/>
            <a:ext cx="1081088" cy="649287"/>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123924" name="Rectangle 20"/>
          <p:cNvSpPr/>
          <p:nvPr/>
        </p:nvSpPr>
        <p:spPr>
          <a:xfrm>
            <a:off x="5291138" y="3571875"/>
            <a:ext cx="1441450" cy="1944688"/>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123925" name="Rectangle 21"/>
          <p:cNvSpPr/>
          <p:nvPr/>
        </p:nvSpPr>
        <p:spPr>
          <a:xfrm>
            <a:off x="4427538" y="4076700"/>
            <a:ext cx="955675" cy="649288"/>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38928"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3920"/>
                                        </p:tgtEl>
                                        <p:attrNameLst>
                                          <p:attrName>style.visibility</p:attrName>
                                        </p:attrNameLst>
                                      </p:cBhvr>
                                      <p:to>
                                        <p:strVal val="visible"/>
                                      </p:to>
                                    </p:set>
                                    <p:anim calcmode="lin" valueType="num">
                                      <p:cBhvr>
                                        <p:cTn id="7" dur="500" fill="hold"/>
                                        <p:tgtEl>
                                          <p:spTgt spid="123920"/>
                                        </p:tgtEl>
                                        <p:attrNameLst>
                                          <p:attrName>ppt_w</p:attrName>
                                        </p:attrNameLst>
                                      </p:cBhvr>
                                      <p:tavLst>
                                        <p:tav tm="0">
                                          <p:val>
                                            <p:fltVal val="0.000000"/>
                                          </p:val>
                                        </p:tav>
                                        <p:tav tm="100000">
                                          <p:val>
                                            <p:strVal val="#ppt_w"/>
                                          </p:val>
                                        </p:tav>
                                      </p:tavLst>
                                    </p:anim>
                                    <p:anim calcmode="lin" valueType="num">
                                      <p:cBhvr>
                                        <p:cTn id="8" dur="500" fill="hold"/>
                                        <p:tgtEl>
                                          <p:spTgt spid="123920"/>
                                        </p:tgtEl>
                                        <p:attrNameLst>
                                          <p:attrName>ppt_h</p:attrName>
                                        </p:attrNameLst>
                                      </p:cBhvr>
                                      <p:tavLst>
                                        <p:tav tm="0">
                                          <p:val>
                                            <p:fltVal val="0.000000"/>
                                          </p:val>
                                        </p:tav>
                                        <p:tav tm="100000">
                                          <p:val>
                                            <p:strVal val="#ppt_h"/>
                                          </p:val>
                                        </p:tav>
                                      </p:tavLst>
                                    </p:anim>
                                    <p:animEffect transition="in" filter="fade">
                                      <p:cBhvr>
                                        <p:cTn id="9" dur="500"/>
                                        <p:tgtEl>
                                          <p:spTgt spid="123920"/>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123911">
                                            <p:txEl>
                                              <p:charRg st="24" end="48"/>
                                            </p:txEl>
                                          </p:spTgt>
                                        </p:tgtEl>
                                        <p:attrNameLst>
                                          <p:attrName>style.visibility</p:attrName>
                                        </p:attrNameLst>
                                      </p:cBhvr>
                                      <p:to>
                                        <p:strVal val="visible"/>
                                      </p:to>
                                    </p:set>
                                    <p:animEffect transition="in" filter="checkerboard(across)">
                                      <p:cBhvr>
                                        <p:cTn id="14" dur="1000"/>
                                        <p:tgtEl>
                                          <p:spTgt spid="123911">
                                            <p:txEl>
                                              <p:charRg st="24" end="48"/>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4" presetClass="exit" presetSubtype="0" fill="hold" grpId="0" nodeType="clickEffect">
                                  <p:stCondLst>
                                    <p:cond delay="0"/>
                                  </p:stCondLst>
                                  <p:childTnLst>
                                    <p:anim to="" calcmode="lin" valueType="num">
                                      <p:cBhvr>
                                        <p:cTn id="18" dur="1"/>
                                        <p:tgtEl>
                                          <p:spTgt spid="123925"/>
                                        </p:tgtEl>
                                        <p:attrNameLst>
                                          <p:attrName>style.visibility</p:attrName>
                                        </p:attrNameLst>
                                      </p:cBhvr>
                                    </p:anim>
                                    <p:set>
                                      <p:cBhvr>
                                        <p:cTn id="19" dur="1" fill="hold">
                                          <p:stCondLst>
                                            <p:cond delay="0"/>
                                          </p:stCondLst>
                                        </p:cTn>
                                        <p:tgtEl>
                                          <p:spTgt spid="123925"/>
                                        </p:tgtEl>
                                        <p:attrNameLst>
                                          <p:attrName>style.visibility</p:attrName>
                                        </p:attrNameLst>
                                      </p:cBhvr>
                                      <p:to>
                                        <p:strVal val="hidden"/>
                                      </p:to>
                                    </p:set>
                                  </p:childTnLst>
                                </p:cTn>
                              </p:par>
                              <p:par>
                                <p:cTn id="20" presetID="24" presetClass="exit" presetSubtype="0" fill="hold" grpId="0" nodeType="withEffect">
                                  <p:stCondLst>
                                    <p:cond delay="0"/>
                                  </p:stCondLst>
                                  <p:childTnLst>
                                    <p:anim to="" calcmode="lin" valueType="num">
                                      <p:cBhvr>
                                        <p:cTn id="21" dur="1"/>
                                        <p:tgtEl>
                                          <p:spTgt spid="123924"/>
                                        </p:tgtEl>
                                        <p:attrNameLst>
                                          <p:attrName>style.visibility</p:attrName>
                                        </p:attrNameLst>
                                      </p:cBhvr>
                                    </p:anim>
                                    <p:set>
                                      <p:cBhvr>
                                        <p:cTn id="22" dur="1" fill="hold">
                                          <p:stCondLst>
                                            <p:cond delay="0"/>
                                          </p:stCondLst>
                                        </p:cTn>
                                        <p:tgtEl>
                                          <p:spTgt spid="12392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23919"/>
                                        </p:tgtEl>
                                        <p:attrNameLst>
                                          <p:attrName>style.visibility</p:attrName>
                                        </p:attrNameLst>
                                      </p:cBhvr>
                                      <p:to>
                                        <p:strVal val="visible"/>
                                      </p:to>
                                    </p:set>
                                    <p:anim calcmode="lin" valueType="num">
                                      <p:cBhvr>
                                        <p:cTn id="27" dur="500" fill="hold"/>
                                        <p:tgtEl>
                                          <p:spTgt spid="123919"/>
                                        </p:tgtEl>
                                        <p:attrNameLst>
                                          <p:attrName>ppt_w</p:attrName>
                                        </p:attrNameLst>
                                      </p:cBhvr>
                                      <p:tavLst>
                                        <p:tav tm="0">
                                          <p:val>
                                            <p:fltVal val="0.000000"/>
                                          </p:val>
                                        </p:tav>
                                        <p:tav tm="100000">
                                          <p:val>
                                            <p:strVal val="#ppt_w"/>
                                          </p:val>
                                        </p:tav>
                                      </p:tavLst>
                                    </p:anim>
                                    <p:anim calcmode="lin" valueType="num">
                                      <p:cBhvr>
                                        <p:cTn id="28" dur="500" fill="hold"/>
                                        <p:tgtEl>
                                          <p:spTgt spid="123919"/>
                                        </p:tgtEl>
                                        <p:attrNameLst>
                                          <p:attrName>ppt_h</p:attrName>
                                        </p:attrNameLst>
                                      </p:cBhvr>
                                      <p:tavLst>
                                        <p:tav tm="0">
                                          <p:val>
                                            <p:fltVal val="0.000000"/>
                                          </p:val>
                                        </p:tav>
                                        <p:tav tm="100000">
                                          <p:val>
                                            <p:strVal val="#ppt_h"/>
                                          </p:val>
                                        </p:tav>
                                      </p:tavLst>
                                    </p:anim>
                                    <p:animEffect transition="in" filter="fade">
                                      <p:cBhvr>
                                        <p:cTn id="29" dur="500"/>
                                        <p:tgtEl>
                                          <p:spTgt spid="123919"/>
                                        </p:tgtEl>
                                      </p:cBhvr>
                                    </p:animEffect>
                                  </p:childTnLst>
                                </p:cTn>
                              </p:par>
                            </p:childTnLst>
                          </p:cTn>
                        </p:par>
                      </p:childTnLst>
                    </p:cTn>
                  </p:par>
                  <p:par>
                    <p:cTn id="30" fill="hold">
                      <p:stCondLst>
                        <p:cond delay="indefinite"/>
                      </p:stCondLst>
                      <p:childTnLst>
                        <p:par>
                          <p:cTn id="31" fill="hold">
                            <p:stCondLst>
                              <p:cond delay="0"/>
                            </p:stCondLst>
                            <p:childTnLst>
                              <p:par>
                                <p:cTn id="32" presetID="24" presetClass="exit" presetSubtype="0" fill="hold" grpId="0" nodeType="clickEffect">
                                  <p:stCondLst>
                                    <p:cond delay="0"/>
                                  </p:stCondLst>
                                  <p:childTnLst>
                                    <p:anim to="" calcmode="lin" valueType="num">
                                      <p:cBhvr>
                                        <p:cTn id="33" dur="1"/>
                                        <p:tgtEl>
                                          <p:spTgt spid="123922"/>
                                        </p:tgtEl>
                                        <p:attrNameLst>
                                          <p:attrName>style.visibility</p:attrName>
                                        </p:attrNameLst>
                                      </p:cBhvr>
                                    </p:anim>
                                    <p:set>
                                      <p:cBhvr>
                                        <p:cTn id="34" dur="1" fill="hold">
                                          <p:stCondLst>
                                            <p:cond delay="0"/>
                                          </p:stCondLst>
                                        </p:cTn>
                                        <p:tgtEl>
                                          <p:spTgt spid="123922"/>
                                        </p:tgtEl>
                                        <p:attrNameLst>
                                          <p:attrName>style.visibility</p:attrName>
                                        </p:attrNameLst>
                                      </p:cBhvr>
                                      <p:to>
                                        <p:strVal val="hidden"/>
                                      </p:to>
                                    </p:set>
                                  </p:childTnLst>
                                </p:cTn>
                              </p:par>
                              <p:par>
                                <p:cTn id="35" presetID="24" presetClass="exit" presetSubtype="0" fill="hold" grpId="0" nodeType="withEffect">
                                  <p:stCondLst>
                                    <p:cond delay="0"/>
                                  </p:stCondLst>
                                  <p:childTnLst>
                                    <p:anim to="" calcmode="lin" valueType="num">
                                      <p:cBhvr>
                                        <p:cTn id="36" dur="1"/>
                                        <p:tgtEl>
                                          <p:spTgt spid="123923"/>
                                        </p:tgtEl>
                                        <p:attrNameLst>
                                          <p:attrName>style.visibility</p:attrName>
                                        </p:attrNameLst>
                                      </p:cBhvr>
                                    </p:anim>
                                    <p:set>
                                      <p:cBhvr>
                                        <p:cTn id="37" dur="1" fill="hold">
                                          <p:stCondLst>
                                            <p:cond delay="0"/>
                                          </p:stCondLst>
                                        </p:cTn>
                                        <p:tgtEl>
                                          <p:spTgt spid="12392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39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nodeType="clickEffect">
                                  <p:stCondLst>
                                    <p:cond delay="0"/>
                                  </p:stCondLst>
                                  <p:childTnLst>
                                    <p:set>
                                      <p:cBhvr>
                                        <p:cTn id="45" dur="1" fill="hold">
                                          <p:stCondLst>
                                            <p:cond delay="0"/>
                                          </p:stCondLst>
                                        </p:cTn>
                                        <p:tgtEl>
                                          <p:spTgt spid="123911">
                                            <p:txEl>
                                              <p:charRg st="0" end="24"/>
                                            </p:txEl>
                                          </p:spTgt>
                                        </p:tgtEl>
                                        <p:attrNameLst>
                                          <p:attrName>style.visibility</p:attrName>
                                        </p:attrNameLst>
                                      </p:cBhvr>
                                      <p:to>
                                        <p:strVal val="visible"/>
                                      </p:to>
                                    </p:set>
                                    <p:animEffect transition="in" filter="checkerboard(across)">
                                      <p:cBhvr>
                                        <p:cTn id="46" dur="1000"/>
                                        <p:tgtEl>
                                          <p:spTgt spid="123911">
                                            <p:txEl>
                                              <p:charRg st="0"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7" grpId="0"/>
      <p:bldP spid="123922" grpId="0" animBg="1"/>
      <p:bldP spid="123923" grpId="0" animBg="1"/>
      <p:bldP spid="123924" grpId="0" animBg="1"/>
      <p:bldP spid="12392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7" name="Picture 4" descr="An external file that holds a picture, illustration, etc., usually as some form of binary object. The name of referred object is ch21f11.jpg. "/>
          <p:cNvPicPr>
            <a:picLocks noChangeAspect="1"/>
          </p:cNvPicPr>
          <p:nvPr/>
        </p:nvPicPr>
        <p:blipFill>
          <a:blip r:embed="rId1"/>
          <a:stretch>
            <a:fillRect/>
          </a:stretch>
        </p:blipFill>
        <p:spPr>
          <a:xfrm>
            <a:off x="1403350" y="908050"/>
            <a:ext cx="5905500" cy="3619500"/>
          </a:xfrm>
          <a:prstGeom prst="rect">
            <a:avLst/>
          </a:prstGeom>
          <a:noFill/>
          <a:ln w="9525">
            <a:noFill/>
          </a:ln>
        </p:spPr>
      </p:pic>
      <p:sp>
        <p:nvSpPr>
          <p:cNvPr id="39938" name="Rectangle 6"/>
          <p:cNvSpPr/>
          <p:nvPr/>
        </p:nvSpPr>
        <p:spPr>
          <a:xfrm>
            <a:off x="539750" y="4724400"/>
            <a:ext cx="8281988" cy="18002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当细胞能荷低时，</a:t>
            </a:r>
            <a:r>
              <a:rPr lang="en-US" altLang="zh-CN" sz="2800" b="1">
                <a:solidFill>
                  <a:schemeClr val="hlink"/>
                </a:solidFill>
                <a:latin typeface="楷体_GB2312" pitchFamily="49" charset="-122"/>
                <a:ea typeface="楷体_GB2312" pitchFamily="49" charset="-122"/>
              </a:rPr>
              <a:t>AMP</a:t>
            </a:r>
            <a:r>
              <a:rPr lang="zh-CN" altLang="en-US" sz="2800" b="1">
                <a:latin typeface="楷体_GB2312" pitchFamily="49" charset="-122"/>
                <a:ea typeface="楷体_GB2312" pitchFamily="49" charset="-122"/>
              </a:rPr>
              <a:t>浓度升高，结合于</a:t>
            </a:r>
            <a:r>
              <a:rPr lang="zh-CN" altLang="en-US" sz="2800" b="1">
                <a:solidFill>
                  <a:srgbClr val="A50021"/>
                </a:solidFill>
                <a:latin typeface="楷体_GB2312" pitchFamily="49" charset="-122"/>
                <a:ea typeface="楷体_GB2312" pitchFamily="49" charset="-122"/>
              </a:rPr>
              <a:t>磷酸化酶</a:t>
            </a:r>
            <a:r>
              <a:rPr lang="en-US" altLang="zh-CN" sz="2800" b="1">
                <a:solidFill>
                  <a:srgbClr val="A50021"/>
                </a:solidFill>
                <a:latin typeface="楷体_GB2312" pitchFamily="49" charset="-122"/>
                <a:ea typeface="楷体_GB2312" pitchFamily="49" charset="-122"/>
              </a:rPr>
              <a:t>b</a:t>
            </a:r>
            <a:r>
              <a:rPr lang="zh-CN" altLang="en-US" sz="2800" b="1">
                <a:latin typeface="楷体_GB2312" pitchFamily="49" charset="-122"/>
                <a:ea typeface="楷体_GB2312" pitchFamily="49" charset="-122"/>
              </a:rPr>
              <a:t>的</a:t>
            </a:r>
            <a:r>
              <a:rPr lang="en-US" altLang="zh-CN" sz="2800" b="1">
                <a:latin typeface="楷体_GB2312" pitchFamily="49" charset="-122"/>
                <a:ea typeface="楷体_GB2312" pitchFamily="49" charset="-122"/>
              </a:rPr>
              <a:t>AMP</a:t>
            </a:r>
            <a:r>
              <a:rPr lang="zh-CN" altLang="en-US" sz="2800" b="1">
                <a:latin typeface="楷体_GB2312" pitchFamily="49" charset="-122"/>
                <a:ea typeface="楷体_GB2312" pitchFamily="49" charset="-122"/>
              </a:rPr>
              <a:t>结合位点，导致酶构象由无活性的</a:t>
            </a:r>
            <a:r>
              <a:rPr lang="en-US" altLang="zh-CN" sz="2800" b="1">
                <a:latin typeface="楷体_GB2312" pitchFamily="49" charset="-122"/>
                <a:ea typeface="楷体_GB2312" pitchFamily="49" charset="-122"/>
              </a:rPr>
              <a:t>T</a:t>
            </a:r>
            <a:r>
              <a:rPr lang="zh-CN" altLang="en-US" sz="2800" b="1">
                <a:latin typeface="楷体_GB2312" pitchFamily="49" charset="-122"/>
                <a:ea typeface="楷体_GB2312" pitchFamily="49" charset="-122"/>
              </a:rPr>
              <a:t>状态改变为高活性的 </a:t>
            </a:r>
            <a:r>
              <a:rPr lang="en-US" altLang="zh-CN" sz="2800" b="1">
                <a:latin typeface="楷体_GB2312" pitchFamily="49" charset="-122"/>
                <a:ea typeface="楷体_GB2312" pitchFamily="49" charset="-122"/>
              </a:rPr>
              <a:t>R</a:t>
            </a:r>
            <a:r>
              <a:rPr lang="zh-CN" altLang="en-US" sz="2800" b="1">
                <a:latin typeface="楷体_GB2312" pitchFamily="49" charset="-122"/>
                <a:ea typeface="楷体_GB2312" pitchFamily="49" charset="-122"/>
              </a:rPr>
              <a:t>状态， 促进糖原磷酸解发生，增加血糖供应，促进糖酵解和氧化产能；</a:t>
            </a:r>
            <a:r>
              <a:rPr lang="en-US" altLang="zh-CN" sz="2800" b="1">
                <a:solidFill>
                  <a:srgbClr val="CC0000"/>
                </a:solidFill>
                <a:latin typeface="楷体_GB2312" pitchFamily="49" charset="-122"/>
                <a:ea typeface="楷体_GB2312" pitchFamily="49" charset="-122"/>
              </a:rPr>
              <a:t>ATP</a:t>
            </a:r>
            <a:r>
              <a:rPr lang="zh-CN" altLang="en-US" sz="2800" b="1">
                <a:latin typeface="楷体_GB2312" pitchFamily="49" charset="-122"/>
                <a:ea typeface="楷体_GB2312" pitchFamily="49" charset="-122"/>
              </a:rPr>
              <a:t>则相反。</a:t>
            </a:r>
            <a:r>
              <a:rPr lang="zh-CN" altLang="en-US" sz="2800">
                <a:latin typeface="楷体_GB2312" pitchFamily="49" charset="-122"/>
                <a:ea typeface="楷体_GB2312" pitchFamily="49" charset="-122"/>
              </a:rPr>
              <a:t> </a:t>
            </a:r>
            <a:endParaRPr lang="zh-CN" altLang="en-US" sz="2800">
              <a:latin typeface="楷体_GB2312" pitchFamily="49" charset="-122"/>
              <a:ea typeface="楷体_GB2312" pitchFamily="49" charset="-122"/>
            </a:endParaRPr>
          </a:p>
        </p:txBody>
      </p:sp>
      <p:sp>
        <p:nvSpPr>
          <p:cNvPr id="39939" name="Rectangle 7"/>
          <p:cNvSpPr/>
          <p:nvPr/>
        </p:nvSpPr>
        <p:spPr>
          <a:xfrm>
            <a:off x="2124075" y="333375"/>
            <a:ext cx="5184775"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  </a:t>
            </a:r>
            <a:r>
              <a:rPr lang="en-US" altLang="zh-CN" sz="2800" b="1">
                <a:ea typeface="黑体" pitchFamily="49" charset="-122"/>
              </a:rPr>
              <a:t> </a:t>
            </a:r>
            <a:r>
              <a:rPr lang="zh-CN" altLang="en-US" sz="2800" b="1">
                <a:ea typeface="黑体" pitchFamily="49" charset="-122"/>
              </a:rPr>
              <a:t>糖原</a:t>
            </a:r>
            <a:r>
              <a:rPr lang="zh-CN" altLang="en-US" sz="2800" b="1">
                <a:ea typeface="黑体" pitchFamily="49" charset="-122"/>
              </a:rPr>
              <a:t>磷酸化酶</a:t>
            </a:r>
            <a:r>
              <a:rPr lang="en-US" altLang="zh-CN" sz="2800" b="1">
                <a:ea typeface="宋体" pitchFamily="2" charset="-122"/>
              </a:rPr>
              <a:t>b</a:t>
            </a:r>
            <a:r>
              <a:rPr lang="zh-CN" altLang="en-US" sz="2800" b="1">
                <a:ea typeface="黑体" pitchFamily="49" charset="-122"/>
              </a:rPr>
              <a:t>的别构调节 </a:t>
            </a:r>
            <a:r>
              <a:rPr lang="en-US" altLang="zh-CN" sz="2800" b="1">
                <a:ea typeface="宋体" pitchFamily="2" charset="-122"/>
              </a:rPr>
              <a:t>I  </a:t>
            </a:r>
            <a:endParaRPr lang="en-US" altLang="zh-CN" sz="1800"/>
          </a:p>
        </p:txBody>
      </p:sp>
      <p:sp>
        <p:nvSpPr>
          <p:cNvPr id="39940" name="Text Box 8"/>
          <p:cNvSpPr txBox="1"/>
          <p:nvPr/>
        </p:nvSpPr>
        <p:spPr>
          <a:xfrm>
            <a:off x="6099175" y="4149725"/>
            <a:ext cx="1512888"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a:solidFill>
                  <a:schemeClr val="hlink"/>
                </a:solidFill>
                <a:ea typeface="宋体" pitchFamily="2" charset="-122"/>
              </a:rPr>
              <a:t>——</a:t>
            </a:r>
            <a:r>
              <a:rPr lang="zh-CN" altLang="en-US" sz="2400">
                <a:solidFill>
                  <a:schemeClr val="hlink"/>
                </a:solidFill>
                <a:ea typeface="黑体" pitchFamily="49" charset="-122"/>
              </a:rPr>
              <a:t>活性</a:t>
            </a:r>
            <a:endParaRPr lang="zh-CN" altLang="en-US" sz="2400">
              <a:solidFill>
                <a:schemeClr val="hlink"/>
              </a:solidFill>
              <a:ea typeface="黑体" pitchFamily="49" charset="-122"/>
            </a:endParaRPr>
          </a:p>
        </p:txBody>
      </p:sp>
      <p:sp>
        <p:nvSpPr>
          <p:cNvPr id="39941" name="Text Box 9"/>
          <p:cNvSpPr txBox="1"/>
          <p:nvPr/>
        </p:nvSpPr>
        <p:spPr>
          <a:xfrm>
            <a:off x="2916238" y="4164013"/>
            <a:ext cx="1728787"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a:solidFill>
                  <a:srgbClr val="CC0000"/>
                </a:solidFill>
                <a:ea typeface="宋体" pitchFamily="2" charset="-122"/>
              </a:rPr>
              <a:t>——</a:t>
            </a:r>
            <a:r>
              <a:rPr lang="zh-CN" altLang="en-US" sz="2400">
                <a:solidFill>
                  <a:srgbClr val="CC0000"/>
                </a:solidFill>
                <a:ea typeface="黑体" pitchFamily="49" charset="-122"/>
              </a:rPr>
              <a:t>失活</a:t>
            </a:r>
            <a:endParaRPr lang="zh-CN" altLang="en-US" sz="2400">
              <a:solidFill>
                <a:srgbClr val="CC0000"/>
              </a:solidFill>
              <a:ea typeface="黑体" pitchFamily="49" charset="-122"/>
            </a:endParaRPr>
          </a:p>
        </p:txBody>
      </p:sp>
      <p:sp>
        <p:nvSpPr>
          <p:cNvPr id="125962" name="Text Box 10"/>
          <p:cNvSpPr txBox="1"/>
          <p:nvPr/>
        </p:nvSpPr>
        <p:spPr>
          <a:xfrm>
            <a:off x="1116013" y="2205038"/>
            <a:ext cx="1268412" cy="70167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核苷酸结合位点</a:t>
            </a:r>
            <a:endParaRPr lang="zh-CN" altLang="en-US" sz="2000" b="1">
              <a:ea typeface="楷体_GB2312" pitchFamily="49" charset="-122"/>
            </a:endParaRPr>
          </a:p>
        </p:txBody>
      </p:sp>
      <p:sp>
        <p:nvSpPr>
          <p:cNvPr id="125963" name="Line 11"/>
          <p:cNvSpPr/>
          <p:nvPr/>
        </p:nvSpPr>
        <p:spPr>
          <a:xfrm>
            <a:off x="4067175" y="2679700"/>
            <a:ext cx="1009650" cy="0"/>
          </a:xfrm>
          <a:prstGeom prst="line">
            <a:avLst/>
          </a:prstGeom>
          <a:ln w="57150" cap="flat" cmpd="sng">
            <a:solidFill>
              <a:schemeClr val="tx1"/>
            </a:solidFill>
            <a:prstDash val="solid"/>
            <a:miter/>
            <a:headEnd type="none" w="sm" len="sm"/>
            <a:tailEnd type="triangle" w="sm" len="sm"/>
          </a:ln>
        </p:spPr>
      </p:sp>
      <p:sp>
        <p:nvSpPr>
          <p:cNvPr id="125964" name="Line 12"/>
          <p:cNvSpPr/>
          <p:nvPr/>
        </p:nvSpPr>
        <p:spPr>
          <a:xfrm flipH="1">
            <a:off x="4140200" y="2781300"/>
            <a:ext cx="935038" cy="0"/>
          </a:xfrm>
          <a:prstGeom prst="line">
            <a:avLst/>
          </a:prstGeom>
          <a:ln w="57150" cap="flat" cmpd="sng">
            <a:solidFill>
              <a:srgbClr val="CC0000"/>
            </a:solidFill>
            <a:prstDash val="solid"/>
            <a:miter/>
            <a:headEnd type="none" w="sm" len="sm"/>
            <a:tailEnd type="triangle" w="sm" len="sm"/>
          </a:ln>
        </p:spPr>
      </p:sp>
      <p:sp>
        <p:nvSpPr>
          <p:cNvPr id="3994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5962"/>
                                        </p:tgtEl>
                                        <p:attrNameLst>
                                          <p:attrName>style.visibility</p:attrName>
                                        </p:attrNameLst>
                                      </p:cBhvr>
                                      <p:to>
                                        <p:strVal val="visible"/>
                                      </p:to>
                                    </p:set>
                                    <p:animEffect transition="in" filter="checkerboard(across)">
                                      <p:cBhvr>
                                        <p:cTn id="7" dur="500"/>
                                        <p:tgtEl>
                                          <p:spTgt spid="12596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5963"/>
                                        </p:tgtEl>
                                        <p:attrNameLst>
                                          <p:attrName>style.visibility</p:attrName>
                                        </p:attrNameLst>
                                      </p:cBhvr>
                                      <p:to>
                                        <p:strVal val="visible"/>
                                      </p:to>
                                    </p:set>
                                    <p:animEffect transition="in" filter="checkerboard(across)">
                                      <p:cBhvr>
                                        <p:cTn id="12" dur="500"/>
                                        <p:tgtEl>
                                          <p:spTgt spid="12596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5964"/>
                                        </p:tgtEl>
                                        <p:attrNameLst>
                                          <p:attrName>style.visibility</p:attrName>
                                        </p:attrNameLst>
                                      </p:cBhvr>
                                      <p:to>
                                        <p:strVal val="visible"/>
                                      </p:to>
                                    </p:set>
                                    <p:animEffect transition="in" filter="checkerboard(across)">
                                      <p:cBhvr>
                                        <p:cTn id="17" dur="500"/>
                                        <p:tgtEl>
                                          <p:spTgt spid="125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1" name="Picture 4" descr="An external file that holds a picture, illustration, etc., usually as some form of binary object. The name of referred object is ch21f12.jpg. "/>
          <p:cNvPicPr>
            <a:picLocks noChangeAspect="1"/>
          </p:cNvPicPr>
          <p:nvPr/>
        </p:nvPicPr>
        <p:blipFill>
          <a:blip r:embed="rId1"/>
          <a:stretch>
            <a:fillRect/>
          </a:stretch>
        </p:blipFill>
        <p:spPr>
          <a:xfrm>
            <a:off x="1619250" y="908050"/>
            <a:ext cx="5832475" cy="3605213"/>
          </a:xfrm>
          <a:prstGeom prst="rect">
            <a:avLst/>
          </a:prstGeom>
          <a:noFill/>
          <a:ln w="9525">
            <a:noFill/>
          </a:ln>
        </p:spPr>
      </p:pic>
      <p:sp>
        <p:nvSpPr>
          <p:cNvPr id="126982" name="Rectangle 6"/>
          <p:cNvSpPr/>
          <p:nvPr/>
        </p:nvSpPr>
        <p:spPr>
          <a:xfrm>
            <a:off x="827088" y="4581525"/>
            <a:ext cx="7777162" cy="18002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当机体营养充沛，代谢正常，细胞中葡萄糖浓度高时，</a:t>
            </a:r>
            <a:r>
              <a:rPr lang="zh-CN" altLang="en-US" sz="2800" b="1">
                <a:solidFill>
                  <a:srgbClr val="CC0000"/>
                </a:solidFill>
                <a:latin typeface="楷体_GB2312" pitchFamily="49" charset="-122"/>
                <a:ea typeface="楷体_GB2312" pitchFamily="49" charset="-122"/>
              </a:rPr>
              <a:t>葡萄糖</a:t>
            </a:r>
            <a:r>
              <a:rPr lang="zh-CN" altLang="en-US" sz="2800" b="1">
                <a:latin typeface="楷体_GB2312" pitchFamily="49" charset="-122"/>
                <a:ea typeface="楷体_GB2312" pitchFamily="49" charset="-122"/>
              </a:rPr>
              <a:t>结合于</a:t>
            </a:r>
            <a:r>
              <a:rPr lang="zh-CN" altLang="en-US" sz="2800" b="1">
                <a:solidFill>
                  <a:schemeClr val="hlink"/>
                </a:solidFill>
                <a:latin typeface="楷体_GB2312" pitchFamily="49" charset="-122"/>
                <a:ea typeface="楷体_GB2312" pitchFamily="49" charset="-122"/>
              </a:rPr>
              <a:t>磷酸化酶</a:t>
            </a:r>
            <a:r>
              <a:rPr lang="en-US" altLang="zh-CN" sz="2800" b="1">
                <a:solidFill>
                  <a:schemeClr val="hlink"/>
                </a:solidFill>
                <a:latin typeface="楷体_GB2312" pitchFamily="49" charset="-122"/>
                <a:ea typeface="楷体_GB2312" pitchFamily="49" charset="-122"/>
              </a:rPr>
              <a:t>a</a:t>
            </a:r>
            <a:r>
              <a:rPr lang="zh-CN" altLang="en-US" sz="2800" b="1">
                <a:latin typeface="楷体_GB2312" pitchFamily="49" charset="-122"/>
                <a:ea typeface="楷体_GB2312" pitchFamily="49" charset="-122"/>
              </a:rPr>
              <a:t>的</a:t>
            </a:r>
            <a:r>
              <a:rPr lang="en-US" altLang="zh-CN" sz="2800" b="1">
                <a:solidFill>
                  <a:srgbClr val="CC0000"/>
                </a:solidFill>
                <a:latin typeface="楷体_GB2312" pitchFamily="49" charset="-122"/>
                <a:ea typeface="楷体_GB2312" pitchFamily="49" charset="-122"/>
              </a:rPr>
              <a:t>G</a:t>
            </a:r>
            <a:r>
              <a:rPr lang="zh-CN" altLang="en-US" sz="2800" b="1">
                <a:solidFill>
                  <a:srgbClr val="CC0000"/>
                </a:solidFill>
                <a:latin typeface="楷体_GB2312" pitchFamily="49" charset="-122"/>
                <a:ea typeface="楷体_GB2312" pitchFamily="49" charset="-122"/>
              </a:rPr>
              <a:t>结合位点</a:t>
            </a:r>
            <a:r>
              <a:rPr lang="zh-CN" altLang="en-US" sz="2800" b="1">
                <a:latin typeface="楷体_GB2312" pitchFamily="49" charset="-122"/>
                <a:ea typeface="楷体_GB2312" pitchFamily="49" charset="-122"/>
              </a:rPr>
              <a:t>，导致其构象从有活性的</a:t>
            </a:r>
            <a:r>
              <a:rPr lang="en-US" altLang="zh-CN" sz="2800" b="1">
                <a:latin typeface="楷体_GB2312" pitchFamily="49" charset="-122"/>
                <a:ea typeface="楷体_GB2312" pitchFamily="49" charset="-122"/>
              </a:rPr>
              <a:t>R</a:t>
            </a:r>
            <a:r>
              <a:rPr lang="zh-CN" altLang="en-US" sz="2800" b="1">
                <a:latin typeface="楷体_GB2312" pitchFamily="49" charset="-122"/>
                <a:ea typeface="楷体_GB2312" pitchFamily="49" charset="-122"/>
              </a:rPr>
              <a:t>状态改变为无活性的</a:t>
            </a:r>
            <a:r>
              <a:rPr lang="en-US" altLang="zh-CN" sz="2800" b="1">
                <a:latin typeface="楷体_GB2312" pitchFamily="49" charset="-122"/>
                <a:ea typeface="楷体_GB2312" pitchFamily="49" charset="-122"/>
              </a:rPr>
              <a:t>T</a:t>
            </a:r>
            <a:r>
              <a:rPr lang="zh-CN" altLang="en-US" sz="2800" b="1">
                <a:latin typeface="楷体_GB2312" pitchFamily="49" charset="-122"/>
                <a:ea typeface="楷体_GB2312" pitchFamily="49" charset="-122"/>
              </a:rPr>
              <a:t>状态，因而，阻断糖原的分解。</a:t>
            </a:r>
            <a:endParaRPr lang="zh-CN" altLang="en-US" sz="2800" b="1">
              <a:latin typeface="楷体_GB2312" pitchFamily="49" charset="-122"/>
              <a:ea typeface="楷体_GB2312" pitchFamily="49" charset="-122"/>
            </a:endParaRPr>
          </a:p>
        </p:txBody>
      </p:sp>
      <p:sp>
        <p:nvSpPr>
          <p:cNvPr id="40963" name="Rectangle 8"/>
          <p:cNvSpPr/>
          <p:nvPr/>
        </p:nvSpPr>
        <p:spPr>
          <a:xfrm>
            <a:off x="2339975" y="333375"/>
            <a:ext cx="4645025" cy="5191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   </a:t>
            </a:r>
            <a:r>
              <a:rPr lang="zh-CN" altLang="en-US" sz="2800" b="1">
                <a:ea typeface="黑体" pitchFamily="49" charset="-122"/>
              </a:rPr>
              <a:t>磷酸化酶活性的别构调节 </a:t>
            </a:r>
            <a:r>
              <a:rPr lang="en-US" altLang="zh-CN" sz="2800" b="1">
                <a:ea typeface="宋体" pitchFamily="2" charset="-122"/>
              </a:rPr>
              <a:t>II</a:t>
            </a:r>
            <a:r>
              <a:rPr lang="en-US" altLang="zh-CN" sz="1800"/>
              <a:t> </a:t>
            </a:r>
            <a:endParaRPr lang="en-US" altLang="zh-CN" sz="1800"/>
          </a:p>
        </p:txBody>
      </p:sp>
      <p:sp>
        <p:nvSpPr>
          <p:cNvPr id="126987" name="Rectangle 11"/>
          <p:cNvSpPr/>
          <p:nvPr/>
        </p:nvSpPr>
        <p:spPr>
          <a:xfrm>
            <a:off x="7596188" y="1773238"/>
            <a:ext cx="128270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solidFill>
                  <a:srgbClr val="CC0000"/>
                </a:solidFill>
              </a:rPr>
              <a:t>G</a:t>
            </a:r>
            <a:r>
              <a:rPr lang="zh-CN" altLang="en-US" sz="1800" b="1">
                <a:solidFill>
                  <a:srgbClr val="CC0000"/>
                </a:solidFill>
              </a:rPr>
              <a:t>结合位点</a:t>
            </a:r>
            <a:endParaRPr lang="zh-CN" altLang="en-US" sz="1800" b="1">
              <a:solidFill>
                <a:srgbClr val="CC0000"/>
              </a:solidFill>
            </a:endParaRPr>
          </a:p>
        </p:txBody>
      </p:sp>
      <p:sp>
        <p:nvSpPr>
          <p:cNvPr id="126988" name="Line 12"/>
          <p:cNvSpPr/>
          <p:nvPr/>
        </p:nvSpPr>
        <p:spPr>
          <a:xfrm flipV="1">
            <a:off x="7235825" y="2060575"/>
            <a:ext cx="431800" cy="144463"/>
          </a:xfrm>
          <a:prstGeom prst="line">
            <a:avLst/>
          </a:prstGeom>
          <a:ln w="12700" cap="flat" cmpd="sng">
            <a:solidFill>
              <a:schemeClr val="tx1"/>
            </a:solidFill>
            <a:prstDash val="solid"/>
            <a:miter/>
            <a:headEnd type="none" w="sm" len="sm"/>
            <a:tailEnd type="none" w="sm" len="sm"/>
          </a:ln>
        </p:spPr>
      </p:sp>
      <p:sp>
        <p:nvSpPr>
          <p:cNvPr id="126989" name="Oval 13"/>
          <p:cNvSpPr/>
          <p:nvPr/>
        </p:nvSpPr>
        <p:spPr>
          <a:xfrm>
            <a:off x="7062788" y="2032000"/>
            <a:ext cx="287337" cy="287338"/>
          </a:xfrm>
          <a:prstGeom prst="ellipse">
            <a:avLst/>
          </a:prstGeom>
          <a:solidFill>
            <a:srgbClr val="CC0000"/>
          </a:solidFill>
          <a:ln w="127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b="1">
              <a:solidFill>
                <a:srgbClr val="CC0000"/>
              </a:solidFill>
            </a:endParaRPr>
          </a:p>
        </p:txBody>
      </p:sp>
      <p:sp>
        <p:nvSpPr>
          <p:cNvPr id="126990" name="Oval 14"/>
          <p:cNvSpPr/>
          <p:nvPr/>
        </p:nvSpPr>
        <p:spPr>
          <a:xfrm>
            <a:off x="5451475" y="3025775"/>
            <a:ext cx="287338" cy="287338"/>
          </a:xfrm>
          <a:prstGeom prst="ellipse">
            <a:avLst/>
          </a:prstGeom>
          <a:solidFill>
            <a:srgbClr val="CC0000"/>
          </a:solidFill>
          <a:ln w="127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b="1">
              <a:solidFill>
                <a:srgbClr val="CC0000"/>
              </a:solidFill>
            </a:endParaRPr>
          </a:p>
        </p:txBody>
      </p:sp>
      <p:sp>
        <p:nvSpPr>
          <p:cNvPr id="40968" name="Oval 15"/>
          <p:cNvSpPr/>
          <p:nvPr/>
        </p:nvSpPr>
        <p:spPr>
          <a:xfrm>
            <a:off x="1677988" y="3097213"/>
            <a:ext cx="287337" cy="287337"/>
          </a:xfrm>
          <a:prstGeom prst="ellipse">
            <a:avLst/>
          </a:prstGeom>
          <a:solidFill>
            <a:srgbClr val="CC0000"/>
          </a:solidFill>
          <a:ln w="127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b="1">
              <a:solidFill>
                <a:srgbClr val="CC0000"/>
              </a:solidFill>
            </a:endParaRPr>
          </a:p>
        </p:txBody>
      </p:sp>
      <p:sp>
        <p:nvSpPr>
          <p:cNvPr id="40969" name="Oval 16"/>
          <p:cNvSpPr/>
          <p:nvPr/>
        </p:nvSpPr>
        <p:spPr>
          <a:xfrm>
            <a:off x="3276600" y="2074863"/>
            <a:ext cx="287338" cy="287337"/>
          </a:xfrm>
          <a:prstGeom prst="ellipse">
            <a:avLst/>
          </a:prstGeom>
          <a:solidFill>
            <a:srgbClr val="CC0000"/>
          </a:solidFill>
          <a:ln w="127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b="1">
              <a:solidFill>
                <a:srgbClr val="CC0000"/>
              </a:solidFill>
            </a:endParaRPr>
          </a:p>
        </p:txBody>
      </p:sp>
      <p:sp>
        <p:nvSpPr>
          <p:cNvPr id="40970" name="Text Box 18"/>
          <p:cNvSpPr txBox="1"/>
          <p:nvPr/>
        </p:nvSpPr>
        <p:spPr>
          <a:xfrm>
            <a:off x="2441575" y="4164013"/>
            <a:ext cx="1728788"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a:solidFill>
                  <a:srgbClr val="CC0000"/>
                </a:solidFill>
                <a:ea typeface="宋体" pitchFamily="2" charset="-122"/>
              </a:rPr>
              <a:t>——</a:t>
            </a:r>
            <a:r>
              <a:rPr lang="zh-CN" altLang="en-US" sz="2400">
                <a:solidFill>
                  <a:srgbClr val="CC0000"/>
                </a:solidFill>
                <a:ea typeface="黑体" pitchFamily="49" charset="-122"/>
              </a:rPr>
              <a:t>失活</a:t>
            </a:r>
            <a:endParaRPr lang="zh-CN" altLang="en-US" sz="2400">
              <a:solidFill>
                <a:srgbClr val="CC0000"/>
              </a:solidFill>
              <a:ea typeface="黑体" pitchFamily="49" charset="-122"/>
            </a:endParaRPr>
          </a:p>
        </p:txBody>
      </p:sp>
      <p:sp>
        <p:nvSpPr>
          <p:cNvPr id="40971" name="Text Box 19"/>
          <p:cNvSpPr txBox="1"/>
          <p:nvPr/>
        </p:nvSpPr>
        <p:spPr>
          <a:xfrm>
            <a:off x="6200775" y="4162425"/>
            <a:ext cx="1512888"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a:solidFill>
                  <a:schemeClr val="hlink"/>
                </a:solidFill>
                <a:ea typeface="宋体" pitchFamily="2" charset="-122"/>
              </a:rPr>
              <a:t>——</a:t>
            </a:r>
            <a:r>
              <a:rPr lang="zh-CN" altLang="en-US" sz="2400">
                <a:solidFill>
                  <a:schemeClr val="hlink"/>
                </a:solidFill>
                <a:ea typeface="黑体" pitchFamily="49" charset="-122"/>
              </a:rPr>
              <a:t>活性</a:t>
            </a:r>
            <a:endParaRPr lang="zh-CN" altLang="en-US" sz="2400">
              <a:solidFill>
                <a:schemeClr val="hlink"/>
              </a:solidFill>
              <a:ea typeface="黑体" pitchFamily="49" charset="-122"/>
            </a:endParaRPr>
          </a:p>
        </p:txBody>
      </p:sp>
      <p:sp>
        <p:nvSpPr>
          <p:cNvPr id="126996" name="Rectangle 20"/>
          <p:cNvSpPr/>
          <p:nvPr/>
        </p:nvSpPr>
        <p:spPr>
          <a:xfrm>
            <a:off x="1042988" y="1125538"/>
            <a:ext cx="4105275" cy="3455987"/>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0973"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6989"/>
                                        </p:tgtEl>
                                        <p:attrNameLst>
                                          <p:attrName>style.visibility</p:attrName>
                                        </p:attrNameLst>
                                      </p:cBhvr>
                                      <p:to>
                                        <p:strVal val="visible"/>
                                      </p:to>
                                    </p:set>
                                    <p:animEffect transition="in" filter="checkerboard(across)">
                                      <p:cBhvr>
                                        <p:cTn id="7" dur="500"/>
                                        <p:tgtEl>
                                          <p:spTgt spid="126989"/>
                                        </p:tgtEl>
                                      </p:cBhvr>
                                    </p:animEffect>
                                  </p:childTnLst>
                                </p:cTn>
                              </p:par>
                              <p:par>
                                <p:cTn id="8" presetID="5" presetClass="entr" presetSubtype="10" fill="hold" nodeType="withEffect">
                                  <p:stCondLst>
                                    <p:cond delay="0"/>
                                  </p:stCondLst>
                                  <p:childTnLst>
                                    <p:set>
                                      <p:cBhvr>
                                        <p:cTn id="9" dur="1" fill="hold">
                                          <p:stCondLst>
                                            <p:cond delay="0"/>
                                          </p:stCondLst>
                                        </p:cTn>
                                        <p:tgtEl>
                                          <p:spTgt spid="126990"/>
                                        </p:tgtEl>
                                        <p:attrNameLst>
                                          <p:attrName>style.visibility</p:attrName>
                                        </p:attrNameLst>
                                      </p:cBhvr>
                                      <p:to>
                                        <p:strVal val="visible"/>
                                      </p:to>
                                    </p:set>
                                    <p:animEffect transition="in" filter="checkerboard(across)">
                                      <p:cBhvr>
                                        <p:cTn id="10" dur="500"/>
                                        <p:tgtEl>
                                          <p:spTgt spid="126990"/>
                                        </p:tgtEl>
                                      </p:cBhvr>
                                    </p:animEffect>
                                  </p:childTnLst>
                                </p:cTn>
                              </p:par>
                              <p:par>
                                <p:cTn id="11" presetID="5" presetClass="entr" presetSubtype="10" fill="hold" nodeType="withEffect">
                                  <p:stCondLst>
                                    <p:cond delay="0"/>
                                  </p:stCondLst>
                                  <p:childTnLst>
                                    <p:set>
                                      <p:cBhvr>
                                        <p:cTn id="12" dur="1" fill="hold">
                                          <p:stCondLst>
                                            <p:cond delay="0"/>
                                          </p:stCondLst>
                                        </p:cTn>
                                        <p:tgtEl>
                                          <p:spTgt spid="126988"/>
                                        </p:tgtEl>
                                        <p:attrNameLst>
                                          <p:attrName>style.visibility</p:attrName>
                                        </p:attrNameLst>
                                      </p:cBhvr>
                                      <p:to>
                                        <p:strVal val="visible"/>
                                      </p:to>
                                    </p:set>
                                    <p:animEffect transition="in" filter="checkerboard(across)">
                                      <p:cBhvr>
                                        <p:cTn id="13" dur="500"/>
                                        <p:tgtEl>
                                          <p:spTgt spid="126988"/>
                                        </p:tgtEl>
                                      </p:cBhvr>
                                    </p:animEffect>
                                  </p:childTnLst>
                                </p:cTn>
                              </p:par>
                              <p:par>
                                <p:cTn id="14" presetID="5" presetClass="entr" presetSubtype="10" fill="hold" nodeType="withEffect">
                                  <p:stCondLst>
                                    <p:cond delay="0"/>
                                  </p:stCondLst>
                                  <p:childTnLst>
                                    <p:set>
                                      <p:cBhvr>
                                        <p:cTn id="15" dur="1" fill="hold">
                                          <p:stCondLst>
                                            <p:cond delay="0"/>
                                          </p:stCondLst>
                                        </p:cTn>
                                        <p:tgtEl>
                                          <p:spTgt spid="126987"/>
                                        </p:tgtEl>
                                        <p:attrNameLst>
                                          <p:attrName>style.visibility</p:attrName>
                                        </p:attrNameLst>
                                      </p:cBhvr>
                                      <p:to>
                                        <p:strVal val="visible"/>
                                      </p:to>
                                    </p:set>
                                    <p:animEffect transition="in" filter="checkerboard(across)">
                                      <p:cBhvr>
                                        <p:cTn id="16" dur="500"/>
                                        <p:tgtEl>
                                          <p:spTgt spid="126987"/>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26982">
                                            <p:txEl>
                                              <p:charRg st="0" end="78"/>
                                            </p:txEl>
                                          </p:spTgt>
                                        </p:tgtEl>
                                        <p:attrNameLst>
                                          <p:attrName>style.visibility</p:attrName>
                                        </p:attrNameLst>
                                      </p:cBhvr>
                                      <p:to>
                                        <p:strVal val="visible"/>
                                      </p:to>
                                    </p:set>
                                    <p:animEffect transition="in" filter="checkerboard(across)">
                                      <p:cBhvr>
                                        <p:cTn id="21" dur="500"/>
                                        <p:tgtEl>
                                          <p:spTgt spid="126982">
                                            <p:txEl>
                                              <p:charRg st="0" end="7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4" presetClass="exit" presetSubtype="0" fill="hold" grpId="0" nodeType="clickEffect">
                                  <p:stCondLst>
                                    <p:cond delay="0"/>
                                  </p:stCondLst>
                                  <p:childTnLst>
                                    <p:anim to="" calcmode="lin" valueType="num">
                                      <p:cBhvr>
                                        <p:cTn id="25" dur="1"/>
                                        <p:tgtEl>
                                          <p:spTgt spid="126996"/>
                                        </p:tgtEl>
                                        <p:attrNameLst>
                                          <p:attrName>style.visibility</p:attrName>
                                        </p:attrNameLst>
                                      </p:cBhvr>
                                    </p:anim>
                                    <p:set>
                                      <p:cBhvr>
                                        <p:cTn id="26" dur="1" fill="hold">
                                          <p:stCondLst>
                                            <p:cond delay="0"/>
                                          </p:stCondLst>
                                        </p:cTn>
                                        <p:tgtEl>
                                          <p:spTgt spid="1269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9" grpId="0" animBg="1"/>
      <p:bldP spid="12699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5" name="Picture 5" descr="graphic element"/>
          <p:cNvPicPr>
            <a:picLocks noChangeAspect="1"/>
          </p:cNvPicPr>
          <p:nvPr/>
        </p:nvPicPr>
        <p:blipFill>
          <a:blip r:embed="rId1"/>
          <a:stretch>
            <a:fillRect/>
          </a:stretch>
        </p:blipFill>
        <p:spPr>
          <a:xfrm>
            <a:off x="827088" y="1341438"/>
            <a:ext cx="7345362" cy="3559175"/>
          </a:xfrm>
          <a:prstGeom prst="rect">
            <a:avLst/>
          </a:prstGeom>
          <a:noFill/>
          <a:ln w="9525">
            <a:noFill/>
          </a:ln>
        </p:spPr>
      </p:pic>
      <p:sp>
        <p:nvSpPr>
          <p:cNvPr id="41986" name="Text Box 8"/>
          <p:cNvSpPr txBox="1"/>
          <p:nvPr/>
        </p:nvSpPr>
        <p:spPr>
          <a:xfrm>
            <a:off x="2051050" y="404813"/>
            <a:ext cx="540067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宋体" pitchFamily="2" charset="-122"/>
              </a:rPr>
              <a:t>2.3 </a:t>
            </a:r>
            <a:r>
              <a:rPr lang="zh-CN" altLang="en-US" sz="2800">
                <a:latin typeface="黑体" pitchFamily="49" charset="-122"/>
                <a:ea typeface="黑体" pitchFamily="49" charset="-122"/>
              </a:rPr>
              <a:t>糖原分支处葡糖基的水解</a:t>
            </a:r>
            <a:endParaRPr lang="en-US" altLang="zh-CN" sz="2800">
              <a:latin typeface="黑体" pitchFamily="49" charset="-122"/>
              <a:ea typeface="宋体" pitchFamily="2" charset="-122"/>
            </a:endParaRPr>
          </a:p>
        </p:txBody>
      </p:sp>
      <p:sp>
        <p:nvSpPr>
          <p:cNvPr id="41987" name="Rectangle 9"/>
          <p:cNvSpPr/>
          <p:nvPr/>
        </p:nvSpPr>
        <p:spPr>
          <a:xfrm>
            <a:off x="3146425" y="2924175"/>
            <a:ext cx="1643063" cy="7016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000" b="1">
                <a:solidFill>
                  <a:schemeClr val="accent2"/>
                </a:solidFill>
                <a:latin typeface="Times New Roman" panose="02020603050405020304" charset="0"/>
                <a:ea typeface="楷体_GB2312" pitchFamily="49" charset="-122"/>
              </a:rPr>
              <a:t>糖原脱支酶</a:t>
            </a:r>
            <a:r>
              <a:rPr lang="en-US" altLang="zh-CN" sz="2000" b="1">
                <a:latin typeface="Times New Roman" panose="02020603050405020304" charset="0"/>
                <a:ea typeface="楷体_GB2312" pitchFamily="49" charset="-122"/>
              </a:rPr>
              <a:t>(</a:t>
            </a:r>
            <a:r>
              <a:rPr lang="zh-CN" altLang="en-US" sz="2000" b="1">
                <a:solidFill>
                  <a:schemeClr val="accent2"/>
                </a:solidFill>
                <a:latin typeface="Times New Roman" panose="02020603050405020304" charset="0"/>
                <a:ea typeface="楷体_GB2312" pitchFamily="49" charset="-122"/>
              </a:rPr>
              <a:t>糖苷键水解</a:t>
            </a:r>
            <a:r>
              <a:rPr lang="en-US" altLang="zh-CN" sz="2000" b="1">
                <a:latin typeface="Times New Roman" panose="02020603050405020304" charset="0"/>
                <a:ea typeface="楷体_GB2312" pitchFamily="49" charset="-122"/>
              </a:rPr>
              <a:t>)</a:t>
            </a:r>
            <a:endParaRPr lang="en-US" altLang="zh-CN" sz="2000" b="1">
              <a:latin typeface="Times New Roman" panose="02020603050405020304" charset="0"/>
              <a:ea typeface="楷体_GB2312" pitchFamily="49" charset="-122"/>
            </a:endParaRPr>
          </a:p>
        </p:txBody>
      </p:sp>
      <p:sp>
        <p:nvSpPr>
          <p:cNvPr id="41988"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3009" name="Group 3"/>
          <p:cNvGrpSpPr/>
          <p:nvPr/>
        </p:nvGrpSpPr>
        <p:grpSpPr>
          <a:xfrm>
            <a:off x="3038475" y="0"/>
            <a:ext cx="6105525" cy="6858000"/>
            <a:chOff x="712" y="0"/>
            <a:chExt cx="3846" cy="4320"/>
          </a:xfrm>
        </p:grpSpPr>
        <p:pic>
          <p:nvPicPr>
            <p:cNvPr id="43038" name="Picture 4" descr="422"/>
            <p:cNvPicPr>
              <a:picLocks noChangeAspect="1"/>
            </p:cNvPicPr>
            <p:nvPr/>
          </p:nvPicPr>
          <p:blipFill>
            <a:blip r:embed="rId1">
              <a:lum bright="-39999" contrast="60000"/>
            </a:blip>
            <a:srcRect t="50806"/>
            <a:stretch>
              <a:fillRect/>
            </a:stretch>
          </p:blipFill>
          <p:spPr>
            <a:xfrm>
              <a:off x="712" y="0"/>
              <a:ext cx="3846" cy="4320"/>
            </a:xfrm>
            <a:prstGeom prst="rect">
              <a:avLst/>
            </a:prstGeom>
            <a:noFill/>
            <a:ln w="9525">
              <a:noFill/>
            </a:ln>
          </p:spPr>
        </p:pic>
        <p:sp>
          <p:nvSpPr>
            <p:cNvPr id="43039" name="Rectangle 5"/>
            <p:cNvSpPr/>
            <p:nvPr/>
          </p:nvSpPr>
          <p:spPr>
            <a:xfrm>
              <a:off x="793" y="1020"/>
              <a:ext cx="1691" cy="596"/>
            </a:xfrm>
            <a:prstGeom prst="rect">
              <a:avLst/>
            </a:prstGeom>
            <a:solidFill>
              <a:srgbClr val="D9EDEF"/>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ea typeface="楷体_GB2312" pitchFamily="49" charset="-122"/>
                </a:rPr>
                <a:t>糖原脱支酶：</a:t>
              </a:r>
              <a:endParaRPr lang="zh-CN" altLang="en-US" sz="2800" b="1">
                <a:latin typeface="Times New Roman" panose="02020603050405020304" charset="0"/>
                <a:ea typeface="楷体_GB2312" pitchFamily="49" charset="-122"/>
              </a:endParaRPr>
            </a:p>
            <a:p>
              <a:pPr marL="0" lvl="0" indent="0" eaLnBrk="1" hangingPunct="1">
                <a:spcBef>
                  <a:spcPct val="0"/>
                </a:spcBef>
                <a:buNone/>
              </a:pPr>
              <a:r>
                <a:rPr lang="zh-CN" altLang="en-US" sz="2800" b="1">
                  <a:latin typeface="Times New Roman" panose="02020603050405020304" charset="0"/>
                  <a:ea typeface="楷体_GB2312" pitchFamily="49" charset="-122"/>
                </a:rPr>
                <a:t>糖基转移酶活性</a:t>
              </a:r>
              <a:endParaRPr lang="zh-CN" altLang="en-US" sz="2800" b="1">
                <a:latin typeface="Times New Roman" panose="02020603050405020304" charset="0"/>
                <a:ea typeface="楷体_GB2312" pitchFamily="49" charset="-122"/>
              </a:endParaRPr>
            </a:p>
          </p:txBody>
        </p:sp>
        <p:sp>
          <p:nvSpPr>
            <p:cNvPr id="43040" name="Rectangle 6"/>
            <p:cNvSpPr/>
            <p:nvPr/>
          </p:nvSpPr>
          <p:spPr>
            <a:xfrm>
              <a:off x="782" y="2465"/>
              <a:ext cx="1806" cy="596"/>
            </a:xfrm>
            <a:prstGeom prst="rect">
              <a:avLst/>
            </a:prstGeom>
            <a:solidFill>
              <a:srgbClr val="D9EDEF"/>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糖原脱支酶：</a:t>
              </a:r>
              <a:endParaRPr lang="zh-CN" altLang="en-US" sz="2800" b="1">
                <a:latin typeface="楷体_GB2312" pitchFamily="49" charset="-122"/>
                <a:ea typeface="楷体_GB2312" pitchFamily="49" charset="-122"/>
              </a:endParaRPr>
            </a:p>
            <a:p>
              <a:pPr marL="0" lvl="0" indent="0" eaLnBrk="1" hangingPunct="1">
                <a:spcBef>
                  <a:spcPct val="0"/>
                </a:spcBef>
                <a:buNone/>
              </a:pPr>
              <a:r>
                <a:rPr lang="en-US" altLang="zh-CN" sz="2800" b="1">
                  <a:latin typeface="楷体_GB2312" pitchFamily="49" charset="-122"/>
                  <a:ea typeface="楷体_GB2312" pitchFamily="49" charset="-122"/>
                </a:rPr>
                <a:t>a-1,6</a:t>
              </a:r>
              <a:r>
                <a:rPr lang="zh-CN" altLang="en-US" sz="2800" b="1">
                  <a:latin typeface="楷体_GB2312" pitchFamily="49" charset="-122"/>
                  <a:ea typeface="楷体_GB2312" pitchFamily="49" charset="-122"/>
                </a:rPr>
                <a:t>糖苷酶活性</a:t>
              </a:r>
              <a:endParaRPr lang="zh-CN" altLang="en-US" sz="2800" b="1">
                <a:latin typeface="楷体_GB2312" pitchFamily="49" charset="-122"/>
                <a:ea typeface="楷体_GB2312" pitchFamily="49" charset="-122"/>
              </a:endParaRPr>
            </a:p>
          </p:txBody>
        </p:sp>
      </p:grpSp>
      <p:sp>
        <p:nvSpPr>
          <p:cNvPr id="43010" name="Rectangle 7"/>
          <p:cNvSpPr/>
          <p:nvPr/>
        </p:nvSpPr>
        <p:spPr>
          <a:xfrm>
            <a:off x="1476375" y="5157788"/>
            <a:ext cx="9620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latin typeface="Times New Roman" panose="02020603050405020304" charset="0"/>
              </a:rPr>
              <a:t>G-1-P</a:t>
            </a:r>
            <a:endParaRPr lang="en-US" altLang="zh-CN" sz="2400" b="1">
              <a:latin typeface="Times New Roman" panose="02020603050405020304" charset="0"/>
            </a:endParaRPr>
          </a:p>
        </p:txBody>
      </p:sp>
      <p:sp>
        <p:nvSpPr>
          <p:cNvPr id="43011" name="Line 8"/>
          <p:cNvSpPr/>
          <p:nvPr/>
        </p:nvSpPr>
        <p:spPr>
          <a:xfrm flipH="1" flipV="1">
            <a:off x="2484438" y="5516563"/>
            <a:ext cx="1511300" cy="0"/>
          </a:xfrm>
          <a:prstGeom prst="line">
            <a:avLst/>
          </a:prstGeom>
          <a:ln w="25400" cap="flat" cmpd="sng">
            <a:solidFill>
              <a:srgbClr val="FF0000"/>
            </a:solidFill>
            <a:prstDash val="sysDot"/>
            <a:miter/>
            <a:headEnd type="none" w="med" len="med"/>
            <a:tailEnd type="triangle" w="med" len="med"/>
          </a:ln>
        </p:spPr>
      </p:sp>
      <p:sp>
        <p:nvSpPr>
          <p:cNvPr id="43012" name="Rectangle 9"/>
          <p:cNvSpPr/>
          <p:nvPr/>
        </p:nvSpPr>
        <p:spPr>
          <a:xfrm>
            <a:off x="1476375" y="2133600"/>
            <a:ext cx="11017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latin typeface="Times New Roman" panose="02020603050405020304" charset="0"/>
                <a:ea typeface="楷体_GB2312" pitchFamily="49" charset="-122"/>
              </a:rPr>
              <a:t>～</a:t>
            </a:r>
            <a:r>
              <a:rPr lang="en-US" altLang="zh-CN" sz="2400" b="1">
                <a:latin typeface="Times New Roman" panose="02020603050405020304" charset="0"/>
                <a:ea typeface="楷体_GB2312" pitchFamily="49" charset="-122"/>
              </a:rPr>
              <a:t>90</a:t>
            </a:r>
            <a:r>
              <a:rPr lang="zh-CN" altLang="en-US" sz="2400" b="1">
                <a:latin typeface="Times New Roman" panose="02020603050405020304" charset="0"/>
                <a:ea typeface="楷体_GB2312" pitchFamily="49" charset="-122"/>
              </a:rPr>
              <a:t>％</a:t>
            </a:r>
            <a:endParaRPr lang="zh-CN" altLang="en-US" sz="2400" b="1">
              <a:latin typeface="Times New Roman" panose="02020603050405020304" charset="0"/>
              <a:ea typeface="楷体_GB2312" pitchFamily="49" charset="-122"/>
            </a:endParaRPr>
          </a:p>
        </p:txBody>
      </p:sp>
      <p:sp>
        <p:nvSpPr>
          <p:cNvPr id="43013" name="Rectangle 11"/>
          <p:cNvSpPr/>
          <p:nvPr/>
        </p:nvSpPr>
        <p:spPr>
          <a:xfrm>
            <a:off x="6229350" y="3803650"/>
            <a:ext cx="6477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latin typeface="黑体" pitchFamily="49" charset="-122"/>
                <a:ea typeface="黑体" pitchFamily="49" charset="-122"/>
              </a:rPr>
              <a:t>H</a:t>
            </a:r>
            <a:r>
              <a:rPr lang="en-US" altLang="zh-CN" sz="2400" b="1" baseline="-25000">
                <a:latin typeface="黑体" pitchFamily="49" charset="-122"/>
                <a:ea typeface="黑体" pitchFamily="49" charset="-122"/>
              </a:rPr>
              <a:t>2</a:t>
            </a:r>
            <a:r>
              <a:rPr lang="en-US" altLang="zh-CN" sz="2400" b="1">
                <a:latin typeface="黑体" pitchFamily="49" charset="-122"/>
                <a:ea typeface="黑体" pitchFamily="49" charset="-122"/>
              </a:rPr>
              <a:t>O</a:t>
            </a:r>
            <a:endParaRPr lang="en-US" altLang="zh-CN" sz="2400" b="1">
              <a:latin typeface="黑体" pitchFamily="49" charset="-122"/>
              <a:ea typeface="黑体" pitchFamily="49" charset="-122"/>
            </a:endParaRPr>
          </a:p>
        </p:txBody>
      </p:sp>
      <p:sp>
        <p:nvSpPr>
          <p:cNvPr id="43014" name="Line 12"/>
          <p:cNvSpPr/>
          <p:nvPr/>
        </p:nvSpPr>
        <p:spPr>
          <a:xfrm flipH="1">
            <a:off x="6042025" y="4076700"/>
            <a:ext cx="215900" cy="288925"/>
          </a:xfrm>
          <a:prstGeom prst="line">
            <a:avLst/>
          </a:prstGeom>
          <a:ln w="38100" cap="flat" cmpd="sng">
            <a:solidFill>
              <a:schemeClr val="tx1"/>
            </a:solidFill>
            <a:prstDash val="solid"/>
            <a:miter/>
            <a:headEnd type="none" w="sm" len="sm"/>
            <a:tailEnd type="triangle" w="sm" len="sm"/>
          </a:ln>
        </p:spPr>
      </p:sp>
      <p:sp>
        <p:nvSpPr>
          <p:cNvPr id="43015" name="AutoShape 13"/>
          <p:cNvSpPr/>
          <p:nvPr/>
        </p:nvSpPr>
        <p:spPr>
          <a:xfrm>
            <a:off x="928688" y="2752725"/>
            <a:ext cx="358775" cy="215900"/>
          </a:xfrm>
          <a:prstGeom prst="hexagon">
            <a:avLst>
              <a:gd name="adj" fmla="val 41544"/>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grpSp>
        <p:nvGrpSpPr>
          <p:cNvPr id="43016" name="Group 17"/>
          <p:cNvGrpSpPr/>
          <p:nvPr/>
        </p:nvGrpSpPr>
        <p:grpSpPr>
          <a:xfrm>
            <a:off x="684213" y="4797425"/>
            <a:ext cx="574675" cy="217488"/>
            <a:chOff x="612" y="3339"/>
            <a:chExt cx="362" cy="137"/>
          </a:xfrm>
        </p:grpSpPr>
        <p:sp>
          <p:nvSpPr>
            <p:cNvPr id="43036" name="AutoShape 15"/>
            <p:cNvSpPr/>
            <p:nvPr/>
          </p:nvSpPr>
          <p:spPr>
            <a:xfrm>
              <a:off x="612" y="3339"/>
              <a:ext cx="227" cy="137"/>
            </a:xfrm>
            <a:prstGeom prst="hexagon">
              <a:avLst>
                <a:gd name="adj" fmla="val 41423"/>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37" name="Oval 16"/>
            <p:cNvSpPr/>
            <p:nvPr/>
          </p:nvSpPr>
          <p:spPr>
            <a:xfrm>
              <a:off x="838" y="3339"/>
              <a:ext cx="136" cy="136"/>
            </a:xfrm>
            <a:prstGeom prst="ellipse">
              <a:avLst/>
            </a:prstGeom>
            <a:solidFill>
              <a:srgbClr val="F0F8A6"/>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grpSp>
        <p:nvGrpSpPr>
          <p:cNvPr id="43017" name="Group 18"/>
          <p:cNvGrpSpPr/>
          <p:nvPr/>
        </p:nvGrpSpPr>
        <p:grpSpPr>
          <a:xfrm>
            <a:off x="1116013" y="5661025"/>
            <a:ext cx="574675" cy="217488"/>
            <a:chOff x="612" y="3339"/>
            <a:chExt cx="362" cy="137"/>
          </a:xfrm>
        </p:grpSpPr>
        <p:sp>
          <p:nvSpPr>
            <p:cNvPr id="43034" name="AutoShape 19"/>
            <p:cNvSpPr/>
            <p:nvPr/>
          </p:nvSpPr>
          <p:spPr>
            <a:xfrm>
              <a:off x="612" y="3339"/>
              <a:ext cx="227" cy="137"/>
            </a:xfrm>
            <a:prstGeom prst="hexagon">
              <a:avLst>
                <a:gd name="adj" fmla="val 41423"/>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35" name="Oval 20"/>
            <p:cNvSpPr/>
            <p:nvPr/>
          </p:nvSpPr>
          <p:spPr>
            <a:xfrm>
              <a:off x="838" y="3339"/>
              <a:ext cx="136" cy="136"/>
            </a:xfrm>
            <a:prstGeom prst="ellipse">
              <a:avLst/>
            </a:prstGeom>
            <a:solidFill>
              <a:srgbClr val="F0F8A6"/>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grpSp>
        <p:nvGrpSpPr>
          <p:cNvPr id="43018" name="Group 21"/>
          <p:cNvGrpSpPr/>
          <p:nvPr/>
        </p:nvGrpSpPr>
        <p:grpSpPr>
          <a:xfrm>
            <a:off x="755650" y="5300663"/>
            <a:ext cx="574675" cy="217487"/>
            <a:chOff x="612" y="3339"/>
            <a:chExt cx="362" cy="137"/>
          </a:xfrm>
        </p:grpSpPr>
        <p:sp>
          <p:nvSpPr>
            <p:cNvPr id="43032" name="AutoShape 22"/>
            <p:cNvSpPr/>
            <p:nvPr/>
          </p:nvSpPr>
          <p:spPr>
            <a:xfrm>
              <a:off x="612" y="3339"/>
              <a:ext cx="227" cy="137"/>
            </a:xfrm>
            <a:prstGeom prst="hexagon">
              <a:avLst>
                <a:gd name="adj" fmla="val 41423"/>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33" name="Oval 23"/>
            <p:cNvSpPr/>
            <p:nvPr/>
          </p:nvSpPr>
          <p:spPr>
            <a:xfrm>
              <a:off x="838" y="3339"/>
              <a:ext cx="136" cy="136"/>
            </a:xfrm>
            <a:prstGeom prst="ellipse">
              <a:avLst/>
            </a:prstGeom>
            <a:solidFill>
              <a:srgbClr val="F0F8A6"/>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grpSp>
        <p:nvGrpSpPr>
          <p:cNvPr id="43019" name="Group 24"/>
          <p:cNvGrpSpPr/>
          <p:nvPr/>
        </p:nvGrpSpPr>
        <p:grpSpPr>
          <a:xfrm>
            <a:off x="1547813" y="4797425"/>
            <a:ext cx="574675" cy="217488"/>
            <a:chOff x="612" y="3339"/>
            <a:chExt cx="362" cy="137"/>
          </a:xfrm>
        </p:grpSpPr>
        <p:sp>
          <p:nvSpPr>
            <p:cNvPr id="43030" name="AutoShape 25"/>
            <p:cNvSpPr/>
            <p:nvPr/>
          </p:nvSpPr>
          <p:spPr>
            <a:xfrm>
              <a:off x="612" y="3339"/>
              <a:ext cx="227" cy="137"/>
            </a:xfrm>
            <a:prstGeom prst="hexagon">
              <a:avLst>
                <a:gd name="adj" fmla="val 41423"/>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31" name="Oval 26"/>
            <p:cNvSpPr/>
            <p:nvPr/>
          </p:nvSpPr>
          <p:spPr>
            <a:xfrm>
              <a:off x="838" y="3339"/>
              <a:ext cx="136" cy="136"/>
            </a:xfrm>
            <a:prstGeom prst="ellipse">
              <a:avLst/>
            </a:prstGeom>
            <a:solidFill>
              <a:srgbClr val="F0F8A6"/>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sp>
        <p:nvSpPr>
          <p:cNvPr id="43020" name="Text Box 27"/>
          <p:cNvSpPr txBox="1"/>
          <p:nvPr/>
        </p:nvSpPr>
        <p:spPr>
          <a:xfrm>
            <a:off x="900113" y="836613"/>
            <a:ext cx="1944687" cy="1373187"/>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正常生理糖原降解：</a:t>
            </a:r>
            <a:endParaRPr lang="zh-CN" altLang="en-US" sz="2800" b="1">
              <a:ea typeface="楷体_GB2312" pitchFamily="49" charset="-122"/>
            </a:endParaRPr>
          </a:p>
        </p:txBody>
      </p:sp>
      <p:grpSp>
        <p:nvGrpSpPr>
          <p:cNvPr id="43021" name="Group 28"/>
          <p:cNvGrpSpPr/>
          <p:nvPr/>
        </p:nvGrpSpPr>
        <p:grpSpPr>
          <a:xfrm>
            <a:off x="900113" y="2205038"/>
            <a:ext cx="574675" cy="217487"/>
            <a:chOff x="612" y="3339"/>
            <a:chExt cx="362" cy="137"/>
          </a:xfrm>
        </p:grpSpPr>
        <p:sp>
          <p:nvSpPr>
            <p:cNvPr id="43028" name="AutoShape 29"/>
            <p:cNvSpPr/>
            <p:nvPr/>
          </p:nvSpPr>
          <p:spPr>
            <a:xfrm>
              <a:off x="612" y="3339"/>
              <a:ext cx="227" cy="137"/>
            </a:xfrm>
            <a:prstGeom prst="hexagon">
              <a:avLst>
                <a:gd name="adj" fmla="val 41423"/>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29" name="Oval 30"/>
            <p:cNvSpPr/>
            <p:nvPr/>
          </p:nvSpPr>
          <p:spPr>
            <a:xfrm>
              <a:off x="838" y="3339"/>
              <a:ext cx="136" cy="136"/>
            </a:xfrm>
            <a:prstGeom prst="ellipse">
              <a:avLst/>
            </a:prstGeom>
            <a:solidFill>
              <a:srgbClr val="F0F8A6"/>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sp>
        <p:nvSpPr>
          <p:cNvPr id="43022" name="Rectangle 31"/>
          <p:cNvSpPr/>
          <p:nvPr/>
        </p:nvSpPr>
        <p:spPr>
          <a:xfrm>
            <a:off x="2339975" y="5805488"/>
            <a:ext cx="20224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solidFill>
                  <a:srgbClr val="CC0000"/>
                </a:solidFill>
                <a:latin typeface="Times New Roman" panose="02020603050405020304" charset="0"/>
                <a:ea typeface="楷体_GB2312" pitchFamily="49" charset="-122"/>
              </a:rPr>
              <a:t>糖原磷酸化酶</a:t>
            </a:r>
            <a:endParaRPr lang="zh-CN" altLang="en-US" sz="2400" b="1">
              <a:solidFill>
                <a:srgbClr val="CC0000"/>
              </a:solidFill>
              <a:latin typeface="Times New Roman" panose="02020603050405020304" charset="0"/>
              <a:ea typeface="楷体_GB2312" pitchFamily="49" charset="-122"/>
            </a:endParaRPr>
          </a:p>
        </p:txBody>
      </p:sp>
      <p:sp>
        <p:nvSpPr>
          <p:cNvPr id="43023" name="Rectangle 32"/>
          <p:cNvSpPr/>
          <p:nvPr/>
        </p:nvSpPr>
        <p:spPr>
          <a:xfrm>
            <a:off x="1476375" y="2636838"/>
            <a:ext cx="11017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latin typeface="Times New Roman" panose="02020603050405020304" charset="0"/>
                <a:ea typeface="楷体_GB2312" pitchFamily="49" charset="-122"/>
              </a:rPr>
              <a:t>～</a:t>
            </a:r>
            <a:r>
              <a:rPr lang="en-US" altLang="zh-CN" sz="2400" b="1">
                <a:latin typeface="Times New Roman" panose="02020603050405020304" charset="0"/>
                <a:ea typeface="楷体_GB2312" pitchFamily="49" charset="-122"/>
              </a:rPr>
              <a:t>10</a:t>
            </a:r>
            <a:r>
              <a:rPr lang="zh-CN" altLang="en-US" sz="2400" b="1">
                <a:latin typeface="Times New Roman" panose="02020603050405020304" charset="0"/>
                <a:ea typeface="楷体_GB2312" pitchFamily="49" charset="-122"/>
              </a:rPr>
              <a:t>％</a:t>
            </a:r>
            <a:endParaRPr lang="zh-CN" altLang="en-US" sz="2400" b="1">
              <a:latin typeface="Times New Roman" panose="02020603050405020304" charset="0"/>
              <a:ea typeface="楷体_GB2312" pitchFamily="49" charset="-122"/>
            </a:endParaRPr>
          </a:p>
        </p:txBody>
      </p:sp>
      <p:sp>
        <p:nvSpPr>
          <p:cNvPr id="43024" name="AutoShape 34"/>
          <p:cNvSpPr/>
          <p:nvPr/>
        </p:nvSpPr>
        <p:spPr>
          <a:xfrm>
            <a:off x="684213" y="620713"/>
            <a:ext cx="1943100" cy="2736850"/>
          </a:xfrm>
          <a:prstGeom prst="roundRect">
            <a:avLst>
              <a:gd name="adj" fmla="val 16667"/>
            </a:avLst>
          </a:prstGeom>
          <a:noFill/>
          <a:ln w="57150" cap="flat" cmpd="sng">
            <a:solidFill>
              <a:srgbClr val="D9EDEF"/>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25" name="Rectangle 35"/>
          <p:cNvSpPr/>
          <p:nvPr/>
        </p:nvSpPr>
        <p:spPr>
          <a:xfrm>
            <a:off x="4427538" y="5876925"/>
            <a:ext cx="3168650" cy="792163"/>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26" name="Rectangle 36"/>
          <p:cNvSpPr/>
          <p:nvPr/>
        </p:nvSpPr>
        <p:spPr>
          <a:xfrm>
            <a:off x="2916238" y="981075"/>
            <a:ext cx="3168650" cy="431800"/>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4302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p:nvPr/>
        </p:nvSpPr>
        <p:spPr>
          <a:xfrm>
            <a:off x="827088" y="981075"/>
            <a:ext cx="7848600" cy="5219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Clr>
                <a:srgbClr val="CCFF33"/>
              </a:buClr>
              <a:buSzPct val="70000"/>
              <a:buFont typeface="Wingdings" panose="05000000000000000000" pitchFamily="2" charset="2"/>
              <a:buNone/>
            </a:pPr>
            <a:r>
              <a:rPr lang="en-US" altLang="zh-CN" sz="2800" b="1">
                <a:solidFill>
                  <a:schemeClr val="tx2"/>
                </a:solidFill>
                <a:latin typeface="楷体_GB2312" pitchFamily="49" charset="-122"/>
                <a:ea typeface="楷体_GB2312" pitchFamily="49" charset="-122"/>
              </a:rPr>
              <a:t>G-1-P</a:t>
            </a:r>
            <a:r>
              <a:rPr lang="zh-CN" altLang="en-US" sz="2800" b="1">
                <a:solidFill>
                  <a:schemeClr val="tx2"/>
                </a:solidFill>
                <a:latin typeface="楷体_GB2312" pitchFamily="49" charset="-122"/>
                <a:ea typeface="楷体_GB2312" pitchFamily="49" charset="-122"/>
              </a:rPr>
              <a:t>由</a:t>
            </a:r>
            <a:r>
              <a:rPr lang="zh-CN" altLang="en-US" sz="2800" b="1">
                <a:solidFill>
                  <a:schemeClr val="accent2"/>
                </a:solidFill>
                <a:latin typeface="黑体" pitchFamily="49" charset="-122"/>
                <a:ea typeface="黑体" pitchFamily="49" charset="-122"/>
              </a:rPr>
              <a:t>磷酸葡萄糖变位酶</a:t>
            </a:r>
            <a:r>
              <a:rPr lang="zh-CN" altLang="en-US" sz="2800" b="1">
                <a:solidFill>
                  <a:schemeClr val="tx2"/>
                </a:solidFill>
                <a:latin typeface="楷体_GB2312" pitchFamily="49" charset="-122"/>
                <a:ea typeface="楷体_GB2312" pitchFamily="49" charset="-122"/>
              </a:rPr>
              <a:t>催化，经过</a:t>
            </a:r>
            <a:r>
              <a:rPr lang="en-US" altLang="zh-CN" sz="2800" b="1">
                <a:solidFill>
                  <a:schemeClr val="tx2"/>
                </a:solidFill>
                <a:latin typeface="楷体_GB2312" pitchFamily="49" charset="-122"/>
                <a:ea typeface="楷体_GB2312" pitchFamily="49" charset="-122"/>
              </a:rPr>
              <a:t>G-1,6-2P</a:t>
            </a:r>
            <a:r>
              <a:rPr lang="zh-CN" altLang="en-US" sz="2800" b="1">
                <a:solidFill>
                  <a:schemeClr val="tx2"/>
                </a:solidFill>
                <a:latin typeface="楷体_GB2312" pitchFamily="49" charset="-122"/>
                <a:ea typeface="楷体_GB2312" pitchFamily="49" charset="-122"/>
              </a:rPr>
              <a:t>中间产物生成</a:t>
            </a:r>
            <a:r>
              <a:rPr lang="en-US" altLang="zh-CN" sz="2800" b="1">
                <a:solidFill>
                  <a:schemeClr val="tx2"/>
                </a:solidFill>
                <a:latin typeface="楷体_GB2312" pitchFamily="49" charset="-122"/>
                <a:ea typeface="楷体_GB2312" pitchFamily="49" charset="-122"/>
              </a:rPr>
              <a:t>G-6-P</a:t>
            </a:r>
            <a:r>
              <a:rPr lang="zh-CN" altLang="en-US" sz="2800" b="1">
                <a:solidFill>
                  <a:schemeClr val="tx2"/>
                </a:solidFill>
                <a:latin typeface="楷体_GB2312" pitchFamily="49" charset="-122"/>
                <a:ea typeface="楷体_GB2312" pitchFamily="49" charset="-122"/>
              </a:rPr>
              <a:t>（此酶需少量</a:t>
            </a:r>
            <a:r>
              <a:rPr lang="en-US" altLang="zh-CN" sz="2800" b="1">
                <a:solidFill>
                  <a:schemeClr val="tx2"/>
                </a:solidFill>
                <a:latin typeface="楷体_GB2312" pitchFamily="49" charset="-122"/>
                <a:ea typeface="楷体_GB2312" pitchFamily="49" charset="-122"/>
              </a:rPr>
              <a:t>G-1,6-2P</a:t>
            </a:r>
            <a:r>
              <a:rPr lang="zh-CN" altLang="en-US" sz="2800" b="1">
                <a:solidFill>
                  <a:schemeClr val="tx2"/>
                </a:solidFill>
                <a:latin typeface="楷体_GB2312" pitchFamily="49" charset="-122"/>
                <a:ea typeface="楷体_GB2312" pitchFamily="49" charset="-122"/>
              </a:rPr>
              <a:t>发挥充分活性），即可进入糖酵解。</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Clr>
                <a:srgbClr val="CCFF33"/>
              </a:buClr>
              <a:buSzPct val="70000"/>
              <a:buFont typeface="Wingdings" panose="05000000000000000000" pitchFamily="2" charset="2"/>
              <a:buNone/>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Clr>
                <a:srgbClr val="CCFF33"/>
              </a:buClr>
              <a:buSzPct val="70000"/>
              <a:buFont typeface="Wingdings" panose="05000000000000000000" pitchFamily="2" charset="2"/>
              <a:buNone/>
            </a:pPr>
            <a:r>
              <a:rPr lang="zh-CN" altLang="en-US" sz="2800" b="1">
                <a:solidFill>
                  <a:schemeClr val="tx2"/>
                </a:solidFill>
                <a:latin typeface="楷体_GB2312" pitchFamily="49" charset="-122"/>
                <a:ea typeface="楷体_GB2312" pitchFamily="49" charset="-122"/>
              </a:rPr>
              <a:t>某些组织中</a:t>
            </a:r>
            <a:r>
              <a:rPr lang="en-US" altLang="zh-CN" sz="2800" b="1">
                <a:solidFill>
                  <a:schemeClr val="tx2"/>
                </a:solidFill>
                <a:latin typeface="楷体_GB2312" pitchFamily="49" charset="-122"/>
                <a:ea typeface="楷体_GB2312" pitchFamily="49" charset="-122"/>
              </a:rPr>
              <a:t>G-6-P</a:t>
            </a:r>
            <a:r>
              <a:rPr lang="zh-CN" altLang="en-US" sz="2800" b="1">
                <a:solidFill>
                  <a:schemeClr val="tx2"/>
                </a:solidFill>
                <a:latin typeface="楷体_GB2312" pitchFamily="49" charset="-122"/>
                <a:ea typeface="楷体_GB2312" pitchFamily="49" charset="-122"/>
              </a:rPr>
              <a:t>由</a:t>
            </a:r>
            <a:r>
              <a:rPr lang="zh-CN" altLang="en-US" sz="2800" b="1">
                <a:solidFill>
                  <a:srgbClr val="CC0000"/>
                </a:solidFill>
                <a:latin typeface="楷体_GB2312" pitchFamily="49" charset="-122"/>
                <a:ea typeface="楷体_GB2312" pitchFamily="49" charset="-122"/>
              </a:rPr>
              <a:t>葡萄糖</a:t>
            </a:r>
            <a:r>
              <a:rPr lang="en-US" altLang="zh-CN" sz="2800" b="1">
                <a:solidFill>
                  <a:srgbClr val="CC0000"/>
                </a:solidFill>
                <a:latin typeface="楷体_GB2312" pitchFamily="49" charset="-122"/>
                <a:ea typeface="楷体_GB2312" pitchFamily="49" charset="-122"/>
              </a:rPr>
              <a:t>-6-</a:t>
            </a:r>
            <a:r>
              <a:rPr lang="zh-CN" altLang="en-US" sz="2800" b="1">
                <a:solidFill>
                  <a:srgbClr val="CC0000"/>
                </a:solidFill>
                <a:latin typeface="楷体_GB2312" pitchFamily="49" charset="-122"/>
                <a:ea typeface="楷体_GB2312" pitchFamily="49" charset="-122"/>
              </a:rPr>
              <a:t>磷酸酶</a:t>
            </a:r>
            <a:r>
              <a:rPr lang="zh-CN" altLang="en-US" sz="2800" b="1">
                <a:solidFill>
                  <a:schemeClr val="tx2"/>
                </a:solidFill>
                <a:latin typeface="楷体_GB2312" pitchFamily="49" charset="-122"/>
                <a:ea typeface="楷体_GB2312" pitchFamily="49" charset="-122"/>
              </a:rPr>
              <a:t>催化水解生成葡萄糖（肝、肾及肠细胞含此酶，脑、肌肉细胞中无此酶），进入血液运送全身。</a:t>
            </a: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Clr>
                <a:srgbClr val="CCFF33"/>
              </a:buClr>
              <a:buSzPct val="70000"/>
              <a:buFont typeface="Wingdings" panose="05000000000000000000" pitchFamily="2" charset="2"/>
              <a:buNone/>
            </a:pPr>
            <a:endParaRPr lang="zh-CN" altLang="en-US" sz="2800" b="1">
              <a:solidFill>
                <a:schemeClr val="tx2"/>
              </a:solidFill>
              <a:latin typeface="楷体_GB2312" pitchFamily="49" charset="-122"/>
              <a:ea typeface="楷体_GB2312" pitchFamily="49" charset="-122"/>
            </a:endParaRPr>
          </a:p>
          <a:p>
            <a:pPr marL="0" lvl="0" indent="0" eaLnBrk="1" hangingPunct="1">
              <a:lnSpc>
                <a:spcPct val="120000"/>
              </a:lnSpc>
              <a:spcBef>
                <a:spcPct val="0"/>
              </a:spcBef>
              <a:buClr>
                <a:srgbClr val="CCFF33"/>
              </a:buClr>
              <a:buSzPct val="70000"/>
              <a:buFont typeface="Wingdings" panose="05000000000000000000" pitchFamily="2" charset="2"/>
              <a:buNone/>
            </a:pPr>
            <a:r>
              <a:rPr lang="zh-CN" altLang="en-US" sz="2800" b="1">
                <a:solidFill>
                  <a:schemeClr val="tx2"/>
                </a:solidFill>
                <a:latin typeface="楷体_GB2312" pitchFamily="49" charset="-122"/>
                <a:ea typeface="楷体_GB2312" pitchFamily="49" charset="-122"/>
              </a:rPr>
              <a:t>葡萄糖</a:t>
            </a:r>
            <a:r>
              <a:rPr lang="en-US" altLang="zh-CN" sz="2800" b="1">
                <a:solidFill>
                  <a:schemeClr val="tx2"/>
                </a:solidFill>
                <a:latin typeface="楷体_GB2312" pitchFamily="49" charset="-122"/>
                <a:ea typeface="楷体_GB2312" pitchFamily="49" charset="-122"/>
              </a:rPr>
              <a:t>-6-</a:t>
            </a:r>
            <a:r>
              <a:rPr lang="zh-CN" altLang="en-US" sz="2800" b="1">
                <a:solidFill>
                  <a:schemeClr val="tx2"/>
                </a:solidFill>
                <a:latin typeface="楷体_GB2312" pitchFamily="49" charset="-122"/>
                <a:ea typeface="楷体_GB2312" pitchFamily="49" charset="-122"/>
              </a:rPr>
              <a:t>磷酸酶存在光面内质网</a:t>
            </a:r>
            <a:r>
              <a:rPr lang="en-US" altLang="zh-CN" sz="2800" b="1">
                <a:solidFill>
                  <a:schemeClr val="tx2"/>
                </a:solidFill>
                <a:latin typeface="楷体_GB2312" pitchFamily="49" charset="-122"/>
                <a:ea typeface="楷体_GB2312" pitchFamily="49" charset="-122"/>
              </a:rPr>
              <a:t>, </a:t>
            </a:r>
            <a:r>
              <a:rPr lang="zh-CN" altLang="en-US" sz="2800" b="1">
                <a:solidFill>
                  <a:schemeClr val="tx2"/>
                </a:solidFill>
                <a:latin typeface="楷体_GB2312" pitchFamily="49" charset="-122"/>
                <a:ea typeface="楷体_GB2312" pitchFamily="49" charset="-122"/>
              </a:rPr>
              <a:t>它的作用共需</a:t>
            </a:r>
            <a:r>
              <a:rPr lang="en-US" altLang="zh-CN" sz="2800" b="1">
                <a:solidFill>
                  <a:schemeClr val="tx2"/>
                </a:solidFill>
                <a:latin typeface="楷体_GB2312" pitchFamily="49" charset="-122"/>
                <a:ea typeface="楷体_GB2312" pitchFamily="49" charset="-122"/>
              </a:rPr>
              <a:t>5</a:t>
            </a:r>
            <a:r>
              <a:rPr lang="zh-CN" altLang="en-US" sz="2800" b="1">
                <a:solidFill>
                  <a:schemeClr val="tx2"/>
                </a:solidFill>
                <a:latin typeface="楷体_GB2312" pitchFamily="49" charset="-122"/>
                <a:ea typeface="楷体_GB2312" pitchFamily="49" charset="-122"/>
              </a:rPr>
              <a:t>种蛋白。</a:t>
            </a:r>
            <a:endParaRPr lang="en-US" altLang="zh-CN" sz="2800" b="1">
              <a:solidFill>
                <a:schemeClr val="tx2"/>
              </a:solidFill>
              <a:latin typeface="楷体_GB2312" pitchFamily="49" charset="-122"/>
              <a:ea typeface="楷体_GB2312" pitchFamily="49" charset="-122"/>
            </a:endParaRPr>
          </a:p>
        </p:txBody>
      </p:sp>
      <p:sp>
        <p:nvSpPr>
          <p:cNvPr id="44034" name="Text Box 4"/>
          <p:cNvSpPr txBox="1"/>
          <p:nvPr/>
        </p:nvSpPr>
        <p:spPr>
          <a:xfrm>
            <a:off x="2916238" y="333375"/>
            <a:ext cx="309721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a:latin typeface="黑体" pitchFamily="49" charset="-122"/>
                <a:ea typeface="宋体" pitchFamily="2" charset="-122"/>
              </a:rPr>
              <a:t>2.4  G-1-P</a:t>
            </a:r>
            <a:r>
              <a:rPr lang="zh-CN" altLang="en-US" sz="2800" b="1">
                <a:latin typeface="黑体" pitchFamily="49" charset="-122"/>
                <a:ea typeface="黑体" pitchFamily="49" charset="-122"/>
              </a:rPr>
              <a:t>的转化</a:t>
            </a:r>
            <a:endParaRPr lang="zh-CN" altLang="en-US" sz="2800" b="1">
              <a:latin typeface="黑体" pitchFamily="49" charset="-122"/>
              <a:ea typeface="黑体" pitchFamily="49" charset="-122"/>
            </a:endParaRPr>
          </a:p>
        </p:txBody>
      </p:sp>
      <p:sp>
        <p:nvSpPr>
          <p:cNvPr id="4403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7" name="Picture 4" descr="An external file that holds a picture, illustration, etc., usually as some form of binary object. The name of referred object is ch21f5.jpg. "/>
          <p:cNvPicPr>
            <a:picLocks noChangeAspect="1"/>
          </p:cNvPicPr>
          <p:nvPr/>
        </p:nvPicPr>
        <p:blipFill>
          <a:blip r:embed="rId1"/>
          <a:stretch>
            <a:fillRect/>
          </a:stretch>
        </p:blipFill>
        <p:spPr>
          <a:xfrm>
            <a:off x="971550" y="1125538"/>
            <a:ext cx="7129463" cy="2973387"/>
          </a:xfrm>
          <a:prstGeom prst="rect">
            <a:avLst/>
          </a:prstGeom>
          <a:noFill/>
          <a:ln w="9525">
            <a:noFill/>
          </a:ln>
        </p:spPr>
      </p:pic>
      <p:sp>
        <p:nvSpPr>
          <p:cNvPr id="45058" name="Rectangle 6"/>
          <p:cNvSpPr/>
          <p:nvPr/>
        </p:nvSpPr>
        <p:spPr>
          <a:xfrm>
            <a:off x="900113" y="4581525"/>
            <a:ext cx="7273925" cy="1373188"/>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磷酸葡萄糖</a:t>
            </a:r>
            <a:r>
              <a:rPr lang="zh-CN" altLang="en-US" sz="2800" b="1">
                <a:ea typeface="楷体_GB2312" pitchFamily="49" charset="-122"/>
              </a:rPr>
              <a:t> </a:t>
            </a:r>
            <a:r>
              <a:rPr lang="zh-CN" altLang="en-US" sz="2800" b="1">
                <a:latin typeface="楷体_GB2312" pitchFamily="49" charset="-122"/>
                <a:ea typeface="楷体_GB2312" pitchFamily="49" charset="-122"/>
              </a:rPr>
              <a:t>变位酶中的</a:t>
            </a:r>
            <a:r>
              <a:rPr lang="en-US" altLang="zh-CN" sz="2800" b="1">
                <a:latin typeface="楷体_GB2312" pitchFamily="49" charset="-122"/>
                <a:ea typeface="楷体_GB2312" pitchFamily="49" charset="-122"/>
              </a:rPr>
              <a:t>Ser</a:t>
            </a:r>
            <a:r>
              <a:rPr lang="zh-CN" altLang="en-US" sz="2800" b="1">
                <a:latin typeface="楷体_GB2312" pitchFamily="49" charset="-122"/>
                <a:ea typeface="楷体_GB2312" pitchFamily="49" charset="-122"/>
              </a:rPr>
              <a:t>残基结合有磷酸基团与底物中的磷酸基团发生交换，而使得磷酸基发生了分子内的转移。</a:t>
            </a:r>
            <a:endParaRPr lang="en-US" altLang="zh-CN" sz="2800">
              <a:latin typeface="楷体_GB2312" pitchFamily="49" charset="-122"/>
              <a:ea typeface="楷体_GB2312" pitchFamily="49" charset="-122"/>
            </a:endParaRPr>
          </a:p>
        </p:txBody>
      </p:sp>
      <p:sp>
        <p:nvSpPr>
          <p:cNvPr id="45059" name="Text Box 7"/>
          <p:cNvSpPr txBox="1"/>
          <p:nvPr/>
        </p:nvSpPr>
        <p:spPr>
          <a:xfrm>
            <a:off x="1547813" y="333375"/>
            <a:ext cx="6048375" cy="3667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800"/>
          </a:p>
        </p:txBody>
      </p:sp>
      <p:sp>
        <p:nvSpPr>
          <p:cNvPr id="45060" name="Rectangle 8"/>
          <p:cNvSpPr/>
          <p:nvPr/>
        </p:nvSpPr>
        <p:spPr>
          <a:xfrm>
            <a:off x="2411413" y="404813"/>
            <a:ext cx="4451350" cy="5191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ea typeface="黑体" pitchFamily="49" charset="-122"/>
              </a:rPr>
              <a:t>磷酸葡萄糖变位酶催化机制</a:t>
            </a:r>
            <a:endParaRPr lang="zh-CN" altLang="en-US" sz="2800" b="1">
              <a:ea typeface="黑体" pitchFamily="49" charset="-122"/>
            </a:endParaRPr>
          </a:p>
        </p:txBody>
      </p:sp>
      <p:sp>
        <p:nvSpPr>
          <p:cNvPr id="45061" name="Text Box 9"/>
          <p:cNvSpPr txBox="1"/>
          <p:nvPr/>
        </p:nvSpPr>
        <p:spPr>
          <a:xfrm>
            <a:off x="1979613" y="6400800"/>
            <a:ext cx="6408737" cy="457200"/>
          </a:xfrm>
          <a:prstGeom prst="rect">
            <a:avLst/>
          </a:prstGeom>
          <a:solidFill>
            <a:srgbClr val="D9EDEF"/>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rPr>
              <a:t>回顾：与糖酵解中的哪步反应机制相似？ </a:t>
            </a:r>
            <a:endParaRPr lang="zh-CN" altLang="en-US" sz="2400" b="1">
              <a:solidFill>
                <a:schemeClr val="accent2"/>
              </a:solidFill>
            </a:endParaRPr>
          </a:p>
        </p:txBody>
      </p:sp>
      <p:sp>
        <p:nvSpPr>
          <p:cNvPr id="45062"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1" name="Picture 5" descr="620px-Glucose-6-phosphatase_system"/>
          <p:cNvPicPr>
            <a:picLocks noChangeAspect="1"/>
          </p:cNvPicPr>
          <p:nvPr/>
        </p:nvPicPr>
        <p:blipFill>
          <a:blip r:embed="rId1"/>
          <a:stretch>
            <a:fillRect/>
          </a:stretch>
        </p:blipFill>
        <p:spPr>
          <a:xfrm>
            <a:off x="611188" y="836613"/>
            <a:ext cx="7885112" cy="5060950"/>
          </a:xfrm>
          <a:prstGeom prst="rect">
            <a:avLst/>
          </a:prstGeom>
          <a:noFill/>
          <a:ln w="9525">
            <a:noFill/>
          </a:ln>
        </p:spPr>
      </p:pic>
      <p:sp>
        <p:nvSpPr>
          <p:cNvPr id="46082" name="AutoShape 7"/>
          <p:cNvSpPr/>
          <p:nvPr/>
        </p:nvSpPr>
        <p:spPr>
          <a:xfrm>
            <a:off x="3203575" y="1196975"/>
            <a:ext cx="792163" cy="576263"/>
          </a:xfrm>
          <a:prstGeom prst="roundRect">
            <a:avLst>
              <a:gd name="adj" fmla="val 16667"/>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1600" b="1"/>
              <a:t>钙结合</a:t>
            </a:r>
            <a:endParaRPr lang="zh-CN" altLang="en-US" sz="1600" b="1"/>
          </a:p>
          <a:p>
            <a:pPr marL="0" lvl="0" indent="0" algn="ctr" eaLnBrk="1" hangingPunct="1">
              <a:spcBef>
                <a:spcPct val="0"/>
              </a:spcBef>
              <a:buNone/>
            </a:pPr>
            <a:r>
              <a:rPr lang="zh-CN" altLang="en-US" sz="1600" b="1"/>
              <a:t>稳定蛋白</a:t>
            </a:r>
            <a:endParaRPr lang="zh-CN" altLang="en-US" sz="1600" b="1"/>
          </a:p>
        </p:txBody>
      </p:sp>
      <p:sp>
        <p:nvSpPr>
          <p:cNvPr id="46083" name="Text Box 8"/>
          <p:cNvSpPr txBox="1"/>
          <p:nvPr/>
        </p:nvSpPr>
        <p:spPr>
          <a:xfrm>
            <a:off x="2700338" y="260350"/>
            <a:ext cx="417671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a:latin typeface="黑体" pitchFamily="49" charset="-122"/>
                <a:ea typeface="宋体" pitchFamily="2" charset="-122"/>
              </a:rPr>
              <a:t>G-6-P</a:t>
            </a:r>
            <a:r>
              <a:rPr lang="zh-CN" altLang="en-US" sz="2800" b="1">
                <a:latin typeface="黑体" pitchFamily="49" charset="-122"/>
                <a:ea typeface="黑体" pitchFamily="49" charset="-122"/>
              </a:rPr>
              <a:t>的水解与生物转运</a:t>
            </a:r>
            <a:endParaRPr lang="en-US" altLang="zh-CN" sz="2800" b="1">
              <a:latin typeface="黑体" pitchFamily="49" charset="-122"/>
              <a:ea typeface="宋体" pitchFamily="2" charset="-122"/>
            </a:endParaRPr>
          </a:p>
        </p:txBody>
      </p:sp>
      <p:sp>
        <p:nvSpPr>
          <p:cNvPr id="46084" name="Text Box 9"/>
          <p:cNvSpPr txBox="1"/>
          <p:nvPr/>
        </p:nvSpPr>
        <p:spPr>
          <a:xfrm>
            <a:off x="3132138" y="4149725"/>
            <a:ext cx="1295400" cy="5191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内质网</a:t>
            </a:r>
            <a:endParaRPr lang="zh-CN" altLang="en-US" sz="2800" b="1">
              <a:latin typeface="楷体_GB2312" pitchFamily="49" charset="-122"/>
              <a:ea typeface="楷体_GB2312" pitchFamily="49" charset="-122"/>
            </a:endParaRPr>
          </a:p>
        </p:txBody>
      </p:sp>
      <p:sp>
        <p:nvSpPr>
          <p:cNvPr id="46085" name="Text Box 10"/>
          <p:cNvSpPr txBox="1"/>
          <p:nvPr/>
        </p:nvSpPr>
        <p:spPr>
          <a:xfrm>
            <a:off x="1042988" y="4221163"/>
            <a:ext cx="1295400" cy="5191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细胞液</a:t>
            </a:r>
            <a:endParaRPr lang="zh-CN" altLang="en-US" sz="2800" b="1">
              <a:latin typeface="楷体_GB2312" pitchFamily="49" charset="-122"/>
              <a:ea typeface="楷体_GB2312" pitchFamily="49" charset="-122"/>
            </a:endParaRPr>
          </a:p>
        </p:txBody>
      </p:sp>
      <p:sp>
        <p:nvSpPr>
          <p:cNvPr id="229387" name="Text Box 11"/>
          <p:cNvSpPr txBox="1"/>
          <p:nvPr/>
        </p:nvSpPr>
        <p:spPr>
          <a:xfrm>
            <a:off x="6877050" y="4149725"/>
            <a:ext cx="1728788" cy="5191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细胞膜外</a:t>
            </a:r>
            <a:endParaRPr lang="zh-CN" altLang="en-US" sz="2800" b="1">
              <a:latin typeface="楷体_GB2312" pitchFamily="49" charset="-122"/>
              <a:ea typeface="楷体_GB2312" pitchFamily="49" charset="-122"/>
            </a:endParaRPr>
          </a:p>
        </p:txBody>
      </p:sp>
      <p:sp>
        <p:nvSpPr>
          <p:cNvPr id="229388" name="Line 12"/>
          <p:cNvSpPr/>
          <p:nvPr/>
        </p:nvSpPr>
        <p:spPr>
          <a:xfrm>
            <a:off x="7740650" y="4652963"/>
            <a:ext cx="0" cy="647700"/>
          </a:xfrm>
          <a:prstGeom prst="line">
            <a:avLst/>
          </a:prstGeom>
          <a:ln w="38100" cap="flat" cmpd="sng">
            <a:solidFill>
              <a:schemeClr val="tx1"/>
            </a:solidFill>
            <a:prstDash val="solid"/>
            <a:miter/>
            <a:headEnd type="none" w="sm" len="sm"/>
            <a:tailEnd type="triangle" w="sm" len="sm"/>
          </a:ln>
        </p:spPr>
      </p:sp>
      <p:sp>
        <p:nvSpPr>
          <p:cNvPr id="229389" name="Text Box 13"/>
          <p:cNvSpPr txBox="1"/>
          <p:nvPr/>
        </p:nvSpPr>
        <p:spPr>
          <a:xfrm>
            <a:off x="6877050" y="5229225"/>
            <a:ext cx="1728788" cy="5191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rgbClr val="CC0000"/>
                </a:solidFill>
                <a:latin typeface="楷体_GB2312" pitchFamily="49" charset="-122"/>
                <a:ea typeface="楷体_GB2312" pitchFamily="49" charset="-122"/>
              </a:rPr>
              <a:t>血液循环</a:t>
            </a:r>
            <a:endParaRPr lang="zh-CN" altLang="en-US" sz="2800" b="1">
              <a:solidFill>
                <a:srgbClr val="CC0000"/>
              </a:solidFill>
              <a:latin typeface="楷体_GB2312" pitchFamily="49" charset="-122"/>
              <a:ea typeface="楷体_GB2312" pitchFamily="49" charset="-122"/>
            </a:endParaRPr>
          </a:p>
        </p:txBody>
      </p:sp>
      <p:sp>
        <p:nvSpPr>
          <p:cNvPr id="229390" name="Rectangle 14"/>
          <p:cNvSpPr/>
          <p:nvPr/>
        </p:nvSpPr>
        <p:spPr>
          <a:xfrm>
            <a:off x="1116013" y="5911850"/>
            <a:ext cx="7127875" cy="9461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CC0000"/>
                </a:solidFill>
                <a:latin typeface="楷体_GB2312" pitchFamily="49" charset="-122"/>
                <a:ea typeface="楷体_GB2312" pitchFamily="49" charset="-122"/>
              </a:rPr>
              <a:t>葡萄糖</a:t>
            </a:r>
            <a:r>
              <a:rPr lang="en-US" altLang="zh-CN" sz="2800" b="1">
                <a:solidFill>
                  <a:srgbClr val="CC0000"/>
                </a:solidFill>
                <a:latin typeface="楷体_GB2312" pitchFamily="49" charset="-122"/>
                <a:ea typeface="宋体" pitchFamily="2" charset="-122"/>
              </a:rPr>
              <a:t>-6-</a:t>
            </a:r>
            <a:r>
              <a:rPr lang="zh-CN" altLang="en-US" sz="2800" b="1">
                <a:solidFill>
                  <a:srgbClr val="CC0000"/>
                </a:solidFill>
                <a:latin typeface="楷体_GB2312" pitchFamily="49" charset="-122"/>
                <a:ea typeface="楷体_GB2312" pitchFamily="49" charset="-122"/>
              </a:rPr>
              <a:t>磷酸酶</a:t>
            </a:r>
            <a:r>
              <a:rPr lang="zh-CN" altLang="en-US" sz="2800" b="1">
                <a:solidFill>
                  <a:schemeClr val="tx2"/>
                </a:solidFill>
                <a:latin typeface="楷体_GB2312" pitchFamily="49" charset="-122"/>
                <a:ea typeface="楷体_GB2312" pitchFamily="49" charset="-122"/>
              </a:rPr>
              <a:t>仅存在于肝、肾及肠细胞</a:t>
            </a:r>
            <a:r>
              <a:rPr lang="en-US" altLang="zh-CN" sz="2800" b="1">
                <a:solidFill>
                  <a:schemeClr val="tx2"/>
                </a:solidFill>
                <a:latin typeface="楷体_GB2312" pitchFamily="49" charset="-122"/>
                <a:ea typeface="宋体" pitchFamily="2" charset="-122"/>
              </a:rPr>
              <a:t>(</a:t>
            </a:r>
            <a:r>
              <a:rPr lang="zh-CN" altLang="en-US" sz="2800" b="1">
                <a:solidFill>
                  <a:schemeClr val="tx2"/>
                </a:solidFill>
                <a:latin typeface="楷体_GB2312" pitchFamily="49" charset="-122"/>
                <a:ea typeface="楷体_GB2312" pitchFamily="49" charset="-122"/>
              </a:rPr>
              <a:t>联系糖异生途径）</a:t>
            </a:r>
            <a:endParaRPr lang="zh-CN" altLang="en-US" sz="2800" b="1">
              <a:solidFill>
                <a:schemeClr val="tx2"/>
              </a:solidFill>
              <a:latin typeface="楷体_GB2312" pitchFamily="49" charset="-122"/>
              <a:ea typeface="楷体_GB2312" pitchFamily="49" charset="-122"/>
            </a:endParaRPr>
          </a:p>
        </p:txBody>
      </p:sp>
      <p:sp>
        <p:nvSpPr>
          <p:cNvPr id="229391" name="Text Box 15"/>
          <p:cNvSpPr txBox="1"/>
          <p:nvPr/>
        </p:nvSpPr>
        <p:spPr>
          <a:xfrm>
            <a:off x="7019925" y="1052513"/>
            <a:ext cx="2124075"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G</a:t>
            </a:r>
            <a:r>
              <a:rPr lang="zh-CN" altLang="en-US" sz="1800" b="1"/>
              <a:t>体内转运形式</a:t>
            </a:r>
            <a:endParaRPr lang="zh-CN" altLang="en-US" sz="1800" b="1"/>
          </a:p>
        </p:txBody>
      </p:sp>
      <p:sp>
        <p:nvSpPr>
          <p:cNvPr id="229392" name="Line 16"/>
          <p:cNvSpPr/>
          <p:nvPr/>
        </p:nvSpPr>
        <p:spPr>
          <a:xfrm>
            <a:off x="7885113" y="1484313"/>
            <a:ext cx="0" cy="504825"/>
          </a:xfrm>
          <a:prstGeom prst="line">
            <a:avLst/>
          </a:prstGeom>
          <a:ln w="12700" cap="flat" cmpd="sng">
            <a:solidFill>
              <a:schemeClr val="tx1"/>
            </a:solidFill>
            <a:prstDash val="solid"/>
            <a:miter/>
            <a:headEnd type="none" w="sm" len="sm"/>
            <a:tailEnd type="triangle" w="sm" len="sm"/>
          </a:ln>
        </p:spPr>
      </p:sp>
      <p:sp>
        <p:nvSpPr>
          <p:cNvPr id="229393" name="Text Box 17"/>
          <p:cNvSpPr txBox="1"/>
          <p:nvPr/>
        </p:nvSpPr>
        <p:spPr>
          <a:xfrm>
            <a:off x="755650" y="1052513"/>
            <a:ext cx="1584325"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局限于胞内</a:t>
            </a:r>
            <a:endParaRPr lang="zh-CN" altLang="en-US" sz="1800" b="1"/>
          </a:p>
        </p:txBody>
      </p:sp>
      <p:sp>
        <p:nvSpPr>
          <p:cNvPr id="229394" name="Line 18"/>
          <p:cNvSpPr/>
          <p:nvPr/>
        </p:nvSpPr>
        <p:spPr>
          <a:xfrm>
            <a:off x="1403350" y="1412875"/>
            <a:ext cx="0" cy="504825"/>
          </a:xfrm>
          <a:prstGeom prst="line">
            <a:avLst/>
          </a:prstGeom>
          <a:ln w="12700" cap="flat" cmpd="sng">
            <a:solidFill>
              <a:schemeClr val="tx1"/>
            </a:solidFill>
            <a:prstDash val="solid"/>
            <a:miter/>
            <a:headEnd type="none" w="sm" len="sm"/>
            <a:tailEnd type="triangle" w="sm" len="sm"/>
          </a:ln>
        </p:spPr>
      </p:sp>
      <p:sp>
        <p:nvSpPr>
          <p:cNvPr id="229395" name="Oval 19"/>
          <p:cNvSpPr/>
          <p:nvPr/>
        </p:nvSpPr>
        <p:spPr>
          <a:xfrm>
            <a:off x="3419475" y="1700213"/>
            <a:ext cx="865188" cy="503237"/>
          </a:xfrm>
          <a:prstGeom prst="ellipse">
            <a:avLst/>
          </a:prstGeom>
          <a:noFill/>
          <a:ln w="57150" cap="flat" cmpd="sng">
            <a:solidFill>
              <a:srgbClr val="52E8C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b="1">
              <a:solidFill>
                <a:srgbClr val="FFCCFF"/>
              </a:solidFill>
            </a:endParaRPr>
          </a:p>
        </p:txBody>
      </p:sp>
      <p:sp>
        <p:nvSpPr>
          <p:cNvPr id="46095" name="Rectangle 20"/>
          <p:cNvSpPr/>
          <p:nvPr/>
        </p:nvSpPr>
        <p:spPr>
          <a:xfrm>
            <a:off x="8027988" y="333375"/>
            <a:ext cx="711200" cy="3698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p164</a:t>
            </a:r>
            <a:endParaRPr lang="en-US" altLang="zh-CN" sz="1800" b="1"/>
          </a:p>
        </p:txBody>
      </p:sp>
      <p:sp>
        <p:nvSpPr>
          <p:cNvPr id="4609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93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29390"/>
                                        </p:tgtEl>
                                        <p:attrNameLst>
                                          <p:attrName>style.visibility</p:attrName>
                                        </p:attrNameLst>
                                      </p:cBhvr>
                                      <p:to>
                                        <p:strVal val="visible"/>
                                      </p:to>
                                    </p:set>
                                    <p:anim calcmode="lin" valueType="num">
                                      <p:cBhvr>
                                        <p:cTn id="11" dur="1000" fill="hold"/>
                                        <p:tgtEl>
                                          <p:spTgt spid="229390"/>
                                        </p:tgtEl>
                                        <p:attrNameLst>
                                          <p:attrName>ppt_w</p:attrName>
                                        </p:attrNameLst>
                                      </p:cBhvr>
                                      <p:tavLst>
                                        <p:tav tm="0">
                                          <p:val>
                                            <p:fltVal val="0.000000"/>
                                          </p:val>
                                        </p:tav>
                                        <p:tav tm="100000">
                                          <p:val>
                                            <p:strVal val="#ppt_w"/>
                                          </p:val>
                                        </p:tav>
                                      </p:tavLst>
                                    </p:anim>
                                    <p:anim calcmode="lin" valueType="num">
                                      <p:cBhvr>
                                        <p:cTn id="12" dur="1000" fill="hold"/>
                                        <p:tgtEl>
                                          <p:spTgt spid="229390"/>
                                        </p:tgtEl>
                                        <p:attrNameLst>
                                          <p:attrName>ppt_h</p:attrName>
                                        </p:attrNameLst>
                                      </p:cBhvr>
                                      <p:tavLst>
                                        <p:tav tm="0">
                                          <p:val>
                                            <p:fltVal val="0.000000"/>
                                          </p:val>
                                        </p:tav>
                                        <p:tav tm="100000">
                                          <p:val>
                                            <p:strVal val="#ppt_h"/>
                                          </p:val>
                                        </p:tav>
                                      </p:tavLst>
                                    </p:anim>
                                    <p:animEffect transition="in" filter="fade">
                                      <p:cBhvr>
                                        <p:cTn id="13" dur="1000"/>
                                        <p:tgtEl>
                                          <p:spTgt spid="22939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939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2939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29391"/>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2939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229387"/>
                                        </p:tgtEl>
                                        <p:attrNameLst>
                                          <p:attrName>style.visibility</p:attrName>
                                        </p:attrNameLst>
                                      </p:cBhvr>
                                      <p:to>
                                        <p:strVal val="visible"/>
                                      </p:to>
                                    </p:set>
                                    <p:animEffect transition="in" filter="checkerboard(across)">
                                      <p:cBhvr>
                                        <p:cTn id="30" dur="500"/>
                                        <p:tgtEl>
                                          <p:spTgt spid="229387"/>
                                        </p:tgtEl>
                                      </p:cBhvr>
                                    </p:animEffect>
                                  </p:childTnLst>
                                </p:cTn>
                              </p:par>
                              <p:par>
                                <p:cTn id="31" presetID="5" presetClass="entr" presetSubtype="10" fill="hold" nodeType="withEffect">
                                  <p:stCondLst>
                                    <p:cond delay="0"/>
                                  </p:stCondLst>
                                  <p:childTnLst>
                                    <p:set>
                                      <p:cBhvr>
                                        <p:cTn id="32" dur="1" fill="hold">
                                          <p:stCondLst>
                                            <p:cond delay="0"/>
                                          </p:stCondLst>
                                        </p:cTn>
                                        <p:tgtEl>
                                          <p:spTgt spid="229388"/>
                                        </p:tgtEl>
                                        <p:attrNameLst>
                                          <p:attrName>style.visibility</p:attrName>
                                        </p:attrNameLst>
                                      </p:cBhvr>
                                      <p:to>
                                        <p:strVal val="visible"/>
                                      </p:to>
                                    </p:set>
                                    <p:animEffect transition="in" filter="checkerboard(across)">
                                      <p:cBhvr>
                                        <p:cTn id="33" dur="500"/>
                                        <p:tgtEl>
                                          <p:spTgt spid="229388"/>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229389"/>
                                        </p:tgtEl>
                                        <p:attrNameLst>
                                          <p:attrName>style.visibility</p:attrName>
                                        </p:attrNameLst>
                                      </p:cBhvr>
                                      <p:to>
                                        <p:strVal val="visible"/>
                                      </p:to>
                                    </p:set>
                                    <p:animEffect transition="in" filter="checkerboard(across)">
                                      <p:cBhvr>
                                        <p:cTn id="36" dur="500"/>
                                        <p:tgtEl>
                                          <p:spTgt spid="229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7" grpId="0" animBg="1"/>
      <p:bldP spid="229389" grpId="0" animBg="1"/>
      <p:bldP spid="229390" grpId="0"/>
      <p:bldP spid="229391" grpId="0"/>
      <p:bldP spid="229393" grpId="0"/>
      <p:bldP spid="22939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7" name="Rectangle 5"/>
          <p:cNvSpPr>
            <a:spLocks noChangeArrowheads="1"/>
          </p:cNvSpPr>
          <p:nvPr/>
        </p:nvSpPr>
        <p:spPr bwMode="auto">
          <a:xfrm>
            <a:off x="2700338" y="333375"/>
            <a:ext cx="3529013" cy="519113"/>
          </a:xfrm>
          <a:prstGeom prst="rect">
            <a:avLst/>
          </a:prstGeom>
          <a:noFill/>
          <a:ln w="12700">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黑体" pitchFamily="49" charset="-122"/>
                <a:ea typeface="黑体" pitchFamily="49" charset="-122"/>
                <a:cs typeface="+mn-cs"/>
              </a:rPr>
              <a:t>3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黑体" pitchFamily="49" charset="-122"/>
                <a:ea typeface="黑体" pitchFamily="49" charset="-122"/>
                <a:cs typeface="+mn-cs"/>
              </a:rPr>
              <a:t>糖原的生物合成</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黑体" pitchFamily="49" charset="-122"/>
              <a:ea typeface="黑体" pitchFamily="49" charset="-122"/>
              <a:cs typeface="+mn-cs"/>
            </a:endParaRPr>
          </a:p>
        </p:txBody>
      </p:sp>
      <p:sp>
        <p:nvSpPr>
          <p:cNvPr id="90118" name="Rectangle 6"/>
          <p:cNvSpPr/>
          <p:nvPr/>
        </p:nvSpPr>
        <p:spPr>
          <a:xfrm>
            <a:off x="900113" y="1125538"/>
            <a:ext cx="7632700" cy="4789487"/>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chemeClr val="tx2"/>
                </a:solidFill>
                <a:latin typeface="黑体" pitchFamily="49" charset="-122"/>
                <a:ea typeface="黑体" pitchFamily="49" charset="-122"/>
              </a:rPr>
              <a:t>糖原合成需要糖原引物：</a:t>
            </a:r>
            <a:r>
              <a:rPr lang="zh-CN" altLang="en-US" sz="2800" b="1">
                <a:solidFill>
                  <a:schemeClr val="tx2"/>
                </a:solidFill>
                <a:latin typeface="楷体_GB2312" pitchFamily="49" charset="-122"/>
                <a:ea typeface="楷体_GB2312" pitchFamily="49" charset="-122"/>
              </a:rPr>
              <a:t>以细胞内</a:t>
            </a:r>
            <a:r>
              <a:rPr lang="zh-CN" altLang="en-US" sz="2800" b="1">
                <a:solidFill>
                  <a:srgbClr val="A50021"/>
                </a:solidFill>
                <a:latin typeface="楷体_GB2312" pitchFamily="49" charset="-122"/>
                <a:ea typeface="楷体_GB2312" pitchFamily="49" charset="-122"/>
              </a:rPr>
              <a:t>生糖原蛋白为核心</a:t>
            </a:r>
            <a:r>
              <a:rPr lang="zh-CN" altLang="en-US" sz="2800" b="1">
                <a:solidFill>
                  <a:srgbClr val="660066"/>
                </a:solidFill>
                <a:latin typeface="楷体_GB2312" pitchFamily="49" charset="-122"/>
                <a:ea typeface="楷体_GB2312" pitchFamily="49" charset="-122"/>
              </a:rPr>
              <a:t>，</a:t>
            </a:r>
            <a:r>
              <a:rPr lang="zh-CN" altLang="en-US" sz="2800" b="1">
                <a:latin typeface="楷体_GB2312" pitchFamily="49" charset="-122"/>
                <a:ea typeface="楷体_GB2312" pitchFamily="49" charset="-122"/>
              </a:rPr>
              <a:t>在其上含</a:t>
            </a:r>
            <a:r>
              <a:rPr lang="en-US" altLang="zh-CN" sz="2800" b="1">
                <a:latin typeface="楷体_GB2312" pitchFamily="49" charset="-122"/>
                <a:ea typeface="楷体_GB2312" pitchFamily="49" charset="-122"/>
              </a:rPr>
              <a:t>4</a:t>
            </a:r>
            <a:r>
              <a:rPr lang="zh-CN" altLang="en-US" sz="2800" b="1">
                <a:latin typeface="楷体_GB2312" pitchFamily="49" charset="-122"/>
                <a:ea typeface="楷体_GB2312" pitchFamily="49" charset="-122"/>
              </a:rPr>
              <a:t>个以上葡萄糖残基作为糖原合成的</a:t>
            </a:r>
            <a:r>
              <a:rPr lang="zh-CN" altLang="en-US" sz="2800" b="1">
                <a:solidFill>
                  <a:srgbClr val="A50021"/>
                </a:solidFill>
                <a:latin typeface="楷体_GB2312" pitchFamily="49" charset="-122"/>
                <a:ea typeface="楷体_GB2312" pitchFamily="49" charset="-122"/>
              </a:rPr>
              <a:t>引物</a:t>
            </a:r>
            <a:r>
              <a:rPr lang="zh-CN" altLang="en-US" sz="2800" b="1">
                <a:latin typeface="楷体_GB2312" pitchFamily="49" charset="-122"/>
                <a:ea typeface="楷体_GB2312" pitchFamily="49" charset="-122"/>
              </a:rPr>
              <a:t>。</a:t>
            </a:r>
            <a:endParaRPr lang="zh-CN" altLang="en-US" sz="2800" b="1">
              <a:latin typeface="楷体_GB2312" pitchFamily="49" charset="-122"/>
              <a:ea typeface="楷体_GB2312" pitchFamily="49" charset="-122"/>
            </a:endParaRPr>
          </a:p>
          <a:p>
            <a:pPr marL="0" lvl="0" indent="0" eaLnBrk="1" hangingPunct="1">
              <a:spcBef>
                <a:spcPct val="0"/>
              </a:spcBef>
              <a:buNone/>
            </a:pP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800" b="1">
                <a:latin typeface="楷体_GB2312" pitchFamily="49" charset="-122"/>
                <a:ea typeface="楷体_GB2312" pitchFamily="49" charset="-122"/>
              </a:rPr>
              <a:t>新的葡糖残基以半缩醛羟基（</a:t>
            </a:r>
            <a:r>
              <a:rPr lang="en-US" altLang="zh-CN" sz="2800" b="1">
                <a:latin typeface="楷体_GB2312" pitchFamily="49" charset="-122"/>
                <a:ea typeface="楷体_GB2312" pitchFamily="49" charset="-122"/>
              </a:rPr>
              <a:t>C</a:t>
            </a:r>
            <a:r>
              <a:rPr lang="en-US" altLang="zh-CN" sz="2800" b="1" baseline="-25000">
                <a:latin typeface="楷体_GB2312" pitchFamily="49" charset="-122"/>
                <a:ea typeface="楷体_GB2312" pitchFamily="49" charset="-122"/>
              </a:rPr>
              <a:t>1</a:t>
            </a:r>
            <a:r>
              <a:rPr lang="zh-CN" altLang="en-US" sz="2800" b="1">
                <a:latin typeface="楷体_GB2312" pitchFamily="49" charset="-122"/>
                <a:ea typeface="楷体_GB2312" pitchFamily="49" charset="-122"/>
              </a:rPr>
              <a:t>－</a:t>
            </a:r>
            <a:r>
              <a:rPr lang="en-US" altLang="zh-CN" sz="2800" b="1">
                <a:latin typeface="楷体_GB2312" pitchFamily="49" charset="-122"/>
                <a:ea typeface="楷体_GB2312" pitchFamily="49" charset="-122"/>
              </a:rPr>
              <a:t>OH)</a:t>
            </a:r>
            <a:r>
              <a:rPr lang="zh-CN" altLang="en-US" sz="2800" b="1">
                <a:latin typeface="楷体_GB2312" pitchFamily="49" charset="-122"/>
                <a:ea typeface="楷体_GB2312" pitchFamily="49" charset="-122"/>
              </a:rPr>
              <a:t>与聚糖链非还原端末位糖残基的</a:t>
            </a:r>
            <a:r>
              <a:rPr lang="en-US" altLang="zh-CN" sz="2800" b="1">
                <a:latin typeface="楷体_GB2312" pitchFamily="49" charset="-122"/>
                <a:ea typeface="楷体_GB2312" pitchFamily="49" charset="-122"/>
              </a:rPr>
              <a:t>C</a:t>
            </a:r>
            <a:r>
              <a:rPr lang="en-US" altLang="zh-CN" sz="2800" b="1" baseline="-25000">
                <a:latin typeface="楷体_GB2312" pitchFamily="49" charset="-122"/>
                <a:ea typeface="楷体_GB2312" pitchFamily="49" charset="-122"/>
              </a:rPr>
              <a:t>4</a:t>
            </a:r>
            <a:r>
              <a:rPr lang="en-US" altLang="zh-CN" sz="2800" b="1">
                <a:latin typeface="楷体_GB2312" pitchFamily="49" charset="-122"/>
                <a:ea typeface="楷体_GB2312" pitchFamily="49" charset="-122"/>
              </a:rPr>
              <a:t>-OH</a:t>
            </a:r>
            <a:r>
              <a:rPr lang="zh-CN" altLang="en-US" sz="2800" b="1">
                <a:latin typeface="楷体_GB2312" pitchFamily="49" charset="-122"/>
                <a:ea typeface="楷体_GB2312" pitchFamily="49" charset="-122"/>
              </a:rPr>
              <a:t>脱水缩合，形成新的</a:t>
            </a:r>
            <a:r>
              <a:rPr lang="zh-CN" altLang="en-US" sz="2800" b="1">
                <a:latin typeface="楷体_GB2312" pitchFamily="49" charset="-122"/>
                <a:ea typeface="楷体_GB2312" pitchFamily="49" charset="-122"/>
                <a:sym typeface="Symbol" pitchFamily="18" charset="2"/>
              </a:rPr>
              <a:t>－</a:t>
            </a:r>
            <a:r>
              <a:rPr lang="en-US" altLang="zh-CN" sz="2800" b="1">
                <a:latin typeface="楷体_GB2312" pitchFamily="49" charset="-122"/>
                <a:ea typeface="楷体_GB2312" pitchFamily="49" charset="-122"/>
                <a:sym typeface="Symbol" pitchFamily="18" charset="2"/>
              </a:rPr>
              <a:t>1</a:t>
            </a:r>
            <a:r>
              <a:rPr lang="zh-CN" altLang="en-US" sz="2800" b="1">
                <a:latin typeface="楷体_GB2312" pitchFamily="49" charset="-122"/>
                <a:ea typeface="楷体_GB2312" pitchFamily="49" charset="-122"/>
                <a:sym typeface="Symbol" pitchFamily="18" charset="2"/>
              </a:rPr>
              <a:t>，</a:t>
            </a:r>
            <a:r>
              <a:rPr lang="en-US" altLang="zh-CN" sz="2800" b="1">
                <a:latin typeface="楷体_GB2312" pitchFamily="49" charset="-122"/>
                <a:ea typeface="楷体_GB2312" pitchFamily="49" charset="-122"/>
                <a:sym typeface="Symbol" pitchFamily="18" charset="2"/>
              </a:rPr>
              <a:t>4 </a:t>
            </a:r>
            <a:r>
              <a:rPr lang="zh-CN" altLang="en-US" sz="2800" b="1">
                <a:latin typeface="楷体_GB2312" pitchFamily="49" charset="-122"/>
                <a:ea typeface="楷体_GB2312" pitchFamily="49" charset="-122"/>
                <a:sym typeface="Symbol" pitchFamily="18" charset="2"/>
              </a:rPr>
              <a:t>糖苷键，</a:t>
            </a:r>
            <a:r>
              <a:rPr lang="zh-CN" altLang="en-US" sz="2800" b="1">
                <a:latin typeface="楷体_GB2312" pitchFamily="49" charset="-122"/>
                <a:ea typeface="楷体_GB2312" pitchFamily="49" charset="-122"/>
              </a:rPr>
              <a:t>逐步聚合加长聚糖链。</a:t>
            </a: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800" b="1">
                <a:latin typeface="楷体_GB2312" pitchFamily="49" charset="-122"/>
                <a:ea typeface="楷体_GB2312" pitchFamily="49" charset="-122"/>
              </a:rPr>
              <a:t> </a:t>
            </a: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800" b="1">
                <a:latin typeface="楷体_GB2312" pitchFamily="49" charset="-122"/>
                <a:ea typeface="楷体_GB2312" pitchFamily="49" charset="-122"/>
              </a:rPr>
              <a:t>细胞中糖原颗粒数目取决于糖原引物数目</a:t>
            </a:r>
            <a:endParaRPr lang="zh-CN" altLang="en-US" sz="2800" b="1">
              <a:latin typeface="楷体_GB2312" pitchFamily="49" charset="-122"/>
              <a:ea typeface="楷体_GB2312" pitchFamily="49" charset="-122"/>
            </a:endParaRPr>
          </a:p>
          <a:p>
            <a:pPr marL="0" lvl="0" indent="0" eaLnBrk="1" hangingPunct="1">
              <a:spcBef>
                <a:spcPct val="0"/>
              </a:spcBef>
              <a:buNone/>
            </a:pPr>
            <a:endParaRPr lang="zh-CN" altLang="en-US" sz="2800" b="1">
              <a:solidFill>
                <a:schemeClr val="tx2"/>
              </a:solidFill>
              <a:latin typeface="楷体_GB2312" pitchFamily="49" charset="-122"/>
              <a:ea typeface="楷体_GB2312" pitchFamily="49" charset="-122"/>
            </a:endParaRPr>
          </a:p>
          <a:p>
            <a:pPr marL="0" lvl="0" indent="0" eaLnBrk="1" hangingPunct="1">
              <a:spcBef>
                <a:spcPct val="0"/>
              </a:spcBef>
              <a:buNone/>
            </a:pPr>
            <a:r>
              <a:rPr lang="zh-CN" altLang="en-US" sz="2800" b="1">
                <a:solidFill>
                  <a:schemeClr val="tx2"/>
                </a:solidFill>
                <a:latin typeface="楷体_GB2312" pitchFamily="49" charset="-122"/>
                <a:ea typeface="楷体_GB2312" pitchFamily="49" charset="-122"/>
              </a:rPr>
              <a:t>糖原合成时葡萄糖的供体是</a:t>
            </a:r>
            <a:r>
              <a:rPr lang="en-US" altLang="zh-CN" sz="2800" b="1">
                <a:solidFill>
                  <a:srgbClr val="A50021"/>
                </a:solidFill>
                <a:latin typeface="楷体_GB2312" pitchFamily="49" charset="-122"/>
                <a:ea typeface="楷体_GB2312" pitchFamily="49" charset="-122"/>
              </a:rPr>
              <a:t>UDPG</a:t>
            </a:r>
            <a:r>
              <a:rPr lang="zh-CN" altLang="en-US" sz="2800" b="1">
                <a:latin typeface="楷体_GB2312" pitchFamily="49" charset="-122"/>
                <a:ea typeface="楷体_GB2312" pitchFamily="49" charset="-122"/>
              </a:rPr>
              <a:t>（高能活化态）</a:t>
            </a:r>
            <a:endParaRPr lang="zh-CN" altLang="en-US" sz="2800" b="1">
              <a:latin typeface="楷体_GB2312" pitchFamily="49" charset="-122"/>
              <a:ea typeface="楷体_GB2312" pitchFamily="49" charset="-122"/>
            </a:endParaRPr>
          </a:p>
        </p:txBody>
      </p:sp>
      <p:sp>
        <p:nvSpPr>
          <p:cNvPr id="4710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0118">
                                            <p:txEl>
                                              <p:charRg st="49" end="117"/>
                                            </p:txEl>
                                          </p:spTgt>
                                        </p:tgtEl>
                                        <p:attrNameLst>
                                          <p:attrName>style.visibility</p:attrName>
                                        </p:attrNameLst>
                                      </p:cBhvr>
                                      <p:to>
                                        <p:strVal val="visible"/>
                                      </p:to>
                                    </p:set>
                                    <p:animEffect transition="in" filter="checkerboard(across)">
                                      <p:cBhvr>
                                        <p:cTn id="7" dur="500"/>
                                        <p:tgtEl>
                                          <p:spTgt spid="90118">
                                            <p:txEl>
                                              <p:charRg st="49" end="1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0118">
                                            <p:txEl>
                                              <p:charRg st="119" end="138"/>
                                            </p:txEl>
                                          </p:spTgt>
                                        </p:tgtEl>
                                        <p:attrNameLst>
                                          <p:attrName>style.visibility</p:attrName>
                                        </p:attrNameLst>
                                      </p:cBhvr>
                                      <p:to>
                                        <p:strVal val="visible"/>
                                      </p:to>
                                    </p:set>
                                    <p:animEffect transition="in" filter="checkerboard(across)">
                                      <p:cBhvr>
                                        <p:cTn id="12" dur="500"/>
                                        <p:tgtEl>
                                          <p:spTgt spid="90118">
                                            <p:txEl>
                                              <p:charRg st="119" end="1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0118">
                                            <p:txEl>
                                              <p:charRg st="139" end="163"/>
                                            </p:txEl>
                                          </p:spTgt>
                                        </p:tgtEl>
                                        <p:attrNameLst>
                                          <p:attrName>style.visibility</p:attrName>
                                        </p:attrNameLst>
                                      </p:cBhvr>
                                      <p:to>
                                        <p:strVal val="visible"/>
                                      </p:to>
                                    </p:set>
                                    <p:animEffect transition="in" filter="checkerboard(across)">
                                      <p:cBhvr>
                                        <p:cTn id="17" dur="500"/>
                                        <p:tgtEl>
                                          <p:spTgt spid="90118">
                                            <p:txEl>
                                              <p:charRg st="139"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4"/>
          <p:cNvSpPr/>
          <p:nvPr/>
        </p:nvSpPr>
        <p:spPr>
          <a:xfrm>
            <a:off x="1403350" y="765175"/>
            <a:ext cx="6408738"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solidFill>
                  <a:schemeClr val="tx2"/>
                </a:solidFill>
                <a:latin typeface="黑体" pitchFamily="49" charset="-122"/>
                <a:ea typeface="黑体" pitchFamily="49" charset="-122"/>
              </a:rPr>
              <a:t>3.1 </a:t>
            </a:r>
            <a:r>
              <a:rPr lang="zh-CN" altLang="en-US" sz="2800" b="1">
                <a:solidFill>
                  <a:schemeClr val="tx2"/>
                </a:solidFill>
                <a:latin typeface="黑体" pitchFamily="49" charset="-122"/>
                <a:ea typeface="黑体" pitchFamily="49" charset="-122"/>
              </a:rPr>
              <a:t>参与糖原合成的酶类</a:t>
            </a:r>
            <a:endParaRPr lang="zh-CN" altLang="en-US" sz="2800" b="1">
              <a:solidFill>
                <a:srgbClr val="660066"/>
              </a:solidFill>
              <a:latin typeface="黑体" pitchFamily="49" charset="-122"/>
              <a:ea typeface="黑体" pitchFamily="49" charset="-122"/>
            </a:endParaRPr>
          </a:p>
        </p:txBody>
      </p:sp>
      <p:sp>
        <p:nvSpPr>
          <p:cNvPr id="48130" name="Rectangle 5"/>
          <p:cNvSpPr/>
          <p:nvPr/>
        </p:nvSpPr>
        <p:spPr>
          <a:xfrm>
            <a:off x="827088" y="2636838"/>
            <a:ext cx="7923212" cy="2524125"/>
          </a:xfrm>
          <a:prstGeom prst="rect">
            <a:avLst/>
          </a:prstGeom>
          <a:noFill/>
          <a:ln w="9525">
            <a:noFill/>
          </a:ln>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342900" lvl="0" indent="-342900" eaLnBrk="1" hangingPunct="1">
              <a:lnSpc>
                <a:spcPct val="90000"/>
              </a:lnSpc>
              <a:spcBef>
                <a:spcPct val="60000"/>
              </a:spcBef>
              <a:buNone/>
            </a:pPr>
            <a:r>
              <a:rPr lang="zh-CN" altLang="en-US" sz="2800" b="1">
                <a:latin typeface="楷体_GB2312" pitchFamily="49" charset="-122"/>
                <a:ea typeface="楷体_GB2312" pitchFamily="49" charset="-122"/>
              </a:rPr>
              <a:t>① </a:t>
            </a:r>
            <a:r>
              <a:rPr lang="en-US" altLang="zh-CN" sz="2800" b="1">
                <a:latin typeface="楷体_GB2312" pitchFamily="49" charset="-122"/>
                <a:ea typeface="楷体_GB2312" pitchFamily="49" charset="-122"/>
              </a:rPr>
              <a:t>UDPG</a:t>
            </a:r>
            <a:r>
              <a:rPr lang="zh-CN" altLang="en-US" sz="2800" b="1">
                <a:latin typeface="楷体_GB2312" pitchFamily="49" charset="-122"/>
                <a:ea typeface="楷体_GB2312" pitchFamily="49" charset="-122"/>
              </a:rPr>
              <a:t>焦磷酸化酶</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葡萄糖单位的活化</a:t>
            </a:r>
            <a:r>
              <a:rPr lang="zh-CN" altLang="en-US" sz="2800" b="1">
                <a:latin typeface="楷体_GB2312" pitchFamily="49" charset="-122"/>
                <a:ea typeface="楷体_GB2312" pitchFamily="49" charset="-122"/>
              </a:rPr>
              <a:t> </a:t>
            </a:r>
            <a:endParaRPr lang="zh-CN" altLang="en-US" sz="2800" b="1">
              <a:latin typeface="楷体_GB2312" pitchFamily="49" charset="-122"/>
              <a:ea typeface="楷体_GB2312" pitchFamily="49" charset="-122"/>
            </a:endParaRPr>
          </a:p>
          <a:p>
            <a:pPr marL="342900" lvl="0" indent="-342900" eaLnBrk="1" hangingPunct="1">
              <a:lnSpc>
                <a:spcPct val="90000"/>
              </a:lnSpc>
              <a:spcBef>
                <a:spcPct val="60000"/>
              </a:spcBef>
              <a:buNone/>
            </a:pPr>
            <a:r>
              <a:rPr lang="zh-CN" altLang="en-US" sz="2800" b="1">
                <a:latin typeface="楷体_GB2312" pitchFamily="49" charset="-122"/>
                <a:ea typeface="楷体_GB2312" pitchFamily="49" charset="-122"/>
              </a:rPr>
              <a:t>② </a:t>
            </a:r>
            <a:r>
              <a:rPr lang="zh-CN" altLang="en-US" sz="2800" b="1">
                <a:latin typeface="楷体_GB2312" pitchFamily="49" charset="-122"/>
                <a:ea typeface="楷体_GB2312" pitchFamily="49" charset="-122"/>
              </a:rPr>
              <a:t>糖原合酶</a:t>
            </a:r>
            <a:r>
              <a:rPr lang="zh-CN" altLang="en-US" sz="2800" b="1">
                <a:latin typeface="楷体_GB2312" pitchFamily="49" charset="-122"/>
                <a:ea typeface="楷体_GB2312" pitchFamily="49" charset="-122"/>
              </a:rPr>
              <a:t>（糖基聚合酶）  聚糖</a:t>
            </a:r>
            <a:r>
              <a:rPr lang="zh-CN" altLang="en-US" sz="2800" b="1">
                <a:latin typeface="楷体_GB2312" pitchFamily="49" charset="-122"/>
                <a:ea typeface="楷体_GB2312" pitchFamily="49" charset="-122"/>
              </a:rPr>
              <a:t>直链的延长</a:t>
            </a:r>
            <a:endParaRPr lang="zh-CN" altLang="en-US" sz="2800" b="1">
              <a:latin typeface="楷体_GB2312" pitchFamily="49" charset="-122"/>
              <a:ea typeface="楷体_GB2312" pitchFamily="49" charset="-122"/>
            </a:endParaRPr>
          </a:p>
          <a:p>
            <a:pPr marL="342900" lvl="0" indent="-342900" eaLnBrk="1" hangingPunct="1">
              <a:lnSpc>
                <a:spcPct val="90000"/>
              </a:lnSpc>
              <a:spcBef>
                <a:spcPct val="60000"/>
              </a:spcBef>
              <a:buNone/>
            </a:pPr>
            <a:r>
              <a:rPr lang="zh-CN" altLang="en-US" sz="2800" b="1">
                <a:latin typeface="楷体_GB2312" pitchFamily="49" charset="-122"/>
                <a:ea typeface="楷体_GB2312" pitchFamily="49" charset="-122"/>
              </a:rPr>
              <a:t>③ </a:t>
            </a:r>
            <a:r>
              <a:rPr lang="zh-CN" altLang="en-US" sz="2800" b="1">
                <a:latin typeface="楷体_GB2312" pitchFamily="49" charset="-122"/>
                <a:ea typeface="楷体_GB2312" pitchFamily="49" charset="-122"/>
              </a:rPr>
              <a:t>糖原分支酶              寡糖链转移</a:t>
            </a:r>
            <a:endParaRPr lang="zh-CN" altLang="en-US" sz="2800" b="1">
              <a:latin typeface="楷体_GB2312" pitchFamily="49" charset="-122"/>
              <a:ea typeface="楷体_GB2312" pitchFamily="49" charset="-122"/>
            </a:endParaRPr>
          </a:p>
          <a:p>
            <a:pPr marL="342900" lvl="0" indent="-342900" eaLnBrk="1" hangingPunct="1">
              <a:lnSpc>
                <a:spcPct val="90000"/>
              </a:lnSpc>
              <a:spcBef>
                <a:spcPct val="60000"/>
              </a:spcBef>
              <a:buNone/>
            </a:pPr>
            <a:r>
              <a:rPr lang="zh-CN" altLang="en-US"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分支的形成</a:t>
            </a:r>
            <a:endParaRPr lang="en-US" altLang="zh-CN" sz="2800" b="1">
              <a:latin typeface="楷体_GB2312" pitchFamily="49" charset="-122"/>
              <a:ea typeface="楷体_GB2312" pitchFamily="49" charset="-122"/>
            </a:endParaRPr>
          </a:p>
        </p:txBody>
      </p:sp>
      <p:sp>
        <p:nvSpPr>
          <p:cNvPr id="48131" name="Text Box 6"/>
          <p:cNvSpPr txBox="1"/>
          <p:nvPr/>
        </p:nvSpPr>
        <p:spPr>
          <a:xfrm>
            <a:off x="1619250" y="1773238"/>
            <a:ext cx="201612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黑体" pitchFamily="49" charset="-122"/>
                <a:ea typeface="黑体" pitchFamily="49" charset="-122"/>
              </a:rPr>
              <a:t>酶 名 称</a:t>
            </a:r>
            <a:endParaRPr lang="zh-CN" altLang="en-US" sz="2800">
              <a:latin typeface="黑体" pitchFamily="49" charset="-122"/>
              <a:ea typeface="黑体" pitchFamily="49" charset="-122"/>
            </a:endParaRPr>
          </a:p>
        </p:txBody>
      </p:sp>
      <p:sp>
        <p:nvSpPr>
          <p:cNvPr id="48132" name="Text Box 7"/>
          <p:cNvSpPr txBox="1"/>
          <p:nvPr/>
        </p:nvSpPr>
        <p:spPr>
          <a:xfrm>
            <a:off x="6156325" y="1773238"/>
            <a:ext cx="2303463"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a:latin typeface="黑体" pitchFamily="49" charset="-122"/>
                <a:ea typeface="黑体" pitchFamily="49" charset="-122"/>
              </a:rPr>
              <a:t>酶催化反应</a:t>
            </a:r>
            <a:endParaRPr lang="zh-CN" altLang="en-US" sz="2800">
              <a:latin typeface="黑体" pitchFamily="49" charset="-122"/>
              <a:ea typeface="黑体" pitchFamily="49" charset="-122"/>
            </a:endParaRPr>
          </a:p>
        </p:txBody>
      </p:sp>
      <p:sp>
        <p:nvSpPr>
          <p:cNvPr id="48133" name="Line 9"/>
          <p:cNvSpPr/>
          <p:nvPr/>
        </p:nvSpPr>
        <p:spPr>
          <a:xfrm>
            <a:off x="900113" y="2420938"/>
            <a:ext cx="7488237" cy="0"/>
          </a:xfrm>
          <a:prstGeom prst="line">
            <a:avLst/>
          </a:prstGeom>
          <a:ln w="12700" cap="flat" cmpd="sng">
            <a:solidFill>
              <a:schemeClr val="tx1"/>
            </a:solidFill>
            <a:prstDash val="solid"/>
            <a:miter/>
            <a:headEnd type="none" w="sm" len="sm"/>
            <a:tailEnd type="none" w="sm" len="sm"/>
          </a:ln>
        </p:spPr>
      </p:sp>
      <p:sp>
        <p:nvSpPr>
          <p:cNvPr id="48134" name="Line 10"/>
          <p:cNvSpPr/>
          <p:nvPr/>
        </p:nvSpPr>
        <p:spPr>
          <a:xfrm>
            <a:off x="885825" y="1773238"/>
            <a:ext cx="7488238" cy="0"/>
          </a:xfrm>
          <a:prstGeom prst="line">
            <a:avLst/>
          </a:prstGeom>
          <a:ln w="12700" cap="flat" cmpd="sng">
            <a:solidFill>
              <a:schemeClr val="tx1"/>
            </a:solidFill>
            <a:prstDash val="solid"/>
            <a:miter/>
            <a:headEnd type="none" w="sm" len="sm"/>
            <a:tailEnd type="none" w="sm" len="sm"/>
          </a:ln>
        </p:spPr>
      </p:sp>
      <p:sp>
        <p:nvSpPr>
          <p:cNvPr id="48135" name="Line 11"/>
          <p:cNvSpPr/>
          <p:nvPr/>
        </p:nvSpPr>
        <p:spPr>
          <a:xfrm>
            <a:off x="914400" y="5086350"/>
            <a:ext cx="7488238" cy="0"/>
          </a:xfrm>
          <a:prstGeom prst="line">
            <a:avLst/>
          </a:prstGeom>
          <a:ln w="12700" cap="flat" cmpd="sng">
            <a:solidFill>
              <a:schemeClr val="tx1"/>
            </a:solidFill>
            <a:prstDash val="solid"/>
            <a:miter/>
            <a:headEnd type="none" w="sm" len="sm"/>
            <a:tailEnd type="none" w="sm" len="sm"/>
          </a:ln>
        </p:spPr>
      </p:sp>
      <p:sp>
        <p:nvSpPr>
          <p:cNvPr id="4813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1143" name="Picture 7" descr="G-UDGP2"/>
          <p:cNvPicPr>
            <a:picLocks noChangeAspect="1"/>
          </p:cNvPicPr>
          <p:nvPr/>
        </p:nvPicPr>
        <p:blipFill>
          <a:blip r:embed="rId1"/>
          <a:stretch>
            <a:fillRect/>
          </a:stretch>
        </p:blipFill>
        <p:spPr>
          <a:xfrm>
            <a:off x="1835150" y="2924175"/>
            <a:ext cx="5029200" cy="2881313"/>
          </a:xfrm>
          <a:prstGeom prst="rect">
            <a:avLst/>
          </a:prstGeom>
          <a:noFill/>
          <a:ln w="9525">
            <a:noFill/>
          </a:ln>
        </p:spPr>
      </p:pic>
      <p:sp>
        <p:nvSpPr>
          <p:cNvPr id="49154" name="Text Box 10"/>
          <p:cNvSpPr txBox="1"/>
          <p:nvPr/>
        </p:nvSpPr>
        <p:spPr>
          <a:xfrm>
            <a:off x="2339975" y="333375"/>
            <a:ext cx="4824413"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黑体" pitchFamily="49" charset="-122"/>
              </a:rPr>
              <a:t>3.2 </a:t>
            </a:r>
            <a:r>
              <a:rPr lang="zh-CN" altLang="en-US" sz="2800">
                <a:latin typeface="黑体" pitchFamily="49" charset="-122"/>
                <a:ea typeface="黑体" pitchFamily="49" charset="-122"/>
              </a:rPr>
              <a:t>葡萄糖的活化反应</a:t>
            </a:r>
            <a:endParaRPr lang="zh-CN" altLang="en-US" sz="2800">
              <a:latin typeface="黑体" pitchFamily="49" charset="-122"/>
              <a:ea typeface="黑体" pitchFamily="49" charset="-122"/>
            </a:endParaRPr>
          </a:p>
        </p:txBody>
      </p:sp>
      <p:grpSp>
        <p:nvGrpSpPr>
          <p:cNvPr id="49155" name="Group 16"/>
          <p:cNvGrpSpPr/>
          <p:nvPr/>
        </p:nvGrpSpPr>
        <p:grpSpPr>
          <a:xfrm>
            <a:off x="395288" y="1268413"/>
            <a:ext cx="8039100" cy="1181100"/>
            <a:chOff x="386" y="935"/>
            <a:chExt cx="5064" cy="744"/>
          </a:xfrm>
        </p:grpSpPr>
        <p:pic>
          <p:nvPicPr>
            <p:cNvPr id="49161" name="Picture 6" descr="G-UDGP"/>
            <p:cNvPicPr>
              <a:picLocks noChangeAspect="1"/>
            </p:cNvPicPr>
            <p:nvPr/>
          </p:nvPicPr>
          <p:blipFill>
            <a:blip r:embed="rId2"/>
            <a:stretch>
              <a:fillRect/>
            </a:stretch>
          </p:blipFill>
          <p:spPr>
            <a:xfrm>
              <a:off x="386" y="935"/>
              <a:ext cx="5064" cy="744"/>
            </a:xfrm>
            <a:prstGeom prst="rect">
              <a:avLst/>
            </a:prstGeom>
            <a:noFill/>
            <a:ln w="9525">
              <a:noFill/>
            </a:ln>
          </p:spPr>
        </p:pic>
        <p:sp>
          <p:nvSpPr>
            <p:cNvPr id="49162" name="AutoShape 12"/>
            <p:cNvSpPr/>
            <p:nvPr/>
          </p:nvSpPr>
          <p:spPr>
            <a:xfrm>
              <a:off x="1882" y="1117"/>
              <a:ext cx="635" cy="453"/>
            </a:xfrm>
            <a:prstGeom prst="hexagon">
              <a:avLst>
                <a:gd name="adj" fmla="val 35044"/>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a:solidFill>
                    <a:srgbClr val="FFF7FF"/>
                  </a:solidFill>
                </a:rPr>
                <a:t>G-6-P</a:t>
              </a:r>
              <a:endParaRPr lang="en-US" altLang="zh-CN" sz="2400">
                <a:solidFill>
                  <a:srgbClr val="FFF7FF"/>
                </a:solidFill>
              </a:endParaRPr>
            </a:p>
          </p:txBody>
        </p:sp>
        <p:sp>
          <p:nvSpPr>
            <p:cNvPr id="49163" name="Oval 13"/>
            <p:cNvSpPr/>
            <p:nvPr/>
          </p:nvSpPr>
          <p:spPr>
            <a:xfrm>
              <a:off x="1927" y="935"/>
              <a:ext cx="181" cy="181"/>
            </a:xfrm>
            <a:prstGeom prst="ellipse">
              <a:avLst/>
            </a:prstGeom>
            <a:solidFill>
              <a:srgbClr val="FFFFCC"/>
            </a:solidFill>
            <a:ln w="381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a:t>P</a:t>
              </a:r>
              <a:endParaRPr lang="en-US" altLang="zh-CN" sz="1800" b="1"/>
            </a:p>
          </p:txBody>
        </p:sp>
        <p:sp>
          <p:nvSpPr>
            <p:cNvPr id="49164" name="AutoShape 14"/>
            <p:cNvSpPr/>
            <p:nvPr/>
          </p:nvSpPr>
          <p:spPr>
            <a:xfrm>
              <a:off x="3198" y="1162"/>
              <a:ext cx="635" cy="453"/>
            </a:xfrm>
            <a:prstGeom prst="hexagon">
              <a:avLst>
                <a:gd name="adj" fmla="val 35044"/>
                <a:gd name="vf" fmla="val 115470"/>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a:solidFill>
                    <a:srgbClr val="FFF7FF"/>
                  </a:solidFill>
                </a:rPr>
                <a:t>G-1-P</a:t>
              </a:r>
              <a:endParaRPr lang="en-US" altLang="zh-CN" sz="2400">
                <a:solidFill>
                  <a:srgbClr val="FFF7FF"/>
                </a:solidFill>
              </a:endParaRPr>
            </a:p>
          </p:txBody>
        </p:sp>
        <p:sp>
          <p:nvSpPr>
            <p:cNvPr id="49165" name="Oval 15"/>
            <p:cNvSpPr/>
            <p:nvPr/>
          </p:nvSpPr>
          <p:spPr>
            <a:xfrm>
              <a:off x="3778" y="1271"/>
              <a:ext cx="181" cy="181"/>
            </a:xfrm>
            <a:prstGeom prst="ellipse">
              <a:avLst/>
            </a:prstGeom>
            <a:solidFill>
              <a:srgbClr val="FFFFCC"/>
            </a:solidFill>
            <a:ln w="381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a:t>P</a:t>
              </a:r>
              <a:endParaRPr lang="en-US" altLang="zh-CN" sz="1800" b="1"/>
            </a:p>
          </p:txBody>
        </p:sp>
      </p:grpSp>
      <p:sp>
        <p:nvSpPr>
          <p:cNvPr id="49156" name="Text Box 18"/>
          <p:cNvSpPr txBox="1"/>
          <p:nvPr/>
        </p:nvSpPr>
        <p:spPr>
          <a:xfrm>
            <a:off x="5795963" y="2117725"/>
            <a:ext cx="2687637" cy="519113"/>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solidFill>
                  <a:schemeClr val="hlink"/>
                </a:solidFill>
                <a:latin typeface="楷体_GB2312" pitchFamily="49" charset="-122"/>
                <a:ea typeface="楷体_GB2312" pitchFamily="49" charset="-122"/>
              </a:rPr>
              <a:t>UDPG</a:t>
            </a:r>
            <a:r>
              <a:rPr lang="zh-CN" altLang="en-US" sz="2800" b="1">
                <a:solidFill>
                  <a:schemeClr val="hlink"/>
                </a:solidFill>
                <a:latin typeface="楷体_GB2312" pitchFamily="49" charset="-122"/>
                <a:ea typeface="楷体_GB2312" pitchFamily="49" charset="-122"/>
              </a:rPr>
              <a:t>焦磷酸化酶</a:t>
            </a:r>
            <a:endParaRPr lang="zh-CN" altLang="en-US" sz="2800" b="1">
              <a:solidFill>
                <a:schemeClr val="hlink"/>
              </a:solidFill>
              <a:latin typeface="楷体_GB2312" pitchFamily="49" charset="-122"/>
              <a:ea typeface="楷体_GB2312" pitchFamily="49" charset="-122"/>
            </a:endParaRPr>
          </a:p>
        </p:txBody>
      </p:sp>
      <p:sp>
        <p:nvSpPr>
          <p:cNvPr id="91155" name="Text Box 19"/>
          <p:cNvSpPr txBox="1"/>
          <p:nvPr/>
        </p:nvSpPr>
        <p:spPr>
          <a:xfrm>
            <a:off x="755650" y="5949950"/>
            <a:ext cx="8007350" cy="519113"/>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solidFill>
                  <a:srgbClr val="CC0000"/>
                </a:solidFill>
                <a:latin typeface="楷体_GB2312" pitchFamily="49" charset="-122"/>
                <a:ea typeface="楷体_GB2312" pitchFamily="49" charset="-122"/>
              </a:rPr>
              <a:t>UDPG</a:t>
            </a:r>
            <a:r>
              <a:rPr lang="zh-CN" altLang="en-US" sz="2800" b="1">
                <a:solidFill>
                  <a:srgbClr val="CC0000"/>
                </a:solidFill>
                <a:latin typeface="楷体_GB2312" pitchFamily="49" charset="-122"/>
                <a:ea typeface="楷体_GB2312" pitchFamily="49" charset="-122"/>
              </a:rPr>
              <a:t>化学结构（高能化合物，葡萄糖的活化形式）</a:t>
            </a:r>
            <a:endParaRPr lang="zh-CN" altLang="en-US" sz="2800" b="1">
              <a:solidFill>
                <a:srgbClr val="CC0000"/>
              </a:solidFill>
              <a:latin typeface="楷体_GB2312" pitchFamily="49" charset="-122"/>
              <a:ea typeface="楷体_GB2312" pitchFamily="49" charset="-122"/>
            </a:endParaRPr>
          </a:p>
        </p:txBody>
      </p:sp>
      <p:sp>
        <p:nvSpPr>
          <p:cNvPr id="91156" name="Text Box 20"/>
          <p:cNvSpPr txBox="1"/>
          <p:nvPr/>
        </p:nvSpPr>
        <p:spPr>
          <a:xfrm>
            <a:off x="1258888" y="4941888"/>
            <a:ext cx="3028950" cy="5191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葡萄糖尿苷二磷酸</a:t>
            </a:r>
            <a:endParaRPr lang="zh-CN" altLang="en-US" sz="2800" b="1">
              <a:latin typeface="楷体_GB2312" pitchFamily="49" charset="-122"/>
              <a:ea typeface="楷体_GB2312" pitchFamily="49" charset="-122"/>
            </a:endParaRPr>
          </a:p>
        </p:txBody>
      </p:sp>
      <p:sp>
        <p:nvSpPr>
          <p:cNvPr id="49159" name="Text Box 21"/>
          <p:cNvSpPr txBox="1"/>
          <p:nvPr/>
        </p:nvSpPr>
        <p:spPr>
          <a:xfrm>
            <a:off x="5508625" y="2565400"/>
            <a:ext cx="3384550"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t>（活化共消耗</a:t>
            </a:r>
            <a:r>
              <a:rPr lang="en-US" altLang="zh-CN" sz="2400" b="1"/>
              <a:t>2ATP</a:t>
            </a:r>
            <a:r>
              <a:rPr lang="zh-CN" altLang="en-US" sz="2400" b="1"/>
              <a:t>）</a:t>
            </a:r>
            <a:endParaRPr lang="zh-CN" altLang="en-US" sz="2400" b="1"/>
          </a:p>
        </p:txBody>
      </p:sp>
      <p:sp>
        <p:nvSpPr>
          <p:cNvPr id="49160"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1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1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5" grpId="0" animBg="1"/>
      <p:bldP spid="9115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7" name="Picture 3" descr="611-2"/>
          <p:cNvPicPr>
            <a:picLocks noChangeAspect="1"/>
          </p:cNvPicPr>
          <p:nvPr/>
        </p:nvPicPr>
        <p:blipFill>
          <a:blip r:embed="rId1">
            <a:lum bright="-39999" contrast="60000"/>
          </a:blip>
          <a:srcRect b="15007"/>
          <a:stretch>
            <a:fillRect/>
          </a:stretch>
        </p:blipFill>
        <p:spPr>
          <a:xfrm>
            <a:off x="0" y="0"/>
            <a:ext cx="8856663" cy="6818313"/>
          </a:xfrm>
          <a:prstGeom prst="rect">
            <a:avLst/>
          </a:prstGeom>
          <a:noFill/>
          <a:ln w="9525">
            <a:noFill/>
          </a:ln>
        </p:spPr>
      </p:pic>
      <p:sp>
        <p:nvSpPr>
          <p:cNvPr id="50178" name="Text Box 4"/>
          <p:cNvSpPr txBox="1"/>
          <p:nvPr/>
        </p:nvSpPr>
        <p:spPr>
          <a:xfrm>
            <a:off x="3276600" y="2133600"/>
            <a:ext cx="5187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solidFill>
                  <a:schemeClr val="hlink"/>
                </a:solidFill>
                <a:latin typeface="楷体_GB2312" pitchFamily="49" charset="-122"/>
                <a:ea typeface="楷体_GB2312" pitchFamily="49" charset="-122"/>
              </a:rPr>
              <a:t>UDP-</a:t>
            </a:r>
            <a:r>
              <a:rPr lang="zh-CN" altLang="en-US" sz="2800" b="1">
                <a:solidFill>
                  <a:schemeClr val="hlink"/>
                </a:solidFill>
                <a:latin typeface="楷体_GB2312" pitchFamily="49" charset="-122"/>
                <a:ea typeface="楷体_GB2312" pitchFamily="49" charset="-122"/>
              </a:rPr>
              <a:t>葡萄糖焦磷酸化酶（可逆）</a:t>
            </a:r>
            <a:endParaRPr lang="zh-CN" altLang="en-US" sz="2800" b="1">
              <a:solidFill>
                <a:schemeClr val="hlink"/>
              </a:solidFill>
              <a:latin typeface="楷体_GB2312" pitchFamily="49" charset="-122"/>
              <a:ea typeface="楷体_GB2312" pitchFamily="49" charset="-122"/>
            </a:endParaRPr>
          </a:p>
        </p:txBody>
      </p:sp>
      <p:sp>
        <p:nvSpPr>
          <p:cNvPr id="50179" name="Text Box 14"/>
          <p:cNvSpPr txBox="1"/>
          <p:nvPr/>
        </p:nvSpPr>
        <p:spPr>
          <a:xfrm>
            <a:off x="7524750" y="692150"/>
            <a:ext cx="1295400" cy="557213"/>
          </a:xfrm>
          <a:prstGeom prst="rect">
            <a:avLst/>
          </a:prstGeom>
          <a:solidFill>
            <a:srgbClr val="D9EDEF"/>
          </a:solidFill>
          <a:ln w="38100" cap="flat" cmpd="sng">
            <a:solidFill>
              <a:schemeClr val="accent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800" b="1">
                <a:ea typeface="楷体_GB2312" pitchFamily="49" charset="-122"/>
              </a:rPr>
              <a:t>尿嘧啶</a:t>
            </a:r>
            <a:endParaRPr lang="zh-CN" altLang="en-US" sz="2800" b="1">
              <a:ea typeface="楷体_GB2312" pitchFamily="49" charset="-122"/>
            </a:endParaRPr>
          </a:p>
        </p:txBody>
      </p:sp>
      <p:sp>
        <p:nvSpPr>
          <p:cNvPr id="50180" name="AutoShape 15"/>
          <p:cNvSpPr/>
          <p:nvPr/>
        </p:nvSpPr>
        <p:spPr>
          <a:xfrm>
            <a:off x="6415088" y="606425"/>
            <a:ext cx="1008062" cy="719138"/>
          </a:xfrm>
          <a:prstGeom prst="pentagon">
            <a:avLst/>
          </a:prstGeom>
          <a:solidFill>
            <a:srgbClr val="FFFFCC"/>
          </a:solidFill>
          <a:ln w="381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800" b="1">
                <a:ea typeface="楷体_GB2312" pitchFamily="49" charset="-122"/>
              </a:rPr>
              <a:t>核糖</a:t>
            </a:r>
            <a:endParaRPr lang="zh-CN" altLang="en-US" sz="2800" b="1">
              <a:ea typeface="楷体_GB2312" pitchFamily="49" charset="-122"/>
            </a:endParaRPr>
          </a:p>
        </p:txBody>
      </p:sp>
      <p:sp>
        <p:nvSpPr>
          <p:cNvPr id="50181" name="AutoShape 16"/>
          <p:cNvSpPr/>
          <p:nvPr/>
        </p:nvSpPr>
        <p:spPr>
          <a:xfrm>
            <a:off x="568325" y="577850"/>
            <a:ext cx="1152525" cy="719138"/>
          </a:xfrm>
          <a:prstGeom prst="hexagon">
            <a:avLst>
              <a:gd name="adj" fmla="val 40066"/>
              <a:gd name="vf" fmla="val 115470"/>
            </a:avLst>
          </a:prstGeom>
          <a:solidFill>
            <a:srgbClr val="CC0000"/>
          </a:solidFill>
          <a:ln w="381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b="1">
                <a:solidFill>
                  <a:srgbClr val="FFF7FF"/>
                </a:solidFill>
                <a:ea typeface="楷体_GB2312" pitchFamily="49" charset="-122"/>
              </a:rPr>
              <a:t>葡萄糖</a:t>
            </a:r>
            <a:endParaRPr lang="zh-CN" altLang="en-US" sz="1800">
              <a:solidFill>
                <a:srgbClr val="FFF7FF"/>
              </a:solidFill>
              <a:ea typeface="楷体_GB2312" pitchFamily="49" charset="-122"/>
            </a:endParaRPr>
          </a:p>
        </p:txBody>
      </p:sp>
      <p:sp>
        <p:nvSpPr>
          <p:cNvPr id="50182" name="Text Box 17"/>
          <p:cNvSpPr txBox="1"/>
          <p:nvPr/>
        </p:nvSpPr>
        <p:spPr>
          <a:xfrm>
            <a:off x="1260475" y="2278063"/>
            <a:ext cx="1800225" cy="3667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800"/>
          </a:p>
        </p:txBody>
      </p:sp>
      <p:sp>
        <p:nvSpPr>
          <p:cNvPr id="50183" name="AutoShape 18"/>
          <p:cNvSpPr/>
          <p:nvPr/>
        </p:nvSpPr>
        <p:spPr>
          <a:xfrm>
            <a:off x="3246438" y="3328988"/>
            <a:ext cx="1152525" cy="719137"/>
          </a:xfrm>
          <a:prstGeom prst="hexagon">
            <a:avLst>
              <a:gd name="adj" fmla="val 40066"/>
              <a:gd name="vf" fmla="val 115470"/>
            </a:avLst>
          </a:prstGeom>
          <a:solidFill>
            <a:srgbClr val="CC0000"/>
          </a:solidFill>
          <a:ln w="381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b="1">
                <a:solidFill>
                  <a:srgbClr val="FFF7FF"/>
                </a:solidFill>
                <a:ea typeface="楷体_GB2312" pitchFamily="49" charset="-122"/>
              </a:rPr>
              <a:t>葡萄糖</a:t>
            </a:r>
            <a:endParaRPr lang="zh-CN" altLang="en-US" sz="1800">
              <a:solidFill>
                <a:srgbClr val="FFF7FF"/>
              </a:solidFill>
              <a:ea typeface="楷体_GB2312" pitchFamily="49" charset="-122"/>
            </a:endParaRPr>
          </a:p>
        </p:txBody>
      </p:sp>
      <p:sp>
        <p:nvSpPr>
          <p:cNvPr id="50184" name="AutoShape 19"/>
          <p:cNvSpPr/>
          <p:nvPr/>
        </p:nvSpPr>
        <p:spPr>
          <a:xfrm>
            <a:off x="6602413" y="3313113"/>
            <a:ext cx="1008062" cy="719137"/>
          </a:xfrm>
          <a:prstGeom prst="pentagon">
            <a:avLst/>
          </a:prstGeom>
          <a:solidFill>
            <a:srgbClr val="FFFFCC"/>
          </a:solidFill>
          <a:ln w="381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800" b="1">
                <a:ea typeface="楷体_GB2312" pitchFamily="49" charset="-122"/>
              </a:rPr>
              <a:t>核糖</a:t>
            </a:r>
            <a:endParaRPr lang="zh-CN" altLang="en-US" sz="2800" b="1">
              <a:ea typeface="楷体_GB2312" pitchFamily="49" charset="-122"/>
            </a:endParaRPr>
          </a:p>
        </p:txBody>
      </p:sp>
      <p:sp>
        <p:nvSpPr>
          <p:cNvPr id="50185" name="Text Box 20"/>
          <p:cNvSpPr txBox="1"/>
          <p:nvPr/>
        </p:nvSpPr>
        <p:spPr>
          <a:xfrm>
            <a:off x="7748588" y="3429000"/>
            <a:ext cx="1295400" cy="557213"/>
          </a:xfrm>
          <a:prstGeom prst="rect">
            <a:avLst/>
          </a:prstGeom>
          <a:solidFill>
            <a:srgbClr val="D9EDEF"/>
          </a:solidFill>
          <a:ln w="38100" cap="flat" cmpd="sng">
            <a:solidFill>
              <a:schemeClr val="accent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800" b="1">
                <a:ea typeface="楷体_GB2312" pitchFamily="49" charset="-122"/>
              </a:rPr>
              <a:t>尿嘧啶</a:t>
            </a:r>
            <a:endParaRPr lang="zh-CN" altLang="en-US" sz="2800" b="1">
              <a:ea typeface="楷体_GB2312" pitchFamily="49" charset="-122"/>
            </a:endParaRPr>
          </a:p>
        </p:txBody>
      </p:sp>
      <p:sp>
        <p:nvSpPr>
          <p:cNvPr id="50186" name="Text Box 21"/>
          <p:cNvSpPr txBox="1"/>
          <p:nvPr/>
        </p:nvSpPr>
        <p:spPr>
          <a:xfrm>
            <a:off x="4932363" y="4292600"/>
            <a:ext cx="2160587" cy="5191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800">
                <a:solidFill>
                  <a:srgbClr val="A50021"/>
                </a:solidFill>
                <a:ea typeface="黑体" pitchFamily="49" charset="-122"/>
              </a:rPr>
              <a:t>UDPG</a:t>
            </a:r>
            <a:endParaRPr lang="en-US" altLang="zh-CN" sz="1800">
              <a:solidFill>
                <a:srgbClr val="A50021"/>
              </a:solidFill>
            </a:endParaRPr>
          </a:p>
        </p:txBody>
      </p:sp>
      <p:sp>
        <p:nvSpPr>
          <p:cNvPr id="50187" name="AutoShape 24"/>
          <p:cNvSpPr/>
          <p:nvPr/>
        </p:nvSpPr>
        <p:spPr>
          <a:xfrm rot="-5400000">
            <a:off x="6013450" y="1484313"/>
            <a:ext cx="142875" cy="5616575"/>
          </a:xfrm>
          <a:prstGeom prst="leftBrace">
            <a:avLst>
              <a:gd name="adj1" fmla="val 327592"/>
              <a:gd name="adj2" fmla="val 49968"/>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0188" name="Text Box 25"/>
          <p:cNvSpPr txBox="1"/>
          <p:nvPr/>
        </p:nvSpPr>
        <p:spPr>
          <a:xfrm>
            <a:off x="3276600" y="5300663"/>
            <a:ext cx="5184775"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A50021"/>
                </a:solidFill>
                <a:latin typeface="楷体_GB2312" pitchFamily="49" charset="-122"/>
                <a:ea typeface="楷体_GB2312" pitchFamily="49" charset="-122"/>
              </a:rPr>
              <a:t>葡萄糖参与糖原合成的活化形式</a:t>
            </a:r>
            <a:endParaRPr lang="zh-CN" altLang="en-US" sz="2800" b="1">
              <a:solidFill>
                <a:srgbClr val="A50021"/>
              </a:solidFill>
              <a:latin typeface="楷体_GB2312" pitchFamily="49" charset="-122"/>
              <a:ea typeface="楷体_GB2312" pitchFamily="49" charset="-122"/>
            </a:endParaRPr>
          </a:p>
        </p:txBody>
      </p:sp>
      <p:sp>
        <p:nvSpPr>
          <p:cNvPr id="50189" name="Line 26"/>
          <p:cNvSpPr/>
          <p:nvPr/>
        </p:nvSpPr>
        <p:spPr>
          <a:xfrm>
            <a:off x="6011863" y="4797425"/>
            <a:ext cx="0" cy="431800"/>
          </a:xfrm>
          <a:prstGeom prst="line">
            <a:avLst/>
          </a:prstGeom>
          <a:ln w="57150" cap="flat" cmpd="sng">
            <a:solidFill>
              <a:schemeClr val="hlink"/>
            </a:solidFill>
            <a:prstDash val="solid"/>
            <a:miter/>
            <a:headEnd type="none" w="sm" len="sm"/>
            <a:tailEnd type="triangle" w="sm" len="sm"/>
          </a:ln>
        </p:spPr>
      </p:sp>
      <p:sp>
        <p:nvSpPr>
          <p:cNvPr id="50190" name="Text Box 27"/>
          <p:cNvSpPr txBox="1"/>
          <p:nvPr/>
        </p:nvSpPr>
        <p:spPr>
          <a:xfrm>
            <a:off x="1763713" y="4581525"/>
            <a:ext cx="2520950" cy="641350"/>
          </a:xfrm>
          <a:prstGeom prst="rect">
            <a:avLst/>
          </a:prstGeom>
          <a:solidFill>
            <a:srgbClr val="FFFFCC"/>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ea typeface="楷体_GB2312" pitchFamily="49" charset="-122"/>
              </a:rPr>
              <a:t>焦磷酸的迅速水解，使反应在细胞内不可逆。</a:t>
            </a:r>
            <a:endParaRPr lang="zh-CN" altLang="en-US" sz="1800" b="1">
              <a:ea typeface="楷体_GB2312" pitchFamily="49" charset="-122"/>
            </a:endParaRPr>
          </a:p>
        </p:txBody>
      </p:sp>
      <p:sp>
        <p:nvSpPr>
          <p:cNvPr id="50191" name="Rectangle 29"/>
          <p:cNvSpPr/>
          <p:nvPr/>
        </p:nvSpPr>
        <p:spPr>
          <a:xfrm>
            <a:off x="28575" y="4581525"/>
            <a:ext cx="1619250" cy="719138"/>
          </a:xfrm>
          <a:prstGeom prst="rect">
            <a:avLst/>
          </a:prstGeom>
          <a:solidFill>
            <a:schemeClr val="bg1"/>
          </a:solidFill>
          <a:ln w="12700" cap="flat" cmpd="sng">
            <a:solidFill>
              <a:schemeClr val="bg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0192" name="Text Box 30"/>
          <p:cNvSpPr txBox="1"/>
          <p:nvPr/>
        </p:nvSpPr>
        <p:spPr>
          <a:xfrm>
            <a:off x="684213" y="1484313"/>
            <a:ext cx="2447925" cy="5191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800"/>
              <a:t>G-1-P</a:t>
            </a:r>
            <a:endParaRPr lang="en-US" altLang="zh-CN" sz="2800"/>
          </a:p>
        </p:txBody>
      </p:sp>
      <p:sp>
        <p:nvSpPr>
          <p:cNvPr id="50193"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2" name="Text Box 4"/>
          <p:cNvSpPr txBox="1"/>
          <p:nvPr/>
        </p:nvSpPr>
        <p:spPr>
          <a:xfrm>
            <a:off x="1116013" y="1196975"/>
            <a:ext cx="7272337" cy="9461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A50021"/>
                </a:solidFill>
                <a:latin typeface="Times New Roman" panose="02020603050405020304" charset="0"/>
                <a:ea typeface="黑体" pitchFamily="49" charset="-122"/>
              </a:rPr>
              <a:t>糖原合酶</a:t>
            </a:r>
            <a:r>
              <a:rPr lang="zh-CN" altLang="en-US" sz="2800" b="1">
                <a:solidFill>
                  <a:srgbClr val="A50021"/>
                </a:solidFill>
                <a:latin typeface="Times New Roman" panose="02020603050405020304" charset="0"/>
                <a:ea typeface="楷体_GB2312" pitchFamily="49" charset="-122"/>
              </a:rPr>
              <a:t>：</a:t>
            </a:r>
            <a:r>
              <a:rPr lang="zh-CN" altLang="en-US" sz="2800" b="1">
                <a:latin typeface="Times New Roman" panose="02020603050405020304" charset="0"/>
                <a:ea typeface="楷体_GB2312" pitchFamily="49" charset="-122"/>
              </a:rPr>
              <a:t>只能催化</a:t>
            </a:r>
            <a:r>
              <a:rPr lang="en-US" altLang="zh-CN" sz="2800" b="1">
                <a:solidFill>
                  <a:srgbClr val="CC0000"/>
                </a:solidFill>
                <a:latin typeface="Times New Roman" panose="02020603050405020304" charset="0"/>
                <a:ea typeface="楷体_GB2312" pitchFamily="49" charset="-122"/>
              </a:rPr>
              <a:t>UDPG</a:t>
            </a:r>
            <a:r>
              <a:rPr lang="zh-CN" altLang="en-US" sz="2800" b="1">
                <a:latin typeface="Times New Roman" panose="02020603050405020304" charset="0"/>
                <a:ea typeface="楷体_GB2312" pitchFamily="49" charset="-122"/>
              </a:rPr>
              <a:t>加在已有</a:t>
            </a:r>
            <a:r>
              <a:rPr lang="en-US" altLang="zh-CN" sz="2800" b="1">
                <a:latin typeface="Times New Roman" panose="02020603050405020304" charset="0"/>
                <a:ea typeface="楷体_GB2312" pitchFamily="49" charset="-122"/>
              </a:rPr>
              <a:t>4</a:t>
            </a:r>
            <a:r>
              <a:rPr lang="zh-CN" altLang="en-US" sz="2800" b="1">
                <a:latin typeface="Times New Roman" panose="02020603050405020304" charset="0"/>
                <a:ea typeface="楷体_GB2312" pitchFamily="49" charset="-122"/>
              </a:rPr>
              <a:t>个 （或</a:t>
            </a:r>
            <a:r>
              <a:rPr lang="en-US" altLang="zh-CN" sz="2800" b="1">
                <a:latin typeface="Times New Roman" panose="02020603050405020304" charset="0"/>
                <a:ea typeface="楷体_GB2312" pitchFamily="49" charset="-122"/>
              </a:rPr>
              <a:t>4</a:t>
            </a:r>
            <a:r>
              <a:rPr lang="zh-CN" altLang="en-US" sz="2800" b="1">
                <a:latin typeface="Times New Roman" panose="02020603050405020304" charset="0"/>
                <a:ea typeface="楷体_GB2312" pitchFamily="49" charset="-122"/>
              </a:rPr>
              <a:t>个以上）糖基聚合的寡糖链非还原末端。</a:t>
            </a:r>
            <a:endParaRPr lang="en-US" altLang="zh-CN" sz="2800" b="1">
              <a:latin typeface="Times New Roman" panose="02020603050405020304" charset="0"/>
              <a:ea typeface="楷体_GB2312" pitchFamily="49" charset="-122"/>
            </a:endParaRPr>
          </a:p>
        </p:txBody>
      </p:sp>
      <p:sp>
        <p:nvSpPr>
          <p:cNvPr id="242693" name="Text Box 5"/>
          <p:cNvSpPr txBox="1"/>
          <p:nvPr/>
        </p:nvSpPr>
        <p:spPr>
          <a:xfrm>
            <a:off x="1187450" y="2347913"/>
            <a:ext cx="6840538" cy="9461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A50021"/>
                </a:solidFill>
                <a:latin typeface="Times New Roman" panose="02020603050405020304" charset="0"/>
                <a:ea typeface="黑体" pitchFamily="49" charset="-122"/>
              </a:rPr>
              <a:t>生糖原蛋白</a:t>
            </a:r>
            <a:r>
              <a:rPr lang="zh-CN" altLang="en-US" sz="2800" b="1">
                <a:solidFill>
                  <a:srgbClr val="A50021"/>
                </a:solidFill>
                <a:latin typeface="Times New Roman" panose="02020603050405020304" charset="0"/>
                <a:ea typeface="楷体_GB2312" pitchFamily="49" charset="-122"/>
              </a:rPr>
              <a:t>：</a:t>
            </a:r>
            <a:r>
              <a:rPr lang="zh-CN" altLang="en-US" sz="2800" b="1">
                <a:latin typeface="Times New Roman" panose="02020603050405020304" charset="0"/>
                <a:ea typeface="楷体_GB2312" pitchFamily="49" charset="-122"/>
              </a:rPr>
              <a:t>具有自动催化作用，催化</a:t>
            </a:r>
            <a:r>
              <a:rPr lang="en-US" altLang="zh-CN" sz="2800" b="1">
                <a:latin typeface="Times New Roman" panose="02020603050405020304" charset="0"/>
                <a:ea typeface="楷体_GB2312" pitchFamily="49" charset="-122"/>
              </a:rPr>
              <a:t>8</a:t>
            </a:r>
            <a:r>
              <a:rPr lang="zh-CN" altLang="en-US" sz="2800" b="1">
                <a:latin typeface="Times New Roman" panose="02020603050405020304" charset="0"/>
                <a:ea typeface="楷体_GB2312" pitchFamily="49" charset="-122"/>
              </a:rPr>
              <a:t>个</a:t>
            </a:r>
            <a:r>
              <a:rPr lang="en-US" altLang="zh-CN" sz="2800" b="1">
                <a:latin typeface="Times New Roman" panose="02020603050405020304" charset="0"/>
                <a:ea typeface="楷体_GB2312" pitchFamily="49" charset="-122"/>
              </a:rPr>
              <a:t>G</a:t>
            </a:r>
            <a:r>
              <a:rPr lang="zh-CN" altLang="en-US" sz="2800" b="1">
                <a:latin typeface="Times New Roman" panose="02020603050405020304" charset="0"/>
                <a:ea typeface="楷体_GB2312" pitchFamily="49" charset="-122"/>
              </a:rPr>
              <a:t>单位</a:t>
            </a:r>
            <a:r>
              <a:rPr lang="zh-CN" altLang="en-US" sz="2800" b="1">
                <a:latin typeface="Times New Roman" panose="02020603050405020304" charset="0"/>
                <a:ea typeface="楷体_GB2312" pitchFamily="49" charset="-122"/>
                <a:sym typeface="Symbol" pitchFamily="18" charset="2"/>
              </a:rPr>
              <a:t>－</a:t>
            </a:r>
            <a:r>
              <a:rPr lang="en-US" altLang="zh-CN" sz="2800" b="1">
                <a:latin typeface="Times New Roman" panose="02020603050405020304" charset="0"/>
                <a:ea typeface="楷体_GB2312" pitchFamily="49" charset="-122"/>
                <a:sym typeface="Symbol" pitchFamily="18" charset="2"/>
              </a:rPr>
              <a:t>1</a:t>
            </a:r>
            <a:r>
              <a:rPr lang="en-US" altLang="zh-CN" sz="2800" b="1">
                <a:latin typeface="Times New Roman" panose="02020603050405020304" charset="0"/>
                <a:ea typeface="楷体_GB2312" pitchFamily="49" charset="-122"/>
                <a:sym typeface="Wingdings" panose="05000000000000000000" pitchFamily="2" charset="2"/>
              </a:rPr>
              <a:t>4 </a:t>
            </a:r>
            <a:r>
              <a:rPr lang="zh-CN" altLang="en-US" sz="2800" b="1">
                <a:latin typeface="Times New Roman" panose="02020603050405020304" charset="0"/>
                <a:ea typeface="楷体_GB2312" pitchFamily="49" charset="-122"/>
                <a:sym typeface="Wingdings" panose="05000000000000000000" pitchFamily="2" charset="2"/>
              </a:rPr>
              <a:t>成键</a:t>
            </a:r>
            <a:r>
              <a:rPr lang="zh-CN" altLang="en-US" sz="2800" b="1">
                <a:latin typeface="Times New Roman" panose="02020603050405020304" charset="0"/>
                <a:ea typeface="楷体_GB2312" pitchFamily="49" charset="-122"/>
              </a:rPr>
              <a:t>聚合，形成糖原核心。</a:t>
            </a:r>
            <a:endParaRPr lang="zh-CN" altLang="en-US" sz="2800" b="1">
              <a:latin typeface="Times New Roman" panose="02020603050405020304" charset="0"/>
              <a:ea typeface="楷体_GB2312" pitchFamily="49" charset="-122"/>
            </a:endParaRPr>
          </a:p>
        </p:txBody>
      </p:sp>
      <p:sp>
        <p:nvSpPr>
          <p:cNvPr id="242694" name="Text Box 6"/>
          <p:cNvSpPr txBox="1"/>
          <p:nvPr/>
        </p:nvSpPr>
        <p:spPr>
          <a:xfrm>
            <a:off x="1187450" y="3573463"/>
            <a:ext cx="6985000" cy="9461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ea typeface="楷体_GB2312" pitchFamily="49" charset="-122"/>
              </a:rPr>
              <a:t>细胞内糖原颗粒数目取决于生糖原蛋白分子数目。</a:t>
            </a:r>
            <a:endParaRPr lang="zh-CN" altLang="en-US" sz="2800" b="1">
              <a:latin typeface="Times New Roman" panose="02020603050405020304" charset="0"/>
              <a:ea typeface="楷体_GB2312" pitchFamily="49" charset="-122"/>
            </a:endParaRPr>
          </a:p>
        </p:txBody>
      </p:sp>
      <p:sp>
        <p:nvSpPr>
          <p:cNvPr id="242695" name="Text Box 7"/>
          <p:cNvSpPr txBox="1"/>
          <p:nvPr/>
        </p:nvSpPr>
        <p:spPr>
          <a:xfrm>
            <a:off x="1187450" y="4868863"/>
            <a:ext cx="6985000" cy="137318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ea typeface="楷体_GB2312" pitchFamily="49" charset="-122"/>
              </a:rPr>
              <a:t>糖原合酶必需与生糖原蛋白紧密结合才能有效发挥活性；一旦脱离生糖原蛋白，丧失催化糖单位聚合功能。</a:t>
            </a:r>
            <a:endParaRPr lang="zh-CN" altLang="en-US" sz="2800" b="1">
              <a:latin typeface="Times New Roman" panose="02020603050405020304" charset="0"/>
              <a:ea typeface="楷体_GB2312" pitchFamily="49" charset="-122"/>
            </a:endParaRPr>
          </a:p>
        </p:txBody>
      </p:sp>
      <p:sp>
        <p:nvSpPr>
          <p:cNvPr id="51205" name="Text Box 8"/>
          <p:cNvSpPr txBox="1"/>
          <p:nvPr/>
        </p:nvSpPr>
        <p:spPr>
          <a:xfrm>
            <a:off x="2195513" y="333375"/>
            <a:ext cx="482441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黑体" pitchFamily="49" charset="-122"/>
              </a:rPr>
              <a:t>3.3 </a:t>
            </a:r>
            <a:r>
              <a:rPr lang="zh-CN" altLang="en-US" sz="2800">
                <a:latin typeface="黑体" pitchFamily="49" charset="-122"/>
                <a:ea typeface="黑体" pitchFamily="49" charset="-122"/>
              </a:rPr>
              <a:t>糖原合酶及其催化的反应</a:t>
            </a:r>
            <a:endParaRPr lang="zh-CN" altLang="en-US" sz="2800">
              <a:latin typeface="黑体" pitchFamily="49" charset="-122"/>
              <a:ea typeface="黑体" pitchFamily="49" charset="-122"/>
            </a:endParaRPr>
          </a:p>
        </p:txBody>
      </p:sp>
      <p:sp>
        <p:nvSpPr>
          <p:cNvPr id="5120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2692"/>
                                        </p:tgtEl>
                                        <p:attrNameLst>
                                          <p:attrName>style.visibility</p:attrName>
                                        </p:attrNameLst>
                                      </p:cBhvr>
                                      <p:to>
                                        <p:strVal val="visible"/>
                                      </p:to>
                                    </p:set>
                                    <p:animEffect transition="in" filter="fade">
                                      <p:cBhvr>
                                        <p:cTn id="7" dur="2000"/>
                                        <p:tgtEl>
                                          <p:spTgt spid="2426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2693"/>
                                        </p:tgtEl>
                                        <p:attrNameLst>
                                          <p:attrName>style.visibility</p:attrName>
                                        </p:attrNameLst>
                                      </p:cBhvr>
                                      <p:to>
                                        <p:strVal val="visible"/>
                                      </p:to>
                                    </p:set>
                                    <p:animEffect transition="in" filter="fade">
                                      <p:cBhvr>
                                        <p:cTn id="12" dur="2000"/>
                                        <p:tgtEl>
                                          <p:spTgt spid="2426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2694"/>
                                        </p:tgtEl>
                                        <p:attrNameLst>
                                          <p:attrName>style.visibility</p:attrName>
                                        </p:attrNameLst>
                                      </p:cBhvr>
                                      <p:to>
                                        <p:strVal val="visible"/>
                                      </p:to>
                                    </p:set>
                                    <p:animEffect transition="in" filter="fade">
                                      <p:cBhvr>
                                        <p:cTn id="17" dur="2000"/>
                                        <p:tgtEl>
                                          <p:spTgt spid="24269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2695"/>
                                        </p:tgtEl>
                                        <p:attrNameLst>
                                          <p:attrName>style.visibility</p:attrName>
                                        </p:attrNameLst>
                                      </p:cBhvr>
                                      <p:to>
                                        <p:strVal val="visible"/>
                                      </p:to>
                                    </p:set>
                                    <p:animEffect transition="in" filter="fade">
                                      <p:cBhvr>
                                        <p:cTn id="22" dur="2000"/>
                                        <p:tgtEl>
                                          <p:spTgt spid="242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2" grpId="0" animBg="1"/>
      <p:bldP spid="242693" grpId="0" animBg="1"/>
      <p:bldP spid="242694" grpId="0" animBg="1"/>
      <p:bldP spid="24269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5" name="Picture 9" descr="1ll3_bio_r_500"/>
          <p:cNvPicPr>
            <a:picLocks noChangeAspect="1"/>
          </p:cNvPicPr>
          <p:nvPr/>
        </p:nvPicPr>
        <p:blipFill>
          <a:blip r:embed="rId1"/>
          <a:stretch>
            <a:fillRect/>
          </a:stretch>
        </p:blipFill>
        <p:spPr>
          <a:xfrm rot="4163814">
            <a:off x="2700338" y="836613"/>
            <a:ext cx="3455987" cy="3455987"/>
          </a:xfrm>
          <a:prstGeom prst="rect">
            <a:avLst/>
          </a:prstGeom>
          <a:noFill/>
          <a:ln w="9525">
            <a:noFill/>
          </a:ln>
        </p:spPr>
      </p:pic>
      <p:pic>
        <p:nvPicPr>
          <p:cNvPr id="246789" name="Picture 5" descr="glgenin"/>
          <p:cNvPicPr>
            <a:picLocks noChangeAspect="1"/>
          </p:cNvPicPr>
          <p:nvPr/>
        </p:nvPicPr>
        <p:blipFill>
          <a:blip r:embed="rId2"/>
          <a:stretch>
            <a:fillRect/>
          </a:stretch>
        </p:blipFill>
        <p:spPr>
          <a:xfrm>
            <a:off x="2124075" y="981075"/>
            <a:ext cx="4824413" cy="3100388"/>
          </a:xfrm>
          <a:prstGeom prst="rect">
            <a:avLst/>
          </a:prstGeom>
          <a:solidFill>
            <a:schemeClr val="bg1"/>
          </a:solidFill>
          <a:ln w="9525">
            <a:noFill/>
          </a:ln>
        </p:spPr>
      </p:pic>
      <p:sp>
        <p:nvSpPr>
          <p:cNvPr id="52227" name="Rectangle 7"/>
          <p:cNvSpPr/>
          <p:nvPr/>
        </p:nvSpPr>
        <p:spPr>
          <a:xfrm>
            <a:off x="2987675" y="404813"/>
            <a:ext cx="3024188"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ea typeface="黑体" pitchFamily="49" charset="-122"/>
              </a:rPr>
              <a:t>3.3.1 </a:t>
            </a:r>
            <a:r>
              <a:rPr lang="zh-CN" altLang="en-US" sz="2800" b="1">
                <a:ea typeface="黑体" pitchFamily="49" charset="-122"/>
              </a:rPr>
              <a:t>生糖原蛋白</a:t>
            </a:r>
            <a:endParaRPr lang="zh-CN" altLang="en-US" sz="2800" b="1">
              <a:ea typeface="黑体" pitchFamily="49" charset="-122"/>
            </a:endParaRPr>
          </a:p>
        </p:txBody>
      </p:sp>
      <p:sp>
        <p:nvSpPr>
          <p:cNvPr id="246792" name="Rectangle 8"/>
          <p:cNvSpPr/>
          <p:nvPr/>
        </p:nvSpPr>
        <p:spPr>
          <a:xfrm>
            <a:off x="900113" y="4221163"/>
            <a:ext cx="7704137" cy="222726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ea typeface="黑体" pitchFamily="49" charset="-122"/>
              </a:rPr>
              <a:t>生糖原蛋白</a:t>
            </a:r>
            <a:r>
              <a:rPr lang="zh-CN" altLang="en-US" sz="2800" b="1">
                <a:ea typeface="楷体_GB2312" pitchFamily="49" charset="-122"/>
              </a:rPr>
              <a:t>是具有自我催化功能的酶，以同二聚体的形式存在，彼此催化另一亚基中的</a:t>
            </a:r>
            <a:r>
              <a:rPr lang="en-US" altLang="zh-CN" sz="2800" b="1">
                <a:ea typeface="楷体_GB2312" pitchFamily="49" charset="-122"/>
              </a:rPr>
              <a:t>Tyr</a:t>
            </a:r>
            <a:r>
              <a:rPr lang="zh-CN" altLang="en-US" sz="2800" b="1">
                <a:ea typeface="楷体_GB2312" pitchFamily="49" charset="-122"/>
              </a:rPr>
              <a:t>残基中的羟基与</a:t>
            </a:r>
            <a:r>
              <a:rPr lang="en-US" altLang="zh-CN" sz="2800" b="1">
                <a:ea typeface="楷体_GB2312" pitchFamily="49" charset="-122"/>
              </a:rPr>
              <a:t>G</a:t>
            </a:r>
            <a:r>
              <a:rPr lang="zh-CN" altLang="en-US" sz="2800" b="1">
                <a:ea typeface="楷体_GB2312" pitchFamily="49" charset="-122"/>
              </a:rPr>
              <a:t>相连， </a:t>
            </a:r>
            <a:r>
              <a:rPr lang="en-US" altLang="zh-CN" sz="2800" b="1">
                <a:ea typeface="楷体_GB2312" pitchFamily="49" charset="-122"/>
              </a:rPr>
              <a:t>UDPG</a:t>
            </a:r>
            <a:r>
              <a:rPr lang="zh-CN" altLang="en-US" sz="2800" b="1">
                <a:ea typeface="楷体_GB2312" pitchFamily="49" charset="-122"/>
              </a:rPr>
              <a:t>作为</a:t>
            </a:r>
            <a:r>
              <a:rPr lang="en-US" altLang="zh-CN" sz="2800" b="1">
                <a:ea typeface="楷体_GB2312" pitchFamily="49" charset="-122"/>
              </a:rPr>
              <a:t>G</a:t>
            </a:r>
            <a:r>
              <a:rPr lang="zh-CN" altLang="en-US" sz="2800" b="1">
                <a:ea typeface="楷体_GB2312" pitchFamily="49" charset="-122"/>
              </a:rPr>
              <a:t>供体，聚合</a:t>
            </a:r>
            <a:r>
              <a:rPr lang="en-US" altLang="zh-CN" sz="2800" b="1">
                <a:ea typeface="楷体_GB2312" pitchFamily="49" charset="-122"/>
              </a:rPr>
              <a:t>8</a:t>
            </a:r>
            <a:r>
              <a:rPr lang="zh-CN" altLang="en-US" sz="2800" b="1">
                <a:ea typeface="楷体_GB2312" pitchFamily="49" charset="-122"/>
              </a:rPr>
              <a:t>个</a:t>
            </a:r>
            <a:r>
              <a:rPr lang="en-US" altLang="zh-CN" sz="2800" b="1">
                <a:ea typeface="楷体_GB2312" pitchFamily="49" charset="-122"/>
              </a:rPr>
              <a:t>G</a:t>
            </a:r>
            <a:r>
              <a:rPr lang="zh-CN" altLang="en-US" sz="2800" b="1">
                <a:ea typeface="楷体_GB2312" pitchFamily="49" charset="-122"/>
              </a:rPr>
              <a:t>后，由糖原合酶催化后续</a:t>
            </a:r>
            <a:r>
              <a:rPr lang="en-US" altLang="zh-CN" sz="2800" b="1">
                <a:ea typeface="楷体_GB2312" pitchFamily="49" charset="-122"/>
              </a:rPr>
              <a:t>G</a:t>
            </a:r>
            <a:r>
              <a:rPr lang="zh-CN" altLang="en-US" sz="2800" b="1">
                <a:ea typeface="楷体_GB2312" pitchFamily="49" charset="-122"/>
              </a:rPr>
              <a:t>单位聚合</a:t>
            </a:r>
            <a:endParaRPr lang="zh-CN" altLang="en-US" sz="2800" b="1">
              <a:ea typeface="楷体_GB2312" pitchFamily="49" charset="-122"/>
            </a:endParaRPr>
          </a:p>
          <a:p>
            <a:pPr marL="0" lvl="0" indent="0" eaLnBrk="1" hangingPunct="1">
              <a:spcBef>
                <a:spcPct val="0"/>
              </a:spcBef>
              <a:buNone/>
            </a:pPr>
            <a:endParaRPr lang="zh-CN" altLang="en-US" sz="2800" b="1">
              <a:ea typeface="楷体_GB2312" pitchFamily="49" charset="-122"/>
            </a:endParaRPr>
          </a:p>
        </p:txBody>
      </p:sp>
      <p:sp>
        <p:nvSpPr>
          <p:cNvPr id="52229"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6792"/>
                                        </p:tgtEl>
                                        <p:attrNameLst>
                                          <p:attrName>style.visibility</p:attrName>
                                        </p:attrNameLst>
                                      </p:cBhvr>
                                      <p:to>
                                        <p:strVal val="visible"/>
                                      </p:to>
                                    </p:set>
                                    <p:animEffect transition="in" filter="fade">
                                      <p:cBhvr>
                                        <p:cTn id="7" dur="2000"/>
                                        <p:tgtEl>
                                          <p:spTgt spid="24679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46789"/>
                                        </p:tgtEl>
                                        <p:attrNameLst>
                                          <p:attrName>style.visibility</p:attrName>
                                        </p:attrNameLst>
                                      </p:cBhvr>
                                      <p:to>
                                        <p:strVal val="visible"/>
                                      </p:to>
                                    </p:set>
                                    <p:animEffect transition="in" filter="diamond(in)">
                                      <p:cBhvr>
                                        <p:cTn id="12" dur="2000"/>
                                        <p:tgtEl>
                                          <p:spTgt spid="246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249" name="Picture 6" descr="glycogenin"/>
          <p:cNvPicPr>
            <a:picLocks noChangeAspect="1"/>
          </p:cNvPicPr>
          <p:nvPr/>
        </p:nvPicPr>
        <p:blipFill>
          <a:blip r:embed="rId1"/>
          <a:stretch>
            <a:fillRect/>
          </a:stretch>
        </p:blipFill>
        <p:spPr>
          <a:xfrm>
            <a:off x="1403350" y="1196975"/>
            <a:ext cx="6408738" cy="4887913"/>
          </a:xfrm>
          <a:prstGeom prst="rect">
            <a:avLst/>
          </a:prstGeom>
          <a:noFill/>
          <a:ln w="9525">
            <a:noFill/>
          </a:ln>
        </p:spPr>
      </p:pic>
      <p:sp>
        <p:nvSpPr>
          <p:cNvPr id="53250" name="Rectangle 16"/>
          <p:cNvSpPr/>
          <p:nvPr/>
        </p:nvSpPr>
        <p:spPr>
          <a:xfrm>
            <a:off x="2627313" y="549275"/>
            <a:ext cx="4105275"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ea typeface="黑体" pitchFamily="49" charset="-122"/>
              </a:rPr>
              <a:t>生糖原蛋白引物的形成</a:t>
            </a:r>
            <a:endParaRPr lang="zh-CN" altLang="en-US" sz="2800" b="1">
              <a:ea typeface="黑体" pitchFamily="49" charset="-122"/>
            </a:endParaRPr>
          </a:p>
        </p:txBody>
      </p:sp>
      <p:sp>
        <p:nvSpPr>
          <p:cNvPr id="53251" name="Text Box 17"/>
          <p:cNvSpPr txBox="1"/>
          <p:nvPr/>
        </p:nvSpPr>
        <p:spPr>
          <a:xfrm>
            <a:off x="4975225" y="2520950"/>
            <a:ext cx="865188" cy="3667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脱水</a:t>
            </a:r>
            <a:endParaRPr lang="zh-CN" altLang="en-US" sz="1800" b="1"/>
          </a:p>
        </p:txBody>
      </p:sp>
      <p:sp>
        <p:nvSpPr>
          <p:cNvPr id="247826" name="Text Box 18"/>
          <p:cNvSpPr txBox="1"/>
          <p:nvPr/>
        </p:nvSpPr>
        <p:spPr>
          <a:xfrm>
            <a:off x="250825" y="4076700"/>
            <a:ext cx="1296988" cy="8223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t>糖基加长延伸</a:t>
            </a:r>
            <a:endParaRPr lang="zh-CN" altLang="en-US" sz="2400" b="1"/>
          </a:p>
        </p:txBody>
      </p:sp>
      <p:sp>
        <p:nvSpPr>
          <p:cNvPr id="247827" name="AutoShape 19"/>
          <p:cNvSpPr/>
          <p:nvPr/>
        </p:nvSpPr>
        <p:spPr>
          <a:xfrm rot="-3895952">
            <a:off x="1439863" y="4257675"/>
            <a:ext cx="215900" cy="431800"/>
          </a:xfrm>
          <a:prstGeom prst="curvedLeftArrow">
            <a:avLst>
              <a:gd name="adj1" fmla="val 40000"/>
              <a:gd name="adj2" fmla="val 80000"/>
              <a:gd name="adj3" fmla="val 33333"/>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3254"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7826"/>
                                        </p:tgtEl>
                                        <p:attrNameLst>
                                          <p:attrName>style.visibility</p:attrName>
                                        </p:attrNameLst>
                                      </p:cBhvr>
                                      <p:to>
                                        <p:strVal val="visible"/>
                                      </p:to>
                                    </p:set>
                                    <p:animEffect transition="in" filter="checkerboard(across)">
                                      <p:cBhvr>
                                        <p:cTn id="7" dur="500"/>
                                        <p:tgtEl>
                                          <p:spTgt spid="24782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47827"/>
                                        </p:tgtEl>
                                        <p:attrNameLst>
                                          <p:attrName>style.visibility</p:attrName>
                                        </p:attrNameLst>
                                      </p:cBhvr>
                                      <p:to>
                                        <p:strVal val="visible"/>
                                      </p:to>
                                    </p:set>
                                    <p:animEffect transition="in" filter="checkerboard(across)">
                                      <p:cBhvr>
                                        <p:cTn id="10" dur="500"/>
                                        <p:tgtEl>
                                          <p:spTgt spid="247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26" grpId="0"/>
      <p:bldP spid="24782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4273" name="Picture 2" descr="613-1"/>
          <p:cNvPicPr>
            <a:picLocks noChangeAspect="1"/>
          </p:cNvPicPr>
          <p:nvPr/>
        </p:nvPicPr>
        <p:blipFill>
          <a:blip r:embed="rId1">
            <a:lum bright="-39999" contrast="60000"/>
          </a:blip>
          <a:stretch>
            <a:fillRect/>
          </a:stretch>
        </p:blipFill>
        <p:spPr>
          <a:xfrm>
            <a:off x="0" y="1052513"/>
            <a:ext cx="7740650" cy="5805487"/>
          </a:xfrm>
          <a:prstGeom prst="rect">
            <a:avLst/>
          </a:prstGeom>
          <a:noFill/>
          <a:ln w="9525">
            <a:noFill/>
          </a:ln>
        </p:spPr>
      </p:pic>
      <p:sp>
        <p:nvSpPr>
          <p:cNvPr id="93188" name="Text Box 4"/>
          <p:cNvSpPr txBox="1"/>
          <p:nvPr/>
        </p:nvSpPr>
        <p:spPr>
          <a:xfrm>
            <a:off x="2252663" y="4321175"/>
            <a:ext cx="1657350" cy="51911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A50021"/>
                </a:solidFill>
                <a:latin typeface="Times New Roman" panose="02020603050405020304" charset="0"/>
                <a:ea typeface="楷体_GB2312" pitchFamily="49" charset="-122"/>
              </a:rPr>
              <a:t>糖原合酶</a:t>
            </a:r>
            <a:endParaRPr lang="zh-CN" altLang="en-US" sz="2800" b="1">
              <a:solidFill>
                <a:srgbClr val="A50021"/>
              </a:solidFill>
              <a:latin typeface="Times New Roman" panose="02020603050405020304" charset="0"/>
              <a:ea typeface="楷体_GB2312" pitchFamily="49" charset="-122"/>
            </a:endParaRPr>
          </a:p>
        </p:txBody>
      </p:sp>
      <p:sp>
        <p:nvSpPr>
          <p:cNvPr id="93189" name="Text Box 5"/>
          <p:cNvSpPr txBox="1"/>
          <p:nvPr/>
        </p:nvSpPr>
        <p:spPr>
          <a:xfrm>
            <a:off x="6588125" y="6338888"/>
            <a:ext cx="1871663" cy="519112"/>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ea typeface="楷体_GB2312" pitchFamily="49" charset="-122"/>
              </a:rPr>
              <a:t>合成方向</a:t>
            </a:r>
            <a:endParaRPr lang="zh-CN" altLang="en-US" sz="2800" b="1">
              <a:solidFill>
                <a:schemeClr val="bg1"/>
              </a:solidFill>
              <a:latin typeface="Times New Roman" panose="02020603050405020304" charset="0"/>
              <a:ea typeface="楷体_GB2312" pitchFamily="49" charset="-122"/>
            </a:endParaRPr>
          </a:p>
        </p:txBody>
      </p:sp>
      <p:sp>
        <p:nvSpPr>
          <p:cNvPr id="93190" name="Line 6"/>
          <p:cNvSpPr/>
          <p:nvPr/>
        </p:nvSpPr>
        <p:spPr>
          <a:xfrm flipH="1" flipV="1">
            <a:off x="2411413" y="6597650"/>
            <a:ext cx="3960812" cy="0"/>
          </a:xfrm>
          <a:prstGeom prst="line">
            <a:avLst/>
          </a:prstGeom>
          <a:ln w="31750" cap="flat" cmpd="sng">
            <a:solidFill>
              <a:schemeClr val="hlink"/>
            </a:solidFill>
            <a:prstDash val="sysDot"/>
            <a:miter/>
            <a:headEnd type="none" w="med" len="med"/>
            <a:tailEnd type="triangle" w="med" len="med"/>
          </a:ln>
        </p:spPr>
      </p:sp>
      <p:sp>
        <p:nvSpPr>
          <p:cNvPr id="54277" name="Rectangle 9"/>
          <p:cNvSpPr/>
          <p:nvPr/>
        </p:nvSpPr>
        <p:spPr>
          <a:xfrm>
            <a:off x="3348038" y="3141663"/>
            <a:ext cx="576262" cy="288925"/>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a:t>U</a:t>
            </a:r>
            <a:endParaRPr lang="en-US" altLang="zh-CN" sz="1800" b="1"/>
          </a:p>
        </p:txBody>
      </p:sp>
      <p:sp>
        <p:nvSpPr>
          <p:cNvPr id="54278" name="Text Box 10"/>
          <p:cNvSpPr txBox="1"/>
          <p:nvPr/>
        </p:nvSpPr>
        <p:spPr>
          <a:xfrm>
            <a:off x="3924300" y="908050"/>
            <a:ext cx="1727200"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ea typeface="楷体_GB2312" pitchFamily="49" charset="-122"/>
              </a:rPr>
              <a:t>非还原末端</a:t>
            </a:r>
            <a:endParaRPr lang="zh-CN" altLang="en-US" sz="2400" b="1">
              <a:solidFill>
                <a:schemeClr val="accent2"/>
              </a:solidFill>
              <a:ea typeface="楷体_GB2312" pitchFamily="49" charset="-122"/>
            </a:endParaRPr>
          </a:p>
        </p:txBody>
      </p:sp>
      <p:sp>
        <p:nvSpPr>
          <p:cNvPr id="54279" name="Text Box 15"/>
          <p:cNvSpPr txBox="1"/>
          <p:nvPr/>
        </p:nvSpPr>
        <p:spPr>
          <a:xfrm>
            <a:off x="2124075" y="333375"/>
            <a:ext cx="5184775"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latin typeface="黑体" pitchFamily="49" charset="-122"/>
                <a:ea typeface="黑体" pitchFamily="49" charset="-122"/>
              </a:rPr>
              <a:t>3.3.2 </a:t>
            </a:r>
            <a:r>
              <a:rPr lang="zh-CN" altLang="en-US" sz="2800">
                <a:latin typeface="黑体" pitchFamily="49" charset="-122"/>
                <a:ea typeface="黑体" pitchFamily="49" charset="-122"/>
              </a:rPr>
              <a:t>糖原合酶催化的反应</a:t>
            </a:r>
            <a:endParaRPr lang="zh-CN" altLang="en-US" sz="2800">
              <a:latin typeface="黑体" pitchFamily="49" charset="-122"/>
              <a:ea typeface="黑体" pitchFamily="49" charset="-122"/>
            </a:endParaRPr>
          </a:p>
        </p:txBody>
      </p:sp>
      <p:sp>
        <p:nvSpPr>
          <p:cNvPr id="54280" name="Text Box 16"/>
          <p:cNvSpPr txBox="1"/>
          <p:nvPr/>
        </p:nvSpPr>
        <p:spPr>
          <a:xfrm>
            <a:off x="3967163" y="1773238"/>
            <a:ext cx="431800" cy="3968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a:solidFill>
                  <a:srgbClr val="A50021"/>
                </a:solidFill>
              </a:rPr>
              <a:t>4</a:t>
            </a:r>
            <a:endParaRPr lang="en-US" altLang="zh-CN" sz="2000">
              <a:solidFill>
                <a:srgbClr val="A50021"/>
              </a:solidFill>
            </a:endParaRPr>
          </a:p>
        </p:txBody>
      </p:sp>
      <p:sp>
        <p:nvSpPr>
          <p:cNvPr id="54281" name="Text Box 17"/>
          <p:cNvSpPr txBox="1"/>
          <p:nvPr/>
        </p:nvSpPr>
        <p:spPr>
          <a:xfrm>
            <a:off x="2051050" y="1773238"/>
            <a:ext cx="360363" cy="396875"/>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a:solidFill>
                  <a:srgbClr val="A50021"/>
                </a:solidFill>
              </a:rPr>
              <a:t>1</a:t>
            </a:r>
            <a:endParaRPr lang="en-US" altLang="zh-CN" sz="2000">
              <a:solidFill>
                <a:srgbClr val="A50021"/>
              </a:solidFill>
            </a:endParaRPr>
          </a:p>
        </p:txBody>
      </p:sp>
      <p:sp>
        <p:nvSpPr>
          <p:cNvPr id="54282" name="Text Box 18"/>
          <p:cNvSpPr txBox="1"/>
          <p:nvPr/>
        </p:nvSpPr>
        <p:spPr>
          <a:xfrm>
            <a:off x="7451725" y="1700213"/>
            <a:ext cx="936625" cy="519112"/>
          </a:xfrm>
          <a:prstGeom prst="rect">
            <a:avLst/>
          </a:prstGeom>
          <a:solidFill>
            <a:srgbClr val="FFCCFF"/>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rPr>
              <a:t>糖原</a:t>
            </a:r>
            <a:endParaRPr lang="zh-CN" altLang="en-US" sz="2800" b="1">
              <a:solidFill>
                <a:schemeClr val="bg1"/>
              </a:solidFill>
              <a:latin typeface="Times New Roman" panose="02020603050405020304" charset="0"/>
            </a:endParaRPr>
          </a:p>
        </p:txBody>
      </p:sp>
      <p:sp>
        <p:nvSpPr>
          <p:cNvPr id="54283" name="Text Box 19"/>
          <p:cNvSpPr txBox="1"/>
          <p:nvPr/>
        </p:nvSpPr>
        <p:spPr>
          <a:xfrm>
            <a:off x="6443663" y="5157788"/>
            <a:ext cx="936625" cy="519112"/>
          </a:xfrm>
          <a:prstGeom prst="rect">
            <a:avLst/>
          </a:prstGeom>
          <a:solidFill>
            <a:srgbClr val="FFCCFF"/>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Times New Roman" panose="02020603050405020304" charset="0"/>
              </a:rPr>
              <a:t>糖原</a:t>
            </a:r>
            <a:endParaRPr lang="zh-CN" altLang="en-US" sz="2800" b="1">
              <a:solidFill>
                <a:schemeClr val="bg1"/>
              </a:solidFill>
              <a:latin typeface="Times New Roman" panose="02020603050405020304" charset="0"/>
            </a:endParaRPr>
          </a:p>
        </p:txBody>
      </p:sp>
      <p:sp>
        <p:nvSpPr>
          <p:cNvPr id="54284" name="Rectangle 20"/>
          <p:cNvSpPr/>
          <p:nvPr/>
        </p:nvSpPr>
        <p:spPr>
          <a:xfrm>
            <a:off x="5940425" y="2997200"/>
            <a:ext cx="606425" cy="457200"/>
          </a:xfrm>
          <a:prstGeom prst="rect">
            <a:avLst/>
          </a:prstGeom>
          <a:solidFill>
            <a:srgbClr val="FFCCFF"/>
          </a:solid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t>Gn</a:t>
            </a:r>
            <a:endParaRPr lang="zh-CN" altLang="en-US" sz="2400" b="1"/>
          </a:p>
        </p:txBody>
      </p:sp>
      <p:sp>
        <p:nvSpPr>
          <p:cNvPr id="54285" name="Text Box 21"/>
          <p:cNvSpPr txBox="1"/>
          <p:nvPr/>
        </p:nvSpPr>
        <p:spPr>
          <a:xfrm>
            <a:off x="4500563" y="2665413"/>
            <a:ext cx="2592387"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2400"/>
          </a:p>
        </p:txBody>
      </p:sp>
      <p:sp>
        <p:nvSpPr>
          <p:cNvPr id="54286" name="AutoShape 22"/>
          <p:cNvSpPr/>
          <p:nvPr/>
        </p:nvSpPr>
        <p:spPr>
          <a:xfrm rot="-5400000">
            <a:off x="6083300" y="763588"/>
            <a:ext cx="288925" cy="4176712"/>
          </a:xfrm>
          <a:prstGeom prst="leftBrace">
            <a:avLst>
              <a:gd name="adj1" fmla="val 120467"/>
              <a:gd name="adj2" fmla="val 50662"/>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4287" name="Rectangle 23"/>
          <p:cNvSpPr/>
          <p:nvPr/>
        </p:nvSpPr>
        <p:spPr>
          <a:xfrm>
            <a:off x="3333750" y="6243638"/>
            <a:ext cx="1800225"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t>G </a:t>
            </a:r>
            <a:r>
              <a:rPr lang="en-US" altLang="zh-CN" sz="2400" b="1" baseline="-25000"/>
              <a:t>n</a:t>
            </a:r>
            <a:r>
              <a:rPr lang="zh-CN" altLang="en-US" sz="2400" b="1" baseline="-25000"/>
              <a:t>＋</a:t>
            </a:r>
            <a:r>
              <a:rPr lang="en-US" altLang="zh-CN" sz="2400" b="1" baseline="-25000"/>
              <a:t>1</a:t>
            </a:r>
            <a:r>
              <a:rPr lang="en-US" altLang="zh-CN" sz="2400" b="1"/>
              <a:t> </a:t>
            </a:r>
            <a:endParaRPr lang="en-US" altLang="zh-CN" sz="2400" b="1"/>
          </a:p>
        </p:txBody>
      </p:sp>
      <p:sp>
        <p:nvSpPr>
          <p:cNvPr id="54288" name="AutoShape 24"/>
          <p:cNvSpPr/>
          <p:nvPr/>
        </p:nvSpPr>
        <p:spPr>
          <a:xfrm rot="-5400000">
            <a:off x="4248150" y="3392488"/>
            <a:ext cx="215900" cy="5761037"/>
          </a:xfrm>
          <a:prstGeom prst="leftBrace">
            <a:avLst>
              <a:gd name="adj1" fmla="val 222365"/>
              <a:gd name="adj2" fmla="val 50662"/>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grpSp>
        <p:nvGrpSpPr>
          <p:cNvPr id="2" name="Group 30"/>
          <p:cNvGrpSpPr/>
          <p:nvPr/>
        </p:nvGrpSpPr>
        <p:grpSpPr>
          <a:xfrm>
            <a:off x="2124075" y="2262188"/>
            <a:ext cx="2016125" cy="303212"/>
            <a:chOff x="1338" y="1425"/>
            <a:chExt cx="1270" cy="191"/>
          </a:xfrm>
        </p:grpSpPr>
        <p:sp>
          <p:nvSpPr>
            <p:cNvPr id="54297" name="Arc 25"/>
            <p:cNvSpPr/>
            <p:nvPr/>
          </p:nvSpPr>
          <p:spPr>
            <a:xfrm flipH="1" flipV="1">
              <a:off x="1382" y="1434"/>
              <a:ext cx="1226" cy="182"/>
            </a:xfrm>
            <a:custGeom>
              <a:avLst/>
              <a:gdLst>
                <a:gd name="txL" fmla="*/ 0 w 42262"/>
                <a:gd name="txT" fmla="*/ 0 h 21600"/>
                <a:gd name="txR" fmla="*/ 42262 w 42262"/>
                <a:gd name="txB" fmla="*/ 21600 h 21600"/>
              </a:gdLst>
              <a:ahLst/>
              <a:cxnLst>
                <a:cxn ang="0">
                  <a:pos x="0" y="0"/>
                </a:cxn>
                <a:cxn ang="0">
                  <a:pos x="0" y="0"/>
                </a:cxn>
                <a:cxn ang="0">
                  <a:pos x="0" y="0"/>
                </a:cxn>
              </a:cxnLst>
              <a:rect l="txL" t="txT" r="txR" b="txB"/>
              <a:pathLst>
                <a:path w="42262" h="21600" fill="none">
                  <a:moveTo>
                    <a:pt x="0" y="16577"/>
                  </a:moveTo>
                  <a:cubicBezTo>
                    <a:pt x="2324" y="6856"/>
                    <a:pt x="11013" y="-1"/>
                    <a:pt x="21008" y="0"/>
                  </a:cubicBezTo>
                  <a:cubicBezTo>
                    <a:pt x="31453" y="0"/>
                    <a:pt x="40401" y="7473"/>
                    <a:pt x="42262" y="17751"/>
                  </a:cubicBezTo>
                </a:path>
                <a:path w="42262" h="21600" stroke="0">
                  <a:moveTo>
                    <a:pt x="0" y="16577"/>
                  </a:moveTo>
                  <a:cubicBezTo>
                    <a:pt x="2324" y="6856"/>
                    <a:pt x="11013" y="-1"/>
                    <a:pt x="21008" y="0"/>
                  </a:cubicBezTo>
                  <a:cubicBezTo>
                    <a:pt x="31453" y="0"/>
                    <a:pt x="40401" y="7473"/>
                    <a:pt x="42262" y="17751"/>
                  </a:cubicBezTo>
                  <a:lnTo>
                    <a:pt x="21008" y="21600"/>
                  </a:lnTo>
                  <a:lnTo>
                    <a:pt x="0" y="16577"/>
                  </a:lnTo>
                  <a:close/>
                </a:path>
              </a:pathLst>
            </a:custGeom>
            <a:noFill/>
            <a:ln w="12700" cap="flat" cmpd="sng">
              <a:solidFill>
                <a:srgbClr val="CC0000">
                  <a:alpha val="100000"/>
                </a:srgbClr>
              </a:solidFill>
              <a:prstDash val="solid"/>
              <a:miter lim="800000"/>
              <a:headEnd type="none" w="sm" len="sm"/>
              <a:tailEnd type="none" w="sm" len="sm"/>
            </a:ln>
          </p:spPr>
          <p:txBody>
            <a:bodyPr/>
            <a:p>
              <a:endParaRPr lang="zh-CN" altLang="en-US"/>
            </a:p>
          </p:txBody>
        </p:sp>
        <p:sp>
          <p:nvSpPr>
            <p:cNvPr id="54298" name="Line 27"/>
            <p:cNvSpPr/>
            <p:nvPr/>
          </p:nvSpPr>
          <p:spPr>
            <a:xfrm flipH="1" flipV="1">
              <a:off x="1338" y="1425"/>
              <a:ext cx="45" cy="45"/>
            </a:xfrm>
            <a:prstGeom prst="line">
              <a:avLst/>
            </a:prstGeom>
            <a:ln w="12700" cap="flat" cmpd="sng">
              <a:solidFill>
                <a:srgbClr val="CC0000"/>
              </a:solidFill>
              <a:prstDash val="solid"/>
              <a:miter/>
              <a:headEnd type="none" w="sm" len="sm"/>
              <a:tailEnd type="triangle" w="sm" len="sm"/>
            </a:ln>
          </p:spPr>
        </p:sp>
      </p:grpSp>
      <p:grpSp>
        <p:nvGrpSpPr>
          <p:cNvPr id="3" name="Group 31"/>
          <p:cNvGrpSpPr/>
          <p:nvPr/>
        </p:nvGrpSpPr>
        <p:grpSpPr>
          <a:xfrm>
            <a:off x="1692275" y="2492375"/>
            <a:ext cx="647700" cy="247650"/>
            <a:chOff x="1066" y="1570"/>
            <a:chExt cx="408" cy="156"/>
          </a:xfrm>
        </p:grpSpPr>
        <p:sp>
          <p:nvSpPr>
            <p:cNvPr id="54295" name="Arc 28"/>
            <p:cNvSpPr/>
            <p:nvPr/>
          </p:nvSpPr>
          <p:spPr>
            <a:xfrm flipH="1" flipV="1">
              <a:off x="1066" y="1570"/>
              <a:ext cx="408" cy="136"/>
            </a:xfrm>
            <a:custGeom>
              <a:avLst/>
              <a:gdLst>
                <a:gd name="txL" fmla="*/ 0 w 21600"/>
                <a:gd name="txT" fmla="*/ 0 h 25374"/>
                <a:gd name="txR" fmla="*/ 21600 w 21600"/>
                <a:gd name="txB" fmla="*/ 25374 h 25374"/>
              </a:gdLst>
              <a:ahLst/>
              <a:cxnLst>
                <a:cxn ang="0">
                  <a:pos x="0" y="0"/>
                </a:cxn>
                <a:cxn ang="0">
                  <a:pos x="0" y="0"/>
                </a:cxn>
                <a:cxn ang="0">
                  <a:pos x="0" y="0"/>
                </a:cxn>
              </a:cxnLst>
              <a:rect l="txL" t="txT" r="txR" b="txB"/>
              <a:pathLst>
                <a:path w="21600" h="25374" fill="none">
                  <a:moveTo>
                    <a:pt x="2282" y="25373"/>
                  </a:moveTo>
                  <a:cubicBezTo>
                    <a:pt x="781" y="22373"/>
                    <a:pt x="0" y="19064"/>
                    <a:pt x="0" y="15710"/>
                  </a:cubicBezTo>
                  <a:cubicBezTo>
                    <a:pt x="-1" y="9763"/>
                    <a:pt x="2451" y="4080"/>
                    <a:pt x="6775" y="-1"/>
                  </a:cubicBezTo>
                </a:path>
                <a:path w="21600" h="25374" stroke="0">
                  <a:moveTo>
                    <a:pt x="2282" y="25373"/>
                  </a:moveTo>
                  <a:cubicBezTo>
                    <a:pt x="781" y="22373"/>
                    <a:pt x="0" y="19064"/>
                    <a:pt x="0" y="15710"/>
                  </a:cubicBezTo>
                  <a:cubicBezTo>
                    <a:pt x="-1" y="9763"/>
                    <a:pt x="2451" y="4080"/>
                    <a:pt x="6775" y="-1"/>
                  </a:cubicBezTo>
                  <a:lnTo>
                    <a:pt x="21600" y="15710"/>
                  </a:lnTo>
                  <a:lnTo>
                    <a:pt x="2282" y="25373"/>
                  </a:lnTo>
                  <a:close/>
                </a:path>
              </a:pathLst>
            </a:custGeom>
            <a:noFill/>
            <a:ln w="12700" cap="flat" cmpd="sng">
              <a:solidFill>
                <a:srgbClr val="CC0000">
                  <a:alpha val="100000"/>
                </a:srgbClr>
              </a:solidFill>
              <a:prstDash val="solid"/>
              <a:miter lim="800000"/>
              <a:headEnd type="none" w="sm" len="sm"/>
              <a:tailEnd type="none" w="sm" len="sm"/>
            </a:ln>
          </p:spPr>
          <p:txBody>
            <a:bodyPr/>
            <a:p>
              <a:endParaRPr lang="zh-CN" altLang="en-US"/>
            </a:p>
          </p:txBody>
        </p:sp>
        <p:sp>
          <p:nvSpPr>
            <p:cNvPr id="54296" name="Line 29"/>
            <p:cNvSpPr/>
            <p:nvPr/>
          </p:nvSpPr>
          <p:spPr>
            <a:xfrm flipH="1">
              <a:off x="1292" y="1679"/>
              <a:ext cx="128" cy="47"/>
            </a:xfrm>
            <a:prstGeom prst="line">
              <a:avLst/>
            </a:prstGeom>
            <a:ln w="12700" cap="flat" cmpd="sng">
              <a:solidFill>
                <a:srgbClr val="CC0000"/>
              </a:solidFill>
              <a:prstDash val="solid"/>
              <a:miter/>
              <a:headEnd type="none" w="sm" len="sm"/>
              <a:tailEnd type="triangle" w="sm" len="sm"/>
            </a:ln>
          </p:spPr>
        </p:sp>
      </p:grpSp>
      <p:sp>
        <p:nvSpPr>
          <p:cNvPr id="54291" name="Text Box 32"/>
          <p:cNvSpPr txBox="1"/>
          <p:nvPr/>
        </p:nvSpPr>
        <p:spPr>
          <a:xfrm>
            <a:off x="7366000" y="5834063"/>
            <a:ext cx="1403350"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a:t>还原端</a:t>
            </a:r>
            <a:endParaRPr lang="en-US" altLang="zh-CN" sz="1800"/>
          </a:p>
        </p:txBody>
      </p:sp>
      <p:sp>
        <p:nvSpPr>
          <p:cNvPr id="54292" name="Text Box 33"/>
          <p:cNvSpPr txBox="1"/>
          <p:nvPr/>
        </p:nvSpPr>
        <p:spPr>
          <a:xfrm>
            <a:off x="352425" y="5791200"/>
            <a:ext cx="1403350" cy="3667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a:t>非还原端</a:t>
            </a:r>
            <a:endParaRPr lang="en-US" altLang="zh-CN" sz="1800"/>
          </a:p>
        </p:txBody>
      </p:sp>
      <p:sp>
        <p:nvSpPr>
          <p:cNvPr id="54293" name="Text Box 34"/>
          <p:cNvSpPr txBox="1"/>
          <p:nvPr/>
        </p:nvSpPr>
        <p:spPr>
          <a:xfrm>
            <a:off x="0" y="5373688"/>
            <a:ext cx="1258888" cy="3667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1800"/>
          </a:p>
        </p:txBody>
      </p:sp>
      <p:sp>
        <p:nvSpPr>
          <p:cNvPr id="54294" name="Slide Number Placeholder 3"/>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fade">
                                      <p:cBhvr>
                                        <p:cTn id="17" dur="2000"/>
                                        <p:tgtEl>
                                          <p:spTgt spid="9318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3189"/>
                                        </p:tgtEl>
                                        <p:attrNameLst>
                                          <p:attrName>style.visibility</p:attrName>
                                        </p:attrNameLst>
                                      </p:cBhvr>
                                      <p:to>
                                        <p:strVal val="visible"/>
                                      </p:to>
                                    </p:set>
                                    <p:animEffect transition="in" filter="checkerboard(across)">
                                      <p:cBhvr>
                                        <p:cTn id="22" dur="500"/>
                                        <p:tgtEl>
                                          <p:spTgt spid="93189"/>
                                        </p:tgtEl>
                                      </p:cBhvr>
                                    </p:animEffect>
                                  </p:childTnLst>
                                </p:cTn>
                              </p:par>
                              <p:par>
                                <p:cTn id="23" presetID="5" presetClass="entr" presetSubtype="10" fill="hold" nodeType="withEffect">
                                  <p:stCondLst>
                                    <p:cond delay="0"/>
                                  </p:stCondLst>
                                  <p:childTnLst>
                                    <p:set>
                                      <p:cBhvr>
                                        <p:cTn id="24" dur="1" fill="hold">
                                          <p:stCondLst>
                                            <p:cond delay="0"/>
                                          </p:stCondLst>
                                        </p:cTn>
                                        <p:tgtEl>
                                          <p:spTgt spid="93190"/>
                                        </p:tgtEl>
                                        <p:attrNameLst>
                                          <p:attrName>style.visibility</p:attrName>
                                        </p:attrNameLst>
                                      </p:cBhvr>
                                      <p:to>
                                        <p:strVal val="visible"/>
                                      </p:to>
                                    </p:set>
                                    <p:animEffect transition="in" filter="checkerboard(across)">
                                      <p:cBhvr>
                                        <p:cTn id="25" dur="500"/>
                                        <p:tgtEl>
                                          <p:spTgt spid="93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animBg="1"/>
      <p:bldP spid="9318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7" name="Picture 4" descr="graphic element"/>
          <p:cNvPicPr>
            <a:picLocks noChangeAspect="1"/>
          </p:cNvPicPr>
          <p:nvPr/>
        </p:nvPicPr>
        <p:blipFill>
          <a:blip r:embed="rId1"/>
          <a:stretch>
            <a:fillRect/>
          </a:stretch>
        </p:blipFill>
        <p:spPr>
          <a:xfrm>
            <a:off x="1331913" y="836613"/>
            <a:ext cx="6911975" cy="434975"/>
          </a:xfrm>
          <a:prstGeom prst="rect">
            <a:avLst/>
          </a:prstGeom>
          <a:noFill/>
          <a:ln w="9525">
            <a:noFill/>
          </a:ln>
        </p:spPr>
      </p:pic>
      <p:pic>
        <p:nvPicPr>
          <p:cNvPr id="55298" name="Picture 5" descr="graphic element"/>
          <p:cNvPicPr>
            <a:picLocks noChangeAspect="1"/>
          </p:cNvPicPr>
          <p:nvPr/>
        </p:nvPicPr>
        <p:blipFill>
          <a:blip r:embed="rId2"/>
          <a:stretch>
            <a:fillRect/>
          </a:stretch>
        </p:blipFill>
        <p:spPr>
          <a:xfrm>
            <a:off x="1230313" y="1500188"/>
            <a:ext cx="7242175" cy="404812"/>
          </a:xfrm>
          <a:prstGeom prst="rect">
            <a:avLst/>
          </a:prstGeom>
          <a:noFill/>
          <a:ln w="9525">
            <a:noFill/>
          </a:ln>
        </p:spPr>
      </p:pic>
      <p:pic>
        <p:nvPicPr>
          <p:cNvPr id="55299" name="Picture 6" descr="graphic element"/>
          <p:cNvPicPr>
            <a:picLocks noChangeAspect="1"/>
          </p:cNvPicPr>
          <p:nvPr/>
        </p:nvPicPr>
        <p:blipFill>
          <a:blip r:embed="rId3"/>
          <a:stretch>
            <a:fillRect/>
          </a:stretch>
        </p:blipFill>
        <p:spPr>
          <a:xfrm>
            <a:off x="1244600" y="2060575"/>
            <a:ext cx="7200900" cy="392113"/>
          </a:xfrm>
          <a:prstGeom prst="rect">
            <a:avLst/>
          </a:prstGeom>
          <a:noFill/>
          <a:ln w="9525">
            <a:noFill/>
          </a:ln>
        </p:spPr>
      </p:pic>
      <p:pic>
        <p:nvPicPr>
          <p:cNvPr id="55300" name="Picture 7" descr="graphic element"/>
          <p:cNvPicPr>
            <a:picLocks noChangeAspect="1"/>
          </p:cNvPicPr>
          <p:nvPr/>
        </p:nvPicPr>
        <p:blipFill>
          <a:blip r:embed="rId4"/>
          <a:stretch>
            <a:fillRect/>
          </a:stretch>
        </p:blipFill>
        <p:spPr>
          <a:xfrm>
            <a:off x="1258888" y="2636838"/>
            <a:ext cx="7040562" cy="411162"/>
          </a:xfrm>
          <a:prstGeom prst="rect">
            <a:avLst/>
          </a:prstGeom>
          <a:noFill/>
          <a:ln w="9525">
            <a:noFill/>
          </a:ln>
        </p:spPr>
      </p:pic>
      <p:pic>
        <p:nvPicPr>
          <p:cNvPr id="55301" name="Picture 8" descr="graphic element"/>
          <p:cNvPicPr>
            <a:picLocks noChangeAspect="1"/>
          </p:cNvPicPr>
          <p:nvPr/>
        </p:nvPicPr>
        <p:blipFill>
          <a:blip r:embed="rId5"/>
          <a:stretch>
            <a:fillRect/>
          </a:stretch>
        </p:blipFill>
        <p:spPr>
          <a:xfrm>
            <a:off x="1187450" y="3213100"/>
            <a:ext cx="7127875" cy="477838"/>
          </a:xfrm>
          <a:prstGeom prst="rect">
            <a:avLst/>
          </a:prstGeom>
          <a:noFill/>
          <a:ln w="9525">
            <a:noFill/>
          </a:ln>
        </p:spPr>
      </p:pic>
      <p:sp>
        <p:nvSpPr>
          <p:cNvPr id="55302" name="Text Box 10"/>
          <p:cNvSpPr txBox="1"/>
          <p:nvPr/>
        </p:nvSpPr>
        <p:spPr>
          <a:xfrm>
            <a:off x="971550" y="4437063"/>
            <a:ext cx="626427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a:t>G-6-P </a:t>
            </a:r>
            <a:r>
              <a:rPr lang="zh-CN" altLang="en-US" sz="2800"/>
              <a:t>＋ </a:t>
            </a:r>
            <a:r>
              <a:rPr lang="en-US" altLang="zh-CN" sz="2800"/>
              <a:t>ATP</a:t>
            </a:r>
            <a:r>
              <a:rPr lang="zh-CN" altLang="en-US" sz="2800"/>
              <a:t>＋ </a:t>
            </a:r>
            <a:r>
              <a:rPr lang="zh-CN" altLang="en-US" sz="2800" b="1">
                <a:ea typeface="楷体_GB2312" pitchFamily="49" charset="-122"/>
              </a:rPr>
              <a:t>糖原</a:t>
            </a:r>
            <a:r>
              <a:rPr lang="en-US" altLang="zh-CN" sz="2800"/>
              <a:t>G</a:t>
            </a:r>
            <a:r>
              <a:rPr lang="en-US" altLang="zh-CN" sz="2800" baseline="-25000"/>
              <a:t>n</a:t>
            </a:r>
            <a:r>
              <a:rPr lang="en-US" altLang="zh-CN" sz="2800"/>
              <a:t> </a:t>
            </a:r>
            <a:r>
              <a:rPr lang="zh-CN" altLang="en-US" sz="2800"/>
              <a:t>＋ </a:t>
            </a:r>
            <a:r>
              <a:rPr lang="en-US" altLang="zh-CN" sz="2800"/>
              <a:t>H</a:t>
            </a:r>
            <a:r>
              <a:rPr lang="en-US" altLang="zh-CN" sz="2800" baseline="-25000"/>
              <a:t>2</a:t>
            </a:r>
            <a:r>
              <a:rPr lang="en-US" altLang="zh-CN" sz="2800"/>
              <a:t>O </a:t>
            </a:r>
            <a:endParaRPr lang="en-US" altLang="zh-CN" sz="2800"/>
          </a:p>
        </p:txBody>
      </p:sp>
      <p:sp>
        <p:nvSpPr>
          <p:cNvPr id="55303" name="Text Box 11"/>
          <p:cNvSpPr txBox="1"/>
          <p:nvPr/>
        </p:nvSpPr>
        <p:spPr>
          <a:xfrm>
            <a:off x="3779838" y="5157788"/>
            <a:ext cx="453707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糖原</a:t>
            </a:r>
            <a:r>
              <a:rPr lang="en-US" altLang="zh-CN" sz="2800"/>
              <a:t>G </a:t>
            </a:r>
            <a:r>
              <a:rPr lang="en-US" altLang="zh-CN" sz="2800" baseline="-25000"/>
              <a:t>n </a:t>
            </a:r>
            <a:r>
              <a:rPr lang="zh-CN" altLang="en-US" sz="2800" baseline="-25000"/>
              <a:t>＋</a:t>
            </a:r>
            <a:r>
              <a:rPr lang="en-US" altLang="zh-CN" sz="2800" baseline="-25000"/>
              <a:t>1</a:t>
            </a:r>
            <a:r>
              <a:rPr lang="en-US" altLang="zh-CN" sz="2800"/>
              <a:t> </a:t>
            </a:r>
            <a:r>
              <a:rPr lang="zh-CN" altLang="en-US" sz="2800"/>
              <a:t>＋ </a:t>
            </a:r>
            <a:r>
              <a:rPr lang="en-US" altLang="zh-CN" sz="2800"/>
              <a:t>ADP </a:t>
            </a:r>
            <a:r>
              <a:rPr lang="zh-CN" altLang="en-US" sz="2800"/>
              <a:t>＋ </a:t>
            </a:r>
            <a:r>
              <a:rPr lang="en-US" altLang="zh-CN" sz="2800"/>
              <a:t>2Pi </a:t>
            </a:r>
            <a:endParaRPr lang="en-US" altLang="zh-CN" sz="2800"/>
          </a:p>
        </p:txBody>
      </p:sp>
      <p:sp>
        <p:nvSpPr>
          <p:cNvPr id="55304" name="Line 12"/>
          <p:cNvSpPr/>
          <p:nvPr/>
        </p:nvSpPr>
        <p:spPr>
          <a:xfrm>
            <a:off x="1979613" y="5373688"/>
            <a:ext cx="1655762" cy="0"/>
          </a:xfrm>
          <a:prstGeom prst="line">
            <a:avLst/>
          </a:prstGeom>
          <a:ln w="38100" cap="flat" cmpd="sng">
            <a:solidFill>
              <a:schemeClr val="tx1"/>
            </a:solidFill>
            <a:prstDash val="solid"/>
            <a:miter/>
            <a:headEnd type="none" w="sm" len="sm"/>
            <a:tailEnd type="triangle" w="sm" len="sm"/>
          </a:ln>
        </p:spPr>
      </p:sp>
      <p:sp>
        <p:nvSpPr>
          <p:cNvPr id="257037" name="Text Box 13"/>
          <p:cNvSpPr txBox="1"/>
          <p:nvPr/>
        </p:nvSpPr>
        <p:spPr>
          <a:xfrm>
            <a:off x="900113" y="3789363"/>
            <a:ext cx="3384550"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总反应：</a:t>
            </a:r>
            <a:endParaRPr lang="zh-CN" altLang="en-US" sz="2800" b="1">
              <a:ea typeface="楷体_GB2312" pitchFamily="49" charset="-122"/>
            </a:endParaRPr>
          </a:p>
        </p:txBody>
      </p:sp>
      <p:sp>
        <p:nvSpPr>
          <p:cNvPr id="257038" name="Rectangle 14"/>
          <p:cNvSpPr/>
          <p:nvPr/>
        </p:nvSpPr>
        <p:spPr>
          <a:xfrm>
            <a:off x="769938" y="4394200"/>
            <a:ext cx="7559675" cy="1439863"/>
          </a:xfrm>
          <a:prstGeom prst="rect">
            <a:avLst/>
          </a:prstGeom>
          <a:noFill/>
          <a:ln w="57150" cap="flat" cmpd="sng">
            <a:solidFill>
              <a:schemeClr val="accent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530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57038"/>
                                        </p:tgtEl>
                                        <p:attrNameLst>
                                          <p:attrName>style.visibility</p:attrName>
                                        </p:attrNameLst>
                                      </p:cBhvr>
                                      <p:to>
                                        <p:strVal val="visible"/>
                                      </p:to>
                                    </p:set>
                                    <p:animEffect transition="in" filter="barn(inHorizontal)">
                                      <p:cBhvr>
                                        <p:cTn id="7" dur="500"/>
                                        <p:tgtEl>
                                          <p:spTgt spid="257038"/>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257037"/>
                                        </p:tgtEl>
                                        <p:attrNameLst>
                                          <p:attrName>style.visibility</p:attrName>
                                        </p:attrNameLst>
                                      </p:cBhvr>
                                      <p:to>
                                        <p:strVal val="visible"/>
                                      </p:to>
                                    </p:set>
                                    <p:animEffect transition="in" filter="barn(inHorizontal)">
                                      <p:cBhvr>
                                        <p:cTn id="10" dur="500"/>
                                        <p:tgtEl>
                                          <p:spTgt spid="257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7" grpId="0"/>
      <p:bldP spid="25703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6321" name="Picture 5" descr="picrender"/>
          <p:cNvPicPr>
            <a:picLocks noChangeAspect="1"/>
          </p:cNvPicPr>
          <p:nvPr/>
        </p:nvPicPr>
        <p:blipFill>
          <a:blip r:embed="rId1"/>
          <a:stretch>
            <a:fillRect/>
          </a:stretch>
        </p:blipFill>
        <p:spPr>
          <a:xfrm>
            <a:off x="1187450" y="836613"/>
            <a:ext cx="6840538" cy="2011362"/>
          </a:xfrm>
          <a:prstGeom prst="rect">
            <a:avLst/>
          </a:prstGeom>
          <a:noFill/>
          <a:ln w="9525">
            <a:noFill/>
          </a:ln>
        </p:spPr>
      </p:pic>
      <p:sp>
        <p:nvSpPr>
          <p:cNvPr id="56322" name="Text Box 6"/>
          <p:cNvSpPr txBox="1"/>
          <p:nvPr/>
        </p:nvSpPr>
        <p:spPr>
          <a:xfrm>
            <a:off x="2268538" y="404813"/>
            <a:ext cx="4968875" cy="5191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a:ea typeface="黑体" pitchFamily="49" charset="-122"/>
              </a:rPr>
              <a:t>3.3.3 </a:t>
            </a:r>
            <a:r>
              <a:rPr lang="zh-CN" altLang="en-US" sz="2800" b="1">
                <a:ea typeface="黑体" pitchFamily="49" charset="-122"/>
              </a:rPr>
              <a:t>糖原合酶上的电荷分布</a:t>
            </a:r>
            <a:endParaRPr lang="zh-CN" altLang="en-US" sz="2800" b="1">
              <a:ea typeface="黑体" pitchFamily="49" charset="-122"/>
            </a:endParaRPr>
          </a:p>
        </p:txBody>
      </p:sp>
      <p:sp>
        <p:nvSpPr>
          <p:cNvPr id="256007" name="Text Box 7"/>
          <p:cNvSpPr txBox="1"/>
          <p:nvPr/>
        </p:nvSpPr>
        <p:spPr>
          <a:xfrm>
            <a:off x="1547813" y="2636838"/>
            <a:ext cx="6119812" cy="1004887"/>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hlink"/>
                </a:solidFill>
                <a:ea typeface="楷体_GB2312" pitchFamily="49" charset="-122"/>
              </a:rPr>
              <a:t>磷酸化前的电荷分布；</a:t>
            </a:r>
            <a:endParaRPr lang="zh-CN" altLang="en-US" sz="2400" b="1">
              <a:solidFill>
                <a:schemeClr val="hlink"/>
              </a:solidFill>
              <a:ea typeface="楷体_GB2312" pitchFamily="49" charset="-122"/>
            </a:endParaRPr>
          </a:p>
          <a:p>
            <a:pPr marL="0" lvl="0" indent="0" eaLnBrk="1" hangingPunct="1">
              <a:spcBef>
                <a:spcPct val="50000"/>
              </a:spcBef>
              <a:buNone/>
            </a:pPr>
            <a:r>
              <a:rPr lang="zh-CN" altLang="en-US" sz="2400" b="1">
                <a:solidFill>
                  <a:srgbClr val="A50021"/>
                </a:solidFill>
                <a:ea typeface="楷体_GB2312" pitchFamily="49" charset="-122"/>
              </a:rPr>
              <a:t>磷酸化后的电荷分布</a:t>
            </a:r>
            <a:endParaRPr lang="zh-CN" altLang="en-US" sz="2400" b="1">
              <a:solidFill>
                <a:srgbClr val="A50021"/>
              </a:solidFill>
              <a:ea typeface="楷体_GB2312" pitchFamily="49" charset="-122"/>
            </a:endParaRPr>
          </a:p>
        </p:txBody>
      </p:sp>
      <p:sp>
        <p:nvSpPr>
          <p:cNvPr id="256008" name="Text Box 8"/>
          <p:cNvSpPr txBox="1"/>
          <p:nvPr/>
        </p:nvSpPr>
        <p:spPr>
          <a:xfrm>
            <a:off x="900113" y="4005263"/>
            <a:ext cx="7632700" cy="244316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肽链上存在多个磷酸化位点</a:t>
            </a:r>
            <a:endParaRPr lang="zh-CN" altLang="en-US" sz="2800" b="1">
              <a:latin typeface="楷体_GB2312" pitchFamily="49" charset="-122"/>
              <a:ea typeface="楷体_GB2312" pitchFamily="49" charset="-122"/>
            </a:endParaRPr>
          </a:p>
          <a:p>
            <a:pPr marL="0" lvl="0" indent="0" eaLnBrk="1" hangingPunct="1">
              <a:spcBef>
                <a:spcPct val="50000"/>
              </a:spcBef>
              <a:buNone/>
            </a:pPr>
            <a:r>
              <a:rPr lang="en-US" altLang="zh-CN" sz="2800" b="1">
                <a:latin typeface="楷体_GB2312" pitchFamily="49" charset="-122"/>
                <a:ea typeface="楷体_GB2312" pitchFamily="49" charset="-122"/>
              </a:rPr>
              <a:t>P</a:t>
            </a:r>
            <a:r>
              <a:rPr lang="zh-CN" altLang="en-US" sz="2800" b="1">
                <a:latin typeface="楷体_GB2312" pitchFamily="49" charset="-122"/>
                <a:ea typeface="楷体_GB2312" pitchFamily="49" charset="-122"/>
              </a:rPr>
              <a:t>化残基集中在酶肽链的</a:t>
            </a:r>
            <a:r>
              <a:rPr lang="en-US" altLang="zh-CN" sz="2800" b="1">
                <a:latin typeface="楷体_GB2312" pitchFamily="49" charset="-122"/>
                <a:ea typeface="楷体_GB2312" pitchFamily="49" charset="-122"/>
              </a:rPr>
              <a:t>N</a:t>
            </a:r>
            <a:r>
              <a:rPr lang="zh-CN" altLang="en-US" sz="2800" b="1">
                <a:latin typeface="楷体_GB2312" pitchFamily="49" charset="-122"/>
                <a:ea typeface="楷体_GB2312" pitchFamily="49" charset="-122"/>
              </a:rPr>
              <a:t>－末端和</a:t>
            </a:r>
            <a:r>
              <a:rPr lang="en-US" altLang="zh-CN" sz="2800" b="1">
                <a:latin typeface="楷体_GB2312" pitchFamily="49" charset="-122"/>
                <a:ea typeface="楷体_GB2312" pitchFamily="49" charset="-122"/>
              </a:rPr>
              <a:t>C</a:t>
            </a:r>
            <a:r>
              <a:rPr lang="zh-CN" altLang="en-US" sz="2800" b="1">
                <a:latin typeface="楷体_GB2312" pitchFamily="49" charset="-122"/>
                <a:ea typeface="楷体_GB2312" pitchFamily="49" charset="-122"/>
              </a:rPr>
              <a:t>－末端</a:t>
            </a:r>
            <a:endParaRPr lang="zh-CN" altLang="en-US" sz="2800" b="1">
              <a:latin typeface="楷体_GB2312" pitchFamily="49" charset="-122"/>
              <a:ea typeface="楷体_GB2312" pitchFamily="49" charset="-122"/>
            </a:endParaRPr>
          </a:p>
          <a:p>
            <a:pPr marL="0" lvl="0" indent="0" eaLnBrk="1" hangingPunct="1">
              <a:spcBef>
                <a:spcPct val="50000"/>
              </a:spcBef>
              <a:buNone/>
            </a:pPr>
            <a:r>
              <a:rPr lang="zh-CN" altLang="en-US" sz="2800" b="1">
                <a:latin typeface="楷体_GB2312" pitchFamily="49" charset="-122"/>
                <a:ea typeface="楷体_GB2312" pitchFamily="49" charset="-122"/>
              </a:rPr>
              <a:t>完全磷酸化后，</a:t>
            </a:r>
            <a:r>
              <a:rPr lang="en-US" altLang="zh-CN" sz="2800" b="1">
                <a:latin typeface="楷体_GB2312" pitchFamily="49" charset="-122"/>
                <a:ea typeface="楷体_GB2312" pitchFamily="49" charset="-122"/>
              </a:rPr>
              <a:t>C-</a:t>
            </a:r>
            <a:r>
              <a:rPr lang="zh-CN" altLang="en-US" sz="2800" b="1">
                <a:latin typeface="楷体_GB2312" pitchFamily="49" charset="-122"/>
                <a:ea typeface="楷体_GB2312" pitchFamily="49" charset="-122"/>
              </a:rPr>
              <a:t>末端的静电荷极大提高</a:t>
            </a:r>
            <a:endParaRPr lang="zh-CN" altLang="en-US" sz="2800" b="1">
              <a:latin typeface="楷体_GB2312" pitchFamily="49" charset="-122"/>
              <a:ea typeface="楷体_GB2312" pitchFamily="49" charset="-122"/>
            </a:endParaRPr>
          </a:p>
          <a:p>
            <a:pPr marL="0" lvl="0" indent="0" eaLnBrk="1" hangingPunct="1">
              <a:spcBef>
                <a:spcPct val="50000"/>
              </a:spcBef>
              <a:buNone/>
            </a:pPr>
            <a:r>
              <a:rPr lang="zh-CN" altLang="en-US" sz="2800" b="1">
                <a:solidFill>
                  <a:srgbClr val="CC0000"/>
                </a:solidFill>
                <a:latin typeface="楷体_GB2312" pitchFamily="49" charset="-122"/>
                <a:ea typeface="楷体_GB2312" pitchFamily="49" charset="-122"/>
              </a:rPr>
              <a:t>磷酸化的糖原合酶失去催化活性</a:t>
            </a:r>
            <a:endParaRPr lang="zh-CN" altLang="en-US" sz="2800" b="1">
              <a:solidFill>
                <a:srgbClr val="CC0000"/>
              </a:solidFill>
              <a:latin typeface="楷体_GB2312" pitchFamily="49" charset="-122"/>
              <a:ea typeface="楷体_GB2312" pitchFamily="49" charset="-122"/>
            </a:endParaRPr>
          </a:p>
        </p:txBody>
      </p:sp>
      <p:sp>
        <p:nvSpPr>
          <p:cNvPr id="256009" name="Rectangle 9"/>
          <p:cNvSpPr/>
          <p:nvPr/>
        </p:nvSpPr>
        <p:spPr>
          <a:xfrm>
            <a:off x="1476375" y="1370013"/>
            <a:ext cx="6191250" cy="215900"/>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6326" name="Rectangle 10"/>
          <p:cNvSpPr/>
          <p:nvPr/>
        </p:nvSpPr>
        <p:spPr>
          <a:xfrm>
            <a:off x="3419475" y="2133600"/>
            <a:ext cx="2160588"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t>糖原合酶肽链</a:t>
            </a:r>
            <a:endParaRPr lang="zh-CN" altLang="en-US" sz="2400" b="1"/>
          </a:p>
        </p:txBody>
      </p:sp>
      <p:sp>
        <p:nvSpPr>
          <p:cNvPr id="5632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5600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07">
                                            <p:txEl>
                                              <p:charRg st="11" end="2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256008">
                                            <p:txEl>
                                              <p:charRg st="0" end="13"/>
                                            </p:txEl>
                                          </p:spTgt>
                                        </p:tgtEl>
                                        <p:attrNameLst>
                                          <p:attrName>style.visibility</p:attrName>
                                        </p:attrNameLst>
                                      </p:cBhvr>
                                      <p:to>
                                        <p:strVal val="visible"/>
                                      </p:to>
                                    </p:set>
                                    <p:animEffect transition="in" filter="checkerboard(across)">
                                      <p:cBhvr>
                                        <p:cTn id="15" dur="500"/>
                                        <p:tgtEl>
                                          <p:spTgt spid="256008">
                                            <p:txEl>
                                              <p:charRg st="0" end="13"/>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56008">
                                            <p:txEl>
                                              <p:charRg st="13" end="34"/>
                                            </p:txEl>
                                          </p:spTgt>
                                        </p:tgtEl>
                                        <p:attrNameLst>
                                          <p:attrName>style.visibility</p:attrName>
                                        </p:attrNameLst>
                                      </p:cBhvr>
                                      <p:to>
                                        <p:strVal val="visible"/>
                                      </p:to>
                                    </p:set>
                                    <p:animEffect transition="in" filter="checkerboard(across)">
                                      <p:cBhvr>
                                        <p:cTn id="18" dur="500"/>
                                        <p:tgtEl>
                                          <p:spTgt spid="256008">
                                            <p:txEl>
                                              <p:charRg st="13" end="34"/>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56008">
                                            <p:txEl>
                                              <p:charRg st="34" end="54"/>
                                            </p:txEl>
                                          </p:spTgt>
                                        </p:tgtEl>
                                        <p:attrNameLst>
                                          <p:attrName>style.visibility</p:attrName>
                                        </p:attrNameLst>
                                      </p:cBhvr>
                                      <p:to>
                                        <p:strVal val="visible"/>
                                      </p:to>
                                    </p:set>
                                    <p:animEffect transition="in" filter="checkerboard(across)">
                                      <p:cBhvr>
                                        <p:cTn id="21" dur="500"/>
                                        <p:tgtEl>
                                          <p:spTgt spid="256008">
                                            <p:txEl>
                                              <p:charRg st="34" end="5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256008">
                                            <p:txEl>
                                              <p:charRg st="54" end="69"/>
                                            </p:txEl>
                                          </p:spTgt>
                                        </p:tgtEl>
                                        <p:attrNameLst>
                                          <p:attrName>style.visibility</p:attrName>
                                        </p:attrNameLst>
                                      </p:cBhvr>
                                      <p:to>
                                        <p:strVal val="visible"/>
                                      </p:to>
                                    </p:set>
                                    <p:animEffect transition="in" filter="checkerboard(across)">
                                      <p:cBhvr>
                                        <p:cTn id="24" dur="500"/>
                                        <p:tgtEl>
                                          <p:spTgt spid="256008">
                                            <p:txEl>
                                              <p:charRg st="54" end="6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56008">
                                            <p:txEl>
                                              <p:charRg st="0" end="13"/>
                                            </p:txEl>
                                          </p:spTgt>
                                        </p:tgtEl>
                                        <p:attrNameLst>
                                          <p:attrName>style.visibility</p:attrName>
                                        </p:attrNameLst>
                                      </p:cBhvr>
                                      <p:to>
                                        <p:strVal val="visible"/>
                                      </p:to>
                                    </p:set>
                                    <p:animEffect transition="in" filter="checkerboard(across)">
                                      <p:cBhvr>
                                        <p:cTn id="29" dur="500"/>
                                        <p:tgtEl>
                                          <p:spTgt spid="256008">
                                            <p:txEl>
                                              <p:charRg st="0" end="1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256008">
                                            <p:txEl>
                                              <p:charRg st="13" end="34"/>
                                            </p:txEl>
                                          </p:spTgt>
                                        </p:tgtEl>
                                        <p:attrNameLst>
                                          <p:attrName>style.visibility</p:attrName>
                                        </p:attrNameLst>
                                      </p:cBhvr>
                                      <p:to>
                                        <p:strVal val="visible"/>
                                      </p:to>
                                    </p:set>
                                    <p:animEffect transition="in" filter="checkerboard(across)">
                                      <p:cBhvr>
                                        <p:cTn id="34" dur="500"/>
                                        <p:tgtEl>
                                          <p:spTgt spid="256008">
                                            <p:txEl>
                                              <p:charRg st="13" end="3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256008">
                                            <p:txEl>
                                              <p:charRg st="34" end="54"/>
                                            </p:txEl>
                                          </p:spTgt>
                                        </p:tgtEl>
                                        <p:attrNameLst>
                                          <p:attrName>style.visibility</p:attrName>
                                        </p:attrNameLst>
                                      </p:cBhvr>
                                      <p:to>
                                        <p:strVal val="visible"/>
                                      </p:to>
                                    </p:set>
                                    <p:animEffect transition="in" filter="checkerboard(across)">
                                      <p:cBhvr>
                                        <p:cTn id="39" dur="500"/>
                                        <p:tgtEl>
                                          <p:spTgt spid="256008">
                                            <p:txEl>
                                              <p:charRg st="34" end="5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256008">
                                            <p:txEl>
                                              <p:charRg st="54" end="69"/>
                                            </p:txEl>
                                          </p:spTgt>
                                        </p:tgtEl>
                                        <p:attrNameLst>
                                          <p:attrName>style.visibility</p:attrName>
                                        </p:attrNameLst>
                                      </p:cBhvr>
                                      <p:to>
                                        <p:strVal val="visible"/>
                                      </p:to>
                                    </p:set>
                                    <p:anim calcmode="lin" valueType="num">
                                      <p:cBhvr>
                                        <p:cTn id="44" dur="1000" fill="hold"/>
                                        <p:tgtEl>
                                          <p:spTgt spid="256008">
                                            <p:txEl>
                                              <p:charRg st="54" end="69"/>
                                            </p:txEl>
                                          </p:spTgt>
                                        </p:tgtEl>
                                        <p:attrNameLst>
                                          <p:attrName>ppt_w</p:attrName>
                                        </p:attrNameLst>
                                      </p:cBhvr>
                                      <p:tavLst>
                                        <p:tav tm="0">
                                          <p:val>
                                            <p:fltVal val="0.000000"/>
                                          </p:val>
                                        </p:tav>
                                        <p:tav tm="100000">
                                          <p:val>
                                            <p:strVal val="#ppt_w"/>
                                          </p:val>
                                        </p:tav>
                                      </p:tavLst>
                                    </p:anim>
                                    <p:anim calcmode="lin" valueType="num">
                                      <p:cBhvr>
                                        <p:cTn id="45" dur="1000" fill="hold"/>
                                        <p:tgtEl>
                                          <p:spTgt spid="256008">
                                            <p:txEl>
                                              <p:charRg st="54" end="69"/>
                                            </p:txEl>
                                          </p:spTgt>
                                        </p:tgtEl>
                                        <p:attrNameLst>
                                          <p:attrName>ppt_h</p:attrName>
                                        </p:attrNameLst>
                                      </p:cBhvr>
                                      <p:tavLst>
                                        <p:tav tm="0">
                                          <p:val>
                                            <p:fltVal val="0.000000"/>
                                          </p:val>
                                        </p:tav>
                                        <p:tav tm="100000">
                                          <p:val>
                                            <p:strVal val="#ppt_h"/>
                                          </p:val>
                                        </p:tav>
                                      </p:tavLst>
                                    </p:anim>
                                    <p:animEffect transition="in" filter="fade">
                                      <p:cBhvr>
                                        <p:cTn id="46" dur="1000"/>
                                        <p:tgtEl>
                                          <p:spTgt spid="256008">
                                            <p:txEl>
                                              <p:charRg st="54" end="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5" name="Picture 4" descr="picrender"/>
          <p:cNvPicPr>
            <a:picLocks noChangeAspect="1"/>
          </p:cNvPicPr>
          <p:nvPr/>
        </p:nvPicPr>
        <p:blipFill>
          <a:blip r:embed="rId1"/>
          <a:srcRect l="54785" t="10579"/>
          <a:stretch>
            <a:fillRect/>
          </a:stretch>
        </p:blipFill>
        <p:spPr>
          <a:xfrm>
            <a:off x="755650" y="981075"/>
            <a:ext cx="6337300" cy="5289550"/>
          </a:xfrm>
          <a:prstGeom prst="rect">
            <a:avLst/>
          </a:prstGeom>
          <a:noFill/>
          <a:ln w="9525">
            <a:noFill/>
          </a:ln>
        </p:spPr>
      </p:pic>
      <p:sp>
        <p:nvSpPr>
          <p:cNvPr id="57346" name="Text Box 5"/>
          <p:cNvSpPr txBox="1"/>
          <p:nvPr/>
        </p:nvSpPr>
        <p:spPr>
          <a:xfrm>
            <a:off x="7216775" y="3795713"/>
            <a:ext cx="1841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a:p>
        </p:txBody>
      </p:sp>
      <p:sp>
        <p:nvSpPr>
          <p:cNvPr id="57347" name="Rectangle 15"/>
          <p:cNvSpPr/>
          <p:nvPr/>
        </p:nvSpPr>
        <p:spPr>
          <a:xfrm>
            <a:off x="1042988" y="5084763"/>
            <a:ext cx="360362" cy="317500"/>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7348" name="Text Box 19"/>
          <p:cNvSpPr txBox="1"/>
          <p:nvPr/>
        </p:nvSpPr>
        <p:spPr>
          <a:xfrm>
            <a:off x="2411413" y="404813"/>
            <a:ext cx="4968875" cy="519112"/>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a:ea typeface="黑体" pitchFamily="49" charset="-122"/>
              </a:rPr>
              <a:t>3.3.4 </a:t>
            </a:r>
            <a:r>
              <a:rPr lang="zh-CN" altLang="en-US" sz="2800" b="1">
                <a:ea typeface="黑体" pitchFamily="49" charset="-122"/>
              </a:rPr>
              <a:t>糖原合酶的调控</a:t>
            </a:r>
            <a:endParaRPr lang="zh-CN" altLang="en-US" sz="2800" b="1">
              <a:ea typeface="黑体" pitchFamily="49" charset="-122"/>
            </a:endParaRPr>
          </a:p>
        </p:txBody>
      </p:sp>
      <p:sp>
        <p:nvSpPr>
          <p:cNvPr id="57349" name="Text Box 20"/>
          <p:cNvSpPr txBox="1"/>
          <p:nvPr/>
        </p:nvSpPr>
        <p:spPr>
          <a:xfrm>
            <a:off x="2051050" y="5734050"/>
            <a:ext cx="1368425"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高活性</a:t>
            </a:r>
            <a:endParaRPr lang="zh-CN" altLang="en-US" sz="2800" b="1">
              <a:ea typeface="楷体_GB2312" pitchFamily="49" charset="-122"/>
            </a:endParaRPr>
          </a:p>
        </p:txBody>
      </p:sp>
      <p:sp>
        <p:nvSpPr>
          <p:cNvPr id="57350" name="Text Box 21"/>
          <p:cNvSpPr txBox="1"/>
          <p:nvPr/>
        </p:nvSpPr>
        <p:spPr>
          <a:xfrm>
            <a:off x="7019925" y="5718175"/>
            <a:ext cx="1368425"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无活性</a:t>
            </a:r>
            <a:endParaRPr lang="zh-CN" altLang="en-US" sz="2800" b="1">
              <a:ea typeface="楷体_GB2312" pitchFamily="49" charset="-122"/>
            </a:endParaRPr>
          </a:p>
        </p:txBody>
      </p:sp>
      <p:sp>
        <p:nvSpPr>
          <p:cNvPr id="57351" name="AutoShape 22"/>
          <p:cNvSpPr/>
          <p:nvPr/>
        </p:nvSpPr>
        <p:spPr>
          <a:xfrm>
            <a:off x="5940425" y="1268413"/>
            <a:ext cx="215900" cy="3744912"/>
          </a:xfrm>
          <a:prstGeom prst="rightBrace">
            <a:avLst>
              <a:gd name="adj1" fmla="val 144546"/>
              <a:gd name="adj2" fmla="val 51167"/>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7352" name="Text Box 24"/>
          <p:cNvSpPr txBox="1"/>
          <p:nvPr/>
        </p:nvSpPr>
        <p:spPr>
          <a:xfrm>
            <a:off x="6227763" y="1125538"/>
            <a:ext cx="2160587" cy="39354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chemeClr val="accent2"/>
                </a:solidFill>
                <a:ea typeface="楷体_GB2312" pitchFamily="49" charset="-122"/>
              </a:rPr>
              <a:t>激素信号的磷酸化级联放大机制同前</a:t>
            </a:r>
            <a:r>
              <a:rPr lang="zh-CN" altLang="en-US" sz="2800" b="1">
                <a:ea typeface="楷体_GB2312" pitchFamily="49" charset="-122"/>
              </a:rPr>
              <a:t>。糖原合酶有多个</a:t>
            </a:r>
            <a:r>
              <a:rPr lang="en-US" altLang="zh-CN" sz="2800" b="1">
                <a:ea typeface="楷体_GB2312" pitchFamily="49" charset="-122"/>
              </a:rPr>
              <a:t>P</a:t>
            </a:r>
            <a:r>
              <a:rPr lang="zh-CN" altLang="en-US" sz="2800" b="1">
                <a:ea typeface="楷体_GB2312" pitchFamily="49" charset="-122"/>
              </a:rPr>
              <a:t>化位点，逐步</a:t>
            </a:r>
            <a:r>
              <a:rPr lang="en-US" altLang="zh-CN" sz="2800" b="1">
                <a:ea typeface="楷体_GB2312" pitchFamily="49" charset="-122"/>
              </a:rPr>
              <a:t>P</a:t>
            </a:r>
            <a:r>
              <a:rPr lang="zh-CN" altLang="en-US" sz="2800" b="1">
                <a:ea typeface="楷体_GB2312" pitchFamily="49" charset="-122"/>
              </a:rPr>
              <a:t>化，活性降低，致完全失活。</a:t>
            </a:r>
            <a:endParaRPr lang="zh-CN" altLang="en-US" sz="2800" b="1">
              <a:ea typeface="楷体_GB2312" pitchFamily="49" charset="-122"/>
            </a:endParaRPr>
          </a:p>
        </p:txBody>
      </p:sp>
      <p:sp>
        <p:nvSpPr>
          <p:cNvPr id="57353" name="Oval 25"/>
          <p:cNvSpPr/>
          <p:nvPr/>
        </p:nvSpPr>
        <p:spPr>
          <a:xfrm>
            <a:off x="6761163" y="5300663"/>
            <a:ext cx="215900" cy="217487"/>
          </a:xfrm>
          <a:prstGeom prst="ellipse">
            <a:avLst/>
          </a:prstGeom>
          <a:solidFill>
            <a:srgbClr val="FF99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nvGrpSpPr>
          <p:cNvPr id="57354" name="Group 31"/>
          <p:cNvGrpSpPr/>
          <p:nvPr/>
        </p:nvGrpSpPr>
        <p:grpSpPr>
          <a:xfrm>
            <a:off x="973138" y="1241425"/>
            <a:ext cx="5038725" cy="3770313"/>
            <a:chOff x="613" y="782"/>
            <a:chExt cx="3174" cy="2375"/>
          </a:xfrm>
        </p:grpSpPr>
        <p:sp>
          <p:nvSpPr>
            <p:cNvPr id="57366" name="Text Box 6"/>
            <p:cNvSpPr txBox="1"/>
            <p:nvPr/>
          </p:nvSpPr>
          <p:spPr>
            <a:xfrm>
              <a:off x="1066" y="782"/>
              <a:ext cx="1542" cy="288"/>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肾上腺素＋ 受体</a:t>
              </a:r>
              <a:endParaRPr lang="zh-CN" altLang="en-US" sz="2400" b="1">
                <a:ea typeface="楷体_GB2312" pitchFamily="49" charset="-122"/>
              </a:endParaRPr>
            </a:p>
          </p:txBody>
        </p:sp>
        <p:sp>
          <p:nvSpPr>
            <p:cNvPr id="57367" name="Text Box 7"/>
            <p:cNvSpPr txBox="1"/>
            <p:nvPr/>
          </p:nvSpPr>
          <p:spPr>
            <a:xfrm>
              <a:off x="613" y="1344"/>
              <a:ext cx="635" cy="450"/>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腺苷环化酶</a:t>
              </a:r>
              <a:endParaRPr lang="zh-CN" altLang="en-US" sz="2000" b="1">
                <a:ea typeface="楷体_GB2312" pitchFamily="49" charset="-122"/>
              </a:endParaRPr>
            </a:p>
          </p:txBody>
        </p:sp>
        <p:sp>
          <p:nvSpPr>
            <p:cNvPr id="57368" name="Rectangle 9"/>
            <p:cNvSpPr/>
            <p:nvPr/>
          </p:nvSpPr>
          <p:spPr>
            <a:xfrm>
              <a:off x="2463" y="2053"/>
              <a:ext cx="454" cy="272"/>
            </a:xfrm>
            <a:prstGeom prst="rect">
              <a:avLst/>
            </a:prstGeom>
            <a:solidFill>
              <a:schemeClr val="accent1"/>
            </a:solidFill>
            <a:ln w="12700" cap="flat" cmpd="sng">
              <a:solidFill>
                <a:schemeClr val="folHlink"/>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a:t>cAMP</a:t>
              </a:r>
              <a:endParaRPr lang="zh-CN" altLang="en-US" sz="1800" b="1"/>
            </a:p>
          </p:txBody>
        </p:sp>
        <p:sp>
          <p:nvSpPr>
            <p:cNvPr id="57369" name="Text Box 10"/>
            <p:cNvSpPr txBox="1"/>
            <p:nvPr/>
          </p:nvSpPr>
          <p:spPr>
            <a:xfrm>
              <a:off x="1401" y="2071"/>
              <a:ext cx="454" cy="258"/>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a:ea typeface="楷体_GB2312" pitchFamily="49" charset="-122"/>
                </a:rPr>
                <a:t>ATP</a:t>
              </a:r>
              <a:endParaRPr lang="en-US" altLang="zh-CN" sz="2000" b="1">
                <a:ea typeface="楷体_GB2312" pitchFamily="49" charset="-122"/>
              </a:endParaRPr>
            </a:p>
          </p:txBody>
        </p:sp>
        <p:sp>
          <p:nvSpPr>
            <p:cNvPr id="57370" name="Text Box 11"/>
            <p:cNvSpPr txBox="1"/>
            <p:nvPr/>
          </p:nvSpPr>
          <p:spPr>
            <a:xfrm>
              <a:off x="1728" y="2660"/>
              <a:ext cx="635" cy="450"/>
            </a:xfrm>
            <a:prstGeom prst="rect">
              <a:avLst/>
            </a:prstGeom>
            <a:solidFill>
              <a:srgbClr val="FFCCFF"/>
            </a:solidFill>
            <a:ln w="12700" cap="flat" cmpd="sng">
              <a:solidFill>
                <a:srgbClr val="CC00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a:ea typeface="楷体_GB2312" pitchFamily="49" charset="-122"/>
                </a:rPr>
                <a:t>蛋白激酶</a:t>
              </a:r>
              <a:r>
                <a:rPr lang="en-US" altLang="zh-CN" sz="2000" b="1">
                  <a:ea typeface="楷体_GB2312" pitchFamily="49" charset="-122"/>
                </a:rPr>
                <a:t>A</a:t>
              </a:r>
              <a:endParaRPr lang="en-US" altLang="zh-CN" sz="2000" b="1">
                <a:ea typeface="楷体_GB2312" pitchFamily="49" charset="-122"/>
              </a:endParaRPr>
            </a:p>
          </p:txBody>
        </p:sp>
        <p:sp>
          <p:nvSpPr>
            <p:cNvPr id="57371" name="AutoShape 27"/>
            <p:cNvSpPr/>
            <p:nvPr/>
          </p:nvSpPr>
          <p:spPr>
            <a:xfrm>
              <a:off x="1801" y="1171"/>
              <a:ext cx="952" cy="590"/>
            </a:xfrm>
            <a:prstGeom prst="star32">
              <a:avLst>
                <a:gd name="adj" fmla="val 37500"/>
              </a:avLst>
            </a:prstGeom>
            <a:solidFill>
              <a:srgbClr val="D9EDEF"/>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000" b="1">
                  <a:ea typeface="楷体_GB2312" pitchFamily="49" charset="-122"/>
                </a:rPr>
                <a:t>腺苷环</a:t>
              </a:r>
              <a:endParaRPr lang="zh-CN" altLang="en-US" sz="2000" b="1">
                <a:ea typeface="楷体_GB2312" pitchFamily="49" charset="-122"/>
              </a:endParaRPr>
            </a:p>
            <a:p>
              <a:pPr marL="0" lvl="0" indent="0" algn="ctr" eaLnBrk="1" hangingPunct="1">
                <a:spcBef>
                  <a:spcPct val="0"/>
                </a:spcBef>
                <a:buNone/>
              </a:pPr>
              <a:r>
                <a:rPr lang="zh-CN" altLang="en-US" sz="2000" b="1">
                  <a:ea typeface="楷体_GB2312" pitchFamily="49" charset="-122"/>
                </a:rPr>
                <a:t>化酶</a:t>
              </a:r>
              <a:endParaRPr lang="zh-CN" altLang="en-US" sz="2000" b="1">
                <a:ea typeface="楷体_GB2312" pitchFamily="49" charset="-122"/>
              </a:endParaRPr>
            </a:p>
          </p:txBody>
        </p:sp>
        <p:sp>
          <p:nvSpPr>
            <p:cNvPr id="57372" name="AutoShape 29"/>
            <p:cNvSpPr/>
            <p:nvPr/>
          </p:nvSpPr>
          <p:spPr>
            <a:xfrm>
              <a:off x="2880" y="2614"/>
              <a:ext cx="907" cy="543"/>
            </a:xfrm>
            <a:prstGeom prst="star32">
              <a:avLst>
                <a:gd name="adj" fmla="val 37500"/>
              </a:avLst>
            </a:prstGeom>
            <a:solidFill>
              <a:srgbClr val="D9EDEF"/>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000" b="1">
                  <a:ea typeface="楷体_GB2312" pitchFamily="49" charset="-122"/>
                </a:rPr>
                <a:t>蛋白激</a:t>
              </a:r>
              <a:endParaRPr lang="zh-CN" altLang="en-US" sz="2000" b="1">
                <a:ea typeface="楷体_GB2312" pitchFamily="49" charset="-122"/>
              </a:endParaRPr>
            </a:p>
            <a:p>
              <a:pPr marL="0" lvl="0" indent="0" algn="ctr" eaLnBrk="1" hangingPunct="1">
                <a:spcBef>
                  <a:spcPct val="0"/>
                </a:spcBef>
                <a:buNone/>
              </a:pPr>
              <a:r>
                <a:rPr lang="zh-CN" altLang="en-US" sz="2000" b="1">
                  <a:ea typeface="楷体_GB2312" pitchFamily="49" charset="-122"/>
                </a:rPr>
                <a:t>酶</a:t>
              </a:r>
              <a:r>
                <a:rPr lang="en-US" altLang="zh-CN" sz="2000" b="1">
                  <a:ea typeface="楷体_GB2312" pitchFamily="49" charset="-122"/>
                </a:rPr>
                <a:t>A</a:t>
              </a:r>
              <a:endParaRPr lang="zh-CN" altLang="en-US" sz="2000" b="1">
                <a:ea typeface="楷体_GB2312" pitchFamily="49" charset="-122"/>
              </a:endParaRPr>
            </a:p>
          </p:txBody>
        </p:sp>
      </p:grpSp>
      <p:sp>
        <p:nvSpPr>
          <p:cNvPr id="57355" name="AutoShape 30"/>
          <p:cNvSpPr/>
          <p:nvPr/>
        </p:nvSpPr>
        <p:spPr>
          <a:xfrm>
            <a:off x="3203575" y="5229225"/>
            <a:ext cx="1512888" cy="1077913"/>
          </a:xfrm>
          <a:prstGeom prst="star32">
            <a:avLst>
              <a:gd name="adj" fmla="val 37500"/>
            </a:avLst>
          </a:prstGeom>
          <a:solidFill>
            <a:srgbClr val="D9EDEF"/>
          </a:solidFill>
          <a:ln w="12700" cap="flat" cmpd="sng">
            <a:solidFill>
              <a:schemeClr val="accent2"/>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latin typeface="楷体_GB2312" pitchFamily="49" charset="-122"/>
                <a:ea typeface="楷体_GB2312" pitchFamily="49" charset="-122"/>
              </a:rPr>
              <a:t>糖原合</a:t>
            </a:r>
            <a:endParaRPr lang="zh-CN" altLang="en-US" sz="2400" b="1">
              <a:latin typeface="楷体_GB2312" pitchFamily="49" charset="-122"/>
              <a:ea typeface="楷体_GB2312" pitchFamily="49" charset="-122"/>
            </a:endParaRPr>
          </a:p>
          <a:p>
            <a:pPr marL="0" lvl="0" indent="0" algn="ctr" eaLnBrk="1" hangingPunct="1">
              <a:spcBef>
                <a:spcPct val="0"/>
              </a:spcBef>
              <a:buNone/>
            </a:pPr>
            <a:r>
              <a:rPr lang="zh-CN" altLang="en-US" sz="2400" b="1">
                <a:latin typeface="楷体_GB2312" pitchFamily="49" charset="-122"/>
                <a:ea typeface="楷体_GB2312" pitchFamily="49" charset="-122"/>
              </a:rPr>
              <a:t>酶 </a:t>
            </a:r>
            <a:r>
              <a:rPr lang="en-US" altLang="zh-CN" sz="2400" b="1">
                <a:latin typeface="楷体_GB2312" pitchFamily="49" charset="-122"/>
                <a:ea typeface="楷体_GB2312" pitchFamily="49" charset="-122"/>
              </a:rPr>
              <a:t>a</a:t>
            </a:r>
            <a:endParaRPr lang="en-US" altLang="zh-CN" sz="2400" b="1">
              <a:latin typeface="楷体_GB2312" pitchFamily="49" charset="-122"/>
              <a:ea typeface="楷体_GB2312" pitchFamily="49" charset="-122"/>
            </a:endParaRPr>
          </a:p>
        </p:txBody>
      </p:sp>
      <p:sp>
        <p:nvSpPr>
          <p:cNvPr id="57356" name="Oval 32"/>
          <p:cNvSpPr/>
          <p:nvPr/>
        </p:nvSpPr>
        <p:spPr>
          <a:xfrm>
            <a:off x="7005638" y="5345113"/>
            <a:ext cx="215900" cy="217487"/>
          </a:xfrm>
          <a:prstGeom prst="ellipse">
            <a:avLst/>
          </a:prstGeom>
          <a:solidFill>
            <a:srgbClr val="FF99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57357" name="Oval 33"/>
          <p:cNvSpPr/>
          <p:nvPr/>
        </p:nvSpPr>
        <p:spPr>
          <a:xfrm>
            <a:off x="7092950" y="5575300"/>
            <a:ext cx="215900" cy="217488"/>
          </a:xfrm>
          <a:prstGeom prst="ellipse">
            <a:avLst/>
          </a:prstGeom>
          <a:solidFill>
            <a:srgbClr val="FF99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grpSp>
        <p:nvGrpSpPr>
          <p:cNvPr id="57358" name="Group 35"/>
          <p:cNvGrpSpPr/>
          <p:nvPr/>
        </p:nvGrpSpPr>
        <p:grpSpPr>
          <a:xfrm>
            <a:off x="4572000" y="6308725"/>
            <a:ext cx="1354138" cy="215900"/>
            <a:chOff x="3179" y="3994"/>
            <a:chExt cx="563" cy="272"/>
          </a:xfrm>
        </p:grpSpPr>
        <p:sp>
          <p:nvSpPr>
            <p:cNvPr id="57364" name="Arc 36"/>
            <p:cNvSpPr/>
            <p:nvPr/>
          </p:nvSpPr>
          <p:spPr>
            <a:xfrm flipH="1" flipV="1">
              <a:off x="3198" y="3994"/>
              <a:ext cx="544" cy="272"/>
            </a:xfrm>
            <a:custGeom>
              <a:avLst/>
              <a:gdLst>
                <a:gd name="txL" fmla="*/ 0 w 40171"/>
                <a:gd name="txT" fmla="*/ 0 h 21600"/>
                <a:gd name="txR" fmla="*/ 40171 w 40171"/>
                <a:gd name="txB" fmla="*/ 21600 h 21600"/>
              </a:gdLst>
              <a:ahLst/>
              <a:cxnLst>
                <a:cxn ang="0">
                  <a:pos x="0" y="0"/>
                </a:cxn>
                <a:cxn ang="0">
                  <a:pos x="0" y="0"/>
                </a:cxn>
                <a:cxn ang="0">
                  <a:pos x="0" y="0"/>
                </a:cxn>
              </a:cxnLst>
              <a:rect l="txL" t="txT" r="txR" b="txB"/>
              <a:pathLst>
                <a:path w="40171" h="21600" fill="none">
                  <a:moveTo>
                    <a:pt x="-1" y="13508"/>
                  </a:moveTo>
                  <a:cubicBezTo>
                    <a:pt x="3298" y="5344"/>
                    <a:pt x="11221" y="-1"/>
                    <a:pt x="20027" y="0"/>
                  </a:cubicBezTo>
                  <a:cubicBezTo>
                    <a:pt x="28947" y="0"/>
                    <a:pt x="36950" y="5483"/>
                    <a:pt x="40170" y="13803"/>
                  </a:cubicBezTo>
                </a:path>
                <a:path w="40171" h="21600" stroke="0">
                  <a:moveTo>
                    <a:pt x="-1" y="13508"/>
                  </a:moveTo>
                  <a:cubicBezTo>
                    <a:pt x="3298" y="5344"/>
                    <a:pt x="11221" y="-1"/>
                    <a:pt x="20027" y="0"/>
                  </a:cubicBezTo>
                  <a:cubicBezTo>
                    <a:pt x="28947" y="0"/>
                    <a:pt x="36950" y="5483"/>
                    <a:pt x="40170" y="13803"/>
                  </a:cubicBezTo>
                  <a:lnTo>
                    <a:pt x="20027" y="21600"/>
                  </a:lnTo>
                  <a:lnTo>
                    <a:pt x="-1" y="13508"/>
                  </a:lnTo>
                  <a:close/>
                </a:path>
              </a:pathLst>
            </a:custGeom>
            <a:noFill/>
            <a:ln w="28575" cap="flat" cmpd="sng">
              <a:solidFill>
                <a:srgbClr val="FF9900">
                  <a:alpha val="100000"/>
                </a:srgbClr>
              </a:solidFill>
              <a:prstDash val="solid"/>
              <a:miter lim="800000"/>
              <a:headEnd type="none" w="sm" len="sm"/>
              <a:tailEnd type="none" w="sm" len="sm"/>
            </a:ln>
          </p:spPr>
          <p:txBody>
            <a:bodyPr/>
            <a:p>
              <a:endParaRPr lang="zh-CN" altLang="en-US"/>
            </a:p>
          </p:txBody>
        </p:sp>
        <p:sp>
          <p:nvSpPr>
            <p:cNvPr id="57365" name="Line 37"/>
            <p:cNvSpPr/>
            <p:nvPr/>
          </p:nvSpPr>
          <p:spPr>
            <a:xfrm flipH="1" flipV="1">
              <a:off x="3179" y="4074"/>
              <a:ext cx="91" cy="91"/>
            </a:xfrm>
            <a:prstGeom prst="line">
              <a:avLst/>
            </a:prstGeom>
            <a:ln w="28575" cap="flat" cmpd="sng">
              <a:solidFill>
                <a:srgbClr val="FF9900"/>
              </a:solidFill>
              <a:prstDash val="solid"/>
              <a:miter/>
              <a:headEnd type="none" w="sm" len="sm"/>
              <a:tailEnd type="triangle" w="sm" len="sm"/>
            </a:ln>
          </p:spPr>
        </p:sp>
      </p:grpSp>
      <p:sp>
        <p:nvSpPr>
          <p:cNvPr id="57359" name="Text Box 38"/>
          <p:cNvSpPr txBox="1"/>
          <p:nvPr/>
        </p:nvSpPr>
        <p:spPr>
          <a:xfrm>
            <a:off x="4932363" y="6021388"/>
            <a:ext cx="792162" cy="379412"/>
          </a:xfrm>
          <a:prstGeom prst="rect">
            <a:avLst/>
          </a:prstGeom>
          <a:solidFill>
            <a:srgbClr val="FFFFCC"/>
          </a:solidFill>
          <a:ln w="12700" cap="flat" cmpd="sng">
            <a:solidFill>
              <a:srgbClr val="FF990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PP1</a:t>
            </a:r>
            <a:endParaRPr lang="en-US" altLang="zh-CN" sz="1800" b="1"/>
          </a:p>
        </p:txBody>
      </p:sp>
      <p:sp>
        <p:nvSpPr>
          <p:cNvPr id="57360" name="AutoShape 39"/>
          <p:cNvSpPr/>
          <p:nvPr/>
        </p:nvSpPr>
        <p:spPr>
          <a:xfrm>
            <a:off x="5867400" y="5516563"/>
            <a:ext cx="1223963" cy="719137"/>
          </a:xfrm>
          <a:prstGeom prst="roundRect">
            <a:avLst>
              <a:gd name="adj" fmla="val 16667"/>
            </a:avLst>
          </a:prstGeom>
          <a:solidFill>
            <a:srgbClr val="FFCCFF"/>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ea typeface="楷体_GB2312" pitchFamily="49" charset="-122"/>
              </a:rPr>
              <a:t>糖原合</a:t>
            </a:r>
            <a:endParaRPr lang="zh-CN" altLang="en-US" sz="2400" b="1">
              <a:ea typeface="楷体_GB2312" pitchFamily="49" charset="-122"/>
            </a:endParaRPr>
          </a:p>
          <a:p>
            <a:pPr marL="0" lvl="0" indent="0" algn="ctr" eaLnBrk="1" hangingPunct="1">
              <a:spcBef>
                <a:spcPct val="0"/>
              </a:spcBef>
              <a:buNone/>
            </a:pPr>
            <a:r>
              <a:rPr lang="zh-CN" altLang="en-US" sz="2400" b="1">
                <a:ea typeface="楷体_GB2312" pitchFamily="49" charset="-122"/>
              </a:rPr>
              <a:t>酶 </a:t>
            </a:r>
            <a:r>
              <a:rPr lang="en-US" altLang="zh-CN" sz="2400" b="1">
                <a:ea typeface="楷体_GB2312" pitchFamily="49" charset="-122"/>
              </a:rPr>
              <a:t>b</a:t>
            </a:r>
            <a:endParaRPr lang="zh-CN" altLang="en-US" sz="2400" b="1">
              <a:ea typeface="楷体_GB2312" pitchFamily="49" charset="-122"/>
            </a:endParaRPr>
          </a:p>
        </p:txBody>
      </p:sp>
      <p:sp>
        <p:nvSpPr>
          <p:cNvPr id="57361" name="Oval 40"/>
          <p:cNvSpPr/>
          <p:nvPr/>
        </p:nvSpPr>
        <p:spPr>
          <a:xfrm>
            <a:off x="4284663" y="2205038"/>
            <a:ext cx="215900" cy="217487"/>
          </a:xfrm>
          <a:prstGeom prst="ellipse">
            <a:avLst/>
          </a:prstGeom>
          <a:solidFill>
            <a:srgbClr val="FF99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57362" name="Oval 41"/>
          <p:cNvSpPr/>
          <p:nvPr/>
        </p:nvSpPr>
        <p:spPr>
          <a:xfrm>
            <a:off x="5580063" y="4005263"/>
            <a:ext cx="215900" cy="217487"/>
          </a:xfrm>
          <a:prstGeom prst="ellipse">
            <a:avLst/>
          </a:prstGeom>
          <a:solidFill>
            <a:srgbClr val="FF99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600" b="1"/>
              <a:t>P</a:t>
            </a:r>
            <a:endParaRPr lang="en-US" altLang="zh-CN" sz="1600" b="1"/>
          </a:p>
        </p:txBody>
      </p:sp>
      <p:sp>
        <p:nvSpPr>
          <p:cNvPr id="57363"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69" name="Picture 5" descr="FIG082[1]"/>
          <p:cNvPicPr>
            <a:picLocks noChangeAspect="1"/>
          </p:cNvPicPr>
          <p:nvPr/>
        </p:nvPicPr>
        <p:blipFill>
          <a:blip r:embed="rId1"/>
          <a:stretch>
            <a:fillRect/>
          </a:stretch>
        </p:blipFill>
        <p:spPr>
          <a:xfrm>
            <a:off x="1763713" y="333375"/>
            <a:ext cx="5484812" cy="5588000"/>
          </a:xfrm>
          <a:prstGeom prst="rect">
            <a:avLst/>
          </a:prstGeom>
          <a:noFill/>
          <a:ln w="9525">
            <a:noFill/>
          </a:ln>
        </p:spPr>
      </p:pic>
      <p:sp>
        <p:nvSpPr>
          <p:cNvPr id="58370" name="Text Box 6"/>
          <p:cNvSpPr txBox="1"/>
          <p:nvPr/>
        </p:nvSpPr>
        <p:spPr>
          <a:xfrm>
            <a:off x="2268538" y="333375"/>
            <a:ext cx="1512887"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A50021"/>
                </a:solidFill>
                <a:ea typeface="楷体_GB2312" pitchFamily="49" charset="-122"/>
              </a:rPr>
              <a:t>糖原合酶</a:t>
            </a:r>
            <a:endParaRPr lang="zh-CN" altLang="en-US" sz="2400" b="1">
              <a:solidFill>
                <a:srgbClr val="A50021"/>
              </a:solidFill>
              <a:ea typeface="楷体_GB2312" pitchFamily="49" charset="-122"/>
            </a:endParaRPr>
          </a:p>
        </p:txBody>
      </p:sp>
      <p:sp>
        <p:nvSpPr>
          <p:cNvPr id="58371" name="Text Box 7"/>
          <p:cNvSpPr txBox="1"/>
          <p:nvPr/>
        </p:nvSpPr>
        <p:spPr>
          <a:xfrm>
            <a:off x="5076825" y="260350"/>
            <a:ext cx="2016125"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en-US" sz="2400">
              <a:ea typeface="黑体" pitchFamily="49" charset="-122"/>
            </a:endParaRPr>
          </a:p>
        </p:txBody>
      </p:sp>
      <p:sp>
        <p:nvSpPr>
          <p:cNvPr id="58372" name="Rectangle 8"/>
          <p:cNvSpPr/>
          <p:nvPr/>
        </p:nvSpPr>
        <p:spPr>
          <a:xfrm>
            <a:off x="5148263" y="317500"/>
            <a:ext cx="2232025" cy="457200"/>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糖原磷酸化酶</a:t>
            </a:r>
            <a:endParaRPr lang="zh-CN" altLang="en-US" sz="2400" b="1">
              <a:ea typeface="楷体_GB2312" pitchFamily="49" charset="-122"/>
            </a:endParaRPr>
          </a:p>
        </p:txBody>
      </p:sp>
      <p:sp>
        <p:nvSpPr>
          <p:cNvPr id="58373" name="Line 9"/>
          <p:cNvSpPr/>
          <p:nvPr/>
        </p:nvSpPr>
        <p:spPr>
          <a:xfrm flipH="1">
            <a:off x="4384675" y="447675"/>
            <a:ext cx="0" cy="5400675"/>
          </a:xfrm>
          <a:prstGeom prst="line">
            <a:avLst/>
          </a:prstGeom>
          <a:ln w="12700" cap="flat" cmpd="sng">
            <a:solidFill>
              <a:schemeClr val="tx1"/>
            </a:solidFill>
            <a:prstDash val="solid"/>
            <a:miter/>
            <a:headEnd type="none" w="sm" len="sm"/>
            <a:tailEnd type="none" w="sm" len="sm"/>
          </a:ln>
        </p:spPr>
      </p:sp>
      <p:sp>
        <p:nvSpPr>
          <p:cNvPr id="58374" name="Text Box 10"/>
          <p:cNvSpPr txBox="1"/>
          <p:nvPr/>
        </p:nvSpPr>
        <p:spPr>
          <a:xfrm>
            <a:off x="395288" y="6165850"/>
            <a:ext cx="874871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楷体_GB2312" pitchFamily="49" charset="-122"/>
              </a:rPr>
              <a:t>两种酶的空间结构高度相似</a:t>
            </a:r>
            <a:r>
              <a:rPr lang="en-US" altLang="zh-CN" sz="2800" b="1">
                <a:ea typeface="楷体_GB2312" pitchFamily="49" charset="-122"/>
              </a:rPr>
              <a:t> </a:t>
            </a:r>
            <a:r>
              <a:rPr lang="zh-CN" altLang="en-US" sz="2800" b="1">
                <a:ea typeface="楷体_GB2312" pitchFamily="49" charset="-122"/>
              </a:rPr>
              <a:t>，磷酸化修饰效应相反 。</a:t>
            </a:r>
            <a:endParaRPr lang="zh-CN" altLang="en-US" sz="2800" b="1">
              <a:ea typeface="楷体_GB2312" pitchFamily="49" charset="-122"/>
            </a:endParaRPr>
          </a:p>
        </p:txBody>
      </p:sp>
      <p:sp>
        <p:nvSpPr>
          <p:cNvPr id="5837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9393" name="Picture 8" descr="fenzhi"/>
          <p:cNvPicPr>
            <a:picLocks noChangeAspect="1"/>
          </p:cNvPicPr>
          <p:nvPr/>
        </p:nvPicPr>
        <p:blipFill>
          <a:blip r:embed="rId1"/>
          <a:stretch>
            <a:fillRect/>
          </a:stretch>
        </p:blipFill>
        <p:spPr>
          <a:xfrm>
            <a:off x="395288" y="1844675"/>
            <a:ext cx="8424862" cy="1550988"/>
          </a:xfrm>
          <a:prstGeom prst="rect">
            <a:avLst/>
          </a:prstGeom>
          <a:noFill/>
          <a:ln w="9525">
            <a:noFill/>
          </a:ln>
        </p:spPr>
      </p:pic>
      <p:sp>
        <p:nvSpPr>
          <p:cNvPr id="59394" name="Rectangle 4"/>
          <p:cNvSpPr/>
          <p:nvPr/>
        </p:nvSpPr>
        <p:spPr>
          <a:xfrm>
            <a:off x="3851275" y="2924175"/>
            <a:ext cx="1873250" cy="4889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100000"/>
              </a:spcBef>
              <a:buFont typeface="Wingdings" panose="05000000000000000000" pitchFamily="2" charset="2"/>
              <a:buNone/>
            </a:pPr>
            <a:r>
              <a:rPr lang="zh-CN" altLang="en-US" sz="2600" b="1">
                <a:solidFill>
                  <a:schemeClr val="hlink"/>
                </a:solidFill>
                <a:latin typeface="楷体_GB2312" pitchFamily="49" charset="-122"/>
                <a:ea typeface="楷体_GB2312" pitchFamily="49" charset="-122"/>
              </a:rPr>
              <a:t>糖原分支酶</a:t>
            </a:r>
            <a:endParaRPr lang="zh-CN" altLang="en-US" sz="2600" b="1">
              <a:solidFill>
                <a:schemeClr val="hlink"/>
              </a:solidFill>
              <a:latin typeface="楷体_GB2312" pitchFamily="49" charset="-122"/>
              <a:ea typeface="楷体_GB2312" pitchFamily="49" charset="-122"/>
            </a:endParaRPr>
          </a:p>
        </p:txBody>
      </p:sp>
      <p:sp>
        <p:nvSpPr>
          <p:cNvPr id="59395" name="Rectangle 9"/>
          <p:cNvSpPr/>
          <p:nvPr/>
        </p:nvSpPr>
        <p:spPr>
          <a:xfrm>
            <a:off x="1692275" y="476250"/>
            <a:ext cx="597535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100000"/>
              </a:spcBef>
              <a:buFont typeface="Wingdings" panose="05000000000000000000" pitchFamily="2" charset="2"/>
              <a:buNone/>
            </a:pPr>
            <a:r>
              <a:rPr lang="en-US" altLang="zh-CN" sz="2800" b="1">
                <a:latin typeface="黑体" pitchFamily="49" charset="-122"/>
                <a:ea typeface="黑体" pitchFamily="49" charset="-122"/>
              </a:rPr>
              <a:t>3.4 </a:t>
            </a:r>
            <a:r>
              <a:rPr lang="zh-CN" altLang="en-US" sz="2800" b="1">
                <a:latin typeface="黑体" pitchFamily="49" charset="-122"/>
                <a:ea typeface="黑体" pitchFamily="49" charset="-122"/>
              </a:rPr>
              <a:t>糖原分支酶与</a:t>
            </a:r>
            <a:r>
              <a:rPr lang="zh-CN" altLang="en-US" sz="2800" b="1">
                <a:latin typeface="黑体" pitchFamily="49" charset="-122"/>
                <a:ea typeface="黑体" pitchFamily="49" charset="-122"/>
                <a:sym typeface="Symbol" pitchFamily="18" charset="2"/>
              </a:rPr>
              <a:t></a:t>
            </a:r>
            <a:r>
              <a:rPr lang="en-US" altLang="zh-CN" sz="2800" b="1">
                <a:latin typeface="黑体" pitchFamily="49" charset="-122"/>
                <a:ea typeface="黑体" pitchFamily="49" charset="-122"/>
                <a:sym typeface="Symbol" pitchFamily="18" charset="2"/>
              </a:rPr>
              <a:t>1</a:t>
            </a:r>
            <a:r>
              <a:rPr lang="zh-CN" altLang="en-US" sz="2800" b="1">
                <a:latin typeface="黑体" pitchFamily="49" charset="-122"/>
                <a:ea typeface="黑体" pitchFamily="49" charset="-122"/>
                <a:sym typeface="Symbol" pitchFamily="18" charset="2"/>
              </a:rPr>
              <a:t>，</a:t>
            </a:r>
            <a:r>
              <a:rPr lang="en-US" altLang="zh-CN" sz="2800" b="1">
                <a:latin typeface="黑体" pitchFamily="49" charset="-122"/>
                <a:ea typeface="黑体" pitchFamily="49" charset="-122"/>
                <a:sym typeface="Symbol" pitchFamily="18" charset="2"/>
              </a:rPr>
              <a:t>6</a:t>
            </a:r>
            <a:r>
              <a:rPr lang="zh-CN" altLang="en-US" sz="2800" b="1">
                <a:latin typeface="黑体" pitchFamily="49" charset="-122"/>
                <a:ea typeface="黑体" pitchFamily="49" charset="-122"/>
                <a:sym typeface="Symbol" pitchFamily="18" charset="2"/>
              </a:rPr>
              <a:t>糖苷键形成</a:t>
            </a:r>
            <a:endParaRPr lang="zh-CN" altLang="en-US" sz="2800" b="1">
              <a:latin typeface="黑体" pitchFamily="49" charset="-122"/>
              <a:ea typeface="黑体" pitchFamily="49" charset="-122"/>
            </a:endParaRPr>
          </a:p>
        </p:txBody>
      </p:sp>
      <p:sp>
        <p:nvSpPr>
          <p:cNvPr id="59396" name="Rectangle 10"/>
          <p:cNvSpPr/>
          <p:nvPr/>
        </p:nvSpPr>
        <p:spPr>
          <a:xfrm>
            <a:off x="3851275" y="1844675"/>
            <a:ext cx="1716088"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100000"/>
              </a:spcBef>
              <a:buFont typeface="Wingdings" panose="05000000000000000000" pitchFamily="2" charset="2"/>
              <a:buNone/>
            </a:pPr>
            <a:r>
              <a:rPr lang="zh-CN" altLang="en-US" sz="2400" b="1">
                <a:solidFill>
                  <a:srgbClr val="A50021"/>
                </a:solidFill>
                <a:ea typeface="楷体_GB2312" pitchFamily="49" charset="-122"/>
              </a:rPr>
              <a:t>寡糖链转移</a:t>
            </a:r>
            <a:endParaRPr lang="zh-CN" altLang="en-US" sz="2400" b="1">
              <a:solidFill>
                <a:srgbClr val="A50021"/>
              </a:solidFill>
              <a:ea typeface="楷体_GB2312" pitchFamily="49" charset="-122"/>
            </a:endParaRPr>
          </a:p>
        </p:txBody>
      </p:sp>
      <p:sp>
        <p:nvSpPr>
          <p:cNvPr id="66571" name="Rectangle 11"/>
          <p:cNvSpPr>
            <a:spLocks noChangeArrowheads="1"/>
          </p:cNvSpPr>
          <p:nvPr/>
        </p:nvSpPr>
        <p:spPr bwMode="auto">
          <a:xfrm>
            <a:off x="611188" y="4508500"/>
            <a:ext cx="2520950" cy="519113"/>
          </a:xfrm>
          <a:prstGeom prst="rect">
            <a:avLst/>
          </a:prstGeom>
          <a:noFill/>
          <a:ln w="12700">
            <a:noFill/>
            <a:miter lim="800000"/>
            <a:headEnd type="none" w="sm" len="sm"/>
            <a:tailEnd type="none" w="sm" len="sm"/>
          </a:ln>
          <a:effectLst/>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chemeClr val="hlink"/>
                </a:solidFill>
                <a:effectLst>
                  <a:outerShdw blurRad="38100" dist="38100" dir="2700000">
                    <a:srgbClr val="C0C0C0"/>
                  </a:outerShdw>
                </a:effectLst>
                <a:ea typeface="黑体" pitchFamily="49" charset="-122"/>
              </a:rPr>
              <a:t>糖原分支酶</a:t>
            </a:r>
            <a:endParaRPr lang="zh-CN" altLang="en-US" sz="2800" b="1">
              <a:solidFill>
                <a:schemeClr val="hlink"/>
              </a:solidFill>
              <a:effectLst>
                <a:outerShdw blurRad="38100" dist="38100" dir="2700000">
                  <a:srgbClr val="C0C0C0"/>
                </a:outerShdw>
              </a:effectLst>
              <a:ea typeface="黑体" pitchFamily="49" charset="-122"/>
            </a:endParaRPr>
          </a:p>
        </p:txBody>
      </p:sp>
      <p:sp>
        <p:nvSpPr>
          <p:cNvPr id="66572" name="Rectangle 12"/>
          <p:cNvSpPr>
            <a:spLocks noChangeArrowheads="1"/>
          </p:cNvSpPr>
          <p:nvPr/>
        </p:nvSpPr>
        <p:spPr bwMode="auto">
          <a:xfrm>
            <a:off x="2771775" y="4005263"/>
            <a:ext cx="5711825" cy="457200"/>
          </a:xfrm>
          <a:prstGeom prst="rect">
            <a:avLst/>
          </a:prstGeom>
          <a:noFill/>
          <a:ln w="12700">
            <a:noFill/>
            <a:miter lim="800000"/>
            <a:headEnd type="none" w="sm" len="sm"/>
            <a:tailEnd type="none" w="sm" len="sm"/>
          </a:ln>
          <a:effec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effectLst>
                  <a:outerShdw blurRad="38100" dist="38100" dir="2700000">
                    <a:srgbClr val="C0C0C0"/>
                  </a:outerShdw>
                </a:effectLst>
                <a:latin typeface="楷体_GB2312" pitchFamily="49" charset="-122"/>
                <a:ea typeface="楷体_GB2312" pitchFamily="49" charset="-122"/>
              </a:rPr>
              <a:t>断开</a:t>
            </a:r>
            <a:r>
              <a:rPr lang="en-US" altLang="zh-CN" sz="2400" b="1">
                <a:effectLst>
                  <a:outerShdw blurRad="38100" dist="38100" dir="2700000">
                    <a:srgbClr val="C0C0C0"/>
                  </a:outerShdw>
                </a:effectLst>
                <a:latin typeface="楷体_GB2312" pitchFamily="49" charset="-122"/>
                <a:ea typeface="楷体_GB2312" pitchFamily="49" charset="-122"/>
              </a:rPr>
              <a:t>α1</a:t>
            </a:r>
            <a:r>
              <a:rPr lang="zh-CN" altLang="en-US" sz="2400" b="1">
                <a:effectLst>
                  <a:outerShdw blurRad="38100" dist="38100" dir="2700000">
                    <a:srgbClr val="C0C0C0"/>
                  </a:outerShdw>
                </a:effectLst>
                <a:latin typeface="楷体_GB2312" pitchFamily="49" charset="-122"/>
                <a:ea typeface="楷体_GB2312" pitchFamily="49" charset="-122"/>
              </a:rPr>
              <a:t>，</a:t>
            </a:r>
            <a:r>
              <a:rPr lang="en-US" altLang="zh-CN" sz="2400" b="1">
                <a:effectLst>
                  <a:outerShdw blurRad="38100" dist="38100" dir="2700000">
                    <a:srgbClr val="C0C0C0"/>
                  </a:outerShdw>
                </a:effectLst>
                <a:latin typeface="楷体_GB2312" pitchFamily="49" charset="-122"/>
                <a:ea typeface="楷体_GB2312" pitchFamily="49" charset="-122"/>
              </a:rPr>
              <a:t>4-</a:t>
            </a:r>
            <a:r>
              <a:rPr lang="zh-CN" altLang="en-US" sz="2400" b="1">
                <a:effectLst>
                  <a:outerShdw blurRad="38100" dist="38100" dir="2700000">
                    <a:srgbClr val="C0C0C0"/>
                  </a:outerShdw>
                </a:effectLst>
                <a:latin typeface="楷体_GB2312" pitchFamily="49" charset="-122"/>
                <a:ea typeface="楷体_GB2312" pitchFamily="49" charset="-122"/>
              </a:rPr>
              <a:t>糖苷键</a:t>
            </a:r>
            <a:r>
              <a:rPr lang="en-US" altLang="zh-CN" sz="2400" b="1">
                <a:effectLst>
                  <a:outerShdw blurRad="38100" dist="38100" dir="2700000">
                    <a:srgbClr val="C0C0C0"/>
                  </a:outerShdw>
                </a:effectLst>
                <a:latin typeface="楷体_GB2312" pitchFamily="49" charset="-122"/>
                <a:ea typeface="楷体_GB2312" pitchFamily="49" charset="-122"/>
              </a:rPr>
              <a:t>(</a:t>
            </a:r>
            <a:r>
              <a:rPr lang="zh-CN" altLang="en-US" sz="2400" b="1">
                <a:effectLst>
                  <a:outerShdw blurRad="38100" dist="38100" dir="2700000">
                    <a:srgbClr val="C0C0C0"/>
                  </a:outerShdw>
                </a:effectLst>
                <a:latin typeface="楷体_GB2312" pitchFamily="49" charset="-122"/>
                <a:ea typeface="楷体_GB2312" pitchFamily="49" charset="-122"/>
              </a:rPr>
              <a:t>自由能</a:t>
            </a:r>
            <a:r>
              <a:rPr lang="en-US" altLang="zh-CN" sz="2400" b="1">
                <a:effectLst>
                  <a:outerShdw blurRad="38100" dist="38100" dir="2700000">
                    <a:srgbClr val="C0C0C0"/>
                  </a:outerShdw>
                </a:effectLst>
                <a:latin typeface="楷体_GB2312" pitchFamily="49" charset="-122"/>
                <a:ea typeface="楷体_GB2312" pitchFamily="49" charset="-122"/>
              </a:rPr>
              <a:t>-15.5kJ/mol)</a:t>
            </a:r>
            <a:endParaRPr lang="zh-CN" altLang="en-US" sz="2400" b="1">
              <a:effectLst>
                <a:outerShdw blurRad="38100" dist="38100" dir="2700000">
                  <a:srgbClr val="C0C0C0"/>
                </a:outerShdw>
              </a:effectLst>
              <a:latin typeface="楷体_GB2312" pitchFamily="49" charset="-122"/>
              <a:ea typeface="楷体_GB2312" pitchFamily="49" charset="-122"/>
            </a:endParaRPr>
          </a:p>
        </p:txBody>
      </p:sp>
      <p:sp>
        <p:nvSpPr>
          <p:cNvPr id="66573" name="Rectangle 13"/>
          <p:cNvSpPr>
            <a:spLocks noChangeArrowheads="1"/>
          </p:cNvSpPr>
          <p:nvPr/>
        </p:nvSpPr>
        <p:spPr bwMode="auto">
          <a:xfrm>
            <a:off x="2728913" y="5114925"/>
            <a:ext cx="5557838" cy="457200"/>
          </a:xfrm>
          <a:prstGeom prst="rect">
            <a:avLst/>
          </a:prstGeom>
          <a:noFill/>
          <a:ln w="12700">
            <a:noFill/>
            <a:miter lim="800000"/>
            <a:headEnd type="none" w="sm" len="sm"/>
            <a:tailEnd type="none" w="sm" len="sm"/>
          </a:ln>
          <a:effec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effectLst>
                  <a:outerShdw blurRad="38100" dist="38100" dir="2700000">
                    <a:srgbClr val="C0C0C0"/>
                  </a:outerShdw>
                </a:effectLst>
                <a:latin typeface="楷体_GB2312" pitchFamily="49" charset="-122"/>
                <a:ea typeface="楷体_GB2312" pitchFamily="49" charset="-122"/>
              </a:rPr>
              <a:t>形成</a:t>
            </a:r>
            <a:r>
              <a:rPr lang="en-US" altLang="zh-CN" sz="2400" b="1">
                <a:effectLst>
                  <a:outerShdw blurRad="38100" dist="38100" dir="2700000">
                    <a:srgbClr val="C0C0C0"/>
                  </a:outerShdw>
                </a:effectLst>
                <a:latin typeface="楷体_GB2312" pitchFamily="49" charset="-122"/>
                <a:ea typeface="楷体_GB2312" pitchFamily="49" charset="-122"/>
              </a:rPr>
              <a:t>α1</a:t>
            </a:r>
            <a:r>
              <a:rPr lang="zh-CN" altLang="en-US" sz="2400" b="1">
                <a:effectLst>
                  <a:outerShdw blurRad="38100" dist="38100" dir="2700000">
                    <a:srgbClr val="C0C0C0"/>
                  </a:outerShdw>
                </a:effectLst>
                <a:latin typeface="楷体_GB2312" pitchFamily="49" charset="-122"/>
                <a:ea typeface="楷体_GB2312" pitchFamily="49" charset="-122"/>
              </a:rPr>
              <a:t>，</a:t>
            </a:r>
            <a:r>
              <a:rPr lang="en-US" altLang="zh-CN" sz="2400" b="1">
                <a:effectLst>
                  <a:outerShdw blurRad="38100" dist="38100" dir="2700000">
                    <a:srgbClr val="C0C0C0"/>
                  </a:outerShdw>
                </a:effectLst>
                <a:latin typeface="楷体_GB2312" pitchFamily="49" charset="-122"/>
                <a:ea typeface="楷体_GB2312" pitchFamily="49" charset="-122"/>
              </a:rPr>
              <a:t>6-</a:t>
            </a:r>
            <a:r>
              <a:rPr lang="zh-CN" altLang="en-US" sz="2400" b="1">
                <a:effectLst>
                  <a:outerShdw blurRad="38100" dist="38100" dir="2700000">
                    <a:srgbClr val="C0C0C0"/>
                  </a:outerShdw>
                </a:effectLst>
                <a:latin typeface="楷体_GB2312" pitchFamily="49" charset="-122"/>
                <a:ea typeface="楷体_GB2312" pitchFamily="49" charset="-122"/>
              </a:rPr>
              <a:t>糖苷键</a:t>
            </a:r>
            <a:r>
              <a:rPr lang="en-US" altLang="zh-CN" sz="2400" b="1">
                <a:effectLst>
                  <a:outerShdw blurRad="38100" dist="38100" dir="2700000">
                    <a:srgbClr val="C0C0C0"/>
                  </a:outerShdw>
                </a:effectLst>
                <a:latin typeface="楷体_GB2312" pitchFamily="49" charset="-122"/>
                <a:ea typeface="楷体_GB2312" pitchFamily="49" charset="-122"/>
              </a:rPr>
              <a:t>(</a:t>
            </a:r>
            <a:r>
              <a:rPr lang="zh-CN" altLang="en-US" sz="2400" b="1">
                <a:effectLst>
                  <a:outerShdw blurRad="38100" dist="38100" dir="2700000">
                    <a:srgbClr val="C0C0C0"/>
                  </a:outerShdw>
                </a:effectLst>
                <a:latin typeface="楷体_GB2312" pitchFamily="49" charset="-122"/>
                <a:ea typeface="楷体_GB2312" pitchFamily="49" charset="-122"/>
              </a:rPr>
              <a:t>自由能</a:t>
            </a:r>
            <a:r>
              <a:rPr lang="en-US" altLang="zh-CN" sz="2400" b="1">
                <a:effectLst>
                  <a:outerShdw blurRad="38100" dist="38100" dir="2700000">
                    <a:srgbClr val="C0C0C0"/>
                  </a:outerShdw>
                </a:effectLst>
                <a:latin typeface="楷体_GB2312" pitchFamily="49" charset="-122"/>
                <a:ea typeface="楷体_GB2312" pitchFamily="49" charset="-122"/>
              </a:rPr>
              <a:t>7.1kJ/mol)</a:t>
            </a:r>
            <a:endParaRPr lang="zh-CN" altLang="en-US" sz="2400" b="1">
              <a:effectLst>
                <a:outerShdw blurRad="38100" dist="38100" dir="2700000">
                  <a:srgbClr val="C0C0C0"/>
                </a:outerShdw>
              </a:effectLst>
              <a:latin typeface="楷体_GB2312" pitchFamily="49" charset="-122"/>
              <a:ea typeface="楷体_GB2312" pitchFamily="49" charset="-122"/>
            </a:endParaRPr>
          </a:p>
        </p:txBody>
      </p:sp>
      <p:sp>
        <p:nvSpPr>
          <p:cNvPr id="66574" name="Rectangle 14"/>
          <p:cNvSpPr>
            <a:spLocks noChangeArrowheads="1"/>
          </p:cNvSpPr>
          <p:nvPr/>
        </p:nvSpPr>
        <p:spPr bwMode="auto">
          <a:xfrm>
            <a:off x="2743200" y="4581525"/>
            <a:ext cx="3249613" cy="457200"/>
          </a:xfrm>
          <a:prstGeom prst="rect">
            <a:avLst/>
          </a:prstGeom>
          <a:noFill/>
          <a:ln w="12700">
            <a:noFill/>
            <a:miter lim="800000"/>
            <a:headEnd type="none" w="sm" len="sm"/>
            <a:tailEnd type="none" w="sm" len="sm"/>
          </a:ln>
          <a:effec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effectLst>
                  <a:outerShdw blurRad="38100" dist="38100" dir="2700000">
                    <a:srgbClr val="C0C0C0"/>
                  </a:outerShdw>
                </a:effectLst>
                <a:latin typeface="楷体_GB2312" pitchFamily="49" charset="-122"/>
                <a:ea typeface="楷体_GB2312" pitchFamily="49" charset="-122"/>
              </a:rPr>
              <a:t>转移</a:t>
            </a:r>
            <a:r>
              <a:rPr lang="en-US" altLang="zh-CN" sz="2400" b="1">
                <a:effectLst>
                  <a:outerShdw blurRad="38100" dist="38100" dir="2700000">
                    <a:srgbClr val="C0C0C0"/>
                  </a:outerShdw>
                </a:effectLst>
                <a:latin typeface="楷体_GB2312" pitchFamily="49" charset="-122"/>
                <a:ea typeface="楷体_GB2312" pitchFamily="49" charset="-122"/>
              </a:rPr>
              <a:t>6</a:t>
            </a:r>
            <a:r>
              <a:rPr lang="zh-CN" altLang="en-US" sz="2400" b="1">
                <a:effectLst>
                  <a:outerShdw blurRad="38100" dist="38100" dir="2700000">
                    <a:srgbClr val="C0C0C0"/>
                  </a:outerShdw>
                </a:effectLst>
                <a:latin typeface="楷体_GB2312" pitchFamily="49" charset="-122"/>
                <a:ea typeface="楷体_GB2312" pitchFamily="49" charset="-122"/>
              </a:rPr>
              <a:t>－</a:t>
            </a:r>
            <a:r>
              <a:rPr lang="en-US" altLang="zh-CN" sz="2400" b="1">
                <a:effectLst>
                  <a:outerShdw blurRad="38100" dist="38100" dir="2700000">
                    <a:srgbClr val="C0C0C0"/>
                  </a:outerShdw>
                </a:effectLst>
                <a:latin typeface="楷体_GB2312" pitchFamily="49" charset="-122"/>
                <a:ea typeface="楷体_GB2312" pitchFamily="49" charset="-122"/>
              </a:rPr>
              <a:t>7</a:t>
            </a:r>
            <a:r>
              <a:rPr lang="zh-CN" altLang="en-US" sz="2400" b="1">
                <a:effectLst>
                  <a:outerShdw blurRad="38100" dist="38100" dir="2700000">
                    <a:srgbClr val="C0C0C0"/>
                  </a:outerShdw>
                </a:effectLst>
                <a:latin typeface="楷体_GB2312" pitchFamily="49" charset="-122"/>
                <a:ea typeface="楷体_GB2312" pitchFamily="49" charset="-122"/>
              </a:rPr>
              <a:t>个葡萄糖短链</a:t>
            </a:r>
            <a:endParaRPr lang="zh-CN" altLang="en-US" sz="2400" b="1">
              <a:effectLst>
                <a:outerShdw blurRad="38100" dist="38100" dir="2700000">
                  <a:srgbClr val="C0C0C0"/>
                </a:outerShdw>
              </a:effectLst>
              <a:latin typeface="楷体_GB2312" pitchFamily="49" charset="-122"/>
              <a:ea typeface="楷体_GB2312" pitchFamily="49" charset="-122"/>
            </a:endParaRPr>
          </a:p>
        </p:txBody>
      </p:sp>
      <p:sp>
        <p:nvSpPr>
          <p:cNvPr id="59401" name="AutoShape 15"/>
          <p:cNvSpPr/>
          <p:nvPr/>
        </p:nvSpPr>
        <p:spPr>
          <a:xfrm>
            <a:off x="2671763" y="4221163"/>
            <a:ext cx="142875" cy="1152525"/>
          </a:xfrm>
          <a:prstGeom prst="leftBrace">
            <a:avLst>
              <a:gd name="adj1" fmla="val 67222"/>
              <a:gd name="adj2" fmla="val 50000"/>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59402"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572">
                                            <p:txEl>
                                              <p:charRg st="0" end="27"/>
                                            </p:txEl>
                                          </p:spTgt>
                                        </p:tgtEl>
                                        <p:attrNameLst>
                                          <p:attrName>style.visibility</p:attrName>
                                        </p:attrNameLst>
                                      </p:cBhvr>
                                      <p:to>
                                        <p:strVal val="visible"/>
                                      </p:to>
                                    </p:set>
                                    <p:animEffect transition="in" filter="checkerboard(across)">
                                      <p:cBhvr>
                                        <p:cTn id="7" dur="500"/>
                                        <p:tgtEl>
                                          <p:spTgt spid="66572">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6574">
                                            <p:txEl>
                                              <p:charRg st="0" end="12"/>
                                            </p:txEl>
                                          </p:spTgt>
                                        </p:tgtEl>
                                        <p:attrNameLst>
                                          <p:attrName>style.visibility</p:attrName>
                                        </p:attrNameLst>
                                      </p:cBhvr>
                                      <p:to>
                                        <p:strVal val="visible"/>
                                      </p:to>
                                    </p:set>
                                    <p:animEffect transition="in" filter="checkerboard(across)">
                                      <p:cBhvr>
                                        <p:cTn id="12" dur="500"/>
                                        <p:tgtEl>
                                          <p:spTgt spid="66574">
                                            <p:txEl>
                                              <p:charRg st="0" end="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6573">
                                            <p:txEl>
                                              <p:charRg st="0" end="25"/>
                                            </p:txEl>
                                          </p:spTgt>
                                        </p:tgtEl>
                                        <p:attrNameLst>
                                          <p:attrName>style.visibility</p:attrName>
                                        </p:attrNameLst>
                                      </p:cBhvr>
                                      <p:to>
                                        <p:strVal val="visible"/>
                                      </p:to>
                                    </p:set>
                                    <p:animEffect transition="in" filter="checkerboard(across)">
                                      <p:cBhvr>
                                        <p:cTn id="17" dur="500"/>
                                        <p:tgtEl>
                                          <p:spTgt spid="66573">
                                            <p:txEl>
                                              <p:charRg st="0"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7" name="Picture 7" descr="Image5"/>
          <p:cNvPicPr>
            <a:picLocks noChangeAspect="1"/>
          </p:cNvPicPr>
          <p:nvPr/>
        </p:nvPicPr>
        <p:blipFill>
          <a:blip r:embed="rId1">
            <a:lum contrast="12000"/>
          </a:blip>
          <a:stretch>
            <a:fillRect/>
          </a:stretch>
        </p:blipFill>
        <p:spPr>
          <a:xfrm>
            <a:off x="1258888" y="404813"/>
            <a:ext cx="6337300" cy="4133850"/>
          </a:xfrm>
          <a:prstGeom prst="rect">
            <a:avLst/>
          </a:prstGeom>
          <a:noFill/>
          <a:ln w="9525">
            <a:noFill/>
          </a:ln>
        </p:spPr>
      </p:pic>
      <p:sp>
        <p:nvSpPr>
          <p:cNvPr id="252936" name="Rectangle 8"/>
          <p:cNvSpPr>
            <a:spLocks noChangeArrowheads="1"/>
          </p:cNvSpPr>
          <p:nvPr/>
        </p:nvSpPr>
        <p:spPr bwMode="auto">
          <a:xfrm>
            <a:off x="971550" y="5300663"/>
            <a:ext cx="7848600" cy="1117600"/>
          </a:xfrm>
          <a:prstGeom prst="rect">
            <a:avLst/>
          </a:prstGeom>
          <a:solidFill>
            <a:schemeClr val="bg1"/>
          </a:solidFill>
          <a:ln w="9525">
            <a:noFill/>
            <a:miter lim="800000"/>
          </a:ln>
          <a:effectLst/>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Font typeface="Wingdings" panose="05000000000000000000" pitchFamily="2" charset="2"/>
              <a:buNone/>
            </a:pPr>
            <a:r>
              <a:rPr lang="zh-CN" altLang="en-US" sz="2800" b="1">
                <a:effectLst>
                  <a:outerShdw blurRad="38100" dist="38100" dir="2700000">
                    <a:srgbClr val="C0C0C0"/>
                  </a:outerShdw>
                </a:effectLst>
                <a:latin typeface="楷体_GB2312" pitchFamily="49" charset="-122"/>
                <a:ea typeface="楷体_GB2312" pitchFamily="49" charset="-122"/>
              </a:rPr>
              <a:t>糖原多分支：增加可溶性、增加非还原性末端，大大提高糖原分解和合成效率。</a:t>
            </a:r>
            <a:endParaRPr lang="zh-CN" altLang="en-US" sz="2800" b="1">
              <a:effectLst>
                <a:outerShdw blurRad="38100" dist="38100" dir="2700000">
                  <a:srgbClr val="C0C0C0"/>
                </a:outerShdw>
              </a:effectLst>
              <a:latin typeface="楷体_GB2312" pitchFamily="49" charset="-122"/>
              <a:ea typeface="楷体_GB2312" pitchFamily="49" charset="-122"/>
            </a:endParaRPr>
          </a:p>
        </p:txBody>
      </p:sp>
      <p:sp>
        <p:nvSpPr>
          <p:cNvPr id="252937" name="Rectangle 9"/>
          <p:cNvSpPr>
            <a:spLocks noChangeArrowheads="1"/>
          </p:cNvSpPr>
          <p:nvPr/>
        </p:nvSpPr>
        <p:spPr bwMode="auto">
          <a:xfrm>
            <a:off x="1042988" y="4724400"/>
            <a:ext cx="5721350" cy="519113"/>
          </a:xfrm>
          <a:prstGeom prst="rect">
            <a:avLst/>
          </a:prstGeom>
          <a:noFill/>
          <a:ln w="12700">
            <a:noFill/>
            <a:miter lim="800000"/>
            <a:headEnd type="none" w="sm" len="sm"/>
            <a:tailEnd type="none" w="sm" len="sm"/>
          </a:ln>
          <a:effec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effectLst>
                  <a:outerShdw blurRad="38100" dist="38100" dir="2700000">
                    <a:srgbClr val="C0C0C0"/>
                  </a:outerShdw>
                </a:effectLst>
                <a:latin typeface="楷体_GB2312" pitchFamily="49" charset="-122"/>
                <a:ea typeface="楷体_GB2312" pitchFamily="49" charset="-122"/>
              </a:rPr>
              <a:t>分支点之间相隔至少</a:t>
            </a:r>
            <a:r>
              <a:rPr lang="en-US" altLang="zh-CN" sz="2800" b="1">
                <a:effectLst>
                  <a:outerShdw blurRad="38100" dist="38100" dir="2700000">
                    <a:srgbClr val="C0C0C0"/>
                  </a:outerShdw>
                </a:effectLst>
                <a:latin typeface="楷体_GB2312" pitchFamily="49" charset="-122"/>
                <a:ea typeface="楷体_GB2312" pitchFamily="49" charset="-122"/>
              </a:rPr>
              <a:t>4</a:t>
            </a:r>
            <a:r>
              <a:rPr lang="zh-CN" altLang="en-US" sz="2800" b="1">
                <a:effectLst>
                  <a:outerShdw blurRad="38100" dist="38100" dir="2700000">
                    <a:srgbClr val="C0C0C0"/>
                  </a:outerShdw>
                </a:effectLst>
                <a:latin typeface="楷体_GB2312" pitchFamily="49" charset="-122"/>
                <a:ea typeface="楷体_GB2312" pitchFamily="49" charset="-122"/>
              </a:rPr>
              <a:t>个葡萄糖残基</a:t>
            </a:r>
            <a:endParaRPr lang="zh-CN" altLang="en-US" sz="2800" b="1">
              <a:effectLst>
                <a:outerShdw blurRad="38100" dist="38100" dir="2700000">
                  <a:srgbClr val="C0C0C0"/>
                </a:outerShdw>
              </a:effectLst>
              <a:latin typeface="楷体_GB2312" pitchFamily="49" charset="-122"/>
              <a:ea typeface="楷体_GB2312" pitchFamily="49" charset="-122"/>
            </a:endParaRPr>
          </a:p>
        </p:txBody>
      </p:sp>
      <p:sp>
        <p:nvSpPr>
          <p:cNvPr id="60420" name="Oval 10"/>
          <p:cNvSpPr/>
          <p:nvPr/>
        </p:nvSpPr>
        <p:spPr>
          <a:xfrm>
            <a:off x="3995738" y="3141663"/>
            <a:ext cx="215900" cy="215900"/>
          </a:xfrm>
          <a:prstGeom prst="ellipse">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60421" name="Oval 11"/>
          <p:cNvSpPr/>
          <p:nvPr/>
        </p:nvSpPr>
        <p:spPr>
          <a:xfrm>
            <a:off x="1835150" y="3500438"/>
            <a:ext cx="215900" cy="215900"/>
          </a:xfrm>
          <a:prstGeom prst="ellipse">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60422" name="Oval 12"/>
          <p:cNvSpPr/>
          <p:nvPr/>
        </p:nvSpPr>
        <p:spPr>
          <a:xfrm>
            <a:off x="1835150" y="4221163"/>
            <a:ext cx="215900" cy="215900"/>
          </a:xfrm>
          <a:prstGeom prst="ellipse">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60423" name="Oval 13"/>
          <p:cNvSpPr/>
          <p:nvPr/>
        </p:nvSpPr>
        <p:spPr>
          <a:xfrm>
            <a:off x="1331913" y="549275"/>
            <a:ext cx="215900" cy="215900"/>
          </a:xfrm>
          <a:prstGeom prst="ellipse">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60424" name="Oval 14"/>
          <p:cNvSpPr/>
          <p:nvPr/>
        </p:nvSpPr>
        <p:spPr>
          <a:xfrm>
            <a:off x="1835150" y="2492375"/>
            <a:ext cx="215900" cy="215900"/>
          </a:xfrm>
          <a:prstGeom prst="ellipse">
            <a:avLst/>
          </a:prstGeom>
          <a:solidFill>
            <a:srgbClr val="CC0000"/>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60425" name="Rectangle 15"/>
          <p:cNvSpPr/>
          <p:nvPr/>
        </p:nvSpPr>
        <p:spPr>
          <a:xfrm>
            <a:off x="4932363" y="2636838"/>
            <a:ext cx="1873250" cy="4889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100000"/>
              </a:spcBef>
              <a:buFont typeface="Wingdings" panose="05000000000000000000" pitchFamily="2" charset="2"/>
              <a:buNone/>
            </a:pPr>
            <a:r>
              <a:rPr lang="zh-CN" altLang="en-US" sz="2600" b="1">
                <a:solidFill>
                  <a:schemeClr val="hlink"/>
                </a:solidFill>
                <a:latin typeface="楷体_GB2312" pitchFamily="49" charset="-122"/>
                <a:ea typeface="楷体_GB2312" pitchFamily="49" charset="-122"/>
              </a:rPr>
              <a:t>糖原分支酶</a:t>
            </a:r>
            <a:endParaRPr lang="zh-CN" altLang="en-US" sz="2600" b="1">
              <a:solidFill>
                <a:schemeClr val="hlink"/>
              </a:solidFill>
              <a:latin typeface="楷体_GB2312" pitchFamily="49" charset="-122"/>
              <a:ea typeface="楷体_GB2312" pitchFamily="49" charset="-122"/>
            </a:endParaRPr>
          </a:p>
        </p:txBody>
      </p:sp>
      <p:sp>
        <p:nvSpPr>
          <p:cNvPr id="60426" name="Rectangle 16"/>
          <p:cNvSpPr/>
          <p:nvPr/>
        </p:nvSpPr>
        <p:spPr>
          <a:xfrm>
            <a:off x="1692275" y="1628775"/>
            <a:ext cx="1873250" cy="4889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100000"/>
              </a:spcBef>
              <a:buFont typeface="Wingdings" panose="05000000000000000000" pitchFamily="2" charset="2"/>
              <a:buNone/>
            </a:pPr>
            <a:r>
              <a:rPr lang="zh-CN" altLang="en-US" sz="2600" b="1">
                <a:solidFill>
                  <a:schemeClr val="hlink"/>
                </a:solidFill>
                <a:latin typeface="楷体_GB2312" pitchFamily="49" charset="-122"/>
                <a:ea typeface="楷体_GB2312" pitchFamily="49" charset="-122"/>
              </a:rPr>
              <a:t>糖原分支酶</a:t>
            </a:r>
            <a:endParaRPr lang="zh-CN" altLang="en-US" sz="2600" b="1">
              <a:solidFill>
                <a:schemeClr val="hlink"/>
              </a:solidFill>
              <a:latin typeface="楷体_GB2312" pitchFamily="49" charset="-122"/>
              <a:ea typeface="楷体_GB2312" pitchFamily="49" charset="-122"/>
            </a:endParaRPr>
          </a:p>
        </p:txBody>
      </p:sp>
      <p:sp>
        <p:nvSpPr>
          <p:cNvPr id="6042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2936">
                                            <p:txEl>
                                              <p:charRg st="0" end="36"/>
                                            </p:txEl>
                                          </p:spTgt>
                                        </p:tgtEl>
                                        <p:attrNameLst>
                                          <p:attrName>style.visibility</p:attrName>
                                        </p:attrNameLst>
                                      </p:cBhvr>
                                      <p:to>
                                        <p:strVal val="visible"/>
                                      </p:to>
                                    </p:set>
                                    <p:animEffect transition="in" filter="blinds(horizontal)">
                                      <p:cBhvr>
                                        <p:cTn id="7" dur="500"/>
                                        <p:tgtEl>
                                          <p:spTgt spid="252936">
                                            <p:txEl>
                                              <p:charRg st="0"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41" name="Picture 2"/>
          <p:cNvPicPr>
            <a:picLocks noChangeAspect="1"/>
          </p:cNvPicPr>
          <p:nvPr/>
        </p:nvPicPr>
        <p:blipFill>
          <a:blip r:embed="rId1">
            <a:lum bright="-17999" contrast="30000"/>
          </a:blip>
          <a:srcRect l="23541" t="20250" r="46542" b="24217"/>
          <a:stretch>
            <a:fillRect/>
          </a:stretch>
        </p:blipFill>
        <p:spPr>
          <a:xfrm>
            <a:off x="395288" y="188913"/>
            <a:ext cx="4989512" cy="6308725"/>
          </a:xfrm>
          <a:prstGeom prst="rect">
            <a:avLst/>
          </a:prstGeom>
          <a:noFill/>
          <a:ln w="9525">
            <a:noFill/>
          </a:ln>
        </p:spPr>
      </p:pic>
      <p:sp>
        <p:nvSpPr>
          <p:cNvPr id="61442" name="Rectangle 3"/>
          <p:cNvSpPr/>
          <p:nvPr/>
        </p:nvSpPr>
        <p:spPr>
          <a:xfrm>
            <a:off x="5181600" y="5538788"/>
            <a:ext cx="23177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a:ea typeface="楷体_GB2312" pitchFamily="49" charset="-122"/>
              </a:rPr>
              <a:t>形成糖原分支</a:t>
            </a:r>
            <a:endParaRPr lang="zh-CN" altLang="en-US" sz="2800">
              <a:ea typeface="楷体_GB2312" pitchFamily="49" charset="-122"/>
            </a:endParaRPr>
          </a:p>
        </p:txBody>
      </p:sp>
      <p:sp>
        <p:nvSpPr>
          <p:cNvPr id="61443" name="Rectangle 4"/>
          <p:cNvSpPr/>
          <p:nvPr/>
        </p:nvSpPr>
        <p:spPr>
          <a:xfrm>
            <a:off x="5076825" y="4010025"/>
            <a:ext cx="334327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a:latin typeface="Times New Roman" panose="02020603050405020304" charset="0"/>
                <a:ea typeface="楷体_GB2312" pitchFamily="49" charset="-122"/>
              </a:rPr>
              <a:t>“</a:t>
            </a:r>
            <a:r>
              <a:rPr lang="zh-CN" altLang="en-US" sz="2800">
                <a:ea typeface="楷体_GB2312" pitchFamily="49" charset="-122"/>
              </a:rPr>
              <a:t>引物</a:t>
            </a:r>
            <a:r>
              <a:rPr lang="zh-CN" altLang="en-US" sz="2800">
                <a:latin typeface="Times New Roman" panose="02020603050405020304" charset="0"/>
                <a:ea typeface="楷体_GB2312" pitchFamily="49" charset="-122"/>
              </a:rPr>
              <a:t>”</a:t>
            </a:r>
            <a:r>
              <a:rPr lang="zh-CN" altLang="en-US" sz="2800">
                <a:ea typeface="楷体_GB2312" pitchFamily="49" charset="-122"/>
              </a:rPr>
              <a:t>的自动糖基化</a:t>
            </a:r>
            <a:endParaRPr lang="zh-CN" altLang="en-US" sz="2800">
              <a:ea typeface="楷体_GB2312" pitchFamily="49" charset="-122"/>
            </a:endParaRPr>
          </a:p>
        </p:txBody>
      </p:sp>
      <p:sp>
        <p:nvSpPr>
          <p:cNvPr id="61444" name="Rectangle 5"/>
          <p:cNvSpPr/>
          <p:nvPr/>
        </p:nvSpPr>
        <p:spPr>
          <a:xfrm>
            <a:off x="4268788" y="3962400"/>
            <a:ext cx="590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a:solidFill>
                  <a:srgbClr val="0033CC"/>
                </a:solidFill>
              </a:rPr>
              <a:t>←</a:t>
            </a:r>
            <a:endParaRPr lang="zh-CN" altLang="en-US">
              <a:solidFill>
                <a:srgbClr val="0033CC"/>
              </a:solidFill>
            </a:endParaRPr>
          </a:p>
        </p:txBody>
      </p:sp>
      <p:sp>
        <p:nvSpPr>
          <p:cNvPr id="61445" name="Rectangle 6"/>
          <p:cNvSpPr/>
          <p:nvPr/>
        </p:nvSpPr>
        <p:spPr>
          <a:xfrm>
            <a:off x="3549650" y="5486400"/>
            <a:ext cx="590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a:solidFill>
                  <a:srgbClr val="0033CC"/>
                </a:solidFill>
              </a:rPr>
              <a:t>→</a:t>
            </a:r>
            <a:endParaRPr lang="zh-CN" altLang="en-US">
              <a:solidFill>
                <a:srgbClr val="0033CC"/>
              </a:solidFill>
            </a:endParaRPr>
          </a:p>
        </p:txBody>
      </p:sp>
      <p:sp>
        <p:nvSpPr>
          <p:cNvPr id="61446" name="Rectangle 7"/>
          <p:cNvSpPr/>
          <p:nvPr/>
        </p:nvSpPr>
        <p:spPr>
          <a:xfrm>
            <a:off x="4343400" y="5486400"/>
            <a:ext cx="590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a:solidFill>
                  <a:srgbClr val="0033CC"/>
                </a:solidFill>
              </a:rPr>
              <a:t>→</a:t>
            </a:r>
            <a:endParaRPr lang="zh-CN" altLang="en-US">
              <a:solidFill>
                <a:srgbClr val="0033CC"/>
              </a:solidFill>
            </a:endParaRPr>
          </a:p>
        </p:txBody>
      </p:sp>
      <p:sp>
        <p:nvSpPr>
          <p:cNvPr id="61447" name="Text Box 8"/>
          <p:cNvSpPr txBox="1"/>
          <p:nvPr/>
        </p:nvSpPr>
        <p:spPr>
          <a:xfrm>
            <a:off x="395288" y="1412875"/>
            <a:ext cx="574675" cy="35083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黑体" pitchFamily="49" charset="-122"/>
              </a:rPr>
              <a:t>糖原生物合成总览</a:t>
            </a:r>
            <a:endParaRPr lang="zh-CN" altLang="en-US" sz="2800" b="1">
              <a:ea typeface="黑体" pitchFamily="49" charset="-122"/>
            </a:endParaRPr>
          </a:p>
        </p:txBody>
      </p:sp>
      <p:sp>
        <p:nvSpPr>
          <p:cNvPr id="61448" name="Text Box 9"/>
          <p:cNvSpPr txBox="1"/>
          <p:nvPr/>
        </p:nvSpPr>
        <p:spPr>
          <a:xfrm>
            <a:off x="4716463" y="2781300"/>
            <a:ext cx="3024187"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ea typeface="楷体_GB2312" pitchFamily="49" charset="-122"/>
              </a:rPr>
              <a:t>耗能活化</a:t>
            </a:r>
            <a:endParaRPr lang="en-US" altLang="zh-CN" sz="2400" b="1">
              <a:ea typeface="楷体_GB2312" pitchFamily="49" charset="-122"/>
            </a:endParaRPr>
          </a:p>
        </p:txBody>
      </p:sp>
      <p:sp>
        <p:nvSpPr>
          <p:cNvPr id="61449" name="Rectangle 10"/>
          <p:cNvSpPr/>
          <p:nvPr/>
        </p:nvSpPr>
        <p:spPr>
          <a:xfrm>
            <a:off x="4211638" y="2708275"/>
            <a:ext cx="590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a:solidFill>
                  <a:srgbClr val="0033CC"/>
                </a:solidFill>
              </a:rPr>
              <a:t>←</a:t>
            </a:r>
            <a:endParaRPr lang="zh-CN" altLang="en-US">
              <a:solidFill>
                <a:srgbClr val="0033CC"/>
              </a:solidFill>
            </a:endParaRPr>
          </a:p>
        </p:txBody>
      </p:sp>
      <p:sp>
        <p:nvSpPr>
          <p:cNvPr id="61450" name="Rectangle 11"/>
          <p:cNvSpPr/>
          <p:nvPr/>
        </p:nvSpPr>
        <p:spPr>
          <a:xfrm>
            <a:off x="3995738" y="6165850"/>
            <a:ext cx="1462087"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000" b="1">
                <a:solidFill>
                  <a:schemeClr val="accent2"/>
                </a:solidFill>
                <a:ea typeface="黑体" pitchFamily="49" charset="-122"/>
              </a:rPr>
              <a:t>糖原分支酶</a:t>
            </a:r>
            <a:endParaRPr lang="zh-CN" altLang="en-US" sz="2000" b="1">
              <a:solidFill>
                <a:schemeClr val="accent2"/>
              </a:solidFill>
              <a:ea typeface="黑体" pitchFamily="49" charset="-122"/>
            </a:endParaRPr>
          </a:p>
        </p:txBody>
      </p:sp>
      <p:sp>
        <p:nvSpPr>
          <p:cNvPr id="61451"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p:nvPr/>
        </p:nvSpPr>
        <p:spPr>
          <a:xfrm>
            <a:off x="971550" y="1268413"/>
            <a:ext cx="7561263"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60000"/>
              </a:spcBef>
              <a:buFont typeface="Wingdings" panose="05000000000000000000" pitchFamily="2" charset="2"/>
              <a:buNone/>
            </a:pPr>
            <a:r>
              <a:rPr lang="zh-CN" altLang="en-US" sz="2800" b="1">
                <a:solidFill>
                  <a:schemeClr val="tx2"/>
                </a:solidFill>
                <a:latin typeface="楷体_GB2312" pitchFamily="49" charset="-122"/>
                <a:ea typeface="楷体_GB2312" pitchFamily="49" charset="-122"/>
              </a:rPr>
              <a:t>糖原合成的关键酶是</a:t>
            </a:r>
            <a:r>
              <a:rPr lang="zh-CN" altLang="en-US" sz="2800" b="1">
                <a:solidFill>
                  <a:srgbClr val="A50021"/>
                </a:solidFill>
                <a:latin typeface="楷体_GB2312" pitchFamily="49" charset="-122"/>
                <a:ea typeface="楷体_GB2312" pitchFamily="49" charset="-122"/>
              </a:rPr>
              <a:t>糖原合酶</a:t>
            </a:r>
            <a:endParaRPr lang="zh-CN" altLang="en-US" sz="2800" b="1">
              <a:solidFill>
                <a:srgbClr val="A50021"/>
              </a:solidFill>
              <a:latin typeface="楷体_GB2312" pitchFamily="49" charset="-122"/>
              <a:ea typeface="楷体_GB2312" pitchFamily="49" charset="-122"/>
            </a:endParaRPr>
          </a:p>
          <a:p>
            <a:pPr marL="0" lvl="0" indent="0" eaLnBrk="1" hangingPunct="1">
              <a:spcBef>
                <a:spcPct val="60000"/>
              </a:spcBef>
              <a:buFont typeface="Wingdings" panose="05000000000000000000" pitchFamily="2" charset="2"/>
              <a:buNone/>
            </a:pPr>
            <a:r>
              <a:rPr lang="zh-CN" altLang="en-US" sz="2800" b="1">
                <a:solidFill>
                  <a:schemeClr val="tx2"/>
                </a:solidFill>
                <a:latin typeface="楷体_GB2312" pitchFamily="49" charset="-122"/>
                <a:ea typeface="楷体_GB2312" pitchFamily="49" charset="-122"/>
              </a:rPr>
              <a:t>糖原分解的关键酶是</a:t>
            </a:r>
            <a:r>
              <a:rPr lang="zh-CN" altLang="en-US" sz="2800" b="1">
                <a:solidFill>
                  <a:srgbClr val="A50021"/>
                </a:solidFill>
                <a:latin typeface="楷体_GB2312" pitchFamily="49" charset="-122"/>
                <a:ea typeface="楷体_GB2312" pitchFamily="49" charset="-122"/>
              </a:rPr>
              <a:t>糖原磷酸化酶</a:t>
            </a:r>
            <a:endParaRPr lang="zh-CN" altLang="en-US" sz="2800" b="1">
              <a:solidFill>
                <a:srgbClr val="A50021"/>
              </a:solidFill>
              <a:latin typeface="楷体_GB2312" pitchFamily="49" charset="-122"/>
              <a:ea typeface="楷体_GB2312" pitchFamily="49" charset="-122"/>
            </a:endParaRPr>
          </a:p>
        </p:txBody>
      </p:sp>
      <p:sp>
        <p:nvSpPr>
          <p:cNvPr id="286723" name="Rectangle 3"/>
          <p:cNvSpPr>
            <a:spLocks noChangeArrowheads="1"/>
          </p:cNvSpPr>
          <p:nvPr/>
        </p:nvSpPr>
        <p:spPr bwMode="auto">
          <a:xfrm>
            <a:off x="2627313" y="404813"/>
            <a:ext cx="4176713" cy="519113"/>
          </a:xfrm>
          <a:prstGeom prst="rect">
            <a:avLst/>
          </a:prstGeom>
          <a:noFill/>
          <a:ln w="12700">
            <a:noFill/>
            <a:miter lim="800000"/>
            <a:headEnd type="none" w="sm" len="sm"/>
            <a:tailEnd type="none" w="sm" len="sm"/>
          </a:ln>
          <a:effectLst/>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effectLst>
                  <a:outerShdw blurRad="38100" dist="38100" dir="2700000">
                    <a:srgbClr val="C0C0C0"/>
                  </a:outerShdw>
                </a:effectLst>
                <a:latin typeface="黑体" pitchFamily="49" charset="-122"/>
                <a:ea typeface="黑体" pitchFamily="49" charset="-122"/>
              </a:rPr>
              <a:t>4</a:t>
            </a:r>
            <a:r>
              <a:rPr lang="zh-CN" altLang="en-US" sz="2800" b="1">
                <a:effectLst>
                  <a:outerShdw blurRad="38100" dist="38100" dir="2700000">
                    <a:srgbClr val="C0C0C0"/>
                  </a:outerShdw>
                </a:effectLst>
                <a:latin typeface="黑体" pitchFamily="49" charset="-122"/>
                <a:ea typeface="黑体" pitchFamily="49" charset="-122"/>
              </a:rPr>
              <a:t> 糖原代谢的调控</a:t>
            </a:r>
            <a:endParaRPr lang="zh-CN" altLang="en-US" sz="2800" b="1">
              <a:effectLst>
                <a:outerShdw blurRad="38100" dist="38100" dir="2700000">
                  <a:srgbClr val="C0C0C0"/>
                </a:outerShdw>
              </a:effectLst>
              <a:latin typeface="黑体" pitchFamily="49" charset="-122"/>
              <a:ea typeface="黑体" pitchFamily="49" charset="-122"/>
            </a:endParaRPr>
          </a:p>
        </p:txBody>
      </p:sp>
      <p:sp>
        <p:nvSpPr>
          <p:cNvPr id="62467" name="Text Box 4"/>
          <p:cNvSpPr txBox="1"/>
          <p:nvPr/>
        </p:nvSpPr>
        <p:spPr>
          <a:xfrm>
            <a:off x="1403350" y="2852738"/>
            <a:ext cx="179070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Clr>
                <a:schemeClr val="accent1"/>
              </a:buClr>
              <a:buFont typeface="Wingdings" panose="05000000000000000000" pitchFamily="2" charset="2"/>
              <a:buNone/>
            </a:pPr>
            <a:r>
              <a:rPr lang="zh-CN" altLang="en-US" sz="2800" b="1">
                <a:latin typeface="Times New Roman" panose="02020603050405020304" charset="0"/>
                <a:ea typeface="黑体" pitchFamily="49" charset="-122"/>
              </a:rPr>
              <a:t>磷酸化酶  </a:t>
            </a:r>
            <a:endParaRPr lang="zh-CN" altLang="en-US" sz="2800" b="1">
              <a:latin typeface="Times New Roman" panose="02020603050405020304" charset="0"/>
              <a:ea typeface="黑体" pitchFamily="49" charset="-122"/>
            </a:endParaRPr>
          </a:p>
        </p:txBody>
      </p:sp>
      <p:sp>
        <p:nvSpPr>
          <p:cNvPr id="62468" name="Text Box 5"/>
          <p:cNvSpPr txBox="1"/>
          <p:nvPr/>
        </p:nvSpPr>
        <p:spPr>
          <a:xfrm>
            <a:off x="1403350" y="4292600"/>
            <a:ext cx="1970088"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Clr>
                <a:schemeClr val="accent1"/>
              </a:buClr>
              <a:buFont typeface="Wingdings" panose="05000000000000000000" pitchFamily="2" charset="2"/>
              <a:buNone/>
            </a:pPr>
            <a:r>
              <a:rPr lang="zh-CN" altLang="en-US" sz="2800" b="1">
                <a:latin typeface="Times New Roman" panose="02020603050405020304" charset="0"/>
                <a:ea typeface="黑体" pitchFamily="49" charset="-122"/>
              </a:rPr>
              <a:t>糖原合成酶</a:t>
            </a:r>
            <a:endParaRPr lang="zh-CN" altLang="en-US" sz="2800" b="1">
              <a:latin typeface="Times New Roman" panose="02020603050405020304" charset="0"/>
              <a:ea typeface="黑体" pitchFamily="49" charset="-122"/>
            </a:endParaRPr>
          </a:p>
        </p:txBody>
      </p:sp>
      <p:sp>
        <p:nvSpPr>
          <p:cNvPr id="62469" name="Line 6"/>
          <p:cNvSpPr/>
          <p:nvPr/>
        </p:nvSpPr>
        <p:spPr>
          <a:xfrm>
            <a:off x="3059113" y="3140075"/>
            <a:ext cx="1706562" cy="239713"/>
          </a:xfrm>
          <a:prstGeom prst="line">
            <a:avLst/>
          </a:prstGeom>
          <a:ln w="38100" cap="flat" cmpd="sng">
            <a:solidFill>
              <a:schemeClr val="tx1"/>
            </a:solidFill>
            <a:prstDash val="solid"/>
            <a:headEnd type="none" w="med" len="med"/>
            <a:tailEnd type="triangle" w="med" len="med"/>
          </a:ln>
        </p:spPr>
      </p:sp>
      <p:sp>
        <p:nvSpPr>
          <p:cNvPr id="62470" name="Line 7"/>
          <p:cNvSpPr/>
          <p:nvPr/>
        </p:nvSpPr>
        <p:spPr>
          <a:xfrm>
            <a:off x="3059113" y="3140075"/>
            <a:ext cx="1728787" cy="865188"/>
          </a:xfrm>
          <a:prstGeom prst="line">
            <a:avLst/>
          </a:prstGeom>
          <a:ln w="38100" cap="flat" cmpd="sng">
            <a:solidFill>
              <a:schemeClr val="tx1"/>
            </a:solidFill>
            <a:prstDash val="solid"/>
            <a:headEnd type="none" w="med" len="med"/>
            <a:tailEnd type="triangle" w="med" len="med"/>
          </a:ln>
        </p:spPr>
      </p:sp>
      <p:sp>
        <p:nvSpPr>
          <p:cNvPr id="62471" name="Line 8"/>
          <p:cNvSpPr/>
          <p:nvPr/>
        </p:nvSpPr>
        <p:spPr>
          <a:xfrm flipV="1">
            <a:off x="3348038" y="3438525"/>
            <a:ext cx="1417637" cy="1143000"/>
          </a:xfrm>
          <a:prstGeom prst="line">
            <a:avLst/>
          </a:prstGeom>
          <a:ln w="38100" cap="flat" cmpd="sng">
            <a:solidFill>
              <a:schemeClr val="tx1"/>
            </a:solidFill>
            <a:prstDash val="solid"/>
            <a:headEnd type="none" w="med" len="med"/>
            <a:tailEnd type="triangle" w="med" len="med"/>
          </a:ln>
        </p:spPr>
      </p:sp>
      <p:sp>
        <p:nvSpPr>
          <p:cNvPr id="62472" name="Line 9"/>
          <p:cNvSpPr/>
          <p:nvPr/>
        </p:nvSpPr>
        <p:spPr>
          <a:xfrm flipV="1">
            <a:off x="3348038" y="4076700"/>
            <a:ext cx="1439862" cy="504825"/>
          </a:xfrm>
          <a:prstGeom prst="line">
            <a:avLst/>
          </a:prstGeom>
          <a:ln w="38100" cap="flat" cmpd="sng">
            <a:solidFill>
              <a:schemeClr val="tx1"/>
            </a:solidFill>
            <a:prstDash val="solid"/>
            <a:headEnd type="none" w="med" len="med"/>
            <a:tailEnd type="triangle" w="med" len="med"/>
          </a:ln>
        </p:spPr>
      </p:sp>
      <p:sp>
        <p:nvSpPr>
          <p:cNvPr id="62473" name="Rectangle 10"/>
          <p:cNvSpPr/>
          <p:nvPr/>
        </p:nvSpPr>
        <p:spPr>
          <a:xfrm>
            <a:off x="4787900" y="3125788"/>
            <a:ext cx="1612900" cy="5191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zh-CN" sz="2800" b="1">
                <a:solidFill>
                  <a:srgbClr val="0000FF"/>
                </a:solidFill>
                <a:ea typeface="楷体_GB2312" pitchFamily="49" charset="-122"/>
              </a:rPr>
              <a:t>变构调节</a:t>
            </a:r>
            <a:endParaRPr lang="zh-CN" altLang="en-US" sz="2800" b="1">
              <a:solidFill>
                <a:srgbClr val="0000FF"/>
              </a:solidFill>
              <a:ea typeface="楷体_GB2312" pitchFamily="49" charset="-122"/>
            </a:endParaRPr>
          </a:p>
        </p:txBody>
      </p:sp>
      <p:sp>
        <p:nvSpPr>
          <p:cNvPr id="62474" name="Rectangle 11"/>
          <p:cNvSpPr/>
          <p:nvPr/>
        </p:nvSpPr>
        <p:spPr>
          <a:xfrm>
            <a:off x="4765675" y="3789363"/>
            <a:ext cx="2327275" cy="5191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zh-CN" sz="2800" b="1">
                <a:solidFill>
                  <a:srgbClr val="0000FF"/>
                </a:solidFill>
                <a:ea typeface="楷体_GB2312" pitchFamily="49" charset="-122"/>
              </a:rPr>
              <a:t>共价修饰调节</a:t>
            </a:r>
            <a:endParaRPr lang="zh-CN" altLang="en-US" sz="2800" b="1">
              <a:solidFill>
                <a:srgbClr val="0000FF"/>
              </a:solidFill>
              <a:ea typeface="楷体_GB2312" pitchFamily="49" charset="-122"/>
            </a:endParaRPr>
          </a:p>
        </p:txBody>
      </p:sp>
      <p:sp>
        <p:nvSpPr>
          <p:cNvPr id="62475" name="Rectangle 12"/>
          <p:cNvSpPr/>
          <p:nvPr/>
        </p:nvSpPr>
        <p:spPr>
          <a:xfrm>
            <a:off x="611188" y="5776913"/>
            <a:ext cx="7799387" cy="519112"/>
          </a:xfrm>
          <a:prstGeom prst="rect">
            <a:avLst/>
          </a:prstGeom>
          <a:solidFill>
            <a:srgbClr val="FFFF99"/>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zh-CN" sz="2800" b="1">
                <a:solidFill>
                  <a:srgbClr val="A50021"/>
                </a:solidFill>
                <a:latin typeface="黑体" pitchFamily="49" charset="-122"/>
                <a:ea typeface="黑体" pitchFamily="49" charset="-122"/>
              </a:rPr>
              <a:t>受同一调节系统控制</a:t>
            </a:r>
            <a:r>
              <a:rPr lang="zh-CN" altLang="en-US" sz="2800" b="1">
                <a:solidFill>
                  <a:srgbClr val="A50021"/>
                </a:solidFill>
                <a:latin typeface="黑体" pitchFamily="49" charset="-122"/>
                <a:ea typeface="黑体" pitchFamily="49" charset="-122"/>
              </a:rPr>
              <a:t>，</a:t>
            </a:r>
            <a:r>
              <a:rPr lang="zh-CN" altLang="zh-CN" sz="2800" b="1">
                <a:solidFill>
                  <a:srgbClr val="A50021"/>
                </a:solidFill>
                <a:latin typeface="黑体" pitchFamily="49" charset="-122"/>
                <a:ea typeface="黑体" pitchFamily="49" charset="-122"/>
              </a:rPr>
              <a:t>即：激素-</a:t>
            </a:r>
            <a:r>
              <a:rPr lang="en-US" altLang="zh-CN" sz="2800" b="1">
                <a:solidFill>
                  <a:srgbClr val="A50021"/>
                </a:solidFill>
                <a:latin typeface="黑体" pitchFamily="49" charset="-122"/>
                <a:ea typeface="黑体" pitchFamily="49" charset="-122"/>
              </a:rPr>
              <a:t>cAMP-</a:t>
            </a:r>
            <a:r>
              <a:rPr lang="zh-CN" altLang="en-US" sz="2800" b="1">
                <a:solidFill>
                  <a:srgbClr val="A50021"/>
                </a:solidFill>
                <a:latin typeface="黑体" pitchFamily="49" charset="-122"/>
                <a:ea typeface="黑体" pitchFamily="49" charset="-122"/>
              </a:rPr>
              <a:t>蛋白激酶</a:t>
            </a:r>
            <a:endParaRPr lang="zh-CN" altLang="en-US" sz="2800" b="1">
              <a:solidFill>
                <a:srgbClr val="A50021"/>
              </a:solidFill>
              <a:latin typeface="黑体" pitchFamily="49" charset="-122"/>
              <a:ea typeface="黑体" pitchFamily="49" charset="-122"/>
            </a:endParaRPr>
          </a:p>
        </p:txBody>
      </p:sp>
      <p:sp>
        <p:nvSpPr>
          <p:cNvPr id="62476" name="Rectangle 13"/>
          <p:cNvSpPr/>
          <p:nvPr/>
        </p:nvSpPr>
        <p:spPr>
          <a:xfrm>
            <a:off x="611188" y="5229225"/>
            <a:ext cx="7775575" cy="519113"/>
          </a:xfrm>
          <a:prstGeom prst="rect">
            <a:avLst/>
          </a:prstGeom>
          <a:solidFill>
            <a:srgbClr val="FFFF99"/>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A50021"/>
                </a:solidFill>
                <a:latin typeface="黑体" pitchFamily="49" charset="-122"/>
                <a:ea typeface="黑体" pitchFamily="49" charset="-122"/>
              </a:rPr>
              <a:t>酶</a:t>
            </a:r>
            <a:r>
              <a:rPr lang="zh-CN" altLang="zh-CN" sz="2800" b="1">
                <a:solidFill>
                  <a:srgbClr val="A50021"/>
                </a:solidFill>
                <a:latin typeface="黑体" pitchFamily="49" charset="-122"/>
                <a:ea typeface="黑体" pitchFamily="49" charset="-122"/>
              </a:rPr>
              <a:t>有两种类型，即：活性形式和无活性形式</a:t>
            </a:r>
            <a:endParaRPr lang="zh-CN" altLang="en-US" sz="2800" b="1">
              <a:solidFill>
                <a:srgbClr val="A50021"/>
              </a:solidFill>
              <a:latin typeface="黑体" pitchFamily="49" charset="-122"/>
              <a:ea typeface="黑体" pitchFamily="49" charset="-122"/>
            </a:endParaRPr>
          </a:p>
        </p:txBody>
      </p:sp>
      <p:sp>
        <p:nvSpPr>
          <p:cNvPr id="6247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86722">
                                            <p:txEl>
                                              <p:charRg st="0" end="14"/>
                                            </p:txEl>
                                          </p:spTgt>
                                        </p:tgtEl>
                                        <p:attrNameLst>
                                          <p:attrName>style.visibility</p:attrName>
                                        </p:attrNameLst>
                                      </p:cBhvr>
                                      <p:to>
                                        <p:strVal val="visible"/>
                                      </p:to>
                                    </p:set>
                                    <p:animEffect transition="in" filter="slide(fromBottom)">
                                      <p:cBhvr>
                                        <p:cTn id="7" dur="500"/>
                                        <p:tgtEl>
                                          <p:spTgt spid="286722">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86722">
                                            <p:txEl>
                                              <p:charRg st="14" end="30"/>
                                            </p:txEl>
                                          </p:spTgt>
                                        </p:tgtEl>
                                        <p:attrNameLst>
                                          <p:attrName>style.visibility</p:attrName>
                                        </p:attrNameLst>
                                      </p:cBhvr>
                                      <p:to>
                                        <p:strVal val="visible"/>
                                      </p:to>
                                    </p:set>
                                    <p:animEffect transition="in" filter="slide(fromBottom)">
                                      <p:cBhvr>
                                        <p:cTn id="12" dur="500"/>
                                        <p:tgtEl>
                                          <p:spTgt spid="286722">
                                            <p:txEl>
                                              <p:charRg st="14"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3489" name="Picture 2" descr="tiaokong2"/>
          <p:cNvPicPr>
            <a:picLocks noChangeAspect="1"/>
          </p:cNvPicPr>
          <p:nvPr/>
        </p:nvPicPr>
        <p:blipFill>
          <a:blip r:embed="rId1"/>
          <a:srcRect b="76823"/>
          <a:stretch>
            <a:fillRect/>
          </a:stretch>
        </p:blipFill>
        <p:spPr>
          <a:xfrm>
            <a:off x="395288" y="1341438"/>
            <a:ext cx="8243887" cy="1079500"/>
          </a:xfrm>
          <a:prstGeom prst="rect">
            <a:avLst/>
          </a:prstGeom>
          <a:noFill/>
          <a:ln w="9525">
            <a:noFill/>
          </a:ln>
        </p:spPr>
      </p:pic>
      <p:sp>
        <p:nvSpPr>
          <p:cNvPr id="63490" name="Text Box 3"/>
          <p:cNvSpPr txBox="1"/>
          <p:nvPr/>
        </p:nvSpPr>
        <p:spPr>
          <a:xfrm>
            <a:off x="1547813" y="476250"/>
            <a:ext cx="590391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800" b="1">
                <a:latin typeface="Tahoma" pitchFamily="34" charset="0"/>
                <a:ea typeface="黑体" pitchFamily="49" charset="-122"/>
              </a:rPr>
              <a:t>4.1 </a:t>
            </a:r>
            <a:r>
              <a:rPr lang="zh-CN" altLang="en-US" sz="2800" b="1">
                <a:latin typeface="Tahoma" pitchFamily="34" charset="0"/>
                <a:ea typeface="黑体" pitchFamily="49" charset="-122"/>
              </a:rPr>
              <a:t>糖原磷酸化酶的调节</a:t>
            </a:r>
            <a:endParaRPr lang="zh-CN" altLang="en-US" sz="2800" b="1">
              <a:latin typeface="Tahoma" pitchFamily="34" charset="0"/>
              <a:ea typeface="黑体" pitchFamily="49" charset="-122"/>
            </a:endParaRPr>
          </a:p>
        </p:txBody>
      </p:sp>
      <p:sp>
        <p:nvSpPr>
          <p:cNvPr id="63491" name="Text Box 4"/>
          <p:cNvSpPr txBox="1"/>
          <p:nvPr/>
        </p:nvSpPr>
        <p:spPr>
          <a:xfrm>
            <a:off x="3276600" y="1125538"/>
            <a:ext cx="935038"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chemeClr val="accent2"/>
                </a:solidFill>
              </a:rPr>
              <a:t>ATP</a:t>
            </a:r>
            <a:endParaRPr lang="en-US" altLang="zh-CN" sz="2400" b="1">
              <a:solidFill>
                <a:schemeClr val="accent2"/>
              </a:solidFill>
            </a:endParaRPr>
          </a:p>
        </p:txBody>
      </p:sp>
      <p:sp>
        <p:nvSpPr>
          <p:cNvPr id="63492" name="Text Box 5"/>
          <p:cNvSpPr txBox="1"/>
          <p:nvPr/>
        </p:nvSpPr>
        <p:spPr>
          <a:xfrm>
            <a:off x="6227763" y="1455738"/>
            <a:ext cx="24479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chemeClr val="accent2"/>
                </a:solidFill>
              </a:rPr>
              <a:t>；</a:t>
            </a:r>
            <a:r>
              <a:rPr lang="en-US" altLang="zh-CN" sz="2400" b="1">
                <a:solidFill>
                  <a:schemeClr val="hlink"/>
                </a:solidFill>
              </a:rPr>
              <a:t>AMP</a:t>
            </a:r>
            <a:r>
              <a:rPr lang="zh-CN" altLang="en-US" sz="2400" b="1">
                <a:solidFill>
                  <a:schemeClr val="hlink"/>
                </a:solidFill>
              </a:rPr>
              <a:t>是激活剂</a:t>
            </a:r>
            <a:endParaRPr lang="zh-CN" altLang="en-US" sz="2400" b="1">
              <a:solidFill>
                <a:schemeClr val="hlink"/>
              </a:solidFill>
            </a:endParaRPr>
          </a:p>
        </p:txBody>
      </p:sp>
      <p:sp>
        <p:nvSpPr>
          <p:cNvPr id="63493" name="Text Box 6"/>
          <p:cNvSpPr txBox="1"/>
          <p:nvPr/>
        </p:nvSpPr>
        <p:spPr>
          <a:xfrm>
            <a:off x="2555875" y="1892300"/>
            <a:ext cx="65881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chemeClr val="accent2"/>
                </a:solidFill>
              </a:rPr>
              <a:t>—— </a:t>
            </a:r>
            <a:r>
              <a:rPr lang="en-US" altLang="zh-CN" sz="2400" b="1">
                <a:solidFill>
                  <a:schemeClr val="hlink"/>
                </a:solidFill>
              </a:rPr>
              <a:t>P</a:t>
            </a:r>
            <a:r>
              <a:rPr lang="zh-CN" altLang="en-US" sz="2400" b="1">
                <a:solidFill>
                  <a:schemeClr val="hlink"/>
                </a:solidFill>
              </a:rPr>
              <a:t>化是激活作用</a:t>
            </a:r>
            <a:r>
              <a:rPr lang="zh-CN" altLang="en-US" sz="2400" b="1">
                <a:solidFill>
                  <a:schemeClr val="accent2"/>
                </a:solidFill>
              </a:rPr>
              <a:t>；</a:t>
            </a:r>
            <a:r>
              <a:rPr lang="en-US" altLang="zh-CN" sz="2400" b="1">
                <a:solidFill>
                  <a:schemeClr val="accent2"/>
                </a:solidFill>
              </a:rPr>
              <a:t>PP1 </a:t>
            </a:r>
            <a:r>
              <a:rPr lang="zh-CN" altLang="en-US" sz="2400" b="1">
                <a:solidFill>
                  <a:schemeClr val="accent2"/>
                </a:solidFill>
              </a:rPr>
              <a:t>去</a:t>
            </a:r>
            <a:r>
              <a:rPr lang="en-US" altLang="zh-CN" sz="2400" b="1">
                <a:solidFill>
                  <a:schemeClr val="accent2"/>
                </a:solidFill>
              </a:rPr>
              <a:t>P</a:t>
            </a:r>
            <a:r>
              <a:rPr lang="zh-CN" altLang="en-US" sz="2400" b="1">
                <a:solidFill>
                  <a:schemeClr val="accent2"/>
                </a:solidFill>
              </a:rPr>
              <a:t>化是抑制作用。</a:t>
            </a:r>
            <a:endParaRPr lang="en-US" altLang="zh-CN" sz="2400" b="1">
              <a:solidFill>
                <a:schemeClr val="accent2"/>
              </a:solidFill>
            </a:endParaRPr>
          </a:p>
        </p:txBody>
      </p:sp>
      <p:sp>
        <p:nvSpPr>
          <p:cNvPr id="63494" name="AutoShape 7"/>
          <p:cNvSpPr/>
          <p:nvPr/>
        </p:nvSpPr>
        <p:spPr>
          <a:xfrm>
            <a:off x="3276600" y="1268413"/>
            <a:ext cx="73025" cy="576262"/>
          </a:xfrm>
          <a:prstGeom prst="leftBrace">
            <a:avLst>
              <a:gd name="adj1" fmla="val 65760"/>
              <a:gd name="adj2" fmla="val 50000"/>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pic>
        <p:nvPicPr>
          <p:cNvPr id="63495" name="Picture 8" descr="tiaokong2"/>
          <p:cNvPicPr>
            <a:picLocks noChangeAspect="1"/>
          </p:cNvPicPr>
          <p:nvPr/>
        </p:nvPicPr>
        <p:blipFill>
          <a:blip r:embed="rId1"/>
          <a:srcRect t="64963" b="1022"/>
          <a:stretch>
            <a:fillRect/>
          </a:stretch>
        </p:blipFill>
        <p:spPr>
          <a:xfrm>
            <a:off x="468313" y="2565400"/>
            <a:ext cx="8243887" cy="1584325"/>
          </a:xfrm>
          <a:prstGeom prst="rect">
            <a:avLst/>
          </a:prstGeom>
          <a:noFill/>
          <a:ln w="9525">
            <a:noFill/>
          </a:ln>
        </p:spPr>
      </p:pic>
      <p:pic>
        <p:nvPicPr>
          <p:cNvPr id="63496" name="Picture 9" descr="tiaokong2"/>
          <p:cNvPicPr>
            <a:picLocks noChangeAspect="1"/>
          </p:cNvPicPr>
          <p:nvPr/>
        </p:nvPicPr>
        <p:blipFill>
          <a:blip r:embed="rId1"/>
          <a:srcRect t="23210" b="39706"/>
          <a:stretch>
            <a:fillRect/>
          </a:stretch>
        </p:blipFill>
        <p:spPr>
          <a:xfrm>
            <a:off x="539750" y="4724400"/>
            <a:ext cx="8243888" cy="1727200"/>
          </a:xfrm>
          <a:prstGeom prst="rect">
            <a:avLst/>
          </a:prstGeom>
          <a:noFill/>
          <a:ln w="9525">
            <a:noFill/>
          </a:ln>
        </p:spPr>
      </p:pic>
      <p:sp>
        <p:nvSpPr>
          <p:cNvPr id="63497"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4513" name="Group 2"/>
          <p:cNvGrpSpPr/>
          <p:nvPr/>
        </p:nvGrpSpPr>
        <p:grpSpPr>
          <a:xfrm>
            <a:off x="1692275" y="3284538"/>
            <a:ext cx="5867400" cy="1143000"/>
            <a:chOff x="1104" y="1584"/>
            <a:chExt cx="3216" cy="720"/>
          </a:xfrm>
        </p:grpSpPr>
        <p:sp>
          <p:nvSpPr>
            <p:cNvPr id="64539" name="Rectangle 3"/>
            <p:cNvSpPr/>
            <p:nvPr/>
          </p:nvSpPr>
          <p:spPr>
            <a:xfrm>
              <a:off x="1968" y="1632"/>
              <a:ext cx="158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a:solidFill>
                    <a:srgbClr val="0066FF"/>
                  </a:solidFill>
                  <a:latin typeface="黑体" pitchFamily="49" charset="-122"/>
                  <a:ea typeface="黑体" pitchFamily="49" charset="-122"/>
                </a:rPr>
                <a:t>A</a:t>
              </a:r>
              <a:r>
                <a:rPr lang="zh-CN" altLang="en-US" sz="2800" b="1">
                  <a:solidFill>
                    <a:srgbClr val="0066FF"/>
                  </a:solidFill>
                  <a:latin typeface="黑体" pitchFamily="49" charset="-122"/>
                  <a:ea typeface="黑体" pitchFamily="49" charset="-122"/>
                </a:rPr>
                <a:t>激酶</a:t>
              </a:r>
              <a:r>
                <a:rPr lang="en-US" altLang="zh-CN" sz="2800" b="1">
                  <a:solidFill>
                    <a:srgbClr val="0066FF"/>
                  </a:solidFill>
                  <a:latin typeface="黑体" pitchFamily="49" charset="-122"/>
                  <a:ea typeface="黑体" pitchFamily="49" charset="-122"/>
                </a:rPr>
                <a:t>(</a:t>
              </a:r>
              <a:r>
                <a:rPr lang="zh-CN" altLang="en-US" sz="2800" b="1">
                  <a:solidFill>
                    <a:srgbClr val="0066FF"/>
                  </a:solidFill>
                  <a:latin typeface="黑体" pitchFamily="49" charset="-122"/>
                  <a:ea typeface="黑体" pitchFamily="49" charset="-122"/>
                </a:rPr>
                <a:t>有活性</a:t>
              </a:r>
              <a:r>
                <a:rPr lang="en-US" altLang="zh-CN" sz="2800" b="1">
                  <a:solidFill>
                    <a:srgbClr val="0066FF"/>
                  </a:solidFill>
                  <a:latin typeface="黑体" pitchFamily="49" charset="-122"/>
                  <a:ea typeface="黑体" pitchFamily="49" charset="-122"/>
                </a:rPr>
                <a:t>)</a:t>
              </a:r>
              <a:endParaRPr lang="en-US" altLang="zh-CN" sz="2800" b="1">
                <a:solidFill>
                  <a:srgbClr val="0066FF"/>
                </a:solidFill>
                <a:latin typeface="黑体" pitchFamily="49" charset="-122"/>
                <a:ea typeface="黑体" pitchFamily="49" charset="-122"/>
              </a:endParaRPr>
            </a:p>
          </p:txBody>
        </p:sp>
        <p:grpSp>
          <p:nvGrpSpPr>
            <p:cNvPr id="64540" name="Group 4"/>
            <p:cNvGrpSpPr/>
            <p:nvPr/>
          </p:nvGrpSpPr>
          <p:grpSpPr>
            <a:xfrm>
              <a:off x="1104" y="1584"/>
              <a:ext cx="3216" cy="720"/>
              <a:chOff x="1104" y="1584"/>
              <a:chExt cx="3216" cy="720"/>
            </a:xfrm>
          </p:grpSpPr>
          <p:sp>
            <p:nvSpPr>
              <p:cNvPr id="64541" name="Freeform 5"/>
              <p:cNvSpPr/>
              <p:nvPr/>
            </p:nvSpPr>
            <p:spPr>
              <a:xfrm>
                <a:off x="1200" y="2008"/>
                <a:ext cx="3120" cy="296"/>
              </a:xfrm>
              <a:custGeom>
                <a:avLst/>
                <a:gdLst>
                  <a:gd name="txL" fmla="*/ 0 w 3120"/>
                  <a:gd name="txT" fmla="*/ 0 h 296"/>
                  <a:gd name="txR" fmla="*/ 3120 w 3120"/>
                  <a:gd name="txB" fmla="*/ 296 h 296"/>
                </a:gdLst>
                <a:ahLst/>
                <a:cxnLst>
                  <a:cxn ang="0">
                    <a:pos x="0" y="248"/>
                  </a:cxn>
                  <a:cxn ang="0">
                    <a:pos x="1536" y="8"/>
                  </a:cxn>
                  <a:cxn ang="0">
                    <a:pos x="3120" y="296"/>
                  </a:cxn>
                </a:cxnLst>
                <a:rect l="txL" t="txT" r="txR" b="txB"/>
                <a:pathLst>
                  <a:path w="3120" h="296">
                    <a:moveTo>
                      <a:pt x="0" y="248"/>
                    </a:moveTo>
                    <a:cubicBezTo>
                      <a:pt x="508" y="124"/>
                      <a:pt x="1016" y="0"/>
                      <a:pt x="1536" y="8"/>
                    </a:cubicBezTo>
                    <a:cubicBezTo>
                      <a:pt x="2056" y="16"/>
                      <a:pt x="2588" y="156"/>
                      <a:pt x="3120" y="296"/>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64542" name="Rectangle 6"/>
              <p:cNvSpPr/>
              <p:nvPr/>
            </p:nvSpPr>
            <p:spPr>
              <a:xfrm>
                <a:off x="1104" y="1584"/>
                <a:ext cx="39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ATP</a:t>
                </a:r>
                <a:endParaRPr lang="en-US" altLang="zh-CN" sz="2800" b="1">
                  <a:latin typeface="黑体" pitchFamily="49" charset="-122"/>
                  <a:ea typeface="黑体" pitchFamily="49" charset="-122"/>
                </a:endParaRPr>
              </a:p>
            </p:txBody>
          </p:sp>
          <p:sp>
            <p:nvSpPr>
              <p:cNvPr id="64543" name="Rectangle 7"/>
              <p:cNvSpPr/>
              <p:nvPr/>
            </p:nvSpPr>
            <p:spPr>
              <a:xfrm>
                <a:off x="3840" y="1584"/>
                <a:ext cx="39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ADP</a:t>
                </a:r>
                <a:endParaRPr lang="en-US" altLang="zh-CN" sz="2800" b="1">
                  <a:solidFill>
                    <a:srgbClr val="0066FF"/>
                  </a:solidFill>
                  <a:latin typeface="黑体" pitchFamily="49" charset="-122"/>
                  <a:ea typeface="黑体" pitchFamily="49" charset="-122"/>
                </a:endParaRPr>
              </a:p>
            </p:txBody>
          </p:sp>
          <p:sp>
            <p:nvSpPr>
              <p:cNvPr id="64544" name="Freeform 8"/>
              <p:cNvSpPr/>
              <p:nvPr/>
            </p:nvSpPr>
            <p:spPr>
              <a:xfrm>
                <a:off x="1344" y="1872"/>
                <a:ext cx="2688" cy="144"/>
              </a:xfrm>
              <a:custGeom>
                <a:avLst/>
                <a:gdLst>
                  <a:gd name="txL" fmla="*/ 0 w 2688"/>
                  <a:gd name="txT" fmla="*/ 0 h 144"/>
                  <a:gd name="txR" fmla="*/ 2688 w 2688"/>
                  <a:gd name="txB" fmla="*/ 144 h 144"/>
                </a:gdLst>
                <a:ahLst/>
                <a:cxnLst>
                  <a:cxn ang="0">
                    <a:pos x="0" y="0"/>
                  </a:cxn>
                  <a:cxn ang="0">
                    <a:pos x="1344" y="144"/>
                  </a:cxn>
                  <a:cxn ang="0">
                    <a:pos x="2688" y="0"/>
                  </a:cxn>
                </a:cxnLst>
                <a:rect l="txL" t="txT" r="txR" b="txB"/>
                <a:pathLst>
                  <a:path w="2688" h="144">
                    <a:moveTo>
                      <a:pt x="0" y="0"/>
                    </a:moveTo>
                    <a:cubicBezTo>
                      <a:pt x="448" y="72"/>
                      <a:pt x="896" y="144"/>
                      <a:pt x="1344" y="144"/>
                    </a:cubicBezTo>
                    <a:cubicBezTo>
                      <a:pt x="1792" y="144"/>
                      <a:pt x="2240" y="72"/>
                      <a:pt x="2688" y="0"/>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grpSp>
      </p:grpSp>
      <p:grpSp>
        <p:nvGrpSpPr>
          <p:cNvPr id="64514" name="Group 9"/>
          <p:cNvGrpSpPr/>
          <p:nvPr/>
        </p:nvGrpSpPr>
        <p:grpSpPr>
          <a:xfrm>
            <a:off x="1916113" y="5351463"/>
            <a:ext cx="5181600" cy="976312"/>
            <a:chOff x="1104" y="3216"/>
            <a:chExt cx="3264" cy="615"/>
          </a:xfrm>
        </p:grpSpPr>
        <p:sp>
          <p:nvSpPr>
            <p:cNvPr id="64534" name="Freeform 10"/>
            <p:cNvSpPr/>
            <p:nvPr/>
          </p:nvSpPr>
          <p:spPr>
            <a:xfrm rot="-74962">
              <a:off x="1152" y="3216"/>
              <a:ext cx="3216" cy="200"/>
            </a:xfrm>
            <a:custGeom>
              <a:avLst/>
              <a:gdLst>
                <a:gd name="txL" fmla="*/ 0 w 3216"/>
                <a:gd name="txT" fmla="*/ 0 h 200"/>
                <a:gd name="txR" fmla="*/ 3216 w 3216"/>
                <a:gd name="txB" fmla="*/ 200 h 200"/>
              </a:gdLst>
              <a:ahLst/>
              <a:cxnLst>
                <a:cxn ang="0">
                  <a:pos x="3216" y="48"/>
                </a:cxn>
                <a:cxn ang="0">
                  <a:pos x="1632" y="192"/>
                </a:cxn>
                <a:cxn ang="0">
                  <a:pos x="0" y="0"/>
                </a:cxn>
              </a:cxnLst>
              <a:rect l="txL" t="txT" r="txR" b="txB"/>
              <a:pathLst>
                <a:path w="3216" h="200">
                  <a:moveTo>
                    <a:pt x="3216" y="48"/>
                  </a:moveTo>
                  <a:cubicBezTo>
                    <a:pt x="2692" y="124"/>
                    <a:pt x="2168" y="200"/>
                    <a:pt x="1632" y="192"/>
                  </a:cubicBezTo>
                  <a:cubicBezTo>
                    <a:pt x="1096" y="184"/>
                    <a:pt x="548" y="92"/>
                    <a:pt x="0" y="0"/>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64535" name="Rectangle 11"/>
            <p:cNvSpPr/>
            <p:nvPr/>
          </p:nvSpPr>
          <p:spPr>
            <a:xfrm>
              <a:off x="3840" y="3456"/>
              <a:ext cx="41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H</a:t>
              </a:r>
              <a:r>
                <a:rPr lang="en-US" altLang="zh-CN" sz="2800" b="1" baseline="-25000">
                  <a:latin typeface="黑体" pitchFamily="49" charset="-122"/>
                  <a:ea typeface="黑体" pitchFamily="49" charset="-122"/>
                </a:rPr>
                <a:t>2</a:t>
              </a:r>
              <a:r>
                <a:rPr lang="en-US" altLang="zh-CN" sz="2800" b="1">
                  <a:latin typeface="黑体" pitchFamily="49" charset="-122"/>
                  <a:ea typeface="黑体" pitchFamily="49" charset="-122"/>
                </a:rPr>
                <a:t>O</a:t>
              </a:r>
              <a:endParaRPr lang="en-US" altLang="zh-CN" sz="2800" b="1">
                <a:solidFill>
                  <a:srgbClr val="0066FF"/>
                </a:solidFill>
                <a:latin typeface="黑体" pitchFamily="49" charset="-122"/>
                <a:ea typeface="黑体" pitchFamily="49" charset="-122"/>
              </a:endParaRPr>
            </a:p>
          </p:txBody>
        </p:sp>
        <p:sp>
          <p:nvSpPr>
            <p:cNvPr id="64536" name="Rectangle 12"/>
            <p:cNvSpPr/>
            <p:nvPr/>
          </p:nvSpPr>
          <p:spPr>
            <a:xfrm>
              <a:off x="1104" y="3504"/>
              <a:ext cx="34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Pi</a:t>
              </a:r>
              <a:endParaRPr lang="en-US" altLang="zh-CN" sz="2800" b="1">
                <a:solidFill>
                  <a:srgbClr val="0066FF"/>
                </a:solidFill>
                <a:latin typeface="黑体" pitchFamily="49" charset="-122"/>
                <a:ea typeface="黑体" pitchFamily="49" charset="-122"/>
              </a:endParaRPr>
            </a:p>
          </p:txBody>
        </p:sp>
        <p:sp>
          <p:nvSpPr>
            <p:cNvPr id="64537" name="Rectangle 13"/>
            <p:cNvSpPr/>
            <p:nvPr/>
          </p:nvSpPr>
          <p:spPr>
            <a:xfrm>
              <a:off x="1922" y="3422"/>
              <a:ext cx="16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800" b="1">
                  <a:solidFill>
                    <a:srgbClr val="0066FF"/>
                  </a:solidFill>
                  <a:latin typeface="Times New Roman" panose="02020603050405020304" charset="0"/>
                  <a:ea typeface="黑体" pitchFamily="49" charset="-122"/>
                </a:rPr>
                <a:t>磷蛋白磷酸酶</a:t>
              </a:r>
              <a:r>
                <a:rPr lang="en-US" altLang="zh-CN" sz="2800" b="1">
                  <a:solidFill>
                    <a:srgbClr val="0066FF"/>
                  </a:solidFill>
                  <a:latin typeface="Times New Roman" panose="02020603050405020304" charset="0"/>
                  <a:ea typeface="黑体" pitchFamily="49" charset="-122"/>
                </a:rPr>
                <a:t>-1</a:t>
              </a:r>
              <a:endParaRPr lang="en-US" altLang="zh-CN" sz="2800" b="1">
                <a:solidFill>
                  <a:srgbClr val="0066FF"/>
                </a:solidFill>
                <a:latin typeface="Times New Roman" panose="02020603050405020304" charset="0"/>
                <a:ea typeface="黑体" pitchFamily="49" charset="-122"/>
              </a:endParaRPr>
            </a:p>
          </p:txBody>
        </p:sp>
        <p:sp>
          <p:nvSpPr>
            <p:cNvPr id="64538" name="Freeform 14"/>
            <p:cNvSpPr/>
            <p:nvPr/>
          </p:nvSpPr>
          <p:spPr>
            <a:xfrm>
              <a:off x="1392" y="3384"/>
              <a:ext cx="2688" cy="264"/>
            </a:xfrm>
            <a:custGeom>
              <a:avLst/>
              <a:gdLst>
                <a:gd name="txL" fmla="*/ 0 w 2688"/>
                <a:gd name="txT" fmla="*/ 0 h 264"/>
                <a:gd name="txR" fmla="*/ 2688 w 2688"/>
                <a:gd name="txB" fmla="*/ 264 h 264"/>
              </a:gdLst>
              <a:ahLst/>
              <a:cxnLst>
                <a:cxn ang="0">
                  <a:pos x="2688" y="120"/>
                </a:cxn>
                <a:cxn ang="0">
                  <a:pos x="1344" y="24"/>
                </a:cxn>
                <a:cxn ang="0">
                  <a:pos x="0" y="264"/>
                </a:cxn>
              </a:cxnLst>
              <a:rect l="txL" t="txT" r="txR" b="txB"/>
              <a:pathLst>
                <a:path w="2688" h="264">
                  <a:moveTo>
                    <a:pt x="2688" y="120"/>
                  </a:moveTo>
                  <a:cubicBezTo>
                    <a:pt x="2240" y="60"/>
                    <a:pt x="1792" y="0"/>
                    <a:pt x="1344" y="24"/>
                  </a:cubicBezTo>
                  <a:cubicBezTo>
                    <a:pt x="896" y="48"/>
                    <a:pt x="448" y="156"/>
                    <a:pt x="0" y="264"/>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grpSp>
      <p:grpSp>
        <p:nvGrpSpPr>
          <p:cNvPr id="64515" name="Group 15"/>
          <p:cNvGrpSpPr/>
          <p:nvPr/>
        </p:nvGrpSpPr>
        <p:grpSpPr>
          <a:xfrm>
            <a:off x="1258888" y="4549775"/>
            <a:ext cx="7058025" cy="774700"/>
            <a:chOff x="668" y="2317"/>
            <a:chExt cx="4372" cy="488"/>
          </a:xfrm>
        </p:grpSpPr>
        <p:sp>
          <p:nvSpPr>
            <p:cNvPr id="64530" name="Rectangle 16"/>
            <p:cNvSpPr/>
            <p:nvPr/>
          </p:nvSpPr>
          <p:spPr>
            <a:xfrm>
              <a:off x="668" y="2317"/>
              <a:ext cx="1220" cy="4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80000"/>
                </a:lnSpc>
                <a:spcBef>
                  <a:spcPct val="0"/>
                </a:spcBef>
                <a:buNone/>
              </a:pPr>
              <a:r>
                <a:rPr lang="zh-CN" altLang="en-US" sz="2800" b="1">
                  <a:latin typeface="楷体_GB2312" pitchFamily="49" charset="-122"/>
                  <a:ea typeface="楷体_GB2312" pitchFamily="49" charset="-122"/>
                </a:rPr>
                <a:t>糖原合酶</a:t>
              </a:r>
              <a:r>
                <a:rPr lang="en-US" altLang="zh-CN" sz="2800" b="1" i="1">
                  <a:latin typeface="楷体_GB2312" pitchFamily="49" charset="-122"/>
                  <a:ea typeface="楷体_GB2312" pitchFamily="49" charset="-122"/>
                </a:rPr>
                <a:t>a</a:t>
              </a:r>
              <a:endParaRPr lang="en-US" altLang="zh-CN" sz="2800" b="1">
                <a:solidFill>
                  <a:srgbClr val="0066FF"/>
                </a:solidFill>
                <a:latin typeface="楷体_GB2312" pitchFamily="49" charset="-122"/>
                <a:ea typeface="楷体_GB2312" pitchFamily="49" charset="-122"/>
              </a:endParaRPr>
            </a:p>
            <a:p>
              <a:pPr marL="0" lvl="0" indent="0" algn="ctr" eaLnBrk="1" hangingPunct="1">
                <a:lnSpc>
                  <a:spcPct val="80000"/>
                </a:lnSpc>
                <a:spcBef>
                  <a:spcPct val="0"/>
                </a:spcBef>
                <a:buNone/>
              </a:pPr>
              <a:r>
                <a:rPr lang="zh-CN" altLang="en-US" sz="2800" b="1">
                  <a:solidFill>
                    <a:srgbClr val="FF3300"/>
                  </a:solidFill>
                  <a:latin typeface="楷体_GB2312" pitchFamily="49" charset="-122"/>
                  <a:ea typeface="楷体_GB2312" pitchFamily="49" charset="-122"/>
                </a:rPr>
                <a:t>（有活性</a:t>
              </a:r>
              <a:r>
                <a:rPr lang="en-US" altLang="en-US" sz="2800" b="1">
                  <a:solidFill>
                    <a:srgbClr val="FF3300"/>
                  </a:solidFill>
                  <a:latin typeface="楷体_GB2312" pitchFamily="49" charset="-122"/>
                  <a:ea typeface="楷体_GB2312" pitchFamily="49" charset="-122"/>
                </a:rPr>
                <a:t>）</a:t>
              </a:r>
              <a:endParaRPr lang="zh-CN" altLang="en-US" sz="2800" b="1">
                <a:solidFill>
                  <a:srgbClr val="FF3300"/>
                </a:solidFill>
                <a:latin typeface="楷体_GB2312" pitchFamily="49" charset="-122"/>
                <a:ea typeface="楷体_GB2312" pitchFamily="49" charset="-122"/>
              </a:endParaRPr>
            </a:p>
          </p:txBody>
        </p:sp>
        <p:grpSp>
          <p:nvGrpSpPr>
            <p:cNvPr id="64531" name="Group 17"/>
            <p:cNvGrpSpPr/>
            <p:nvPr/>
          </p:nvGrpSpPr>
          <p:grpSpPr>
            <a:xfrm>
              <a:off x="3635" y="2317"/>
              <a:ext cx="1405" cy="488"/>
              <a:chOff x="3635" y="2317"/>
              <a:chExt cx="1405" cy="488"/>
            </a:xfrm>
          </p:grpSpPr>
          <p:sp>
            <p:nvSpPr>
              <p:cNvPr id="64532" name="Rectangle 18"/>
              <p:cNvSpPr/>
              <p:nvPr/>
            </p:nvSpPr>
            <p:spPr>
              <a:xfrm>
                <a:off x="3635" y="2317"/>
                <a:ext cx="1242" cy="4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80000"/>
                  </a:lnSpc>
                  <a:spcBef>
                    <a:spcPct val="0"/>
                  </a:spcBef>
                  <a:buNone/>
                </a:pPr>
                <a:r>
                  <a:rPr lang="zh-CN" altLang="en-US" sz="2800" b="1">
                    <a:latin typeface="楷体_GB2312" pitchFamily="49" charset="-122"/>
                    <a:ea typeface="楷体_GB2312" pitchFamily="49" charset="-122"/>
                  </a:rPr>
                  <a:t>糖原合酶</a:t>
                </a:r>
                <a:r>
                  <a:rPr lang="en-US" altLang="zh-CN" sz="2800" b="1" i="1">
                    <a:latin typeface="楷体_GB2312" pitchFamily="49" charset="-122"/>
                    <a:ea typeface="楷体_GB2312" pitchFamily="49" charset="-122"/>
                  </a:rPr>
                  <a:t>b-</a:t>
                </a:r>
                <a:endParaRPr lang="en-US" altLang="zh-CN" sz="2800" b="1">
                  <a:solidFill>
                    <a:srgbClr val="0066FF"/>
                  </a:solidFill>
                  <a:latin typeface="楷体_GB2312" pitchFamily="49" charset="-122"/>
                  <a:ea typeface="楷体_GB2312" pitchFamily="49" charset="-122"/>
                </a:endParaRPr>
              </a:p>
              <a:p>
                <a:pPr marL="0" lvl="0" indent="0" algn="ctr" eaLnBrk="1" hangingPunct="1">
                  <a:lnSpc>
                    <a:spcPct val="80000"/>
                  </a:lnSpc>
                  <a:spcBef>
                    <a:spcPct val="0"/>
                  </a:spcBef>
                  <a:buNone/>
                </a:pPr>
                <a:r>
                  <a:rPr lang="zh-CN" altLang="en-US" sz="2800" b="1">
                    <a:solidFill>
                      <a:srgbClr val="FF3300"/>
                    </a:solidFill>
                    <a:latin typeface="楷体_GB2312" pitchFamily="49" charset="-122"/>
                    <a:ea typeface="楷体_GB2312" pitchFamily="49" charset="-122"/>
                  </a:rPr>
                  <a:t>（无活性</a:t>
                </a:r>
                <a:r>
                  <a:rPr lang="en-US" altLang="en-US" sz="2800" b="1">
                    <a:solidFill>
                      <a:srgbClr val="FF3300"/>
                    </a:solidFill>
                    <a:latin typeface="楷体_GB2312" pitchFamily="49" charset="-122"/>
                    <a:ea typeface="楷体_GB2312" pitchFamily="49" charset="-122"/>
                  </a:rPr>
                  <a:t>）</a:t>
                </a:r>
                <a:endParaRPr lang="zh-CN" altLang="en-US" sz="2800" b="1">
                  <a:solidFill>
                    <a:srgbClr val="FF3300"/>
                  </a:solidFill>
                  <a:latin typeface="楷体_GB2312" pitchFamily="49" charset="-122"/>
                  <a:ea typeface="楷体_GB2312" pitchFamily="49" charset="-122"/>
                </a:endParaRPr>
              </a:p>
            </p:txBody>
          </p:sp>
          <p:sp>
            <p:nvSpPr>
              <p:cNvPr id="64533" name="Oval 19"/>
              <p:cNvSpPr/>
              <p:nvPr/>
            </p:nvSpPr>
            <p:spPr>
              <a:xfrm>
                <a:off x="4848" y="2400"/>
                <a:ext cx="192" cy="192"/>
              </a:xfrm>
              <a:prstGeom prst="ellipse">
                <a:avLst/>
              </a:prstGeom>
              <a:solidFill>
                <a:srgbClr val="FF99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黑体" pitchFamily="49" charset="-122"/>
                    <a:ea typeface="黑体" pitchFamily="49" charset="-122"/>
                  </a:rPr>
                  <a:t>P</a:t>
                </a:r>
                <a:endParaRPr lang="en-US" altLang="zh-CN" sz="2400" b="1">
                  <a:latin typeface="Times New Roman" panose="02020603050405020304" charset="0"/>
                  <a:ea typeface="黑体" pitchFamily="49" charset="-122"/>
                </a:endParaRPr>
              </a:p>
            </p:txBody>
          </p:sp>
        </p:grpSp>
      </p:grpSp>
      <p:grpSp>
        <p:nvGrpSpPr>
          <p:cNvPr id="64516" name="Group 20"/>
          <p:cNvGrpSpPr/>
          <p:nvPr/>
        </p:nvGrpSpPr>
        <p:grpSpPr>
          <a:xfrm>
            <a:off x="3059113" y="2060575"/>
            <a:ext cx="2971800" cy="1447800"/>
            <a:chOff x="1920" y="768"/>
            <a:chExt cx="1584" cy="912"/>
          </a:xfrm>
        </p:grpSpPr>
        <p:sp>
          <p:nvSpPr>
            <p:cNvPr id="64528" name="Rectangle 21"/>
            <p:cNvSpPr/>
            <p:nvPr/>
          </p:nvSpPr>
          <p:spPr>
            <a:xfrm>
              <a:off x="1920" y="768"/>
              <a:ext cx="158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a:solidFill>
                    <a:srgbClr val="0066FF"/>
                  </a:solidFill>
                  <a:latin typeface="黑体" pitchFamily="49" charset="-122"/>
                  <a:ea typeface="黑体" pitchFamily="49" charset="-122"/>
                </a:rPr>
                <a:t>A</a:t>
              </a:r>
              <a:r>
                <a:rPr lang="zh-CN" altLang="en-US" sz="2800" b="1">
                  <a:solidFill>
                    <a:srgbClr val="0066FF"/>
                  </a:solidFill>
                  <a:latin typeface="黑体" pitchFamily="49" charset="-122"/>
                  <a:ea typeface="黑体" pitchFamily="49" charset="-122"/>
                </a:rPr>
                <a:t>激酶</a:t>
              </a:r>
              <a:r>
                <a:rPr lang="en-US" altLang="zh-CN" sz="2800" b="1">
                  <a:solidFill>
                    <a:srgbClr val="0066FF"/>
                  </a:solidFill>
                  <a:latin typeface="黑体" pitchFamily="49" charset="-122"/>
                  <a:ea typeface="黑体" pitchFamily="49" charset="-122"/>
                </a:rPr>
                <a:t>(</a:t>
              </a:r>
              <a:r>
                <a:rPr lang="zh-CN" altLang="en-US" sz="2800" b="1">
                  <a:solidFill>
                    <a:srgbClr val="0066FF"/>
                  </a:solidFill>
                  <a:latin typeface="黑体" pitchFamily="49" charset="-122"/>
                  <a:ea typeface="黑体" pitchFamily="49" charset="-122"/>
                </a:rPr>
                <a:t>无活性</a:t>
              </a:r>
              <a:r>
                <a:rPr lang="en-US" altLang="zh-CN" sz="2800" b="1">
                  <a:solidFill>
                    <a:srgbClr val="0066FF"/>
                  </a:solidFill>
                  <a:latin typeface="黑体" pitchFamily="49" charset="-122"/>
                  <a:ea typeface="黑体" pitchFamily="49" charset="-122"/>
                </a:rPr>
                <a:t>)</a:t>
              </a:r>
              <a:endParaRPr lang="en-US" altLang="zh-CN" sz="2800" b="1">
                <a:solidFill>
                  <a:srgbClr val="0066FF"/>
                </a:solidFill>
                <a:latin typeface="黑体" pitchFamily="49" charset="-122"/>
                <a:ea typeface="黑体" pitchFamily="49" charset="-122"/>
              </a:endParaRPr>
            </a:p>
          </p:txBody>
        </p:sp>
        <p:sp>
          <p:nvSpPr>
            <p:cNvPr id="64529" name="Line 22"/>
            <p:cNvSpPr/>
            <p:nvPr/>
          </p:nvSpPr>
          <p:spPr>
            <a:xfrm>
              <a:off x="2640" y="1056"/>
              <a:ext cx="0" cy="624"/>
            </a:xfrm>
            <a:prstGeom prst="line">
              <a:avLst/>
            </a:prstGeom>
            <a:ln w="38100" cap="flat" cmpd="sng">
              <a:solidFill>
                <a:schemeClr val="tx1"/>
              </a:solidFill>
              <a:prstDash val="solid"/>
              <a:headEnd type="none" w="med" len="med"/>
              <a:tailEnd type="triangle" w="med" len="med"/>
            </a:ln>
          </p:spPr>
        </p:sp>
      </p:grpSp>
      <p:grpSp>
        <p:nvGrpSpPr>
          <p:cNvPr id="64517" name="Group 23"/>
          <p:cNvGrpSpPr/>
          <p:nvPr/>
        </p:nvGrpSpPr>
        <p:grpSpPr>
          <a:xfrm>
            <a:off x="4430713" y="2670175"/>
            <a:ext cx="3741737" cy="595313"/>
            <a:chOff x="2688" y="1152"/>
            <a:chExt cx="2296" cy="375"/>
          </a:xfrm>
        </p:grpSpPr>
        <p:sp>
          <p:nvSpPr>
            <p:cNvPr id="64525" name="Line 24"/>
            <p:cNvSpPr/>
            <p:nvPr/>
          </p:nvSpPr>
          <p:spPr>
            <a:xfrm>
              <a:off x="2688" y="1344"/>
              <a:ext cx="1680" cy="0"/>
            </a:xfrm>
            <a:prstGeom prst="line">
              <a:avLst/>
            </a:prstGeom>
            <a:ln w="38100" cap="flat" cmpd="sng">
              <a:solidFill>
                <a:schemeClr val="tx1"/>
              </a:solidFill>
              <a:prstDash val="solid"/>
              <a:headEnd type="triangle" w="med" len="med"/>
              <a:tailEnd type="none" w="med" len="med"/>
            </a:ln>
          </p:spPr>
        </p:sp>
        <p:sp>
          <p:nvSpPr>
            <p:cNvPr id="64526" name="Rectangle 25"/>
            <p:cNvSpPr/>
            <p:nvPr/>
          </p:nvSpPr>
          <p:spPr>
            <a:xfrm>
              <a:off x="4416" y="1200"/>
              <a:ext cx="568" cy="327"/>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cAMP</a:t>
              </a:r>
              <a:endParaRPr lang="en-US" altLang="zh-CN" sz="2800" b="1">
                <a:latin typeface="黑体" pitchFamily="49" charset="-122"/>
                <a:ea typeface="黑体" pitchFamily="49" charset="-122"/>
              </a:endParaRPr>
            </a:p>
          </p:txBody>
        </p:sp>
        <p:sp>
          <p:nvSpPr>
            <p:cNvPr id="64527" name="Oval 26"/>
            <p:cNvSpPr/>
            <p:nvPr/>
          </p:nvSpPr>
          <p:spPr>
            <a:xfrm>
              <a:off x="2832" y="1152"/>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solidFill>
                    <a:schemeClr val="hlink"/>
                  </a:solidFill>
                  <a:latin typeface="Times New Roman" panose="02020603050405020304" charset="0"/>
                  <a:ea typeface="黑体" pitchFamily="49" charset="-122"/>
                </a:rPr>
                <a:t>+</a:t>
              </a:r>
              <a:endParaRPr lang="en-US" altLang="zh-CN" sz="2400" b="1">
                <a:solidFill>
                  <a:schemeClr val="hlink"/>
                </a:solidFill>
                <a:latin typeface="Times New Roman" panose="02020603050405020304" charset="0"/>
                <a:ea typeface="黑体" pitchFamily="49" charset="-122"/>
              </a:endParaRPr>
            </a:p>
          </p:txBody>
        </p:sp>
      </p:grpSp>
      <p:sp>
        <p:nvSpPr>
          <p:cNvPr id="64518" name="Text Box 27"/>
          <p:cNvSpPr txBox="1"/>
          <p:nvPr/>
        </p:nvSpPr>
        <p:spPr>
          <a:xfrm>
            <a:off x="1547813" y="333375"/>
            <a:ext cx="590391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800" b="1">
                <a:latin typeface="Tahoma" pitchFamily="34" charset="0"/>
                <a:ea typeface="黑体" pitchFamily="49" charset="-122"/>
              </a:rPr>
              <a:t>4.2 </a:t>
            </a:r>
            <a:r>
              <a:rPr lang="zh-CN" altLang="en-US" sz="2800" b="1">
                <a:latin typeface="Tahoma" pitchFamily="34" charset="0"/>
                <a:ea typeface="黑体" pitchFamily="49" charset="-122"/>
              </a:rPr>
              <a:t>糖原合酶的调节</a:t>
            </a:r>
            <a:endParaRPr lang="zh-CN" altLang="en-US" sz="2800" b="1">
              <a:latin typeface="Tahoma" pitchFamily="34" charset="0"/>
              <a:ea typeface="黑体" pitchFamily="49" charset="-122"/>
            </a:endParaRPr>
          </a:p>
        </p:txBody>
      </p:sp>
      <p:sp>
        <p:nvSpPr>
          <p:cNvPr id="64519" name="Text Box 28"/>
          <p:cNvSpPr txBox="1"/>
          <p:nvPr/>
        </p:nvSpPr>
        <p:spPr>
          <a:xfrm>
            <a:off x="1547813" y="1455738"/>
            <a:ext cx="6480175"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solidFill>
                  <a:schemeClr val="accent2"/>
                </a:solidFill>
                <a:ea typeface="黑体" pitchFamily="49" charset="-122"/>
              </a:rPr>
              <a:t>共价修饰</a:t>
            </a:r>
            <a:r>
              <a:rPr lang="en-US" altLang="zh-CN" sz="2800" b="1">
                <a:solidFill>
                  <a:schemeClr val="accent2"/>
                </a:solidFill>
                <a:ea typeface="楷体_GB2312" pitchFamily="49" charset="-122"/>
              </a:rPr>
              <a:t>——</a:t>
            </a:r>
            <a:r>
              <a:rPr lang="zh-CN" altLang="en-US" sz="2800" b="1">
                <a:solidFill>
                  <a:srgbClr val="A50021"/>
                </a:solidFill>
                <a:ea typeface="楷体_GB2312" pitchFamily="49" charset="-122"/>
              </a:rPr>
              <a:t>磷酸化是抑制作用</a:t>
            </a:r>
            <a:endParaRPr lang="zh-CN" altLang="en-US" sz="2800" b="1">
              <a:solidFill>
                <a:srgbClr val="A50021"/>
              </a:solidFill>
              <a:ea typeface="楷体_GB2312" pitchFamily="49" charset="-122"/>
            </a:endParaRPr>
          </a:p>
        </p:txBody>
      </p:sp>
      <p:sp>
        <p:nvSpPr>
          <p:cNvPr id="64520" name="Rectangle 29"/>
          <p:cNvSpPr/>
          <p:nvPr/>
        </p:nvSpPr>
        <p:spPr>
          <a:xfrm>
            <a:off x="1549400" y="969963"/>
            <a:ext cx="5897563" cy="5191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Clr>
                <a:schemeClr val="accent1"/>
              </a:buClr>
              <a:buFont typeface="Webdings" pitchFamily="18" charset="2"/>
              <a:buNone/>
            </a:pPr>
            <a:r>
              <a:rPr lang="zh-CN" altLang="en-US" sz="2800" b="1">
                <a:solidFill>
                  <a:schemeClr val="accent2"/>
                </a:solidFill>
                <a:latin typeface="黑体" pitchFamily="49" charset="-122"/>
                <a:ea typeface="黑体" pitchFamily="49" charset="-122"/>
              </a:rPr>
              <a:t>变构调节</a:t>
            </a:r>
            <a:r>
              <a:rPr lang="en-US" altLang="zh-CN" sz="2800" b="1">
                <a:solidFill>
                  <a:schemeClr val="accent2"/>
                </a:solidFill>
                <a:ea typeface="楷体_GB2312" pitchFamily="49" charset="-122"/>
              </a:rPr>
              <a:t>——</a:t>
            </a:r>
            <a:r>
              <a:rPr lang="en-US" altLang="zh-CN" sz="2800" b="1">
                <a:solidFill>
                  <a:schemeClr val="hlink"/>
                </a:solidFill>
                <a:latin typeface="楷体_GB2312" pitchFamily="49" charset="-122"/>
                <a:ea typeface="楷体_GB2312" pitchFamily="49" charset="-122"/>
              </a:rPr>
              <a:t>6-</a:t>
            </a:r>
            <a:r>
              <a:rPr lang="zh-CN" altLang="en-US" sz="2800" b="1">
                <a:solidFill>
                  <a:schemeClr val="hlink"/>
                </a:solidFill>
                <a:latin typeface="楷体_GB2312" pitchFamily="49" charset="-122"/>
                <a:ea typeface="楷体_GB2312" pitchFamily="49" charset="-122"/>
              </a:rPr>
              <a:t>磷酸葡萄糖是激活剂</a:t>
            </a:r>
            <a:endParaRPr lang="zh-CN" altLang="en-US" sz="2800" b="1">
              <a:solidFill>
                <a:schemeClr val="hlink"/>
              </a:solidFill>
              <a:latin typeface="楷体_GB2312" pitchFamily="49" charset="-122"/>
              <a:ea typeface="楷体_GB2312" pitchFamily="49" charset="-122"/>
            </a:endParaRPr>
          </a:p>
        </p:txBody>
      </p:sp>
      <p:sp>
        <p:nvSpPr>
          <p:cNvPr id="64521" name="Rectangle 30"/>
          <p:cNvSpPr/>
          <p:nvPr/>
        </p:nvSpPr>
        <p:spPr>
          <a:xfrm>
            <a:off x="3779838" y="4581525"/>
            <a:ext cx="1439862" cy="503238"/>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1800" b="1"/>
              <a:t>葡萄糖</a:t>
            </a:r>
            <a:r>
              <a:rPr lang="en-US" altLang="zh-CN" sz="1800" b="1"/>
              <a:t>-6-P</a:t>
            </a:r>
            <a:endParaRPr lang="en-US" altLang="zh-CN" sz="1800" b="1"/>
          </a:p>
        </p:txBody>
      </p:sp>
      <p:sp>
        <p:nvSpPr>
          <p:cNvPr id="64522" name="Line 31"/>
          <p:cNvSpPr/>
          <p:nvPr/>
        </p:nvSpPr>
        <p:spPr>
          <a:xfrm flipH="1">
            <a:off x="3203575" y="4868863"/>
            <a:ext cx="576263" cy="0"/>
          </a:xfrm>
          <a:prstGeom prst="line">
            <a:avLst/>
          </a:prstGeom>
          <a:ln w="38100" cap="flat" cmpd="sng">
            <a:solidFill>
              <a:schemeClr val="tx1"/>
            </a:solidFill>
            <a:prstDash val="solid"/>
            <a:miter/>
            <a:headEnd type="none" w="sm" len="sm"/>
            <a:tailEnd type="triangle" w="sm" len="sm"/>
          </a:ln>
        </p:spPr>
      </p:sp>
      <p:sp>
        <p:nvSpPr>
          <p:cNvPr id="64523" name="Oval 32"/>
          <p:cNvSpPr/>
          <p:nvPr/>
        </p:nvSpPr>
        <p:spPr>
          <a:xfrm>
            <a:off x="3421063" y="4624388"/>
            <a:ext cx="215900" cy="215900"/>
          </a:xfrm>
          <a:prstGeom prst="ellipse">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a:t>+</a:t>
            </a:r>
            <a:endParaRPr lang="en-US" altLang="zh-CN" sz="1800" b="1"/>
          </a:p>
        </p:txBody>
      </p:sp>
      <p:sp>
        <p:nvSpPr>
          <p:cNvPr id="64524"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p:nvPr/>
        </p:nvSpPr>
        <p:spPr>
          <a:xfrm>
            <a:off x="827088" y="1773238"/>
            <a:ext cx="7848600" cy="3067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Clr>
                <a:schemeClr val="accent1"/>
              </a:buClr>
              <a:buFont typeface="Webdings" pitchFamily="18" charset="2"/>
              <a:buNone/>
            </a:pPr>
            <a:r>
              <a:rPr lang="zh-CN" altLang="en-US" sz="4400" b="1" i="1">
                <a:solidFill>
                  <a:srgbClr val="0066FF"/>
                </a:solidFill>
                <a:latin typeface="黑体" pitchFamily="49" charset="-122"/>
                <a:ea typeface="黑体" pitchFamily="49" charset="-122"/>
              </a:rPr>
              <a:t>结论：</a:t>
            </a:r>
            <a:endParaRPr lang="zh-CN" altLang="en-US" sz="4400" b="1" i="1">
              <a:solidFill>
                <a:srgbClr val="0066FF"/>
              </a:solidFill>
              <a:latin typeface="黑体" pitchFamily="49" charset="-122"/>
              <a:ea typeface="黑体" pitchFamily="49" charset="-122"/>
            </a:endParaRPr>
          </a:p>
          <a:p>
            <a:pPr marL="0" lvl="0" indent="0" eaLnBrk="1" hangingPunct="1">
              <a:lnSpc>
                <a:spcPct val="140000"/>
              </a:lnSpc>
              <a:spcBef>
                <a:spcPct val="0"/>
              </a:spcBef>
              <a:buClr>
                <a:schemeClr val="accent1"/>
              </a:buClr>
              <a:buFont typeface="Webdings" pitchFamily="18" charset="2"/>
              <a:buNone/>
            </a:pPr>
            <a:r>
              <a:rPr lang="zh-CN" altLang="en-US" sz="3600" b="1">
                <a:solidFill>
                  <a:schemeClr val="tx2"/>
                </a:solidFill>
                <a:latin typeface="黑体" pitchFamily="49" charset="-122"/>
                <a:ea typeface="黑体" pitchFamily="49" charset="-122"/>
              </a:rPr>
              <a:t>    当葡萄糖充足时，体内糖原合成加强，糖原分解减弱；反之，糖原分解加强，糖原合成减弱。</a:t>
            </a:r>
            <a:endParaRPr lang="zh-CN" altLang="en-US" sz="3600" b="1">
              <a:solidFill>
                <a:schemeClr val="tx2"/>
              </a:solidFill>
              <a:latin typeface="黑体" pitchFamily="49" charset="-122"/>
              <a:ea typeface="黑体" pitchFamily="49" charset="-122"/>
            </a:endParaRPr>
          </a:p>
        </p:txBody>
      </p:sp>
      <p:sp>
        <p:nvSpPr>
          <p:cNvPr id="66562" name="Rectangle 3"/>
          <p:cNvSpPr/>
          <p:nvPr/>
        </p:nvSpPr>
        <p:spPr>
          <a:xfrm>
            <a:off x="1619250" y="5229225"/>
            <a:ext cx="584835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http://www.wiley.com/college/fob/quiz/quiz15/15-20.html</a:t>
            </a:r>
            <a:endParaRPr lang="zh-CN" altLang="en-US" sz="1800" b="1"/>
          </a:p>
        </p:txBody>
      </p:sp>
      <p:sp>
        <p:nvSpPr>
          <p:cNvPr id="66563"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p:nvPr/>
        </p:nvSpPr>
        <p:spPr>
          <a:xfrm>
            <a:off x="1979613" y="404813"/>
            <a:ext cx="5340350" cy="519112"/>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宋体" pitchFamily="2" charset="-122"/>
              </a:rPr>
              <a:t>4.3 </a:t>
            </a:r>
            <a:r>
              <a:rPr lang="zh-CN" altLang="en-US" sz="2800" b="1">
                <a:latin typeface="黑体" pitchFamily="49" charset="-122"/>
                <a:ea typeface="黑体" pitchFamily="49" charset="-122"/>
              </a:rPr>
              <a:t>膜表面受体介导的信号转导 </a:t>
            </a:r>
            <a:endParaRPr lang="zh-CN" altLang="en-US" sz="2800" b="1">
              <a:latin typeface="黑体" pitchFamily="49" charset="-122"/>
              <a:ea typeface="黑体" pitchFamily="49" charset="-122"/>
            </a:endParaRPr>
          </a:p>
        </p:txBody>
      </p:sp>
      <p:sp>
        <p:nvSpPr>
          <p:cNvPr id="68610" name="Rectangle 3"/>
          <p:cNvSpPr/>
          <p:nvPr/>
        </p:nvSpPr>
        <p:spPr>
          <a:xfrm>
            <a:off x="827088" y="1120775"/>
            <a:ext cx="7632700" cy="521652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r>
              <a:rPr lang="zh-CN" altLang="en-US" sz="2800" b="1">
                <a:latin typeface="楷体_GB2312" pitchFamily="49" charset="-122"/>
                <a:ea typeface="楷体_GB2312" pitchFamily="49" charset="-122"/>
              </a:rPr>
              <a:t>亲水性化学信号分子（包括神经递质、蛋白激素、生长因子等）不能直接进入细胞，只能通过膜表面的特异受体传递信号，使靶细胞产生效应。</a:t>
            </a:r>
            <a:endParaRPr lang="zh-CN" altLang="en-US" sz="2800" b="1">
              <a:latin typeface="楷体_GB2312" pitchFamily="49" charset="-122"/>
              <a:ea typeface="楷体_GB2312" pitchFamily="49" charset="-122"/>
            </a:endParaRPr>
          </a:p>
          <a:p>
            <a:pPr marL="0" lvl="0" indent="266700" eaLnBrk="1" hangingPunct="1">
              <a:spcBef>
                <a:spcPct val="0"/>
              </a:spcBef>
              <a:buNone/>
            </a:pPr>
            <a:endParaRPr lang="zh-CN" altLang="en-US" sz="2800" b="1">
              <a:latin typeface="楷体_GB2312" pitchFamily="49" charset="-122"/>
              <a:ea typeface="楷体_GB2312" pitchFamily="49" charset="-122"/>
            </a:endParaRPr>
          </a:p>
          <a:p>
            <a:pPr marL="0" lvl="0" indent="266700" eaLnBrk="1" hangingPunct="1">
              <a:spcBef>
                <a:spcPct val="0"/>
              </a:spcBef>
              <a:buNone/>
            </a:pPr>
            <a:r>
              <a:rPr lang="zh-CN" altLang="en-US" sz="2800" b="1">
                <a:latin typeface="楷体_GB2312" pitchFamily="49" charset="-122"/>
                <a:ea typeface="楷体_GB2312" pitchFamily="49" charset="-122"/>
              </a:rPr>
              <a:t>膜表面受体主要有三类：①离子通道型受体，</a:t>
            </a:r>
            <a:r>
              <a:rPr lang="zh-CN" altLang="en-US" sz="2800" b="1">
                <a:solidFill>
                  <a:srgbClr val="A50021"/>
                </a:solidFill>
                <a:latin typeface="楷体_GB2312" pitchFamily="49" charset="-122"/>
                <a:ea typeface="楷体_GB2312" pitchFamily="49" charset="-122"/>
              </a:rPr>
              <a:t>②</a:t>
            </a:r>
            <a:r>
              <a:rPr lang="en-US" altLang="zh-CN" sz="2800" b="1">
                <a:solidFill>
                  <a:srgbClr val="A50021"/>
                </a:solidFill>
                <a:latin typeface="楷体_GB2312" pitchFamily="49" charset="-122"/>
                <a:ea typeface="宋体" pitchFamily="2" charset="-122"/>
              </a:rPr>
              <a:t>G</a:t>
            </a:r>
            <a:r>
              <a:rPr lang="zh-CN" altLang="en-US" sz="2800" b="1">
                <a:solidFill>
                  <a:srgbClr val="A50021"/>
                </a:solidFill>
                <a:latin typeface="楷体_GB2312" pitchFamily="49" charset="-122"/>
                <a:ea typeface="楷体_GB2312" pitchFamily="49" charset="-122"/>
              </a:rPr>
              <a:t>蛋白耦联型受体</a:t>
            </a:r>
            <a:r>
              <a:rPr lang="zh-CN" altLang="en-US" sz="2800" b="1">
                <a:latin typeface="楷体_GB2312" pitchFamily="49" charset="-122"/>
                <a:ea typeface="楷体_GB2312" pitchFamily="49" charset="-122"/>
              </a:rPr>
              <a:t>，③酶耦联的受体。后两类存在于大多数细胞。</a:t>
            </a:r>
            <a:endParaRPr lang="zh-CN" altLang="en-US" sz="2800" b="1">
              <a:latin typeface="楷体_GB2312" pitchFamily="49" charset="-122"/>
              <a:ea typeface="楷体_GB2312" pitchFamily="49" charset="-122"/>
            </a:endParaRPr>
          </a:p>
          <a:p>
            <a:pPr marL="0" lvl="0" indent="266700" eaLnBrk="1" hangingPunct="1">
              <a:spcBef>
                <a:spcPct val="0"/>
              </a:spcBef>
              <a:buNone/>
            </a:pPr>
            <a:endParaRPr lang="zh-CN" altLang="en-US" sz="2800" b="1">
              <a:latin typeface="楷体_GB2312" pitchFamily="49" charset="-122"/>
              <a:ea typeface="楷体_GB2312" pitchFamily="49" charset="-122"/>
            </a:endParaRPr>
          </a:p>
          <a:p>
            <a:pPr marL="0" lvl="0" indent="266700" eaLnBrk="1" hangingPunct="1">
              <a:spcBef>
                <a:spcPct val="0"/>
              </a:spcBef>
              <a:buNone/>
            </a:pPr>
            <a:r>
              <a:rPr lang="zh-CN" altLang="en-US" sz="2800" b="1">
                <a:latin typeface="楷体_GB2312" pitchFamily="49" charset="-122"/>
                <a:ea typeface="楷体_GB2312" pitchFamily="49" charset="-122"/>
              </a:rPr>
              <a:t>信号转导的早期表现为激酶级联（</a:t>
            </a:r>
            <a:r>
              <a:rPr lang="en-US" altLang="zh-CN" sz="2800" b="1">
                <a:latin typeface="楷体_GB2312" pitchFamily="49" charset="-122"/>
                <a:ea typeface="宋体" pitchFamily="2" charset="-122"/>
              </a:rPr>
              <a:t>kinase cascade</a:t>
            </a:r>
            <a:r>
              <a:rPr lang="zh-CN" altLang="en-US" sz="2800" b="1">
                <a:latin typeface="楷体_GB2312" pitchFamily="49" charset="-122"/>
                <a:ea typeface="楷体_GB2312" pitchFamily="49" charset="-122"/>
              </a:rPr>
              <a:t>）事件，即为一系列蛋白质的逐级磷酸化，籍此使信号逐级传送和放大。</a:t>
            </a:r>
            <a:endParaRPr lang="zh-CN" altLang="en-US" sz="2800" b="1">
              <a:latin typeface="楷体_GB2312" pitchFamily="49" charset="-122"/>
              <a:ea typeface="楷体_GB2312" pitchFamily="49" charset="-122"/>
            </a:endParaRPr>
          </a:p>
        </p:txBody>
      </p:sp>
      <p:sp>
        <p:nvSpPr>
          <p:cNvPr id="68611"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p:nvPr/>
        </p:nvSpPr>
        <p:spPr>
          <a:xfrm>
            <a:off x="2700338" y="549275"/>
            <a:ext cx="4332287" cy="427038"/>
          </a:xfrm>
          <a:prstGeom prst="rect">
            <a:avLst/>
          </a:prstGeom>
          <a:noFill/>
          <a:ln w="12700">
            <a:noFill/>
          </a:ln>
        </p:spPr>
        <p:txBody>
          <a:bodyPr tIns="0" bIns="0"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r>
              <a:rPr lang="zh-CN" altLang="en-US" sz="2800" b="1">
                <a:latin typeface="宋体" pitchFamily="2" charset="-122"/>
                <a:ea typeface="黑体" pitchFamily="49" charset="-122"/>
              </a:rPr>
              <a:t>膜表面三类受体</a:t>
            </a:r>
            <a:endParaRPr lang="zh-CN" altLang="en-US" sz="2800" b="1">
              <a:latin typeface="宋体" pitchFamily="2" charset="-122"/>
              <a:ea typeface="黑体" pitchFamily="49" charset="-122"/>
            </a:endParaRPr>
          </a:p>
        </p:txBody>
      </p:sp>
      <p:pic>
        <p:nvPicPr>
          <p:cNvPr id="69634" name="Picture 3" descr="20040603180124149"/>
          <p:cNvPicPr>
            <a:picLocks noChangeAspect="1"/>
          </p:cNvPicPr>
          <p:nvPr/>
        </p:nvPicPr>
        <p:blipFill>
          <a:blip r:embed="rId1"/>
          <a:stretch>
            <a:fillRect/>
          </a:stretch>
        </p:blipFill>
        <p:spPr>
          <a:xfrm>
            <a:off x="539750" y="1268413"/>
            <a:ext cx="6553200" cy="4676775"/>
          </a:xfrm>
          <a:prstGeom prst="rect">
            <a:avLst/>
          </a:prstGeom>
          <a:noFill/>
          <a:ln w="9525">
            <a:noFill/>
          </a:ln>
        </p:spPr>
      </p:pic>
      <p:sp>
        <p:nvSpPr>
          <p:cNvPr id="69635" name="Rectangle 4"/>
          <p:cNvSpPr/>
          <p:nvPr/>
        </p:nvSpPr>
        <p:spPr>
          <a:xfrm>
            <a:off x="900113" y="4868863"/>
            <a:ext cx="2303462" cy="457200"/>
          </a:xfrm>
          <a:prstGeom prst="rect">
            <a:avLst/>
          </a:prstGeom>
          <a:solidFill>
            <a:srgbClr val="FF9900"/>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t>酶耦联的受体</a:t>
            </a:r>
            <a:endParaRPr lang="zh-CN" altLang="en-US" sz="2400" b="1"/>
          </a:p>
        </p:txBody>
      </p:sp>
      <p:sp>
        <p:nvSpPr>
          <p:cNvPr id="69636" name="Rectangle 5"/>
          <p:cNvSpPr/>
          <p:nvPr/>
        </p:nvSpPr>
        <p:spPr>
          <a:xfrm>
            <a:off x="900113" y="1916113"/>
            <a:ext cx="2592387" cy="457200"/>
          </a:xfrm>
          <a:prstGeom prst="rect">
            <a:avLst/>
          </a:prstGeom>
          <a:solidFill>
            <a:srgbClr val="FF9900"/>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t>离子通道型受体</a:t>
            </a:r>
            <a:endParaRPr lang="zh-CN" altLang="en-US" sz="2400" b="1"/>
          </a:p>
        </p:txBody>
      </p:sp>
      <p:sp>
        <p:nvSpPr>
          <p:cNvPr id="69637" name="Rectangle 6"/>
          <p:cNvSpPr/>
          <p:nvPr/>
        </p:nvSpPr>
        <p:spPr>
          <a:xfrm>
            <a:off x="900113" y="2565400"/>
            <a:ext cx="2592387" cy="457200"/>
          </a:xfrm>
          <a:prstGeom prst="rect">
            <a:avLst/>
          </a:prstGeom>
          <a:solidFill>
            <a:srgbClr val="FF9900"/>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t>G</a:t>
            </a:r>
            <a:r>
              <a:rPr lang="zh-CN" altLang="en-US" sz="2400" b="1"/>
              <a:t>蛋白耦联型受体</a:t>
            </a:r>
            <a:endParaRPr lang="zh-CN" altLang="en-US" sz="2400" b="1"/>
          </a:p>
        </p:txBody>
      </p:sp>
      <p:sp>
        <p:nvSpPr>
          <p:cNvPr id="293895" name="AutoShape 7"/>
          <p:cNvSpPr/>
          <p:nvPr/>
        </p:nvSpPr>
        <p:spPr>
          <a:xfrm>
            <a:off x="323850" y="2565400"/>
            <a:ext cx="6696075" cy="1944688"/>
          </a:xfrm>
          <a:prstGeom prst="roundRect">
            <a:avLst>
              <a:gd name="adj" fmla="val 16667"/>
            </a:avLst>
          </a:prstGeom>
          <a:noFill/>
          <a:ln w="57150" cap="flat" cmpd="sng">
            <a:solidFill>
              <a:schemeClr val="accent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69639" name="Text Box 8"/>
          <p:cNvSpPr txBox="1"/>
          <p:nvPr/>
        </p:nvSpPr>
        <p:spPr>
          <a:xfrm>
            <a:off x="684213" y="3789363"/>
            <a:ext cx="792162"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受体</a:t>
            </a:r>
            <a:endParaRPr lang="zh-CN" altLang="en-US" sz="1800" b="1"/>
          </a:p>
        </p:txBody>
      </p:sp>
      <p:sp>
        <p:nvSpPr>
          <p:cNvPr id="69640" name="Text Box 9"/>
          <p:cNvSpPr txBox="1"/>
          <p:nvPr/>
        </p:nvSpPr>
        <p:spPr>
          <a:xfrm>
            <a:off x="1893888" y="4019550"/>
            <a:ext cx="1223962" cy="366713"/>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效应蛋白</a:t>
            </a:r>
            <a:endParaRPr lang="zh-CN" altLang="en-US" sz="1800" b="1"/>
          </a:p>
        </p:txBody>
      </p:sp>
      <p:sp>
        <p:nvSpPr>
          <p:cNvPr id="69641" name="Text Box 10"/>
          <p:cNvSpPr txBox="1"/>
          <p:nvPr/>
        </p:nvSpPr>
        <p:spPr>
          <a:xfrm>
            <a:off x="1289050" y="3803650"/>
            <a:ext cx="431800" cy="3667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G</a:t>
            </a:r>
            <a:endParaRPr lang="en-US" altLang="zh-CN" sz="1800" b="1"/>
          </a:p>
        </p:txBody>
      </p:sp>
      <p:sp>
        <p:nvSpPr>
          <p:cNvPr id="293899" name="Text Box 11"/>
          <p:cNvSpPr txBox="1"/>
          <p:nvPr/>
        </p:nvSpPr>
        <p:spPr>
          <a:xfrm>
            <a:off x="7380288" y="1700213"/>
            <a:ext cx="1547812"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构象改变使通透性改变</a:t>
            </a:r>
            <a:endParaRPr lang="en-US" altLang="zh-CN" sz="1800" b="1"/>
          </a:p>
        </p:txBody>
      </p:sp>
      <p:sp>
        <p:nvSpPr>
          <p:cNvPr id="293900" name="Text Box 12"/>
          <p:cNvSpPr txBox="1"/>
          <p:nvPr/>
        </p:nvSpPr>
        <p:spPr>
          <a:xfrm>
            <a:off x="7380288" y="2852738"/>
            <a:ext cx="1368425" cy="146526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构象改变使</a:t>
            </a:r>
            <a:r>
              <a:rPr lang="en-US" altLang="zh-CN" sz="1800" b="1"/>
              <a:t>G</a:t>
            </a:r>
            <a:r>
              <a:rPr lang="zh-CN" altLang="en-US" sz="1800" b="1"/>
              <a:t>蛋白启动效应器，致系列酶活性改变</a:t>
            </a:r>
            <a:endParaRPr lang="en-US" altLang="zh-CN" sz="1800" b="1"/>
          </a:p>
        </p:txBody>
      </p:sp>
      <p:sp>
        <p:nvSpPr>
          <p:cNvPr id="293901" name="Text Box 13"/>
          <p:cNvSpPr txBox="1"/>
          <p:nvPr/>
        </p:nvSpPr>
        <p:spPr>
          <a:xfrm>
            <a:off x="7380288" y="4797425"/>
            <a:ext cx="1547812" cy="915988"/>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构象改变使连接的酶活性直接改变</a:t>
            </a:r>
            <a:endParaRPr lang="en-US" altLang="zh-CN" sz="1800" b="1"/>
          </a:p>
        </p:txBody>
      </p:sp>
      <p:sp>
        <p:nvSpPr>
          <p:cNvPr id="69645"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38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39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39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93895"/>
                                        </p:tgtEl>
                                        <p:attrNameLst>
                                          <p:attrName>style.visibility</p:attrName>
                                        </p:attrNameLst>
                                      </p:cBhvr>
                                      <p:to>
                                        <p:strVal val="visible"/>
                                      </p:to>
                                    </p:set>
                                    <p:anim calcmode="lin" valueType="num">
                                      <p:cBhvr>
                                        <p:cTn id="19" dur="500" fill="hold"/>
                                        <p:tgtEl>
                                          <p:spTgt spid="293895"/>
                                        </p:tgtEl>
                                        <p:attrNameLst>
                                          <p:attrName>ppt_w</p:attrName>
                                        </p:attrNameLst>
                                      </p:cBhvr>
                                      <p:tavLst>
                                        <p:tav tm="0">
                                          <p:val>
                                            <p:fltVal val="0.000000"/>
                                          </p:val>
                                        </p:tav>
                                        <p:tav tm="100000">
                                          <p:val>
                                            <p:strVal val="#ppt_w"/>
                                          </p:val>
                                        </p:tav>
                                      </p:tavLst>
                                    </p:anim>
                                    <p:anim calcmode="lin" valueType="num">
                                      <p:cBhvr>
                                        <p:cTn id="20" dur="500" fill="hold"/>
                                        <p:tgtEl>
                                          <p:spTgt spid="293895"/>
                                        </p:tgtEl>
                                        <p:attrNameLst>
                                          <p:attrName>ppt_h</p:attrName>
                                        </p:attrNameLst>
                                      </p:cBhvr>
                                      <p:tavLst>
                                        <p:tav tm="0">
                                          <p:val>
                                            <p:fltVal val="0.000000"/>
                                          </p:val>
                                        </p:tav>
                                        <p:tav tm="100000">
                                          <p:val>
                                            <p:strVal val="#ppt_h"/>
                                          </p:val>
                                        </p:tav>
                                      </p:tavLst>
                                    </p:anim>
                                    <p:animEffect transition="in" filter="fade">
                                      <p:cBhvr>
                                        <p:cTn id="21" dur="500"/>
                                        <p:tgtEl>
                                          <p:spTgt spid="293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5" grpId="0" animBg="1"/>
      <p:bldP spid="293899" grpId="0"/>
      <p:bldP spid="293900" grpId="0"/>
      <p:bldP spid="29390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5938" name="Rectangle 2"/>
          <p:cNvSpPr/>
          <p:nvPr/>
        </p:nvSpPr>
        <p:spPr>
          <a:xfrm>
            <a:off x="755650" y="1268413"/>
            <a:ext cx="7777163" cy="4697412"/>
          </a:xfrm>
          <a:prstGeom prst="rect">
            <a:avLst/>
          </a:prstGeom>
          <a:noFill/>
          <a:ln w="12700">
            <a:noFill/>
          </a:ln>
        </p:spPr>
        <p:txBody>
          <a:bodyPr tIns="0" bIns="0"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r>
              <a:rPr lang="zh-CN" altLang="en-US" sz="2800" b="1">
                <a:latin typeface="楷体_GB2312" pitchFamily="49" charset="-122"/>
                <a:ea typeface="楷体_GB2312" pitchFamily="49" charset="-122"/>
              </a:rPr>
              <a:t>三聚体</a:t>
            </a:r>
            <a:r>
              <a:rPr lang="en-US" altLang="zh-CN" sz="2800" b="1">
                <a:latin typeface="楷体_GB2312" pitchFamily="49" charset="-122"/>
                <a:ea typeface="宋体" pitchFamily="2" charset="-122"/>
              </a:rPr>
              <a:t>GTP</a:t>
            </a:r>
            <a:r>
              <a:rPr lang="zh-CN" altLang="en-US" sz="2800" b="1">
                <a:latin typeface="楷体_GB2312" pitchFamily="49" charset="-122"/>
                <a:ea typeface="楷体_GB2312" pitchFamily="49" charset="-122"/>
              </a:rPr>
              <a:t>结合调节蛋白（</a:t>
            </a:r>
            <a:r>
              <a:rPr lang="en-US" altLang="zh-CN" sz="2800" b="1">
                <a:latin typeface="楷体_GB2312" pitchFamily="49" charset="-122"/>
                <a:ea typeface="宋体" pitchFamily="2" charset="-122"/>
              </a:rPr>
              <a:t>trimeric GTP-binding regulatory protein</a:t>
            </a:r>
            <a:r>
              <a:rPr lang="zh-CN" altLang="en-US" sz="2800" b="1">
                <a:latin typeface="楷体_GB2312" pitchFamily="49" charset="-122"/>
                <a:ea typeface="楷体_GB2312" pitchFamily="49" charset="-122"/>
              </a:rPr>
              <a:t>）简称</a:t>
            </a:r>
            <a:r>
              <a:rPr lang="en-US" altLang="zh-CN" sz="2800" b="1">
                <a:solidFill>
                  <a:srgbClr val="CC0000"/>
                </a:solidFill>
                <a:latin typeface="楷体_GB2312" pitchFamily="49" charset="-122"/>
                <a:ea typeface="宋体" pitchFamily="2" charset="-122"/>
              </a:rPr>
              <a:t>G</a:t>
            </a:r>
            <a:r>
              <a:rPr lang="zh-CN" altLang="en-US" sz="2800" b="1">
                <a:solidFill>
                  <a:srgbClr val="CC0000"/>
                </a:solidFill>
                <a:latin typeface="楷体_GB2312" pitchFamily="49" charset="-122"/>
                <a:ea typeface="楷体_GB2312" pitchFamily="49" charset="-122"/>
              </a:rPr>
              <a:t>蛋白</a:t>
            </a:r>
            <a:r>
              <a:rPr lang="zh-CN" altLang="en-US" sz="2800" b="1">
                <a:latin typeface="楷体_GB2312" pitchFamily="49" charset="-122"/>
                <a:ea typeface="楷体_GB2312" pitchFamily="49" charset="-122"/>
              </a:rPr>
              <a:t>，位于质膜胞质侧，由</a:t>
            </a:r>
            <a:r>
              <a:rPr lang="en-US" altLang="zh-CN" sz="2800" b="1">
                <a:latin typeface="楷体_GB2312" pitchFamily="49" charset="-122"/>
                <a:ea typeface="宋体" pitchFamily="2" charset="-122"/>
              </a:rPr>
              <a:t>α</a:t>
            </a:r>
            <a:r>
              <a:rPr lang="zh-CN" altLang="en-US" sz="2800" b="1">
                <a:latin typeface="楷体_GB2312" pitchFamily="49" charset="-122"/>
                <a:ea typeface="楷体_GB2312" pitchFamily="49" charset="-122"/>
              </a:rPr>
              <a:t>、</a:t>
            </a:r>
            <a:r>
              <a:rPr lang="en-US" altLang="zh-CN" sz="2800" b="1">
                <a:latin typeface="楷体_GB2312" pitchFamily="49" charset="-122"/>
                <a:ea typeface="宋体" pitchFamily="2" charset="-122"/>
              </a:rPr>
              <a:t>β</a:t>
            </a:r>
            <a:r>
              <a:rPr lang="zh-CN" altLang="en-US" sz="2800" b="1">
                <a:latin typeface="楷体_GB2312" pitchFamily="49" charset="-122"/>
                <a:ea typeface="楷体_GB2312" pitchFamily="49" charset="-122"/>
              </a:rPr>
              <a:t>、</a:t>
            </a:r>
            <a:r>
              <a:rPr lang="en-US" altLang="zh-CN" sz="2800" b="1">
                <a:latin typeface="楷体_GB2312" pitchFamily="49" charset="-122"/>
                <a:ea typeface="宋体" pitchFamily="2" charset="-122"/>
              </a:rPr>
              <a:t>γ</a:t>
            </a:r>
            <a:r>
              <a:rPr lang="zh-CN" altLang="en-US" sz="2800" b="1">
                <a:latin typeface="楷体_GB2312" pitchFamily="49" charset="-122"/>
                <a:ea typeface="楷体_GB2312" pitchFamily="49" charset="-122"/>
              </a:rPr>
              <a:t>三个亚基组成，</a:t>
            </a:r>
            <a:r>
              <a:rPr lang="en-US" altLang="zh-CN" sz="2800" b="1">
                <a:latin typeface="楷体_GB2312" pitchFamily="49" charset="-122"/>
                <a:ea typeface="宋体" pitchFamily="2" charset="-122"/>
              </a:rPr>
              <a:t>α </a:t>
            </a:r>
            <a:r>
              <a:rPr lang="zh-CN" altLang="en-US" sz="2800" b="1">
                <a:latin typeface="楷体_GB2312" pitchFamily="49" charset="-122"/>
                <a:ea typeface="楷体_GB2312" pitchFamily="49" charset="-122"/>
              </a:rPr>
              <a:t>和</a:t>
            </a:r>
            <a:r>
              <a:rPr lang="en-US" altLang="zh-CN" sz="2800" b="1">
                <a:latin typeface="楷体_GB2312" pitchFamily="49" charset="-122"/>
                <a:ea typeface="宋体" pitchFamily="2" charset="-122"/>
              </a:rPr>
              <a:t>γ</a:t>
            </a:r>
            <a:r>
              <a:rPr lang="zh-CN" altLang="en-US" sz="2800" b="1">
                <a:latin typeface="楷体_GB2312" pitchFamily="49" charset="-122"/>
                <a:ea typeface="楷体_GB2312" pitchFamily="49" charset="-122"/>
              </a:rPr>
              <a:t>亚基通过共价结合的脂肪酸链尾结合在膜上，</a:t>
            </a:r>
            <a:r>
              <a:rPr lang="en-US" altLang="zh-CN" sz="2800" b="1">
                <a:latin typeface="楷体_GB2312" pitchFamily="49" charset="-122"/>
                <a:ea typeface="宋体" pitchFamily="2" charset="-122"/>
              </a:rPr>
              <a:t>G</a:t>
            </a:r>
            <a:r>
              <a:rPr lang="zh-CN" altLang="en-US" sz="2800" b="1">
                <a:latin typeface="楷体_GB2312" pitchFamily="49" charset="-122"/>
                <a:ea typeface="楷体_GB2312" pitchFamily="49" charset="-122"/>
              </a:rPr>
              <a:t>蛋白在信号转导过程中起着</a:t>
            </a:r>
            <a:r>
              <a:rPr lang="zh-CN" altLang="en-US" sz="2800" b="1">
                <a:solidFill>
                  <a:schemeClr val="hlink"/>
                </a:solidFill>
                <a:latin typeface="楷体_GB2312" pitchFamily="49" charset="-122"/>
                <a:ea typeface="楷体_GB2312" pitchFamily="49" charset="-122"/>
              </a:rPr>
              <a:t>分子开关</a:t>
            </a:r>
            <a:r>
              <a:rPr lang="zh-CN" altLang="en-US" sz="2800" b="1">
                <a:latin typeface="楷体_GB2312" pitchFamily="49" charset="-122"/>
                <a:ea typeface="楷体_GB2312" pitchFamily="49" charset="-122"/>
              </a:rPr>
              <a:t>作用</a:t>
            </a:r>
            <a:endParaRPr lang="zh-CN" altLang="en-US" sz="2800" b="1">
              <a:latin typeface="楷体_GB2312" pitchFamily="49" charset="-122"/>
              <a:ea typeface="楷体_GB2312" pitchFamily="49" charset="-122"/>
            </a:endParaRPr>
          </a:p>
          <a:p>
            <a:pPr marL="0" lvl="0" indent="266700" eaLnBrk="1" hangingPunct="1">
              <a:spcBef>
                <a:spcPct val="0"/>
              </a:spcBef>
              <a:buNone/>
            </a:pPr>
            <a:endParaRPr lang="zh-CN" altLang="en-US" sz="2800" b="1">
              <a:latin typeface="楷体_GB2312" pitchFamily="49" charset="-122"/>
              <a:ea typeface="楷体_GB2312" pitchFamily="49" charset="-122"/>
            </a:endParaRPr>
          </a:p>
          <a:p>
            <a:pPr marL="0" lvl="0" indent="266700" eaLnBrk="1" hangingPunct="1">
              <a:spcBef>
                <a:spcPct val="0"/>
              </a:spcBef>
            </a:pPr>
            <a:r>
              <a:rPr lang="zh-CN" altLang="en-US" sz="2800" b="1">
                <a:solidFill>
                  <a:srgbClr val="CC0000"/>
                </a:solidFill>
                <a:latin typeface="楷体_GB2312" pitchFamily="49" charset="-122"/>
                <a:ea typeface="楷体_GB2312" pitchFamily="49" charset="-122"/>
              </a:rPr>
              <a:t>当</a:t>
            </a:r>
            <a:r>
              <a:rPr lang="en-US" altLang="zh-CN" sz="2800" b="1">
                <a:solidFill>
                  <a:srgbClr val="CC0000"/>
                </a:solidFill>
                <a:latin typeface="楷体_GB2312" pitchFamily="49" charset="-122"/>
                <a:ea typeface="宋体" pitchFamily="2" charset="-122"/>
              </a:rPr>
              <a:t>α</a:t>
            </a:r>
            <a:r>
              <a:rPr lang="zh-CN" altLang="en-US" sz="2800" b="1">
                <a:solidFill>
                  <a:srgbClr val="CC0000"/>
                </a:solidFill>
                <a:latin typeface="楷体_GB2312" pitchFamily="49" charset="-122"/>
                <a:ea typeface="楷体_GB2312" pitchFamily="49" charset="-122"/>
              </a:rPr>
              <a:t>亚基与</a:t>
            </a:r>
            <a:r>
              <a:rPr lang="en-US" altLang="zh-CN" sz="2800" b="1">
                <a:solidFill>
                  <a:srgbClr val="CC0000"/>
                </a:solidFill>
                <a:latin typeface="楷体_GB2312" pitchFamily="49" charset="-122"/>
                <a:ea typeface="宋体" pitchFamily="2" charset="-122"/>
              </a:rPr>
              <a:t>GDP</a:t>
            </a:r>
            <a:r>
              <a:rPr lang="zh-CN" altLang="en-US" sz="2800" b="1">
                <a:solidFill>
                  <a:srgbClr val="CC0000"/>
                </a:solidFill>
                <a:latin typeface="楷体_GB2312" pitchFamily="49" charset="-122"/>
                <a:ea typeface="楷体_GB2312" pitchFamily="49" charset="-122"/>
              </a:rPr>
              <a:t>结合时处于关闭状态</a:t>
            </a:r>
            <a:endParaRPr lang="zh-CN" altLang="en-US" sz="2800" b="1">
              <a:latin typeface="楷体_GB2312" pitchFamily="49" charset="-122"/>
              <a:ea typeface="楷体_GB2312" pitchFamily="49" charset="-122"/>
            </a:endParaRPr>
          </a:p>
          <a:p>
            <a:pPr marL="0" lvl="0" indent="266700" eaLnBrk="1" hangingPunct="1">
              <a:spcBef>
                <a:spcPct val="0"/>
              </a:spcBef>
            </a:pPr>
            <a:r>
              <a:rPr lang="zh-CN" altLang="en-US" sz="2800" b="1">
                <a:solidFill>
                  <a:schemeClr val="hlink"/>
                </a:solidFill>
                <a:latin typeface="楷体_GB2312" pitchFamily="49" charset="-122"/>
                <a:ea typeface="楷体_GB2312" pitchFamily="49" charset="-122"/>
              </a:rPr>
              <a:t>与</a:t>
            </a:r>
            <a:r>
              <a:rPr lang="en-US" altLang="zh-CN" sz="2800" b="1">
                <a:solidFill>
                  <a:schemeClr val="hlink"/>
                </a:solidFill>
                <a:latin typeface="楷体_GB2312" pitchFamily="49" charset="-122"/>
                <a:ea typeface="宋体" pitchFamily="2" charset="-122"/>
              </a:rPr>
              <a:t>GTP</a:t>
            </a:r>
            <a:r>
              <a:rPr lang="zh-CN" altLang="en-US" sz="2800" b="1">
                <a:solidFill>
                  <a:schemeClr val="hlink"/>
                </a:solidFill>
                <a:latin typeface="楷体_GB2312" pitchFamily="49" charset="-122"/>
                <a:ea typeface="楷体_GB2312" pitchFamily="49" charset="-122"/>
              </a:rPr>
              <a:t>结合时处于开启状态</a:t>
            </a:r>
            <a:endParaRPr lang="zh-CN" altLang="en-US" sz="2800" b="1">
              <a:solidFill>
                <a:schemeClr val="hlink"/>
              </a:solidFill>
              <a:latin typeface="楷体_GB2312" pitchFamily="49" charset="-122"/>
              <a:ea typeface="楷体_GB2312" pitchFamily="49" charset="-122"/>
            </a:endParaRPr>
          </a:p>
          <a:p>
            <a:pPr marL="0" lvl="0" indent="266700" eaLnBrk="1" hangingPunct="1">
              <a:spcBef>
                <a:spcPct val="0"/>
              </a:spcBef>
              <a:buNone/>
            </a:pPr>
            <a:endParaRPr lang="en-US" altLang="zh-CN" sz="2800" b="1">
              <a:latin typeface="楷体_GB2312" pitchFamily="49" charset="-122"/>
              <a:ea typeface="宋体" pitchFamily="2" charset="-122"/>
            </a:endParaRPr>
          </a:p>
          <a:p>
            <a:pPr marL="0" lvl="0" indent="266700" eaLnBrk="1" hangingPunct="1">
              <a:spcBef>
                <a:spcPct val="0"/>
              </a:spcBef>
              <a:buNone/>
            </a:pPr>
            <a:r>
              <a:rPr lang="en-US" altLang="zh-CN" sz="2800" b="1">
                <a:latin typeface="楷体_GB2312" pitchFamily="49" charset="-122"/>
                <a:ea typeface="宋体" pitchFamily="2" charset="-122"/>
              </a:rPr>
              <a:t>α</a:t>
            </a:r>
            <a:r>
              <a:rPr lang="zh-CN" altLang="en-US" sz="2800" b="1">
                <a:latin typeface="楷体_GB2312" pitchFamily="49" charset="-122"/>
                <a:ea typeface="楷体_GB2312" pitchFamily="49" charset="-122"/>
              </a:rPr>
              <a:t>亚基具有</a:t>
            </a:r>
            <a:r>
              <a:rPr lang="en-US" altLang="zh-CN" sz="2800" b="1">
                <a:latin typeface="楷体_GB2312" pitchFamily="49" charset="-122"/>
                <a:ea typeface="宋体" pitchFamily="2" charset="-122"/>
              </a:rPr>
              <a:t>GTP</a:t>
            </a:r>
            <a:r>
              <a:rPr lang="zh-CN" altLang="en-US" sz="2800" b="1">
                <a:latin typeface="楷体_GB2312" pitchFamily="49" charset="-122"/>
                <a:ea typeface="楷体_GB2312" pitchFamily="49" charset="-122"/>
              </a:rPr>
              <a:t>酶活性，能催化所结合的</a:t>
            </a:r>
            <a:r>
              <a:rPr lang="en-US" altLang="zh-CN" sz="2800" b="1">
                <a:latin typeface="楷体_GB2312" pitchFamily="49" charset="-122"/>
                <a:ea typeface="宋体" pitchFamily="2" charset="-122"/>
              </a:rPr>
              <a:t>GTP</a:t>
            </a:r>
            <a:r>
              <a:rPr lang="zh-CN" altLang="en-US" sz="2800" b="1">
                <a:latin typeface="楷体_GB2312" pitchFamily="49" charset="-122"/>
                <a:ea typeface="楷体_GB2312" pitchFamily="49" charset="-122"/>
              </a:rPr>
              <a:t>水解，恢复无活性的三聚体状态。</a:t>
            </a:r>
            <a:endParaRPr lang="zh-CN" altLang="en-US" sz="2800" b="1">
              <a:latin typeface="楷体_GB2312" pitchFamily="49" charset="-122"/>
              <a:ea typeface="楷体_GB2312" pitchFamily="49" charset="-122"/>
            </a:endParaRPr>
          </a:p>
        </p:txBody>
      </p:sp>
      <p:sp>
        <p:nvSpPr>
          <p:cNvPr id="70658" name="Rectangle 3"/>
          <p:cNvSpPr/>
          <p:nvPr/>
        </p:nvSpPr>
        <p:spPr>
          <a:xfrm>
            <a:off x="3059113" y="528638"/>
            <a:ext cx="3600450"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宋体" pitchFamily="2" charset="-122"/>
              </a:rPr>
              <a:t>G</a:t>
            </a:r>
            <a:r>
              <a:rPr lang="zh-CN" altLang="en-US" sz="2800" b="1">
                <a:latin typeface="黑体" pitchFamily="49" charset="-122"/>
                <a:ea typeface="黑体" pitchFamily="49" charset="-122"/>
              </a:rPr>
              <a:t>蛋白耦联型受体</a:t>
            </a:r>
            <a:endParaRPr lang="zh-CN" altLang="en-US" sz="2800" b="1">
              <a:latin typeface="黑体" pitchFamily="49" charset="-122"/>
              <a:ea typeface="黑体" pitchFamily="49" charset="-122"/>
            </a:endParaRPr>
          </a:p>
        </p:txBody>
      </p:sp>
      <p:sp>
        <p:nvSpPr>
          <p:cNvPr id="295940" name="Text Box 4"/>
          <p:cNvSpPr txBox="1"/>
          <p:nvPr/>
        </p:nvSpPr>
        <p:spPr>
          <a:xfrm>
            <a:off x="7524750" y="3933825"/>
            <a:ext cx="1223963"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1800" b="1"/>
              <a:t>接受调节 改变构象</a:t>
            </a:r>
            <a:endParaRPr lang="zh-CN" altLang="en-US" sz="1800" b="1"/>
          </a:p>
        </p:txBody>
      </p:sp>
      <p:sp>
        <p:nvSpPr>
          <p:cNvPr id="295943" name="AutoShape 7"/>
          <p:cNvSpPr/>
          <p:nvPr/>
        </p:nvSpPr>
        <p:spPr>
          <a:xfrm>
            <a:off x="6877050" y="4005263"/>
            <a:ext cx="288925" cy="647700"/>
          </a:xfrm>
          <a:prstGeom prst="curvedLeftArrow">
            <a:avLst>
              <a:gd name="adj1" fmla="val 44835"/>
              <a:gd name="adj2" fmla="val 89670"/>
              <a:gd name="adj3" fmla="val 33333"/>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295944" name="AutoShape 8"/>
          <p:cNvSpPr/>
          <p:nvPr/>
        </p:nvSpPr>
        <p:spPr>
          <a:xfrm flipV="1">
            <a:off x="7164388" y="3933825"/>
            <a:ext cx="287337" cy="647700"/>
          </a:xfrm>
          <a:prstGeom prst="curvedLeftArrow">
            <a:avLst>
              <a:gd name="adj1" fmla="val 45082"/>
              <a:gd name="adj2" fmla="val 90165"/>
              <a:gd name="adj3" fmla="val 33333"/>
            </a:avLst>
          </a:prstGeom>
          <a:solidFill>
            <a:srgbClr val="CC0000"/>
          </a:solidFill>
          <a:ln w="12700" cap="flat" cmpd="sng">
            <a:solidFill>
              <a:srgbClr val="FF89FF"/>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70662"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5938">
                                            <p:txEl>
                                              <p:charRg st="125" end="14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5938">
                                            <p:txEl>
                                              <p:charRg st="143" end="15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59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59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59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5938">
                                            <p:txEl>
                                              <p:charRg st="158" end="19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0" grpId="0"/>
      <p:bldP spid="295943" grpId="0" animBg="1"/>
      <p:bldP spid="29594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p:nvPr/>
        </p:nvSpPr>
        <p:spPr>
          <a:xfrm>
            <a:off x="2627313" y="188913"/>
            <a:ext cx="3600450" cy="519112"/>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algn="ctr">
              <a:spcBef>
                <a:spcPct val="0"/>
              </a:spcBef>
              <a:buNone/>
            </a:pPr>
            <a:r>
              <a:rPr lang="en-US" altLang="zh-CN" sz="2800" b="1">
                <a:latin typeface="黑体" pitchFamily="49" charset="-122"/>
                <a:cs typeface="Arial" panose="02080604020202020204" pitchFamily="34" charset="0"/>
              </a:rPr>
              <a:t>G</a:t>
            </a:r>
            <a:r>
              <a:rPr lang="zh-CN" altLang="en-US" sz="2800" b="1">
                <a:latin typeface="黑体" pitchFamily="49" charset="-122"/>
                <a:ea typeface="黑体" pitchFamily="49" charset="-122"/>
              </a:rPr>
              <a:t>蛋白分子开关示意</a:t>
            </a:r>
            <a:endParaRPr lang="zh-CN" altLang="en-US" sz="2800" b="1">
              <a:latin typeface="黑体" pitchFamily="49" charset="-122"/>
              <a:ea typeface="黑体" pitchFamily="49" charset="-122"/>
            </a:endParaRPr>
          </a:p>
        </p:txBody>
      </p:sp>
      <p:pic>
        <p:nvPicPr>
          <p:cNvPr id="71682" name="Picture 3" descr="20040603180125364"/>
          <p:cNvPicPr>
            <a:picLocks noChangeAspect="1"/>
          </p:cNvPicPr>
          <p:nvPr/>
        </p:nvPicPr>
        <p:blipFill>
          <a:blip r:embed="rId1"/>
          <a:stretch>
            <a:fillRect/>
          </a:stretch>
        </p:blipFill>
        <p:spPr>
          <a:xfrm>
            <a:off x="2124075" y="765175"/>
            <a:ext cx="4832350" cy="5689600"/>
          </a:xfrm>
          <a:prstGeom prst="rect">
            <a:avLst/>
          </a:prstGeom>
          <a:noFill/>
          <a:ln w="9525">
            <a:noFill/>
          </a:ln>
        </p:spPr>
      </p:pic>
      <p:sp>
        <p:nvSpPr>
          <p:cNvPr id="71683" name="Text Box 4"/>
          <p:cNvSpPr txBox="1"/>
          <p:nvPr/>
        </p:nvSpPr>
        <p:spPr>
          <a:xfrm>
            <a:off x="5624513" y="4308475"/>
            <a:ext cx="1295400" cy="396875"/>
          </a:xfrm>
          <a:prstGeom prst="rect">
            <a:avLst/>
          </a:prstGeom>
          <a:solidFill>
            <a:srgbClr val="FF9900"/>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a:latin typeface="楷体_GB2312" pitchFamily="49" charset="-122"/>
                <a:ea typeface="楷体_GB2312" pitchFamily="49" charset="-122"/>
              </a:rPr>
              <a:t>胞内响应</a:t>
            </a:r>
            <a:endParaRPr lang="zh-CN" altLang="en-US" sz="2000" b="1">
              <a:latin typeface="楷体_GB2312" pitchFamily="49" charset="-122"/>
              <a:ea typeface="楷体_GB2312" pitchFamily="49" charset="-122"/>
            </a:endParaRPr>
          </a:p>
        </p:txBody>
      </p:sp>
      <p:sp>
        <p:nvSpPr>
          <p:cNvPr id="71684" name="Text Box 5"/>
          <p:cNvSpPr txBox="1"/>
          <p:nvPr/>
        </p:nvSpPr>
        <p:spPr>
          <a:xfrm>
            <a:off x="285750" y="1143000"/>
            <a:ext cx="1512888" cy="46196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t>激素受体</a:t>
            </a:r>
            <a:endParaRPr lang="en-US" altLang="zh-CN" sz="2400" b="1"/>
          </a:p>
        </p:txBody>
      </p:sp>
      <p:sp>
        <p:nvSpPr>
          <p:cNvPr id="71685" name="Line 6"/>
          <p:cNvSpPr/>
          <p:nvPr/>
        </p:nvSpPr>
        <p:spPr>
          <a:xfrm>
            <a:off x="1547813" y="1557338"/>
            <a:ext cx="936625" cy="0"/>
          </a:xfrm>
          <a:prstGeom prst="line">
            <a:avLst/>
          </a:prstGeom>
          <a:ln w="12700" cap="flat" cmpd="sng">
            <a:solidFill>
              <a:schemeClr val="tx1"/>
            </a:solidFill>
            <a:prstDash val="solid"/>
            <a:miter/>
            <a:headEnd type="none" w="sm" len="sm"/>
            <a:tailEnd type="none" w="sm" len="sm"/>
          </a:ln>
        </p:spPr>
      </p:sp>
      <p:sp>
        <p:nvSpPr>
          <p:cNvPr id="71686" name="Text Box 7"/>
          <p:cNvSpPr txBox="1"/>
          <p:nvPr/>
        </p:nvSpPr>
        <p:spPr>
          <a:xfrm>
            <a:off x="539750" y="3284538"/>
            <a:ext cx="1584325" cy="31083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t>G-</a:t>
            </a:r>
            <a:r>
              <a:rPr lang="zh-CN" altLang="en-US" sz="2400" b="1"/>
              <a:t>蛋白</a:t>
            </a:r>
            <a:endParaRPr lang="zh-CN" altLang="en-US" sz="2400" b="1"/>
          </a:p>
          <a:p>
            <a:pPr marL="0" lvl="0" indent="0" eaLnBrk="1" hangingPunct="1">
              <a:spcBef>
                <a:spcPct val="50000"/>
              </a:spcBef>
              <a:buNone/>
            </a:pPr>
            <a:r>
              <a:rPr lang="zh-CN" altLang="en-US" sz="2000" b="1">
                <a:solidFill>
                  <a:srgbClr val="A50021"/>
                </a:solidFill>
              </a:rPr>
              <a:t>（ </a:t>
            </a:r>
            <a:r>
              <a:rPr lang="en-US" altLang="zh-CN" sz="2000" b="1">
                <a:solidFill>
                  <a:srgbClr val="A50021"/>
                </a:solidFill>
              </a:rPr>
              <a:t>α</a:t>
            </a:r>
            <a:r>
              <a:rPr lang="zh-CN" altLang="en-US" sz="2000" b="1">
                <a:solidFill>
                  <a:srgbClr val="A50021"/>
                </a:solidFill>
              </a:rPr>
              <a:t>、</a:t>
            </a:r>
            <a:r>
              <a:rPr lang="en-US" altLang="zh-CN" sz="2000" b="1">
                <a:solidFill>
                  <a:srgbClr val="A50021"/>
                </a:solidFill>
              </a:rPr>
              <a:t>β</a:t>
            </a:r>
            <a:r>
              <a:rPr lang="zh-CN" altLang="en-US" sz="2000" b="1">
                <a:solidFill>
                  <a:srgbClr val="A50021"/>
                </a:solidFill>
              </a:rPr>
              <a:t>、</a:t>
            </a:r>
            <a:r>
              <a:rPr lang="en-US" altLang="zh-CN" sz="2000" b="1">
                <a:solidFill>
                  <a:srgbClr val="A50021"/>
                </a:solidFill>
              </a:rPr>
              <a:t>γ</a:t>
            </a:r>
            <a:r>
              <a:rPr lang="zh-CN" altLang="en-US" sz="2000" b="1">
                <a:solidFill>
                  <a:srgbClr val="A50021"/>
                </a:solidFill>
              </a:rPr>
              <a:t>三个亚基，具有不同构象，分别与</a:t>
            </a:r>
            <a:r>
              <a:rPr lang="en-US" altLang="zh-CN" sz="2000" b="1">
                <a:solidFill>
                  <a:srgbClr val="A50021"/>
                </a:solidFill>
              </a:rPr>
              <a:t>GDP</a:t>
            </a:r>
            <a:r>
              <a:rPr lang="zh-CN" altLang="en-US" sz="2000" b="1">
                <a:solidFill>
                  <a:srgbClr val="A50021"/>
                </a:solidFill>
              </a:rPr>
              <a:t>亲和</a:t>
            </a:r>
            <a:r>
              <a:rPr lang="en-US" altLang="zh-CN" sz="2000" b="1">
                <a:solidFill>
                  <a:srgbClr val="A50021"/>
                </a:solidFill>
              </a:rPr>
              <a:t>[</a:t>
            </a:r>
            <a:r>
              <a:rPr lang="zh-CN" altLang="en-US" sz="2000" b="1"/>
              <a:t>关</a:t>
            </a:r>
            <a:r>
              <a:rPr lang="en-US" altLang="zh-CN" sz="2000" b="1">
                <a:solidFill>
                  <a:srgbClr val="A50021"/>
                </a:solidFill>
              </a:rPr>
              <a:t>]</a:t>
            </a:r>
            <a:r>
              <a:rPr lang="zh-CN" altLang="en-US" sz="2000" b="1">
                <a:solidFill>
                  <a:srgbClr val="A50021"/>
                </a:solidFill>
              </a:rPr>
              <a:t>或</a:t>
            </a:r>
            <a:r>
              <a:rPr lang="en-US" altLang="zh-CN" sz="2000" b="1">
                <a:solidFill>
                  <a:srgbClr val="A50021"/>
                </a:solidFill>
              </a:rPr>
              <a:t>GTP</a:t>
            </a:r>
            <a:r>
              <a:rPr lang="zh-CN" altLang="en-US" sz="2000" b="1">
                <a:solidFill>
                  <a:srgbClr val="A50021"/>
                </a:solidFill>
              </a:rPr>
              <a:t>亲和</a:t>
            </a:r>
            <a:r>
              <a:rPr lang="en-US" altLang="zh-CN" sz="2000" b="1">
                <a:solidFill>
                  <a:srgbClr val="A50021"/>
                </a:solidFill>
              </a:rPr>
              <a:t>[</a:t>
            </a:r>
            <a:r>
              <a:rPr lang="zh-CN" altLang="en-US" sz="2000" b="1"/>
              <a:t>开</a:t>
            </a:r>
            <a:r>
              <a:rPr lang="en-US" altLang="zh-CN" sz="2000" b="1">
                <a:solidFill>
                  <a:srgbClr val="A50021"/>
                </a:solidFill>
              </a:rPr>
              <a:t>]</a:t>
            </a:r>
            <a:r>
              <a:rPr lang="zh-CN" altLang="en-US" sz="2000" b="1">
                <a:solidFill>
                  <a:srgbClr val="A50021"/>
                </a:solidFill>
              </a:rPr>
              <a:t>）</a:t>
            </a:r>
            <a:r>
              <a:rPr lang="zh-CN" altLang="en-US" sz="2400" b="1"/>
              <a:t> </a:t>
            </a:r>
            <a:endParaRPr lang="zh-CN" altLang="en-US" sz="2400" b="1"/>
          </a:p>
        </p:txBody>
      </p:sp>
      <p:sp>
        <p:nvSpPr>
          <p:cNvPr id="71687" name="Line 8"/>
          <p:cNvSpPr/>
          <p:nvPr/>
        </p:nvSpPr>
        <p:spPr>
          <a:xfrm>
            <a:off x="1835150" y="3573463"/>
            <a:ext cx="1223963" cy="0"/>
          </a:xfrm>
          <a:prstGeom prst="line">
            <a:avLst/>
          </a:prstGeom>
          <a:ln w="12700" cap="flat" cmpd="sng">
            <a:solidFill>
              <a:schemeClr val="tx1"/>
            </a:solidFill>
            <a:prstDash val="solid"/>
            <a:miter/>
            <a:headEnd type="none" w="sm" len="sm"/>
            <a:tailEnd type="none" w="sm" len="sm"/>
          </a:ln>
        </p:spPr>
      </p:sp>
      <p:sp>
        <p:nvSpPr>
          <p:cNvPr id="71688" name="Text Box 9"/>
          <p:cNvSpPr txBox="1"/>
          <p:nvPr/>
        </p:nvSpPr>
        <p:spPr>
          <a:xfrm>
            <a:off x="7164388" y="1484313"/>
            <a:ext cx="1584325" cy="15843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t>效应蛋白</a:t>
            </a:r>
            <a:endParaRPr lang="zh-CN" altLang="en-US" sz="2400" b="1"/>
          </a:p>
          <a:p>
            <a:pPr marL="0" lvl="0" indent="0" eaLnBrk="1" hangingPunct="1">
              <a:spcBef>
                <a:spcPct val="50000"/>
              </a:spcBef>
              <a:buNone/>
            </a:pPr>
            <a:r>
              <a:rPr lang="zh-CN" altLang="en-US" sz="2000" b="1">
                <a:solidFill>
                  <a:srgbClr val="A50021"/>
                </a:solidFill>
              </a:rPr>
              <a:t>（一般是酶，如腺苷环化酶）</a:t>
            </a:r>
            <a:r>
              <a:rPr lang="zh-CN" altLang="en-US" sz="2400" b="1"/>
              <a:t> </a:t>
            </a:r>
            <a:endParaRPr lang="zh-CN" altLang="en-US" sz="2400" b="1"/>
          </a:p>
        </p:txBody>
      </p:sp>
      <p:sp>
        <p:nvSpPr>
          <p:cNvPr id="71689" name="Line 10"/>
          <p:cNvSpPr/>
          <p:nvPr/>
        </p:nvSpPr>
        <p:spPr>
          <a:xfrm>
            <a:off x="6659563" y="1773238"/>
            <a:ext cx="576262" cy="0"/>
          </a:xfrm>
          <a:prstGeom prst="line">
            <a:avLst/>
          </a:prstGeom>
          <a:ln w="12700" cap="flat" cmpd="sng">
            <a:solidFill>
              <a:schemeClr val="tx1"/>
            </a:solidFill>
            <a:prstDash val="solid"/>
            <a:miter/>
            <a:headEnd type="none" w="sm" len="sm"/>
            <a:tailEnd type="none" w="sm" len="sm"/>
          </a:ln>
        </p:spPr>
      </p:sp>
      <p:sp>
        <p:nvSpPr>
          <p:cNvPr id="71690" name="Text Box 11"/>
          <p:cNvSpPr txBox="1"/>
          <p:nvPr/>
        </p:nvSpPr>
        <p:spPr>
          <a:xfrm>
            <a:off x="7164388" y="4292600"/>
            <a:ext cx="1584325" cy="155257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t>逐级引起下一级蛋白酶活性改变</a:t>
            </a:r>
            <a:r>
              <a:rPr lang="en-US" altLang="zh-CN" sz="2400" b="1"/>
              <a:t> </a:t>
            </a:r>
            <a:endParaRPr lang="en-US" altLang="zh-CN" sz="2400" b="1"/>
          </a:p>
        </p:txBody>
      </p:sp>
      <p:sp>
        <p:nvSpPr>
          <p:cNvPr id="71691" name="Line 12"/>
          <p:cNvSpPr/>
          <p:nvPr/>
        </p:nvSpPr>
        <p:spPr>
          <a:xfrm>
            <a:off x="6919913" y="4522788"/>
            <a:ext cx="287337" cy="0"/>
          </a:xfrm>
          <a:prstGeom prst="line">
            <a:avLst/>
          </a:prstGeom>
          <a:ln w="12700" cap="flat" cmpd="sng">
            <a:solidFill>
              <a:schemeClr val="tx1"/>
            </a:solidFill>
            <a:prstDash val="solid"/>
            <a:miter/>
            <a:headEnd type="none" w="sm" len="sm"/>
            <a:tailEnd type="none" w="sm" len="sm"/>
          </a:ln>
        </p:spPr>
      </p:sp>
      <p:sp>
        <p:nvSpPr>
          <p:cNvPr id="71692"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p:nvPr/>
        </p:nvSpPr>
        <p:spPr>
          <a:xfrm>
            <a:off x="827088" y="881063"/>
            <a:ext cx="9144000" cy="5180012"/>
          </a:xfrm>
          <a:prstGeom prst="rect">
            <a:avLst/>
          </a:prstGeom>
          <a:noFill/>
          <a:ln w="12700">
            <a:noFill/>
          </a:ln>
        </p:spPr>
        <p:txBody>
          <a:bodyPr lIns="0" tIns="0" rIns="1428300" bIns="0"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细胞外信号与相应受体结合，调节腺苷酸环化酶活性，通过第二信使</a:t>
            </a:r>
            <a:r>
              <a:rPr lang="en-US" altLang="zh-CN" sz="2800" b="1">
                <a:latin typeface="楷体_GB2312" pitchFamily="49" charset="-122"/>
                <a:ea typeface="宋体" pitchFamily="2" charset="-122"/>
              </a:rPr>
              <a:t>cAMP</a:t>
            </a:r>
            <a:r>
              <a:rPr lang="zh-CN" altLang="en-US" sz="2800" b="1">
                <a:latin typeface="楷体_GB2312" pitchFamily="49" charset="-122"/>
                <a:ea typeface="楷体_GB2312" pitchFamily="49" charset="-122"/>
              </a:rPr>
              <a:t>水平的变化，将细胞外信号转变为细胞内信号。</a:t>
            </a:r>
            <a:endParaRPr lang="zh-CN" altLang="en-US" sz="2800" b="1">
              <a:latin typeface="楷体_GB2312" pitchFamily="49" charset="-122"/>
              <a:ea typeface="楷体_GB2312" pitchFamily="49" charset="-122"/>
            </a:endParaRPr>
          </a:p>
          <a:p>
            <a:pPr marL="0" lvl="0" indent="0" eaLnBrk="1" hangingPunct="1">
              <a:spcBef>
                <a:spcPct val="0"/>
              </a:spcBef>
              <a:buNone/>
            </a:pPr>
            <a:endParaRPr lang="en-US" altLang="zh-CN" sz="2800" b="1">
              <a:latin typeface="楷体_GB2312" pitchFamily="49" charset="-122"/>
              <a:ea typeface="宋体" pitchFamily="2" charset="-122"/>
            </a:endParaRPr>
          </a:p>
          <a:p>
            <a:pPr marL="0" lvl="0" indent="0" eaLnBrk="1" hangingPunct="1">
              <a:spcBef>
                <a:spcPct val="0"/>
              </a:spcBef>
              <a:buNone/>
            </a:pPr>
            <a:r>
              <a:rPr lang="en-US" altLang="zh-CN" sz="2800" b="1">
                <a:latin typeface="楷体_GB2312" pitchFamily="49" charset="-122"/>
                <a:ea typeface="宋体" pitchFamily="2" charset="-122"/>
              </a:rPr>
              <a:t>cAMP</a:t>
            </a:r>
            <a:r>
              <a:rPr lang="zh-CN" altLang="en-US" sz="2800" b="1">
                <a:latin typeface="楷体_GB2312" pitchFamily="49" charset="-122"/>
                <a:ea typeface="楷体_GB2312" pitchFamily="49" charset="-122"/>
              </a:rPr>
              <a:t>信号的组分</a:t>
            </a:r>
            <a:endParaRPr lang="zh-CN" altLang="en-US" sz="2800" b="1">
              <a:latin typeface="楷体_GB2312" pitchFamily="49" charset="-122"/>
              <a:ea typeface="楷体_GB2312" pitchFamily="49" charset="-122"/>
            </a:endParaRPr>
          </a:p>
          <a:p>
            <a:pPr marL="0" lvl="0" indent="0" eaLnBrk="1" hangingPunct="1">
              <a:spcBef>
                <a:spcPct val="0"/>
              </a:spcBef>
              <a:buNone/>
            </a:pP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400" b="1">
                <a:latin typeface="楷体_GB2312" pitchFamily="49" charset="-122"/>
                <a:ea typeface="楷体_GB2312" pitchFamily="49" charset="-122"/>
              </a:rPr>
              <a:t>①</a:t>
            </a:r>
            <a:r>
              <a:rPr lang="en-US" altLang="zh-CN" sz="2800" b="1">
                <a:latin typeface="楷体_GB2312" pitchFamily="49" charset="-122"/>
                <a:ea typeface="宋体" pitchFamily="2" charset="-122"/>
              </a:rPr>
              <a:t>.</a:t>
            </a:r>
            <a:r>
              <a:rPr lang="en-US" altLang="zh-CN" sz="2800" b="1">
                <a:ea typeface="宋体" pitchFamily="2" charset="-122"/>
              </a:rPr>
              <a:t> </a:t>
            </a:r>
            <a:r>
              <a:rPr lang="zh-CN" altLang="en-US" sz="2400" b="1">
                <a:latin typeface="楷体_GB2312" pitchFamily="49" charset="-122"/>
                <a:ea typeface="楷体_GB2312" pitchFamily="49" charset="-122"/>
              </a:rPr>
              <a:t>激活型激素受体（</a:t>
            </a:r>
            <a:r>
              <a:rPr lang="en-US" altLang="zh-CN" sz="2400" b="1">
                <a:latin typeface="楷体_GB2312" pitchFamily="49" charset="-122"/>
                <a:ea typeface="宋体" pitchFamily="2" charset="-122"/>
              </a:rPr>
              <a:t>Rs</a:t>
            </a:r>
            <a:r>
              <a:rPr lang="zh-CN" altLang="en-US" sz="2400" b="1">
                <a:latin typeface="楷体_GB2312" pitchFamily="49" charset="-122"/>
                <a:ea typeface="楷体_GB2312" pitchFamily="49" charset="-122"/>
              </a:rPr>
              <a:t>）或抑制型激素受体（</a:t>
            </a:r>
            <a:r>
              <a:rPr lang="en-US" altLang="zh-CN" sz="2400" b="1">
                <a:latin typeface="楷体_GB2312" pitchFamily="49" charset="-122"/>
                <a:ea typeface="宋体" pitchFamily="2" charset="-122"/>
              </a:rPr>
              <a:t>Ri</a:t>
            </a:r>
            <a:r>
              <a:rPr lang="zh-CN" altLang="en-US" sz="2400" b="1">
                <a:latin typeface="楷体_GB2312" pitchFamily="49" charset="-122"/>
                <a:ea typeface="楷体_GB2312" pitchFamily="49" charset="-122"/>
              </a:rPr>
              <a:t>）；</a:t>
            </a:r>
            <a:endParaRPr lang="zh-CN" altLang="en-US" sz="2400" b="1">
              <a:latin typeface="楷体_GB2312" pitchFamily="49" charset="-122"/>
              <a:ea typeface="楷体_GB2312" pitchFamily="49" charset="-122"/>
            </a:endParaRPr>
          </a:p>
          <a:p>
            <a:pPr marL="0" lvl="0" indent="0" eaLnBrk="1" hangingPunct="1">
              <a:spcBef>
                <a:spcPct val="0"/>
              </a:spcBef>
              <a:buNone/>
            </a:pPr>
            <a:r>
              <a:rPr lang="zh-CN" altLang="en-US" sz="2400" b="1">
                <a:latin typeface="楷体_GB2312" pitchFamily="49" charset="-122"/>
                <a:ea typeface="楷体_GB2312" pitchFamily="49" charset="-122"/>
              </a:rPr>
              <a:t>②</a:t>
            </a:r>
            <a:r>
              <a:rPr lang="en-US" altLang="zh-CN" sz="2400" b="1">
                <a:latin typeface="楷体_GB2312" pitchFamily="49" charset="-122"/>
                <a:ea typeface="宋体" pitchFamily="2" charset="-122"/>
              </a:rPr>
              <a:t>.</a:t>
            </a:r>
            <a:r>
              <a:rPr lang="en-US" altLang="zh-CN" sz="2400" b="1">
                <a:ea typeface="宋体" pitchFamily="2" charset="-122"/>
              </a:rPr>
              <a:t>  </a:t>
            </a:r>
            <a:r>
              <a:rPr lang="zh-CN" altLang="en-US" sz="2400" b="1">
                <a:latin typeface="楷体_GB2312" pitchFamily="49" charset="-122"/>
                <a:ea typeface="楷体_GB2312" pitchFamily="49" charset="-122"/>
              </a:rPr>
              <a:t>活化型调节蛋白（</a:t>
            </a:r>
            <a:r>
              <a:rPr lang="en-US" altLang="zh-CN" sz="2400" b="1">
                <a:latin typeface="楷体_GB2312" pitchFamily="49" charset="-122"/>
                <a:ea typeface="宋体" pitchFamily="2" charset="-122"/>
              </a:rPr>
              <a:t>Gs</a:t>
            </a:r>
            <a:r>
              <a:rPr lang="zh-CN" altLang="en-US" sz="2400" b="1">
                <a:latin typeface="楷体_GB2312" pitchFamily="49" charset="-122"/>
                <a:ea typeface="楷体_GB2312" pitchFamily="49" charset="-122"/>
              </a:rPr>
              <a:t>）或抑制型调节蛋白（</a:t>
            </a:r>
            <a:r>
              <a:rPr lang="en-US" altLang="zh-CN" sz="2400" b="1">
                <a:latin typeface="楷体_GB2312" pitchFamily="49" charset="-122"/>
                <a:ea typeface="宋体" pitchFamily="2" charset="-122"/>
              </a:rPr>
              <a:t>Gi</a:t>
            </a:r>
            <a:r>
              <a:rPr lang="zh-CN" altLang="en-US" sz="2400" b="1">
                <a:latin typeface="楷体_GB2312" pitchFamily="49" charset="-122"/>
                <a:ea typeface="楷体_GB2312" pitchFamily="49" charset="-122"/>
              </a:rPr>
              <a:t>）；</a:t>
            </a:r>
            <a:endParaRPr lang="zh-CN" altLang="en-US" sz="2400" b="1">
              <a:latin typeface="楷体_GB2312" pitchFamily="49" charset="-122"/>
              <a:ea typeface="楷体_GB2312" pitchFamily="49" charset="-122"/>
            </a:endParaRPr>
          </a:p>
          <a:p>
            <a:pPr marL="0" lvl="0" indent="0" eaLnBrk="1" hangingPunct="1">
              <a:spcBef>
                <a:spcPct val="0"/>
              </a:spcBef>
              <a:buNone/>
            </a:pPr>
            <a:r>
              <a:rPr lang="zh-CN" altLang="en-US" sz="2400" b="1">
                <a:latin typeface="楷体_GB2312" pitchFamily="49" charset="-122"/>
                <a:ea typeface="楷体_GB2312" pitchFamily="49" charset="-122"/>
              </a:rPr>
              <a:t>③</a:t>
            </a:r>
            <a:r>
              <a:rPr lang="en-US" altLang="zh-CN" sz="2400" b="1">
                <a:latin typeface="楷体_GB2312" pitchFamily="49" charset="-122"/>
                <a:ea typeface="宋体" pitchFamily="2" charset="-122"/>
              </a:rPr>
              <a:t>.</a:t>
            </a:r>
            <a:r>
              <a:rPr lang="en-US" altLang="zh-CN" sz="2400" b="1">
                <a:ea typeface="宋体" pitchFamily="2" charset="-122"/>
              </a:rPr>
              <a:t>  </a:t>
            </a:r>
            <a:r>
              <a:rPr lang="zh-CN" altLang="en-US" sz="2400" b="1">
                <a:latin typeface="楷体_GB2312" pitchFamily="49" charset="-122"/>
                <a:ea typeface="楷体_GB2312" pitchFamily="49" charset="-122"/>
              </a:rPr>
              <a:t>腺苷酸环化酶：是相对分子量为</a:t>
            </a:r>
            <a:r>
              <a:rPr lang="en-US" altLang="zh-CN" sz="2400" b="1">
                <a:latin typeface="楷体_GB2312" pitchFamily="49" charset="-122"/>
                <a:ea typeface="宋体" pitchFamily="2" charset="-122"/>
              </a:rPr>
              <a:t>150KD</a:t>
            </a:r>
            <a:r>
              <a:rPr lang="zh-CN" altLang="en-US" sz="2400" b="1">
                <a:latin typeface="楷体_GB2312" pitchFamily="49" charset="-122"/>
                <a:ea typeface="楷体_GB2312" pitchFamily="49" charset="-122"/>
              </a:rPr>
              <a:t>的糖蛋白，跨膜</a:t>
            </a:r>
            <a:r>
              <a:rPr lang="en-US" altLang="zh-CN" sz="2400" b="1">
                <a:latin typeface="楷体_GB2312" pitchFamily="49" charset="-122"/>
                <a:ea typeface="宋体" pitchFamily="2" charset="-122"/>
              </a:rPr>
              <a:t>12</a:t>
            </a:r>
            <a:r>
              <a:rPr lang="zh-CN" altLang="en-US" sz="2400" b="1">
                <a:latin typeface="楷体_GB2312" pitchFamily="49" charset="-122"/>
                <a:ea typeface="楷体_GB2312" pitchFamily="49" charset="-122"/>
              </a:rPr>
              <a:t>次。在</a:t>
            </a:r>
            <a:r>
              <a:rPr lang="en-US" altLang="zh-CN" sz="2400" b="1">
                <a:latin typeface="楷体_GB2312" pitchFamily="49" charset="-122"/>
                <a:ea typeface="宋体" pitchFamily="2" charset="-122"/>
              </a:rPr>
              <a:t>Mg</a:t>
            </a:r>
            <a:r>
              <a:rPr lang="en-US" altLang="zh-CN" sz="2400" b="1" baseline="30000">
                <a:latin typeface="楷体_GB2312" pitchFamily="49" charset="-122"/>
                <a:ea typeface="宋体" pitchFamily="2" charset="-122"/>
              </a:rPr>
              <a:t>2+</a:t>
            </a:r>
            <a:r>
              <a:rPr lang="zh-CN" altLang="en-US" sz="2400" b="1">
                <a:latin typeface="楷体_GB2312" pitchFamily="49" charset="-122"/>
                <a:ea typeface="楷体_GB2312" pitchFamily="49" charset="-122"/>
              </a:rPr>
              <a:t>或</a:t>
            </a:r>
            <a:r>
              <a:rPr lang="en-US" altLang="zh-CN" sz="2400" b="1">
                <a:latin typeface="楷体_GB2312" pitchFamily="49" charset="-122"/>
                <a:ea typeface="宋体" pitchFamily="2" charset="-122"/>
              </a:rPr>
              <a:t>Mn</a:t>
            </a:r>
            <a:r>
              <a:rPr lang="en-US" altLang="zh-CN" sz="2400" b="1" baseline="30000">
                <a:latin typeface="楷体_GB2312" pitchFamily="49" charset="-122"/>
                <a:ea typeface="宋体" pitchFamily="2" charset="-122"/>
              </a:rPr>
              <a:t>2+</a:t>
            </a:r>
            <a:r>
              <a:rPr lang="zh-CN" altLang="en-US" sz="2400" b="1">
                <a:latin typeface="楷体_GB2312" pitchFamily="49" charset="-122"/>
                <a:ea typeface="楷体_GB2312" pitchFamily="49" charset="-122"/>
              </a:rPr>
              <a:t>的存在下，腺苷酸环化酶催化</a:t>
            </a:r>
            <a:r>
              <a:rPr lang="en-US" altLang="zh-CN" sz="2400" b="1">
                <a:latin typeface="楷体_GB2312" pitchFamily="49" charset="-122"/>
                <a:ea typeface="宋体" pitchFamily="2" charset="-122"/>
              </a:rPr>
              <a:t>ATP</a:t>
            </a:r>
            <a:r>
              <a:rPr lang="zh-CN" altLang="en-US" sz="2400" b="1">
                <a:latin typeface="楷体_GB2312" pitchFamily="49" charset="-122"/>
                <a:ea typeface="楷体_GB2312" pitchFamily="49" charset="-122"/>
              </a:rPr>
              <a:t>生成</a:t>
            </a:r>
            <a:r>
              <a:rPr lang="en-US" altLang="zh-CN" sz="2400" b="1">
                <a:latin typeface="楷体_GB2312" pitchFamily="49" charset="-122"/>
                <a:ea typeface="宋体" pitchFamily="2" charset="-122"/>
              </a:rPr>
              <a:t>cAMP</a:t>
            </a:r>
            <a:endParaRPr lang="en-US" altLang="zh-CN" sz="2400" b="1">
              <a:latin typeface="楷体_GB2312" pitchFamily="49" charset="-122"/>
              <a:ea typeface="宋体" pitchFamily="2" charset="-122"/>
            </a:endParaRPr>
          </a:p>
          <a:p>
            <a:pPr marL="0" lvl="0" indent="0" eaLnBrk="1" hangingPunct="1">
              <a:spcBef>
                <a:spcPct val="0"/>
              </a:spcBef>
              <a:buNone/>
            </a:pPr>
            <a:r>
              <a:rPr lang="zh-CN" altLang="en-US" sz="2400" b="1">
                <a:latin typeface="楷体_GB2312" pitchFamily="49" charset="-122"/>
                <a:ea typeface="楷体_GB2312" pitchFamily="49" charset="-122"/>
              </a:rPr>
              <a:t>④</a:t>
            </a:r>
            <a:r>
              <a:rPr lang="en-US" altLang="zh-CN" sz="2400" b="1">
                <a:latin typeface="楷体_GB2312" pitchFamily="49" charset="-122"/>
                <a:ea typeface="宋体" pitchFamily="2" charset="-122"/>
              </a:rPr>
              <a:t>.</a:t>
            </a:r>
            <a:r>
              <a:rPr lang="en-US" altLang="zh-CN" sz="2400" b="1">
                <a:ea typeface="宋体" pitchFamily="2" charset="-122"/>
              </a:rPr>
              <a:t>  </a:t>
            </a:r>
            <a:r>
              <a:rPr lang="zh-CN" altLang="en-US" sz="2400" b="1">
                <a:latin typeface="楷体_GB2312" pitchFamily="49" charset="-122"/>
                <a:ea typeface="楷体_GB2312" pitchFamily="49" charset="-122"/>
              </a:rPr>
              <a:t>蛋白激酶</a:t>
            </a:r>
            <a:r>
              <a:rPr lang="en-US" altLang="zh-CN" sz="2400" b="1">
                <a:latin typeface="楷体_GB2312" pitchFamily="49" charset="-122"/>
                <a:ea typeface="宋体" pitchFamily="2" charset="-122"/>
              </a:rPr>
              <a:t>A</a:t>
            </a:r>
            <a:r>
              <a:rPr lang="zh-CN" altLang="en-US" sz="2400" b="1">
                <a:latin typeface="楷体_GB2312" pitchFamily="49" charset="-122"/>
                <a:ea typeface="楷体_GB2312" pitchFamily="49" charset="-122"/>
              </a:rPr>
              <a:t>（</a:t>
            </a:r>
            <a:r>
              <a:rPr lang="en-US" altLang="zh-CN" sz="2400" b="1">
                <a:latin typeface="楷体_GB2312" pitchFamily="49" charset="-122"/>
                <a:ea typeface="宋体" pitchFamily="2" charset="-122"/>
              </a:rPr>
              <a:t>Protein Kinase A</a:t>
            </a:r>
            <a:r>
              <a:rPr lang="zh-CN" altLang="en-US" sz="2400" b="1">
                <a:latin typeface="楷体_GB2312" pitchFamily="49" charset="-122"/>
                <a:ea typeface="楷体_GB2312" pitchFamily="49" charset="-122"/>
              </a:rPr>
              <a:t>，</a:t>
            </a:r>
            <a:r>
              <a:rPr lang="en-US" altLang="zh-CN" sz="2400" b="1">
                <a:latin typeface="楷体_GB2312" pitchFamily="49" charset="-122"/>
                <a:ea typeface="宋体" pitchFamily="2" charset="-122"/>
              </a:rPr>
              <a:t>PKA</a:t>
            </a:r>
            <a:r>
              <a:rPr lang="zh-CN" altLang="en-US" sz="2400" b="1">
                <a:latin typeface="楷体_GB2312" pitchFamily="49" charset="-122"/>
                <a:ea typeface="楷体_GB2312" pitchFamily="49" charset="-122"/>
              </a:rPr>
              <a:t>）</a:t>
            </a:r>
            <a:endParaRPr lang="en-US" altLang="zh-CN" sz="2400" b="1">
              <a:latin typeface="楷体_GB2312" pitchFamily="49" charset="-122"/>
              <a:ea typeface="宋体" pitchFamily="2" charset="-122"/>
            </a:endParaRPr>
          </a:p>
          <a:p>
            <a:pPr marL="0" lvl="0" indent="0" eaLnBrk="1" hangingPunct="1">
              <a:spcBef>
                <a:spcPct val="0"/>
              </a:spcBef>
              <a:buNone/>
            </a:pPr>
            <a:endParaRPr lang="en-US" altLang="zh-CN" sz="2400" b="1">
              <a:latin typeface="楷体_GB2312" pitchFamily="49" charset="-122"/>
              <a:ea typeface="宋体" pitchFamily="2" charset="-122"/>
            </a:endParaRPr>
          </a:p>
        </p:txBody>
      </p:sp>
      <p:sp>
        <p:nvSpPr>
          <p:cNvPr id="72706" name="Rectangle 3"/>
          <p:cNvSpPr/>
          <p:nvPr/>
        </p:nvSpPr>
        <p:spPr>
          <a:xfrm>
            <a:off x="3276600" y="260350"/>
            <a:ext cx="2330450" cy="5191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宋体" pitchFamily="2" charset="-122"/>
              </a:rPr>
              <a:t>cAMP</a:t>
            </a:r>
            <a:r>
              <a:rPr lang="zh-CN" altLang="en-US" sz="2800" b="1">
                <a:latin typeface="黑体" pitchFamily="49" charset="-122"/>
                <a:ea typeface="黑体" pitchFamily="49" charset="-122"/>
              </a:rPr>
              <a:t>信号途径</a:t>
            </a:r>
            <a:endParaRPr lang="zh-CN" altLang="en-US" sz="2800" b="1">
              <a:latin typeface="黑体" pitchFamily="49" charset="-122"/>
              <a:ea typeface="黑体" pitchFamily="49" charset="-122"/>
            </a:endParaRPr>
          </a:p>
        </p:txBody>
      </p:sp>
      <p:sp>
        <p:nvSpPr>
          <p:cNvPr id="72707" name="AutoShape 5"/>
          <p:cNvSpPr/>
          <p:nvPr/>
        </p:nvSpPr>
        <p:spPr>
          <a:xfrm>
            <a:off x="468313" y="3573463"/>
            <a:ext cx="215900" cy="2160587"/>
          </a:xfrm>
          <a:prstGeom prst="downArrow">
            <a:avLst>
              <a:gd name="adj1" fmla="val 50000"/>
              <a:gd name="adj2" fmla="val 250183"/>
            </a:avLst>
          </a:prstGeom>
          <a:gradFill rotWithShape="1">
            <a:gsLst>
              <a:gs pos="0">
                <a:srgbClr val="5E0000"/>
              </a:gs>
              <a:gs pos="100000">
                <a:srgbClr val="CC0000"/>
              </a:gs>
            </a:gsLst>
            <a:lin ang="5400000" scaled="1"/>
            <a:tileRect/>
          </a:gradFill>
          <a:ln w="12700" cap="flat" cmpd="sng">
            <a:solidFill>
              <a:schemeClr val="tx1"/>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72708"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729" name="Picture 2" descr="20040603180125947[1]"/>
          <p:cNvPicPr>
            <a:picLocks noChangeAspect="1"/>
          </p:cNvPicPr>
          <p:nvPr/>
        </p:nvPicPr>
        <p:blipFill>
          <a:blip r:embed="rId1"/>
          <a:srcRect b="4022"/>
          <a:stretch>
            <a:fillRect/>
          </a:stretch>
        </p:blipFill>
        <p:spPr>
          <a:xfrm>
            <a:off x="2268538" y="765175"/>
            <a:ext cx="4624387" cy="5040313"/>
          </a:xfrm>
          <a:prstGeom prst="rect">
            <a:avLst/>
          </a:prstGeom>
          <a:noFill/>
          <a:ln w="9525">
            <a:noFill/>
          </a:ln>
        </p:spPr>
      </p:pic>
      <p:sp>
        <p:nvSpPr>
          <p:cNvPr id="73730" name="Text Box 3"/>
          <p:cNvSpPr txBox="1"/>
          <p:nvPr/>
        </p:nvSpPr>
        <p:spPr>
          <a:xfrm>
            <a:off x="2555875" y="260350"/>
            <a:ext cx="4248150"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ea typeface="黑体" pitchFamily="49" charset="-122"/>
              </a:rPr>
              <a:t>腺苷酸环化酶催化的反应</a:t>
            </a:r>
            <a:endParaRPr lang="en-US" altLang="zh-CN" sz="2800" b="1">
              <a:ea typeface="宋体" pitchFamily="2" charset="-122"/>
            </a:endParaRPr>
          </a:p>
        </p:txBody>
      </p:sp>
      <p:sp>
        <p:nvSpPr>
          <p:cNvPr id="73731" name="Text Box 4"/>
          <p:cNvSpPr txBox="1"/>
          <p:nvPr/>
        </p:nvSpPr>
        <p:spPr>
          <a:xfrm>
            <a:off x="1476375" y="4581525"/>
            <a:ext cx="72072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latin typeface="黑体" pitchFamily="49" charset="-122"/>
                <a:ea typeface="宋体" pitchFamily="2" charset="-122"/>
              </a:rPr>
              <a:t>ATP</a:t>
            </a:r>
            <a:endParaRPr lang="en-US" altLang="zh-CN" sz="2400" b="1">
              <a:latin typeface="黑体" pitchFamily="49" charset="-122"/>
              <a:ea typeface="宋体" pitchFamily="2" charset="-122"/>
            </a:endParaRPr>
          </a:p>
        </p:txBody>
      </p:sp>
      <p:sp>
        <p:nvSpPr>
          <p:cNvPr id="73732" name="Text Box 5"/>
          <p:cNvSpPr txBox="1"/>
          <p:nvPr/>
        </p:nvSpPr>
        <p:spPr>
          <a:xfrm>
            <a:off x="6588125" y="4437063"/>
            <a:ext cx="2735263"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rgbClr val="CC0000"/>
                </a:solidFill>
                <a:latin typeface="黑体" pitchFamily="49" charset="-122"/>
                <a:ea typeface="宋体" pitchFamily="2" charset="-122"/>
              </a:rPr>
              <a:t>cAMP</a:t>
            </a:r>
            <a:r>
              <a:rPr lang="zh-CN" altLang="en-US" sz="2400" b="1">
                <a:solidFill>
                  <a:srgbClr val="CC0000"/>
                </a:solidFill>
                <a:latin typeface="黑体" pitchFamily="49" charset="-122"/>
                <a:ea typeface="黑体" pitchFamily="49" charset="-122"/>
              </a:rPr>
              <a:t>（</a:t>
            </a:r>
            <a:r>
              <a:rPr lang="zh-CN" altLang="en-US" sz="2400" b="1">
                <a:solidFill>
                  <a:srgbClr val="CC0000"/>
                </a:solidFill>
                <a:latin typeface="楷体_GB2312" pitchFamily="49" charset="-122"/>
                <a:ea typeface="楷体_GB2312" pitchFamily="49" charset="-122"/>
              </a:rPr>
              <a:t>第二信使）</a:t>
            </a:r>
            <a:endParaRPr lang="zh-CN" altLang="en-US" sz="2400" b="1">
              <a:solidFill>
                <a:srgbClr val="CC0000"/>
              </a:solidFill>
              <a:latin typeface="楷体_GB2312" pitchFamily="49" charset="-122"/>
              <a:ea typeface="楷体_GB2312" pitchFamily="49" charset="-122"/>
            </a:endParaRPr>
          </a:p>
        </p:txBody>
      </p:sp>
      <p:sp>
        <p:nvSpPr>
          <p:cNvPr id="73733" name="Rectangle 6"/>
          <p:cNvSpPr/>
          <p:nvPr/>
        </p:nvSpPr>
        <p:spPr>
          <a:xfrm>
            <a:off x="900113" y="6035675"/>
            <a:ext cx="7693025" cy="8223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latin typeface="楷体_GB2312" pitchFamily="49" charset="-122"/>
                <a:ea typeface="楷体_GB2312" pitchFamily="49" charset="-122"/>
              </a:rPr>
              <a:t>相对分子量为</a:t>
            </a:r>
            <a:r>
              <a:rPr lang="en-US" altLang="zh-CN" sz="2400" b="1">
                <a:latin typeface="楷体_GB2312" pitchFamily="49" charset="-122"/>
                <a:ea typeface="楷体_GB2312" pitchFamily="49" charset="-122"/>
              </a:rPr>
              <a:t>150KD</a:t>
            </a:r>
            <a:r>
              <a:rPr lang="zh-CN" altLang="en-US" sz="2400" b="1">
                <a:latin typeface="楷体_GB2312" pitchFamily="49" charset="-122"/>
                <a:ea typeface="楷体_GB2312" pitchFamily="49" charset="-122"/>
              </a:rPr>
              <a:t>的糖蛋白，跨膜</a:t>
            </a:r>
            <a:r>
              <a:rPr lang="en-US" altLang="zh-CN" sz="2400" b="1">
                <a:latin typeface="楷体_GB2312" pitchFamily="49" charset="-122"/>
                <a:ea typeface="楷体_GB2312" pitchFamily="49" charset="-122"/>
              </a:rPr>
              <a:t>12</a:t>
            </a:r>
            <a:r>
              <a:rPr lang="zh-CN" altLang="en-US" sz="2400" b="1">
                <a:latin typeface="楷体_GB2312" pitchFamily="49" charset="-122"/>
                <a:ea typeface="楷体_GB2312" pitchFamily="49" charset="-122"/>
              </a:rPr>
              <a:t>次。在</a:t>
            </a:r>
            <a:r>
              <a:rPr lang="en-US" altLang="zh-CN" sz="2400" b="1">
                <a:latin typeface="楷体_GB2312" pitchFamily="49" charset="-122"/>
                <a:ea typeface="楷体_GB2312" pitchFamily="49" charset="-122"/>
              </a:rPr>
              <a:t>Mg</a:t>
            </a:r>
            <a:r>
              <a:rPr lang="en-US" altLang="zh-CN" sz="2400" b="1" baseline="30000">
                <a:latin typeface="楷体_GB2312" pitchFamily="49" charset="-122"/>
                <a:ea typeface="楷体_GB2312" pitchFamily="49" charset="-122"/>
              </a:rPr>
              <a:t>2+</a:t>
            </a:r>
            <a:r>
              <a:rPr lang="zh-CN" altLang="en-US" sz="2400" b="1">
                <a:latin typeface="楷体_GB2312" pitchFamily="49" charset="-122"/>
                <a:ea typeface="楷体_GB2312" pitchFamily="49" charset="-122"/>
              </a:rPr>
              <a:t>或</a:t>
            </a:r>
            <a:r>
              <a:rPr lang="en-US" altLang="zh-CN" sz="2400" b="1">
                <a:latin typeface="楷体_GB2312" pitchFamily="49" charset="-122"/>
                <a:ea typeface="楷体_GB2312" pitchFamily="49" charset="-122"/>
              </a:rPr>
              <a:t>Mn</a:t>
            </a:r>
            <a:r>
              <a:rPr lang="en-US" altLang="zh-CN" sz="2400" b="1" baseline="30000">
                <a:latin typeface="楷体_GB2312" pitchFamily="49" charset="-122"/>
                <a:ea typeface="楷体_GB2312" pitchFamily="49" charset="-122"/>
              </a:rPr>
              <a:t>2+</a:t>
            </a:r>
            <a:r>
              <a:rPr lang="zh-CN" altLang="en-US" sz="2400" b="1">
                <a:latin typeface="楷体_GB2312" pitchFamily="49" charset="-122"/>
                <a:ea typeface="楷体_GB2312" pitchFamily="49" charset="-122"/>
              </a:rPr>
              <a:t>的存在下，腺苷酸环化酶催化</a:t>
            </a:r>
            <a:r>
              <a:rPr lang="en-US" altLang="zh-CN" sz="2400" b="1">
                <a:latin typeface="楷体_GB2312" pitchFamily="49" charset="-122"/>
                <a:ea typeface="楷体_GB2312" pitchFamily="49" charset="-122"/>
              </a:rPr>
              <a:t>ATP</a:t>
            </a:r>
            <a:r>
              <a:rPr lang="zh-CN" altLang="en-US" sz="2400" b="1">
                <a:latin typeface="楷体_GB2312" pitchFamily="49" charset="-122"/>
                <a:ea typeface="楷体_GB2312" pitchFamily="49" charset="-122"/>
              </a:rPr>
              <a:t>生成</a:t>
            </a:r>
            <a:r>
              <a:rPr lang="en-US" altLang="zh-CN" sz="2400" b="1">
                <a:latin typeface="楷体_GB2312" pitchFamily="49" charset="-122"/>
                <a:ea typeface="楷体_GB2312" pitchFamily="49" charset="-122"/>
              </a:rPr>
              <a:t>cAMP</a:t>
            </a:r>
            <a:endParaRPr lang="en-US" altLang="zh-CN" sz="2400" b="1">
              <a:latin typeface="楷体_GB2312" pitchFamily="49" charset="-122"/>
              <a:ea typeface="楷体_GB2312" pitchFamily="49" charset="-122"/>
            </a:endParaRPr>
          </a:p>
        </p:txBody>
      </p:sp>
      <p:sp>
        <p:nvSpPr>
          <p:cNvPr id="73734"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p:nvPr/>
        </p:nvSpPr>
        <p:spPr>
          <a:xfrm>
            <a:off x="684213" y="692150"/>
            <a:ext cx="7704137" cy="521652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solidFill>
                  <a:srgbClr val="A50021"/>
                </a:solidFill>
                <a:latin typeface="黑体" pitchFamily="49" charset="-122"/>
                <a:ea typeface="黑体" pitchFamily="49" charset="-122"/>
              </a:rPr>
              <a:t>蛋白激酶</a:t>
            </a:r>
            <a:r>
              <a:rPr lang="en-US" altLang="zh-CN" sz="2800" b="1">
                <a:solidFill>
                  <a:srgbClr val="A50021"/>
                </a:solidFill>
                <a:latin typeface="黑体" pitchFamily="49" charset="-122"/>
                <a:ea typeface="宋体" pitchFamily="2" charset="-122"/>
              </a:rPr>
              <a:t>A</a:t>
            </a:r>
            <a:r>
              <a:rPr lang="zh-CN" altLang="en-US" sz="2800" b="1">
                <a:solidFill>
                  <a:srgbClr val="A50021"/>
                </a:solidFill>
                <a:latin typeface="黑体" pitchFamily="49" charset="-122"/>
                <a:ea typeface="黑体" pitchFamily="49" charset="-122"/>
              </a:rPr>
              <a:t>（</a:t>
            </a:r>
            <a:r>
              <a:rPr lang="en-US" altLang="zh-CN" sz="2800" b="1">
                <a:solidFill>
                  <a:srgbClr val="A50021"/>
                </a:solidFill>
                <a:latin typeface="黑体" pitchFamily="49" charset="-122"/>
                <a:ea typeface="宋体" pitchFamily="2" charset="-122"/>
              </a:rPr>
              <a:t>PKA</a:t>
            </a:r>
            <a:r>
              <a:rPr lang="zh-CN" altLang="en-US" sz="2800" b="1">
                <a:solidFill>
                  <a:srgbClr val="A50021"/>
                </a:solidFill>
                <a:latin typeface="黑体" pitchFamily="49" charset="-122"/>
                <a:ea typeface="黑体" pitchFamily="49" charset="-122"/>
              </a:rPr>
              <a:t>）</a:t>
            </a:r>
            <a:r>
              <a:rPr lang="zh-CN" altLang="en-US" sz="2800" b="1">
                <a:latin typeface="楷体_GB2312" pitchFamily="49" charset="-122"/>
                <a:ea typeface="楷体_GB2312" pitchFamily="49" charset="-122"/>
              </a:rPr>
              <a:t>：由两个催化亚基和两个调节亚基组成，在没有</a:t>
            </a:r>
            <a:r>
              <a:rPr lang="en-US" altLang="zh-CN" sz="2800" b="1">
                <a:latin typeface="楷体_GB2312" pitchFamily="49" charset="-122"/>
                <a:ea typeface="宋体" pitchFamily="2" charset="-122"/>
              </a:rPr>
              <a:t>cAMP</a:t>
            </a:r>
            <a:r>
              <a:rPr lang="zh-CN" altLang="en-US" sz="2800" b="1">
                <a:latin typeface="楷体_GB2312" pitchFamily="49" charset="-122"/>
                <a:ea typeface="楷体_GB2312" pitchFamily="49" charset="-122"/>
              </a:rPr>
              <a:t>时，以钝化复合体形式（四亚基聚合）存在。</a:t>
            </a:r>
            <a:r>
              <a:rPr lang="en-US" altLang="zh-CN" sz="2800" b="1">
                <a:latin typeface="楷体_GB2312" pitchFamily="49" charset="-122"/>
                <a:ea typeface="宋体" pitchFamily="2" charset="-122"/>
              </a:rPr>
              <a:t>cAMP</a:t>
            </a:r>
            <a:r>
              <a:rPr lang="zh-CN" altLang="en-US" sz="2800" b="1">
                <a:latin typeface="楷体_GB2312" pitchFamily="49" charset="-122"/>
                <a:ea typeface="楷体_GB2312" pitchFamily="49" charset="-122"/>
              </a:rPr>
              <a:t>与调节亚基结合，改变调节亚基构象，使调节亚基和催化亚基解离，释放出催化亚基，具有催化活性。活化的蛋白激酶</a:t>
            </a:r>
            <a:r>
              <a:rPr lang="en-US" altLang="zh-CN" sz="2800" b="1">
                <a:latin typeface="楷体_GB2312" pitchFamily="49" charset="-122"/>
                <a:ea typeface="宋体" pitchFamily="2" charset="-122"/>
              </a:rPr>
              <a:t>A</a:t>
            </a:r>
            <a:r>
              <a:rPr lang="zh-CN" altLang="en-US" sz="2800" b="1">
                <a:latin typeface="楷体_GB2312" pitchFamily="49" charset="-122"/>
                <a:ea typeface="楷体_GB2312" pitchFamily="49" charset="-122"/>
              </a:rPr>
              <a:t>催化亚基可使细胞内某些蛋白的丝氨酸或苏氨酸残基磷酸化，于是改变这些蛋白的活性，进一步影响到其作用底物（往往是下一级酶）的活性。</a:t>
            </a:r>
            <a:endParaRPr lang="zh-CN" altLang="en-US" sz="2800" b="1">
              <a:latin typeface="楷体_GB2312" pitchFamily="49" charset="-122"/>
              <a:ea typeface="楷体_GB2312" pitchFamily="49" charset="-122"/>
            </a:endParaRPr>
          </a:p>
          <a:p>
            <a:pPr marL="0" lvl="0" indent="0" eaLnBrk="1" hangingPunct="1">
              <a:spcBef>
                <a:spcPct val="0"/>
              </a:spcBef>
              <a:buNone/>
            </a:pP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800" b="1">
                <a:latin typeface="楷体_GB2312" pitchFamily="49" charset="-122"/>
                <a:ea typeface="楷体_GB2312" pitchFamily="49" charset="-122"/>
              </a:rPr>
              <a:t>通过一系列蛋白质酶的逐级磷酸化，使激素信号在细胞内逐级传送和放大</a:t>
            </a:r>
            <a:r>
              <a:rPr lang="en-US" altLang="zh-CN" sz="2800" b="1">
                <a:ea typeface="宋体" pitchFamily="2" charset="-122"/>
              </a:rPr>
              <a:t>——</a:t>
            </a:r>
            <a:r>
              <a:rPr lang="zh-CN" altLang="en-US" sz="2800" b="1">
                <a:solidFill>
                  <a:schemeClr val="accent2"/>
                </a:solidFill>
                <a:latin typeface="楷体_GB2312" pitchFamily="49" charset="-122"/>
                <a:ea typeface="楷体_GB2312" pitchFamily="49" charset="-122"/>
              </a:rPr>
              <a:t>级联放大机制</a:t>
            </a:r>
            <a:r>
              <a:rPr lang="zh-CN" altLang="en-US" sz="2800" b="1">
                <a:latin typeface="楷体_GB2312" pitchFamily="49" charset="-122"/>
                <a:ea typeface="楷体_GB2312" pitchFamily="49" charset="-122"/>
              </a:rPr>
              <a:t>。</a:t>
            </a:r>
            <a:endParaRPr lang="zh-CN" altLang="en-US" sz="2800" b="1">
              <a:latin typeface="楷体_GB2312" pitchFamily="49" charset="-122"/>
              <a:ea typeface="楷体_GB2312" pitchFamily="49" charset="-122"/>
            </a:endParaRPr>
          </a:p>
        </p:txBody>
      </p:sp>
      <p:sp>
        <p:nvSpPr>
          <p:cNvPr id="74754"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Text Box 2"/>
          <p:cNvSpPr txBox="1"/>
          <p:nvPr/>
        </p:nvSpPr>
        <p:spPr>
          <a:xfrm>
            <a:off x="3059113" y="476250"/>
            <a:ext cx="2951162" cy="519113"/>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黑体" pitchFamily="49" charset="-122"/>
                <a:ea typeface="黑体" pitchFamily="49" charset="-122"/>
              </a:rPr>
              <a:t>蛋白激酶</a:t>
            </a:r>
            <a:r>
              <a:rPr lang="en-US" altLang="zh-CN" sz="2800" b="1">
                <a:latin typeface="黑体" pitchFamily="49" charset="-122"/>
                <a:ea typeface="宋体" pitchFamily="2" charset="-122"/>
              </a:rPr>
              <a:t>A</a:t>
            </a:r>
            <a:r>
              <a:rPr lang="zh-CN" altLang="en-US" sz="2800" b="1">
                <a:latin typeface="黑体" pitchFamily="49" charset="-122"/>
                <a:ea typeface="黑体" pitchFamily="49" charset="-122"/>
              </a:rPr>
              <a:t>的激活</a:t>
            </a:r>
            <a:endParaRPr lang="zh-CN" altLang="en-US" sz="2800" b="1">
              <a:latin typeface="黑体" pitchFamily="49" charset="-122"/>
              <a:ea typeface="黑体" pitchFamily="49" charset="-122"/>
            </a:endParaRPr>
          </a:p>
        </p:txBody>
      </p:sp>
      <p:grpSp>
        <p:nvGrpSpPr>
          <p:cNvPr id="75778" name="Group 3"/>
          <p:cNvGrpSpPr/>
          <p:nvPr/>
        </p:nvGrpSpPr>
        <p:grpSpPr>
          <a:xfrm>
            <a:off x="539750" y="1268413"/>
            <a:ext cx="7488238" cy="3760787"/>
            <a:chOff x="385" y="1071"/>
            <a:chExt cx="4128" cy="2323"/>
          </a:xfrm>
        </p:grpSpPr>
        <p:pic>
          <p:nvPicPr>
            <p:cNvPr id="75789" name="Picture 4" descr="20040603180125764"/>
            <p:cNvPicPr>
              <a:picLocks noChangeAspect="1"/>
            </p:cNvPicPr>
            <p:nvPr/>
          </p:nvPicPr>
          <p:blipFill>
            <a:blip r:embed="rId1"/>
            <a:stretch>
              <a:fillRect/>
            </a:stretch>
          </p:blipFill>
          <p:spPr>
            <a:xfrm>
              <a:off x="657" y="1071"/>
              <a:ext cx="3810" cy="2323"/>
            </a:xfrm>
            <a:prstGeom prst="rect">
              <a:avLst/>
            </a:prstGeom>
            <a:noFill/>
            <a:ln w="9525">
              <a:noFill/>
            </a:ln>
          </p:spPr>
        </p:pic>
        <p:sp>
          <p:nvSpPr>
            <p:cNvPr id="75790" name="Text Box 5"/>
            <p:cNvSpPr txBox="1"/>
            <p:nvPr/>
          </p:nvSpPr>
          <p:spPr>
            <a:xfrm>
              <a:off x="1565" y="2931"/>
              <a:ext cx="680" cy="434"/>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a:t>C </a:t>
              </a:r>
              <a:r>
                <a:rPr lang="zh-CN" altLang="en-US" sz="2000" b="1"/>
                <a:t>亚基（催化）  </a:t>
              </a:r>
              <a:endParaRPr lang="en-US" altLang="zh-CN" sz="2000" b="1"/>
            </a:p>
          </p:txBody>
        </p:sp>
        <p:sp>
          <p:nvSpPr>
            <p:cNvPr id="75791" name="Text Box 6"/>
            <p:cNvSpPr txBox="1"/>
            <p:nvPr/>
          </p:nvSpPr>
          <p:spPr>
            <a:xfrm>
              <a:off x="884" y="2931"/>
              <a:ext cx="680" cy="434"/>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a:t>R </a:t>
              </a:r>
              <a:r>
                <a:rPr lang="zh-CN" altLang="en-US" sz="2000" b="1"/>
                <a:t>亚基（调节）  </a:t>
              </a:r>
              <a:endParaRPr lang="en-US" altLang="zh-CN" sz="2000" b="1"/>
            </a:p>
          </p:txBody>
        </p:sp>
        <p:sp>
          <p:nvSpPr>
            <p:cNvPr id="75792" name="Text Box 7"/>
            <p:cNvSpPr txBox="1"/>
            <p:nvPr/>
          </p:nvSpPr>
          <p:spPr>
            <a:xfrm>
              <a:off x="385" y="2024"/>
              <a:ext cx="680" cy="651"/>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1800" b="1">
                  <a:ea typeface="楷体_GB2312" pitchFamily="49" charset="-122"/>
                </a:rPr>
                <a:t>无活性</a:t>
              </a:r>
              <a:endParaRPr lang="zh-CN" altLang="en-US" sz="1800" b="1">
                <a:ea typeface="楷体_GB2312" pitchFamily="49" charset="-122"/>
              </a:endParaRPr>
            </a:p>
            <a:p>
              <a:pPr marL="0" lvl="0" indent="0" algn="ctr" eaLnBrk="1" hangingPunct="1">
                <a:spcBef>
                  <a:spcPct val="50000"/>
                </a:spcBef>
                <a:buNone/>
              </a:pPr>
              <a:r>
                <a:rPr lang="zh-CN" altLang="en-US" sz="1800" b="1">
                  <a:ea typeface="楷体_GB2312" pitchFamily="49" charset="-122"/>
                </a:rPr>
                <a:t>四亚基聚合体</a:t>
              </a:r>
              <a:r>
                <a:rPr lang="zh-CN" altLang="en-US" sz="1800" b="1"/>
                <a:t>   </a:t>
              </a:r>
              <a:endParaRPr lang="en-US" altLang="zh-CN" sz="1800" b="1"/>
            </a:p>
          </p:txBody>
        </p:sp>
        <p:sp>
          <p:nvSpPr>
            <p:cNvPr id="75793" name="Text Box 8"/>
            <p:cNvSpPr txBox="1"/>
            <p:nvPr/>
          </p:nvSpPr>
          <p:spPr>
            <a:xfrm>
              <a:off x="3833" y="3167"/>
              <a:ext cx="680" cy="226"/>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1800" b="1">
                  <a:latin typeface="楷体_GB2312" pitchFamily="49" charset="-122"/>
                  <a:ea typeface="楷体_GB2312" pitchFamily="49" charset="-122"/>
                </a:rPr>
                <a:t>有活性   </a:t>
              </a:r>
              <a:endParaRPr lang="en-US" altLang="zh-CN" sz="1800" b="1">
                <a:latin typeface="楷体_GB2312" pitchFamily="49" charset="-122"/>
                <a:ea typeface="楷体_GB2312" pitchFamily="49" charset="-122"/>
              </a:endParaRPr>
            </a:p>
          </p:txBody>
        </p:sp>
        <p:sp>
          <p:nvSpPr>
            <p:cNvPr id="75794" name="Text Box 9"/>
            <p:cNvSpPr txBox="1"/>
            <p:nvPr/>
          </p:nvSpPr>
          <p:spPr>
            <a:xfrm>
              <a:off x="2744" y="2886"/>
              <a:ext cx="771" cy="434"/>
            </a:xfrm>
            <a:prstGeom prst="rect">
              <a:avLst/>
            </a:prstGeom>
            <a:solidFill>
              <a:schemeClr val="bg1"/>
            </a:solid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a:latin typeface="楷体_GB2312" pitchFamily="49" charset="-122"/>
                  <a:ea typeface="楷体_GB2312" pitchFamily="49" charset="-122"/>
                </a:rPr>
                <a:t>cAMP-R </a:t>
              </a:r>
              <a:r>
                <a:rPr lang="zh-CN" altLang="en-US" sz="2000" b="1">
                  <a:latin typeface="楷体_GB2312" pitchFamily="49" charset="-122"/>
                  <a:ea typeface="楷体_GB2312" pitchFamily="49" charset="-122"/>
                </a:rPr>
                <a:t>复合物</a:t>
              </a:r>
              <a:r>
                <a:rPr lang="zh-CN" altLang="en-US" sz="1800" b="1"/>
                <a:t>  </a:t>
              </a:r>
              <a:endParaRPr lang="zh-CN" altLang="en-US" sz="1800" b="1"/>
            </a:p>
          </p:txBody>
        </p:sp>
      </p:grpSp>
      <p:sp>
        <p:nvSpPr>
          <p:cNvPr id="300042" name="Text Box 10"/>
          <p:cNvSpPr txBox="1"/>
          <p:nvPr/>
        </p:nvSpPr>
        <p:spPr>
          <a:xfrm>
            <a:off x="684213" y="5589588"/>
            <a:ext cx="7848600"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a:latin typeface="楷体_GB2312" pitchFamily="49" charset="-122"/>
                <a:ea typeface="楷体_GB2312" pitchFamily="49" charset="-122"/>
              </a:rPr>
              <a:t>同时还是</a:t>
            </a:r>
            <a:r>
              <a:rPr lang="en-US" altLang="zh-CN" sz="2800" b="1">
                <a:latin typeface="楷体_GB2312" pitchFamily="49" charset="-122"/>
                <a:ea typeface="楷体_GB2312" pitchFamily="49" charset="-122"/>
              </a:rPr>
              <a:t>Ca</a:t>
            </a:r>
            <a:r>
              <a:rPr lang="en-US" altLang="zh-CN" sz="2800" b="1" baseline="30000">
                <a:latin typeface="楷体_GB2312" pitchFamily="49" charset="-122"/>
                <a:ea typeface="楷体_GB2312" pitchFamily="49" charset="-122"/>
              </a:rPr>
              <a:t>2</a:t>
            </a:r>
            <a:r>
              <a:rPr lang="zh-CN" altLang="en-US" sz="2800" b="1" baseline="30000">
                <a:latin typeface="楷体_GB2312" pitchFamily="49" charset="-122"/>
                <a:ea typeface="楷体_GB2312" pitchFamily="49" charset="-122"/>
              </a:rPr>
              <a:t>＋</a:t>
            </a:r>
            <a:r>
              <a:rPr lang="zh-CN" altLang="en-US" sz="2800" b="1">
                <a:latin typeface="楷体_GB2312" pitchFamily="49" charset="-122"/>
                <a:ea typeface="楷体_GB2312" pitchFamily="49" charset="-122"/>
              </a:rPr>
              <a:t>依赖型激酶，</a:t>
            </a:r>
            <a:r>
              <a:rPr lang="en-US" altLang="zh-CN" sz="2800" b="1">
                <a:latin typeface="楷体_GB2312" pitchFamily="49" charset="-122"/>
                <a:ea typeface="楷体_GB2312" pitchFamily="49" charset="-122"/>
              </a:rPr>
              <a:t>Ca</a:t>
            </a:r>
            <a:r>
              <a:rPr lang="en-US" altLang="zh-CN" sz="2800" b="1" baseline="30000">
                <a:latin typeface="楷体_GB2312" pitchFamily="49" charset="-122"/>
                <a:ea typeface="楷体_GB2312" pitchFamily="49" charset="-122"/>
              </a:rPr>
              <a:t>2</a:t>
            </a:r>
            <a:r>
              <a:rPr lang="zh-CN" altLang="en-US" sz="2800" b="1" baseline="30000">
                <a:latin typeface="楷体_GB2312" pitchFamily="49" charset="-122"/>
                <a:ea typeface="楷体_GB2312" pitchFamily="49" charset="-122"/>
              </a:rPr>
              <a:t>＋</a:t>
            </a:r>
            <a:r>
              <a:rPr lang="zh-CN" altLang="en-US" sz="2800" b="1">
                <a:latin typeface="楷体_GB2312" pitchFamily="49" charset="-122"/>
                <a:ea typeface="楷体_GB2312" pitchFamily="49" charset="-122"/>
              </a:rPr>
              <a:t>刺激磷酸化作用</a:t>
            </a:r>
            <a:endParaRPr lang="zh-CN" altLang="en-US" sz="2800" b="1">
              <a:latin typeface="楷体_GB2312" pitchFamily="49" charset="-122"/>
              <a:ea typeface="楷体_GB2312" pitchFamily="49" charset="-122"/>
            </a:endParaRPr>
          </a:p>
        </p:txBody>
      </p:sp>
      <p:sp>
        <p:nvSpPr>
          <p:cNvPr id="75780" name="Text Box 11"/>
          <p:cNvSpPr txBox="1"/>
          <p:nvPr/>
        </p:nvSpPr>
        <p:spPr>
          <a:xfrm>
            <a:off x="3276600" y="3500438"/>
            <a:ext cx="1728788" cy="366712"/>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a:t>ATP         ADP</a:t>
            </a:r>
            <a:endParaRPr lang="zh-CN" altLang="en-US" sz="1800" b="1"/>
          </a:p>
        </p:txBody>
      </p:sp>
      <p:grpSp>
        <p:nvGrpSpPr>
          <p:cNvPr id="75781" name="Group 12"/>
          <p:cNvGrpSpPr/>
          <p:nvPr/>
        </p:nvGrpSpPr>
        <p:grpSpPr>
          <a:xfrm flipH="1" flipV="1">
            <a:off x="3722688" y="3184525"/>
            <a:ext cx="792162" cy="503238"/>
            <a:chOff x="3179" y="3994"/>
            <a:chExt cx="563" cy="272"/>
          </a:xfrm>
        </p:grpSpPr>
        <p:sp>
          <p:nvSpPr>
            <p:cNvPr id="75787" name="Arc 13"/>
            <p:cNvSpPr/>
            <p:nvPr/>
          </p:nvSpPr>
          <p:spPr>
            <a:xfrm flipH="1" flipV="1">
              <a:off x="3198" y="3994"/>
              <a:ext cx="544" cy="272"/>
            </a:xfrm>
            <a:custGeom>
              <a:avLst/>
              <a:gdLst>
                <a:gd name="txL" fmla="*/ 0 w 40171"/>
                <a:gd name="txT" fmla="*/ 0 h 21600"/>
                <a:gd name="txR" fmla="*/ 40171 w 40171"/>
                <a:gd name="txB" fmla="*/ 21600 h 21600"/>
              </a:gdLst>
              <a:ahLst/>
              <a:cxnLst>
                <a:cxn ang="0">
                  <a:pos x="0" y="0"/>
                </a:cxn>
                <a:cxn ang="0">
                  <a:pos x="0" y="0"/>
                </a:cxn>
                <a:cxn ang="0">
                  <a:pos x="0" y="0"/>
                </a:cxn>
              </a:cxnLst>
              <a:rect l="txL" t="txT" r="txR" b="txB"/>
              <a:pathLst>
                <a:path w="40171" h="21600" fill="none">
                  <a:moveTo>
                    <a:pt x="-1" y="13508"/>
                  </a:moveTo>
                  <a:cubicBezTo>
                    <a:pt x="3298" y="5344"/>
                    <a:pt x="11221" y="-1"/>
                    <a:pt x="20027" y="0"/>
                  </a:cubicBezTo>
                  <a:cubicBezTo>
                    <a:pt x="28947" y="0"/>
                    <a:pt x="36950" y="5483"/>
                    <a:pt x="40170" y="13803"/>
                  </a:cubicBezTo>
                </a:path>
                <a:path w="40171" h="21600" stroke="0">
                  <a:moveTo>
                    <a:pt x="-1" y="13508"/>
                  </a:moveTo>
                  <a:cubicBezTo>
                    <a:pt x="3298" y="5344"/>
                    <a:pt x="11221" y="-1"/>
                    <a:pt x="20027" y="0"/>
                  </a:cubicBezTo>
                  <a:cubicBezTo>
                    <a:pt x="28947" y="0"/>
                    <a:pt x="36950" y="5483"/>
                    <a:pt x="40170" y="13803"/>
                  </a:cubicBezTo>
                  <a:lnTo>
                    <a:pt x="20027" y="21600"/>
                  </a:lnTo>
                  <a:lnTo>
                    <a:pt x="-1" y="13508"/>
                  </a:lnTo>
                  <a:close/>
                </a:path>
              </a:pathLst>
            </a:custGeom>
            <a:noFill/>
            <a:ln w="28575" cap="flat" cmpd="sng">
              <a:solidFill>
                <a:srgbClr val="FF9900">
                  <a:alpha val="100000"/>
                </a:srgbClr>
              </a:solidFill>
              <a:prstDash val="solid"/>
              <a:miter lim="800000"/>
              <a:headEnd type="none" w="sm" len="sm"/>
              <a:tailEnd type="none" w="sm" len="sm"/>
            </a:ln>
          </p:spPr>
          <p:txBody>
            <a:bodyPr/>
            <a:p>
              <a:endParaRPr lang="zh-CN" altLang="en-US"/>
            </a:p>
          </p:txBody>
        </p:sp>
        <p:sp>
          <p:nvSpPr>
            <p:cNvPr id="75788" name="Line 14"/>
            <p:cNvSpPr/>
            <p:nvPr/>
          </p:nvSpPr>
          <p:spPr>
            <a:xfrm flipH="1" flipV="1">
              <a:off x="3179" y="4074"/>
              <a:ext cx="91" cy="91"/>
            </a:xfrm>
            <a:prstGeom prst="line">
              <a:avLst/>
            </a:prstGeom>
            <a:ln w="28575" cap="flat" cmpd="sng">
              <a:solidFill>
                <a:srgbClr val="FF9900"/>
              </a:solidFill>
              <a:prstDash val="solid"/>
              <a:miter/>
              <a:headEnd type="none" w="sm" len="sm"/>
              <a:tailEnd type="triangle" w="sm" len="sm"/>
            </a:ln>
          </p:spPr>
        </p:sp>
      </p:grpSp>
      <p:sp>
        <p:nvSpPr>
          <p:cNvPr id="75782" name="Rectangle 15"/>
          <p:cNvSpPr/>
          <p:nvPr/>
        </p:nvSpPr>
        <p:spPr>
          <a:xfrm>
            <a:off x="6443663" y="2492375"/>
            <a:ext cx="34925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C</a:t>
            </a:r>
            <a:endParaRPr lang="zh-CN" altLang="en-US" sz="1800" b="1"/>
          </a:p>
        </p:txBody>
      </p:sp>
      <p:sp>
        <p:nvSpPr>
          <p:cNvPr id="75783" name="Rectangle 16"/>
          <p:cNvSpPr/>
          <p:nvPr/>
        </p:nvSpPr>
        <p:spPr>
          <a:xfrm>
            <a:off x="6732588" y="3716338"/>
            <a:ext cx="3492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C</a:t>
            </a:r>
            <a:endParaRPr lang="zh-CN" altLang="en-US" sz="1800" b="1"/>
          </a:p>
        </p:txBody>
      </p:sp>
      <p:sp>
        <p:nvSpPr>
          <p:cNvPr id="75784" name="Rectangle 17"/>
          <p:cNvSpPr/>
          <p:nvPr/>
        </p:nvSpPr>
        <p:spPr>
          <a:xfrm>
            <a:off x="5249863" y="3227388"/>
            <a:ext cx="3492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R</a:t>
            </a:r>
            <a:endParaRPr lang="zh-CN" altLang="en-US" sz="1800" b="1"/>
          </a:p>
        </p:txBody>
      </p:sp>
      <p:sp>
        <p:nvSpPr>
          <p:cNvPr id="75785" name="Rectangle 18"/>
          <p:cNvSpPr/>
          <p:nvPr/>
        </p:nvSpPr>
        <p:spPr>
          <a:xfrm>
            <a:off x="5219700" y="2708275"/>
            <a:ext cx="34925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R</a:t>
            </a:r>
            <a:endParaRPr lang="zh-CN" altLang="en-US" sz="1800" b="1"/>
          </a:p>
        </p:txBody>
      </p:sp>
      <p:sp>
        <p:nvSpPr>
          <p:cNvPr id="7578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0042"/>
                                        </p:tgtEl>
                                        <p:attrNameLst>
                                          <p:attrName>style.visibility</p:attrName>
                                        </p:attrNameLst>
                                      </p:cBhvr>
                                      <p:to>
                                        <p:strVal val="visible"/>
                                      </p:to>
                                    </p:set>
                                    <p:animEffect transition="in" filter="checkerboard(across)">
                                      <p:cBhvr>
                                        <p:cTn id="7" dur="500"/>
                                        <p:tgtEl>
                                          <p:spTgt spid="300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6801" name="Group 2"/>
          <p:cNvGrpSpPr/>
          <p:nvPr/>
        </p:nvGrpSpPr>
        <p:grpSpPr>
          <a:xfrm>
            <a:off x="1763713" y="0"/>
            <a:ext cx="5305425" cy="1258888"/>
            <a:chOff x="2517" y="197"/>
            <a:chExt cx="3342" cy="793"/>
          </a:xfrm>
        </p:grpSpPr>
        <p:grpSp>
          <p:nvGrpSpPr>
            <p:cNvPr id="76858" name="Group 3"/>
            <p:cNvGrpSpPr/>
            <p:nvPr/>
          </p:nvGrpSpPr>
          <p:grpSpPr>
            <a:xfrm>
              <a:off x="2517" y="663"/>
              <a:ext cx="3342" cy="327"/>
              <a:chOff x="2256" y="768"/>
              <a:chExt cx="3342" cy="327"/>
            </a:xfrm>
          </p:grpSpPr>
          <p:grpSp>
            <p:nvGrpSpPr>
              <p:cNvPr id="76862" name="Group 4"/>
              <p:cNvGrpSpPr/>
              <p:nvPr/>
            </p:nvGrpSpPr>
            <p:grpSpPr>
              <a:xfrm>
                <a:off x="2256" y="768"/>
                <a:ext cx="3342" cy="327"/>
                <a:chOff x="2256" y="768"/>
                <a:chExt cx="3342" cy="327"/>
              </a:xfrm>
            </p:grpSpPr>
            <p:sp>
              <p:nvSpPr>
                <p:cNvPr id="76864" name="Rectangle 5"/>
                <p:cNvSpPr/>
                <p:nvPr/>
              </p:nvSpPr>
              <p:spPr>
                <a:xfrm>
                  <a:off x="2256" y="768"/>
                  <a:ext cx="1035"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PKA</a:t>
                  </a:r>
                  <a:r>
                    <a:rPr lang="en-US" altLang="zh-CN" sz="2400" b="1">
                      <a:solidFill>
                        <a:schemeClr val="hlink"/>
                      </a:solidFill>
                      <a:latin typeface="黑体" pitchFamily="49" charset="-122"/>
                      <a:ea typeface="黑体" pitchFamily="49" charset="-122"/>
                    </a:rPr>
                    <a:t>(</a:t>
                  </a:r>
                  <a:r>
                    <a:rPr lang="zh-CN" altLang="en-US" sz="2400" b="1">
                      <a:solidFill>
                        <a:schemeClr val="hlink"/>
                      </a:solidFill>
                      <a:latin typeface="黑体" pitchFamily="49" charset="-122"/>
                      <a:ea typeface="黑体" pitchFamily="49" charset="-122"/>
                    </a:rPr>
                    <a:t>活性</a:t>
                  </a:r>
                  <a:r>
                    <a:rPr lang="en-US" altLang="zh-CN" sz="2400" b="1">
                      <a:solidFill>
                        <a:schemeClr val="hlink"/>
                      </a:solidFill>
                      <a:latin typeface="黑体" pitchFamily="49" charset="-122"/>
                      <a:ea typeface="黑体" pitchFamily="49" charset="-122"/>
                    </a:rPr>
                    <a:t>)</a:t>
                  </a:r>
                  <a:endParaRPr lang="en-US" altLang="zh-CN" sz="2400" b="1">
                    <a:solidFill>
                      <a:schemeClr val="hlink"/>
                    </a:solidFill>
                    <a:latin typeface="黑体" pitchFamily="49" charset="-122"/>
                    <a:ea typeface="黑体" pitchFamily="49" charset="-122"/>
                  </a:endParaRPr>
                </a:p>
              </p:txBody>
            </p:sp>
            <p:sp>
              <p:nvSpPr>
                <p:cNvPr id="76865" name="Rectangle 6"/>
                <p:cNvSpPr/>
                <p:nvPr/>
              </p:nvSpPr>
              <p:spPr>
                <a:xfrm>
                  <a:off x="4224" y="768"/>
                  <a:ext cx="1374"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   PKA</a:t>
                  </a:r>
                  <a:r>
                    <a:rPr lang="en-US" altLang="zh-CN" sz="2400" b="1">
                      <a:solidFill>
                        <a:srgbClr val="FF0066"/>
                      </a:solidFill>
                      <a:latin typeface="黑体" pitchFamily="49" charset="-122"/>
                      <a:ea typeface="黑体" pitchFamily="49" charset="-122"/>
                    </a:rPr>
                    <a:t>(</a:t>
                  </a:r>
                  <a:r>
                    <a:rPr lang="zh-CN" altLang="en-US" sz="2400" b="1">
                      <a:solidFill>
                        <a:srgbClr val="FF0066"/>
                      </a:solidFill>
                      <a:latin typeface="黑体" pitchFamily="49" charset="-122"/>
                      <a:ea typeface="黑体" pitchFamily="49" charset="-122"/>
                    </a:rPr>
                    <a:t>无活</a:t>
                  </a:r>
                  <a:r>
                    <a:rPr lang="en-US" altLang="zh-CN" sz="2400" b="1">
                      <a:solidFill>
                        <a:srgbClr val="FF0066"/>
                      </a:solidFill>
                      <a:latin typeface="黑体" pitchFamily="49" charset="-122"/>
                      <a:ea typeface="黑体" pitchFamily="49" charset="-122"/>
                    </a:rPr>
                    <a:t>)</a:t>
                  </a:r>
                  <a:endParaRPr lang="en-US" altLang="zh-CN" sz="2400" b="1">
                    <a:solidFill>
                      <a:srgbClr val="FF0066"/>
                    </a:solidFill>
                    <a:latin typeface="黑体" pitchFamily="49" charset="-122"/>
                    <a:ea typeface="黑体" pitchFamily="49" charset="-122"/>
                  </a:endParaRPr>
                </a:p>
              </p:txBody>
            </p:sp>
          </p:grpSp>
          <p:sp>
            <p:nvSpPr>
              <p:cNvPr id="76863" name="Line 7"/>
              <p:cNvSpPr/>
              <p:nvPr/>
            </p:nvSpPr>
            <p:spPr>
              <a:xfrm flipH="1">
                <a:off x="3648" y="960"/>
                <a:ext cx="624" cy="0"/>
              </a:xfrm>
              <a:prstGeom prst="line">
                <a:avLst/>
              </a:prstGeom>
              <a:ln w="38100" cap="flat" cmpd="sng">
                <a:solidFill>
                  <a:schemeClr val="tx1"/>
                </a:solidFill>
                <a:prstDash val="solid"/>
                <a:headEnd type="none" w="med" len="med"/>
                <a:tailEnd type="triangle" w="med" len="med"/>
              </a:ln>
            </p:spPr>
          </p:sp>
        </p:grpSp>
        <p:sp>
          <p:nvSpPr>
            <p:cNvPr id="76859" name="Rectangle 8"/>
            <p:cNvSpPr/>
            <p:nvPr/>
          </p:nvSpPr>
          <p:spPr>
            <a:xfrm>
              <a:off x="4014" y="197"/>
              <a:ext cx="504" cy="288"/>
            </a:xfrm>
            <a:prstGeom prst="rect">
              <a:avLst/>
            </a:prstGeom>
            <a:solidFill>
              <a:srgbClr val="FF3300"/>
            </a:solid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latin typeface="黑体" pitchFamily="49" charset="-122"/>
                  <a:ea typeface="黑体" pitchFamily="49" charset="-122"/>
                </a:rPr>
                <a:t>cAMP</a:t>
              </a:r>
              <a:endParaRPr lang="en-US" altLang="zh-CN" sz="2400" b="1">
                <a:latin typeface="黑体" pitchFamily="49" charset="-122"/>
                <a:ea typeface="黑体" pitchFamily="49" charset="-122"/>
              </a:endParaRPr>
            </a:p>
          </p:txBody>
        </p:sp>
        <p:sp>
          <p:nvSpPr>
            <p:cNvPr id="76860" name="Oval 9"/>
            <p:cNvSpPr/>
            <p:nvPr/>
          </p:nvSpPr>
          <p:spPr>
            <a:xfrm>
              <a:off x="4104" y="527"/>
              <a:ext cx="144" cy="144"/>
            </a:xfrm>
            <a:prstGeom prst="ellipse">
              <a:avLst/>
            </a:prstGeom>
            <a:solidFill>
              <a:srgbClr val="FF33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Times New Roman" panose="02020603050405020304" charset="0"/>
                  <a:ea typeface="黑体" pitchFamily="49" charset="-122"/>
                </a:rPr>
                <a:t>+</a:t>
              </a:r>
              <a:endParaRPr lang="en-US" altLang="zh-CN" sz="2400" b="1">
                <a:latin typeface="Times New Roman" panose="02020603050405020304" charset="0"/>
                <a:ea typeface="黑体" pitchFamily="49" charset="-122"/>
              </a:endParaRPr>
            </a:p>
          </p:txBody>
        </p:sp>
        <p:sp>
          <p:nvSpPr>
            <p:cNvPr id="76861" name="Line 10"/>
            <p:cNvSpPr/>
            <p:nvPr/>
          </p:nvSpPr>
          <p:spPr>
            <a:xfrm flipV="1">
              <a:off x="4286" y="481"/>
              <a:ext cx="0" cy="337"/>
            </a:xfrm>
            <a:prstGeom prst="line">
              <a:avLst/>
            </a:prstGeom>
            <a:ln w="38100" cap="flat" cmpd="sng">
              <a:solidFill>
                <a:schemeClr val="tx1"/>
              </a:solidFill>
              <a:prstDash val="solid"/>
              <a:headEnd type="triangle" w="med" len="med"/>
              <a:tailEnd type="none" w="med" len="med"/>
            </a:ln>
          </p:spPr>
        </p:sp>
      </p:grpSp>
      <p:sp>
        <p:nvSpPr>
          <p:cNvPr id="305163" name="Line 11"/>
          <p:cNvSpPr/>
          <p:nvPr/>
        </p:nvSpPr>
        <p:spPr>
          <a:xfrm rot="-5299341" flipH="1">
            <a:off x="7415213" y="2311400"/>
            <a:ext cx="804862" cy="12700"/>
          </a:xfrm>
          <a:prstGeom prst="line">
            <a:avLst/>
          </a:prstGeom>
          <a:ln w="38100" cap="flat" cmpd="sng">
            <a:solidFill>
              <a:srgbClr val="CC0000"/>
            </a:solidFill>
            <a:prstDash val="solid"/>
            <a:headEnd type="none" w="med" len="med"/>
            <a:tailEnd type="triangle" w="med" len="med"/>
          </a:ln>
        </p:spPr>
      </p:sp>
      <p:sp>
        <p:nvSpPr>
          <p:cNvPr id="305164" name="Rectangle 12"/>
          <p:cNvSpPr/>
          <p:nvPr/>
        </p:nvSpPr>
        <p:spPr>
          <a:xfrm>
            <a:off x="7524750" y="1028700"/>
            <a:ext cx="1001713" cy="9461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黑体" pitchFamily="49" charset="-122"/>
                <a:ea typeface="黑体" pitchFamily="49" charset="-122"/>
              </a:rPr>
              <a:t>其它激酶</a:t>
            </a:r>
            <a:endParaRPr lang="en-US" altLang="zh-CN" sz="2400" b="1">
              <a:latin typeface="黑体" pitchFamily="49" charset="-122"/>
              <a:ea typeface="黑体" pitchFamily="49" charset="-122"/>
            </a:endParaRPr>
          </a:p>
        </p:txBody>
      </p:sp>
      <p:sp>
        <p:nvSpPr>
          <p:cNvPr id="305165" name="Oval 13"/>
          <p:cNvSpPr/>
          <p:nvPr/>
        </p:nvSpPr>
        <p:spPr>
          <a:xfrm>
            <a:off x="6430963" y="2036763"/>
            <a:ext cx="617537" cy="612775"/>
          </a:xfrm>
          <a:prstGeom prst="ellipse">
            <a:avLst/>
          </a:prstGeom>
          <a:solidFill>
            <a:srgbClr val="FF99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Times New Roman" panose="02020603050405020304" charset="0"/>
                <a:ea typeface="黑体" pitchFamily="49" charset="-122"/>
              </a:rPr>
              <a:t>Ca</a:t>
            </a:r>
            <a:r>
              <a:rPr lang="en-US" altLang="zh-CN" sz="2400" b="1" baseline="30000">
                <a:latin typeface="Times New Roman" panose="02020603050405020304" charset="0"/>
                <a:ea typeface="黑体" pitchFamily="49" charset="-122"/>
              </a:rPr>
              <a:t>++</a:t>
            </a:r>
            <a:endParaRPr lang="en-US" altLang="zh-CN" sz="2400" b="1" baseline="30000">
              <a:latin typeface="Times New Roman" panose="02020603050405020304" charset="0"/>
              <a:ea typeface="黑体" pitchFamily="49" charset="-122"/>
            </a:endParaRPr>
          </a:p>
        </p:txBody>
      </p:sp>
      <p:sp>
        <p:nvSpPr>
          <p:cNvPr id="305166" name="Line 14"/>
          <p:cNvSpPr/>
          <p:nvPr/>
        </p:nvSpPr>
        <p:spPr>
          <a:xfrm flipH="1">
            <a:off x="7092950" y="2276475"/>
            <a:ext cx="0" cy="647700"/>
          </a:xfrm>
          <a:prstGeom prst="line">
            <a:avLst/>
          </a:prstGeom>
          <a:ln w="38100" cap="flat" cmpd="sng">
            <a:solidFill>
              <a:srgbClr val="CC0000"/>
            </a:solidFill>
            <a:prstDash val="solid"/>
            <a:headEnd type="none" w="med" len="med"/>
            <a:tailEnd type="triangle" w="med" len="med"/>
          </a:ln>
        </p:spPr>
      </p:sp>
      <p:sp>
        <p:nvSpPr>
          <p:cNvPr id="305167" name="Freeform 15"/>
          <p:cNvSpPr/>
          <p:nvPr/>
        </p:nvSpPr>
        <p:spPr>
          <a:xfrm>
            <a:off x="2411413" y="3692525"/>
            <a:ext cx="936625" cy="360363"/>
          </a:xfrm>
          <a:custGeom>
            <a:avLst/>
            <a:gdLst>
              <a:gd name="txL" fmla="*/ 0 w 2688"/>
              <a:gd name="txT" fmla="*/ 0 h 144"/>
              <a:gd name="txR" fmla="*/ 2688 w 2688"/>
              <a:gd name="txB" fmla="*/ 144 h 144"/>
            </a:gdLst>
            <a:ahLst/>
            <a:cxnLst>
              <a:cxn ang="0">
                <a:pos x="0" y="0"/>
              </a:cxn>
              <a:cxn ang="0">
                <a:pos x="2147483646" y="2147483646"/>
              </a:cxn>
              <a:cxn ang="0">
                <a:pos x="2147483646" y="0"/>
              </a:cxn>
            </a:cxnLst>
            <a:rect l="txL" t="txT" r="txR" b="txB"/>
            <a:pathLst>
              <a:path w="2688" h="144">
                <a:moveTo>
                  <a:pt x="0" y="0"/>
                </a:moveTo>
                <a:cubicBezTo>
                  <a:pt x="448" y="72"/>
                  <a:pt x="896" y="144"/>
                  <a:pt x="1344" y="144"/>
                </a:cubicBezTo>
                <a:cubicBezTo>
                  <a:pt x="1792" y="144"/>
                  <a:pt x="2240" y="72"/>
                  <a:pt x="2688" y="0"/>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305168" name="Rectangle 16"/>
          <p:cNvSpPr/>
          <p:nvPr/>
        </p:nvSpPr>
        <p:spPr>
          <a:xfrm>
            <a:off x="900113" y="1735138"/>
            <a:ext cx="1787525"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solidFill>
                  <a:srgbClr val="CC0000"/>
                </a:solidFill>
                <a:latin typeface="Times New Roman" panose="02020603050405020304" charset="0"/>
                <a:ea typeface="黑体" pitchFamily="49" charset="-122"/>
              </a:rPr>
              <a:t>磷酸化酶</a:t>
            </a:r>
            <a:endParaRPr lang="zh-CN" altLang="en-US" sz="2400" b="1">
              <a:solidFill>
                <a:srgbClr val="CC0000"/>
              </a:solidFill>
              <a:latin typeface="Times New Roman" panose="02020603050405020304" charset="0"/>
              <a:ea typeface="黑体" pitchFamily="49" charset="-122"/>
            </a:endParaRPr>
          </a:p>
          <a:p>
            <a:pPr marL="0" lvl="0" indent="0" eaLnBrk="1" hangingPunct="1">
              <a:spcBef>
                <a:spcPct val="0"/>
              </a:spcBef>
              <a:buNone/>
            </a:pPr>
            <a:r>
              <a:rPr lang="zh-CN" altLang="en-US" sz="2400" b="1">
                <a:solidFill>
                  <a:srgbClr val="CC0000"/>
                </a:solidFill>
                <a:latin typeface="Times New Roman" panose="02020603050405020304" charset="0"/>
                <a:ea typeface="黑体" pitchFamily="49" charset="-122"/>
              </a:rPr>
              <a:t>激酶</a:t>
            </a:r>
            <a:r>
              <a:rPr lang="en-US" altLang="zh-CN" sz="2400" b="1">
                <a:solidFill>
                  <a:srgbClr val="CC0000"/>
                </a:solidFill>
                <a:latin typeface="Times New Roman" panose="02020603050405020304" charset="0"/>
                <a:ea typeface="黑体" pitchFamily="49" charset="-122"/>
              </a:rPr>
              <a:t>(</a:t>
            </a:r>
            <a:r>
              <a:rPr lang="zh-CN" altLang="en-US" sz="2400" b="1">
                <a:solidFill>
                  <a:srgbClr val="FF3300"/>
                </a:solidFill>
                <a:latin typeface="Times New Roman" panose="02020603050405020304" charset="0"/>
                <a:ea typeface="黑体" pitchFamily="49" charset="-122"/>
              </a:rPr>
              <a:t>无活</a:t>
            </a:r>
            <a:r>
              <a:rPr lang="en-US" altLang="zh-CN" sz="2400" b="1">
                <a:solidFill>
                  <a:srgbClr val="FF3300"/>
                </a:solidFill>
                <a:latin typeface="Times New Roman" panose="02020603050405020304" charset="0"/>
                <a:ea typeface="黑体" pitchFamily="49" charset="-122"/>
              </a:rPr>
              <a:t>)</a:t>
            </a:r>
            <a:endParaRPr lang="en-US" altLang="zh-CN" sz="2400" b="1">
              <a:solidFill>
                <a:srgbClr val="FF3300"/>
              </a:solidFill>
              <a:latin typeface="Times New Roman" panose="02020603050405020304" charset="0"/>
              <a:ea typeface="黑体" pitchFamily="49" charset="-122"/>
            </a:endParaRPr>
          </a:p>
        </p:txBody>
      </p:sp>
      <p:sp>
        <p:nvSpPr>
          <p:cNvPr id="305169" name="Freeform 17"/>
          <p:cNvSpPr/>
          <p:nvPr/>
        </p:nvSpPr>
        <p:spPr>
          <a:xfrm rot="-5400000">
            <a:off x="2882900" y="2020888"/>
            <a:ext cx="215900" cy="871537"/>
          </a:xfrm>
          <a:custGeom>
            <a:avLst/>
            <a:gdLst>
              <a:gd name="txL" fmla="*/ 0 w 304"/>
              <a:gd name="txT" fmla="*/ 0 h 912"/>
              <a:gd name="txR" fmla="*/ 304 w 304"/>
              <a:gd name="txB" fmla="*/ 912 h 912"/>
            </a:gdLst>
            <a:ahLst/>
            <a:cxnLst>
              <a:cxn ang="0">
                <a:pos x="2147483646" y="0"/>
              </a:cxn>
              <a:cxn ang="0">
                <a:pos x="2147483646" y="2147483646"/>
              </a:cxn>
              <a:cxn ang="0">
                <a:pos x="0" y="2147483646"/>
              </a:cxn>
            </a:cxnLst>
            <a:rect l="txL" t="txT" r="txR" b="txB"/>
            <a:pathLst>
              <a:path w="304" h="912">
                <a:moveTo>
                  <a:pt x="96" y="0"/>
                </a:moveTo>
                <a:cubicBezTo>
                  <a:pt x="200" y="140"/>
                  <a:pt x="304" y="280"/>
                  <a:pt x="288" y="432"/>
                </a:cubicBezTo>
                <a:cubicBezTo>
                  <a:pt x="272" y="584"/>
                  <a:pt x="136" y="748"/>
                  <a:pt x="0" y="912"/>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305170" name="Rectangle 18"/>
          <p:cNvSpPr/>
          <p:nvPr/>
        </p:nvSpPr>
        <p:spPr>
          <a:xfrm>
            <a:off x="2339975" y="1676400"/>
            <a:ext cx="5699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a:latin typeface="黑体" pitchFamily="49" charset="-122"/>
                <a:ea typeface="黑体" pitchFamily="49" charset="-122"/>
              </a:rPr>
              <a:t>ATP</a:t>
            </a:r>
            <a:endParaRPr lang="en-US" altLang="zh-CN" sz="2000" b="1">
              <a:latin typeface="黑体" pitchFamily="49" charset="-122"/>
              <a:ea typeface="黑体" pitchFamily="49" charset="-122"/>
            </a:endParaRPr>
          </a:p>
        </p:txBody>
      </p:sp>
      <p:sp>
        <p:nvSpPr>
          <p:cNvPr id="305171" name="Rectangle 19"/>
          <p:cNvSpPr/>
          <p:nvPr/>
        </p:nvSpPr>
        <p:spPr>
          <a:xfrm>
            <a:off x="2987675" y="1676400"/>
            <a:ext cx="5699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a:latin typeface="黑体" pitchFamily="49" charset="-122"/>
                <a:ea typeface="黑体" pitchFamily="49" charset="-122"/>
              </a:rPr>
              <a:t>ADP</a:t>
            </a:r>
            <a:endParaRPr lang="en-US" altLang="zh-CN" sz="2000" b="1">
              <a:latin typeface="黑体" pitchFamily="49" charset="-122"/>
              <a:ea typeface="黑体" pitchFamily="49" charset="-122"/>
            </a:endParaRPr>
          </a:p>
        </p:txBody>
      </p:sp>
      <p:sp>
        <p:nvSpPr>
          <p:cNvPr id="305172" name="Freeform 20"/>
          <p:cNvSpPr/>
          <p:nvPr/>
        </p:nvSpPr>
        <p:spPr>
          <a:xfrm rot="-5078156">
            <a:off x="2773363" y="1817688"/>
            <a:ext cx="279400" cy="715962"/>
          </a:xfrm>
          <a:custGeom>
            <a:avLst/>
            <a:gdLst>
              <a:gd name="txL" fmla="*/ 0 w 192"/>
              <a:gd name="txT" fmla="*/ 0 h 528"/>
              <a:gd name="txR" fmla="*/ 192 w 192"/>
              <a:gd name="txB" fmla="*/ 528 h 528"/>
            </a:gdLst>
            <a:ahLst/>
            <a:cxnLst>
              <a:cxn ang="0">
                <a:pos x="2147483646" y="0"/>
              </a:cxn>
              <a:cxn ang="0">
                <a:pos x="0" y="2147483646"/>
              </a:cxn>
              <a:cxn ang="0">
                <a:pos x="2147483646" y="2147483646"/>
              </a:cxn>
            </a:cxnLst>
            <a:rect l="txL" t="txT" r="txR" b="txB"/>
            <a:pathLst>
              <a:path w="192" h="528">
                <a:moveTo>
                  <a:pt x="192" y="0"/>
                </a:moveTo>
                <a:cubicBezTo>
                  <a:pt x="96" y="52"/>
                  <a:pt x="0" y="104"/>
                  <a:pt x="0" y="192"/>
                </a:cubicBezTo>
                <a:cubicBezTo>
                  <a:pt x="0" y="280"/>
                  <a:pt x="96" y="404"/>
                  <a:pt x="192" y="528"/>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305173" name="Freeform 21"/>
          <p:cNvSpPr/>
          <p:nvPr/>
        </p:nvSpPr>
        <p:spPr>
          <a:xfrm>
            <a:off x="2268538" y="4052888"/>
            <a:ext cx="1079500" cy="358775"/>
          </a:xfrm>
          <a:custGeom>
            <a:avLst/>
            <a:gdLst>
              <a:gd name="txL" fmla="*/ 0 w 1824"/>
              <a:gd name="txT" fmla="*/ 0 h 552"/>
              <a:gd name="txR" fmla="*/ 1824 w 1824"/>
              <a:gd name="txB" fmla="*/ 552 h 552"/>
            </a:gdLst>
            <a:ahLst/>
            <a:cxnLst>
              <a:cxn ang="0">
                <a:pos x="2147483646" y="2147483646"/>
              </a:cxn>
              <a:cxn ang="0">
                <a:pos x="2147483646" y="2147483646"/>
              </a:cxn>
              <a:cxn ang="0">
                <a:pos x="0" y="2147483646"/>
              </a:cxn>
            </a:cxnLst>
            <a:rect l="txL" t="txT" r="txR" b="txB"/>
            <a:pathLst>
              <a:path w="1824" h="552">
                <a:moveTo>
                  <a:pt x="1824" y="408"/>
                </a:moveTo>
                <a:cubicBezTo>
                  <a:pt x="1520" y="204"/>
                  <a:pt x="1216" y="0"/>
                  <a:pt x="912" y="24"/>
                </a:cubicBezTo>
                <a:cubicBezTo>
                  <a:pt x="608" y="48"/>
                  <a:pt x="304" y="300"/>
                  <a:pt x="0" y="552"/>
                </a:cubicBezTo>
              </a:path>
            </a:pathLst>
          </a:custGeom>
          <a:noFill/>
          <a:ln w="38100" cap="flat" cmpd="sng">
            <a:solidFill>
              <a:schemeClr val="tx1">
                <a:alpha val="100000"/>
              </a:schemeClr>
            </a:solidFill>
            <a:prstDash val="solid"/>
            <a:round/>
            <a:headEnd type="triangle" w="med" len="med"/>
            <a:tailEnd type="none" w="med" len="med"/>
          </a:ln>
        </p:spPr>
        <p:txBody>
          <a:bodyPr/>
          <a:p>
            <a:endParaRPr lang="zh-CN" altLang="en-US"/>
          </a:p>
        </p:txBody>
      </p:sp>
      <p:sp>
        <p:nvSpPr>
          <p:cNvPr id="305174" name="Rectangle 22"/>
          <p:cNvSpPr/>
          <p:nvPr/>
        </p:nvSpPr>
        <p:spPr>
          <a:xfrm>
            <a:off x="755650" y="3621088"/>
            <a:ext cx="2087563"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solidFill>
                  <a:srgbClr val="CC0000"/>
                </a:solidFill>
                <a:latin typeface="Times New Roman" panose="02020603050405020304" charset="0"/>
                <a:ea typeface="黑体" pitchFamily="49" charset="-122"/>
              </a:rPr>
              <a:t>糖原磷酸化酶</a:t>
            </a:r>
            <a:r>
              <a:rPr lang="en-US" altLang="zh-CN" sz="2400" b="1" i="1">
                <a:solidFill>
                  <a:srgbClr val="CC0000"/>
                </a:solidFill>
                <a:latin typeface="Times New Roman" panose="02020603050405020304" charset="0"/>
                <a:ea typeface="黑体" pitchFamily="49" charset="-122"/>
              </a:rPr>
              <a:t>b</a:t>
            </a:r>
            <a:r>
              <a:rPr lang="zh-CN" altLang="en-US" sz="2400" b="1">
                <a:solidFill>
                  <a:srgbClr val="CC0000"/>
                </a:solidFill>
                <a:latin typeface="Times New Roman" panose="02020603050405020304" charset="0"/>
                <a:ea typeface="黑体" pitchFamily="49" charset="-122"/>
              </a:rPr>
              <a:t>（无活）</a:t>
            </a:r>
            <a:endParaRPr lang="zh-CN" altLang="en-US" sz="2400" b="1">
              <a:solidFill>
                <a:srgbClr val="CC0000"/>
              </a:solidFill>
              <a:latin typeface="Times New Roman" panose="02020603050405020304" charset="0"/>
              <a:ea typeface="黑体" pitchFamily="49" charset="-122"/>
            </a:endParaRPr>
          </a:p>
        </p:txBody>
      </p:sp>
      <p:sp>
        <p:nvSpPr>
          <p:cNvPr id="305175" name="Rectangle 23"/>
          <p:cNvSpPr/>
          <p:nvPr/>
        </p:nvSpPr>
        <p:spPr>
          <a:xfrm>
            <a:off x="2051050" y="3357563"/>
            <a:ext cx="5699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a:latin typeface="黑体" pitchFamily="49" charset="-122"/>
                <a:ea typeface="黑体" pitchFamily="49" charset="-122"/>
              </a:rPr>
              <a:t>ATP</a:t>
            </a:r>
            <a:endParaRPr lang="en-US" altLang="zh-CN" sz="2000" b="1">
              <a:latin typeface="黑体" pitchFamily="49" charset="-122"/>
              <a:ea typeface="黑体" pitchFamily="49" charset="-122"/>
            </a:endParaRPr>
          </a:p>
        </p:txBody>
      </p:sp>
      <p:sp>
        <p:nvSpPr>
          <p:cNvPr id="305176" name="Rectangle 24"/>
          <p:cNvSpPr/>
          <p:nvPr/>
        </p:nvSpPr>
        <p:spPr>
          <a:xfrm>
            <a:off x="2987675" y="3332163"/>
            <a:ext cx="5699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a:latin typeface="黑体" pitchFamily="49" charset="-122"/>
                <a:ea typeface="黑体" pitchFamily="49" charset="-122"/>
              </a:rPr>
              <a:t>ADP</a:t>
            </a:r>
            <a:endParaRPr lang="en-US" altLang="zh-CN" sz="2000" b="1">
              <a:latin typeface="黑体" pitchFamily="49" charset="-122"/>
              <a:ea typeface="黑体" pitchFamily="49" charset="-122"/>
            </a:endParaRPr>
          </a:p>
        </p:txBody>
      </p:sp>
      <p:grpSp>
        <p:nvGrpSpPr>
          <p:cNvPr id="5" name="Group 25"/>
          <p:cNvGrpSpPr/>
          <p:nvPr/>
        </p:nvGrpSpPr>
        <p:grpSpPr>
          <a:xfrm>
            <a:off x="3419475" y="3621088"/>
            <a:ext cx="1879600" cy="831850"/>
            <a:chOff x="2224" y="2112"/>
            <a:chExt cx="1184" cy="524"/>
          </a:xfrm>
        </p:grpSpPr>
        <p:sp>
          <p:nvSpPr>
            <p:cNvPr id="76856" name="Rectangle 26"/>
            <p:cNvSpPr/>
            <p:nvPr/>
          </p:nvSpPr>
          <p:spPr>
            <a:xfrm>
              <a:off x="2224" y="2112"/>
              <a:ext cx="1150" cy="524"/>
            </a:xfrm>
            <a:prstGeom prst="rect">
              <a:avLst/>
            </a:prstGeom>
            <a:solidFill>
              <a:srgbClr val="0066FF"/>
            </a:solidFill>
            <a:ln w="9525" cap="flat" cmpd="sng">
              <a:solidFill>
                <a:srgbClr val="FFFF99"/>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latin typeface="Times New Roman" panose="02020603050405020304" charset="0"/>
                  <a:ea typeface="黑体" pitchFamily="49" charset="-122"/>
                </a:rPr>
                <a:t>磷酸化酶</a:t>
              </a:r>
              <a:r>
                <a:rPr lang="en-US" altLang="zh-CN" sz="2400" b="1" i="1">
                  <a:latin typeface="Times New Roman" panose="02020603050405020304" charset="0"/>
                  <a:ea typeface="黑体" pitchFamily="49" charset="-122"/>
                </a:rPr>
                <a:t>a-  </a:t>
              </a:r>
              <a:endParaRPr lang="en-US" altLang="zh-CN" sz="2400" b="1">
                <a:latin typeface="Times New Roman" panose="02020603050405020304" charset="0"/>
                <a:ea typeface="黑体" pitchFamily="49" charset="-122"/>
              </a:endParaRPr>
            </a:p>
            <a:p>
              <a:pPr marL="0" lvl="0" indent="0" algn="ctr" eaLnBrk="1" hangingPunct="1">
                <a:spcBef>
                  <a:spcPct val="0"/>
                </a:spcBef>
                <a:buNone/>
              </a:pPr>
              <a:r>
                <a:rPr lang="zh-CN" altLang="en-US" sz="2400" b="1">
                  <a:latin typeface="Times New Roman" panose="02020603050405020304" charset="0"/>
                  <a:ea typeface="黑体" pitchFamily="49" charset="-122"/>
                </a:rPr>
                <a:t>（高活性</a:t>
              </a:r>
              <a:r>
                <a:rPr lang="en-US" altLang="en-US" sz="2400" b="1">
                  <a:latin typeface="Times New Roman" panose="02020603050405020304" charset="0"/>
                  <a:ea typeface="黑体" pitchFamily="49" charset="-122"/>
                </a:rPr>
                <a:t>）</a:t>
              </a:r>
              <a:endParaRPr lang="zh-CN" altLang="en-US" sz="2400" b="1">
                <a:latin typeface="Times New Roman" panose="02020603050405020304" charset="0"/>
                <a:ea typeface="黑体" pitchFamily="49" charset="-122"/>
              </a:endParaRPr>
            </a:p>
          </p:txBody>
        </p:sp>
        <p:sp>
          <p:nvSpPr>
            <p:cNvPr id="76857" name="Oval 27"/>
            <p:cNvSpPr/>
            <p:nvPr/>
          </p:nvSpPr>
          <p:spPr>
            <a:xfrm>
              <a:off x="3216" y="2160"/>
              <a:ext cx="192" cy="192"/>
            </a:xfrm>
            <a:prstGeom prst="ellipse">
              <a:avLst/>
            </a:prstGeom>
            <a:solidFill>
              <a:srgbClr val="FF9900"/>
            </a:solidFill>
            <a:ln w="9525" cap="flat" cmpd="sng">
              <a:solidFill>
                <a:srgbClr val="FFFF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黑体" pitchFamily="49" charset="-122"/>
                  <a:ea typeface="黑体" pitchFamily="49" charset="-122"/>
                </a:rPr>
                <a:t>P</a:t>
              </a:r>
              <a:endParaRPr lang="en-US" altLang="zh-CN" sz="2400" b="1">
                <a:latin typeface="黑体" pitchFamily="49" charset="-122"/>
                <a:ea typeface="黑体" pitchFamily="49" charset="-122"/>
              </a:endParaRPr>
            </a:p>
          </p:txBody>
        </p:sp>
      </p:grpSp>
      <p:sp>
        <p:nvSpPr>
          <p:cNvPr id="305180" name="Rectangle 28"/>
          <p:cNvSpPr/>
          <p:nvPr/>
        </p:nvSpPr>
        <p:spPr>
          <a:xfrm>
            <a:off x="5508625" y="3403600"/>
            <a:ext cx="1800225"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latin typeface="Times New Roman" panose="02020603050405020304" charset="0"/>
                <a:ea typeface="黑体" pitchFamily="49" charset="-122"/>
              </a:rPr>
              <a:t> 糖原合酶</a:t>
            </a:r>
            <a:r>
              <a:rPr lang="en-US" altLang="zh-CN" sz="2400" b="1" i="1">
                <a:latin typeface="Times New Roman" panose="02020603050405020304" charset="0"/>
                <a:ea typeface="黑体" pitchFamily="49" charset="-122"/>
              </a:rPr>
              <a:t>a</a:t>
            </a:r>
            <a:endParaRPr lang="en-US" altLang="zh-CN" sz="2400" b="1">
              <a:solidFill>
                <a:srgbClr val="0066FF"/>
              </a:solidFill>
              <a:latin typeface="Times New Roman" panose="02020603050405020304" charset="0"/>
              <a:ea typeface="黑体" pitchFamily="49" charset="-122"/>
            </a:endParaRPr>
          </a:p>
          <a:p>
            <a:pPr marL="0" lvl="0" indent="0" algn="ctr" eaLnBrk="1" hangingPunct="1">
              <a:spcBef>
                <a:spcPct val="0"/>
              </a:spcBef>
              <a:buNone/>
            </a:pPr>
            <a:r>
              <a:rPr lang="zh-CN" altLang="en-US" sz="2400" b="1">
                <a:solidFill>
                  <a:schemeClr val="hlink"/>
                </a:solidFill>
                <a:latin typeface="Times New Roman" panose="02020603050405020304" charset="0"/>
                <a:ea typeface="黑体" pitchFamily="49" charset="-122"/>
              </a:rPr>
              <a:t>（有活性</a:t>
            </a:r>
            <a:r>
              <a:rPr lang="en-US" altLang="en-US" sz="2400" b="1">
                <a:solidFill>
                  <a:schemeClr val="hlink"/>
                </a:solidFill>
                <a:latin typeface="Times New Roman" panose="02020603050405020304" charset="0"/>
                <a:ea typeface="黑体" pitchFamily="49" charset="-122"/>
              </a:rPr>
              <a:t>）</a:t>
            </a:r>
            <a:endParaRPr lang="zh-CN" altLang="en-US" sz="2400" b="1">
              <a:solidFill>
                <a:schemeClr val="hlink"/>
              </a:solidFill>
              <a:latin typeface="Times New Roman" panose="02020603050405020304" charset="0"/>
              <a:ea typeface="黑体" pitchFamily="49" charset="-122"/>
            </a:endParaRPr>
          </a:p>
        </p:txBody>
      </p:sp>
      <p:sp>
        <p:nvSpPr>
          <p:cNvPr id="305181" name="Rectangle 29"/>
          <p:cNvSpPr/>
          <p:nvPr/>
        </p:nvSpPr>
        <p:spPr>
          <a:xfrm>
            <a:off x="7165975" y="3425825"/>
            <a:ext cx="1798638"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solidFill>
                  <a:srgbClr val="CC0000"/>
                </a:solidFill>
                <a:latin typeface="Times New Roman" panose="02020603050405020304" charset="0"/>
                <a:ea typeface="黑体" pitchFamily="49" charset="-122"/>
              </a:rPr>
              <a:t>糖原合酶</a:t>
            </a:r>
            <a:r>
              <a:rPr lang="en-US" altLang="zh-CN" sz="2400" b="1" i="1">
                <a:solidFill>
                  <a:srgbClr val="CC0000"/>
                </a:solidFill>
                <a:latin typeface="Times New Roman" panose="02020603050405020304" charset="0"/>
                <a:ea typeface="黑体" pitchFamily="49" charset="-122"/>
              </a:rPr>
              <a:t>b-</a:t>
            </a:r>
            <a:endParaRPr lang="en-US" altLang="zh-CN" sz="2400" b="1">
              <a:solidFill>
                <a:srgbClr val="CC0000"/>
              </a:solidFill>
              <a:latin typeface="Times New Roman" panose="02020603050405020304" charset="0"/>
              <a:ea typeface="黑体" pitchFamily="49" charset="-122"/>
            </a:endParaRPr>
          </a:p>
          <a:p>
            <a:pPr marL="0" lvl="0" indent="0" algn="ctr" eaLnBrk="1" hangingPunct="1">
              <a:spcBef>
                <a:spcPct val="0"/>
              </a:spcBef>
              <a:buNone/>
            </a:pPr>
            <a:r>
              <a:rPr lang="zh-CN" altLang="en-US" sz="2400" b="1">
                <a:solidFill>
                  <a:srgbClr val="CC0000"/>
                </a:solidFill>
                <a:latin typeface="Times New Roman" panose="02020603050405020304" charset="0"/>
                <a:ea typeface="黑体" pitchFamily="49" charset="-122"/>
              </a:rPr>
              <a:t>（无活性</a:t>
            </a:r>
            <a:r>
              <a:rPr lang="en-US" altLang="en-US" sz="2400" b="1">
                <a:solidFill>
                  <a:srgbClr val="CC0000"/>
                </a:solidFill>
                <a:latin typeface="Times New Roman" panose="02020603050405020304" charset="0"/>
                <a:ea typeface="黑体" pitchFamily="49" charset="-122"/>
              </a:rPr>
              <a:t>）</a:t>
            </a:r>
            <a:endParaRPr lang="zh-CN" altLang="en-US" sz="2400" b="1">
              <a:solidFill>
                <a:srgbClr val="CC0000"/>
              </a:solidFill>
              <a:latin typeface="Times New Roman" panose="02020603050405020304" charset="0"/>
              <a:ea typeface="黑体" pitchFamily="49" charset="-122"/>
            </a:endParaRPr>
          </a:p>
        </p:txBody>
      </p:sp>
      <p:sp>
        <p:nvSpPr>
          <p:cNvPr id="305182" name="Freeform 30"/>
          <p:cNvSpPr/>
          <p:nvPr/>
        </p:nvSpPr>
        <p:spPr>
          <a:xfrm>
            <a:off x="6602413" y="2900363"/>
            <a:ext cx="1725612" cy="555625"/>
          </a:xfrm>
          <a:custGeom>
            <a:avLst/>
            <a:gdLst>
              <a:gd name="txL" fmla="*/ 0 w 1488"/>
              <a:gd name="txT" fmla="*/ 0 h 336"/>
              <a:gd name="txR" fmla="*/ 1488 w 1488"/>
              <a:gd name="txB" fmla="*/ 336 h 336"/>
            </a:gdLst>
            <a:ahLst/>
            <a:cxnLst>
              <a:cxn ang="0">
                <a:pos x="0" y="2147483646"/>
              </a:cxn>
              <a:cxn ang="0">
                <a:pos x="2147483646" y="0"/>
              </a:cxn>
              <a:cxn ang="0">
                <a:pos x="2147483646" y="2147483646"/>
              </a:cxn>
            </a:cxnLst>
            <a:rect l="txL" t="txT" r="txR" b="txB"/>
            <a:pathLst>
              <a:path w="1488" h="336">
                <a:moveTo>
                  <a:pt x="0" y="336"/>
                </a:moveTo>
                <a:cubicBezTo>
                  <a:pt x="308" y="168"/>
                  <a:pt x="616" y="0"/>
                  <a:pt x="864" y="0"/>
                </a:cubicBezTo>
                <a:cubicBezTo>
                  <a:pt x="1112" y="0"/>
                  <a:pt x="1300" y="168"/>
                  <a:pt x="1488" y="336"/>
                </a:cubicBezTo>
              </a:path>
            </a:pathLst>
          </a:custGeom>
          <a:noFill/>
          <a:ln w="38100" cap="flat" cmpd="sng">
            <a:solidFill>
              <a:srgbClr val="CC0000">
                <a:alpha val="100000"/>
              </a:srgbClr>
            </a:solidFill>
            <a:prstDash val="solid"/>
            <a:round/>
            <a:headEnd type="none" w="med" len="med"/>
            <a:tailEnd type="triangle" w="med" len="med"/>
          </a:ln>
        </p:spPr>
        <p:txBody>
          <a:bodyPr/>
          <a:p>
            <a:endParaRPr lang="zh-CN" altLang="en-US"/>
          </a:p>
        </p:txBody>
      </p:sp>
      <p:sp>
        <p:nvSpPr>
          <p:cNvPr id="305183" name="Line 31"/>
          <p:cNvSpPr/>
          <p:nvPr/>
        </p:nvSpPr>
        <p:spPr>
          <a:xfrm>
            <a:off x="7451725" y="1603375"/>
            <a:ext cx="0" cy="1177925"/>
          </a:xfrm>
          <a:prstGeom prst="line">
            <a:avLst/>
          </a:prstGeom>
          <a:ln w="38100" cap="flat" cmpd="sng">
            <a:solidFill>
              <a:srgbClr val="CC0000"/>
            </a:solidFill>
            <a:prstDash val="solid"/>
            <a:headEnd type="none" w="med" len="med"/>
            <a:tailEnd type="triangle" w="med" len="med"/>
          </a:ln>
        </p:spPr>
      </p:sp>
      <p:sp>
        <p:nvSpPr>
          <p:cNvPr id="76821" name="Oval 32"/>
          <p:cNvSpPr/>
          <p:nvPr/>
        </p:nvSpPr>
        <p:spPr>
          <a:xfrm>
            <a:off x="7235825" y="2252663"/>
            <a:ext cx="228600" cy="228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Times New Roman" panose="02020603050405020304" charset="0"/>
                <a:ea typeface="黑体" pitchFamily="49" charset="-122"/>
              </a:rPr>
              <a:t>+</a:t>
            </a:r>
            <a:endParaRPr lang="en-US" altLang="zh-CN" sz="2400" b="1">
              <a:latin typeface="Times New Roman" panose="02020603050405020304" charset="0"/>
              <a:ea typeface="黑体" pitchFamily="49" charset="-122"/>
            </a:endParaRPr>
          </a:p>
        </p:txBody>
      </p:sp>
      <p:sp>
        <p:nvSpPr>
          <p:cNvPr id="305185" name="Oval 33"/>
          <p:cNvSpPr/>
          <p:nvPr/>
        </p:nvSpPr>
        <p:spPr>
          <a:xfrm>
            <a:off x="8839200" y="3516313"/>
            <a:ext cx="304800" cy="304800"/>
          </a:xfrm>
          <a:prstGeom prst="ellipse">
            <a:avLst/>
          </a:prstGeom>
          <a:solidFill>
            <a:srgbClr val="FF9900"/>
          </a:solidFill>
          <a:ln w="9525" cap="flat" cmpd="sng">
            <a:solidFill>
              <a:srgbClr val="FFFF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黑体" pitchFamily="49" charset="-122"/>
                <a:ea typeface="黑体" pitchFamily="49" charset="-122"/>
              </a:rPr>
              <a:t>P</a:t>
            </a:r>
            <a:endParaRPr lang="en-US" altLang="zh-CN" sz="2400" b="1">
              <a:latin typeface="Times New Roman" panose="02020603050405020304" charset="0"/>
              <a:ea typeface="黑体" pitchFamily="49" charset="-122"/>
            </a:endParaRPr>
          </a:p>
        </p:txBody>
      </p:sp>
      <p:sp>
        <p:nvSpPr>
          <p:cNvPr id="305186" name="Freeform 34"/>
          <p:cNvSpPr/>
          <p:nvPr/>
        </p:nvSpPr>
        <p:spPr>
          <a:xfrm>
            <a:off x="2195513" y="4411663"/>
            <a:ext cx="1152525" cy="506412"/>
          </a:xfrm>
          <a:custGeom>
            <a:avLst/>
            <a:gdLst>
              <a:gd name="txL" fmla="*/ 0 w 1824"/>
              <a:gd name="txT" fmla="*/ 0 h 552"/>
              <a:gd name="txR" fmla="*/ 1824 w 1824"/>
              <a:gd name="txB" fmla="*/ 552 h 552"/>
            </a:gdLst>
            <a:ahLst/>
            <a:cxnLst>
              <a:cxn ang="0">
                <a:pos x="2147483646" y="0"/>
              </a:cxn>
              <a:cxn ang="0">
                <a:pos x="2147483646" y="2147483646"/>
              </a:cxn>
              <a:cxn ang="0">
                <a:pos x="0" y="2147483646"/>
              </a:cxn>
            </a:cxnLst>
            <a:rect l="txL" t="txT" r="txR" b="txB"/>
            <a:pathLst>
              <a:path w="1824" h="552">
                <a:moveTo>
                  <a:pt x="1824" y="0"/>
                </a:moveTo>
                <a:cubicBezTo>
                  <a:pt x="1496" y="252"/>
                  <a:pt x="1168" y="504"/>
                  <a:pt x="864" y="528"/>
                </a:cubicBezTo>
                <a:cubicBezTo>
                  <a:pt x="560" y="552"/>
                  <a:pt x="280" y="348"/>
                  <a:pt x="0" y="144"/>
                </a:cubicBezTo>
              </a:path>
            </a:pathLst>
          </a:custGeom>
          <a:noFill/>
          <a:ln w="38100" cap="flat" cmpd="sng">
            <a:solidFill>
              <a:srgbClr val="CC0000">
                <a:alpha val="100000"/>
              </a:srgbClr>
            </a:solidFill>
            <a:prstDash val="solid"/>
            <a:round/>
            <a:headEnd type="none" w="med" len="med"/>
            <a:tailEnd type="triangle" w="med" len="med"/>
          </a:ln>
        </p:spPr>
        <p:txBody>
          <a:bodyPr/>
          <a:p>
            <a:endParaRPr lang="zh-CN" altLang="en-US"/>
          </a:p>
        </p:txBody>
      </p:sp>
      <p:sp>
        <p:nvSpPr>
          <p:cNvPr id="305187" name="Rectangle 35"/>
          <p:cNvSpPr/>
          <p:nvPr/>
        </p:nvSpPr>
        <p:spPr>
          <a:xfrm>
            <a:off x="6084888" y="5276850"/>
            <a:ext cx="665162"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H</a:t>
            </a:r>
            <a:r>
              <a:rPr lang="en-US" altLang="zh-CN" sz="2800" b="1" baseline="-25000">
                <a:latin typeface="黑体" pitchFamily="49" charset="-122"/>
                <a:ea typeface="黑体" pitchFamily="49" charset="-122"/>
              </a:rPr>
              <a:t>2</a:t>
            </a:r>
            <a:r>
              <a:rPr lang="en-US" altLang="zh-CN" sz="2800" b="1">
                <a:latin typeface="黑体" pitchFamily="49" charset="-122"/>
                <a:ea typeface="黑体" pitchFamily="49" charset="-122"/>
              </a:rPr>
              <a:t>O</a:t>
            </a:r>
            <a:endParaRPr lang="en-US" altLang="zh-CN" sz="2800" b="1">
              <a:solidFill>
                <a:srgbClr val="0066FF"/>
              </a:solidFill>
              <a:latin typeface="黑体" pitchFamily="49" charset="-122"/>
              <a:ea typeface="黑体" pitchFamily="49" charset="-122"/>
            </a:endParaRPr>
          </a:p>
        </p:txBody>
      </p:sp>
      <p:sp>
        <p:nvSpPr>
          <p:cNvPr id="305188" name="Rectangle 36"/>
          <p:cNvSpPr/>
          <p:nvPr/>
        </p:nvSpPr>
        <p:spPr>
          <a:xfrm>
            <a:off x="2051050" y="4987925"/>
            <a:ext cx="5429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a:latin typeface="黑体" pitchFamily="49" charset="-122"/>
                <a:ea typeface="黑体" pitchFamily="49" charset="-122"/>
              </a:rPr>
              <a:t>Pi</a:t>
            </a:r>
            <a:endParaRPr lang="en-US" altLang="zh-CN" sz="2800" b="1">
              <a:solidFill>
                <a:srgbClr val="0066FF"/>
              </a:solidFill>
              <a:latin typeface="黑体" pitchFamily="49" charset="-122"/>
              <a:ea typeface="黑体" pitchFamily="49" charset="-122"/>
            </a:endParaRPr>
          </a:p>
        </p:txBody>
      </p:sp>
      <p:sp>
        <p:nvSpPr>
          <p:cNvPr id="305189" name="Rectangle 37"/>
          <p:cNvSpPr/>
          <p:nvPr/>
        </p:nvSpPr>
        <p:spPr>
          <a:xfrm>
            <a:off x="3924300" y="5661025"/>
            <a:ext cx="22764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solidFill>
                  <a:srgbClr val="0066FF"/>
                </a:solidFill>
                <a:latin typeface="Times New Roman" panose="02020603050405020304" charset="0"/>
                <a:ea typeface="黑体" pitchFamily="49" charset="-122"/>
              </a:rPr>
              <a:t>磷蛋白磷酸酶</a:t>
            </a:r>
            <a:r>
              <a:rPr lang="en-US" altLang="zh-CN" sz="2400" b="1">
                <a:solidFill>
                  <a:srgbClr val="0066FF"/>
                </a:solidFill>
                <a:latin typeface="Times New Roman" panose="02020603050405020304" charset="0"/>
                <a:ea typeface="黑体" pitchFamily="49" charset="-122"/>
              </a:rPr>
              <a:t>-1</a:t>
            </a:r>
            <a:endParaRPr lang="en-US" altLang="zh-CN" sz="2400" b="1">
              <a:solidFill>
                <a:srgbClr val="0066FF"/>
              </a:solidFill>
              <a:latin typeface="Times New Roman" panose="02020603050405020304" charset="0"/>
              <a:ea typeface="黑体" pitchFamily="49" charset="-122"/>
            </a:endParaRPr>
          </a:p>
        </p:txBody>
      </p:sp>
      <p:sp>
        <p:nvSpPr>
          <p:cNvPr id="305190" name="Freeform 38"/>
          <p:cNvSpPr/>
          <p:nvPr/>
        </p:nvSpPr>
        <p:spPr>
          <a:xfrm rot="5400000">
            <a:off x="2808288" y="2287588"/>
            <a:ext cx="360362" cy="1008062"/>
          </a:xfrm>
          <a:custGeom>
            <a:avLst/>
            <a:gdLst>
              <a:gd name="txL" fmla="*/ 0 w 304"/>
              <a:gd name="txT" fmla="*/ 0 h 912"/>
              <a:gd name="txR" fmla="*/ 304 w 304"/>
              <a:gd name="txB" fmla="*/ 912 h 912"/>
            </a:gdLst>
            <a:ahLst/>
            <a:cxnLst>
              <a:cxn ang="0">
                <a:pos x="2147483646" y="0"/>
              </a:cxn>
              <a:cxn ang="0">
                <a:pos x="2147483646" y="2147483646"/>
              </a:cxn>
              <a:cxn ang="0">
                <a:pos x="0" y="2147483646"/>
              </a:cxn>
            </a:cxnLst>
            <a:rect l="txL" t="txT" r="txR" b="txB"/>
            <a:pathLst>
              <a:path w="304" h="912">
                <a:moveTo>
                  <a:pt x="96" y="0"/>
                </a:moveTo>
                <a:cubicBezTo>
                  <a:pt x="200" y="140"/>
                  <a:pt x="304" y="280"/>
                  <a:pt x="288" y="432"/>
                </a:cubicBezTo>
                <a:cubicBezTo>
                  <a:pt x="272" y="584"/>
                  <a:pt x="136" y="748"/>
                  <a:pt x="0" y="912"/>
                </a:cubicBezTo>
              </a:path>
            </a:pathLst>
          </a:custGeom>
          <a:noFill/>
          <a:ln w="38100" cap="flat" cmpd="sng">
            <a:solidFill>
              <a:srgbClr val="CC0000">
                <a:alpha val="100000"/>
              </a:srgbClr>
            </a:solidFill>
            <a:prstDash val="solid"/>
            <a:round/>
            <a:headEnd type="none" w="med" len="med"/>
            <a:tailEnd type="triangle" w="med" len="med"/>
          </a:ln>
        </p:spPr>
        <p:txBody>
          <a:bodyPr/>
          <a:p>
            <a:endParaRPr lang="zh-CN" altLang="en-US"/>
          </a:p>
        </p:txBody>
      </p:sp>
      <p:sp>
        <p:nvSpPr>
          <p:cNvPr id="305191" name="Rectangle 39"/>
          <p:cNvSpPr/>
          <p:nvPr/>
        </p:nvSpPr>
        <p:spPr>
          <a:xfrm>
            <a:off x="1692275" y="3044825"/>
            <a:ext cx="5238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a:solidFill>
                  <a:schemeClr val="accent2"/>
                </a:solidFill>
                <a:latin typeface="黑体" pitchFamily="49" charset="-122"/>
                <a:ea typeface="黑体" pitchFamily="49" charset="-122"/>
              </a:rPr>
              <a:t>H</a:t>
            </a:r>
            <a:r>
              <a:rPr lang="en-US" altLang="zh-CN" sz="2000" b="1" baseline="-25000">
                <a:solidFill>
                  <a:schemeClr val="accent2"/>
                </a:solidFill>
                <a:latin typeface="黑体" pitchFamily="49" charset="-122"/>
                <a:ea typeface="黑体" pitchFamily="49" charset="-122"/>
              </a:rPr>
              <a:t>2</a:t>
            </a:r>
            <a:r>
              <a:rPr lang="en-US" altLang="zh-CN" sz="2000" b="1">
                <a:solidFill>
                  <a:schemeClr val="accent2"/>
                </a:solidFill>
                <a:latin typeface="黑体" pitchFamily="49" charset="-122"/>
                <a:ea typeface="黑体" pitchFamily="49" charset="-122"/>
              </a:rPr>
              <a:t>O</a:t>
            </a:r>
            <a:endParaRPr lang="en-US" altLang="zh-CN" sz="2800" b="1">
              <a:solidFill>
                <a:schemeClr val="accent2"/>
              </a:solidFill>
              <a:latin typeface="黑体" pitchFamily="49" charset="-122"/>
              <a:ea typeface="黑体" pitchFamily="49" charset="-122"/>
            </a:endParaRPr>
          </a:p>
        </p:txBody>
      </p:sp>
      <p:sp>
        <p:nvSpPr>
          <p:cNvPr id="305192" name="Rectangle 40"/>
          <p:cNvSpPr/>
          <p:nvPr/>
        </p:nvSpPr>
        <p:spPr>
          <a:xfrm>
            <a:off x="1547813" y="2611438"/>
            <a:ext cx="4921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solidFill>
                  <a:schemeClr val="accent2"/>
                </a:solidFill>
                <a:latin typeface="黑体" pitchFamily="49" charset="-122"/>
                <a:ea typeface="黑体" pitchFamily="49" charset="-122"/>
              </a:rPr>
              <a:t>Pi</a:t>
            </a:r>
            <a:endParaRPr lang="en-US" altLang="zh-CN" sz="2800" b="1">
              <a:solidFill>
                <a:schemeClr val="accent2"/>
              </a:solidFill>
              <a:latin typeface="黑体" pitchFamily="49" charset="-122"/>
              <a:ea typeface="黑体" pitchFamily="49" charset="-122"/>
            </a:endParaRPr>
          </a:p>
        </p:txBody>
      </p:sp>
      <p:sp>
        <p:nvSpPr>
          <p:cNvPr id="305193" name="Freeform 41"/>
          <p:cNvSpPr/>
          <p:nvPr/>
        </p:nvSpPr>
        <p:spPr>
          <a:xfrm rot="-1111410">
            <a:off x="2055813" y="2697163"/>
            <a:ext cx="696912" cy="501650"/>
          </a:xfrm>
          <a:custGeom>
            <a:avLst/>
            <a:gdLst>
              <a:gd name="txL" fmla="*/ 0 w 288"/>
              <a:gd name="txT" fmla="*/ 0 h 576"/>
              <a:gd name="txR" fmla="*/ 288 w 288"/>
              <a:gd name="txB" fmla="*/ 576 h 576"/>
            </a:gdLst>
            <a:ahLst/>
            <a:cxnLst>
              <a:cxn ang="0">
                <a:pos x="0" y="2147483646"/>
              </a:cxn>
              <a:cxn ang="0">
                <a:pos x="2147483646" y="2147483646"/>
              </a:cxn>
              <a:cxn ang="0">
                <a:pos x="0" y="0"/>
              </a:cxn>
            </a:cxnLst>
            <a:rect l="txL" t="txT" r="txR" b="txB"/>
            <a:pathLst>
              <a:path w="288" h="576">
                <a:moveTo>
                  <a:pt x="0" y="576"/>
                </a:moveTo>
                <a:cubicBezTo>
                  <a:pt x="144" y="480"/>
                  <a:pt x="288" y="384"/>
                  <a:pt x="288" y="288"/>
                </a:cubicBezTo>
                <a:cubicBezTo>
                  <a:pt x="288" y="192"/>
                  <a:pt x="144" y="96"/>
                  <a:pt x="0" y="0"/>
                </a:cubicBezTo>
              </a:path>
            </a:pathLst>
          </a:custGeom>
          <a:noFill/>
          <a:ln w="38100" cap="flat" cmpd="sng">
            <a:solidFill>
              <a:srgbClr val="CC0000">
                <a:alpha val="100000"/>
              </a:srgbClr>
            </a:solidFill>
            <a:prstDash val="solid"/>
            <a:round/>
            <a:headEnd type="none" w="med" len="med"/>
            <a:tailEnd type="triangle" w="med" len="med"/>
          </a:ln>
        </p:spPr>
        <p:txBody>
          <a:bodyPr/>
          <a:p>
            <a:endParaRPr lang="zh-CN" altLang="en-US"/>
          </a:p>
        </p:txBody>
      </p:sp>
      <p:sp>
        <p:nvSpPr>
          <p:cNvPr id="305194" name="Freeform 42"/>
          <p:cNvSpPr/>
          <p:nvPr/>
        </p:nvSpPr>
        <p:spPr>
          <a:xfrm>
            <a:off x="6516688" y="4268788"/>
            <a:ext cx="1728787" cy="576262"/>
          </a:xfrm>
          <a:custGeom>
            <a:avLst/>
            <a:gdLst>
              <a:gd name="txL" fmla="*/ 0 w 1344"/>
              <a:gd name="txT" fmla="*/ 0 h 288"/>
              <a:gd name="txR" fmla="*/ 1344 w 1344"/>
              <a:gd name="txB" fmla="*/ 288 h 288"/>
            </a:gdLst>
            <a:ahLst/>
            <a:cxnLst>
              <a:cxn ang="0">
                <a:pos x="2147483646" y="0"/>
              </a:cxn>
              <a:cxn ang="0">
                <a:pos x="2147483646" y="2147483646"/>
              </a:cxn>
              <a:cxn ang="0">
                <a:pos x="0" y="0"/>
              </a:cxn>
            </a:cxnLst>
            <a:rect l="txL" t="txT" r="txR" b="txB"/>
            <a:pathLst>
              <a:path w="1344" h="288">
                <a:moveTo>
                  <a:pt x="1344" y="0"/>
                </a:moveTo>
                <a:cubicBezTo>
                  <a:pt x="1072" y="144"/>
                  <a:pt x="800" y="288"/>
                  <a:pt x="576" y="288"/>
                </a:cubicBezTo>
                <a:cubicBezTo>
                  <a:pt x="352" y="288"/>
                  <a:pt x="176" y="144"/>
                  <a:pt x="0" y="0"/>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305195" name="Freeform 43"/>
          <p:cNvSpPr/>
          <p:nvPr/>
        </p:nvSpPr>
        <p:spPr>
          <a:xfrm rot="-233340">
            <a:off x="2555875" y="4897438"/>
            <a:ext cx="5184775" cy="636587"/>
          </a:xfrm>
          <a:custGeom>
            <a:avLst/>
            <a:gdLst>
              <a:gd name="txL" fmla="*/ 0 w 2216"/>
              <a:gd name="txT" fmla="*/ 0 h 216"/>
              <a:gd name="txR" fmla="*/ 2216 w 2216"/>
              <a:gd name="txB" fmla="*/ 216 h 216"/>
            </a:gdLst>
            <a:ahLst/>
            <a:cxnLst>
              <a:cxn ang="0">
                <a:pos x="2147483646" y="2147483646"/>
              </a:cxn>
              <a:cxn ang="0">
                <a:pos x="2147483646" y="2147483646"/>
              </a:cxn>
              <a:cxn ang="0">
                <a:pos x="0" y="2147483646"/>
              </a:cxn>
            </a:cxnLst>
            <a:rect l="txL" t="txT" r="txR" b="txB"/>
            <a:pathLst>
              <a:path w="2216" h="216">
                <a:moveTo>
                  <a:pt x="1776" y="216"/>
                </a:moveTo>
                <a:cubicBezTo>
                  <a:pt x="1996" y="132"/>
                  <a:pt x="2216" y="48"/>
                  <a:pt x="1920" y="24"/>
                </a:cubicBezTo>
                <a:cubicBezTo>
                  <a:pt x="1624" y="0"/>
                  <a:pt x="812" y="36"/>
                  <a:pt x="0" y="72"/>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305196" name="Freeform 44"/>
          <p:cNvSpPr/>
          <p:nvPr/>
        </p:nvSpPr>
        <p:spPr>
          <a:xfrm>
            <a:off x="2425700" y="4686300"/>
            <a:ext cx="3659188" cy="806450"/>
          </a:xfrm>
          <a:custGeom>
            <a:avLst/>
            <a:gdLst>
              <a:gd name="txL" fmla="*/ 0 w 2400"/>
              <a:gd name="txT" fmla="*/ 0 h 472"/>
              <a:gd name="txR" fmla="*/ 2400 w 2400"/>
              <a:gd name="txB" fmla="*/ 472 h 472"/>
            </a:gdLst>
            <a:ahLst/>
            <a:cxnLst>
              <a:cxn ang="0">
                <a:pos x="2147483646" y="2147483646"/>
              </a:cxn>
              <a:cxn ang="0">
                <a:pos x="2147483646" y="2147483646"/>
              </a:cxn>
              <a:cxn ang="0">
                <a:pos x="0" y="2147483646"/>
              </a:cxn>
            </a:cxnLst>
            <a:rect l="txL" t="txT" r="txR" b="txB"/>
            <a:pathLst>
              <a:path w="2400" h="472">
                <a:moveTo>
                  <a:pt x="2400" y="472"/>
                </a:moveTo>
                <a:cubicBezTo>
                  <a:pt x="1880" y="276"/>
                  <a:pt x="1360" y="80"/>
                  <a:pt x="960" y="40"/>
                </a:cubicBezTo>
                <a:cubicBezTo>
                  <a:pt x="560" y="0"/>
                  <a:pt x="280" y="116"/>
                  <a:pt x="0" y="232"/>
                </a:cubicBezTo>
              </a:path>
            </a:pathLst>
          </a:custGeom>
          <a:noFill/>
          <a:ln w="38100" cap="rnd" cmpd="sng">
            <a:solidFill>
              <a:srgbClr val="CC0000">
                <a:alpha val="100000"/>
              </a:srgbClr>
            </a:solidFill>
            <a:prstDash val="sysDot"/>
            <a:round/>
            <a:headEnd type="none" w="med" len="med"/>
            <a:tailEnd type="triangle" w="med" len="med"/>
          </a:ln>
        </p:spPr>
        <p:txBody>
          <a:bodyPr/>
          <a:p>
            <a:endParaRPr lang="zh-CN" altLang="en-US"/>
          </a:p>
        </p:txBody>
      </p:sp>
      <p:sp>
        <p:nvSpPr>
          <p:cNvPr id="305197" name="Rectangle 45"/>
          <p:cNvSpPr/>
          <p:nvPr/>
        </p:nvSpPr>
        <p:spPr>
          <a:xfrm>
            <a:off x="2700338" y="2492375"/>
            <a:ext cx="7080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a:solidFill>
                  <a:srgbClr val="0066FF"/>
                </a:solidFill>
                <a:latin typeface="Times New Roman" panose="02020603050405020304" charset="0"/>
                <a:ea typeface="黑体" pitchFamily="49" charset="-122"/>
              </a:rPr>
              <a:t>PP1</a:t>
            </a:r>
            <a:endParaRPr lang="en-US" altLang="zh-CN" sz="2400" b="1">
              <a:solidFill>
                <a:srgbClr val="0066FF"/>
              </a:solidFill>
              <a:latin typeface="Times New Roman" panose="02020603050405020304" charset="0"/>
              <a:ea typeface="黑体" pitchFamily="49" charset="-122"/>
            </a:endParaRPr>
          </a:p>
        </p:txBody>
      </p:sp>
      <p:sp>
        <p:nvSpPr>
          <p:cNvPr id="305198" name="Line 46"/>
          <p:cNvSpPr/>
          <p:nvPr/>
        </p:nvSpPr>
        <p:spPr>
          <a:xfrm>
            <a:off x="3203575" y="1603375"/>
            <a:ext cx="4262438" cy="0"/>
          </a:xfrm>
          <a:prstGeom prst="line">
            <a:avLst/>
          </a:prstGeom>
          <a:ln w="38100" cap="flat" cmpd="sng">
            <a:solidFill>
              <a:srgbClr val="CC0000"/>
            </a:solidFill>
            <a:prstDash val="solid"/>
            <a:miter/>
            <a:headEnd type="none" w="sm" len="sm"/>
            <a:tailEnd type="none" w="sm" len="sm"/>
          </a:ln>
        </p:spPr>
      </p:sp>
      <p:sp>
        <p:nvSpPr>
          <p:cNvPr id="305199" name="Line 47"/>
          <p:cNvSpPr/>
          <p:nvPr/>
        </p:nvSpPr>
        <p:spPr>
          <a:xfrm flipH="1">
            <a:off x="2916238" y="1244600"/>
            <a:ext cx="0" cy="863600"/>
          </a:xfrm>
          <a:prstGeom prst="line">
            <a:avLst/>
          </a:prstGeom>
          <a:ln w="38100" cap="flat" cmpd="sng">
            <a:solidFill>
              <a:schemeClr val="tx1"/>
            </a:solidFill>
            <a:prstDash val="solid"/>
            <a:headEnd type="none" w="med" len="med"/>
            <a:tailEnd type="triangle" w="med" len="med"/>
          </a:ln>
        </p:spPr>
      </p:sp>
      <p:sp>
        <p:nvSpPr>
          <p:cNvPr id="305200" name="Line 48"/>
          <p:cNvSpPr/>
          <p:nvPr/>
        </p:nvSpPr>
        <p:spPr>
          <a:xfrm flipH="1">
            <a:off x="3203575" y="1244600"/>
            <a:ext cx="0" cy="358775"/>
          </a:xfrm>
          <a:prstGeom prst="line">
            <a:avLst/>
          </a:prstGeom>
          <a:ln w="38100" cap="flat" cmpd="sng">
            <a:solidFill>
              <a:srgbClr val="CC0000"/>
            </a:solidFill>
            <a:prstDash val="solid"/>
            <a:headEnd type="none" w="med" len="med"/>
            <a:tailEnd type="triangle" w="med" len="med"/>
          </a:ln>
        </p:spPr>
      </p:sp>
      <p:grpSp>
        <p:nvGrpSpPr>
          <p:cNvPr id="6" name="Group 62"/>
          <p:cNvGrpSpPr/>
          <p:nvPr/>
        </p:nvGrpSpPr>
        <p:grpSpPr>
          <a:xfrm>
            <a:off x="3563938" y="1773238"/>
            <a:ext cx="1887537" cy="884237"/>
            <a:chOff x="2245" y="1117"/>
            <a:chExt cx="1189" cy="557"/>
          </a:xfrm>
        </p:grpSpPr>
        <p:grpSp>
          <p:nvGrpSpPr>
            <p:cNvPr id="76852" name="Group 49"/>
            <p:cNvGrpSpPr/>
            <p:nvPr/>
          </p:nvGrpSpPr>
          <p:grpSpPr>
            <a:xfrm>
              <a:off x="2245" y="1117"/>
              <a:ext cx="1044" cy="557"/>
              <a:chOff x="1610" y="1253"/>
              <a:chExt cx="1134" cy="557"/>
            </a:xfrm>
          </p:grpSpPr>
          <p:sp>
            <p:nvSpPr>
              <p:cNvPr id="76854" name="Rectangle 50"/>
              <p:cNvSpPr/>
              <p:nvPr/>
            </p:nvSpPr>
            <p:spPr>
              <a:xfrm>
                <a:off x="1610" y="1253"/>
                <a:ext cx="1134" cy="557"/>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a:latin typeface="Times New Roman" panose="02020603050405020304" charset="0"/>
                    <a:ea typeface="黑体" pitchFamily="49" charset="-122"/>
                  </a:rPr>
                  <a:t>磷酸化酶激酶</a:t>
                </a:r>
                <a:r>
                  <a:rPr lang="en-US" altLang="zh-CN" sz="2800" b="1">
                    <a:latin typeface="Times New Roman" panose="02020603050405020304" charset="0"/>
                    <a:ea typeface="黑体" pitchFamily="49" charset="-122"/>
                  </a:rPr>
                  <a:t>-</a:t>
                </a:r>
                <a:endParaRPr lang="zh-CN" altLang="en-US" sz="2800" b="1">
                  <a:latin typeface="Times New Roman" panose="02020603050405020304" charset="0"/>
                  <a:ea typeface="黑体" pitchFamily="49" charset="-122"/>
                </a:endParaRPr>
              </a:p>
            </p:txBody>
          </p:sp>
          <p:sp>
            <p:nvSpPr>
              <p:cNvPr id="76855" name="Oval 51"/>
              <p:cNvSpPr/>
              <p:nvPr/>
            </p:nvSpPr>
            <p:spPr>
              <a:xfrm>
                <a:off x="2172" y="1616"/>
                <a:ext cx="192" cy="192"/>
              </a:xfrm>
              <a:prstGeom prst="ellipse">
                <a:avLst/>
              </a:prstGeom>
              <a:solidFill>
                <a:srgbClr val="FF9900"/>
              </a:solidFill>
              <a:ln w="38100" cap="flat" cmpd="sng">
                <a:solidFill>
                  <a:srgbClr val="0066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黑体" pitchFamily="49" charset="-122"/>
                    <a:ea typeface="黑体" pitchFamily="49" charset="-122"/>
                  </a:rPr>
                  <a:t>P</a:t>
                </a:r>
                <a:endParaRPr lang="en-US" altLang="zh-CN" sz="2400" b="1">
                  <a:latin typeface="Times New Roman" panose="02020603050405020304" charset="0"/>
                  <a:ea typeface="黑体" pitchFamily="49" charset="-122"/>
                </a:endParaRPr>
              </a:p>
            </p:txBody>
          </p:sp>
        </p:grpSp>
        <p:sp>
          <p:nvSpPr>
            <p:cNvPr id="76853" name="Rectangle 52"/>
            <p:cNvSpPr/>
            <p:nvPr/>
          </p:nvSpPr>
          <p:spPr>
            <a:xfrm>
              <a:off x="2835" y="1373"/>
              <a:ext cx="599" cy="231"/>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solidFill>
                    <a:schemeClr val="hlink"/>
                  </a:solidFill>
                </a:rPr>
                <a:t>(</a:t>
              </a:r>
              <a:r>
                <a:rPr lang="zh-CN" altLang="en-US" sz="1800" b="1"/>
                <a:t>活性</a:t>
              </a:r>
              <a:r>
                <a:rPr lang="zh-CN" altLang="en-US" sz="1800" b="1">
                  <a:solidFill>
                    <a:schemeClr val="hlink"/>
                  </a:solidFill>
                </a:rPr>
                <a:t>）</a:t>
              </a:r>
              <a:endParaRPr lang="zh-CN" altLang="en-US" sz="1800" b="1">
                <a:solidFill>
                  <a:schemeClr val="hlink"/>
                </a:solidFill>
              </a:endParaRPr>
            </a:p>
          </p:txBody>
        </p:sp>
      </p:grpSp>
      <p:sp>
        <p:nvSpPr>
          <p:cNvPr id="305205" name="Freeform 53"/>
          <p:cNvSpPr/>
          <p:nvPr/>
        </p:nvSpPr>
        <p:spPr>
          <a:xfrm rot="-8580674">
            <a:off x="3203575" y="2540000"/>
            <a:ext cx="84138" cy="1216025"/>
          </a:xfrm>
          <a:custGeom>
            <a:avLst/>
            <a:gdLst>
              <a:gd name="txL" fmla="*/ 0 w 288"/>
              <a:gd name="txT" fmla="*/ 0 h 576"/>
              <a:gd name="txR" fmla="*/ 288 w 288"/>
              <a:gd name="txB" fmla="*/ 576 h 576"/>
            </a:gdLst>
            <a:ahLst/>
            <a:cxnLst>
              <a:cxn ang="0">
                <a:pos x="0" y="2147483646"/>
              </a:cxn>
              <a:cxn ang="0">
                <a:pos x="2147483646" y="2147483646"/>
              </a:cxn>
              <a:cxn ang="0">
                <a:pos x="0" y="0"/>
              </a:cxn>
            </a:cxnLst>
            <a:rect l="txL" t="txT" r="txR" b="txB"/>
            <a:pathLst>
              <a:path w="288" h="576">
                <a:moveTo>
                  <a:pt x="0" y="576"/>
                </a:moveTo>
                <a:cubicBezTo>
                  <a:pt x="144" y="480"/>
                  <a:pt x="288" y="384"/>
                  <a:pt x="288" y="288"/>
                </a:cubicBezTo>
                <a:cubicBezTo>
                  <a:pt x="288" y="192"/>
                  <a:pt x="144" y="96"/>
                  <a:pt x="0" y="0"/>
                </a:cubicBezTo>
              </a:path>
            </a:pathLst>
          </a:custGeom>
          <a:noFill/>
          <a:ln w="38100" cap="flat" cmpd="sng">
            <a:solidFill>
              <a:schemeClr val="tx1">
                <a:alpha val="100000"/>
              </a:schemeClr>
            </a:solidFill>
            <a:prstDash val="solid"/>
            <a:round/>
            <a:headEnd type="none" w="med" len="med"/>
            <a:tailEnd type="triangle" w="med" len="med"/>
          </a:ln>
        </p:spPr>
        <p:txBody>
          <a:bodyPr/>
          <a:p>
            <a:endParaRPr lang="zh-CN" altLang="en-US"/>
          </a:p>
        </p:txBody>
      </p:sp>
      <p:sp>
        <p:nvSpPr>
          <p:cNvPr id="305206" name="Text Box 54"/>
          <p:cNvSpPr txBox="1"/>
          <p:nvPr/>
        </p:nvSpPr>
        <p:spPr>
          <a:xfrm>
            <a:off x="812800" y="5434013"/>
            <a:ext cx="1439863"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a:solidFill>
                  <a:srgbClr val="A50021"/>
                </a:solidFill>
                <a:latin typeface="楷体_GB2312" pitchFamily="49" charset="-122"/>
                <a:ea typeface="楷体_GB2312" pitchFamily="49" charset="-122"/>
              </a:rPr>
              <a:t>抑制剂</a:t>
            </a:r>
            <a:r>
              <a:rPr lang="en-US" altLang="zh-CN" sz="2400" b="1">
                <a:solidFill>
                  <a:srgbClr val="A50021"/>
                </a:solidFill>
                <a:latin typeface="楷体_GB2312" pitchFamily="49" charset="-122"/>
                <a:ea typeface="楷体_GB2312" pitchFamily="49" charset="-122"/>
              </a:rPr>
              <a:t>I</a:t>
            </a:r>
            <a:r>
              <a:rPr lang="en-US" altLang="zh-CN" sz="2400" b="1"/>
              <a:t> </a:t>
            </a:r>
            <a:endParaRPr lang="en-US" altLang="zh-CN" sz="2400" b="1"/>
          </a:p>
        </p:txBody>
      </p:sp>
      <p:sp>
        <p:nvSpPr>
          <p:cNvPr id="305207" name="AutoShape 55"/>
          <p:cNvSpPr/>
          <p:nvPr/>
        </p:nvSpPr>
        <p:spPr>
          <a:xfrm>
            <a:off x="611188" y="1603375"/>
            <a:ext cx="215900" cy="4033838"/>
          </a:xfrm>
          <a:prstGeom prst="leftBracket">
            <a:avLst>
              <a:gd name="adj" fmla="val 155698"/>
            </a:avLst>
          </a:prstGeom>
          <a:noFill/>
          <a:ln w="38100" cap="flat" cmpd="sng">
            <a:solidFill>
              <a:srgbClr val="CC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a:p>
        </p:txBody>
      </p:sp>
      <p:sp>
        <p:nvSpPr>
          <p:cNvPr id="305208" name="Line 56"/>
          <p:cNvSpPr/>
          <p:nvPr/>
        </p:nvSpPr>
        <p:spPr>
          <a:xfrm flipV="1">
            <a:off x="769938" y="1603375"/>
            <a:ext cx="1857375" cy="1588"/>
          </a:xfrm>
          <a:prstGeom prst="line">
            <a:avLst/>
          </a:prstGeom>
          <a:ln w="38100" cap="flat" cmpd="sng">
            <a:solidFill>
              <a:srgbClr val="CC0000"/>
            </a:solidFill>
            <a:prstDash val="solid"/>
            <a:miter/>
            <a:headEnd type="none" w="sm" len="sm"/>
            <a:tailEnd type="none" w="sm" len="sm"/>
          </a:ln>
        </p:spPr>
      </p:sp>
      <p:sp>
        <p:nvSpPr>
          <p:cNvPr id="305209" name="Line 57"/>
          <p:cNvSpPr/>
          <p:nvPr/>
        </p:nvSpPr>
        <p:spPr>
          <a:xfrm flipH="1">
            <a:off x="2627313" y="1244600"/>
            <a:ext cx="0" cy="358775"/>
          </a:xfrm>
          <a:prstGeom prst="line">
            <a:avLst/>
          </a:prstGeom>
          <a:ln w="38100" cap="flat" cmpd="sng">
            <a:solidFill>
              <a:srgbClr val="CC0000"/>
            </a:solidFill>
            <a:prstDash val="solid"/>
            <a:headEnd type="none" w="med" len="med"/>
            <a:tailEnd type="triangle" w="med" len="med"/>
          </a:ln>
        </p:spPr>
      </p:sp>
      <p:sp>
        <p:nvSpPr>
          <p:cNvPr id="305210" name="Line 58"/>
          <p:cNvSpPr/>
          <p:nvPr/>
        </p:nvSpPr>
        <p:spPr>
          <a:xfrm>
            <a:off x="2065338" y="5649913"/>
            <a:ext cx="1008062" cy="0"/>
          </a:xfrm>
          <a:prstGeom prst="line">
            <a:avLst/>
          </a:prstGeom>
          <a:ln w="38100" cap="flat" cmpd="sng">
            <a:solidFill>
              <a:srgbClr val="CC0000"/>
            </a:solidFill>
            <a:prstDash val="solid"/>
            <a:miter/>
            <a:headEnd type="none" w="sm" len="sm"/>
            <a:tailEnd type="triangle" w="sm" len="sm"/>
          </a:ln>
        </p:spPr>
      </p:sp>
      <p:sp>
        <p:nvSpPr>
          <p:cNvPr id="305211" name="Oval 59"/>
          <p:cNvSpPr/>
          <p:nvPr/>
        </p:nvSpPr>
        <p:spPr>
          <a:xfrm>
            <a:off x="684213" y="5334000"/>
            <a:ext cx="228600" cy="228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Times New Roman" panose="02020603050405020304" charset="0"/>
                <a:ea typeface="黑体" pitchFamily="49" charset="-122"/>
              </a:rPr>
              <a:t>+</a:t>
            </a:r>
            <a:endParaRPr lang="en-US" altLang="zh-CN" sz="2400" b="1">
              <a:latin typeface="Times New Roman" panose="02020603050405020304" charset="0"/>
              <a:ea typeface="黑体" pitchFamily="49" charset="-122"/>
            </a:endParaRPr>
          </a:p>
        </p:txBody>
      </p:sp>
      <p:sp>
        <p:nvSpPr>
          <p:cNvPr id="76846" name="Oval 60"/>
          <p:cNvSpPr/>
          <p:nvPr/>
        </p:nvSpPr>
        <p:spPr>
          <a:xfrm>
            <a:off x="2555875" y="5708650"/>
            <a:ext cx="228600" cy="228600"/>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a:solidFill>
                  <a:srgbClr val="FFF7FF"/>
                </a:solidFill>
                <a:latin typeface="Times New Roman" panose="02020603050405020304" charset="0"/>
                <a:ea typeface="黑体" pitchFamily="49" charset="-122"/>
              </a:rPr>
              <a:t>－</a:t>
            </a:r>
            <a:endParaRPr lang="zh-CN" altLang="en-US" sz="2400" b="1">
              <a:solidFill>
                <a:srgbClr val="FFF7FF"/>
              </a:solidFill>
              <a:latin typeface="Times New Roman" panose="02020603050405020304" charset="0"/>
              <a:ea typeface="黑体" pitchFamily="49" charset="-122"/>
            </a:endParaRPr>
          </a:p>
        </p:txBody>
      </p:sp>
      <p:sp>
        <p:nvSpPr>
          <p:cNvPr id="76847" name="Text Box 61"/>
          <p:cNvSpPr txBox="1"/>
          <p:nvPr/>
        </p:nvSpPr>
        <p:spPr>
          <a:xfrm>
            <a:off x="4356100" y="6400800"/>
            <a:ext cx="4608513"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a:solidFill>
                  <a:schemeClr val="accent2"/>
                </a:solidFill>
                <a:latin typeface="楷体_GB2312" pitchFamily="49" charset="-122"/>
                <a:ea typeface="楷体_GB2312" pitchFamily="49" charset="-122"/>
              </a:rPr>
              <a:t>PKA</a:t>
            </a:r>
            <a:r>
              <a:rPr lang="zh-CN" altLang="en-US" sz="2400" b="1">
                <a:solidFill>
                  <a:schemeClr val="accent2"/>
                </a:solidFill>
                <a:latin typeface="楷体_GB2312" pitchFamily="49" charset="-122"/>
                <a:ea typeface="楷体_GB2312" pitchFamily="49" charset="-122"/>
              </a:rPr>
              <a:t>磷酸化</a:t>
            </a:r>
            <a:r>
              <a:rPr lang="zh-CN" altLang="en-US" sz="2400" b="1">
                <a:solidFill>
                  <a:schemeClr val="accent2"/>
                </a:solidFill>
                <a:latin typeface="楷体_GB2312" pitchFamily="49" charset="-122"/>
                <a:ea typeface="楷体_GB2312" pitchFamily="49" charset="-122"/>
                <a:sym typeface="Wingdings" panose="05000000000000000000" pitchFamily="2" charset="2"/>
              </a:rPr>
              <a:t>下游多个蛋白质靶标</a:t>
            </a:r>
            <a:endParaRPr lang="zh-CN" altLang="en-US" sz="2400" b="1">
              <a:solidFill>
                <a:schemeClr val="accent2"/>
              </a:solidFill>
              <a:latin typeface="楷体_GB2312" pitchFamily="49" charset="-122"/>
              <a:ea typeface="楷体_GB2312" pitchFamily="49" charset="-122"/>
            </a:endParaRPr>
          </a:p>
        </p:txBody>
      </p:sp>
      <p:sp>
        <p:nvSpPr>
          <p:cNvPr id="305217" name="Oval 65"/>
          <p:cNvSpPr/>
          <p:nvPr/>
        </p:nvSpPr>
        <p:spPr>
          <a:xfrm>
            <a:off x="2195513" y="549275"/>
            <a:ext cx="304800" cy="304800"/>
          </a:xfrm>
          <a:prstGeom prst="ellipse">
            <a:avLst/>
          </a:prstGeom>
          <a:solidFill>
            <a:srgbClr val="FF9900"/>
          </a:solidFill>
          <a:ln w="9525" cap="flat" cmpd="sng">
            <a:solidFill>
              <a:srgbClr val="FFFF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a:latin typeface="黑体" pitchFamily="49" charset="-122"/>
                <a:ea typeface="黑体" pitchFamily="49" charset="-122"/>
              </a:rPr>
              <a:t>P</a:t>
            </a:r>
            <a:endParaRPr lang="en-US" altLang="zh-CN" sz="2400" b="1">
              <a:latin typeface="Times New Roman" panose="02020603050405020304" charset="0"/>
              <a:ea typeface="黑体" pitchFamily="49" charset="-122"/>
            </a:endParaRPr>
          </a:p>
        </p:txBody>
      </p:sp>
      <p:sp>
        <p:nvSpPr>
          <p:cNvPr id="305218" name="Line 66"/>
          <p:cNvSpPr/>
          <p:nvPr/>
        </p:nvSpPr>
        <p:spPr>
          <a:xfrm flipH="1">
            <a:off x="5364163" y="2349500"/>
            <a:ext cx="1008062" cy="0"/>
          </a:xfrm>
          <a:prstGeom prst="line">
            <a:avLst/>
          </a:prstGeom>
          <a:ln w="38100" cap="flat" cmpd="sng">
            <a:solidFill>
              <a:srgbClr val="A50021"/>
            </a:solidFill>
            <a:prstDash val="dash"/>
            <a:miter/>
            <a:headEnd type="none" w="sm" len="sm"/>
            <a:tailEnd type="triangle" w="sm" len="sm"/>
          </a:ln>
        </p:spPr>
      </p:sp>
      <p:sp>
        <p:nvSpPr>
          <p:cNvPr id="305219" name="Line 67"/>
          <p:cNvSpPr/>
          <p:nvPr/>
        </p:nvSpPr>
        <p:spPr>
          <a:xfrm flipH="1" flipV="1">
            <a:off x="4500563" y="1125538"/>
            <a:ext cx="1943100" cy="1008062"/>
          </a:xfrm>
          <a:prstGeom prst="line">
            <a:avLst/>
          </a:prstGeom>
          <a:ln w="38100" cap="flat" cmpd="sng">
            <a:solidFill>
              <a:srgbClr val="A50021"/>
            </a:solidFill>
            <a:prstDash val="dash"/>
            <a:miter/>
            <a:headEnd type="none" w="sm" len="sm"/>
            <a:tailEnd type="triangle" w="sm" len="sm"/>
          </a:ln>
        </p:spPr>
      </p:sp>
      <p:sp>
        <p:nvSpPr>
          <p:cNvPr id="76851"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5217"/>
                                        </p:tgtEl>
                                        <p:attrNameLst>
                                          <p:attrName>style.visibility</p:attrName>
                                        </p:attrNameLst>
                                      </p:cBhvr>
                                      <p:to>
                                        <p:strVal val="visible"/>
                                      </p:to>
                                    </p:set>
                                    <p:animEffect transition="in" filter="box(in)">
                                      <p:cBhvr>
                                        <p:cTn id="7" dur="500"/>
                                        <p:tgtEl>
                                          <p:spTgt spid="3052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5200"/>
                                        </p:tgtEl>
                                        <p:attrNameLst>
                                          <p:attrName>style.visibility</p:attrName>
                                        </p:attrNameLst>
                                      </p:cBhvr>
                                      <p:to>
                                        <p:strVal val="visible"/>
                                      </p:to>
                                    </p:set>
                                    <p:anim calcmode="lin" valueType="num">
                                      <p:cBhvr additive="base">
                                        <p:cTn id="12" dur="2000" fill="hold"/>
                                        <p:tgtEl>
                                          <p:spTgt spid="305200"/>
                                        </p:tgtEl>
                                        <p:attrNameLst>
                                          <p:attrName>ppt_x</p:attrName>
                                        </p:attrNameLst>
                                      </p:cBhvr>
                                      <p:tavLst>
                                        <p:tav tm="0">
                                          <p:val>
                                            <p:strVal val="0-#ppt_w/2"/>
                                          </p:val>
                                        </p:tav>
                                        <p:tav tm="100000">
                                          <p:val>
                                            <p:strVal val="#ppt_x"/>
                                          </p:val>
                                        </p:tav>
                                      </p:tavLst>
                                    </p:anim>
                                    <p:anim calcmode="lin" valueType="num">
                                      <p:cBhvr additive="base">
                                        <p:cTn id="13" dur="2000" fill="hold"/>
                                        <p:tgtEl>
                                          <p:spTgt spid="305200"/>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305198"/>
                                        </p:tgtEl>
                                        <p:attrNameLst>
                                          <p:attrName>style.visibility</p:attrName>
                                        </p:attrNameLst>
                                      </p:cBhvr>
                                      <p:to>
                                        <p:strVal val="visible"/>
                                      </p:to>
                                    </p:set>
                                    <p:anim calcmode="lin" valueType="num">
                                      <p:cBhvr additive="base">
                                        <p:cTn id="16" dur="2000" fill="hold"/>
                                        <p:tgtEl>
                                          <p:spTgt spid="305198"/>
                                        </p:tgtEl>
                                        <p:attrNameLst>
                                          <p:attrName>ppt_x</p:attrName>
                                        </p:attrNameLst>
                                      </p:cBhvr>
                                      <p:tavLst>
                                        <p:tav tm="0">
                                          <p:val>
                                            <p:strVal val="0-#ppt_w/2"/>
                                          </p:val>
                                        </p:tav>
                                        <p:tav tm="100000">
                                          <p:val>
                                            <p:strVal val="#ppt_x"/>
                                          </p:val>
                                        </p:tav>
                                      </p:tavLst>
                                    </p:anim>
                                    <p:anim calcmode="lin" valueType="num">
                                      <p:cBhvr additive="base">
                                        <p:cTn id="17" dur="2000" fill="hold"/>
                                        <p:tgtEl>
                                          <p:spTgt spid="305198"/>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305183"/>
                                        </p:tgtEl>
                                        <p:attrNameLst>
                                          <p:attrName>style.visibility</p:attrName>
                                        </p:attrNameLst>
                                      </p:cBhvr>
                                      <p:to>
                                        <p:strVal val="visible"/>
                                      </p:to>
                                    </p:set>
                                    <p:anim calcmode="lin" valueType="num">
                                      <p:cBhvr additive="base">
                                        <p:cTn id="20" dur="2000" fill="hold"/>
                                        <p:tgtEl>
                                          <p:spTgt spid="305183"/>
                                        </p:tgtEl>
                                        <p:attrNameLst>
                                          <p:attrName>ppt_x</p:attrName>
                                        </p:attrNameLst>
                                      </p:cBhvr>
                                      <p:tavLst>
                                        <p:tav tm="0">
                                          <p:val>
                                            <p:strVal val="0-#ppt_w/2"/>
                                          </p:val>
                                        </p:tav>
                                        <p:tav tm="100000">
                                          <p:val>
                                            <p:strVal val="#ppt_x"/>
                                          </p:val>
                                        </p:tav>
                                      </p:tavLst>
                                    </p:anim>
                                    <p:anim calcmode="lin" valueType="num">
                                      <p:cBhvr additive="base">
                                        <p:cTn id="21" dur="2000" fill="hold"/>
                                        <p:tgtEl>
                                          <p:spTgt spid="305183"/>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05180"/>
                                        </p:tgtEl>
                                        <p:attrNameLst>
                                          <p:attrName>style.visibility</p:attrName>
                                        </p:attrNameLst>
                                      </p:cBhvr>
                                      <p:to>
                                        <p:strVal val="visible"/>
                                      </p:to>
                                    </p:set>
                                    <p:animEffect transition="in" filter="blinds(horizontal)">
                                      <p:cBhvr>
                                        <p:cTn id="26" dur="500"/>
                                        <p:tgtEl>
                                          <p:spTgt spid="305180"/>
                                        </p:tgtEl>
                                      </p:cBhvr>
                                    </p:animEffect>
                                  </p:childTnLst>
                                </p:cTn>
                              </p:par>
                              <p:par>
                                <p:cTn id="27" presetID="3" presetClass="entr" presetSubtype="10" fill="hold" nodeType="withEffect">
                                  <p:stCondLst>
                                    <p:cond delay="0"/>
                                  </p:stCondLst>
                                  <p:childTnLst>
                                    <p:set>
                                      <p:cBhvr>
                                        <p:cTn id="28" dur="1" fill="hold">
                                          <p:stCondLst>
                                            <p:cond delay="0"/>
                                          </p:stCondLst>
                                        </p:cTn>
                                        <p:tgtEl>
                                          <p:spTgt spid="305182"/>
                                        </p:tgtEl>
                                        <p:attrNameLst>
                                          <p:attrName>style.visibility</p:attrName>
                                        </p:attrNameLst>
                                      </p:cBhvr>
                                      <p:to>
                                        <p:strVal val="visible"/>
                                      </p:to>
                                    </p:set>
                                    <p:animEffect transition="in" filter="blinds(horizontal)">
                                      <p:cBhvr>
                                        <p:cTn id="29" dur="500"/>
                                        <p:tgtEl>
                                          <p:spTgt spid="305182"/>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305185"/>
                                        </p:tgtEl>
                                        <p:attrNameLst>
                                          <p:attrName>style.visibility</p:attrName>
                                        </p:attrNameLst>
                                      </p:cBhvr>
                                      <p:to>
                                        <p:strVal val="visible"/>
                                      </p:to>
                                    </p:set>
                                    <p:animEffect transition="in" filter="box(in)">
                                      <p:cBhvr>
                                        <p:cTn id="34" dur="500"/>
                                        <p:tgtEl>
                                          <p:spTgt spid="305185"/>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305181"/>
                                        </p:tgtEl>
                                        <p:attrNameLst>
                                          <p:attrName>style.visibility</p:attrName>
                                        </p:attrNameLst>
                                      </p:cBhvr>
                                      <p:to>
                                        <p:strVal val="visible"/>
                                      </p:to>
                                    </p:set>
                                    <p:animEffect transition="in" filter="box(in)">
                                      <p:cBhvr>
                                        <p:cTn id="37" dur="500"/>
                                        <p:tgtEl>
                                          <p:spTgt spid="30518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05199"/>
                                        </p:tgtEl>
                                        <p:attrNameLst>
                                          <p:attrName>style.visibility</p:attrName>
                                        </p:attrNameLst>
                                      </p:cBhvr>
                                      <p:to>
                                        <p:strVal val="visible"/>
                                      </p:to>
                                    </p:set>
                                    <p:animEffect transition="in" filter="box(in)">
                                      <p:cBhvr>
                                        <p:cTn id="42" dur="500"/>
                                        <p:tgtEl>
                                          <p:spTgt spid="305199"/>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305168"/>
                                        </p:tgtEl>
                                        <p:attrNameLst>
                                          <p:attrName>style.visibility</p:attrName>
                                        </p:attrNameLst>
                                      </p:cBhvr>
                                      <p:to>
                                        <p:strVal val="visible"/>
                                      </p:to>
                                    </p:set>
                                    <p:animEffect transition="in" filter="box(in)">
                                      <p:cBhvr>
                                        <p:cTn id="45" dur="500"/>
                                        <p:tgtEl>
                                          <p:spTgt spid="305168"/>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305170"/>
                                        </p:tgtEl>
                                        <p:attrNameLst>
                                          <p:attrName>style.visibility</p:attrName>
                                        </p:attrNameLst>
                                      </p:cBhvr>
                                      <p:to>
                                        <p:strVal val="visible"/>
                                      </p:to>
                                    </p:set>
                                    <p:animEffect transition="in" filter="box(in)">
                                      <p:cBhvr>
                                        <p:cTn id="48" dur="500"/>
                                        <p:tgtEl>
                                          <p:spTgt spid="305170"/>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305169"/>
                                        </p:tgtEl>
                                        <p:attrNameLst>
                                          <p:attrName>style.visibility</p:attrName>
                                        </p:attrNameLst>
                                      </p:cBhvr>
                                      <p:to>
                                        <p:strVal val="visible"/>
                                      </p:to>
                                    </p:set>
                                    <p:animEffect transition="in" filter="box(in)">
                                      <p:cBhvr>
                                        <p:cTn id="53" dur="500"/>
                                        <p:tgtEl>
                                          <p:spTgt spid="305169"/>
                                        </p:tgtEl>
                                      </p:cBhvr>
                                    </p:animEffect>
                                  </p:childTnLst>
                                </p:cTn>
                              </p:par>
                              <p:par>
                                <p:cTn id="54" presetID="4" presetClass="entr" presetSubtype="16" fill="hold" nodeType="withEffect">
                                  <p:stCondLst>
                                    <p:cond delay="0"/>
                                  </p:stCondLst>
                                  <p:childTnLst>
                                    <p:set>
                                      <p:cBhvr>
                                        <p:cTn id="55" dur="1" fill="hold">
                                          <p:stCondLst>
                                            <p:cond delay="0"/>
                                          </p:stCondLst>
                                        </p:cTn>
                                        <p:tgtEl>
                                          <p:spTgt spid="305172"/>
                                        </p:tgtEl>
                                        <p:attrNameLst>
                                          <p:attrName>style.visibility</p:attrName>
                                        </p:attrNameLst>
                                      </p:cBhvr>
                                      <p:to>
                                        <p:strVal val="visible"/>
                                      </p:to>
                                    </p:set>
                                    <p:animEffect transition="in" filter="box(in)">
                                      <p:cBhvr>
                                        <p:cTn id="56" dur="500"/>
                                        <p:tgtEl>
                                          <p:spTgt spid="305172"/>
                                        </p:tgtEl>
                                      </p:cBhvr>
                                    </p:animEffect>
                                  </p:childTnLst>
                                </p:cTn>
                              </p:par>
                              <p:par>
                                <p:cTn id="57" presetID="4" presetClass="entr" presetSubtype="16" fill="hold" grpId="0" nodeType="withEffect">
                                  <p:stCondLst>
                                    <p:cond delay="0"/>
                                  </p:stCondLst>
                                  <p:childTnLst>
                                    <p:set>
                                      <p:cBhvr>
                                        <p:cTn id="58" dur="1" fill="hold">
                                          <p:stCondLst>
                                            <p:cond delay="0"/>
                                          </p:stCondLst>
                                        </p:cTn>
                                        <p:tgtEl>
                                          <p:spTgt spid="305171"/>
                                        </p:tgtEl>
                                        <p:attrNameLst>
                                          <p:attrName>style.visibility</p:attrName>
                                        </p:attrNameLst>
                                      </p:cBhvr>
                                      <p:to>
                                        <p:strVal val="visible"/>
                                      </p:to>
                                    </p:set>
                                    <p:animEffect transition="in" filter="box(in)">
                                      <p:cBhvr>
                                        <p:cTn id="59" dur="500"/>
                                        <p:tgtEl>
                                          <p:spTgt spid="305171"/>
                                        </p:tgtEl>
                                      </p:cBhvr>
                                    </p:animEffect>
                                  </p:childTnLst>
                                </p:cTn>
                              </p:par>
                              <p:par>
                                <p:cTn id="60" presetID="4" presetClass="entr" presetSubtype="16" fill="hold" nodeType="with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box(in)">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05205"/>
                                        </p:tgtEl>
                                        <p:attrNameLst>
                                          <p:attrName>style.visibility</p:attrName>
                                        </p:attrNameLst>
                                      </p:cBhvr>
                                      <p:to>
                                        <p:strVal val="visible"/>
                                      </p:to>
                                    </p:set>
                                    <p:animEffect transition="in" filter="fade">
                                      <p:cBhvr>
                                        <p:cTn id="67" dur="2000"/>
                                        <p:tgtEl>
                                          <p:spTgt spid="30520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5175"/>
                                        </p:tgtEl>
                                        <p:attrNameLst>
                                          <p:attrName>style.visibility</p:attrName>
                                        </p:attrNameLst>
                                      </p:cBhvr>
                                      <p:to>
                                        <p:strVal val="visible"/>
                                      </p:to>
                                    </p:set>
                                    <p:animEffect transition="in" filter="fade">
                                      <p:cBhvr>
                                        <p:cTn id="70" dur="2000"/>
                                        <p:tgtEl>
                                          <p:spTgt spid="30517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5174"/>
                                        </p:tgtEl>
                                        <p:attrNameLst>
                                          <p:attrName>style.visibility</p:attrName>
                                        </p:attrNameLst>
                                      </p:cBhvr>
                                      <p:to>
                                        <p:strVal val="visible"/>
                                      </p:to>
                                    </p:set>
                                    <p:animEffect transition="in" filter="fade">
                                      <p:cBhvr>
                                        <p:cTn id="73" dur="2000"/>
                                        <p:tgtEl>
                                          <p:spTgt spid="30517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05176"/>
                                        </p:tgtEl>
                                        <p:attrNameLst>
                                          <p:attrName>style.visibility</p:attrName>
                                        </p:attrNameLst>
                                      </p:cBhvr>
                                      <p:to>
                                        <p:strVal val="visible"/>
                                      </p:to>
                                    </p:set>
                                    <p:animEffect transition="in" filter="fade">
                                      <p:cBhvr>
                                        <p:cTn id="78" dur="2000"/>
                                        <p:tgtEl>
                                          <p:spTgt spid="305176"/>
                                        </p:tgtEl>
                                      </p:cBhvr>
                                    </p:animEffect>
                                  </p:childTnLst>
                                </p:cTn>
                              </p:par>
                              <p:par>
                                <p:cTn id="79" presetID="10" presetClass="entr" presetSubtype="0" fill="hold" nodeType="withEffect">
                                  <p:stCondLst>
                                    <p:cond delay="0"/>
                                  </p:stCondLst>
                                  <p:childTnLst>
                                    <p:set>
                                      <p:cBhvr>
                                        <p:cTn id="80" dur="1" fill="hold">
                                          <p:stCondLst>
                                            <p:cond delay="0"/>
                                          </p:stCondLst>
                                        </p:cTn>
                                        <p:tgtEl>
                                          <p:spTgt spid="305167"/>
                                        </p:tgtEl>
                                        <p:attrNameLst>
                                          <p:attrName>style.visibility</p:attrName>
                                        </p:attrNameLst>
                                      </p:cBhvr>
                                      <p:to>
                                        <p:strVal val="visible"/>
                                      </p:to>
                                    </p:set>
                                    <p:animEffect transition="in" filter="fade">
                                      <p:cBhvr>
                                        <p:cTn id="81" dur="2000"/>
                                        <p:tgtEl>
                                          <p:spTgt spid="305167"/>
                                        </p:tgtEl>
                                      </p:cBhvr>
                                    </p:animEffect>
                                  </p:childTnLst>
                                </p:cTn>
                              </p:par>
                              <p:par>
                                <p:cTn id="82" presetID="10" presetClass="entr" presetSubtype="0" fill="hold" nodeType="withEffect">
                                  <p:stCondLst>
                                    <p:cond delay="0"/>
                                  </p:stCondLst>
                                  <p:childTnLst>
                                    <p:set>
                                      <p:cBhvr>
                                        <p:cTn id="83" dur="1" fill="hold">
                                          <p:stCondLst>
                                            <p:cond delay="0"/>
                                          </p:stCondLst>
                                        </p:cTn>
                                        <p:tgtEl>
                                          <p:spTgt spid="305173"/>
                                        </p:tgtEl>
                                        <p:attrNameLst>
                                          <p:attrName>style.visibility</p:attrName>
                                        </p:attrNameLst>
                                      </p:cBhvr>
                                      <p:to>
                                        <p:strVal val="visible"/>
                                      </p:to>
                                    </p:set>
                                    <p:animEffect transition="in" filter="fade">
                                      <p:cBhvr>
                                        <p:cTn id="84" dur="2000"/>
                                        <p:tgtEl>
                                          <p:spTgt spid="305173"/>
                                        </p:tgtEl>
                                      </p:cBhvr>
                                    </p:animEffect>
                                  </p:childTnLst>
                                </p:cTn>
                              </p:par>
                              <p:par>
                                <p:cTn id="85" presetID="10" presetClass="entr" presetSubtype="0" fill="hold" nodeType="with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20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05209"/>
                                        </p:tgtEl>
                                        <p:attrNameLst>
                                          <p:attrName>style.visibility</p:attrName>
                                        </p:attrNameLst>
                                      </p:cBhvr>
                                      <p:to>
                                        <p:strVal val="visible"/>
                                      </p:to>
                                    </p:set>
                                    <p:animEffect transition="in" filter="fade">
                                      <p:cBhvr>
                                        <p:cTn id="92" dur="2000"/>
                                        <p:tgtEl>
                                          <p:spTgt spid="305209"/>
                                        </p:tgtEl>
                                      </p:cBhvr>
                                    </p:animEffect>
                                  </p:childTnLst>
                                </p:cTn>
                              </p:par>
                              <p:par>
                                <p:cTn id="93" presetID="10" presetClass="entr" presetSubtype="0" fill="hold" nodeType="withEffect">
                                  <p:stCondLst>
                                    <p:cond delay="0"/>
                                  </p:stCondLst>
                                  <p:childTnLst>
                                    <p:set>
                                      <p:cBhvr>
                                        <p:cTn id="94" dur="1" fill="hold">
                                          <p:stCondLst>
                                            <p:cond delay="0"/>
                                          </p:stCondLst>
                                        </p:cTn>
                                        <p:tgtEl>
                                          <p:spTgt spid="305208"/>
                                        </p:tgtEl>
                                        <p:attrNameLst>
                                          <p:attrName>style.visibility</p:attrName>
                                        </p:attrNameLst>
                                      </p:cBhvr>
                                      <p:to>
                                        <p:strVal val="visible"/>
                                      </p:to>
                                    </p:set>
                                    <p:animEffect transition="in" filter="fade">
                                      <p:cBhvr>
                                        <p:cTn id="95" dur="2000"/>
                                        <p:tgtEl>
                                          <p:spTgt spid="30520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05207"/>
                                        </p:tgtEl>
                                        <p:attrNameLst>
                                          <p:attrName>style.visibility</p:attrName>
                                        </p:attrNameLst>
                                      </p:cBhvr>
                                      <p:to>
                                        <p:strVal val="visible"/>
                                      </p:to>
                                    </p:set>
                                    <p:animEffect transition="in" filter="fade">
                                      <p:cBhvr>
                                        <p:cTn id="98" dur="2000"/>
                                        <p:tgtEl>
                                          <p:spTgt spid="30520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05211"/>
                                        </p:tgtEl>
                                        <p:attrNameLst>
                                          <p:attrName>style.visibility</p:attrName>
                                        </p:attrNameLst>
                                      </p:cBhvr>
                                      <p:to>
                                        <p:strVal val="visible"/>
                                      </p:to>
                                    </p:set>
                                    <p:animEffect transition="in" filter="fade">
                                      <p:cBhvr>
                                        <p:cTn id="101" dur="2000"/>
                                        <p:tgtEl>
                                          <p:spTgt spid="30521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05206"/>
                                        </p:tgtEl>
                                        <p:attrNameLst>
                                          <p:attrName>style.visibility</p:attrName>
                                        </p:attrNameLst>
                                      </p:cBhvr>
                                      <p:to>
                                        <p:strVal val="visible"/>
                                      </p:to>
                                    </p:set>
                                    <p:animEffect transition="in" filter="fade">
                                      <p:cBhvr>
                                        <p:cTn id="104" dur="2000"/>
                                        <p:tgtEl>
                                          <p:spTgt spid="30520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05210"/>
                                        </p:tgtEl>
                                        <p:attrNameLst>
                                          <p:attrName>style.visibility</p:attrName>
                                        </p:attrNameLst>
                                      </p:cBhvr>
                                      <p:to>
                                        <p:strVal val="visible"/>
                                      </p:to>
                                    </p:set>
                                    <p:animEffect transition="in" filter="fade">
                                      <p:cBhvr>
                                        <p:cTn id="109" dur="2000"/>
                                        <p:tgtEl>
                                          <p:spTgt spid="30521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05189"/>
                                        </p:tgtEl>
                                        <p:attrNameLst>
                                          <p:attrName>style.visibility</p:attrName>
                                        </p:attrNameLst>
                                      </p:cBhvr>
                                      <p:to>
                                        <p:strVal val="visible"/>
                                      </p:to>
                                    </p:set>
                                    <p:animEffect transition="in" filter="fade">
                                      <p:cBhvr>
                                        <p:cTn id="112" dur="2000"/>
                                        <p:tgtEl>
                                          <p:spTgt spid="305189"/>
                                        </p:tgtEl>
                                      </p:cBhvr>
                                    </p:animEffect>
                                  </p:childTnLst>
                                </p:cTn>
                              </p:par>
                            </p:childTnLst>
                          </p:cTn>
                        </p:par>
                      </p:childTnLst>
                    </p:cTn>
                  </p:par>
                  <p:par>
                    <p:cTn id="113" fill="hold">
                      <p:stCondLst>
                        <p:cond delay="indefinite"/>
                      </p:stCondLst>
                      <p:childTnLst>
                        <p:par>
                          <p:cTn id="114" fill="hold">
                            <p:stCondLst>
                              <p:cond delay="0"/>
                            </p:stCondLst>
                            <p:childTnLst>
                              <p:par>
                                <p:cTn id="115" presetID="35" presetClass="emph" presetSubtype="0" fill="hold" grpId="1" nodeType="clickEffect">
                                  <p:stCondLst>
                                    <p:cond delay="0"/>
                                  </p:stCondLst>
                                  <p:childTnLst>
                                    <p:anim calcmode="discrete" valueType="str">
                                      <p:cBhvr>
                                        <p:cTn id="116" dur="1000" fill="hold"/>
                                        <p:tgtEl>
                                          <p:spTgt spid="305189"/>
                                        </p:tgtEl>
                                        <p:attrNameLst>
                                          <p:attrName>style.visibility</p:attrName>
                                        </p:attrNameLst>
                                      </p:cBhvr>
                                      <p:tavLst>
                                        <p:tav tm="0">
                                          <p:val>
                                            <p:strVal val="hidden"/>
                                          </p:val>
                                        </p:tav>
                                        <p:tav tm="50000">
                                          <p:val>
                                            <p:strVal val="visible"/>
                                          </p:val>
                                        </p:tav>
                                      </p:tavLst>
                                    </p:anim>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305194"/>
                                        </p:tgtEl>
                                        <p:attrNameLst>
                                          <p:attrName>style.visibility</p:attrName>
                                        </p:attrNameLst>
                                      </p:cBhvr>
                                      <p:to>
                                        <p:strVal val="visible"/>
                                      </p:to>
                                    </p:set>
                                    <p:animEffect transition="in" filter="fade">
                                      <p:cBhvr>
                                        <p:cTn id="121" dur="2000"/>
                                        <p:tgtEl>
                                          <p:spTgt spid="305194"/>
                                        </p:tgtEl>
                                      </p:cBhvr>
                                    </p:animEffect>
                                  </p:childTnLst>
                                </p:cTn>
                              </p:par>
                              <p:par>
                                <p:cTn id="122" presetID="10" presetClass="entr" presetSubtype="0" fill="hold" nodeType="withEffect">
                                  <p:stCondLst>
                                    <p:cond delay="0"/>
                                  </p:stCondLst>
                                  <p:childTnLst>
                                    <p:set>
                                      <p:cBhvr>
                                        <p:cTn id="123" dur="1" fill="hold">
                                          <p:stCondLst>
                                            <p:cond delay="0"/>
                                          </p:stCondLst>
                                        </p:cTn>
                                        <p:tgtEl>
                                          <p:spTgt spid="305187"/>
                                        </p:tgtEl>
                                        <p:attrNameLst>
                                          <p:attrName>style.visibility</p:attrName>
                                        </p:attrNameLst>
                                      </p:cBhvr>
                                      <p:to>
                                        <p:strVal val="visible"/>
                                      </p:to>
                                    </p:set>
                                    <p:animEffect transition="in" filter="fade">
                                      <p:cBhvr>
                                        <p:cTn id="124" dur="2000"/>
                                        <p:tgtEl>
                                          <p:spTgt spid="305187"/>
                                        </p:tgtEl>
                                      </p:cBhvr>
                                    </p:animEffect>
                                  </p:childTnLst>
                                </p:cTn>
                              </p:par>
                              <p:par>
                                <p:cTn id="125" presetID="10" presetClass="entr" presetSubtype="0" fill="hold" nodeType="withEffect">
                                  <p:stCondLst>
                                    <p:cond delay="0"/>
                                  </p:stCondLst>
                                  <p:childTnLst>
                                    <p:set>
                                      <p:cBhvr>
                                        <p:cTn id="126" dur="1" fill="hold">
                                          <p:stCondLst>
                                            <p:cond delay="0"/>
                                          </p:stCondLst>
                                        </p:cTn>
                                        <p:tgtEl>
                                          <p:spTgt spid="305195"/>
                                        </p:tgtEl>
                                        <p:attrNameLst>
                                          <p:attrName>style.visibility</p:attrName>
                                        </p:attrNameLst>
                                      </p:cBhvr>
                                      <p:to>
                                        <p:strVal val="visible"/>
                                      </p:to>
                                    </p:set>
                                    <p:animEffect transition="in" filter="fade">
                                      <p:cBhvr>
                                        <p:cTn id="127" dur="2000"/>
                                        <p:tgtEl>
                                          <p:spTgt spid="305195"/>
                                        </p:tgtEl>
                                      </p:cBhvr>
                                    </p:animEffect>
                                  </p:childTnLst>
                                </p:cTn>
                              </p:par>
                              <p:par>
                                <p:cTn id="128" presetID="10" presetClass="entr" presetSubtype="0" fill="hold" nodeType="withEffect">
                                  <p:stCondLst>
                                    <p:cond delay="0"/>
                                  </p:stCondLst>
                                  <p:childTnLst>
                                    <p:set>
                                      <p:cBhvr>
                                        <p:cTn id="129" dur="1" fill="hold">
                                          <p:stCondLst>
                                            <p:cond delay="0"/>
                                          </p:stCondLst>
                                        </p:cTn>
                                        <p:tgtEl>
                                          <p:spTgt spid="305188"/>
                                        </p:tgtEl>
                                        <p:attrNameLst>
                                          <p:attrName>style.visibility</p:attrName>
                                        </p:attrNameLst>
                                      </p:cBhvr>
                                      <p:to>
                                        <p:strVal val="visible"/>
                                      </p:to>
                                    </p:set>
                                    <p:animEffect transition="in" filter="fade">
                                      <p:cBhvr>
                                        <p:cTn id="130" dur="2000"/>
                                        <p:tgtEl>
                                          <p:spTgt spid="305188"/>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nodeType="clickEffect">
                                  <p:stCondLst>
                                    <p:cond delay="0"/>
                                  </p:stCondLst>
                                  <p:childTnLst>
                                    <p:set>
                                      <p:cBhvr>
                                        <p:cTn id="134" dur="1" fill="hold">
                                          <p:stCondLst>
                                            <p:cond delay="0"/>
                                          </p:stCondLst>
                                        </p:cTn>
                                        <p:tgtEl>
                                          <p:spTgt spid="305196"/>
                                        </p:tgtEl>
                                        <p:attrNameLst>
                                          <p:attrName>style.visibility</p:attrName>
                                        </p:attrNameLst>
                                      </p:cBhvr>
                                      <p:to>
                                        <p:strVal val="visible"/>
                                      </p:to>
                                    </p:set>
                                    <p:animEffect transition="in" filter="fade">
                                      <p:cBhvr>
                                        <p:cTn id="135" dur="2000"/>
                                        <p:tgtEl>
                                          <p:spTgt spid="305196"/>
                                        </p:tgtEl>
                                      </p:cBhvr>
                                    </p:animEffect>
                                  </p:childTnLst>
                                </p:cTn>
                              </p:par>
                              <p:par>
                                <p:cTn id="136" presetID="10" presetClass="entr" presetSubtype="0" fill="hold" nodeType="withEffect">
                                  <p:stCondLst>
                                    <p:cond delay="0"/>
                                  </p:stCondLst>
                                  <p:childTnLst>
                                    <p:set>
                                      <p:cBhvr>
                                        <p:cTn id="137" dur="1" fill="hold">
                                          <p:stCondLst>
                                            <p:cond delay="0"/>
                                          </p:stCondLst>
                                        </p:cTn>
                                        <p:tgtEl>
                                          <p:spTgt spid="305197"/>
                                        </p:tgtEl>
                                        <p:attrNameLst>
                                          <p:attrName>style.visibility</p:attrName>
                                        </p:attrNameLst>
                                      </p:cBhvr>
                                      <p:to>
                                        <p:strVal val="visible"/>
                                      </p:to>
                                    </p:set>
                                    <p:animEffect transition="in" filter="fade">
                                      <p:cBhvr>
                                        <p:cTn id="138" dur="2000"/>
                                        <p:tgtEl>
                                          <p:spTgt spid="305197"/>
                                        </p:tgtEl>
                                      </p:cBhvr>
                                    </p:animEffect>
                                  </p:childTnLst>
                                </p:cTn>
                              </p:par>
                              <p:par>
                                <p:cTn id="139" presetID="10" presetClass="entr" presetSubtype="0" fill="hold" nodeType="withEffect">
                                  <p:stCondLst>
                                    <p:cond delay="0"/>
                                  </p:stCondLst>
                                  <p:childTnLst>
                                    <p:set>
                                      <p:cBhvr>
                                        <p:cTn id="140" dur="1" fill="hold">
                                          <p:stCondLst>
                                            <p:cond delay="0"/>
                                          </p:stCondLst>
                                        </p:cTn>
                                        <p:tgtEl>
                                          <p:spTgt spid="305186"/>
                                        </p:tgtEl>
                                        <p:attrNameLst>
                                          <p:attrName>style.visibility</p:attrName>
                                        </p:attrNameLst>
                                      </p:cBhvr>
                                      <p:to>
                                        <p:strVal val="visible"/>
                                      </p:to>
                                    </p:set>
                                    <p:animEffect transition="in" filter="fade">
                                      <p:cBhvr>
                                        <p:cTn id="141" dur="2000"/>
                                        <p:tgtEl>
                                          <p:spTgt spid="305186"/>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305190"/>
                                        </p:tgtEl>
                                        <p:attrNameLst>
                                          <p:attrName>style.visibility</p:attrName>
                                        </p:attrNameLst>
                                      </p:cBhvr>
                                      <p:to>
                                        <p:strVal val="visible"/>
                                      </p:to>
                                    </p:set>
                                    <p:animEffect transition="in" filter="fade">
                                      <p:cBhvr>
                                        <p:cTn id="146" dur="2000"/>
                                        <p:tgtEl>
                                          <p:spTgt spid="305190"/>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305191"/>
                                        </p:tgtEl>
                                        <p:attrNameLst>
                                          <p:attrName>style.visibility</p:attrName>
                                        </p:attrNameLst>
                                      </p:cBhvr>
                                      <p:to>
                                        <p:strVal val="visible"/>
                                      </p:to>
                                    </p:set>
                                    <p:animEffect transition="in" filter="fade">
                                      <p:cBhvr>
                                        <p:cTn id="149" dur="2000"/>
                                        <p:tgtEl>
                                          <p:spTgt spid="305191"/>
                                        </p:tgtEl>
                                      </p:cBhvr>
                                    </p:animEffect>
                                  </p:childTnLst>
                                </p:cTn>
                              </p:par>
                              <p:par>
                                <p:cTn id="150" presetID="10" presetClass="entr" presetSubtype="0" fill="hold" nodeType="withEffect">
                                  <p:stCondLst>
                                    <p:cond delay="0"/>
                                  </p:stCondLst>
                                  <p:childTnLst>
                                    <p:set>
                                      <p:cBhvr>
                                        <p:cTn id="151" dur="1" fill="hold">
                                          <p:stCondLst>
                                            <p:cond delay="0"/>
                                          </p:stCondLst>
                                        </p:cTn>
                                        <p:tgtEl>
                                          <p:spTgt spid="305193"/>
                                        </p:tgtEl>
                                        <p:attrNameLst>
                                          <p:attrName>style.visibility</p:attrName>
                                        </p:attrNameLst>
                                      </p:cBhvr>
                                      <p:to>
                                        <p:strVal val="visible"/>
                                      </p:to>
                                    </p:set>
                                    <p:animEffect transition="in" filter="fade">
                                      <p:cBhvr>
                                        <p:cTn id="152" dur="2000"/>
                                        <p:tgtEl>
                                          <p:spTgt spid="305193"/>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305192"/>
                                        </p:tgtEl>
                                        <p:attrNameLst>
                                          <p:attrName>style.visibility</p:attrName>
                                        </p:attrNameLst>
                                      </p:cBhvr>
                                      <p:to>
                                        <p:strVal val="visible"/>
                                      </p:to>
                                    </p:set>
                                    <p:animEffect transition="in" filter="fade">
                                      <p:cBhvr>
                                        <p:cTn id="157" dur="2000"/>
                                        <p:tgtEl>
                                          <p:spTgt spid="305192"/>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nodeType="clickEffect">
                                  <p:stCondLst>
                                    <p:cond delay="0"/>
                                  </p:stCondLst>
                                  <p:childTnLst>
                                    <p:set>
                                      <p:cBhvr>
                                        <p:cTn id="161" dur="1" fill="hold">
                                          <p:stCondLst>
                                            <p:cond delay="0"/>
                                          </p:stCondLst>
                                        </p:cTn>
                                        <p:tgtEl>
                                          <p:spTgt spid="305163"/>
                                        </p:tgtEl>
                                        <p:attrNameLst>
                                          <p:attrName>style.visibility</p:attrName>
                                        </p:attrNameLst>
                                      </p:cBhvr>
                                      <p:to>
                                        <p:strVal val="visible"/>
                                      </p:to>
                                    </p:set>
                                    <p:animEffect transition="in" filter="fade">
                                      <p:cBhvr>
                                        <p:cTn id="162" dur="2000"/>
                                        <p:tgtEl>
                                          <p:spTgt spid="305163"/>
                                        </p:tgtEl>
                                      </p:cBhvr>
                                    </p:animEffect>
                                  </p:childTnLst>
                                </p:cTn>
                              </p:par>
                              <p:par>
                                <p:cTn id="163" presetID="10" presetClass="entr" presetSubtype="0" fill="hold" nodeType="withEffect">
                                  <p:stCondLst>
                                    <p:cond delay="0"/>
                                  </p:stCondLst>
                                  <p:childTnLst>
                                    <p:set>
                                      <p:cBhvr>
                                        <p:cTn id="164" dur="1" fill="hold">
                                          <p:stCondLst>
                                            <p:cond delay="0"/>
                                          </p:stCondLst>
                                        </p:cTn>
                                        <p:tgtEl>
                                          <p:spTgt spid="305166"/>
                                        </p:tgtEl>
                                        <p:attrNameLst>
                                          <p:attrName>style.visibility</p:attrName>
                                        </p:attrNameLst>
                                      </p:cBhvr>
                                      <p:to>
                                        <p:strVal val="visible"/>
                                      </p:to>
                                    </p:set>
                                    <p:animEffect transition="in" filter="fade">
                                      <p:cBhvr>
                                        <p:cTn id="165" dur="2000"/>
                                        <p:tgtEl>
                                          <p:spTgt spid="30516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305165"/>
                                        </p:tgtEl>
                                        <p:attrNameLst>
                                          <p:attrName>style.visibility</p:attrName>
                                        </p:attrNameLst>
                                      </p:cBhvr>
                                      <p:to>
                                        <p:strVal val="visible"/>
                                      </p:to>
                                    </p:set>
                                    <p:animEffect transition="in" filter="fade">
                                      <p:cBhvr>
                                        <p:cTn id="168" dur="2000"/>
                                        <p:tgtEl>
                                          <p:spTgt spid="305165"/>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305164"/>
                                        </p:tgtEl>
                                        <p:attrNameLst>
                                          <p:attrName>style.visibility</p:attrName>
                                        </p:attrNameLst>
                                      </p:cBhvr>
                                      <p:to>
                                        <p:strVal val="visible"/>
                                      </p:to>
                                    </p:set>
                                    <p:animEffect transition="in" filter="fade">
                                      <p:cBhvr>
                                        <p:cTn id="171" dur="2000"/>
                                        <p:tgtEl>
                                          <p:spTgt spid="305164"/>
                                        </p:tgtEl>
                                      </p:cBhvr>
                                    </p:animEffec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nodeType="clickEffect">
                                  <p:stCondLst>
                                    <p:cond delay="0"/>
                                  </p:stCondLst>
                                  <p:childTnLst>
                                    <p:set>
                                      <p:cBhvr>
                                        <p:cTn id="175" dur="1" fill="hold">
                                          <p:stCondLst>
                                            <p:cond delay="0"/>
                                          </p:stCondLst>
                                        </p:cTn>
                                        <p:tgtEl>
                                          <p:spTgt spid="305218"/>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nodeType="clickEffect">
                                  <p:stCondLst>
                                    <p:cond delay="0"/>
                                  </p:stCondLst>
                                  <p:childTnLst>
                                    <p:set>
                                      <p:cBhvr>
                                        <p:cTn id="179" dur="1" fill="hold">
                                          <p:stCondLst>
                                            <p:cond delay="0"/>
                                          </p:stCondLst>
                                        </p:cTn>
                                        <p:tgtEl>
                                          <p:spTgt spid="305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64" grpId="0"/>
      <p:bldP spid="305165" grpId="0" animBg="1"/>
      <p:bldP spid="305168" grpId="0"/>
      <p:bldP spid="305170" grpId="0"/>
      <p:bldP spid="305171" grpId="0"/>
      <p:bldP spid="305174" grpId="0"/>
      <p:bldP spid="305175" grpId="0"/>
      <p:bldP spid="305176" grpId="0"/>
      <p:bldP spid="305180" grpId="0"/>
      <p:bldP spid="305181" grpId="0"/>
      <p:bldP spid="305185" grpId="0" animBg="1"/>
      <p:bldP spid="305189" grpId="0"/>
      <p:bldP spid="305189" grpId="1"/>
      <p:bldP spid="305191" grpId="0"/>
      <p:bldP spid="305192" grpId="0"/>
      <p:bldP spid="305206" grpId="0"/>
      <p:bldP spid="305207" grpId="0" animBg="1"/>
      <p:bldP spid="305211" grpId="0" animBg="1"/>
      <p:bldP spid="30521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p:nvPr/>
        </p:nvSpPr>
        <p:spPr>
          <a:xfrm>
            <a:off x="755650" y="549275"/>
            <a:ext cx="7704138" cy="5643563"/>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a:latin typeface="楷体_GB2312" pitchFamily="49" charset="-122"/>
                <a:ea typeface="楷体_GB2312" pitchFamily="49" charset="-122"/>
              </a:rPr>
              <a:t>不同细胞对</a:t>
            </a:r>
            <a:r>
              <a:rPr lang="en-US" altLang="zh-CN" sz="2800" b="1">
                <a:latin typeface="楷体_GB2312" pitchFamily="49" charset="-122"/>
                <a:cs typeface="Arial" panose="02080604020202020204" pitchFamily="34" charset="0"/>
              </a:rPr>
              <a:t>cAMP</a:t>
            </a:r>
            <a:r>
              <a:rPr lang="zh-CN" altLang="en-US" sz="2800" b="1">
                <a:latin typeface="楷体_GB2312" pitchFamily="49" charset="-122"/>
                <a:ea typeface="楷体_GB2312" pitchFamily="49" charset="-122"/>
              </a:rPr>
              <a:t>信号途径的反应速度不同：</a:t>
            </a:r>
            <a:endParaRPr lang="zh-CN" altLang="en-US" sz="2800" b="1">
              <a:latin typeface="楷体_GB2312" pitchFamily="49" charset="-122"/>
              <a:ea typeface="楷体_GB2312" pitchFamily="49" charset="-122"/>
            </a:endParaRPr>
          </a:p>
          <a:p>
            <a:pPr marL="0" lvl="0" indent="0" eaLnBrk="1" hangingPunct="1">
              <a:spcBef>
                <a:spcPct val="0"/>
              </a:spcBef>
              <a:buNone/>
            </a:pP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800" b="1">
                <a:latin typeface="楷体_GB2312" pitchFamily="49" charset="-122"/>
                <a:ea typeface="楷体_GB2312" pitchFamily="49" charset="-122"/>
              </a:rPr>
              <a:t>肌肉细胞</a:t>
            </a:r>
            <a:r>
              <a:rPr lang="en-US" altLang="zh-CN" sz="2800" b="1">
                <a:latin typeface="楷体_GB2312" pitchFamily="49" charset="-122"/>
                <a:cs typeface="Arial" panose="02080604020202020204" pitchFamily="34" charset="0"/>
              </a:rPr>
              <a:t>1</a:t>
            </a:r>
            <a:r>
              <a:rPr lang="zh-CN" altLang="en-US" sz="2800" b="1">
                <a:latin typeface="楷体_GB2312" pitchFamily="49" charset="-122"/>
                <a:ea typeface="楷体_GB2312" pitchFamily="49" charset="-122"/>
              </a:rPr>
              <a:t>秒钟之内可启动糖原降解为葡糖</a:t>
            </a:r>
            <a:r>
              <a:rPr lang="en-US" altLang="zh-CN" sz="2800" b="1">
                <a:latin typeface="楷体_GB2312" pitchFamily="49" charset="-122"/>
                <a:cs typeface="Arial" panose="02080604020202020204" pitchFamily="34" charset="0"/>
              </a:rPr>
              <a:t>1-</a:t>
            </a:r>
            <a:r>
              <a:rPr lang="zh-CN" altLang="en-US" sz="2800" b="1">
                <a:latin typeface="楷体_GB2312" pitchFamily="49" charset="-122"/>
                <a:ea typeface="楷体_GB2312" pitchFamily="49" charset="-122"/>
              </a:rPr>
              <a:t>磷酸，而抑制糖原的合成；</a:t>
            </a:r>
            <a:endParaRPr lang="zh-CN" altLang="en-US" sz="2800" b="1">
              <a:latin typeface="楷体_GB2312" pitchFamily="49" charset="-122"/>
              <a:ea typeface="楷体_GB2312" pitchFamily="49" charset="-122"/>
            </a:endParaRPr>
          </a:p>
          <a:p>
            <a:pPr marL="0" lvl="0" indent="0" eaLnBrk="1" hangingPunct="1">
              <a:spcBef>
                <a:spcPct val="0"/>
              </a:spcBef>
              <a:buNone/>
            </a:pPr>
            <a:endParaRPr lang="zh-CN" altLang="en-US" sz="2800" b="1">
              <a:latin typeface="楷体_GB2312" pitchFamily="49" charset="-122"/>
              <a:ea typeface="楷体_GB2312" pitchFamily="49" charset="-122"/>
            </a:endParaRPr>
          </a:p>
          <a:p>
            <a:pPr marL="0" lvl="0" indent="0" eaLnBrk="1" hangingPunct="1">
              <a:spcBef>
                <a:spcPct val="0"/>
              </a:spcBef>
              <a:buNone/>
            </a:pPr>
            <a:r>
              <a:rPr lang="zh-CN" altLang="en-US" sz="2800" b="1">
                <a:latin typeface="楷体_GB2312" pitchFamily="49" charset="-122"/>
                <a:ea typeface="楷体_GB2312" pitchFamily="49" charset="-122"/>
              </a:rPr>
              <a:t>某些分泌细胞，需要几个小时，</a:t>
            </a:r>
            <a:r>
              <a:rPr lang="zh-CN" altLang="en-US" sz="2800" b="1">
                <a:latin typeface="楷体_GB2312" pitchFamily="49" charset="-122"/>
                <a:ea typeface="楷体_GB2312" pitchFamily="49" charset="-122"/>
              </a:rPr>
              <a:t>激活的</a:t>
            </a:r>
            <a:r>
              <a:rPr lang="en-US" altLang="zh-CN" sz="2800" b="1">
                <a:latin typeface="楷体_GB2312" pitchFamily="49" charset="-122"/>
                <a:ea typeface="楷体_GB2312" pitchFamily="49" charset="-122"/>
              </a:rPr>
              <a:t>PKA </a:t>
            </a:r>
            <a:r>
              <a:rPr lang="zh-CN" altLang="en-US" sz="2800" b="1">
                <a:latin typeface="楷体_GB2312" pitchFamily="49" charset="-122"/>
                <a:ea typeface="楷体_GB2312" pitchFamily="49" charset="-122"/>
              </a:rPr>
              <a:t>进入细胞核，将</a:t>
            </a:r>
            <a:r>
              <a:rPr lang="en-US" altLang="zh-CN" sz="2800" b="1">
                <a:latin typeface="楷体_GB2312" pitchFamily="49" charset="-122"/>
                <a:ea typeface="楷体_GB2312" pitchFamily="49" charset="-122"/>
              </a:rPr>
              <a:t>cAMP</a:t>
            </a:r>
            <a:r>
              <a:rPr lang="zh-CN" altLang="en-US" sz="2800" b="1">
                <a:latin typeface="楷体_GB2312" pitchFamily="49" charset="-122"/>
                <a:ea typeface="楷体_GB2312" pitchFamily="49" charset="-122"/>
              </a:rPr>
              <a:t>应答元件结合蛋白（</a:t>
            </a:r>
            <a:r>
              <a:rPr lang="en-US" altLang="zh-CN" sz="2800" b="1">
                <a:latin typeface="楷体_GB2312" pitchFamily="49" charset="-122"/>
                <a:ea typeface="楷体_GB2312" pitchFamily="49" charset="-122"/>
              </a:rPr>
              <a:t>CREB)</a:t>
            </a:r>
            <a:r>
              <a:rPr lang="zh-CN" altLang="en-US" sz="2800" b="1">
                <a:latin typeface="楷体_GB2312" pitchFamily="49" charset="-122"/>
                <a:ea typeface="楷体_GB2312" pitchFamily="49" charset="-122"/>
              </a:rPr>
              <a:t>结合蛋白磷酸化，调节相关基因的表达。</a:t>
            </a:r>
            <a:endParaRPr lang="zh-CN" altLang="en-US" sz="2800" b="1">
              <a:latin typeface="楷体_GB2312" pitchFamily="49" charset="-122"/>
              <a:ea typeface="楷体_GB2312" pitchFamily="49" charset="-122"/>
            </a:endParaRPr>
          </a:p>
          <a:p>
            <a:pPr marL="0" lvl="0" indent="0" eaLnBrk="1" hangingPunct="1">
              <a:spcBef>
                <a:spcPct val="0"/>
              </a:spcBef>
              <a:buNone/>
            </a:pPr>
            <a:endParaRPr lang="en-US" altLang="zh-CN" sz="2800" b="1">
              <a:latin typeface="楷体_GB2312" pitchFamily="49" charset="-122"/>
              <a:ea typeface="楷体_GB2312" pitchFamily="49" charset="-122"/>
            </a:endParaRPr>
          </a:p>
          <a:p>
            <a:pPr marL="0" lvl="0" indent="0" eaLnBrk="1" hangingPunct="1">
              <a:spcBef>
                <a:spcPct val="0"/>
              </a:spcBef>
              <a:buNone/>
            </a:pPr>
            <a:r>
              <a:rPr lang="en-US" altLang="zh-CN" sz="2800" b="1">
                <a:latin typeface="楷体_GB2312" pitchFamily="49" charset="-122"/>
                <a:ea typeface="楷体_GB2312" pitchFamily="49" charset="-122"/>
              </a:rPr>
              <a:t>CRE</a:t>
            </a:r>
            <a:r>
              <a:rPr lang="zh-CN" altLang="en-US" sz="2800" b="1">
                <a:latin typeface="楷体_GB2312" pitchFamily="49" charset="-122"/>
                <a:ea typeface="楷体_GB2312" pitchFamily="49" charset="-122"/>
              </a:rPr>
              <a:t>（</a:t>
            </a:r>
            <a:r>
              <a:rPr lang="en-US" altLang="zh-CN" sz="2800" b="1">
                <a:latin typeface="楷体_GB2312" pitchFamily="49" charset="-122"/>
                <a:ea typeface="楷体_GB2312" pitchFamily="49" charset="-122"/>
              </a:rPr>
              <a:t>cAMP response element</a:t>
            </a:r>
            <a:r>
              <a:rPr lang="zh-CN" altLang="en-US" sz="2800" b="1">
                <a:latin typeface="楷体_GB2312" pitchFamily="49" charset="-122"/>
                <a:ea typeface="楷体_GB2312" pitchFamily="49" charset="-122"/>
              </a:rPr>
              <a:t>）是</a:t>
            </a:r>
            <a:r>
              <a:rPr lang="en-US" altLang="zh-CN" sz="2800" b="1">
                <a:latin typeface="楷体_GB2312" pitchFamily="49" charset="-122"/>
                <a:ea typeface="楷体_GB2312" pitchFamily="49" charset="-122"/>
              </a:rPr>
              <a:t>DNA</a:t>
            </a:r>
            <a:r>
              <a:rPr lang="zh-CN" altLang="en-US" sz="2800" b="1">
                <a:latin typeface="楷体_GB2312" pitchFamily="49" charset="-122"/>
                <a:ea typeface="楷体_GB2312" pitchFamily="49" charset="-122"/>
              </a:rPr>
              <a:t>序列上的调节区域（顺式作用元件），可以结合基因转录调控蛋白（反式作用因子）的而调控</a:t>
            </a:r>
            <a:r>
              <a:rPr lang="en-US" altLang="zh-CN" sz="2800" b="1">
                <a:latin typeface="楷体_GB2312" pitchFamily="49" charset="-122"/>
                <a:ea typeface="楷体_GB2312" pitchFamily="49" charset="-122"/>
              </a:rPr>
              <a:t>DNA</a:t>
            </a:r>
            <a:r>
              <a:rPr lang="zh-CN" altLang="en-US" sz="2800" b="1">
                <a:latin typeface="楷体_GB2312" pitchFamily="49" charset="-122"/>
                <a:ea typeface="楷体_GB2312" pitchFamily="49" charset="-122"/>
              </a:rPr>
              <a:t>转录水平，从而对细胞刺激做出基因表达水平的响应。</a:t>
            </a:r>
            <a:endParaRPr lang="zh-CN" altLang="en-US" sz="2800" b="1">
              <a:latin typeface="楷体_GB2312" pitchFamily="49" charset="-122"/>
              <a:ea typeface="楷体_GB2312" pitchFamily="49" charset="-122"/>
            </a:endParaRPr>
          </a:p>
        </p:txBody>
      </p:sp>
      <p:sp>
        <p:nvSpPr>
          <p:cNvPr id="78850"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9873" name="Picture 2" descr="table"/>
          <p:cNvPicPr>
            <a:picLocks noChangeAspect="1"/>
          </p:cNvPicPr>
          <p:nvPr/>
        </p:nvPicPr>
        <p:blipFill>
          <a:blip r:embed="rId1"/>
          <a:stretch>
            <a:fillRect/>
          </a:stretch>
        </p:blipFill>
        <p:spPr>
          <a:xfrm>
            <a:off x="539750" y="1341438"/>
            <a:ext cx="8064500" cy="4610100"/>
          </a:xfrm>
          <a:prstGeom prst="rect">
            <a:avLst/>
          </a:prstGeom>
          <a:noFill/>
          <a:ln w="9525">
            <a:noFill/>
          </a:ln>
        </p:spPr>
      </p:pic>
      <p:sp>
        <p:nvSpPr>
          <p:cNvPr id="79874" name="Text Box 3"/>
          <p:cNvSpPr txBox="1"/>
          <p:nvPr/>
        </p:nvSpPr>
        <p:spPr>
          <a:xfrm>
            <a:off x="684213" y="549275"/>
            <a:ext cx="5903912"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3600" b="1">
                <a:solidFill>
                  <a:srgbClr val="660066"/>
                </a:solidFill>
                <a:latin typeface="Tahoma" pitchFamily="34" charset="0"/>
                <a:ea typeface="黑体" pitchFamily="49" charset="-122"/>
              </a:rPr>
              <a:t>糖原累积症分型</a:t>
            </a:r>
            <a:endParaRPr lang="zh-CN" altLang="en-US" sz="3600" b="1">
              <a:solidFill>
                <a:srgbClr val="660066"/>
              </a:solidFill>
              <a:latin typeface="Tahoma" pitchFamily="34" charset="0"/>
              <a:ea typeface="黑体" pitchFamily="49" charset="-122"/>
            </a:endParaRPr>
          </a:p>
        </p:txBody>
      </p:sp>
      <p:sp>
        <p:nvSpPr>
          <p:cNvPr id="79875" name="TextBox 3"/>
          <p:cNvSpPr txBox="1"/>
          <p:nvPr/>
        </p:nvSpPr>
        <p:spPr>
          <a:xfrm>
            <a:off x="6929438" y="928688"/>
            <a:ext cx="1357312"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a:t>P194</a:t>
            </a:r>
            <a:endParaRPr lang="zh-CN" altLang="en-US" sz="1800" b="1"/>
          </a:p>
        </p:txBody>
      </p:sp>
      <p:sp>
        <p:nvSpPr>
          <p:cNvPr id="79876"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ln/>
        </p:spPr>
        <p:txBody>
          <a:bodyPr vert="horz" wrap="square" lIns="91440" tIns="45720" rIns="91440" bIns="45720" anchor="ctr" anchorCtr="0"/>
          <a:p>
            <a:pPr eaLnBrk="1" hangingPunct="1"/>
            <a:r>
              <a:rPr lang="zh-CN" altLang="en-US"/>
              <a:t>糖原降解中的几个问题</a:t>
            </a:r>
            <a:endParaRPr lang="zh-CN" altLang="en-US"/>
          </a:p>
        </p:txBody>
      </p:sp>
      <p:sp>
        <p:nvSpPr>
          <p:cNvPr id="80898" name="Rectangle 3"/>
          <p:cNvSpPr>
            <a:spLocks noGrp="1"/>
          </p:cNvSpPr>
          <p:nvPr>
            <p:ph idx="1"/>
          </p:nvPr>
        </p:nvSpPr>
        <p:spPr>
          <a:xfrm>
            <a:off x="755650" y="1989138"/>
            <a:ext cx="8001000" cy="4110037"/>
          </a:xfrm>
          <a:ln/>
        </p:spPr>
        <p:txBody>
          <a:bodyPr vert="horz" wrap="square" lIns="91440" tIns="45720" rIns="91440" bIns="45720" anchor="t" anchorCtr="0"/>
          <a:p>
            <a:pPr marL="609600" indent="-609600" eaLnBrk="1" hangingPunct="1">
              <a:buNone/>
            </a:pPr>
            <a:r>
              <a:rPr lang="en-US" altLang="zh-CN" sz="2800" b="1"/>
              <a:t>1</a:t>
            </a:r>
            <a:r>
              <a:rPr lang="zh-CN" altLang="en-US" sz="2800" b="1"/>
              <a:t>）为什么选择糖原而非脂类作为贮能物质？</a:t>
            </a:r>
            <a:endParaRPr lang="zh-CN" altLang="en-US" sz="2800" b="1"/>
          </a:p>
          <a:p>
            <a:pPr marL="609600" indent="-609600" eaLnBrk="1" hangingPunct="1">
              <a:buNone/>
            </a:pPr>
            <a:r>
              <a:rPr lang="en-US" altLang="zh-CN" sz="2800" b="1"/>
              <a:t>2</a:t>
            </a:r>
            <a:r>
              <a:rPr lang="zh-CN" altLang="en-US" sz="2800" b="1"/>
              <a:t>）磷酸解与水解的区别</a:t>
            </a:r>
            <a:endParaRPr lang="zh-CN" altLang="en-US" sz="2800" b="1"/>
          </a:p>
          <a:p>
            <a:pPr marL="609600" indent="-609600" eaLnBrk="1" hangingPunct="1">
              <a:buNone/>
            </a:pPr>
            <a:r>
              <a:rPr lang="en-US" altLang="zh-CN" sz="2800" b="1"/>
              <a:t>3</a:t>
            </a:r>
            <a:r>
              <a:rPr lang="zh-CN" altLang="en-US" sz="2800" b="1"/>
              <a:t>）糖原磷酸解从哪一端进行？</a:t>
            </a:r>
            <a:endParaRPr lang="zh-CN" altLang="en-US" sz="2800" b="1"/>
          </a:p>
          <a:p>
            <a:pPr marL="609600" indent="-609600" eaLnBrk="1" hangingPunct="1">
              <a:buNone/>
            </a:pPr>
            <a:r>
              <a:rPr lang="en-US" altLang="zh-CN" sz="2800" b="1"/>
              <a:t>4</a:t>
            </a:r>
            <a:r>
              <a:rPr lang="zh-CN" altLang="en-US" sz="2800" b="1"/>
              <a:t>）磷酸解的优越性是什么？</a:t>
            </a:r>
            <a:endParaRPr lang="zh-CN" altLang="en-US" sz="2800" b="1"/>
          </a:p>
          <a:p>
            <a:pPr marL="609600" indent="-609600" eaLnBrk="1" hangingPunct="1">
              <a:buNone/>
            </a:pPr>
            <a:r>
              <a:rPr lang="en-US" altLang="zh-CN" sz="2800" b="1"/>
              <a:t>5</a:t>
            </a:r>
            <a:r>
              <a:rPr lang="zh-CN" altLang="en-US" sz="2800" b="1"/>
              <a:t>）糖原磷酸化酶的调节机制？ </a:t>
            </a:r>
            <a:endParaRPr lang="zh-CN" altLang="en-US" sz="2800" b="1"/>
          </a:p>
          <a:p>
            <a:pPr marL="609600" indent="-609600" eaLnBrk="1" hangingPunct="1">
              <a:buNone/>
            </a:pPr>
            <a:endParaRPr lang="zh-CN" altLang="en-US" sz="2800" b="1"/>
          </a:p>
        </p:txBody>
      </p:sp>
      <p:sp>
        <p:nvSpPr>
          <p:cNvPr id="80899"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title"/>
          </p:nvPr>
        </p:nvSpPr>
        <p:spPr>
          <a:xfrm>
            <a:off x="457200" y="877888"/>
            <a:ext cx="6937375" cy="539750"/>
          </a:xfrm>
          <a:solidFill>
            <a:schemeClr val="bg1">
              <a:alpha val="100000"/>
            </a:schemeClr>
          </a:solidFill>
          <a:ln/>
        </p:spPr>
        <p:txBody>
          <a:bodyPr vert="horz" wrap="square" lIns="91440" tIns="45720" rIns="91440" bIns="45720" anchor="ctr" anchorCtr="0"/>
          <a:p>
            <a:pPr eaLnBrk="1" hangingPunct="1"/>
            <a:r>
              <a:rPr lang="zh-CN" altLang="en-US" sz="3600" b="1">
                <a:solidFill>
                  <a:schemeClr val="tx1"/>
                </a:solidFill>
              </a:rPr>
              <a:t>糖原生物合成中的几个问题</a:t>
            </a:r>
            <a:endParaRPr lang="zh-CN" altLang="en-US" sz="3600" b="1">
              <a:solidFill>
                <a:schemeClr val="tx1"/>
              </a:solidFill>
            </a:endParaRPr>
          </a:p>
        </p:txBody>
      </p:sp>
      <p:sp>
        <p:nvSpPr>
          <p:cNvPr id="81922" name="Rectangle 3"/>
          <p:cNvSpPr/>
          <p:nvPr/>
        </p:nvSpPr>
        <p:spPr>
          <a:xfrm>
            <a:off x="971550" y="2060575"/>
            <a:ext cx="6553200" cy="29733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35000"/>
              </a:lnSpc>
              <a:spcBef>
                <a:spcPct val="0"/>
              </a:spcBef>
              <a:buFont typeface="Wingdings" panose="05000000000000000000" pitchFamily="2" charset="2"/>
              <a:buNone/>
            </a:pPr>
            <a:r>
              <a:rPr lang="zh-CN" altLang="en-US" sz="2800" b="1">
                <a:latin typeface="Times New Roman" panose="02020603050405020304" charset="0"/>
              </a:rPr>
              <a:t>参加糖原合成的葡萄糖活化形式</a:t>
            </a:r>
            <a:r>
              <a:rPr lang="en-US" altLang="zh-CN" sz="2800" b="1">
                <a:latin typeface="Times New Roman" panose="02020603050405020304" charset="0"/>
              </a:rPr>
              <a:t>UTP→PPi</a:t>
            </a:r>
            <a:r>
              <a:rPr lang="zh-CN" altLang="en-US" sz="2800" b="1">
                <a:latin typeface="Times New Roman" panose="02020603050405020304" charset="0"/>
              </a:rPr>
              <a:t>的意义</a:t>
            </a:r>
            <a:endParaRPr lang="zh-CN" altLang="en-US" sz="2800" b="1">
              <a:latin typeface="Times New Roman" panose="02020603050405020304" charset="0"/>
            </a:endParaRPr>
          </a:p>
          <a:p>
            <a:pPr marL="0" lvl="0" indent="0" eaLnBrk="1" hangingPunct="1">
              <a:lnSpc>
                <a:spcPct val="135000"/>
              </a:lnSpc>
              <a:spcBef>
                <a:spcPct val="0"/>
              </a:spcBef>
              <a:buFont typeface="Wingdings" panose="05000000000000000000" pitchFamily="2" charset="2"/>
              <a:buNone/>
            </a:pPr>
            <a:r>
              <a:rPr lang="zh-CN" altLang="en-US" sz="2800" b="1">
                <a:latin typeface="Times New Roman" panose="02020603050405020304" charset="0"/>
              </a:rPr>
              <a:t>合酶与合成酶的区别</a:t>
            </a:r>
            <a:endParaRPr lang="en-US" altLang="zh-CN" sz="2800" b="1">
              <a:latin typeface="Times New Roman" panose="02020603050405020304" charset="0"/>
            </a:endParaRPr>
          </a:p>
          <a:p>
            <a:pPr marL="0" lvl="0" indent="0" eaLnBrk="1" hangingPunct="1">
              <a:lnSpc>
                <a:spcPct val="135000"/>
              </a:lnSpc>
              <a:spcBef>
                <a:spcPct val="0"/>
              </a:spcBef>
              <a:buFont typeface="Wingdings" panose="05000000000000000000" pitchFamily="2" charset="2"/>
              <a:buNone/>
            </a:pPr>
            <a:r>
              <a:rPr lang="zh-CN" altLang="en-US" sz="2800" b="1">
                <a:latin typeface="Times New Roman" panose="02020603050405020304" charset="0"/>
              </a:rPr>
              <a:t>糖原的生物合成怎样开始</a:t>
            </a:r>
            <a:r>
              <a:rPr lang="en-US" altLang="zh-CN" sz="2800" b="1">
                <a:latin typeface="Times New Roman" panose="02020603050405020304" charset="0"/>
              </a:rPr>
              <a:t> </a:t>
            </a:r>
            <a:endParaRPr lang="en-US" altLang="zh-CN" sz="2800" b="1">
              <a:latin typeface="Times New Roman" panose="02020603050405020304" charset="0"/>
            </a:endParaRPr>
          </a:p>
          <a:p>
            <a:pPr marL="0" lvl="0" indent="0" eaLnBrk="1" hangingPunct="1">
              <a:lnSpc>
                <a:spcPct val="135000"/>
              </a:lnSpc>
              <a:spcBef>
                <a:spcPct val="0"/>
              </a:spcBef>
              <a:buFont typeface="Wingdings" panose="05000000000000000000" pitchFamily="2" charset="2"/>
              <a:buNone/>
            </a:pPr>
            <a:r>
              <a:rPr lang="zh-CN" altLang="en-US" sz="2800" b="1">
                <a:latin typeface="Times New Roman" panose="02020603050405020304" charset="0"/>
              </a:rPr>
              <a:t>糖原脱支与分支是可逆过程吗</a:t>
            </a:r>
            <a:r>
              <a:rPr lang="en-US" altLang="zh-CN" sz="2800" b="1">
                <a:latin typeface="Times New Roman" panose="02020603050405020304" charset="0"/>
              </a:rPr>
              <a:t>?</a:t>
            </a:r>
            <a:endParaRPr lang="en-US" altLang="zh-CN" sz="2800" b="1">
              <a:latin typeface="Times New Roman" panose="02020603050405020304" charset="0"/>
            </a:endParaRPr>
          </a:p>
        </p:txBody>
      </p:sp>
      <p:sp>
        <p:nvSpPr>
          <p:cNvPr id="81923" name="Slide Number Placeholder 1"/>
          <p:cNvSpPr txBox="1">
            <a:spLocks noGrp="1"/>
          </p:cNvSpPr>
          <p:nvPr>
            <p:ph type="sldNum" sz="quarter" idx="12"/>
          </p:nvPr>
        </p:nvSpPr>
        <p:spPr>
          <a:ln/>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8060402020202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400" b="0"/>
            </a:fld>
            <a:endParaRPr lang="zh-CN" altLang="en-US" sz="1400" b="0"/>
          </a:p>
        </p:txBody>
      </p:sp>
    </p:spTree>
  </p:cSld>
  <p:clrMapOvr>
    <a:masterClrMapping/>
  </p:clrMapOvr>
  <p:transition spd="slow">
    <p:pull dir="ru"/>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miter lim="800000"/>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8060402020202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miter lim="800000"/>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80604020202020204"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7199</Words>
  <Application>WPS 文字</Application>
  <PresentationFormat>On-screen Show (4:3)</PresentationFormat>
  <Paragraphs>1030</Paragraphs>
  <Slides>64</Slides>
  <Notes>4</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64</vt:i4>
      </vt:variant>
    </vt:vector>
  </HeadingPairs>
  <TitlesOfParts>
    <vt:vector size="87" baseType="lpstr">
      <vt:lpstr>Arial</vt:lpstr>
      <vt:lpstr>宋体</vt:lpstr>
      <vt:lpstr>Wingdings</vt:lpstr>
      <vt:lpstr>Times New Roman</vt:lpstr>
      <vt:lpstr>书宋-简</vt:lpstr>
      <vt:lpstr>Tahoma</vt:lpstr>
      <vt:lpstr>noto sans thai</vt:lpstr>
      <vt:lpstr>黑体</vt:lpstr>
      <vt:lpstr>黑体-简</vt:lpstr>
      <vt:lpstr>楷体_GB2312</vt:lpstr>
      <vt:lpstr>楷体-简</vt:lpstr>
      <vt:lpstr>FTToken</vt:lpstr>
      <vt:lpstr>Symbol</vt:lpstr>
      <vt:lpstr>Kingsoft Sign</vt:lpstr>
      <vt:lpstr>Webdings</vt:lpstr>
      <vt:lpstr>Kingsoft Mark</vt:lpstr>
      <vt:lpstr>Abadi MT Condensed Light</vt:lpstr>
      <vt:lpstr>鸿蒙黑体</vt:lpstr>
      <vt:lpstr>微软雅黑</vt:lpstr>
      <vt:lpstr>方正雅意黑 GB18030L2 R</vt:lpstr>
      <vt:lpstr>宋体</vt:lpstr>
      <vt:lpstr>Arial Unicode MS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xiao</dc:creator>
  <cp:lastModifiedBy>黎达宏</cp:lastModifiedBy>
  <cp:revision>382</cp:revision>
  <dcterms:created xsi:type="dcterms:W3CDTF">2026-04-24T03:33:35Z</dcterms:created>
  <dcterms:modified xsi:type="dcterms:W3CDTF">2026-04-24T03:33:35Z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012D3DB05B860EF98FE4EA692C7C2727_43</vt:lpwstr>
  </property>
  <property fmtid="{D5CDD505-2E9C-101B-9397-08002B2CF9AE}" pid="3" name="KSOProductBuildVer">
    <vt:lpwstr>2052-12.1.3.25858</vt:lpwstr>
  </property>
</Properties>
</file>