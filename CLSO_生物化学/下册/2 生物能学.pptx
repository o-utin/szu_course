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Lst>
  <p:sldSz cx="9144000" cy="6858000" type="screen4x3"/>
  <p:notesSz cx="6858000" cy="9144000"/>
  <p:defaultTextStyle>
    <a:lvl1pPr marL="0" indent="0" algn="l" defTabSz="914400" rtl="0" fontAlgn="base">
      <a:lnSpc>
        <a:spcPct val="100000"/>
      </a:lnSpc>
      <a:spcBef>
        <a:spcPts val="0"/>
      </a:spcBef>
      <a:spcAft>
        <a:spcPts val="0"/>
      </a:spcAft>
      <a:buNone/>
      <a:defRPr lang="en-US" sz="1800" b="0" i="0">
        <a:solidFill>
          <a:schemeClr val="dk1"/>
        </a:solidFill>
        <a:latin typeface="Arial"/>
        <a:ea typeface="宋体"/>
      </a:defRPr>
    </a:lvl1pPr>
    <a:lvl2pPr marL="457200" indent="457200" algn="l" defTabSz="914400" rtl="0" fontAlgn="base">
      <a:lnSpc>
        <a:spcPct val="100000"/>
      </a:lnSpc>
      <a:spcBef>
        <a:spcPts val="0"/>
      </a:spcBef>
      <a:spcAft>
        <a:spcPts val="0"/>
      </a:spcAft>
      <a:buNone/>
      <a:defRPr lang="en-US" sz="1800" b="0" i="0">
        <a:solidFill>
          <a:schemeClr val="dk1"/>
        </a:solidFill>
        <a:latin typeface="Arial"/>
        <a:ea typeface="宋体"/>
      </a:defRPr>
    </a:lvl2pPr>
    <a:lvl3pPr marL="914400" indent="914400" algn="l" defTabSz="914400" rtl="0" fontAlgn="base">
      <a:lnSpc>
        <a:spcPct val="100000"/>
      </a:lnSpc>
      <a:spcBef>
        <a:spcPts val="0"/>
      </a:spcBef>
      <a:spcAft>
        <a:spcPts val="0"/>
      </a:spcAft>
      <a:buNone/>
      <a:defRPr lang="en-US" sz="1800" b="0" i="0">
        <a:solidFill>
          <a:schemeClr val="dk1"/>
        </a:solidFill>
        <a:latin typeface="Arial"/>
        <a:ea typeface="宋体"/>
      </a:defRPr>
    </a:lvl3pPr>
    <a:lvl4pPr marL="1371600" indent="1371600" algn="l" defTabSz="914400" rtl="0" fontAlgn="base">
      <a:lnSpc>
        <a:spcPct val="100000"/>
      </a:lnSpc>
      <a:spcBef>
        <a:spcPts val="0"/>
      </a:spcBef>
      <a:spcAft>
        <a:spcPts val="0"/>
      </a:spcAft>
      <a:buNone/>
      <a:defRPr lang="en-US" sz="1800" b="0" i="0">
        <a:solidFill>
          <a:schemeClr val="dk1"/>
        </a:solidFill>
        <a:latin typeface="Arial"/>
        <a:ea typeface="宋体"/>
      </a:defRPr>
    </a:lvl4pPr>
    <a:lvl5pPr marL="1828800" indent="1828800" algn="l" defTabSz="914400" rtl="0" fontAlgn="base">
      <a:lnSpc>
        <a:spcPct val="100000"/>
      </a:lnSpc>
      <a:spcBef>
        <a:spcPts val="0"/>
      </a:spcBef>
      <a:spcAft>
        <a:spcPts val="0"/>
      </a:spcAft>
      <a:buNone/>
      <a:defRPr lang="en-US" sz="1800" b="0" i="0">
        <a:solidFill>
          <a:schemeClr val="dk1"/>
        </a:solidFill>
        <a:latin typeface="Arial"/>
        <a:ea typeface="宋体"/>
      </a:defRPr>
    </a:lvl5pPr>
    <a:lvl6pPr>
      <a:defRPr lang="en-US" sz="1800"/>
    </a:lvl6pPr>
    <a:lvl7pPr>
      <a:defRPr lang="en-US" sz="1800"/>
    </a:lvl7pPr>
    <a:lvl8pPr>
      <a:defRPr lang="en-US" sz="1800"/>
    </a:lvl8pPr>
    <a:lvl9pPr>
      <a:defRPr lang="en-US" sz="1800"/>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4" d="100"/>
          <a:sy n="104" d="100"/>
        </p:scale>
        <p:origin x="-123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a:spLocks noGrp="1" noChangeShapeType="1"/>
          </p:cNvSpPr>
          <p:nvPr>
            <p:ph type="hdr"/>
          </p:nvPr>
        </p:nvSpPr>
        <p:spPr>
          <a:xfrm>
            <a:off x="0" y="0"/>
            <a:ext cx="2971800" cy="457200"/>
          </a:xfrm>
          <a:prstGeom prst="rect">
            <a:avLst/>
          </a:prstGeom>
          <a:noFill/>
        </p:spPr>
        <p:txBody>
          <a:bodyPr lIns="91440" tIns="45720" rIns="91440" bIns="45720"/>
          <a:lstStyle/>
          <a:p>
            <a:endParaRPr sz="1400" dirty="0"/>
          </a:p>
        </p:txBody>
      </p:sp>
      <p:sp>
        <p:nvSpPr>
          <p:cNvPr id="3" name="Rectangle 3"/>
          <p:cNvSpPr>
            <a:spLocks noGrp="1" noChangeShapeType="1"/>
          </p:cNvSpPr>
          <p:nvPr>
            <p:ph type="dt" idx="1"/>
          </p:nvPr>
        </p:nvSpPr>
        <p:spPr>
          <a:xfrm>
            <a:off x="3884612" y="0"/>
            <a:ext cx="2971800" cy="457200"/>
          </a:xfrm>
          <a:prstGeom prst="rect">
            <a:avLst/>
          </a:prstGeom>
          <a:noFill/>
        </p:spPr>
        <p:txBody>
          <a:bodyPr lIns="91440" tIns="45720" rIns="91440" bIns="45720"/>
          <a:lstStyle/>
          <a:p>
            <a:endParaRPr sz="1400" dirty="0"/>
          </a:p>
        </p:txBody>
      </p:sp>
      <p:sp>
        <p:nvSpPr>
          <p:cNvPr id="4" name="Rectangle 4"/>
          <p:cNvSpPr>
            <a:spLocks noGrp="1" noChangeShapeType="1"/>
          </p:cNvSpPr>
          <p:nvPr>
            <p:ph type="sldImg" idx="2"/>
          </p:nvPr>
        </p:nvSpPr>
        <p:spPr>
          <a:xfrm>
            <a:off x="1143000" y="685800"/>
            <a:ext cx="4572000" cy="3429000"/>
          </a:xfrm>
          <a:prstGeom prst="rect">
            <a:avLst/>
          </a:prstGeom>
          <a:noFill/>
          <a:ln w="9524">
            <a:solidFill>
              <a:srgbClr val="000000"/>
            </a:solidFill>
            <a:round/>
          </a:ln>
        </p:spPr>
        <p:txBody>
          <a:bodyPr lIns="91440" tIns="45720" rIns="91440" bIns="45720" anchor="ctr" anchorCtr="0"/>
          <a:lstStyle/>
          <a:p>
            <a:endParaRPr sz="1400" dirty="0"/>
          </a:p>
        </p:txBody>
      </p:sp>
      <p:sp>
        <p:nvSpPr>
          <p:cNvPr id="5" name="Rectangle 5"/>
          <p:cNvSpPr>
            <a:spLocks noGrp="1" noChangeShapeType="1"/>
          </p:cNvSpPr>
          <p:nvPr>
            <p:ph type="body" idx="3"/>
          </p:nvPr>
        </p:nvSpPr>
        <p:spPr>
          <a:xfrm>
            <a:off x="685800" y="4343400"/>
            <a:ext cx="5486400" cy="4114800"/>
          </a:xfrm>
          <a:prstGeom prst="rect">
            <a:avLst/>
          </a:prstGeom>
          <a:noFill/>
        </p:spPr>
        <p:txBody>
          <a:bodyPr lIns="91440" tIns="45720" rIns="91440" bIns="45720"/>
          <a:lstStyle>
            <a:lvl1pPr marL="0" indent="0" algn="l" defTabSz="914400" rtl="0" fontAlgn="base">
              <a:lnSpc>
                <a:spcPct val="100000"/>
              </a:lnSpc>
              <a:spcBef>
                <a:spcPct val="30000"/>
              </a:spcBef>
              <a:spcAft>
                <a:spcPts val="0"/>
              </a:spcAft>
              <a:buNone/>
              <a:defRPr sz="1200" b="0" i="0">
                <a:solidFill>
                  <a:schemeClr val="dk1"/>
                </a:solidFill>
                <a:latin typeface="Times New Roman" panose="02020603050405020304"/>
                <a:ea typeface="宋体"/>
              </a:defRPr>
            </a:lvl1pPr>
            <a:lvl2pPr marL="457200" indent="457200" algn="l" defTabSz="914400" rtl="0" fontAlgn="base">
              <a:lnSpc>
                <a:spcPct val="100000"/>
              </a:lnSpc>
              <a:spcBef>
                <a:spcPct val="30000"/>
              </a:spcBef>
              <a:spcAft>
                <a:spcPts val="0"/>
              </a:spcAft>
              <a:buNone/>
              <a:defRPr sz="1200" b="0" i="0">
                <a:solidFill>
                  <a:schemeClr val="dk1"/>
                </a:solidFill>
                <a:latin typeface="Times New Roman" panose="02020603050405020304"/>
                <a:ea typeface="宋体"/>
              </a:defRPr>
            </a:lvl2pPr>
            <a:lvl3pPr marL="914400" indent="914400" algn="l" defTabSz="914400" rtl="0" fontAlgn="base">
              <a:lnSpc>
                <a:spcPct val="100000"/>
              </a:lnSpc>
              <a:spcBef>
                <a:spcPct val="30000"/>
              </a:spcBef>
              <a:spcAft>
                <a:spcPts val="0"/>
              </a:spcAft>
              <a:buNone/>
              <a:defRPr sz="1200" b="0" i="0">
                <a:solidFill>
                  <a:schemeClr val="dk1"/>
                </a:solidFill>
                <a:latin typeface="Times New Roman" panose="02020603050405020304"/>
                <a:ea typeface="宋体"/>
              </a:defRPr>
            </a:lvl3pPr>
            <a:lvl4pPr marL="1371600" indent="1371600" algn="l" defTabSz="914400" rtl="0" fontAlgn="base">
              <a:lnSpc>
                <a:spcPct val="100000"/>
              </a:lnSpc>
              <a:spcBef>
                <a:spcPct val="30000"/>
              </a:spcBef>
              <a:spcAft>
                <a:spcPts val="0"/>
              </a:spcAft>
              <a:buNone/>
              <a:defRPr sz="1200" b="0" i="0">
                <a:solidFill>
                  <a:schemeClr val="dk1"/>
                </a:solidFill>
                <a:latin typeface="Times New Roman" panose="02020603050405020304"/>
                <a:ea typeface="宋体"/>
              </a:defRPr>
            </a:lvl4pPr>
            <a:lvl5pPr marL="1828800" indent="1828800" algn="l" defTabSz="914400" rtl="0" fontAlgn="base">
              <a:lnSpc>
                <a:spcPct val="100000"/>
              </a:lnSpc>
              <a:spcBef>
                <a:spcPct val="30000"/>
              </a:spcBef>
              <a:spcAft>
                <a:spcPts val="0"/>
              </a:spcAft>
              <a:buNone/>
              <a:defRPr sz="1200" b="0" i="0">
                <a:solidFill>
                  <a:schemeClr val="dk1"/>
                </a:solidFill>
                <a:latin typeface="Times New Roman" panose="02020603050405020304"/>
                <a:ea typeface="宋体"/>
              </a:defRPr>
            </a:lvl5pPr>
          </a:lstStyle>
          <a:p>
            <a:pPr marL="0" lvl="0" indent="0">
              <a:spcBef>
                <a:spcPct val="30000"/>
              </a:spcBef>
              <a:buNone/>
            </a:pPr>
            <a:r>
              <a:rPr lang="zh-CN"/>
              <a:t>单击此处编辑母版文本样式</a:t>
            </a:r>
            <a:endParaRPr lang="zh-CN"/>
          </a:p>
          <a:p>
            <a:pPr marL="457200" lvl="1" indent="0">
              <a:spcBef>
                <a:spcPct val="30000"/>
              </a:spcBef>
              <a:buNone/>
            </a:pPr>
            <a:r>
              <a:rPr lang="zh-CN"/>
              <a:t>第二级</a:t>
            </a:r>
            <a:endParaRPr lang="zh-CN"/>
          </a:p>
          <a:p>
            <a:pPr marL="914400" lvl="2" indent="0">
              <a:spcBef>
                <a:spcPct val="30000"/>
              </a:spcBef>
              <a:buNone/>
            </a:pPr>
            <a:r>
              <a:rPr lang="zh-CN"/>
              <a:t>第三级</a:t>
            </a:r>
            <a:endParaRPr lang="zh-CN"/>
          </a:p>
          <a:p>
            <a:pPr marL="1371600" lvl="3" indent="0">
              <a:spcBef>
                <a:spcPct val="30000"/>
              </a:spcBef>
              <a:buNone/>
            </a:pPr>
            <a:r>
              <a:rPr lang="zh-CN"/>
              <a:t>第四级</a:t>
            </a:r>
            <a:endParaRPr lang="zh-CN"/>
          </a:p>
          <a:p>
            <a:pPr marL="1828800" lvl="4" indent="0">
              <a:spcBef>
                <a:spcPct val="30000"/>
              </a:spcBef>
              <a:buNone/>
            </a:pPr>
            <a:r>
              <a:rPr lang="zh-CN"/>
              <a:t>第五级</a:t>
            </a:r>
            <a:endParaRPr lang="zh-CN"/>
          </a:p>
        </p:txBody>
      </p:sp>
      <p:sp>
        <p:nvSpPr>
          <p:cNvPr id="6" name="Rectangle 6"/>
          <p:cNvSpPr>
            <a:spLocks noGrp="1" noChangeShapeType="1"/>
          </p:cNvSpPr>
          <p:nvPr>
            <p:ph type="ftr" idx="4"/>
          </p:nvPr>
        </p:nvSpPr>
        <p:spPr>
          <a:xfrm>
            <a:off x="0" y="8685212"/>
            <a:ext cx="2971800" cy="457200"/>
          </a:xfrm>
          <a:prstGeom prst="rect">
            <a:avLst/>
          </a:prstGeom>
          <a:noFill/>
        </p:spPr>
        <p:txBody>
          <a:bodyPr lIns="91440" tIns="45720" rIns="91440" bIns="45720" anchor="b"/>
          <a:lstStyle/>
          <a:p>
            <a:endParaRPr sz="1400" dirty="0"/>
          </a:p>
        </p:txBody>
      </p:sp>
      <p:sp>
        <p:nvSpPr>
          <p:cNvPr id="7" name="Rectangle 7"/>
          <p:cNvSpPr>
            <a:spLocks noGrp="1" noChangeShapeType="1"/>
          </p:cNvSpPr>
          <p:nvPr>
            <p:ph type="sldNum" idx="5"/>
          </p:nvPr>
        </p:nvSpPr>
        <p:spPr>
          <a:xfrm>
            <a:off x="3884612" y="8685212"/>
            <a:ext cx="2971800" cy="457200"/>
          </a:xfrm>
          <a:prstGeom prst="rect">
            <a:avLst/>
          </a:prstGeom>
          <a:noFill/>
        </p:spPr>
        <p:txBody>
          <a:bodyPr lIns="91440" tIns="45720" rIns="91440" bIns="45720" anchor="b"/>
          <a:lstStyle>
            <a:lvl1pPr marL="0" indent="0" algn="l" defTabSz="914400" rtl="0" fontAlgn="base" hangingPunct="1">
              <a:lnSpc>
                <a:spcPct val="100000"/>
              </a:lnSpc>
              <a:spcBef>
                <a:spcPts val="0"/>
              </a:spcBef>
              <a:spcAft>
                <a:spcPts val="0"/>
              </a:spcAft>
              <a:buNone/>
              <a:defRPr sz="1800" b="0" i="0">
                <a:solidFill>
                  <a:schemeClr val="dk1"/>
                </a:solidFill>
                <a:latin typeface="Arial"/>
                <a:ea typeface="宋体"/>
              </a:defRPr>
            </a:lvl1pPr>
            <a:lvl2pPr marL="457200" indent="457200" algn="l" defTabSz="914400" rtl="0" fontAlgn="base" hangingPunct="1">
              <a:lnSpc>
                <a:spcPct val="100000"/>
              </a:lnSpc>
              <a:spcBef>
                <a:spcPts val="0"/>
              </a:spcBef>
              <a:spcAft>
                <a:spcPts val="0"/>
              </a:spcAft>
              <a:buNone/>
              <a:defRPr sz="1800" b="0" i="0">
                <a:solidFill>
                  <a:schemeClr val="dk1"/>
                </a:solidFill>
                <a:latin typeface="Arial"/>
                <a:ea typeface="宋体"/>
              </a:defRPr>
            </a:lvl2pPr>
            <a:lvl3pPr marL="914400" indent="914400" algn="l" defTabSz="914400" rtl="0" fontAlgn="base" hangingPunct="1">
              <a:lnSpc>
                <a:spcPct val="100000"/>
              </a:lnSpc>
              <a:spcBef>
                <a:spcPts val="0"/>
              </a:spcBef>
              <a:spcAft>
                <a:spcPts val="0"/>
              </a:spcAft>
              <a:buNone/>
              <a:defRPr sz="1800" b="0" i="0">
                <a:solidFill>
                  <a:schemeClr val="dk1"/>
                </a:solidFill>
                <a:latin typeface="Arial"/>
                <a:ea typeface="宋体"/>
              </a:defRPr>
            </a:lvl3pPr>
            <a:lvl4pPr marL="1371600" indent="1371600" algn="l" defTabSz="914400" rtl="0" fontAlgn="base" hangingPunct="1">
              <a:lnSpc>
                <a:spcPct val="100000"/>
              </a:lnSpc>
              <a:spcBef>
                <a:spcPts val="0"/>
              </a:spcBef>
              <a:spcAft>
                <a:spcPts val="0"/>
              </a:spcAft>
              <a:buNone/>
              <a:defRPr sz="1800" b="0" i="0">
                <a:solidFill>
                  <a:schemeClr val="dk1"/>
                </a:solidFill>
                <a:latin typeface="Arial"/>
                <a:ea typeface="宋体"/>
              </a:defRPr>
            </a:lvl4pPr>
            <a:lvl5pPr marL="1828800" indent="1828800" algn="l" defTabSz="914400" rtl="0" fontAlgn="base" hangingPunct="1">
              <a:lnSpc>
                <a:spcPct val="100000"/>
              </a:lnSpc>
              <a:spcBef>
                <a:spcPts val="0"/>
              </a:spcBef>
              <a:spcAft>
                <a:spcPts val="0"/>
              </a:spcAft>
              <a:buNone/>
              <a:defRPr sz="1800" b="0" i="0">
                <a:solidFill>
                  <a:schemeClr val="dk1"/>
                </a:solidFill>
                <a:latin typeface="Arial"/>
                <a:ea typeface="宋体"/>
              </a:defRPr>
            </a:lvl5pPr>
          </a:lstStyle>
          <a:p>
            <a:pPr marL="0" lvl="0" indent="0" algn="r" hangingPunct="1">
              <a:spcBef>
                <a:spcPts val="0"/>
              </a:spcBef>
              <a:buNone/>
            </a:pPr>
            <a:fld id="{D038279B-FC19-497E-A7D1-5ADD9CAF016F}" type="slidenum">
              <a:rPr lang="zh-CN" sz="1200" b="0" i="0" u="none">
                <a:latin typeface="Times New Roman" panose="02020603050405020304"/>
              </a:rPr>
            </a:fld>
            <a:endParaRPr lang="zh-CN" sz="1200" b="0" i="0" u="none">
              <a:latin typeface="Times New Roman" panose="02020603050405020304"/>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ChangeShapeType="1"/>
          </p:cNvSpPr>
          <p:nvPr>
            <p:ph type="sldImg"/>
          </p:nvPr>
        </p:nvSpPr>
        <p:spPr>
          <a:xfrm>
            <a:off x="1143000" y="685800"/>
            <a:ext cx="4572000" cy="3429000"/>
          </a:xfrm>
          <a:prstGeom prst="rect">
            <a:avLst/>
          </a:prstGeom>
        </p:spPr>
        <p:txBody>
          <a:bodyPr lIns="91440" tIns="45720" rIns="91440" bIns="45720" anchor="ctr" anchorCtr="0"/>
          <a:lstStyle/>
          <a:p>
            <a:endParaRPr sz="1400" dirty="0"/>
          </a:p>
        </p:txBody>
      </p:sp>
      <p:sp>
        <p:nvSpPr>
          <p:cNvPr id="3" name="备注占位符 2"/>
          <p:cNvSpPr>
            <a:spLocks noGrp="1" noChangeShapeType="1"/>
          </p:cNvSpPr>
          <p:nvPr>
            <p:ph type="body" idx="1"/>
          </p:nvPr>
        </p:nvSpPr>
        <p:spPr>
          <a:xfrm>
            <a:off x="685800" y="4343400"/>
            <a:ext cx="5486400" cy="4114800"/>
          </a:xfrm>
          <a:prstGeom prst="rect">
            <a:avLst/>
          </a:prstGeom>
          <a:noFill/>
        </p:spPr>
        <p:txBody>
          <a:bodyPr lIns="91440" tIns="45720" rIns="91440" bIns="45720" anchor="t"/>
          <a:lstStyle/>
          <a:p>
            <a:endParaRPr sz="1400" dirty="0"/>
          </a:p>
        </p:txBody>
      </p:sp>
      <p:sp>
        <p:nvSpPr>
          <p:cNvPr id="4" name="灯片编号占位符 3"/>
          <p:cNvSpPr txBox="1">
            <a:spLocks noGrp="1" noChangeShapeType="1"/>
          </p:cNvSpPr>
          <p:nvPr>
            <p:ph type="sldNum"/>
          </p:nvPr>
        </p:nvSpPr>
        <p:spPr>
          <a:xfrm>
            <a:off x="3884612" y="8685212"/>
            <a:ext cx="2971800" cy="457200"/>
          </a:xfrm>
          <a:prstGeom prst="rect">
            <a:avLst/>
          </a:prstGeom>
          <a:noFill/>
        </p:spPr>
        <p:txBody>
          <a:bodyPr lIns="91440" tIns="45720" rIns="91440" bIns="45720" anchor="b"/>
          <a:lstStyle/>
          <a:p>
            <a:pPr lvl="0" algn="r" hangingPunct="1">
              <a:spcBef>
                <a:spcPts val="0"/>
              </a:spcBef>
            </a:pPr>
            <a:fld id="{D038279B-FC19-497E-A7D1-5ADD9CAF016F}" type="slidenum">
              <a:rPr lang="zh-CN" b="0" i="0" u="none"/>
            </a:fld>
            <a:endParaRPr lang="zh-CN" b="0" i="0" u="non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5" name=""/>
        <p:cNvGrpSpPr/>
        <p:nvPr/>
      </p:nvGrpSpPr>
      <p:grpSpPr>
        <a:xfrm>
          <a:off x="0" y="0"/>
          <a:ext cx="0" cy="0"/>
          <a:chOff x="0" y="0"/>
          <a:chExt cx="0" cy="0"/>
        </a:xfrm>
      </p:grpSpPr>
      <p:sp>
        <p:nvSpPr>
          <p:cNvPr id="6" name="幻灯片图像占位符 1"/>
          <p:cNvSpPr>
            <a:spLocks noGrp="1" noChangeShapeType="1"/>
          </p:cNvSpPr>
          <p:nvPr>
            <p:ph type="sldImg"/>
          </p:nvPr>
        </p:nvSpPr>
        <p:spPr>
          <a:xfrm>
            <a:off x="1143000" y="685800"/>
            <a:ext cx="4572000" cy="3429000"/>
          </a:xfrm>
          <a:prstGeom prst="rect">
            <a:avLst/>
          </a:prstGeom>
        </p:spPr>
        <p:txBody>
          <a:bodyPr lIns="91440" tIns="45720" rIns="91440" bIns="45720" anchor="ctr" anchorCtr="0"/>
          <a:lstStyle/>
          <a:p>
            <a:endParaRPr sz="1400" dirty="0"/>
          </a:p>
        </p:txBody>
      </p:sp>
      <p:sp>
        <p:nvSpPr>
          <p:cNvPr id="7" name="备注占位符 2"/>
          <p:cNvSpPr>
            <a:spLocks noGrp="1" noChangeShapeType="1"/>
          </p:cNvSpPr>
          <p:nvPr>
            <p:ph type="body" idx="1"/>
          </p:nvPr>
        </p:nvSpPr>
        <p:spPr>
          <a:xfrm>
            <a:off x="685800" y="4343400"/>
            <a:ext cx="5486400" cy="4114800"/>
          </a:xfrm>
          <a:prstGeom prst="rect">
            <a:avLst/>
          </a:prstGeom>
          <a:noFill/>
        </p:spPr>
        <p:txBody>
          <a:bodyPr lIns="91440" tIns="45720" rIns="91440" bIns="45720" anchor="t"/>
          <a:lstStyle/>
          <a:p>
            <a:pPr lvl="0"/>
            <a:r>
              <a:rPr lang="en-US"/>
              <a:t>人体模型进行编程，使其表面温度保持在 35度，类似于皮肤的平均表面温度，并将其置于气候控制的风洞中。还通过监测人体模型维持恒定温度所需的电量，对身体热损失进行了基本测量。</a:t>
            </a:r>
            <a:endParaRPr lang="en-US"/>
          </a:p>
        </p:txBody>
      </p:sp>
      <p:sp>
        <p:nvSpPr>
          <p:cNvPr id="8" name="灯片编号占位符 3"/>
          <p:cNvSpPr txBox="1">
            <a:spLocks noGrp="1" noChangeShapeType="1"/>
          </p:cNvSpPr>
          <p:nvPr>
            <p:ph type="sldNum"/>
          </p:nvPr>
        </p:nvSpPr>
        <p:spPr>
          <a:xfrm>
            <a:off x="3884612" y="8685212"/>
            <a:ext cx="2971800" cy="457200"/>
          </a:xfrm>
          <a:prstGeom prst="rect">
            <a:avLst/>
          </a:prstGeom>
          <a:noFill/>
        </p:spPr>
        <p:txBody>
          <a:bodyPr lIns="91440" tIns="45720" rIns="91440" bIns="45720" anchor="b"/>
          <a:lstStyle/>
          <a:p>
            <a:pPr lvl="0" algn="r" hangingPunct="1"/>
            <a:fld id="{D038279B-FC19-497E-A7D1-5ADD9CAF016F}" type="slidenum">
              <a:rPr lang="zh-CN" sz="1200" b="0" i="0" u="none">
                <a:latin typeface="Times New Roman" panose="02020603050405020304"/>
              </a:rPr>
            </a:fld>
            <a:endParaRPr lang="zh-CN" sz="1200" b="0" i="0" u="none">
              <a:latin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9" name=""/>
        <p:cNvGrpSpPr/>
        <p:nvPr/>
      </p:nvGrpSpPr>
      <p:grpSpPr>
        <a:xfrm>
          <a:off x="0" y="0"/>
          <a:ext cx="0" cy="0"/>
          <a:chOff x="0" y="0"/>
          <a:chExt cx="0" cy="0"/>
        </a:xfrm>
      </p:grpSpPr>
      <p:sp>
        <p:nvSpPr>
          <p:cNvPr id="10" name="Rectangle 7"/>
          <p:cNvSpPr txBox="1">
            <a:spLocks noGrp="1" noChangeShapeType="1"/>
          </p:cNvSpPr>
          <p:nvPr>
            <p:ph type="sldNum"/>
          </p:nvPr>
        </p:nvSpPr>
        <p:spPr>
          <a:xfrm>
            <a:off x="3884612" y="8685212"/>
            <a:ext cx="2971800" cy="457200"/>
          </a:xfrm>
          <a:prstGeom prst="rect">
            <a:avLst/>
          </a:prstGeom>
          <a:noFill/>
        </p:spPr>
        <p:txBody>
          <a:bodyPr lIns="91440" tIns="45720" rIns="91440" bIns="45720" anchor="b"/>
          <a:lstStyle/>
          <a:p>
            <a:pPr lvl="0" algn="r" hangingPunct="1">
              <a:spcBef>
                <a:spcPts val="0"/>
              </a:spcBef>
            </a:pPr>
            <a:fld id="{D038279B-FC19-497E-A7D1-5ADD9CAF016F}" type="slidenum">
              <a:rPr lang="zh-CN" b="0" i="0" u="none"/>
            </a:fld>
            <a:endParaRPr lang="zh-CN" b="0" i="0" u="none"/>
          </a:p>
        </p:txBody>
      </p:sp>
      <p:sp>
        <p:nvSpPr>
          <p:cNvPr id="11" name="Rectangle 2"/>
          <p:cNvSpPr>
            <a:spLocks noGrp="1" noChangeShapeType="1"/>
          </p:cNvSpPr>
          <p:nvPr>
            <p:ph type="sldImg"/>
          </p:nvPr>
        </p:nvSpPr>
        <p:spPr>
          <a:xfrm>
            <a:off x="1143000" y="685800"/>
            <a:ext cx="4572000" cy="3429000"/>
          </a:xfrm>
          <a:prstGeom prst="rect">
            <a:avLst/>
          </a:prstGeom>
        </p:spPr>
        <p:txBody>
          <a:bodyPr lIns="91440" tIns="45720" rIns="91440" bIns="45720" anchor="ctr" anchorCtr="0"/>
          <a:lstStyle/>
          <a:p>
            <a:endParaRPr sz="1400" dirty="0"/>
          </a:p>
        </p:txBody>
      </p:sp>
      <p:sp>
        <p:nvSpPr>
          <p:cNvPr id="12" name="Rectangle 3"/>
          <p:cNvSpPr>
            <a:spLocks noGrp="1" noChangeShapeType="1"/>
          </p:cNvSpPr>
          <p:nvPr>
            <p:ph type="body" idx="1"/>
          </p:nvPr>
        </p:nvSpPr>
        <p:spPr>
          <a:xfrm>
            <a:off x="685800" y="4343400"/>
            <a:ext cx="5486400" cy="4114800"/>
          </a:xfrm>
          <a:prstGeom prst="rect">
            <a:avLst/>
          </a:prstGeom>
          <a:noFill/>
        </p:spPr>
        <p:txBody>
          <a:bodyPr lIns="91440" tIns="45720" rIns="91440" bIns="45720" anchor="t"/>
          <a:lstStyle/>
          <a:p>
            <a:pPr lvl="0" hangingPunct="1"/>
            <a:r>
              <a:rPr lang="en-US" b="1" i="0" u="none"/>
              <a:t>克劳修斯表述(1850): </a:t>
            </a:r>
            <a:r>
              <a:rPr lang="zh-CN"/>
              <a:t>不可能把热量从低温物体传到高温物体而不引起其他变化。简言之即是</a:t>
            </a:r>
            <a:r>
              <a:rPr lang="en-US" b="1" i="0" u="none">
                <a:solidFill>
                  <a:srgbClr val="66FF33"/>
                </a:solidFill>
              </a:rPr>
              <a:t>热不能自发的从冷处转到热处.</a:t>
            </a:r>
            <a:endParaRPr lang="en-US" b="1" i="0" u="none">
              <a:solidFill>
                <a:srgbClr val="66FF33"/>
              </a:solidFill>
            </a:endParaRPr>
          </a:p>
          <a:p>
            <a:pPr lvl="0" hangingPunct="1"/>
            <a:r>
              <a:rPr lang="zh-CN" b="1" i="0" u="none"/>
              <a:t>开尔文表述(1851): </a:t>
            </a:r>
            <a:r>
              <a:rPr lang="en-US"/>
              <a:t>不可能从单一热源吸取热量，使之完全变为有用功而不产生其他影响。</a:t>
            </a:r>
            <a:r>
              <a:rPr lang="zh-CN" b="1" i="0" u="none"/>
              <a:t>开尔文</a:t>
            </a:r>
            <a:r>
              <a:rPr lang="zh-CN"/>
              <a:t>表述还可以表述成：</a:t>
            </a:r>
            <a:r>
              <a:rPr lang="en-US" b="1" i="0" u="none">
                <a:solidFill>
                  <a:srgbClr val="66FF33"/>
                </a:solidFill>
              </a:rPr>
              <a:t>第二类永动机不可能造成。</a:t>
            </a:r>
            <a:endParaRPr lang="en-US" b="1" i="0" u="none">
              <a:solidFill>
                <a:srgbClr val="66FF33"/>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3" name=""/>
        <p:cNvGrpSpPr/>
        <p:nvPr/>
      </p:nvGrpSpPr>
      <p:grpSpPr>
        <a:xfrm>
          <a:off x="0" y="0"/>
          <a:ext cx="0" cy="0"/>
          <a:chOff x="0" y="0"/>
          <a:chExt cx="0" cy="0"/>
        </a:xfrm>
      </p:grpSpPr>
      <p:sp>
        <p:nvSpPr>
          <p:cNvPr id="14" name="Rectangle 7"/>
          <p:cNvSpPr txBox="1">
            <a:spLocks noGrp="1" noChangeShapeType="1"/>
          </p:cNvSpPr>
          <p:nvPr>
            <p:ph type="sldNum"/>
          </p:nvPr>
        </p:nvSpPr>
        <p:spPr>
          <a:xfrm>
            <a:off x="3884612" y="8685212"/>
            <a:ext cx="2971800" cy="457200"/>
          </a:xfrm>
          <a:prstGeom prst="rect">
            <a:avLst/>
          </a:prstGeom>
          <a:noFill/>
        </p:spPr>
        <p:txBody>
          <a:bodyPr lIns="91440" tIns="45720" rIns="91440" bIns="45720" anchor="b"/>
          <a:lstStyle/>
          <a:p>
            <a:pPr lvl="0" algn="r" hangingPunct="1">
              <a:spcBef>
                <a:spcPts val="0"/>
              </a:spcBef>
            </a:pPr>
            <a:fld id="{D038279B-FC19-497E-A7D1-5ADD9CAF016F}" type="slidenum">
              <a:rPr lang="zh-CN" b="0" i="0" u="none"/>
            </a:fld>
            <a:endParaRPr lang="zh-CN" b="0" i="0" u="none"/>
          </a:p>
        </p:txBody>
      </p:sp>
      <p:sp>
        <p:nvSpPr>
          <p:cNvPr id="15" name="Rectangle 2"/>
          <p:cNvSpPr>
            <a:spLocks noGrp="1" noChangeShapeType="1"/>
          </p:cNvSpPr>
          <p:nvPr>
            <p:ph type="sldImg"/>
          </p:nvPr>
        </p:nvSpPr>
        <p:spPr>
          <a:xfrm>
            <a:off x="1143000" y="685800"/>
            <a:ext cx="4572000" cy="3429000"/>
          </a:xfrm>
          <a:prstGeom prst="rect">
            <a:avLst/>
          </a:prstGeom>
        </p:spPr>
        <p:txBody>
          <a:bodyPr lIns="91440" tIns="45720" rIns="91440" bIns="45720" anchor="ctr" anchorCtr="0"/>
          <a:lstStyle/>
          <a:p>
            <a:endParaRPr sz="1400" dirty="0"/>
          </a:p>
        </p:txBody>
      </p:sp>
      <p:sp>
        <p:nvSpPr>
          <p:cNvPr id="16" name="Rectangle 3"/>
          <p:cNvSpPr>
            <a:spLocks noGrp="1" noChangeShapeType="1"/>
          </p:cNvSpPr>
          <p:nvPr>
            <p:ph type="body" idx="1"/>
          </p:nvPr>
        </p:nvSpPr>
        <p:spPr>
          <a:xfrm>
            <a:off x="685800" y="4343400"/>
            <a:ext cx="5486400" cy="4114800"/>
          </a:xfrm>
          <a:prstGeom prst="rect">
            <a:avLst/>
          </a:prstGeom>
          <a:noFill/>
        </p:spPr>
        <p:txBody>
          <a:bodyPr lIns="91440" tIns="45720" rIns="91440" bIns="45720" anchor="t"/>
          <a:lstStyle/>
          <a:p>
            <a:pPr lvl="0" hangingPunct="1"/>
            <a:r>
              <a:rPr lang="en-US" b="1" i="1" u="none"/>
              <a:t>R</a:t>
            </a:r>
            <a:r>
              <a:rPr lang="en-US" b="1" i="0" u="none"/>
              <a:t> = 8.314472(15) J</a:t>
            </a:r>
            <a:r>
              <a:rPr lang="en-US" b="1" i="0" u="none">
                <a:latin typeface="Arial"/>
              </a:rPr>
              <a:t>·</a:t>
            </a:r>
            <a:r>
              <a:rPr lang="en-US" b="1" i="0" u="none"/>
              <a:t>K−1</a:t>
            </a:r>
            <a:r>
              <a:rPr lang="en-US" b="1" i="0" u="none">
                <a:latin typeface="Arial"/>
              </a:rPr>
              <a:t>·</a:t>
            </a:r>
            <a:r>
              <a:rPr lang="en-US" b="1" i="0" u="none"/>
              <a:t>mol−1</a:t>
            </a:r>
            <a:r>
              <a:rPr lang="en-US"/>
              <a:t> </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8" name="Rectangle 7"/>
          <p:cNvSpPr txBox="1">
            <a:spLocks noGrp="1" noChangeShapeType="1"/>
          </p:cNvSpPr>
          <p:nvPr>
            <p:ph type="sldNum"/>
          </p:nvPr>
        </p:nvSpPr>
        <p:spPr>
          <a:xfrm>
            <a:off x="3884612" y="8685212"/>
            <a:ext cx="2971800" cy="457200"/>
          </a:xfrm>
          <a:prstGeom prst="rect">
            <a:avLst/>
          </a:prstGeom>
          <a:noFill/>
        </p:spPr>
        <p:txBody>
          <a:bodyPr lIns="91440" tIns="45720" rIns="91440" bIns="45720" anchor="b"/>
          <a:lstStyle/>
          <a:p>
            <a:pPr lvl="0" algn="r" hangingPunct="1">
              <a:spcBef>
                <a:spcPts val="0"/>
              </a:spcBef>
            </a:pPr>
            <a:fld id="{D038279B-FC19-497E-A7D1-5ADD9CAF016F}" type="slidenum">
              <a:rPr lang="zh-CN" b="0" i="0" u="none"/>
            </a:fld>
            <a:endParaRPr lang="zh-CN" b="0" i="0" u="none"/>
          </a:p>
        </p:txBody>
      </p:sp>
      <p:sp>
        <p:nvSpPr>
          <p:cNvPr id="19" name="Rectangle 2"/>
          <p:cNvSpPr>
            <a:spLocks noGrp="1" noChangeShapeType="1"/>
          </p:cNvSpPr>
          <p:nvPr>
            <p:ph type="sldImg"/>
          </p:nvPr>
        </p:nvSpPr>
        <p:spPr>
          <a:xfrm>
            <a:off x="1143000" y="685800"/>
            <a:ext cx="4572000" cy="3429000"/>
          </a:xfrm>
          <a:prstGeom prst="rect">
            <a:avLst/>
          </a:prstGeom>
        </p:spPr>
        <p:txBody>
          <a:bodyPr lIns="91440" tIns="45720" rIns="91440" bIns="45720" anchor="ctr" anchorCtr="0"/>
          <a:lstStyle/>
          <a:p>
            <a:endParaRPr sz="1400" dirty="0"/>
          </a:p>
        </p:txBody>
      </p:sp>
      <p:sp>
        <p:nvSpPr>
          <p:cNvPr id="20" name="Rectangle 3"/>
          <p:cNvSpPr>
            <a:spLocks noGrp="1" noChangeShapeType="1"/>
          </p:cNvSpPr>
          <p:nvPr>
            <p:ph type="body" idx="1"/>
          </p:nvPr>
        </p:nvSpPr>
        <p:spPr>
          <a:xfrm>
            <a:off x="685800" y="4343400"/>
            <a:ext cx="5486400" cy="4114800"/>
          </a:xfrm>
          <a:prstGeom prst="rect">
            <a:avLst/>
          </a:prstGeom>
          <a:noFill/>
        </p:spPr>
        <p:txBody>
          <a:bodyPr lIns="91440" tIns="45720" rIns="91440" bIns="45720" anchor="t"/>
          <a:lstStyle/>
          <a:p>
            <a:pPr lvl="0" hangingPunct="1"/>
            <a:r>
              <a:rPr lang="en-US" b="1" i="1" u="none"/>
              <a:t>R</a:t>
            </a:r>
            <a:r>
              <a:rPr lang="en-US" b="1" i="0" u="none"/>
              <a:t> = 8.314472(15) J</a:t>
            </a:r>
            <a:r>
              <a:rPr lang="en-US" b="1" i="0" u="none">
                <a:latin typeface="Arial"/>
              </a:rPr>
              <a:t>·</a:t>
            </a:r>
            <a:r>
              <a:rPr lang="en-US" b="1" i="0" u="none"/>
              <a:t>K−1</a:t>
            </a:r>
            <a:r>
              <a:rPr lang="en-US" b="1" i="0" u="none">
                <a:latin typeface="Arial"/>
              </a:rPr>
              <a:t>·</a:t>
            </a:r>
            <a:r>
              <a:rPr lang="en-US" b="1" i="0" u="none"/>
              <a:t>mol−1</a:t>
            </a:r>
            <a:r>
              <a:rPr lang="en-US"/>
              <a:t> </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22" name="Rectangle 7"/>
          <p:cNvSpPr txBox="1">
            <a:spLocks noGrp="1" noChangeShapeType="1"/>
          </p:cNvSpPr>
          <p:nvPr>
            <p:ph type="sldNum"/>
          </p:nvPr>
        </p:nvSpPr>
        <p:spPr>
          <a:xfrm>
            <a:off x="3884612" y="8685212"/>
            <a:ext cx="2971800" cy="457200"/>
          </a:xfrm>
          <a:prstGeom prst="rect">
            <a:avLst/>
          </a:prstGeom>
          <a:noFill/>
        </p:spPr>
        <p:txBody>
          <a:bodyPr lIns="91440" tIns="45720" rIns="91440" bIns="45720" anchor="b"/>
          <a:lstStyle/>
          <a:p>
            <a:pPr lvl="0" algn="r" hangingPunct="1">
              <a:spcBef>
                <a:spcPts val="0"/>
              </a:spcBef>
            </a:pPr>
            <a:fld id="{D038279B-FC19-497E-A7D1-5ADD9CAF016F}" type="slidenum">
              <a:rPr lang="zh-CN" b="0" i="0" u="none"/>
            </a:fld>
            <a:endParaRPr lang="zh-CN" b="0" i="0" u="none"/>
          </a:p>
        </p:txBody>
      </p:sp>
      <p:sp>
        <p:nvSpPr>
          <p:cNvPr id="23" name="Rectangle 2"/>
          <p:cNvSpPr>
            <a:spLocks noGrp="1" noChangeShapeType="1"/>
          </p:cNvSpPr>
          <p:nvPr>
            <p:ph type="sldImg"/>
          </p:nvPr>
        </p:nvSpPr>
        <p:spPr>
          <a:xfrm>
            <a:off x="1143000" y="685800"/>
            <a:ext cx="4572000" cy="3429000"/>
          </a:xfrm>
          <a:prstGeom prst="rect">
            <a:avLst/>
          </a:prstGeom>
        </p:spPr>
        <p:txBody>
          <a:bodyPr lIns="91440" tIns="45720" rIns="91440" bIns="45720" anchor="ctr" anchorCtr="0"/>
          <a:lstStyle/>
          <a:p>
            <a:endParaRPr sz="1400" dirty="0"/>
          </a:p>
        </p:txBody>
      </p:sp>
      <p:sp>
        <p:nvSpPr>
          <p:cNvPr id="24" name="Rectangle 3"/>
          <p:cNvSpPr>
            <a:spLocks noGrp="1" noChangeShapeType="1"/>
          </p:cNvSpPr>
          <p:nvPr>
            <p:ph type="body" idx="1"/>
          </p:nvPr>
        </p:nvSpPr>
        <p:spPr>
          <a:xfrm>
            <a:off x="685800" y="4343400"/>
            <a:ext cx="5486400" cy="4114800"/>
          </a:xfrm>
          <a:prstGeom prst="rect">
            <a:avLst/>
          </a:prstGeom>
          <a:noFill/>
        </p:spPr>
        <p:txBody>
          <a:bodyPr lIns="91440" tIns="45720" rIns="91440" bIns="45720" anchor="t"/>
          <a:lstStyle/>
          <a:p>
            <a:pPr lvl="0" hangingPunct="1"/>
            <a:r>
              <a:rPr lang="en-US"/>
              <a:t>肝细胞,肌细胞,成熟红细胞</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26" name="Rectangle 7"/>
          <p:cNvSpPr txBox="1">
            <a:spLocks noGrp="1" noChangeShapeType="1"/>
          </p:cNvSpPr>
          <p:nvPr>
            <p:ph type="sldNum"/>
          </p:nvPr>
        </p:nvSpPr>
        <p:spPr>
          <a:xfrm>
            <a:off x="3884612" y="8685212"/>
            <a:ext cx="2971800" cy="457200"/>
          </a:xfrm>
          <a:prstGeom prst="rect">
            <a:avLst/>
          </a:prstGeom>
          <a:noFill/>
        </p:spPr>
        <p:txBody>
          <a:bodyPr lIns="91440" tIns="45720" rIns="91440" bIns="45720" anchor="b"/>
          <a:lstStyle/>
          <a:p>
            <a:pPr lvl="0" algn="r" hangingPunct="1">
              <a:spcBef>
                <a:spcPts val="0"/>
              </a:spcBef>
            </a:pPr>
            <a:fld id="{D038279B-FC19-497E-A7D1-5ADD9CAF016F}" type="slidenum">
              <a:rPr lang="zh-CN" b="0" i="0" u="none"/>
            </a:fld>
            <a:endParaRPr lang="zh-CN" b="0" i="0" u="none"/>
          </a:p>
        </p:txBody>
      </p:sp>
      <p:sp>
        <p:nvSpPr>
          <p:cNvPr id="27" name="Rectangle 2"/>
          <p:cNvSpPr>
            <a:spLocks noGrp="1" noChangeShapeType="1"/>
          </p:cNvSpPr>
          <p:nvPr>
            <p:ph type="sldImg"/>
          </p:nvPr>
        </p:nvSpPr>
        <p:spPr>
          <a:xfrm>
            <a:off x="1143000" y="685800"/>
            <a:ext cx="4572000" cy="3429000"/>
          </a:xfrm>
          <a:prstGeom prst="rect">
            <a:avLst/>
          </a:prstGeom>
        </p:spPr>
        <p:txBody>
          <a:bodyPr lIns="91440" tIns="45720" rIns="91440" bIns="45720" anchor="ctr" anchorCtr="0"/>
          <a:lstStyle/>
          <a:p>
            <a:endParaRPr sz="1400" dirty="0"/>
          </a:p>
        </p:txBody>
      </p:sp>
      <p:sp>
        <p:nvSpPr>
          <p:cNvPr id="28" name="Rectangle 3"/>
          <p:cNvSpPr>
            <a:spLocks noGrp="1" noChangeShapeType="1"/>
          </p:cNvSpPr>
          <p:nvPr>
            <p:ph type="body" idx="1"/>
          </p:nvPr>
        </p:nvSpPr>
        <p:spPr>
          <a:xfrm>
            <a:off x="685800" y="4343400"/>
            <a:ext cx="5486400" cy="4114800"/>
          </a:xfrm>
          <a:prstGeom prst="rect">
            <a:avLst/>
          </a:prstGeom>
          <a:noFill/>
        </p:spPr>
        <p:txBody>
          <a:bodyPr lIns="91440" tIns="45720" rIns="91440" bIns="45720" anchor="t"/>
          <a:lstStyle/>
          <a:p>
            <a:pPr lvl="0" hangingPunct="1"/>
            <a:r>
              <a:rPr lang="en-US"/>
              <a:t>肝细胞,肌细胞,成熟红细胞</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nd Object Slide">
    <p:spTree>
      <p:nvGrpSpPr>
        <p:cNvPr id="1" name=""/>
        <p:cNvGrpSpPr/>
        <p:nvPr/>
      </p:nvGrpSpPr>
      <p:grpSpPr>
        <a:xfrm>
          <a:off x="0" y="0"/>
          <a:ext cx="0" cy="0"/>
          <a:chOff x="0" y="0"/>
          <a:chExt cx="0" cy="0"/>
        </a:xfrm>
      </p:grpSpPr>
      <p:sp>
        <p:nvSpPr>
          <p:cNvPr id="2" name="Shape 1029"/>
          <p:cNvSpPr>
            <a:spLocks noGrp="1" noChangeShapeType="1"/>
          </p:cNvSpPr>
          <p:nvPr>
            <p:ph type="title"/>
          </p:nvPr>
        </p:nvSpPr>
        <p:spPr>
          <a:xfrm>
            <a:off x="457200" y="457200"/>
            <a:ext cx="8229600" cy="1371600"/>
          </a:xfrm>
          <a:prstGeom prst="rect">
            <a:avLst/>
          </a:prstGeom>
          <a:noFill/>
        </p:spPr>
        <p:txBody>
          <a:bodyPr lIns="91440" tIns="45720" rIns="91440" bIns="45720" anchor="ctr" anchorCtr="0"/>
          <a:lstStyle/>
          <a:p>
            <a:pPr marL="0" lvl="0" indent="0">
              <a:spcBef>
                <a:spcPts val="0"/>
              </a:spcBef>
              <a:buNone/>
            </a:pPr>
            <a:r>
              <a:rPr lang="zh-CN"/>
              <a:t>单击此处编辑母版标题样式</a:t>
            </a:r>
            <a:endParaRPr lang="zh-CN"/>
          </a:p>
        </p:txBody>
      </p:sp>
      <p:sp>
        <p:nvSpPr>
          <p:cNvPr id="3" name="Shape 1030"/>
          <p:cNvSpPr>
            <a:spLocks noGrp="1" noChangeShapeType="1"/>
          </p:cNvSpPr>
          <p:nvPr>
            <p:ph idx="1"/>
          </p:nvPr>
        </p:nvSpPr>
        <p:spPr>
          <a:xfrm>
            <a:off x="457200" y="1981200"/>
            <a:ext cx="8229600" cy="3886200"/>
          </a:xfrm>
          <a:prstGeom prst="rect">
            <a:avLst/>
          </a:prstGeom>
          <a:noFill/>
        </p:spPr>
        <p:txBody>
          <a:bodyPr lIns="91440" tIns="45720" rIns="91440" bIns="45720"/>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a:spcBef>
                <a:spcPct val="20000"/>
              </a:spcBef>
              <a:buClr>
                <a:srgbClr val="00007D"/>
              </a:buClr>
              <a:buSzPct val="75000"/>
              <a:buFont typeface="Wingdings" panose="05000000000000000000" pitchFamily="2" charset="2"/>
              <a:buChar char="n"/>
            </a:pPr>
            <a:r>
              <a:rPr lang="zh-CN"/>
              <a:t>单击此处编辑母版文本样式</a:t>
            </a:r>
            <a:endParaRPr lang="zh-CN"/>
          </a:p>
          <a:p>
            <a:pPr marL="742950" lvl="1" indent="-285750">
              <a:spcBef>
                <a:spcPct val="20000"/>
              </a:spcBef>
              <a:buClr>
                <a:srgbClr val="9999CC"/>
              </a:buClr>
              <a:buSzPct val="80000"/>
              <a:buChar char="¨"/>
            </a:pPr>
            <a:r>
              <a:rPr lang="zh-CN"/>
              <a:t>第二级</a:t>
            </a:r>
            <a:endParaRPr lang="zh-CN"/>
          </a:p>
          <a:p>
            <a:pPr marL="1143000" lvl="2" indent="-228600">
              <a:spcBef>
                <a:spcPct val="20000"/>
              </a:spcBef>
              <a:buClr>
                <a:srgbClr val="00007D"/>
              </a:buClr>
              <a:buSzPct val="65000"/>
              <a:buChar char="n"/>
            </a:pPr>
            <a:r>
              <a:rPr lang="zh-CN"/>
              <a:t>第三级</a:t>
            </a:r>
            <a:endParaRPr lang="zh-CN"/>
          </a:p>
          <a:p>
            <a:pPr marL="1600200" lvl="3" indent="-228600">
              <a:spcBef>
                <a:spcPct val="20000"/>
              </a:spcBef>
              <a:buClr>
                <a:srgbClr val="9999CC"/>
              </a:buClr>
              <a:buSzPct val="70000"/>
              <a:buChar char="¨"/>
            </a:pPr>
            <a:r>
              <a:rPr lang="zh-CN"/>
              <a:t>第四级</a:t>
            </a:r>
            <a:endParaRPr lang="zh-CN"/>
          </a:p>
          <a:p>
            <a:pPr marL="2057400" lvl="4" indent="-228600">
              <a:spcBef>
                <a:spcPct val="20000"/>
              </a:spcBef>
              <a:buClr>
                <a:srgbClr val="00007D"/>
              </a:buClr>
              <a:buSzPct val="70000"/>
              <a:buChar char="§"/>
            </a:pPr>
            <a:r>
              <a:rPr lang="zh-CN"/>
              <a:t>第五级</a:t>
            </a:r>
            <a:endParaRPr lang="zh-CN"/>
          </a:p>
        </p:txBody>
      </p:sp>
      <p:sp>
        <p:nvSpPr>
          <p:cNvPr id="4" name="Shape 1031"/>
          <p:cNvSpPr>
            <a:spLocks noGrp="1" noChangeShapeType="1"/>
          </p:cNvSpPr>
          <p:nvPr>
            <p:ph type="dt" idx="2"/>
          </p:nvPr>
        </p:nvSpPr>
        <p:spPr>
          <a:xfrm>
            <a:off x="457200" y="6245225"/>
            <a:ext cx="2133600" cy="476250"/>
          </a:xfrm>
          <a:prstGeom prst="rect">
            <a:avLst/>
          </a:prstGeom>
          <a:noFill/>
        </p:spPr>
        <p:txBody>
          <a:bodyPr lIns="91440" tIns="45720" rIns="91440" bIns="45720" anchor="b"/>
          <a:lstStyle/>
          <a:p>
            <a:endParaRPr sz="1400" dirty="0"/>
          </a:p>
        </p:txBody>
      </p:sp>
      <p:sp>
        <p:nvSpPr>
          <p:cNvPr id="5" name="Shape 1026"/>
          <p:cNvSpPr>
            <a:spLocks noGrp="1" noChangeShapeType="1"/>
          </p:cNvSpPr>
          <p:nvPr>
            <p:ph type="ftr" idx="3"/>
          </p:nvPr>
        </p:nvSpPr>
        <p:spPr>
          <a:xfrm>
            <a:off x="3124200" y="6248400"/>
            <a:ext cx="2895600" cy="457200"/>
          </a:xfrm>
          <a:prstGeom prst="rect">
            <a:avLst/>
          </a:prstGeom>
          <a:noFill/>
        </p:spPr>
        <p:txBody>
          <a:bodyPr lIns="91440" tIns="45720" rIns="91440" bIns="45720" anchor="b"/>
          <a:lstStyle/>
          <a:p>
            <a:endParaRPr sz="1400" dirty="0"/>
          </a:p>
        </p:txBody>
      </p:sp>
      <p:sp>
        <p:nvSpPr>
          <p:cNvPr id="6" name="Shape 1027"/>
          <p:cNvSpPr>
            <a:spLocks noGrp="1" noChangeShapeType="1"/>
          </p:cNvSpPr>
          <p:nvPr>
            <p:ph type="sldNum" idx="4"/>
          </p:nvPr>
        </p:nvSpPr>
        <p:spPr>
          <a:xfrm>
            <a:off x="6553200" y="6248400"/>
            <a:ext cx="2133600" cy="457200"/>
          </a:xfrm>
          <a:prstGeom prst="rect">
            <a:avLst/>
          </a:prstGeom>
          <a:noFill/>
        </p:spPr>
        <p:txBody>
          <a:bodyPr lIns="91440" tIns="45720" rIns="91440" bIns="45720" anchor="b"/>
          <a:lstStyle>
            <a:lvl1pPr marL="0" indent="0" algn="l" defTabSz="914400" rtl="0" fontAlgn="base" hangingPunct="1">
              <a:lnSpc>
                <a:spcPct val="100000"/>
              </a:lnSpc>
              <a:spcBef>
                <a:spcPts val="0"/>
              </a:spcBef>
              <a:spcAft>
                <a:spcPts val="0"/>
              </a:spcAft>
              <a:buNone/>
              <a:defRPr sz="1800" b="0" i="0">
                <a:solidFill>
                  <a:schemeClr val="dk1"/>
                </a:solidFill>
                <a:latin typeface="Arial"/>
                <a:ea typeface="宋体"/>
              </a:defRPr>
            </a:lvl1pPr>
            <a:lvl2pPr marL="457200" indent="457200" algn="l" defTabSz="914400" rtl="0" fontAlgn="base" hangingPunct="1">
              <a:lnSpc>
                <a:spcPct val="100000"/>
              </a:lnSpc>
              <a:spcBef>
                <a:spcPts val="0"/>
              </a:spcBef>
              <a:spcAft>
                <a:spcPts val="0"/>
              </a:spcAft>
              <a:buNone/>
              <a:defRPr sz="1800" b="0" i="0">
                <a:solidFill>
                  <a:schemeClr val="dk1"/>
                </a:solidFill>
                <a:latin typeface="Arial"/>
                <a:ea typeface="宋体"/>
              </a:defRPr>
            </a:lvl2pPr>
            <a:lvl3pPr marL="914400" indent="914400" algn="l" defTabSz="914400" rtl="0" fontAlgn="base" hangingPunct="1">
              <a:lnSpc>
                <a:spcPct val="100000"/>
              </a:lnSpc>
              <a:spcBef>
                <a:spcPts val="0"/>
              </a:spcBef>
              <a:spcAft>
                <a:spcPts val="0"/>
              </a:spcAft>
              <a:buNone/>
              <a:defRPr sz="1800" b="0" i="0">
                <a:solidFill>
                  <a:schemeClr val="dk1"/>
                </a:solidFill>
                <a:latin typeface="Arial"/>
                <a:ea typeface="宋体"/>
              </a:defRPr>
            </a:lvl3pPr>
            <a:lvl4pPr marL="1371600" indent="1371600" algn="l" defTabSz="914400" rtl="0" fontAlgn="base" hangingPunct="1">
              <a:lnSpc>
                <a:spcPct val="100000"/>
              </a:lnSpc>
              <a:spcBef>
                <a:spcPts val="0"/>
              </a:spcBef>
              <a:spcAft>
                <a:spcPts val="0"/>
              </a:spcAft>
              <a:buNone/>
              <a:defRPr sz="1800" b="0" i="0">
                <a:solidFill>
                  <a:schemeClr val="dk1"/>
                </a:solidFill>
                <a:latin typeface="Arial"/>
                <a:ea typeface="宋体"/>
              </a:defRPr>
            </a:lvl4pPr>
            <a:lvl5pPr marL="1828800" indent="1828800" algn="l" defTabSz="914400" rtl="0" fontAlgn="base" hangingPunct="1">
              <a:lnSpc>
                <a:spcPct val="100000"/>
              </a:lnSpc>
              <a:spcBef>
                <a:spcPts val="0"/>
              </a:spcBef>
              <a:spcAft>
                <a:spcPts val="0"/>
              </a:spcAft>
              <a:buNone/>
              <a:defRPr sz="1800" b="0" i="0">
                <a:solidFill>
                  <a:schemeClr val="dk1"/>
                </a:solidFill>
                <a:latin typeface="Arial"/>
                <a:ea typeface="宋体"/>
              </a:defRPr>
            </a:lvl5pPr>
          </a:lstStyle>
          <a:p>
            <a:pPr marL="0" lvl="0" indent="0" algn="r" hangingPunct="1">
              <a:spcBef>
                <a:spcPts val="0"/>
              </a:spcBef>
              <a:buNone/>
            </a:pPr>
            <a:fld id="{D038279B-FC19-497E-A7D1-5ADD9CAF016F}" type="slidenum">
              <a:rPr lang="zh-CN" sz="1200">
                <a:latin typeface="Arial Black" pitchFamily="34"/>
              </a:rPr>
            </a:fld>
            <a:endParaRPr lang="zh-CN" sz="1200">
              <a:latin typeface="Arial Black" pitchFamily="3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showMasterSp="0">
  <p:cSld name="1_Pixel">
    <p:bg>
      <p:bgPr>
        <a:solidFill>
          <a:schemeClr val="lt1"/>
        </a:solidFill>
        <a:effectLst/>
      </p:bgPr>
    </p:bg>
    <p:spTree>
      <p:nvGrpSpPr>
        <p:cNvPr id="7" name=""/>
        <p:cNvGrpSpPr/>
        <p:nvPr/>
      </p:nvGrpSpPr>
      <p:grpSpPr>
        <a:xfrm>
          <a:off x="0" y="0"/>
          <a:ext cx="0" cy="0"/>
          <a:chOff x="0" y="0"/>
          <a:chExt cx="0" cy="0"/>
        </a:xfrm>
      </p:grpSpPr>
      <p:grpSp>
        <p:nvGrpSpPr>
          <p:cNvPr id="8" name="Group 2"/>
          <p:cNvGrpSpPr/>
          <p:nvPr/>
        </p:nvGrpSpPr>
        <p:grpSpPr>
          <a:xfrm>
            <a:off x="0" y="0"/>
            <a:ext cx="9144000" cy="6858000"/>
            <a:chOff x="0" y="0"/>
            <a:chExt cx="5760" cy="4320"/>
          </a:xfrm>
        </p:grpSpPr>
        <p:sp>
          <p:nvSpPr>
            <p:cNvPr id="9" name="Rectangle 3"/>
            <p:cNvSpPr>
              <a:spLocks noChangeShapeType="1"/>
            </p:cNvSpPr>
            <p:nvPr/>
          </p:nvSpPr>
          <p:spPr>
            <a:xfrm>
              <a:off x="0" y="0"/>
              <a:ext cx="2208" cy="4320"/>
            </a:xfrm>
            <a:prstGeom prst="rect">
              <a:avLst/>
            </a:prstGeom>
            <a:gradFill>
              <a:gsLst>
                <a:gs pos="0">
                  <a:schemeClr val="folHlink"/>
                </a:gs>
                <a:gs pos="100000">
                  <a:schemeClr val="lt1"/>
                </a:gs>
              </a:gsLst>
              <a:lin ang="0" scaled="1"/>
            </a:gradFill>
          </p:spPr>
          <p:txBody>
            <a:bodyPr wrap="none" anchor="ctr" anchorCtr="0"/>
            <a:lstStyle/>
            <a:p>
              <a:endParaRPr sz="1400" dirty="0"/>
            </a:p>
          </p:txBody>
        </p:sp>
        <p:sp>
          <p:nvSpPr>
            <p:cNvPr id="10" name="Rectangle 4"/>
            <p:cNvSpPr>
              <a:spLocks noChangeShapeType="1"/>
            </p:cNvSpPr>
            <p:nvPr/>
          </p:nvSpPr>
          <p:spPr>
            <a:xfrm>
              <a:off x="1081" y="1065"/>
              <a:ext cx="4679" cy="1596"/>
            </a:xfrm>
            <a:prstGeom prst="rect">
              <a:avLst/>
            </a:prstGeom>
            <a:solidFill>
              <a:schemeClr val="lt2"/>
            </a:solidFill>
          </p:spPr>
          <p:txBody>
            <a:bodyPr lIns="91440" tIns="45720" rIns="91440" bIns="45720"/>
            <a:lstStyle/>
            <a:p>
              <a:endParaRPr sz="1400" dirty="0"/>
            </a:p>
          </p:txBody>
        </p:sp>
        <p:grpSp>
          <p:nvGrpSpPr>
            <p:cNvPr id="11" name="Group 5"/>
            <p:cNvGrpSpPr/>
            <p:nvPr/>
          </p:nvGrpSpPr>
          <p:grpSpPr>
            <a:xfrm>
              <a:off x="0" y="672"/>
              <a:ext cx="1806" cy="1989"/>
              <a:chOff x="0" y="672"/>
              <a:chExt cx="1806" cy="1989"/>
            </a:xfrm>
          </p:grpSpPr>
          <p:sp>
            <p:nvSpPr>
              <p:cNvPr id="12" name="Rectangle 6"/>
              <p:cNvSpPr>
                <a:spLocks noChangeShapeType="1"/>
              </p:cNvSpPr>
              <p:nvPr/>
            </p:nvSpPr>
            <p:spPr>
              <a:xfrm>
                <a:off x="361" y="2257"/>
                <a:ext cx="363" cy="404"/>
              </a:xfrm>
              <a:prstGeom prst="rect">
                <a:avLst/>
              </a:prstGeom>
              <a:solidFill>
                <a:schemeClr val="accent2"/>
              </a:solidFill>
            </p:spPr>
            <p:txBody>
              <a:bodyPr lIns="91440" tIns="45720" rIns="91440" bIns="45720"/>
              <a:lstStyle/>
              <a:p>
                <a:endParaRPr sz="1400" dirty="0"/>
              </a:p>
            </p:txBody>
          </p:sp>
          <p:sp>
            <p:nvSpPr>
              <p:cNvPr id="13" name="Rectangle 7"/>
              <p:cNvSpPr>
                <a:spLocks noChangeShapeType="1"/>
              </p:cNvSpPr>
              <p:nvPr/>
            </p:nvSpPr>
            <p:spPr>
              <a:xfrm>
                <a:off x="1081" y="1065"/>
                <a:ext cx="362" cy="405"/>
              </a:xfrm>
              <a:prstGeom prst="rect">
                <a:avLst/>
              </a:prstGeom>
              <a:solidFill>
                <a:schemeClr val="folHlink"/>
              </a:solidFill>
            </p:spPr>
            <p:txBody>
              <a:bodyPr lIns="91440" tIns="45720" rIns="91440" bIns="45720"/>
              <a:lstStyle/>
              <a:p>
                <a:endParaRPr sz="1400" dirty="0"/>
              </a:p>
            </p:txBody>
          </p:sp>
          <p:sp>
            <p:nvSpPr>
              <p:cNvPr id="14" name="Rectangle 8"/>
              <p:cNvSpPr>
                <a:spLocks noChangeShapeType="1"/>
              </p:cNvSpPr>
              <p:nvPr/>
            </p:nvSpPr>
            <p:spPr>
              <a:xfrm>
                <a:off x="1437" y="672"/>
                <a:ext cx="369" cy="400"/>
              </a:xfrm>
              <a:prstGeom prst="rect">
                <a:avLst/>
              </a:prstGeom>
              <a:solidFill>
                <a:schemeClr val="folHlink"/>
              </a:solidFill>
            </p:spPr>
            <p:txBody>
              <a:bodyPr lIns="91440" tIns="45720" rIns="91440" bIns="45720"/>
              <a:lstStyle/>
              <a:p>
                <a:endParaRPr sz="1400" dirty="0"/>
              </a:p>
            </p:txBody>
          </p:sp>
          <p:sp>
            <p:nvSpPr>
              <p:cNvPr id="15" name="Rectangle 9"/>
              <p:cNvSpPr>
                <a:spLocks noChangeShapeType="1"/>
              </p:cNvSpPr>
              <p:nvPr/>
            </p:nvSpPr>
            <p:spPr>
              <a:xfrm>
                <a:off x="719" y="2257"/>
                <a:ext cx="368" cy="404"/>
              </a:xfrm>
              <a:prstGeom prst="rect">
                <a:avLst/>
              </a:prstGeom>
              <a:solidFill>
                <a:schemeClr val="lt2"/>
              </a:solidFill>
            </p:spPr>
            <p:txBody>
              <a:bodyPr lIns="91440" tIns="45720" rIns="91440" bIns="45720"/>
              <a:lstStyle/>
              <a:p>
                <a:endParaRPr sz="1400" dirty="0"/>
              </a:p>
            </p:txBody>
          </p:sp>
          <p:sp>
            <p:nvSpPr>
              <p:cNvPr id="16" name="Rectangle 10"/>
              <p:cNvSpPr>
                <a:spLocks noChangeShapeType="1"/>
              </p:cNvSpPr>
              <p:nvPr/>
            </p:nvSpPr>
            <p:spPr>
              <a:xfrm>
                <a:off x="1437" y="1065"/>
                <a:ext cx="369" cy="405"/>
              </a:xfrm>
              <a:prstGeom prst="rect">
                <a:avLst/>
              </a:prstGeom>
              <a:solidFill>
                <a:schemeClr val="accent2"/>
              </a:solidFill>
            </p:spPr>
            <p:txBody>
              <a:bodyPr lIns="91440" tIns="45720" rIns="91440" bIns="45720"/>
              <a:lstStyle/>
              <a:p>
                <a:endParaRPr sz="1400" dirty="0"/>
              </a:p>
            </p:txBody>
          </p:sp>
          <p:sp>
            <p:nvSpPr>
              <p:cNvPr id="17" name="Rectangle 11"/>
              <p:cNvSpPr>
                <a:spLocks noChangeShapeType="1"/>
              </p:cNvSpPr>
              <p:nvPr/>
            </p:nvSpPr>
            <p:spPr>
              <a:xfrm>
                <a:off x="719" y="1464"/>
                <a:ext cx="368" cy="399"/>
              </a:xfrm>
              <a:prstGeom prst="rect">
                <a:avLst/>
              </a:prstGeom>
              <a:solidFill>
                <a:schemeClr val="folHlink"/>
              </a:solidFill>
            </p:spPr>
            <p:txBody>
              <a:bodyPr lIns="91440" tIns="45720" rIns="91440" bIns="45720"/>
              <a:lstStyle/>
              <a:p>
                <a:endParaRPr sz="1400" dirty="0"/>
              </a:p>
            </p:txBody>
          </p:sp>
          <p:sp>
            <p:nvSpPr>
              <p:cNvPr id="18" name="Rectangle 12"/>
              <p:cNvSpPr>
                <a:spLocks noChangeShapeType="1"/>
              </p:cNvSpPr>
              <p:nvPr/>
            </p:nvSpPr>
            <p:spPr>
              <a:xfrm>
                <a:off x="0" y="1464"/>
                <a:ext cx="367" cy="399"/>
              </a:xfrm>
              <a:prstGeom prst="rect">
                <a:avLst/>
              </a:prstGeom>
              <a:solidFill>
                <a:schemeClr val="lt2"/>
              </a:solidFill>
            </p:spPr>
            <p:txBody>
              <a:bodyPr lIns="91440" tIns="45720" rIns="91440" bIns="45720"/>
              <a:lstStyle/>
              <a:p>
                <a:endParaRPr sz="1400" dirty="0"/>
              </a:p>
            </p:txBody>
          </p:sp>
          <p:sp>
            <p:nvSpPr>
              <p:cNvPr id="19" name="Rectangle 13"/>
              <p:cNvSpPr>
                <a:spLocks noChangeShapeType="1"/>
              </p:cNvSpPr>
              <p:nvPr/>
            </p:nvSpPr>
            <p:spPr>
              <a:xfrm>
                <a:off x="1081" y="1464"/>
                <a:ext cx="362" cy="399"/>
              </a:xfrm>
              <a:prstGeom prst="rect">
                <a:avLst/>
              </a:prstGeom>
              <a:solidFill>
                <a:schemeClr val="accent2"/>
              </a:solidFill>
            </p:spPr>
            <p:txBody>
              <a:bodyPr lIns="91440" tIns="45720" rIns="91440" bIns="45720"/>
              <a:lstStyle/>
              <a:p>
                <a:endParaRPr sz="1400" dirty="0"/>
              </a:p>
            </p:txBody>
          </p:sp>
          <p:sp>
            <p:nvSpPr>
              <p:cNvPr id="20" name="Rectangle 14"/>
              <p:cNvSpPr>
                <a:spLocks noChangeShapeType="1"/>
              </p:cNvSpPr>
              <p:nvPr/>
            </p:nvSpPr>
            <p:spPr>
              <a:xfrm>
                <a:off x="361" y="1857"/>
                <a:ext cx="363" cy="406"/>
              </a:xfrm>
              <a:prstGeom prst="rect">
                <a:avLst/>
              </a:prstGeom>
              <a:solidFill>
                <a:schemeClr val="folHlink"/>
              </a:solidFill>
            </p:spPr>
            <p:txBody>
              <a:bodyPr lIns="91440" tIns="45720" rIns="91440" bIns="45720"/>
              <a:lstStyle/>
              <a:p>
                <a:endParaRPr sz="1400" dirty="0"/>
              </a:p>
            </p:txBody>
          </p:sp>
          <p:sp>
            <p:nvSpPr>
              <p:cNvPr id="21" name="Rectangle 15"/>
              <p:cNvSpPr>
                <a:spLocks noChangeShapeType="1"/>
              </p:cNvSpPr>
              <p:nvPr/>
            </p:nvSpPr>
            <p:spPr>
              <a:xfrm>
                <a:off x="719" y="1857"/>
                <a:ext cx="368" cy="406"/>
              </a:xfrm>
              <a:prstGeom prst="rect">
                <a:avLst/>
              </a:prstGeom>
              <a:solidFill>
                <a:schemeClr val="accent2"/>
              </a:solidFill>
            </p:spPr>
            <p:txBody>
              <a:bodyPr lIns="91440" tIns="45720" rIns="91440" bIns="45720"/>
              <a:lstStyle/>
              <a:p>
                <a:endParaRPr sz="1400" dirty="0"/>
              </a:p>
            </p:txBody>
          </p:sp>
        </p:grpSp>
      </p:grpSp>
      <p:sp>
        <p:nvSpPr>
          <p:cNvPr id="22" name="Rectangle 14"/>
          <p:cNvSpPr>
            <a:spLocks noGrp="1" noChangeShapeType="1"/>
          </p:cNvSpPr>
          <p:nvPr>
            <p:ph type="title"/>
          </p:nvPr>
        </p:nvSpPr>
        <p:spPr>
          <a:xfrm>
            <a:off x="457200" y="457200"/>
            <a:ext cx="8229600" cy="1371600"/>
          </a:xfrm>
          <a:prstGeom prst="rect">
            <a:avLst/>
          </a:prstGeom>
          <a:noFill/>
        </p:spPr>
        <p:txBody>
          <a:bodyPr lIns="91440" tIns="45720" rIns="91440" bIns="45720" anchor="ctr" anchorCtr="0"/>
          <a:lstStyle/>
          <a:p>
            <a:pPr marL="0" lvl="0" indent="0">
              <a:spcBef>
                <a:spcPts val="0"/>
              </a:spcBef>
              <a:buNone/>
            </a:pPr>
            <a:r>
              <a:rPr lang="zh-CN"/>
              <a:t>单击此处编辑母版标题样式</a:t>
            </a:r>
            <a:endParaRPr lang="zh-CN"/>
          </a:p>
        </p:txBody>
      </p:sp>
      <p:sp>
        <p:nvSpPr>
          <p:cNvPr id="23" name="Rectangle 15"/>
          <p:cNvSpPr>
            <a:spLocks noGrp="1" noChangeShapeType="1"/>
          </p:cNvSpPr>
          <p:nvPr>
            <p:ph type="body" idx="1"/>
          </p:nvPr>
        </p:nvSpPr>
        <p:spPr>
          <a:xfrm>
            <a:off x="457200" y="1981200"/>
            <a:ext cx="8229600" cy="3886200"/>
          </a:xfrm>
          <a:prstGeom prst="rect">
            <a:avLst/>
          </a:prstGeom>
          <a:noFill/>
        </p:spPr>
        <p:txBody>
          <a:bodyPr lIns="91440" tIns="45720" rIns="91440" bIns="45720"/>
          <a:lstStyle/>
          <a:p>
            <a:pPr marL="342900" lvl="0" indent="-342900">
              <a:spcBef>
                <a:spcPct val="20000"/>
              </a:spcBef>
              <a:buClr>
                <a:srgbClr val="00007D"/>
              </a:buClr>
              <a:buSzPct val="75000"/>
              <a:buFont typeface="Wingdings" panose="05000000000000000000" pitchFamily="2" charset="2"/>
              <a:buChar char="n"/>
            </a:pPr>
            <a:r>
              <a:rPr lang="zh-CN"/>
              <a:t>单击此处编辑母版文本样式</a:t>
            </a:r>
            <a:endParaRPr lang="zh-CN"/>
          </a:p>
          <a:p>
            <a:pPr marL="742950" lvl="1" indent="-285750">
              <a:spcBef>
                <a:spcPct val="20000"/>
              </a:spcBef>
              <a:buClr>
                <a:srgbClr val="9999CC"/>
              </a:buClr>
              <a:buSzPct val="80000"/>
              <a:buChar char="¨"/>
            </a:pPr>
            <a:r>
              <a:rPr lang="zh-CN"/>
              <a:t>第二级</a:t>
            </a:r>
            <a:endParaRPr lang="zh-CN"/>
          </a:p>
          <a:p>
            <a:pPr marL="1143000" lvl="2" indent="-228600">
              <a:spcBef>
                <a:spcPct val="20000"/>
              </a:spcBef>
              <a:buClr>
                <a:srgbClr val="00007D"/>
              </a:buClr>
              <a:buSzPct val="65000"/>
              <a:buChar char="n"/>
            </a:pPr>
            <a:r>
              <a:rPr lang="zh-CN"/>
              <a:t>第三级</a:t>
            </a:r>
            <a:endParaRPr lang="zh-CN"/>
          </a:p>
          <a:p>
            <a:pPr marL="1600200" lvl="3" indent="-228600">
              <a:spcBef>
                <a:spcPct val="20000"/>
              </a:spcBef>
              <a:buClr>
                <a:srgbClr val="9999CC"/>
              </a:buClr>
              <a:buSzPct val="70000"/>
              <a:buChar char="¨"/>
            </a:pPr>
            <a:r>
              <a:rPr lang="zh-CN"/>
              <a:t>第四级</a:t>
            </a:r>
            <a:endParaRPr lang="zh-CN"/>
          </a:p>
          <a:p>
            <a:pPr marL="2057400" lvl="4" indent="-228600">
              <a:spcBef>
                <a:spcPct val="20000"/>
              </a:spcBef>
              <a:buClr>
                <a:srgbClr val="00007D"/>
              </a:buClr>
              <a:buSzPct val="70000"/>
              <a:buChar char="§"/>
            </a:pPr>
            <a:r>
              <a:rPr lang="zh-CN"/>
              <a:t>第五级</a:t>
            </a:r>
            <a:endParaRPr lang="zh-CN"/>
          </a:p>
        </p:txBody>
      </p:sp>
      <p:sp>
        <p:nvSpPr>
          <p:cNvPr id="24" name="Rectangle 16"/>
          <p:cNvSpPr>
            <a:spLocks noGrp="1" noChangeShapeType="1"/>
          </p:cNvSpPr>
          <p:nvPr>
            <p:ph type="dt" idx="2"/>
          </p:nvPr>
        </p:nvSpPr>
        <p:spPr>
          <a:xfrm>
            <a:off x="457200" y="6248400"/>
            <a:ext cx="2133600" cy="457200"/>
          </a:xfrm>
          <a:prstGeom prst="rect">
            <a:avLst/>
          </a:prstGeom>
          <a:noFill/>
        </p:spPr>
        <p:txBody>
          <a:bodyPr lIns="91440" tIns="45720" rIns="91440" bIns="45720" anchor="b"/>
          <a:lstStyle/>
          <a:p>
            <a:endParaRPr sz="1400" dirty="0"/>
          </a:p>
        </p:txBody>
      </p:sp>
      <p:sp>
        <p:nvSpPr>
          <p:cNvPr id="25" name="Rectangle 17"/>
          <p:cNvSpPr>
            <a:spLocks noGrp="1" noChangeShapeType="1"/>
          </p:cNvSpPr>
          <p:nvPr>
            <p:ph type="ftr" idx="3"/>
          </p:nvPr>
        </p:nvSpPr>
        <p:spPr>
          <a:xfrm>
            <a:off x="3124200" y="6248400"/>
            <a:ext cx="2895600" cy="457200"/>
          </a:xfrm>
          <a:prstGeom prst="rect">
            <a:avLst/>
          </a:prstGeom>
          <a:noFill/>
        </p:spPr>
        <p:txBody>
          <a:bodyPr lIns="91440" tIns="45720" rIns="91440" bIns="45720" anchor="b"/>
          <a:lstStyle/>
          <a:p>
            <a:endParaRPr sz="1400" dirty="0"/>
          </a:p>
        </p:txBody>
      </p:sp>
      <p:sp>
        <p:nvSpPr>
          <p:cNvPr id="26" name="Rectangle 18"/>
          <p:cNvSpPr>
            <a:spLocks noGrp="1" noChangeShapeType="1"/>
          </p:cNvSpPr>
          <p:nvPr>
            <p:ph type="sldNum" idx="4"/>
          </p:nvPr>
        </p:nvSpPr>
        <p:spPr>
          <a:xfrm>
            <a:off x="6553200" y="6248400"/>
            <a:ext cx="2133600" cy="457200"/>
          </a:xfrm>
          <a:prstGeom prst="rect">
            <a:avLst/>
          </a:prstGeom>
          <a:noFill/>
        </p:spPr>
        <p:txBody>
          <a:bodyPr lIns="91440" tIns="45720" rIns="91440" bIns="45720" anchor="b"/>
          <a:lstStyle/>
          <a:p>
            <a:pPr marL="0" lvl="0" indent="0" algn="r" hangingPunct="1">
              <a:spcBef>
                <a:spcPts val="0"/>
              </a:spcBef>
              <a:buNone/>
            </a:pPr>
            <a:fld id="{D038279B-FC19-497E-A7D1-5ADD9CAF016F}" type="slidenum">
              <a:rPr lang="zh-CN" sz="1200">
                <a:latin typeface="Arial Black" pitchFamily="34"/>
              </a:rPr>
            </a:fld>
            <a:endParaRPr lang="zh-CN" sz="1200">
              <a:latin typeface="Arial Black" pitchFamily="3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Slide">
    <p:spTree>
      <p:nvGrpSpPr>
        <p:cNvPr id="27"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a:spLocks noGrp="1" noChangeShapeType="1"/>
          </p:cNvSpPr>
          <p:nvPr>
            <p:ph type="ftr" idx="3"/>
          </p:nvPr>
        </p:nvSpPr>
        <p:spPr>
          <a:xfrm>
            <a:off x="3124200" y="6248400"/>
            <a:ext cx="2895600" cy="457200"/>
          </a:xfrm>
          <a:prstGeom prst="rect">
            <a:avLst/>
          </a:prstGeom>
          <a:noFill/>
        </p:spPr>
        <p:txBody>
          <a:bodyPr lIns="91440" tIns="45720" rIns="91440" bIns="45720" anchor="b"/>
          <a:lstStyle/>
          <a:p>
            <a:endParaRPr sz="1400" dirty="0"/>
          </a:p>
        </p:txBody>
      </p:sp>
      <p:sp>
        <p:nvSpPr>
          <p:cNvPr id="3" name="Rectangle 3"/>
          <p:cNvSpPr>
            <a:spLocks noGrp="1" noChangeShapeType="1"/>
          </p:cNvSpPr>
          <p:nvPr>
            <p:ph type="sldNum" idx="4"/>
          </p:nvPr>
        </p:nvSpPr>
        <p:spPr>
          <a:xfrm>
            <a:off x="6553200" y="6248400"/>
            <a:ext cx="2133600" cy="457200"/>
          </a:xfrm>
          <a:prstGeom prst="rect">
            <a:avLst/>
          </a:prstGeom>
          <a:noFill/>
        </p:spPr>
        <p:txBody>
          <a:bodyPr lIns="91440" tIns="45720" rIns="91440" bIns="45720" anchor="b"/>
          <a:lstStyle>
            <a:lvl1pPr marL="0" indent="0" algn="l" defTabSz="914400" rtl="0" fontAlgn="base" hangingPunct="1">
              <a:lnSpc>
                <a:spcPct val="100000"/>
              </a:lnSpc>
              <a:spcBef>
                <a:spcPts val="0"/>
              </a:spcBef>
              <a:spcAft>
                <a:spcPts val="0"/>
              </a:spcAft>
              <a:buNone/>
              <a:defRPr sz="1800" b="0" i="0">
                <a:solidFill>
                  <a:schemeClr val="dk1"/>
                </a:solidFill>
                <a:latin typeface="Arial"/>
                <a:ea typeface="宋体"/>
              </a:defRPr>
            </a:lvl1pPr>
            <a:lvl2pPr marL="457200" indent="457200" algn="l" defTabSz="914400" rtl="0" fontAlgn="base" hangingPunct="1">
              <a:lnSpc>
                <a:spcPct val="100000"/>
              </a:lnSpc>
              <a:spcBef>
                <a:spcPts val="0"/>
              </a:spcBef>
              <a:spcAft>
                <a:spcPts val="0"/>
              </a:spcAft>
              <a:buNone/>
              <a:defRPr sz="1800" b="0" i="0">
                <a:solidFill>
                  <a:schemeClr val="dk1"/>
                </a:solidFill>
                <a:latin typeface="Arial"/>
                <a:ea typeface="宋体"/>
              </a:defRPr>
            </a:lvl2pPr>
            <a:lvl3pPr marL="914400" indent="914400" algn="l" defTabSz="914400" rtl="0" fontAlgn="base" hangingPunct="1">
              <a:lnSpc>
                <a:spcPct val="100000"/>
              </a:lnSpc>
              <a:spcBef>
                <a:spcPts val="0"/>
              </a:spcBef>
              <a:spcAft>
                <a:spcPts val="0"/>
              </a:spcAft>
              <a:buNone/>
              <a:defRPr sz="1800" b="0" i="0">
                <a:solidFill>
                  <a:schemeClr val="dk1"/>
                </a:solidFill>
                <a:latin typeface="Arial"/>
                <a:ea typeface="宋体"/>
              </a:defRPr>
            </a:lvl3pPr>
            <a:lvl4pPr marL="1371600" indent="1371600" algn="l" defTabSz="914400" rtl="0" fontAlgn="base" hangingPunct="1">
              <a:lnSpc>
                <a:spcPct val="100000"/>
              </a:lnSpc>
              <a:spcBef>
                <a:spcPts val="0"/>
              </a:spcBef>
              <a:spcAft>
                <a:spcPts val="0"/>
              </a:spcAft>
              <a:buNone/>
              <a:defRPr sz="1800" b="0" i="0">
                <a:solidFill>
                  <a:schemeClr val="dk1"/>
                </a:solidFill>
                <a:latin typeface="Arial"/>
                <a:ea typeface="宋体"/>
              </a:defRPr>
            </a:lvl4pPr>
            <a:lvl5pPr marL="1828800" indent="1828800" algn="l" defTabSz="914400" rtl="0" fontAlgn="base" hangingPunct="1">
              <a:lnSpc>
                <a:spcPct val="100000"/>
              </a:lnSpc>
              <a:spcBef>
                <a:spcPts val="0"/>
              </a:spcBef>
              <a:spcAft>
                <a:spcPts val="0"/>
              </a:spcAft>
              <a:buNone/>
              <a:defRPr sz="1800" b="0" i="0">
                <a:solidFill>
                  <a:schemeClr val="dk1"/>
                </a:solidFill>
                <a:latin typeface="Arial"/>
                <a:ea typeface="宋体"/>
              </a:defRPr>
            </a:lvl5pPr>
          </a:lstStyle>
          <a:p>
            <a:pPr marL="0" lvl="0" indent="0" algn="r" hangingPunct="1">
              <a:spcBef>
                <a:spcPts val="0"/>
              </a:spcBef>
              <a:buNone/>
            </a:pPr>
            <a:fld id="{D038279B-FC19-497E-A7D1-5ADD9CAF016F}" type="slidenum">
              <a:rPr lang="zh-CN" sz="1200">
                <a:latin typeface="Arial Black" pitchFamily="34"/>
              </a:rPr>
            </a:fld>
            <a:endParaRPr lang="zh-CN" sz="1200">
              <a:latin typeface="Arial Black" pitchFamily="34"/>
            </a:endParaRPr>
          </a:p>
        </p:txBody>
      </p:sp>
      <p:grpSp>
        <p:nvGrpSpPr>
          <p:cNvPr id="4" name="Group 4"/>
          <p:cNvGrpSpPr/>
          <p:nvPr/>
        </p:nvGrpSpPr>
        <p:grpSpPr>
          <a:xfrm>
            <a:off x="0" y="0"/>
            <a:ext cx="9144000" cy="546100"/>
            <a:chOff x="0" y="0"/>
            <a:chExt cx="5760" cy="344"/>
          </a:xfrm>
        </p:grpSpPr>
        <p:sp>
          <p:nvSpPr>
            <p:cNvPr id="5" name="Rectangle 5"/>
            <p:cNvSpPr>
              <a:spLocks noChangeShapeType="1"/>
            </p:cNvSpPr>
            <p:nvPr/>
          </p:nvSpPr>
          <p:spPr>
            <a:xfrm>
              <a:off x="0" y="0"/>
              <a:ext cx="180" cy="336"/>
            </a:xfrm>
            <a:prstGeom prst="rect">
              <a:avLst/>
            </a:prstGeom>
            <a:gradFill>
              <a:gsLst>
                <a:gs pos="0">
                  <a:schemeClr val="folHlink"/>
                </a:gs>
                <a:gs pos="100000">
                  <a:schemeClr val="lt1"/>
                </a:gs>
              </a:gsLst>
              <a:lin ang="0" scaled="1"/>
            </a:gradFill>
          </p:spPr>
          <p:txBody>
            <a:bodyPr wrap="none" anchor="ctr" anchorCtr="0"/>
            <a:lstStyle/>
            <a:p>
              <a:endParaRPr sz="1400" dirty="0"/>
            </a:p>
          </p:txBody>
        </p:sp>
        <p:sp>
          <p:nvSpPr>
            <p:cNvPr id="6" name="Rectangle 6"/>
            <p:cNvSpPr>
              <a:spLocks noChangeShapeType="1"/>
            </p:cNvSpPr>
            <p:nvPr/>
          </p:nvSpPr>
          <p:spPr>
            <a:xfrm>
              <a:off x="260" y="85"/>
              <a:ext cx="5500" cy="173"/>
            </a:xfrm>
            <a:prstGeom prst="rect">
              <a:avLst/>
            </a:prstGeom>
            <a:gradFill>
              <a:gsLst>
                <a:gs pos="0">
                  <a:schemeClr val="lt2"/>
                </a:gs>
                <a:gs pos="100000">
                  <a:schemeClr val="lt1"/>
                </a:gs>
              </a:gsLst>
              <a:lin ang="0" scaled="1"/>
            </a:gradFill>
          </p:spPr>
          <p:txBody>
            <a:bodyPr lIns="91440" tIns="45720" rIns="91440" bIns="45720"/>
            <a:lstStyle/>
            <a:p>
              <a:endParaRPr sz="1400" dirty="0"/>
            </a:p>
          </p:txBody>
        </p:sp>
        <p:sp>
          <p:nvSpPr>
            <p:cNvPr id="7" name="Rectangle 7"/>
            <p:cNvSpPr>
              <a:spLocks noChangeShapeType="1"/>
            </p:cNvSpPr>
            <p:nvPr/>
          </p:nvSpPr>
          <p:spPr>
            <a:xfrm>
              <a:off x="258" y="85"/>
              <a:ext cx="87" cy="89"/>
            </a:xfrm>
            <a:prstGeom prst="rect">
              <a:avLst/>
            </a:prstGeom>
            <a:solidFill>
              <a:schemeClr val="folHlink"/>
            </a:solidFill>
          </p:spPr>
          <p:txBody>
            <a:bodyPr lIns="91440" tIns="45720" rIns="91440" bIns="45720"/>
            <a:lstStyle/>
            <a:p>
              <a:endParaRPr sz="1400" dirty="0"/>
            </a:p>
          </p:txBody>
        </p:sp>
        <p:sp>
          <p:nvSpPr>
            <p:cNvPr id="8" name="Rectangle 8"/>
            <p:cNvSpPr>
              <a:spLocks noChangeShapeType="1"/>
            </p:cNvSpPr>
            <p:nvPr/>
          </p:nvSpPr>
          <p:spPr>
            <a:xfrm>
              <a:off x="345" y="0"/>
              <a:ext cx="88" cy="87"/>
            </a:xfrm>
            <a:prstGeom prst="rect">
              <a:avLst/>
            </a:prstGeom>
            <a:solidFill>
              <a:schemeClr val="folHlink"/>
            </a:solidFill>
          </p:spPr>
          <p:txBody>
            <a:bodyPr lIns="91440" tIns="45720" rIns="91440" bIns="45720"/>
            <a:lstStyle/>
            <a:p>
              <a:endParaRPr sz="1400" dirty="0"/>
            </a:p>
          </p:txBody>
        </p:sp>
        <p:sp>
          <p:nvSpPr>
            <p:cNvPr id="9" name="Rectangle 9"/>
            <p:cNvSpPr>
              <a:spLocks noChangeShapeType="1"/>
            </p:cNvSpPr>
            <p:nvPr/>
          </p:nvSpPr>
          <p:spPr>
            <a:xfrm>
              <a:off x="345" y="85"/>
              <a:ext cx="88" cy="89"/>
            </a:xfrm>
            <a:prstGeom prst="rect">
              <a:avLst/>
            </a:prstGeom>
            <a:solidFill>
              <a:schemeClr val="accent2"/>
            </a:solidFill>
          </p:spPr>
          <p:txBody>
            <a:bodyPr lIns="91440" tIns="45720" rIns="91440" bIns="45720"/>
            <a:lstStyle/>
            <a:p>
              <a:endParaRPr sz="1400" dirty="0"/>
            </a:p>
          </p:txBody>
        </p:sp>
        <p:sp>
          <p:nvSpPr>
            <p:cNvPr id="10" name="Rectangle 10"/>
            <p:cNvSpPr>
              <a:spLocks noChangeShapeType="1"/>
            </p:cNvSpPr>
            <p:nvPr/>
          </p:nvSpPr>
          <p:spPr>
            <a:xfrm>
              <a:off x="173" y="173"/>
              <a:ext cx="86" cy="87"/>
            </a:xfrm>
            <a:prstGeom prst="rect">
              <a:avLst/>
            </a:prstGeom>
            <a:solidFill>
              <a:schemeClr val="folHlink"/>
            </a:solidFill>
          </p:spPr>
          <p:txBody>
            <a:bodyPr lIns="91440" tIns="45720" rIns="91440" bIns="45720"/>
            <a:lstStyle/>
            <a:p>
              <a:endParaRPr sz="1400" dirty="0"/>
            </a:p>
          </p:txBody>
        </p:sp>
        <p:sp>
          <p:nvSpPr>
            <p:cNvPr id="11" name="Rectangle 11"/>
            <p:cNvSpPr>
              <a:spLocks noChangeShapeType="1"/>
            </p:cNvSpPr>
            <p:nvPr/>
          </p:nvSpPr>
          <p:spPr>
            <a:xfrm>
              <a:off x="83" y="86"/>
              <a:ext cx="89" cy="87"/>
            </a:xfrm>
            <a:prstGeom prst="rect">
              <a:avLst/>
            </a:prstGeom>
            <a:solidFill>
              <a:schemeClr val="lt2"/>
            </a:solidFill>
          </p:spPr>
          <p:txBody>
            <a:bodyPr lIns="91440" tIns="45720" rIns="91440" bIns="45720"/>
            <a:lstStyle/>
            <a:p>
              <a:endParaRPr sz="1400" dirty="0"/>
            </a:p>
          </p:txBody>
        </p:sp>
        <p:sp>
          <p:nvSpPr>
            <p:cNvPr id="12" name="Rectangle 12"/>
            <p:cNvSpPr>
              <a:spLocks noChangeShapeType="1"/>
            </p:cNvSpPr>
            <p:nvPr/>
          </p:nvSpPr>
          <p:spPr>
            <a:xfrm>
              <a:off x="258" y="171"/>
              <a:ext cx="87" cy="87"/>
            </a:xfrm>
            <a:prstGeom prst="rect">
              <a:avLst/>
            </a:prstGeom>
            <a:solidFill>
              <a:schemeClr val="accent2"/>
            </a:solidFill>
          </p:spPr>
          <p:txBody>
            <a:bodyPr lIns="91440" tIns="45720" rIns="91440" bIns="45720"/>
            <a:lstStyle/>
            <a:p>
              <a:endParaRPr sz="1400" dirty="0"/>
            </a:p>
          </p:txBody>
        </p:sp>
        <p:sp>
          <p:nvSpPr>
            <p:cNvPr id="13" name="Rectangle 13"/>
            <p:cNvSpPr>
              <a:spLocks noChangeShapeType="1"/>
            </p:cNvSpPr>
            <p:nvPr/>
          </p:nvSpPr>
          <p:spPr>
            <a:xfrm>
              <a:off x="173" y="258"/>
              <a:ext cx="86" cy="86"/>
            </a:xfrm>
            <a:prstGeom prst="rect">
              <a:avLst/>
            </a:prstGeom>
            <a:solidFill>
              <a:schemeClr val="accent2"/>
            </a:solidFill>
          </p:spPr>
          <p:txBody>
            <a:bodyPr lIns="91440" tIns="45720" rIns="91440" bIns="45720"/>
            <a:lstStyle/>
            <a:p>
              <a:endParaRPr sz="1400" dirty="0"/>
            </a:p>
          </p:txBody>
        </p:sp>
      </p:grpSp>
      <p:sp>
        <p:nvSpPr>
          <p:cNvPr id="14" name="Rectangle 14"/>
          <p:cNvSpPr>
            <a:spLocks noGrp="1" noChangeShapeType="1"/>
          </p:cNvSpPr>
          <p:nvPr>
            <p:ph type="title"/>
          </p:nvPr>
        </p:nvSpPr>
        <p:spPr>
          <a:xfrm>
            <a:off x="457200" y="457200"/>
            <a:ext cx="8229600" cy="1371600"/>
          </a:xfrm>
          <a:prstGeom prst="rect">
            <a:avLst/>
          </a:prstGeom>
          <a:noFill/>
        </p:spPr>
        <p:txBody>
          <a:bodyPr lIns="91440" tIns="45720" rIns="91440" bIns="45720" anchor="ctr" anchorCtr="0"/>
          <a:lstStyle/>
          <a:p>
            <a:pPr marL="0" lvl="0" indent="0">
              <a:spcBef>
                <a:spcPts val="0"/>
              </a:spcBef>
              <a:buNone/>
            </a:pPr>
            <a:r>
              <a:rPr lang="zh-CN"/>
              <a:t>单击此处编辑母版标题样式</a:t>
            </a:r>
            <a:endParaRPr lang="zh-CN"/>
          </a:p>
        </p:txBody>
      </p:sp>
      <p:sp>
        <p:nvSpPr>
          <p:cNvPr id="15" name="Rectangle 15"/>
          <p:cNvSpPr>
            <a:spLocks noGrp="1" noChangeShapeType="1"/>
          </p:cNvSpPr>
          <p:nvPr>
            <p:ph type="body" idx="1"/>
          </p:nvPr>
        </p:nvSpPr>
        <p:spPr>
          <a:xfrm>
            <a:off x="457200" y="1981200"/>
            <a:ext cx="8229600" cy="3886200"/>
          </a:xfrm>
          <a:prstGeom prst="rect">
            <a:avLst/>
          </a:prstGeom>
          <a:noFill/>
        </p:spPr>
        <p:txBody>
          <a:bodyPr lIns="91440" tIns="45720" rIns="91440" bIns="45720"/>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a:spcBef>
                <a:spcPct val="20000"/>
              </a:spcBef>
              <a:buClr>
                <a:srgbClr val="00007D"/>
              </a:buClr>
              <a:buSzPct val="75000"/>
              <a:buFont typeface="Wingdings" panose="05000000000000000000" pitchFamily="2" charset="2"/>
              <a:buChar char="n"/>
            </a:pPr>
            <a:r>
              <a:rPr lang="zh-CN"/>
              <a:t>单击此处编辑母版文本样式</a:t>
            </a:r>
            <a:endParaRPr lang="zh-CN"/>
          </a:p>
          <a:p>
            <a:pPr marL="742950" lvl="1" indent="-285750">
              <a:spcBef>
                <a:spcPct val="20000"/>
              </a:spcBef>
              <a:buClr>
                <a:srgbClr val="9999CC"/>
              </a:buClr>
              <a:buSzPct val="80000"/>
              <a:buChar char="¨"/>
            </a:pPr>
            <a:r>
              <a:rPr lang="zh-CN"/>
              <a:t>第二级</a:t>
            </a:r>
            <a:endParaRPr lang="zh-CN"/>
          </a:p>
          <a:p>
            <a:pPr marL="1143000" lvl="2" indent="-228600">
              <a:spcBef>
                <a:spcPct val="20000"/>
              </a:spcBef>
              <a:buClr>
                <a:srgbClr val="00007D"/>
              </a:buClr>
              <a:buSzPct val="65000"/>
              <a:buChar char="n"/>
            </a:pPr>
            <a:r>
              <a:rPr lang="zh-CN"/>
              <a:t>第三级</a:t>
            </a:r>
            <a:endParaRPr lang="zh-CN"/>
          </a:p>
          <a:p>
            <a:pPr marL="1600200" lvl="3" indent="-228600">
              <a:spcBef>
                <a:spcPct val="20000"/>
              </a:spcBef>
              <a:buClr>
                <a:srgbClr val="9999CC"/>
              </a:buClr>
              <a:buSzPct val="70000"/>
              <a:buChar char="¨"/>
            </a:pPr>
            <a:r>
              <a:rPr lang="zh-CN"/>
              <a:t>第四级</a:t>
            </a:r>
            <a:endParaRPr lang="zh-CN"/>
          </a:p>
          <a:p>
            <a:pPr marL="2057400" lvl="4" indent="-228600">
              <a:spcBef>
                <a:spcPct val="20000"/>
              </a:spcBef>
              <a:buClr>
                <a:srgbClr val="00007D"/>
              </a:buClr>
              <a:buSzPct val="70000"/>
              <a:buChar char="§"/>
            </a:pPr>
            <a:r>
              <a:rPr lang="zh-CN"/>
              <a:t>第五级</a:t>
            </a:r>
            <a:endParaRPr lang="zh-CN"/>
          </a:p>
        </p:txBody>
      </p:sp>
      <p:sp>
        <p:nvSpPr>
          <p:cNvPr id="16" name="Rectangle 16"/>
          <p:cNvSpPr>
            <a:spLocks noGrp="1" noChangeShapeType="1"/>
          </p:cNvSpPr>
          <p:nvPr>
            <p:ph type="dt" idx="2"/>
          </p:nvPr>
        </p:nvSpPr>
        <p:spPr>
          <a:xfrm>
            <a:off x="457200" y="6245225"/>
            <a:ext cx="2133600" cy="476250"/>
          </a:xfrm>
          <a:prstGeom prst="rect">
            <a:avLst/>
          </a:prstGeom>
          <a:noFill/>
        </p:spPr>
        <p:txBody>
          <a:bodyPr lIns="91440" tIns="45720" rIns="91440" bIns="45720" anchor="b"/>
          <a:lstStyle/>
          <a:p>
            <a:endParaRPr sz="14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marL="0" indent="0" algn="l" defTabSz="914400" rtl="0" fontAlgn="base">
        <a:lnSpc>
          <a:spcPct val="100000"/>
        </a:lnSpc>
        <a:spcBef>
          <a:spcPts val="0"/>
        </a:spcBef>
        <a:spcAft>
          <a:spcPts val="0"/>
        </a:spcAft>
        <a:buNone/>
        <a:defRPr lang="en-US" sz="4400" b="0" i="0">
          <a:solidFill>
            <a:schemeClr val="dk1"/>
          </a:solidFill>
          <a:latin typeface="Arial"/>
          <a:ea typeface="宋体"/>
        </a:defRPr>
      </a:lvl1pPr>
      <a:lvl2pPr marL="0" indent="0" algn="l" defTabSz="914400" rtl="0" fontAlgn="base">
        <a:lnSpc>
          <a:spcPct val="100000"/>
        </a:lnSpc>
        <a:spcBef>
          <a:spcPts val="0"/>
        </a:spcBef>
        <a:spcAft>
          <a:spcPts val="0"/>
        </a:spcAft>
        <a:buNone/>
        <a:defRPr lang="en-US" sz="4400" b="0" i="0">
          <a:solidFill>
            <a:schemeClr val="dk1"/>
          </a:solidFill>
          <a:latin typeface="Arial"/>
          <a:ea typeface="宋体"/>
        </a:defRPr>
      </a:lvl2pPr>
      <a:lvl3pPr marL="0" indent="0" algn="l" defTabSz="914400" rtl="0" fontAlgn="base">
        <a:lnSpc>
          <a:spcPct val="100000"/>
        </a:lnSpc>
        <a:spcBef>
          <a:spcPts val="0"/>
        </a:spcBef>
        <a:spcAft>
          <a:spcPts val="0"/>
        </a:spcAft>
        <a:buNone/>
        <a:defRPr lang="en-US" sz="4400" b="0" i="0">
          <a:solidFill>
            <a:schemeClr val="dk1"/>
          </a:solidFill>
          <a:latin typeface="Arial"/>
          <a:ea typeface="宋体"/>
        </a:defRPr>
      </a:lvl3pPr>
      <a:lvl4pPr marL="0" indent="0" algn="l" defTabSz="914400" rtl="0" fontAlgn="base">
        <a:lnSpc>
          <a:spcPct val="100000"/>
        </a:lnSpc>
        <a:spcBef>
          <a:spcPts val="0"/>
        </a:spcBef>
        <a:spcAft>
          <a:spcPts val="0"/>
        </a:spcAft>
        <a:buNone/>
        <a:defRPr lang="en-US" sz="4400" b="0" i="0">
          <a:solidFill>
            <a:schemeClr val="dk1"/>
          </a:solidFill>
          <a:latin typeface="Arial"/>
          <a:ea typeface="宋体"/>
        </a:defRPr>
      </a:lvl4pPr>
      <a:lvl5pPr marL="0" indent="0" algn="l" defTabSz="914400" rtl="0" fontAlgn="base">
        <a:lnSpc>
          <a:spcPct val="100000"/>
        </a:lnSpc>
        <a:spcBef>
          <a:spcPts val="0"/>
        </a:spcBef>
        <a:spcAft>
          <a:spcPts val="0"/>
        </a:spcAft>
        <a:buNone/>
        <a:defRPr lang="en-US" sz="4400" b="0" i="0">
          <a:solidFill>
            <a:schemeClr val="dk1"/>
          </a:solidFill>
          <a:latin typeface="Arial"/>
          <a:ea typeface="宋体"/>
        </a:defRPr>
      </a:lvl5pPr>
      <a:lvl6pPr>
        <a:defRPr lang="en-US" sz="1800"/>
      </a:lvl6pPr>
      <a:lvl7pPr>
        <a:defRPr lang="en-US" sz="1800"/>
      </a:lvl7pPr>
      <a:lvl8pPr>
        <a:defRPr lang="en-US" sz="1800"/>
      </a:lvl8pPr>
      <a:lvl9pPr>
        <a:defRPr lang="en-US" sz="1800"/>
      </a:lvl9pPr>
    </p:titleStyle>
    <p:bodyStyle>
      <a:lvl1pPr marL="342900" indent="0" algn="l" defTabSz="914400" rtl="0" fontAlgn="base">
        <a:lnSpc>
          <a:spcPct val="100000"/>
        </a:lnSpc>
        <a:spcBef>
          <a:spcPct val="20000"/>
        </a:spcBef>
        <a:spcAft>
          <a:spcPts val="0"/>
        </a:spcAft>
        <a:buClr>
          <a:srgbClr val="00007D"/>
        </a:buClr>
        <a:buSzPct val="75000"/>
        <a:buFont typeface="Wingdings" panose="05000000000000000000" pitchFamily="2" charset="2"/>
        <a:buChar char="n"/>
        <a:defRPr lang="en-US"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lang="en-US"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lang="en-US"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lang="en-US"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lang="en-US" sz="2000" b="0" i="0">
          <a:solidFill>
            <a:schemeClr val="dk1"/>
          </a:solidFill>
          <a:latin typeface="Arial"/>
          <a:ea typeface="宋体"/>
        </a:defRPr>
      </a:lvl5pPr>
      <a:lvl6pPr>
        <a:defRPr lang="en-US" sz="1800"/>
      </a:lvl6pPr>
      <a:lvl7pPr>
        <a:defRPr lang="en-US" sz="1800"/>
      </a:lvl7pPr>
      <a:lvl8pPr>
        <a:defRPr lang="en-US" sz="1800"/>
      </a:lvl8pPr>
      <a:lvl9pPr>
        <a:defRPr lang="en-US" sz="1800"/>
      </a:lvl9pPr>
    </p:bodyStyle>
    <p:otherStyle>
      <a:lvl1pPr marL="0" indent="0" algn="l" defTabSz="914400" rtl="0" fontAlgn="base">
        <a:lnSpc>
          <a:spcPct val="100000"/>
        </a:lnSpc>
        <a:spcBef>
          <a:spcPts val="0"/>
        </a:spcBef>
        <a:spcAft>
          <a:spcPts val="0"/>
        </a:spcAft>
        <a:buNone/>
        <a:defRPr lang="en-US" sz="1800" b="0" i="0">
          <a:solidFill>
            <a:schemeClr val="dk1"/>
          </a:solidFill>
          <a:latin typeface="Arial"/>
          <a:ea typeface="宋体"/>
        </a:defRPr>
      </a:lvl1pPr>
      <a:lvl2pPr marL="457200" indent="457200" algn="l" defTabSz="914400" rtl="0" fontAlgn="base">
        <a:lnSpc>
          <a:spcPct val="100000"/>
        </a:lnSpc>
        <a:spcBef>
          <a:spcPts val="0"/>
        </a:spcBef>
        <a:spcAft>
          <a:spcPts val="0"/>
        </a:spcAft>
        <a:buNone/>
        <a:defRPr lang="en-US" sz="1800" b="0" i="0">
          <a:solidFill>
            <a:schemeClr val="dk1"/>
          </a:solidFill>
          <a:latin typeface="Arial"/>
          <a:ea typeface="宋体"/>
        </a:defRPr>
      </a:lvl2pPr>
      <a:lvl3pPr marL="914400" indent="914400" algn="l" defTabSz="914400" rtl="0" fontAlgn="base">
        <a:lnSpc>
          <a:spcPct val="100000"/>
        </a:lnSpc>
        <a:spcBef>
          <a:spcPts val="0"/>
        </a:spcBef>
        <a:spcAft>
          <a:spcPts val="0"/>
        </a:spcAft>
        <a:buNone/>
        <a:defRPr lang="en-US" sz="1800" b="0" i="0">
          <a:solidFill>
            <a:schemeClr val="dk1"/>
          </a:solidFill>
          <a:latin typeface="Arial"/>
          <a:ea typeface="宋体"/>
        </a:defRPr>
      </a:lvl3pPr>
      <a:lvl4pPr marL="1371600" indent="1371600" algn="l" defTabSz="914400" rtl="0" fontAlgn="base">
        <a:lnSpc>
          <a:spcPct val="100000"/>
        </a:lnSpc>
        <a:spcBef>
          <a:spcPts val="0"/>
        </a:spcBef>
        <a:spcAft>
          <a:spcPts val="0"/>
        </a:spcAft>
        <a:buNone/>
        <a:defRPr lang="en-US" sz="1800" b="0" i="0">
          <a:solidFill>
            <a:schemeClr val="dk1"/>
          </a:solidFill>
          <a:latin typeface="Arial"/>
          <a:ea typeface="宋体"/>
        </a:defRPr>
      </a:lvl4pPr>
      <a:lvl5pPr marL="1828800" indent="1828800" algn="l" defTabSz="914400" rtl="0" fontAlgn="base">
        <a:lnSpc>
          <a:spcPct val="100000"/>
        </a:lnSpc>
        <a:spcBef>
          <a:spcPts val="0"/>
        </a:spcBef>
        <a:spcAft>
          <a:spcPts val="0"/>
        </a:spcAft>
        <a:buNone/>
        <a:defRPr lang="en-US" sz="1800" b="0" i="0">
          <a:solidFill>
            <a:schemeClr val="dk1"/>
          </a:solidFill>
          <a:latin typeface="Arial"/>
          <a:ea typeface="宋体"/>
        </a:defRPr>
      </a:lvl5pPr>
      <a:lvl6pPr>
        <a:defRPr lang="en-US" sz="1800"/>
      </a:lvl6pPr>
      <a:lvl7pPr>
        <a:defRPr lang="en-US" sz="1800"/>
      </a:lvl7pPr>
      <a:lvl8pPr>
        <a:defRPr lang="en-US" sz="1800"/>
      </a:lvl8pPr>
      <a:lvl9pPr>
        <a:defRPr lang="en-US" sz="1800"/>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9.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ShapeType="1"/>
          </p:cNvSpPr>
          <p:nvPr/>
        </p:nvSpPr>
        <p:spPr>
          <a:xfrm>
            <a:off x="611187" y="549275"/>
            <a:ext cx="3168650" cy="936625"/>
          </a:xfrm>
          <a:prstGeom prst="rect">
            <a:avLst/>
          </a:prstGeom>
          <a:noFill/>
        </p:spPr>
        <p:txBody>
          <a:bodyPr lIns="92075" tIns="46038" rIns="92075" bIns="46038" anchor="ctr" anchorCtr="0"/>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en-US" sz="5800" b="0" i="0" u="none">
                <a:latin typeface="Times New Roman" panose="02020603050405020304"/>
              </a:rPr>
              <a:t>Chapter 2</a:t>
            </a:r>
            <a:endParaRPr lang="en-US" sz="5800" b="0" i="0" u="none">
              <a:latin typeface="Times New Roman" panose="02020603050405020304"/>
            </a:endParaRPr>
          </a:p>
        </p:txBody>
      </p:sp>
      <p:sp>
        <p:nvSpPr>
          <p:cNvPr id="3" name="Rectangle 3"/>
          <p:cNvSpPr>
            <a:spLocks noGrp="1" noChangeShapeType="1"/>
          </p:cNvSpPr>
          <p:nvPr/>
        </p:nvSpPr>
        <p:spPr>
          <a:xfrm>
            <a:off x="4643437" y="3695700"/>
            <a:ext cx="184150" cy="822325"/>
          </a:xfrm>
          <a:prstGeom prst="rect">
            <a:avLst/>
          </a:prstGeom>
          <a:noFill/>
        </p:spPr>
        <p:txBody>
          <a:bodyPr wrap="none">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br>
              <a:rPr lang="en-US" sz="2400" b="0" i="0" u="none">
                <a:latin typeface="Times New Roman" panose="02020603050405020304"/>
              </a:rPr>
            </a:br>
            <a:endParaRPr lang="en-US" sz="2400"/>
          </a:p>
        </p:txBody>
      </p:sp>
      <p:sp>
        <p:nvSpPr>
          <p:cNvPr id="4" name="Rectangle 4"/>
          <p:cNvSpPr>
            <a:spLocks noGrp="1" noChangeShapeType="1"/>
          </p:cNvSpPr>
          <p:nvPr/>
        </p:nvSpPr>
        <p:spPr>
          <a:xfrm>
            <a:off x="2843212" y="2852737"/>
            <a:ext cx="3270250" cy="1525587"/>
          </a:xfrm>
          <a:prstGeom prst="rect">
            <a:avLst/>
          </a:prstGeom>
          <a:noFill/>
        </p:spPr>
        <p:txBody>
          <a:bodyPr wrap="none">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5800" b="0" i="0" u="none">
                <a:latin typeface="Times New Roman" panose="02020603050405020304"/>
                <a:ea typeface="黑体" pitchFamily="49" charset="-122"/>
              </a:rPr>
              <a:t>生物能学</a:t>
            </a:r>
            <a:r>
              <a:rPr lang="zh-CN" sz="4400" b="1" i="0" u="none">
                <a:latin typeface="Times New Roman" panose="02020603050405020304"/>
              </a:rPr>
              <a:t> </a:t>
            </a:r>
            <a:endParaRPr lang="zh-CN" sz="4400" b="1" i="0" u="none">
              <a:latin typeface="Times New Roman" panose="02020603050405020304"/>
            </a:endParaRPr>
          </a:p>
          <a:p>
            <a:pPr marL="0" lvl="0" indent="0" hangingPunct="1">
              <a:spcBef>
                <a:spcPts val="0"/>
              </a:spcBef>
              <a:buNone/>
            </a:pPr>
            <a:r>
              <a:rPr lang="en-US" sz="3600" b="0" i="0" u="none">
                <a:latin typeface="Times New Roman" panose="02020603050405020304"/>
              </a:rPr>
              <a:t> </a:t>
            </a:r>
            <a:endParaRPr lang="en-US" sz="3600" b="0" i="0" u="none">
              <a:latin typeface="Times New Roman" panose="02020603050405020304"/>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55" name="Rectangle 2"/>
          <p:cNvSpPr>
            <a:spLocks noGrp="1" noChangeShapeType="1"/>
          </p:cNvSpPr>
          <p:nvPr>
            <p:ph type="body"/>
          </p:nvPr>
        </p:nvSpPr>
        <p:spPr>
          <a:xfrm>
            <a:off x="539750" y="1412875"/>
            <a:ext cx="8135937" cy="3311525"/>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lnSpc>
                <a:spcPct val="160000"/>
              </a:lnSpc>
              <a:spcBef>
                <a:spcPct val="20000"/>
              </a:spcBef>
              <a:buNone/>
            </a:pPr>
            <a:r>
              <a:rPr lang="en-US" sz="2800" b="1" i="0" u="none">
                <a:latin typeface="黑体" pitchFamily="49" charset="-122"/>
                <a:ea typeface="黑体" pitchFamily="49" charset="-122"/>
              </a:rPr>
              <a:t>一. 重要热力学概念（简单复习，自学为主） </a:t>
            </a:r>
            <a:endParaRPr lang="en-US" sz="2800" b="1" i="0" u="none">
              <a:latin typeface="黑体" pitchFamily="49" charset="-122"/>
              <a:ea typeface="黑体" pitchFamily="49" charset="-122"/>
            </a:endParaRPr>
          </a:p>
          <a:p>
            <a:pPr marL="342900" lvl="0" indent="-342900" hangingPunct="1">
              <a:lnSpc>
                <a:spcPct val="160000"/>
              </a:lnSpc>
              <a:spcBef>
                <a:spcPct val="20000"/>
              </a:spcBef>
              <a:buNone/>
            </a:pPr>
            <a:r>
              <a:rPr lang="en-US" sz="2800" b="1" i="0" u="none">
                <a:latin typeface="黑体" pitchFamily="49" charset="-122"/>
                <a:ea typeface="黑体" pitchFamily="49" charset="-122"/>
              </a:rPr>
              <a:t>二. 生化</a:t>
            </a:r>
            <a:r>
              <a:rPr lang="zh-CN" sz="2800" b="1" i="0" u="none">
                <a:latin typeface="Times New Roman" panose="02020603050405020304"/>
                <a:ea typeface="黑体" pitchFamily="49" charset="-122"/>
              </a:rPr>
              <a:t>反应中的自由能变化、意义、计算</a:t>
            </a:r>
            <a:endParaRPr lang="en-US" sz="2800"/>
          </a:p>
          <a:p>
            <a:pPr marL="342900" lvl="0" indent="-342900" hangingPunct="1">
              <a:lnSpc>
                <a:spcPct val="160000"/>
              </a:lnSpc>
              <a:spcBef>
                <a:spcPct val="60000"/>
              </a:spcBef>
              <a:buNone/>
            </a:pPr>
            <a:r>
              <a:rPr lang="zh-CN" sz="2800" b="1" i="0" u="none">
                <a:latin typeface="黑体" pitchFamily="49" charset="-122"/>
                <a:ea typeface="黑体" pitchFamily="49" charset="-122"/>
              </a:rPr>
              <a:t>三. 高能化合物</a:t>
            </a:r>
            <a:endParaRPr lang="zh-CN" sz="2800" b="1" i="0" u="none">
              <a:latin typeface="黑体" pitchFamily="49" charset="-122"/>
              <a:ea typeface="黑体"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indefinite"/>
                                        <p:tgtEl>
                                          <p:spTgt spid="55">
                                            <p:txEl>
                                              <p:pRg st="23" end="44"/>
                                            </p:txEl>
                                          </p:spTgt>
                                        </p:tgtEl>
                                        <p:attrNameLst>
                                          <p:attrName>style.color</p:attrName>
                                        </p:attrNameLst>
                                      </p:cBhvr>
                                      <p:to>
                                        <a:srgbClr val="AE1E39"/>
                                      </p:to>
                                    </p:animClr>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0" name=""/>
        <p:cNvGrpSpPr/>
        <p:nvPr/>
      </p:nvGrpSpPr>
      <p:grpSpPr>
        <a:xfrm>
          <a:off x="0" y="0"/>
          <a:ext cx="0" cy="0"/>
          <a:chOff x="0" y="0"/>
          <a:chExt cx="0" cy="0"/>
        </a:xfrm>
      </p:grpSpPr>
      <p:sp>
        <p:nvSpPr>
          <p:cNvPr id="101" name="Rectangle 2"/>
          <p:cNvSpPr>
            <a:spLocks noGrp="1" noChangeShapeType="1"/>
          </p:cNvSpPr>
          <p:nvPr>
            <p:ph type="title"/>
          </p:nvPr>
        </p:nvSpPr>
        <p:spPr>
          <a:xfrm>
            <a:off x="0" y="0"/>
            <a:ext cx="7939087" cy="1190625"/>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4000" b="1" i="0" u="none">
                <a:latin typeface="Times New Roman" panose="02020603050405020304"/>
                <a:ea typeface="黑体" pitchFamily="49" charset="-122"/>
              </a:rPr>
              <a:t>1.  重要热力学概念 </a:t>
            </a:r>
            <a:endParaRPr lang="zh-CN" sz="4000" b="1" i="0" u="none">
              <a:latin typeface="Times New Roman" panose="02020603050405020304"/>
              <a:ea typeface="黑体" pitchFamily="49" charset="-122"/>
            </a:endParaRPr>
          </a:p>
        </p:txBody>
      </p:sp>
      <p:sp>
        <p:nvSpPr>
          <p:cNvPr id="102" name="Rectangle 3"/>
          <p:cNvSpPr>
            <a:spLocks noGrp="1" noChangeShapeType="1"/>
          </p:cNvSpPr>
          <p:nvPr>
            <p:ph type="body"/>
          </p:nvPr>
        </p:nvSpPr>
        <p:spPr>
          <a:xfrm>
            <a:off x="1979612" y="2130425"/>
            <a:ext cx="4824412" cy="2592387"/>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spcBef>
                <a:spcPct val="20000"/>
              </a:spcBef>
              <a:buNone/>
            </a:pPr>
            <a:r>
              <a:rPr lang="zh-CN" sz="2800" b="1" i="0" u="none">
                <a:latin typeface="黑体" pitchFamily="49" charset="-122"/>
                <a:ea typeface="黑体" pitchFamily="49" charset="-122"/>
              </a:rPr>
              <a:t>1.1  体系和环境</a:t>
            </a:r>
            <a:endParaRPr lang="zh-CN" sz="2800" b="1" i="0" u="none">
              <a:latin typeface="黑体" pitchFamily="49" charset="-122"/>
              <a:ea typeface="黑体" pitchFamily="49" charset="-122"/>
            </a:endParaRPr>
          </a:p>
          <a:p>
            <a:pPr marL="342900" lvl="0" indent="-342900" hangingPunct="1">
              <a:spcBef>
                <a:spcPct val="20000"/>
              </a:spcBef>
              <a:buNone/>
            </a:pPr>
            <a:r>
              <a:rPr lang="zh-CN" sz="2800" b="1" i="0" u="none">
                <a:latin typeface="黑体" pitchFamily="49" charset="-122"/>
                <a:ea typeface="黑体" pitchFamily="49" charset="-122"/>
              </a:rPr>
              <a:t>1.2  热力学第一定律</a:t>
            </a:r>
            <a:endParaRPr lang="zh-CN" sz="2800" b="1" i="0" u="none">
              <a:latin typeface="黑体" pitchFamily="49" charset="-122"/>
              <a:ea typeface="黑体" pitchFamily="49" charset="-122"/>
            </a:endParaRPr>
          </a:p>
          <a:p>
            <a:pPr marL="342900" lvl="0" indent="-342900" hangingPunct="1">
              <a:spcBef>
                <a:spcPct val="20000"/>
              </a:spcBef>
              <a:buNone/>
            </a:pPr>
            <a:r>
              <a:rPr lang="zh-CN" sz="2800" b="1" i="0" u="none">
                <a:latin typeface="黑体" pitchFamily="49" charset="-122"/>
                <a:ea typeface="黑体" pitchFamily="49" charset="-122"/>
              </a:rPr>
              <a:t>1.3  热力学第二定律</a:t>
            </a:r>
            <a:endParaRPr lang="zh-CN" sz="2800" b="1" i="0" u="none">
              <a:latin typeface="黑体" pitchFamily="49" charset="-122"/>
              <a:ea typeface="黑体" pitchFamily="49" charset="-122"/>
            </a:endParaRPr>
          </a:p>
          <a:p>
            <a:pPr marL="342900" lvl="0" indent="-342900" hangingPunct="1">
              <a:spcBef>
                <a:spcPct val="20000"/>
              </a:spcBef>
              <a:buNone/>
            </a:pPr>
            <a:r>
              <a:rPr lang="zh-CN" sz="2800" b="1" i="0" u="none">
                <a:latin typeface="黑体" pitchFamily="49" charset="-122"/>
                <a:ea typeface="黑体" pitchFamily="49" charset="-122"/>
              </a:rPr>
              <a:t>1.4  化学能的转化</a:t>
            </a:r>
            <a:endParaRPr lang="zh-CN" sz="2800" b="1" i="0" u="none">
              <a:latin typeface="黑体" pitchFamily="49" charset="-122"/>
              <a:ea typeface="黑体" pitchFamily="49" charset="-122"/>
            </a:endParaRPr>
          </a:p>
          <a:p>
            <a:pPr marL="342900" lvl="0" indent="-342900" hangingPunct="1">
              <a:spcBef>
                <a:spcPct val="20000"/>
              </a:spcBef>
              <a:buNone/>
            </a:pPr>
            <a:r>
              <a:rPr lang="zh-CN" sz="2800" b="1" i="0" u="none">
                <a:latin typeface="黑体" pitchFamily="49" charset="-122"/>
                <a:ea typeface="黑体" pitchFamily="49" charset="-122"/>
              </a:rPr>
              <a:t>1.5  自由能的概念</a:t>
            </a:r>
            <a:endParaRPr lang="zh-CN" sz="2800" b="1" i="0" u="none">
              <a:latin typeface="黑体" pitchFamily="49" charset="-122"/>
              <a:ea typeface="黑体" pitchFamily="49" charset="-122"/>
            </a:endParaRPr>
          </a:p>
        </p:txBody>
      </p:sp>
      <p:sp>
        <p:nvSpPr>
          <p:cNvPr id="103" name="Line 5"/>
          <p:cNvSpPr>
            <a:spLocks noGrp="1" noChangeShapeType="1"/>
          </p:cNvSpPr>
          <p:nvPr/>
        </p:nvSpPr>
        <p:spPr>
          <a:xfrm>
            <a:off x="0" y="1052512"/>
            <a:ext cx="9036050" cy="0"/>
          </a:xfrm>
          <a:prstGeom prst="line">
            <a:avLst/>
          </a:prstGeom>
          <a:noFill/>
          <a:ln w="9524">
            <a:solidFill>
              <a:schemeClr val="dk1"/>
            </a:solidFill>
            <a:round/>
          </a:ln>
        </p:spPr>
        <p:txBody>
          <a:bodyPr wrap="none"/>
          <a:lstStyle/>
          <a:p>
            <a:endParaRPr sz="14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81" name=""/>
        <p:cNvGrpSpPr/>
        <p:nvPr/>
      </p:nvGrpSpPr>
      <p:grpSpPr>
        <a:xfrm>
          <a:off x="0" y="0"/>
          <a:ext cx="0" cy="0"/>
          <a:chOff x="0" y="0"/>
          <a:chExt cx="0" cy="0"/>
        </a:xfrm>
      </p:grpSpPr>
      <p:sp>
        <p:nvSpPr>
          <p:cNvPr id="182" name="Rectangle 2"/>
          <p:cNvSpPr>
            <a:spLocks noGrp="1" noChangeShapeType="1"/>
          </p:cNvSpPr>
          <p:nvPr/>
        </p:nvSpPr>
        <p:spPr>
          <a:xfrm>
            <a:off x="395287" y="333375"/>
            <a:ext cx="8135937" cy="641350"/>
          </a:xfrm>
          <a:prstGeom prst="rect">
            <a:avLst/>
          </a:prstGeom>
          <a:noFill/>
        </p:spPr>
        <p:txBody>
          <a:bodyPr lIns="91440" tIns="45720" rIns="91440" bIns="45720">
            <a:spAutoFit/>
          </a:bodyPr>
          <a:lstStyle/>
          <a:p>
            <a:pPr lvl="0" hangingPunct="1">
              <a:spcBef>
                <a:spcPct val="20000"/>
              </a:spcBef>
              <a:buNone/>
            </a:pPr>
            <a:r>
              <a:rPr lang="en-US" sz="3600" b="1" i="0" u="none">
                <a:latin typeface="Times New Roman" panose="02020603050405020304"/>
                <a:ea typeface="黑体" pitchFamily="49" charset="-122"/>
              </a:rPr>
              <a:t>1.1 </a:t>
            </a:r>
            <a:r>
              <a:rPr lang="zh-CN" sz="3600" b="1" i="0" u="none">
                <a:latin typeface="Times New Roman" panose="02020603050405020304"/>
                <a:ea typeface="黑体" pitchFamily="49" charset="-122"/>
              </a:rPr>
              <a:t> 概念</a:t>
            </a:r>
            <a:endParaRPr lang="zh-CN" sz="3600" b="1" i="0" u="none">
              <a:latin typeface="Times New Roman" panose="02020603050405020304"/>
              <a:ea typeface="黑体" pitchFamily="49" charset="-122"/>
            </a:endParaRPr>
          </a:p>
        </p:txBody>
      </p:sp>
      <p:sp>
        <p:nvSpPr>
          <p:cNvPr id="183" name="Rectangle 3"/>
          <p:cNvSpPr>
            <a:spLocks noGrp="1" noChangeShapeType="1"/>
          </p:cNvSpPr>
          <p:nvPr/>
        </p:nvSpPr>
        <p:spPr>
          <a:xfrm>
            <a:off x="971550" y="908050"/>
            <a:ext cx="7164387" cy="1349375"/>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56000"/>
              </a:lnSpc>
              <a:spcBef>
                <a:spcPts val="0"/>
              </a:spcBef>
              <a:buChar char="Ø"/>
            </a:pPr>
            <a:r>
              <a:rPr lang="zh-CN" sz="2800" b="1" i="0" u="none">
                <a:latin typeface="黑体" pitchFamily="49" charset="-122"/>
                <a:ea typeface="黑体" pitchFamily="49" charset="-122"/>
              </a:rPr>
              <a:t>体系</a:t>
            </a:r>
            <a:r>
              <a:rPr lang="en-US" sz="2800" b="1" i="0" u="none">
                <a:latin typeface="楷体_GB2312" pitchFamily="49" charset="-122"/>
                <a:ea typeface="楷体_GB2312" pitchFamily="49" charset="-122"/>
              </a:rPr>
              <a:t>(系统): 研究所关注的有限物质范围</a:t>
            </a:r>
            <a:endParaRPr lang="en-US" sz="2800" b="1" i="0" u="none">
              <a:latin typeface="楷体_GB2312" pitchFamily="49" charset="-122"/>
              <a:ea typeface="楷体_GB2312" pitchFamily="49" charset="-122"/>
            </a:endParaRPr>
          </a:p>
          <a:p>
            <a:pPr marL="0" lvl="0" indent="0" hangingPunct="1">
              <a:lnSpc>
                <a:spcPct val="156000"/>
              </a:lnSpc>
              <a:spcBef>
                <a:spcPts val="0"/>
              </a:spcBef>
              <a:buChar char="Ø"/>
            </a:pPr>
            <a:r>
              <a:rPr lang="zh-CN" sz="2800" b="1" i="0" u="none">
                <a:latin typeface="黑体" pitchFamily="49" charset="-122"/>
                <a:ea typeface="黑体" pitchFamily="49" charset="-122"/>
              </a:rPr>
              <a:t>环境</a:t>
            </a:r>
            <a:r>
              <a:rPr lang="en-US" sz="2800" b="1" i="0" u="none">
                <a:latin typeface="楷体_GB2312" pitchFamily="49" charset="-122"/>
                <a:ea typeface="楷体_GB2312" pitchFamily="49" charset="-122"/>
              </a:rPr>
              <a:t>(外界): 围绕着研究体系的外部范围</a:t>
            </a:r>
            <a:endParaRPr lang="en-US" sz="2800" b="1" i="0" u="none">
              <a:latin typeface="楷体_GB2312" pitchFamily="49" charset="-122"/>
              <a:ea typeface="楷体_GB2312" pitchFamily="49" charset="-122"/>
            </a:endParaRPr>
          </a:p>
        </p:txBody>
      </p:sp>
      <p:sp>
        <p:nvSpPr>
          <p:cNvPr id="184" name="Oval 4"/>
          <p:cNvSpPr>
            <a:spLocks noGrp="1" noChangeShapeType="1"/>
          </p:cNvSpPr>
          <p:nvPr/>
        </p:nvSpPr>
        <p:spPr>
          <a:xfrm>
            <a:off x="1908175" y="2349500"/>
            <a:ext cx="5472112" cy="2089150"/>
          </a:xfrm>
          <a:prstGeom prst="ellipse">
            <a:avLst/>
          </a:prstGeom>
          <a:noFill/>
          <a:ln w="38100">
            <a:solidFill>
              <a:schemeClr val="accent1"/>
            </a:solidFill>
            <a:miter/>
          </a:ln>
        </p:spPr>
        <p:txBody>
          <a:bodyPr wrap="none" anchor="ctr" anchorCtr="0"/>
          <a:lstStyle/>
          <a:p>
            <a:endParaRPr sz="1400" dirty="0"/>
          </a:p>
        </p:txBody>
      </p:sp>
      <p:sp>
        <p:nvSpPr>
          <p:cNvPr id="185" name="Oval 5"/>
          <p:cNvSpPr>
            <a:spLocks noGrp="1" noChangeShapeType="1"/>
          </p:cNvSpPr>
          <p:nvPr/>
        </p:nvSpPr>
        <p:spPr>
          <a:xfrm>
            <a:off x="3132137" y="2636837"/>
            <a:ext cx="2736850" cy="1439862"/>
          </a:xfrm>
          <a:prstGeom prst="ellipse">
            <a:avLst/>
          </a:prstGeom>
          <a:noFill/>
          <a:ln w="38100">
            <a:solidFill>
              <a:schemeClr val="accent1"/>
            </a:solidFill>
            <a:miter/>
          </a:ln>
        </p:spPr>
        <p:txBody>
          <a:bodyPr wrap="none" anchor="ctr" anchorCtr="0"/>
          <a:lstStyle/>
          <a:p>
            <a:endParaRPr sz="1400" dirty="0"/>
          </a:p>
        </p:txBody>
      </p:sp>
      <p:sp>
        <p:nvSpPr>
          <p:cNvPr id="186" name="Text Box 6"/>
          <p:cNvSpPr txBox="1">
            <a:spLocks noGrp="1" noChangeShapeType="1"/>
          </p:cNvSpPr>
          <p:nvPr/>
        </p:nvSpPr>
        <p:spPr>
          <a:xfrm>
            <a:off x="4067175" y="3068637"/>
            <a:ext cx="1079500" cy="51911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2800" b="1" i="0" u="none">
                <a:ea typeface="黑体" pitchFamily="49" charset="-122"/>
              </a:rPr>
              <a:t>体系</a:t>
            </a:r>
            <a:endParaRPr lang="zh-CN" sz="2800" b="1" i="0" u="none">
              <a:ea typeface="黑体" pitchFamily="49" charset="-122"/>
            </a:endParaRPr>
          </a:p>
        </p:txBody>
      </p:sp>
      <p:sp>
        <p:nvSpPr>
          <p:cNvPr id="187" name="Text Box 7"/>
          <p:cNvSpPr txBox="1">
            <a:spLocks noGrp="1" noChangeShapeType="1"/>
          </p:cNvSpPr>
          <p:nvPr/>
        </p:nvSpPr>
        <p:spPr>
          <a:xfrm>
            <a:off x="5795962" y="3213100"/>
            <a:ext cx="1079500" cy="4572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2400" b="1" i="0" u="none">
                <a:latin typeface="Times New Roman" panose="02020603050405020304"/>
                <a:ea typeface="黑体" pitchFamily="49" charset="-122"/>
              </a:rPr>
              <a:t>环境</a:t>
            </a:r>
            <a:endParaRPr lang="zh-CN" sz="2400" b="1" i="0" u="none">
              <a:latin typeface="Times New Roman" panose="02020603050405020304"/>
              <a:ea typeface="黑体" pitchFamily="49" charset="-122"/>
            </a:endParaRPr>
          </a:p>
        </p:txBody>
      </p:sp>
      <p:sp>
        <p:nvSpPr>
          <p:cNvPr id="188" name="AutoShape 8"/>
          <p:cNvSpPr>
            <a:spLocks noGrp="1" noChangeShapeType="1"/>
          </p:cNvSpPr>
          <p:nvPr/>
        </p:nvSpPr>
        <p:spPr>
          <a:xfrm>
            <a:off x="2555875" y="3429000"/>
            <a:ext cx="1152525" cy="144462"/>
          </a:xfrm>
          <a:custGeom>
            <a:avLst>
              <a:gd name="adj0" fmla="val 16200"/>
              <a:gd name="adj1" fmla="val 5400"/>
            </a:avLst>
            <a:gdLst>
              <a:gd name="gd0" fmla="val 65536"/>
              <a:gd name="gd1" fmla="val adj0"/>
              <a:gd name="gd2" fmla="val adj1"/>
              <a:gd name="gd3" fmla="+- 21600 0 adj1"/>
              <a:gd name="gd4" fmla="+- 10800 0 adj1"/>
              <a:gd name="gd5" fmla="+- 21600 0 adj0"/>
              <a:gd name="gd6" fmla="*/ gd5 gd4 10800"/>
              <a:gd name="gd7" fmla="+- 21600 0 gd6"/>
              <a:gd name="gd8" fmla="val gd1"/>
              <a:gd name="gd9" fmla="val 0"/>
              <a:gd name="gd10" fmla="val gd1"/>
              <a:gd name="gd11" fmla="val gd2"/>
              <a:gd name="gd12" fmla="val 0"/>
              <a:gd name="gd13" fmla="val gd2"/>
              <a:gd name="gd14" fmla="val 0"/>
              <a:gd name="gd15" fmla="val gd3"/>
              <a:gd name="gd16" fmla="val gd1"/>
              <a:gd name="gd17" fmla="val gd3"/>
              <a:gd name="gd18" fmla="val gd1"/>
              <a:gd name="gd19" fmla="val 21600"/>
              <a:gd name="gd20" fmla="val 21600"/>
              <a:gd name="gd21" fmla="val 10800"/>
              <a:gd name="gd22" fmla="*/ w 0 21600"/>
              <a:gd name="gd23" fmla="*/ h gd2 21600"/>
              <a:gd name="gd24" fmla="*/ w gd7 21600"/>
              <a:gd name="gd25" fmla="*/ h gd3 21600"/>
              <a:gd name="gd26" fmla="*/ w adj0 21600"/>
              <a:gd name="gd27" fmla="*/ h adj1 21600"/>
            </a:gdLst>
            <a:ahLst>
              <a:ahXY gdRefX="adj0" minX="adj0" maxX="adj1" gdRefY="adj1" minY="adj0" maxY="adj1">
                <a:pos x="gd26" y="gd27"/>
              </a:ahXY>
            </a:ahLst>
            <a:cxnLst/>
            <a:rect l="gd22" t="gd23" r="gd24" b="gd25"/>
            <a:pathLst>
              <a:path w="21600" h="21600">
                <a:moveTo>
                  <a:pt x="gd8" y="gd9"/>
                </a:moveTo>
                <a:lnTo>
                  <a:pt x="gd10" y="gd11"/>
                </a:lnTo>
                <a:lnTo>
                  <a:pt x="gd12" y="gd13"/>
                </a:lnTo>
                <a:lnTo>
                  <a:pt x="gd14" y="gd15"/>
                </a:lnTo>
                <a:lnTo>
                  <a:pt x="gd16" y="gd17"/>
                </a:lnTo>
                <a:lnTo>
                  <a:pt x="gd18" y="gd19"/>
                </a:lnTo>
                <a:lnTo>
                  <a:pt x="gd20" y="gd21"/>
                </a:lnTo>
                <a:close/>
              </a:path>
              <a:path w="21600" h="21600"/>
            </a:pathLst>
          </a:custGeom>
          <a:solidFill>
            <a:schemeClr val="lt2"/>
          </a:solidFill>
          <a:ln w="9524">
            <a:solidFill>
              <a:schemeClr val="dk1"/>
            </a:solidFill>
            <a:round/>
          </a:ln>
        </p:spPr>
        <p:txBody>
          <a:bodyPr wrap="none" anchor="ctr" anchorCtr="0"/>
          <a:lstStyle/>
          <a:p>
            <a:endParaRPr sz="1400" dirty="0"/>
          </a:p>
        </p:txBody>
      </p:sp>
      <p:sp>
        <p:nvSpPr>
          <p:cNvPr id="189" name="Text Box 10"/>
          <p:cNvSpPr txBox="1">
            <a:spLocks noGrp="1" noChangeShapeType="1"/>
          </p:cNvSpPr>
          <p:nvPr/>
        </p:nvSpPr>
        <p:spPr>
          <a:xfrm>
            <a:off x="1042987" y="2997200"/>
            <a:ext cx="1079500" cy="4572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spcBef>
                <a:spcPct val="50000"/>
              </a:spcBef>
              <a:buNone/>
            </a:pPr>
            <a:r>
              <a:rPr lang="zh-CN" sz="2400" b="1" i="0" u="none">
                <a:solidFill>
                  <a:srgbClr val="FF0000"/>
                </a:solidFill>
                <a:latin typeface="黑体" pitchFamily="49" charset="-122"/>
                <a:ea typeface="黑体" pitchFamily="49" charset="-122"/>
              </a:rPr>
              <a:t>能量</a:t>
            </a:r>
            <a:endParaRPr lang="zh-CN" sz="2400" b="1" i="0" u="none">
              <a:solidFill>
                <a:srgbClr val="FF0000"/>
              </a:solidFill>
              <a:latin typeface="黑体" pitchFamily="49" charset="-122"/>
              <a:ea typeface="黑体" pitchFamily="49" charset="-122"/>
            </a:endParaRPr>
          </a:p>
        </p:txBody>
      </p:sp>
      <p:sp>
        <p:nvSpPr>
          <p:cNvPr id="190" name="Text Box 11"/>
          <p:cNvSpPr txBox="1">
            <a:spLocks noGrp="1" noChangeShapeType="1"/>
          </p:cNvSpPr>
          <p:nvPr/>
        </p:nvSpPr>
        <p:spPr>
          <a:xfrm>
            <a:off x="1042987" y="3357562"/>
            <a:ext cx="1081087" cy="4572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spcBef>
                <a:spcPct val="50000"/>
              </a:spcBef>
              <a:buNone/>
            </a:pPr>
            <a:r>
              <a:rPr lang="zh-CN" sz="2400" b="1" i="0" u="none">
                <a:latin typeface="黑体" pitchFamily="49" charset="-122"/>
                <a:ea typeface="黑体" pitchFamily="49" charset="-122"/>
              </a:rPr>
              <a:t>物质</a:t>
            </a:r>
            <a:endParaRPr lang="zh-CN" sz="2400" b="1" i="0" u="none">
              <a:latin typeface="黑体" pitchFamily="49" charset="-122"/>
              <a:ea typeface="黑体" pitchFamily="49" charset="-122"/>
            </a:endParaRPr>
          </a:p>
        </p:txBody>
      </p:sp>
      <p:graphicFrame>
        <p:nvGraphicFramePr>
          <p:cNvPr id="191" name="Group 46"/>
          <p:cNvGraphicFramePr/>
          <p:nvPr>
            <p:ph idx="4294967295"/>
          </p:nvPr>
        </p:nvGraphicFramePr>
        <p:xfrm>
          <a:off x="1692275" y="4724400"/>
          <a:ext cx="5627688" cy="1828800"/>
        </p:xfrm>
        <a:graphic>
          <a:graphicData uri="http://schemas.openxmlformats.org/drawingml/2006/table">
            <a:tbl>
              <a:tblPr/>
              <a:tblGrid>
                <a:gridCol w="1876425"/>
                <a:gridCol w="1874838"/>
                <a:gridCol w="1876425"/>
              </a:tblGrid>
              <a:tr h="212725">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zh-CN" altLang="en-US" sz="2400" b="1" i="0" u="none" strike="noStrike" cap="none" normalizeH="0" baseline="0">
                          <a:ln>
                            <a:noFill/>
                          </a:ln>
                          <a:solidFill>
                            <a:schemeClr val="tx1"/>
                          </a:solidFill>
                          <a:effectLst/>
                          <a:latin typeface="Arial" panose="02080604020202020204" pitchFamily="34" charset="0"/>
                          <a:ea typeface="黑体" pitchFamily="49" charset="-122"/>
                        </a:rPr>
                        <a:t>体系</a:t>
                      </a:r>
                      <a:endParaRPr kumimoji="1" lang="zh-CN" altLang="en-US" sz="2400" b="1" i="0" u="none" strike="noStrike" cap="none" normalizeH="0" baseline="0">
                        <a:ln>
                          <a:noFill/>
                        </a:ln>
                        <a:solidFill>
                          <a:schemeClr val="tx1"/>
                        </a:solidFill>
                        <a:effectLst/>
                        <a:latin typeface="Arial" panose="02080604020202020204" pitchFamily="34" charset="0"/>
                        <a:ea typeface="黑体"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zh-CN" altLang="en-US" sz="2400" b="1" i="0" u="none" strike="noStrike" cap="none" normalizeH="0" baseline="0">
                          <a:ln>
                            <a:noFill/>
                          </a:ln>
                          <a:solidFill>
                            <a:schemeClr val="tx1"/>
                          </a:solidFill>
                          <a:effectLst/>
                          <a:latin typeface="Arial" panose="02080604020202020204" pitchFamily="34" charset="0"/>
                          <a:ea typeface="黑体" pitchFamily="49" charset="-122"/>
                        </a:rPr>
                        <a:t>物质交换</a:t>
                      </a:r>
                      <a:endParaRPr kumimoji="1" lang="zh-CN" altLang="en-US" sz="2400" b="1" i="0" u="none" strike="noStrike" cap="none" normalizeH="0" baseline="0">
                        <a:ln>
                          <a:noFill/>
                        </a:ln>
                        <a:solidFill>
                          <a:schemeClr val="tx1"/>
                        </a:solidFill>
                        <a:effectLst/>
                        <a:latin typeface="Arial" panose="02080604020202020204"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zh-CN" altLang="en-US" sz="2400" b="1" i="0" u="none" strike="noStrike" cap="none" normalizeH="0" baseline="0" dirty="0">
                          <a:ln>
                            <a:noFill/>
                          </a:ln>
                          <a:solidFill>
                            <a:srgbClr val="FF0000"/>
                          </a:solidFill>
                          <a:effectLst/>
                          <a:latin typeface="Arial" panose="02080604020202020204" pitchFamily="34" charset="0"/>
                          <a:ea typeface="黑体" pitchFamily="49" charset="-122"/>
                        </a:rPr>
                        <a:t>能量交换</a:t>
                      </a:r>
                      <a:endParaRPr kumimoji="1" lang="zh-CN" altLang="en-US" sz="2400" b="1" i="0" u="none" strike="noStrike" cap="none" normalizeH="0" baseline="0" dirty="0">
                        <a:ln>
                          <a:noFill/>
                        </a:ln>
                        <a:solidFill>
                          <a:srgbClr val="FF0000"/>
                        </a:solidFill>
                        <a:effectLst/>
                        <a:latin typeface="Arial" panose="02080604020202020204" pitchFamily="34" charset="0"/>
                        <a:ea typeface="黑体" pitchFamily="49"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7513">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zh-CN" altLang="en-US" sz="2400" b="1" i="0" u="none" strike="noStrike" cap="none" normalizeH="0" baseline="0">
                          <a:ln>
                            <a:noFill/>
                          </a:ln>
                          <a:solidFill>
                            <a:schemeClr val="tx1"/>
                          </a:solidFill>
                          <a:effectLst/>
                          <a:latin typeface="Arial" panose="02080604020202020204" pitchFamily="34" charset="0"/>
                          <a:ea typeface="楷体_GB2312" pitchFamily="49" charset="-122"/>
                        </a:rPr>
                        <a:t>开放体系</a:t>
                      </a:r>
                      <a:endParaRPr kumimoji="1" lang="zh-CN" altLang="en-US" sz="2400" b="1" i="0" u="none" strike="noStrike" cap="none" normalizeH="0" baseline="0">
                        <a:ln>
                          <a:noFill/>
                        </a:ln>
                        <a:solidFill>
                          <a:schemeClr val="tx1"/>
                        </a:solidFill>
                        <a:effectLst/>
                        <a:latin typeface="Arial" panose="02080604020202020204" pitchFamily="34"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600">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zh-CN" altLang="en-US" sz="2400" b="1" i="0" u="none" strike="noStrike" cap="none" normalizeH="0" baseline="0">
                          <a:ln>
                            <a:noFill/>
                          </a:ln>
                          <a:solidFill>
                            <a:schemeClr val="tx1"/>
                          </a:solidFill>
                          <a:effectLst/>
                          <a:latin typeface="Arial" panose="02080604020202020204" pitchFamily="34" charset="0"/>
                          <a:ea typeface="楷体_GB2312" pitchFamily="49" charset="-122"/>
                        </a:rPr>
                        <a:t>封闭体系</a:t>
                      </a:r>
                      <a:endParaRPr kumimoji="1" lang="zh-CN" altLang="en-US" sz="2400" b="1" i="0" u="none" strike="noStrike" cap="none" normalizeH="0" baseline="0">
                        <a:ln>
                          <a:noFill/>
                        </a:ln>
                        <a:solidFill>
                          <a:schemeClr val="tx1"/>
                        </a:solidFill>
                        <a:effectLst/>
                        <a:latin typeface="Arial" panose="02080604020202020204" pitchFamily="34"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5600">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1" lang="zh-CN" altLang="en-US" sz="2400" b="1" i="0" u="none" strike="noStrike" cap="none" normalizeH="0" baseline="0">
                          <a:ln>
                            <a:noFill/>
                          </a:ln>
                          <a:solidFill>
                            <a:schemeClr val="tx1"/>
                          </a:solidFill>
                          <a:effectLst/>
                          <a:latin typeface="Arial" panose="02080604020202020204" pitchFamily="34" charset="0"/>
                          <a:ea typeface="楷体_GB2312" pitchFamily="49" charset="-122"/>
                        </a:rPr>
                        <a:t>隔离体系</a:t>
                      </a:r>
                      <a:endParaRPr kumimoji="1" lang="zh-CN" altLang="en-US" sz="2400" b="1" i="0" u="none" strike="noStrike" cap="none" normalizeH="0" baseline="0">
                        <a:ln>
                          <a:noFill/>
                        </a:ln>
                        <a:solidFill>
                          <a:schemeClr val="tx1"/>
                        </a:solidFill>
                        <a:effectLst/>
                        <a:latin typeface="Arial" panose="02080604020202020204" pitchFamily="34" charset="0"/>
                        <a:ea typeface="楷体_GB2312" pitchFamily="49"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bg2"/>
                        </a:buClr>
                        <a:buSzPct val="75000"/>
                        <a:buFont typeface="Wingdings" panose="05000000000000000000" pitchFamily="2" charset="2"/>
                        <a:defRPr sz="2800">
                          <a:solidFill>
                            <a:schemeClr val="tx1"/>
                          </a:solidFill>
                          <a:latin typeface="Arial" panose="02080604020202020204" pitchFamily="34" charset="0"/>
                          <a:ea typeface="宋体" pitchFamily="2" charset="-122"/>
                        </a:defRPr>
                      </a:lvl1pPr>
                      <a:lvl2pPr marL="742950" indent="-285750" eaLnBrk="0" hangingPunct="0">
                        <a:spcBef>
                          <a:spcPct val="20000"/>
                        </a:spcBef>
                        <a:buClr>
                          <a:schemeClr val="accent2"/>
                        </a:buClr>
                        <a:buSzPct val="80000"/>
                        <a:buFont typeface="Wingdings" panose="05000000000000000000" pitchFamily="2" charset="2"/>
                        <a:defRPr sz="2400">
                          <a:solidFill>
                            <a:schemeClr val="tx1"/>
                          </a:solidFill>
                          <a:latin typeface="Arial" panose="02080604020202020204" pitchFamily="34" charset="0"/>
                          <a:ea typeface="宋体" pitchFamily="2" charset="-122"/>
                        </a:defRPr>
                      </a:lvl2pPr>
                      <a:lvl3pPr marL="1143000" indent="-228600" eaLnBrk="0" hangingPunct="0">
                        <a:spcBef>
                          <a:spcPct val="20000"/>
                        </a:spcBef>
                        <a:buClr>
                          <a:schemeClr val="bg2"/>
                        </a:buClr>
                        <a:buSzPct val="65000"/>
                        <a:buFont typeface="Wingdings" panose="05000000000000000000" pitchFamily="2" charset="2"/>
                        <a:defRPr sz="2000">
                          <a:solidFill>
                            <a:schemeClr val="tx1"/>
                          </a:solidFill>
                          <a:latin typeface="Arial" panose="02080604020202020204" pitchFamily="34" charset="0"/>
                          <a:ea typeface="宋体" pitchFamily="2" charset="-122"/>
                        </a:defRPr>
                      </a:lvl3pPr>
                      <a:lvl4pPr marL="1600200" indent="-228600" eaLnBrk="0" hangingPunct="0">
                        <a:spcBef>
                          <a:spcPct val="20000"/>
                        </a:spcBef>
                        <a:buClr>
                          <a:schemeClr val="accent2"/>
                        </a:buClr>
                        <a:buSzPct val="70000"/>
                        <a:buFont typeface="Wingdings" panose="05000000000000000000" pitchFamily="2" charset="2"/>
                        <a:defRPr>
                          <a:solidFill>
                            <a:schemeClr val="tx1"/>
                          </a:solidFill>
                          <a:latin typeface="Arial" panose="02080604020202020204" pitchFamily="34" charset="0"/>
                          <a:ea typeface="宋体" pitchFamily="2" charset="-122"/>
                        </a:defRPr>
                      </a:lvl4pPr>
                      <a:lvl5pPr marL="2057400" indent="-228600" eaLnBrk="0" hangingPunct="0">
                        <a:spcBef>
                          <a:spcPct val="20000"/>
                        </a:spcBef>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defRPr>
                          <a:solidFill>
                            <a:schemeClr val="tx1"/>
                          </a:solidFill>
                          <a:latin typeface="Arial" panose="02080604020202020204"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dirty="0">
                          <a:ln>
                            <a:noFill/>
                          </a:ln>
                          <a:solidFill>
                            <a:schemeClr val="tx1"/>
                          </a:solidFill>
                          <a:effectLst/>
                          <a:latin typeface="Arial" panose="02080604020202020204" pitchFamily="34" charset="0"/>
                          <a:ea typeface="宋体" pitchFamily="2" charset="-122"/>
                        </a:rPr>
                        <a:t>-</a:t>
                      </a:r>
                      <a:endParaRPr kumimoji="0" lang="en-US" altLang="zh-CN" sz="2400" b="0" i="0" u="none" strike="noStrike" cap="none" normalizeH="0" baseline="0" dirty="0">
                        <a:ln>
                          <a:noFill/>
                        </a:ln>
                        <a:solidFill>
                          <a:schemeClr val="tx1"/>
                        </a:solidFill>
                        <a:effectLst/>
                        <a:latin typeface="Arial" panose="02080604020202020204"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92" name="AutoShape 43"/>
          <p:cNvSpPr>
            <a:spLocks noGrp="1" noChangeShapeType="1"/>
          </p:cNvSpPr>
          <p:nvPr/>
        </p:nvSpPr>
        <p:spPr>
          <a:xfrm rot="10800000">
            <a:off x="2484437" y="3284537"/>
            <a:ext cx="1152525" cy="144462"/>
          </a:xfrm>
          <a:custGeom>
            <a:avLst>
              <a:gd name="adj0" fmla="val 16200"/>
              <a:gd name="adj1" fmla="val 5400"/>
            </a:avLst>
            <a:gdLst>
              <a:gd name="gd0" fmla="val 65536"/>
              <a:gd name="gd1" fmla="val adj0"/>
              <a:gd name="gd2" fmla="val adj1"/>
              <a:gd name="gd3" fmla="+- 21600 0 adj1"/>
              <a:gd name="gd4" fmla="+- 10800 0 adj1"/>
              <a:gd name="gd5" fmla="+- 21600 0 adj0"/>
              <a:gd name="gd6" fmla="*/ gd5 gd4 10800"/>
              <a:gd name="gd7" fmla="+- 21600 0 gd6"/>
              <a:gd name="gd8" fmla="val gd1"/>
              <a:gd name="gd9" fmla="val 0"/>
              <a:gd name="gd10" fmla="val gd1"/>
              <a:gd name="gd11" fmla="val gd2"/>
              <a:gd name="gd12" fmla="val 0"/>
              <a:gd name="gd13" fmla="val gd2"/>
              <a:gd name="gd14" fmla="val 0"/>
              <a:gd name="gd15" fmla="val gd3"/>
              <a:gd name="gd16" fmla="val gd1"/>
              <a:gd name="gd17" fmla="val gd3"/>
              <a:gd name="gd18" fmla="val gd1"/>
              <a:gd name="gd19" fmla="val 21600"/>
              <a:gd name="gd20" fmla="val 21600"/>
              <a:gd name="gd21" fmla="val 10800"/>
              <a:gd name="gd22" fmla="*/ w 0 21600"/>
              <a:gd name="gd23" fmla="*/ h gd2 21600"/>
              <a:gd name="gd24" fmla="*/ w gd7 21600"/>
              <a:gd name="gd25" fmla="*/ h gd3 21600"/>
              <a:gd name="gd26" fmla="*/ w adj0 21600"/>
              <a:gd name="gd27" fmla="*/ h adj1 21600"/>
            </a:gdLst>
            <a:ahLst>
              <a:ahXY gdRefX="adj0" minX="adj0" maxX="adj1" gdRefY="adj1" minY="adj0" maxY="adj1">
                <a:pos x="gd26" y="gd27"/>
              </a:ahXY>
            </a:ahLst>
            <a:cxnLst/>
            <a:rect l="gd22" t="gd23" r="gd24" b="gd25"/>
            <a:pathLst>
              <a:path w="21600" h="21600">
                <a:moveTo>
                  <a:pt x="gd8" y="gd9"/>
                </a:moveTo>
                <a:lnTo>
                  <a:pt x="gd10" y="gd11"/>
                </a:lnTo>
                <a:lnTo>
                  <a:pt x="gd12" y="gd13"/>
                </a:lnTo>
                <a:lnTo>
                  <a:pt x="gd14" y="gd15"/>
                </a:lnTo>
                <a:lnTo>
                  <a:pt x="gd16" y="gd17"/>
                </a:lnTo>
                <a:lnTo>
                  <a:pt x="gd18" y="gd19"/>
                </a:lnTo>
                <a:lnTo>
                  <a:pt x="gd20" y="gd21"/>
                </a:lnTo>
                <a:close/>
              </a:path>
              <a:path w="21600" h="21600"/>
            </a:pathLst>
          </a:custGeom>
          <a:solidFill>
            <a:schemeClr val="lt2"/>
          </a:solidFill>
          <a:ln w="9524">
            <a:solidFill>
              <a:schemeClr val="dk1"/>
            </a:solidFill>
            <a:round/>
          </a:ln>
        </p:spPr>
        <p:txBody>
          <a:bodyPr rot="10800000" wrap="none" anchor="ctr" anchorCtr="0"/>
          <a:lstStyle/>
          <a:p>
            <a:endParaRPr sz="1400" dirty="0"/>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anim calcmode="lin" valueType="num">
                                      <p:cBhvr additive="base">
                                        <p:cTn id="7" dur="500" fill="hold"/>
                                        <p:tgtEl>
                                          <p:spTgt spid="182"/>
                                        </p:tgtEl>
                                        <p:attrNameLst>
                                          <p:attrName>ppt_x</p:attrName>
                                        </p:attrNameLst>
                                      </p:cBhvr>
                                      <p:tavLst>
                                        <p:tav tm="0">
                                          <p:val>
                                            <p:strVal val="0-#ppt_w/2"/>
                                          </p:val>
                                        </p:tav>
                                        <p:tav tm="100000">
                                          <p:val>
                                            <p:strVal val="#ppt_x"/>
                                          </p:val>
                                        </p:tav>
                                      </p:tavLst>
                                    </p:anim>
                                    <p:anim calcmode="lin" valueType="num">
                                      <p:cBhvr additive="base">
                                        <p:cTn id="8" dur="500" fill="hold"/>
                                        <p:tgtEl>
                                          <p:spTgt spid="18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83">
                                            <p:txEl>
                                              <p:pRg st="0" end="21"/>
                                            </p:txEl>
                                          </p:spTgt>
                                        </p:tgtEl>
                                        <p:attrNameLst>
                                          <p:attrName>style.visibility</p:attrName>
                                        </p:attrNameLst>
                                      </p:cBhvr>
                                      <p:to>
                                        <p:strVal val="visible"/>
                                      </p:to>
                                    </p:set>
                                    <p:animEffect transition="in" filter="slide(fromBottom)">
                                      <p:cBhvr>
                                        <p:cTn id="13" dur="500"/>
                                        <p:tgtEl>
                                          <p:spTgt spid="183">
                                            <p:txEl>
                                              <p:pRg st="0" end="2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183">
                                            <p:txEl>
                                              <p:pRg st="21" end="42"/>
                                            </p:txEl>
                                          </p:spTgt>
                                        </p:tgtEl>
                                        <p:attrNameLst>
                                          <p:attrName>style.visibility</p:attrName>
                                        </p:attrNameLst>
                                      </p:cBhvr>
                                      <p:to>
                                        <p:strVal val="visible"/>
                                      </p:to>
                                    </p:set>
                                    <p:animEffect transition="in" filter="slide(fromBottom)">
                                      <p:cBhvr>
                                        <p:cTn id="18" dur="500"/>
                                        <p:tgtEl>
                                          <p:spTgt spid="183">
                                            <p:txEl>
                                              <p:pRg st="21" end="4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nodeType="clickEffect">
                                  <p:stCondLst>
                                    <p:cond delay="0"/>
                                  </p:stCondLst>
                                  <p:childTnLst>
                                    <p:set>
                                      <p:cBhvr>
                                        <p:cTn id="22" dur="1" fill="hold">
                                          <p:stCondLst>
                                            <p:cond delay="0"/>
                                          </p:stCondLst>
                                        </p:cTn>
                                        <p:tgtEl>
                                          <p:spTgt spid="185"/>
                                        </p:tgtEl>
                                        <p:attrNameLst>
                                          <p:attrName>style.visibility</p:attrName>
                                        </p:attrNameLst>
                                      </p:cBhvr>
                                      <p:to>
                                        <p:strVal val="visible"/>
                                      </p:to>
                                    </p:set>
                                    <p:animEffect transition="in" filter="slide(fromBottom)">
                                      <p:cBhvr>
                                        <p:cTn id="23" dur="500"/>
                                        <p:tgtEl>
                                          <p:spTgt spid="185"/>
                                        </p:tgtEl>
                                      </p:cBhvr>
                                    </p:animEffect>
                                  </p:childTnLst>
                                </p:cTn>
                              </p:par>
                              <p:par>
                                <p:cTn id="24" presetID="40" presetClass="entr" presetSubtype="0" fill="hold" nodeType="withEffect">
                                  <p:stCondLst>
                                    <p:cond delay="0"/>
                                  </p:stCondLst>
                                  <p:iterate type="lt">
                                    <p:tmPct val="10000"/>
                                  </p:iterate>
                                  <p:childTnLst>
                                    <p:set>
                                      <p:cBhvr>
                                        <p:cTn id="25" dur="1" fill="hold">
                                          <p:stCondLst>
                                            <p:cond delay="0"/>
                                          </p:stCondLst>
                                        </p:cTn>
                                        <p:tgtEl>
                                          <p:spTgt spid="186"/>
                                        </p:tgtEl>
                                        <p:attrNameLst>
                                          <p:attrName>style.visibility</p:attrName>
                                        </p:attrNameLst>
                                      </p:cBhvr>
                                      <p:to>
                                        <p:strVal val="visible"/>
                                      </p:to>
                                    </p:set>
                                    <p:animEffect transition="in" filter="fade">
                                      <p:cBhvr>
                                        <p:cTn id="26" dur="1000"/>
                                        <p:tgtEl>
                                          <p:spTgt spid="186"/>
                                        </p:tgtEl>
                                      </p:cBhvr>
                                    </p:animEffect>
                                    <p:anim calcmode="lin" valueType="num">
                                      <p:cBhvr>
                                        <p:cTn id="27" dur="1000" fill="hold"/>
                                        <p:tgtEl>
                                          <p:spTgt spid="186"/>
                                        </p:tgtEl>
                                        <p:attrNameLst>
                                          <p:attrName>ppt_x</p:attrName>
                                        </p:attrNameLst>
                                      </p:cBhvr>
                                      <p:tavLst>
                                        <p:tav tm="0">
                                          <p:val>
                                            <p:strVal val="#ppt_x-.1"/>
                                          </p:val>
                                        </p:tav>
                                        <p:tav tm="100000">
                                          <p:val>
                                            <p:strVal val="#ppt_x"/>
                                          </p:val>
                                        </p:tav>
                                      </p:tavLst>
                                    </p:anim>
                                    <p:anim calcmode="lin" valueType="num">
                                      <p:cBhvr>
                                        <p:cTn id="28" dur="1000" fill="hold"/>
                                        <p:tgtEl>
                                          <p:spTgt spid="18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nodeType="clickEffect">
                                  <p:stCondLst>
                                    <p:cond delay="0"/>
                                  </p:stCondLst>
                                  <p:childTnLst>
                                    <p:set>
                                      <p:cBhvr>
                                        <p:cTn id="32" dur="1" fill="hold">
                                          <p:stCondLst>
                                            <p:cond delay="0"/>
                                          </p:stCondLst>
                                        </p:cTn>
                                        <p:tgtEl>
                                          <p:spTgt spid="184"/>
                                        </p:tgtEl>
                                        <p:attrNameLst>
                                          <p:attrName>style.visibility</p:attrName>
                                        </p:attrNameLst>
                                      </p:cBhvr>
                                      <p:to>
                                        <p:strVal val="visible"/>
                                      </p:to>
                                    </p:set>
                                    <p:anim calcmode="lin" valueType="num">
                                      <p:cBhvr>
                                        <p:cTn id="33" dur="500" fill="hold"/>
                                        <p:tgtEl>
                                          <p:spTgt spid="184"/>
                                        </p:tgtEl>
                                        <p:attrNameLst>
                                          <p:attrName>ppt_w</p:attrName>
                                        </p:attrNameLst>
                                      </p:cBhvr>
                                      <p:tavLst>
                                        <p:tav tm="0">
                                          <p:val>
                                            <p:fltVal val="0"/>
                                          </p:val>
                                        </p:tav>
                                        <p:tav tm="100000">
                                          <p:val>
                                            <p:strVal val="#ppt_w"/>
                                          </p:val>
                                        </p:tav>
                                      </p:tavLst>
                                    </p:anim>
                                    <p:anim calcmode="lin" valueType="num">
                                      <p:cBhvr>
                                        <p:cTn id="34" dur="500" fill="hold"/>
                                        <p:tgtEl>
                                          <p:spTgt spid="184"/>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40" presetClass="entr" presetSubtype="0" fill="hold" nodeType="clickEffect">
                                  <p:stCondLst>
                                    <p:cond delay="0"/>
                                  </p:stCondLst>
                                  <p:iterate type="lt">
                                    <p:tmPct val="10000"/>
                                  </p:iterate>
                                  <p:childTnLst>
                                    <p:set>
                                      <p:cBhvr>
                                        <p:cTn id="38" dur="1" fill="hold">
                                          <p:stCondLst>
                                            <p:cond delay="0"/>
                                          </p:stCondLst>
                                        </p:cTn>
                                        <p:tgtEl>
                                          <p:spTgt spid="187"/>
                                        </p:tgtEl>
                                        <p:attrNameLst>
                                          <p:attrName>style.visibility</p:attrName>
                                        </p:attrNameLst>
                                      </p:cBhvr>
                                      <p:to>
                                        <p:strVal val="visible"/>
                                      </p:to>
                                    </p:set>
                                    <p:animEffect transition="in" filter="fade">
                                      <p:cBhvr>
                                        <p:cTn id="39" dur="1000"/>
                                        <p:tgtEl>
                                          <p:spTgt spid="187"/>
                                        </p:tgtEl>
                                      </p:cBhvr>
                                    </p:animEffect>
                                    <p:anim calcmode="lin" valueType="num">
                                      <p:cBhvr>
                                        <p:cTn id="40" dur="1000" fill="hold"/>
                                        <p:tgtEl>
                                          <p:spTgt spid="187"/>
                                        </p:tgtEl>
                                        <p:attrNameLst>
                                          <p:attrName>ppt_x</p:attrName>
                                        </p:attrNameLst>
                                      </p:cBhvr>
                                      <p:tavLst>
                                        <p:tav tm="0">
                                          <p:val>
                                            <p:strVal val="#ppt_x-.1"/>
                                          </p:val>
                                        </p:tav>
                                        <p:tav tm="100000">
                                          <p:val>
                                            <p:strVal val="#ppt_x"/>
                                          </p:val>
                                        </p:tav>
                                      </p:tavLst>
                                    </p:anim>
                                    <p:anim calcmode="lin" valueType="num">
                                      <p:cBhvr>
                                        <p:cTn id="41" dur="1000" fill="hold"/>
                                        <p:tgtEl>
                                          <p:spTgt spid="187"/>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192"/>
                                        </p:tgtEl>
                                        <p:attrNameLst>
                                          <p:attrName>style.visibility</p:attrName>
                                        </p:attrNameLst>
                                      </p:cBhvr>
                                      <p:to>
                                        <p:strVal val="visible"/>
                                      </p:to>
                                    </p:set>
                                    <p:animEffect transition="in" filter="blinds(horizontal)">
                                      <p:cBhvr>
                                        <p:cTn id="46" dur="500"/>
                                        <p:tgtEl>
                                          <p:spTgt spid="192"/>
                                        </p:tgtEl>
                                      </p:cBhvr>
                                    </p:animEffect>
                                  </p:childTnLst>
                                </p:cTn>
                              </p:par>
                              <p:par>
                                <p:cTn id="47" presetID="3" presetClass="entr" presetSubtype="10" fill="hold" nodeType="withEffect">
                                  <p:stCondLst>
                                    <p:cond delay="0"/>
                                  </p:stCondLst>
                                  <p:childTnLst>
                                    <p:set>
                                      <p:cBhvr>
                                        <p:cTn id="48" dur="1" fill="hold">
                                          <p:stCondLst>
                                            <p:cond delay="0"/>
                                          </p:stCondLst>
                                        </p:cTn>
                                        <p:tgtEl>
                                          <p:spTgt spid="188"/>
                                        </p:tgtEl>
                                        <p:attrNameLst>
                                          <p:attrName>style.visibility</p:attrName>
                                        </p:attrNameLst>
                                      </p:cBhvr>
                                      <p:to>
                                        <p:strVal val="visible"/>
                                      </p:to>
                                    </p:set>
                                    <p:animEffect transition="in" filter="blinds(horizontal)">
                                      <p:cBhvr>
                                        <p:cTn id="49" dur="500"/>
                                        <p:tgtEl>
                                          <p:spTgt spid="188"/>
                                        </p:tgtEl>
                                      </p:cBhvr>
                                    </p:animEffect>
                                  </p:childTnLst>
                                </p:cTn>
                              </p:par>
                            </p:childTnLst>
                          </p:cTn>
                        </p:par>
                      </p:childTnLst>
                    </p:cTn>
                  </p:par>
                  <p:par>
                    <p:cTn id="50" fill="hold">
                      <p:stCondLst>
                        <p:cond delay="indefinite"/>
                      </p:stCondLst>
                      <p:childTnLst>
                        <p:par>
                          <p:cTn id="51" fill="hold">
                            <p:stCondLst>
                              <p:cond delay="0"/>
                            </p:stCondLst>
                            <p:childTnLst>
                              <p:par>
                                <p:cTn id="52" presetID="5" presetClass="entr" presetSubtype="10" fill="hold" nodeType="clickEffect">
                                  <p:stCondLst>
                                    <p:cond delay="0"/>
                                  </p:stCondLst>
                                  <p:childTnLst>
                                    <p:set>
                                      <p:cBhvr>
                                        <p:cTn id="53" dur="1" fill="hold">
                                          <p:stCondLst>
                                            <p:cond delay="0"/>
                                          </p:stCondLst>
                                        </p:cTn>
                                        <p:tgtEl>
                                          <p:spTgt spid="190"/>
                                        </p:tgtEl>
                                        <p:attrNameLst>
                                          <p:attrName>style.visibility</p:attrName>
                                        </p:attrNameLst>
                                      </p:cBhvr>
                                      <p:to>
                                        <p:strVal val="visible"/>
                                      </p:to>
                                    </p:set>
                                    <p:animEffect transition="in" filter="checkerboard(across)">
                                      <p:cBhvr>
                                        <p:cTn id="54" dur="500"/>
                                        <p:tgtEl>
                                          <p:spTgt spid="190"/>
                                        </p:tgtEl>
                                      </p:cBhvr>
                                    </p:animEffect>
                                  </p:childTnLst>
                                </p:cTn>
                              </p:par>
                            </p:childTnLst>
                          </p:cTn>
                        </p:par>
                      </p:childTnLst>
                    </p:cTn>
                  </p:par>
                  <p:par>
                    <p:cTn id="55" fill="hold">
                      <p:stCondLst>
                        <p:cond delay="indefinite"/>
                      </p:stCondLst>
                      <p:childTnLst>
                        <p:par>
                          <p:cTn id="56" fill="hold">
                            <p:stCondLst>
                              <p:cond delay="0"/>
                            </p:stCondLst>
                            <p:childTnLst>
                              <p:par>
                                <p:cTn id="57" presetID="5" presetClass="entr" presetSubtype="10" fill="hold" nodeType="clickEffect">
                                  <p:stCondLst>
                                    <p:cond delay="0"/>
                                  </p:stCondLst>
                                  <p:childTnLst>
                                    <p:set>
                                      <p:cBhvr>
                                        <p:cTn id="58" dur="1" fill="hold">
                                          <p:stCondLst>
                                            <p:cond delay="0"/>
                                          </p:stCondLst>
                                        </p:cTn>
                                        <p:tgtEl>
                                          <p:spTgt spid="189"/>
                                        </p:tgtEl>
                                        <p:attrNameLst>
                                          <p:attrName>style.visibility</p:attrName>
                                        </p:attrNameLst>
                                      </p:cBhvr>
                                      <p:to>
                                        <p:strVal val="visible"/>
                                      </p:to>
                                    </p:set>
                                    <p:animEffect transition="in" filter="checkerboard(across)">
                                      <p:cBhvr>
                                        <p:cTn id="59" dur="500"/>
                                        <p:tgtEl>
                                          <p:spTgt spid="189"/>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191"/>
                                        </p:tgtEl>
                                        <p:attrNameLst>
                                          <p:attrName>style.visibility</p:attrName>
                                        </p:attrNameLst>
                                      </p:cBhvr>
                                      <p:to>
                                        <p:strVal val="visible"/>
                                      </p:to>
                                    </p:set>
                                    <p:anim calcmode="lin" valueType="num">
                                      <p:cBhvr additive="base">
                                        <p:cTn id="64" dur="500" fill="hold"/>
                                        <p:tgtEl>
                                          <p:spTgt spid="191"/>
                                        </p:tgtEl>
                                        <p:attrNameLst>
                                          <p:attrName>ppt_x</p:attrName>
                                        </p:attrNameLst>
                                      </p:cBhvr>
                                      <p:tavLst>
                                        <p:tav tm="0">
                                          <p:val>
                                            <p:strVal val="#ppt_x"/>
                                          </p:val>
                                        </p:tav>
                                        <p:tav tm="100000">
                                          <p:val>
                                            <p:strVal val="#ppt_x"/>
                                          </p:val>
                                        </p:tav>
                                      </p:tavLst>
                                    </p:anim>
                                    <p:anim calcmode="lin" valueType="num">
                                      <p:cBhvr additive="base">
                                        <p:cTn id="65" dur="500" fill="hold"/>
                                        <p:tgtEl>
                                          <p:spTgt spid="1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36" name=""/>
        <p:cNvGrpSpPr/>
        <p:nvPr/>
      </p:nvGrpSpPr>
      <p:grpSpPr>
        <a:xfrm>
          <a:off x="0" y="0"/>
          <a:ext cx="0" cy="0"/>
          <a:chOff x="0" y="0"/>
          <a:chExt cx="0" cy="0"/>
        </a:xfrm>
      </p:grpSpPr>
      <p:pic>
        <p:nvPicPr>
          <p:cNvPr id="237" name="内容占位符 3"/>
          <p:cNvPicPr>
            <a:picLocks noGrp="1" noChangeAspect="1"/>
          </p:cNvPicPr>
          <p:nvPr>
            <p:ph/>
          </p:nvPr>
        </p:nvPicPr>
        <p:blipFill>
          <a:blip r:embed="rId1"/>
          <a:srcRect/>
          <a:stretch>
            <a:fillRect/>
          </a:stretch>
        </p:blipFill>
        <p:spPr>
          <a:xfrm>
            <a:off x="323850" y="404812"/>
            <a:ext cx="5832475" cy="2422525"/>
          </a:xfrm>
          <a:prstGeom prst="rect">
            <a:avLst/>
          </a:prstGeom>
          <a:noFill/>
        </p:spPr>
      </p:pic>
      <p:sp>
        <p:nvSpPr>
          <p:cNvPr id="238" name="文本框 5"/>
          <p:cNvSpPr txBox="1">
            <a:spLocks noGrp="1" noChangeShapeType="1"/>
          </p:cNvSpPr>
          <p:nvPr/>
        </p:nvSpPr>
        <p:spPr>
          <a:xfrm>
            <a:off x="323850" y="3644900"/>
            <a:ext cx="8064500" cy="147796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algn="just" hangingPunct="1">
              <a:spcBef>
                <a:spcPts val="0"/>
              </a:spcBef>
              <a:buNone/>
            </a:pPr>
            <a:r>
              <a:rPr lang="zh-CN" sz="1800" b="1" i="0" u="none">
                <a:latin typeface="system-ui"/>
              </a:rPr>
              <a:t>即使是健康的年轻人</a:t>
            </a:r>
            <a:r>
              <a:rPr lang="zh-CN" sz="1800" b="1" i="0" u="none">
                <a:solidFill>
                  <a:srgbClr val="FA5359"/>
                </a:solidFill>
                <a:latin typeface="system-ui"/>
              </a:rPr>
              <a:t>，在忍受 </a:t>
            </a:r>
            <a:r>
              <a:rPr lang="en-US" sz="1800" b="1" i="0" u="sng">
                <a:solidFill>
                  <a:srgbClr val="FA5359"/>
                </a:solidFill>
                <a:latin typeface="system-ui"/>
              </a:rPr>
              <a:t>35 摄氏度的高温</a:t>
            </a:r>
            <a:r>
              <a:rPr lang="zh-CN" sz="1800" b="1" i="0" u="none">
                <a:solidFill>
                  <a:srgbClr val="FA5359"/>
                </a:solidFill>
                <a:latin typeface="system-ui"/>
              </a:rPr>
              <a:t>和 </a:t>
            </a:r>
            <a:r>
              <a:rPr lang="en-US" sz="1800" b="1" i="0" u="sng">
                <a:solidFill>
                  <a:srgbClr val="FA5359"/>
                </a:solidFill>
                <a:latin typeface="system-ui"/>
              </a:rPr>
              <a:t>100% 湿度</a:t>
            </a:r>
            <a:r>
              <a:rPr lang="zh-CN" sz="1800" b="1" i="0" u="none">
                <a:solidFill>
                  <a:srgbClr val="FA5359"/>
                </a:solidFill>
                <a:latin typeface="system-ui"/>
              </a:rPr>
              <a:t>的</a:t>
            </a:r>
            <a:r>
              <a:rPr lang="zh-CN" sz="1800" b="1" i="0" u="sng">
                <a:solidFill>
                  <a:srgbClr val="FA5359"/>
                </a:solidFill>
                <a:latin typeface="system-ui"/>
              </a:rPr>
              <a:t>六个小时</a:t>
            </a:r>
            <a:r>
              <a:rPr lang="zh-CN" sz="1800" b="1" i="0" u="none">
                <a:solidFill>
                  <a:srgbClr val="FA5359"/>
                </a:solidFill>
                <a:latin typeface="system-ui"/>
              </a:rPr>
              <a:t>后也会死亡</a:t>
            </a:r>
            <a:r>
              <a:rPr lang="zh-CN" sz="1800">
                <a:latin typeface="system-ui"/>
              </a:rPr>
              <a:t>，但新的研究表明，</a:t>
            </a:r>
            <a:r>
              <a:rPr lang="zh-CN" sz="1800" b="1" i="0" u="none">
                <a:solidFill>
                  <a:srgbClr val="8062C2"/>
                </a:solidFill>
                <a:latin typeface="system-ui"/>
              </a:rPr>
              <a:t>这个</a:t>
            </a:r>
            <a:r>
              <a:rPr lang="zh-CN" sz="1800" b="1" i="0" u="sng">
                <a:solidFill>
                  <a:srgbClr val="FA5359"/>
                </a:solidFill>
                <a:latin typeface="system-ui"/>
              </a:rPr>
              <a:t>阈值</a:t>
            </a:r>
            <a:r>
              <a:rPr lang="zh-CN" sz="1800" b="1" i="0" u="none">
                <a:solidFill>
                  <a:srgbClr val="8062C2"/>
                </a:solidFill>
                <a:latin typeface="system-ui"/>
              </a:rPr>
              <a:t>可能要</a:t>
            </a:r>
            <a:r>
              <a:rPr lang="zh-CN" sz="1800" b="1" i="0" u="sng">
                <a:solidFill>
                  <a:srgbClr val="FA5359"/>
                </a:solidFill>
                <a:latin typeface="system-ui"/>
              </a:rPr>
              <a:t>低</a:t>
            </a:r>
            <a:r>
              <a:rPr lang="zh-CN" sz="1800" b="1" i="0" u="none">
                <a:solidFill>
                  <a:srgbClr val="8062C2"/>
                </a:solidFill>
                <a:latin typeface="system-ui"/>
              </a:rPr>
              <a:t>得多</a:t>
            </a:r>
            <a:r>
              <a:rPr lang="zh-CN" sz="1800">
                <a:latin typeface="system-ui"/>
              </a:rPr>
              <a:t>。</a:t>
            </a:r>
            <a:endParaRPr lang="zh-CN" sz="1800">
              <a:latin typeface="system-ui"/>
            </a:endParaRPr>
          </a:p>
          <a:p>
            <a:pPr marL="0" lvl="0" indent="0" algn="just" hangingPunct="1">
              <a:spcBef>
                <a:spcPts val="0"/>
              </a:spcBef>
              <a:buNone/>
            </a:pPr>
            <a:endParaRPr lang="en-US" sz="1800"/>
          </a:p>
          <a:p>
            <a:pPr marL="0" lvl="0" indent="0" algn="just" hangingPunct="1">
              <a:spcBef>
                <a:spcPts val="0"/>
              </a:spcBef>
              <a:buNone/>
            </a:pPr>
            <a:r>
              <a:rPr lang="zh-CN" sz="1800">
                <a:latin typeface="system-ui"/>
              </a:rPr>
              <a:t>此时，</a:t>
            </a:r>
            <a:r>
              <a:rPr lang="en-US" sz="1800" b="1" i="0" u="none">
                <a:solidFill>
                  <a:srgbClr val="FA5359"/>
                </a:solidFill>
                <a:latin typeface="system-ui"/>
              </a:rPr>
              <a:t>身体降低核心温度的主要工具——</a:t>
            </a:r>
            <a:r>
              <a:rPr lang="zh-CN" sz="1800" b="1" i="0" u="sng">
                <a:solidFill>
                  <a:srgbClr val="2F76C3"/>
                </a:solidFill>
                <a:latin typeface="system-ui"/>
              </a:rPr>
              <a:t>汗液</a:t>
            </a:r>
            <a:r>
              <a:rPr lang="zh-CN" sz="1800" b="1" i="0" u="none">
                <a:solidFill>
                  <a:srgbClr val="FA5359"/>
                </a:solidFill>
                <a:latin typeface="system-ui"/>
              </a:rPr>
              <a:t>不再从皮肤上蒸发，最终导致中暑、器官衰竭和死亡</a:t>
            </a:r>
            <a:r>
              <a:rPr lang="zh-CN" sz="1800">
                <a:latin typeface="system-ui"/>
              </a:rPr>
              <a:t>。</a:t>
            </a:r>
            <a:endParaRPr lang="zh-CN" sz="1800">
              <a:latin typeface="system-ui"/>
            </a:endParaRPr>
          </a:p>
        </p:txBody>
      </p:sp>
      <p:sp>
        <p:nvSpPr>
          <p:cNvPr id="239" name="文本框 7"/>
          <p:cNvSpPr txBox="1">
            <a:spLocks noGrp="1" noChangeShapeType="1"/>
          </p:cNvSpPr>
          <p:nvPr/>
        </p:nvSpPr>
        <p:spPr>
          <a:xfrm>
            <a:off x="395287" y="5219700"/>
            <a:ext cx="7848600" cy="1285875"/>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50000"/>
              </a:lnSpc>
              <a:spcBef>
                <a:spcPts val="0"/>
              </a:spcBef>
              <a:buNone/>
            </a:pPr>
            <a:r>
              <a:rPr lang="zh-CN" sz="1800" b="1" i="0" u="none">
                <a:latin typeface="system-ui"/>
              </a:rPr>
              <a:t>临界极限发生在所谓的</a:t>
            </a:r>
            <a:r>
              <a:rPr lang="en-US" sz="1800" b="1" i="0" u="sng">
                <a:solidFill>
                  <a:srgbClr val="FA5359"/>
                </a:solidFill>
                <a:latin typeface="system-ui"/>
              </a:rPr>
              <a:t>“湿球温度”35度</a:t>
            </a:r>
            <a:r>
              <a:rPr lang="zh-CN" sz="1800" b="1" i="0" u="none">
                <a:latin typeface="system-ui"/>
              </a:rPr>
              <a:t>的情况下，仅被突破过十几次，主要是在南亚和波斯湾。这些事件都没有持续超过两个小时，这意味着从来没有任何与人类生存极限有关的“大规模死亡事件”</a:t>
            </a:r>
            <a:r>
              <a:rPr lang="zh-CN" sz="1800">
                <a:latin typeface="system-ui"/>
              </a:rPr>
              <a:t>。</a:t>
            </a:r>
            <a:endParaRPr lang="zh-CN" sz="1800">
              <a:latin typeface="system-ui"/>
            </a:endParaRPr>
          </a:p>
        </p:txBody>
      </p:sp>
      <p:sp>
        <p:nvSpPr>
          <p:cNvPr id="240" name="文本框 9"/>
          <p:cNvSpPr txBox="1">
            <a:spLocks noGrp="1" noChangeShapeType="1"/>
          </p:cNvSpPr>
          <p:nvPr/>
        </p:nvSpPr>
        <p:spPr>
          <a:xfrm>
            <a:off x="5292725" y="2473325"/>
            <a:ext cx="3527425" cy="708025"/>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2000">
                <a:latin typeface="黑体" pitchFamily="49" charset="-122"/>
                <a:ea typeface="黑体" pitchFamily="49" charset="-122"/>
              </a:rPr>
              <a:t>科学家已确定了人体可以生存的最大温度和湿度组合！</a:t>
            </a:r>
            <a:endParaRPr lang="zh-CN" sz="2000">
              <a:latin typeface="黑体" pitchFamily="49" charset="-122"/>
              <a:ea typeface="黑体" pitchFamily="49"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41" name=""/>
        <p:cNvGrpSpPr/>
        <p:nvPr/>
      </p:nvGrpSpPr>
      <p:grpSpPr>
        <a:xfrm>
          <a:off x="0" y="0"/>
          <a:ext cx="0" cy="0"/>
          <a:chOff x="0" y="0"/>
          <a:chExt cx="0" cy="0"/>
        </a:xfrm>
      </p:grpSpPr>
      <p:sp>
        <p:nvSpPr>
          <p:cNvPr id="242" name="内容占位符 1"/>
          <p:cNvSpPr>
            <a:spLocks noGrp="1" noChangeShapeType="1"/>
          </p:cNvSpPr>
          <p:nvPr>
            <p:ph/>
          </p:nvPr>
        </p:nvSpPr>
        <p:spPr>
          <a:xfrm>
            <a:off x="323850" y="476250"/>
            <a:ext cx="8229600" cy="6121400"/>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algn="just">
              <a:lnSpc>
                <a:spcPct val="120000"/>
              </a:lnSpc>
              <a:spcBef>
                <a:spcPct val="20000"/>
              </a:spcBef>
              <a:buClr>
                <a:srgbClr val="00007D"/>
              </a:buClr>
              <a:buSzPct val="75000"/>
              <a:buFont typeface="Wingdings" panose="05000000000000000000" pitchFamily="2" charset="2"/>
              <a:buChar char="n"/>
            </a:pPr>
            <a:r>
              <a:rPr lang="zh-CN" sz="2400">
                <a:latin typeface="system-ui"/>
              </a:rPr>
              <a:t>理论上，</a:t>
            </a:r>
            <a:r>
              <a:rPr lang="zh-CN" sz="2400" b="1" i="0" u="none">
                <a:solidFill>
                  <a:srgbClr val="8062C2"/>
                </a:solidFill>
                <a:latin typeface="system-ui"/>
              </a:rPr>
              <a:t>人类生存极限为</a:t>
            </a:r>
            <a:r>
              <a:rPr lang="en-US" sz="2400" b="1" i="0" u="sng">
                <a:solidFill>
                  <a:srgbClr val="FA5359"/>
                </a:solidFill>
                <a:latin typeface="system-ui"/>
              </a:rPr>
              <a:t> 35°C 湿球温度</a:t>
            </a:r>
            <a:r>
              <a:rPr lang="zh-CN" sz="2400" b="1" i="0" u="none">
                <a:solidFill>
                  <a:srgbClr val="8062C2"/>
                </a:solidFill>
                <a:latin typeface="system-ui"/>
              </a:rPr>
              <a:t>，代表 </a:t>
            </a:r>
            <a:r>
              <a:rPr lang="en-US" sz="2400" b="1" i="0" u="sng">
                <a:solidFill>
                  <a:srgbClr val="FA5359"/>
                </a:solidFill>
                <a:latin typeface="system-ui"/>
              </a:rPr>
              <a:t>35°C 干热和 100% 湿度</a:t>
            </a:r>
            <a:r>
              <a:rPr lang="zh-CN" sz="2400" b="1" i="0" u="none">
                <a:solidFill>
                  <a:srgbClr val="8062C2"/>
                </a:solidFill>
                <a:latin typeface="system-ui"/>
              </a:rPr>
              <a:t>，或</a:t>
            </a:r>
            <a:r>
              <a:rPr lang="en-US" sz="2400" b="1" i="0" u="none">
                <a:latin typeface="system-ui"/>
              </a:rPr>
              <a:t> </a:t>
            </a:r>
            <a:r>
              <a:rPr lang="zh-CN" sz="2400" b="1" i="0" u="sng">
                <a:solidFill>
                  <a:srgbClr val="FA5359"/>
                </a:solidFill>
                <a:latin typeface="system-ui"/>
              </a:rPr>
              <a:t>50% 湿度下 46°C</a:t>
            </a:r>
            <a:r>
              <a:rPr lang="en-US" sz="2400" b="1" i="0" u="none">
                <a:solidFill>
                  <a:srgbClr val="8062C2"/>
                </a:solidFill>
                <a:latin typeface="system-ui"/>
              </a:rPr>
              <a:t>。</a:t>
            </a:r>
            <a:endParaRPr lang="en-US" sz="2400"/>
          </a:p>
          <a:p>
            <a:pPr marL="342900" lvl="0" indent="-342900" algn="just">
              <a:lnSpc>
                <a:spcPct val="120000"/>
              </a:lnSpc>
              <a:spcBef>
                <a:spcPct val="20000"/>
              </a:spcBef>
              <a:buClr>
                <a:srgbClr val="00007D"/>
              </a:buClr>
              <a:buSzPct val="75000"/>
              <a:buFont typeface="Wingdings" panose="05000000000000000000" pitchFamily="2" charset="2"/>
              <a:buChar char="n"/>
            </a:pPr>
            <a:r>
              <a:rPr lang="zh-CN" sz="2400">
                <a:latin typeface="system-ui"/>
              </a:rPr>
              <a:t>为了测试这一极限，</a:t>
            </a:r>
            <a:r>
              <a:rPr lang="en-US" sz="2400" b="1" i="0" u="none">
                <a:solidFill>
                  <a:srgbClr val="2F76C3"/>
                </a:solidFill>
                <a:latin typeface="system-ui"/>
              </a:rPr>
              <a:t>美国宾夕法尼亚州立大学</a:t>
            </a:r>
            <a:r>
              <a:rPr lang="zh-CN" sz="2400">
                <a:latin typeface="system-ui"/>
              </a:rPr>
              <a:t>的研究人员在加热室内测量了年轻健康人的核心温度，结果发现，</a:t>
            </a:r>
            <a:r>
              <a:rPr lang="en-US" sz="2400" b="1" i="0" u="none">
                <a:solidFill>
                  <a:srgbClr val="8062C2"/>
                </a:solidFill>
                <a:latin typeface="system-ui"/>
              </a:rPr>
              <a:t>参与者达到了“临界环境极限”——当他们的身体无法阻止核心温度继续上升时——</a:t>
            </a:r>
            <a:r>
              <a:rPr lang="zh-CN" sz="2400" b="1" i="0" u="none">
                <a:solidFill>
                  <a:srgbClr val="FA5359"/>
                </a:solidFill>
                <a:latin typeface="system-ui"/>
              </a:rPr>
              <a:t>湿球温度为 30.6°C</a:t>
            </a:r>
            <a:r>
              <a:rPr lang="en-US" sz="2400" b="1" i="0" u="none">
                <a:solidFill>
                  <a:srgbClr val="8062C2"/>
                </a:solidFill>
                <a:latin typeface="system-ui"/>
              </a:rPr>
              <a:t>，远</a:t>
            </a:r>
            <a:r>
              <a:rPr lang="zh-CN" sz="2400" b="1" i="0" u="sng">
                <a:solidFill>
                  <a:srgbClr val="FA5359"/>
                </a:solidFill>
                <a:latin typeface="system-ui"/>
              </a:rPr>
              <a:t>低</a:t>
            </a:r>
            <a:r>
              <a:rPr lang="en-US" sz="2400" b="1" i="0" u="none">
                <a:solidFill>
                  <a:srgbClr val="8062C2"/>
                </a:solidFill>
                <a:latin typeface="system-ui"/>
              </a:rPr>
              <a:t>于之前理论上的 </a:t>
            </a:r>
            <a:r>
              <a:rPr lang="zh-CN" sz="2400" b="1" i="0" u="none">
                <a:solidFill>
                  <a:srgbClr val="FA5359"/>
                </a:solidFill>
                <a:latin typeface="system-ui"/>
              </a:rPr>
              <a:t>35°C</a:t>
            </a:r>
            <a:r>
              <a:rPr lang="en-US" sz="2400">
                <a:latin typeface="system-ui"/>
              </a:rPr>
              <a:t>。</a:t>
            </a:r>
            <a:endParaRPr lang="en-US" sz="2400">
              <a:latin typeface="system-ui"/>
            </a:endParaRPr>
          </a:p>
          <a:p>
            <a:pPr marL="342900" lvl="0" indent="-342900" algn="just">
              <a:lnSpc>
                <a:spcPct val="120000"/>
              </a:lnSpc>
              <a:spcBef>
                <a:spcPct val="20000"/>
              </a:spcBef>
              <a:buClr>
                <a:srgbClr val="00007D"/>
              </a:buClr>
              <a:buSzPct val="75000"/>
              <a:buFont typeface="Wingdings" panose="05000000000000000000" pitchFamily="2" charset="2"/>
              <a:buChar char="n"/>
            </a:pPr>
            <a:r>
              <a:rPr lang="en-US" sz="2400">
                <a:latin typeface="system-ui"/>
              </a:rPr>
              <a:t>汗腺较少的老年人最容易受到伤害。 去年夏天，</a:t>
            </a:r>
            <a:r>
              <a:rPr lang="zh-CN" sz="2400" b="1" i="0" u="none">
                <a:solidFill>
                  <a:srgbClr val="FA5359"/>
                </a:solidFill>
                <a:latin typeface="system-ui"/>
              </a:rPr>
              <a:t>欧洲近 </a:t>
            </a:r>
            <a:r>
              <a:rPr lang="en-US" sz="2400" b="1" i="0" u="sng">
                <a:solidFill>
                  <a:srgbClr val="FA5359"/>
                </a:solidFill>
                <a:latin typeface="system-ui"/>
              </a:rPr>
              <a:t>90% </a:t>
            </a:r>
            <a:r>
              <a:rPr lang="zh-CN" sz="2400" b="1" i="0" u="none">
                <a:solidFill>
                  <a:srgbClr val="FA5359"/>
                </a:solidFill>
                <a:latin typeface="system-ui"/>
              </a:rPr>
              <a:t>因高温而死亡的人都是 </a:t>
            </a:r>
            <a:r>
              <a:rPr lang="en-US" sz="2400" b="1" i="0" u="sng">
                <a:solidFill>
                  <a:srgbClr val="FA5359"/>
                </a:solidFill>
                <a:latin typeface="system-ui"/>
              </a:rPr>
              <a:t>65 岁</a:t>
            </a:r>
            <a:r>
              <a:rPr lang="zh-CN" sz="2400" b="1" i="0" u="none">
                <a:solidFill>
                  <a:srgbClr val="FA5359"/>
                </a:solidFill>
                <a:latin typeface="system-ui"/>
              </a:rPr>
              <a:t>以上的人</a:t>
            </a:r>
            <a:r>
              <a:rPr lang="en-US" sz="2400">
                <a:latin typeface="system-ui"/>
              </a:rPr>
              <a:t>。</a:t>
            </a:r>
            <a:endParaRPr lang="en-US" sz="2400">
              <a:latin typeface="system-ui"/>
            </a:endParaRPr>
          </a:p>
          <a:p>
            <a:pPr marL="342900" lvl="0" indent="-342900" algn="just">
              <a:lnSpc>
                <a:spcPct val="120000"/>
              </a:lnSpc>
              <a:spcBef>
                <a:spcPct val="20000"/>
              </a:spcBef>
              <a:buClr>
                <a:srgbClr val="00007D"/>
              </a:buClr>
              <a:buSzPct val="75000"/>
              <a:buFont typeface="Wingdings" panose="05000000000000000000" pitchFamily="2" charset="2"/>
              <a:buChar char="n"/>
            </a:pPr>
            <a:r>
              <a:rPr lang="zh-CN" sz="2400" b="1" i="0" u="none">
                <a:solidFill>
                  <a:srgbClr val="2F76C3"/>
                </a:solidFill>
                <a:latin typeface="system-ui"/>
              </a:rPr>
              <a:t>英国</a:t>
            </a:r>
            <a:r>
              <a:rPr lang="en-US" sz="2400">
                <a:latin typeface="system-ui"/>
              </a:rPr>
              <a:t>儿科医生</a:t>
            </a:r>
            <a:r>
              <a:rPr lang="zh-CN" sz="2400" b="1" i="0" u="none">
                <a:solidFill>
                  <a:srgbClr val="2F76C3"/>
                </a:solidFill>
                <a:latin typeface="system-ui"/>
              </a:rPr>
              <a:t>Ayesha Kadir</a:t>
            </a:r>
            <a:r>
              <a:rPr lang="en-US" sz="2400">
                <a:latin typeface="system-ui"/>
              </a:rPr>
              <a:t>表示：“</a:t>
            </a:r>
            <a:r>
              <a:rPr lang="zh-CN" sz="2400" b="1" i="0" u="none">
                <a:latin typeface="system-ui"/>
              </a:rPr>
              <a:t>我们并不是生活在真空中，尤其是儿童，小孩子调节体温的能力较差，这使他们面临更大的风险</a:t>
            </a:r>
            <a:r>
              <a:rPr lang="zh-CN" sz="2400">
                <a:latin typeface="system-ui"/>
              </a:rPr>
              <a:t>。”</a:t>
            </a:r>
            <a:endParaRPr lang="zh-CN" sz="2400">
              <a:latin typeface="system-ui"/>
            </a:endParaRPr>
          </a:p>
          <a:p>
            <a:pPr marL="342900" lvl="0" indent="-342900">
              <a:spcBef>
                <a:spcPct val="20000"/>
              </a:spcBef>
              <a:buClr>
                <a:srgbClr val="00007D"/>
              </a:buClr>
              <a:buSzPct val="75000"/>
              <a:buFont typeface="Wingdings" panose="05000000000000000000" pitchFamily="2" charset="2"/>
              <a:buChar char="n"/>
            </a:p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43" name=""/>
        <p:cNvGrpSpPr/>
        <p:nvPr/>
      </p:nvGrpSpPr>
      <p:grpSpPr>
        <a:xfrm>
          <a:off x="0" y="0"/>
          <a:ext cx="0" cy="0"/>
          <a:chOff x="0" y="0"/>
          <a:chExt cx="0" cy="0"/>
        </a:xfrm>
      </p:grpSpPr>
      <p:sp>
        <p:nvSpPr>
          <p:cNvPr id="244" name="Rectangle 5"/>
          <p:cNvSpPr>
            <a:spLocks noGrp="1" noChangeShapeType="1"/>
          </p:cNvSpPr>
          <p:nvPr/>
        </p:nvSpPr>
        <p:spPr>
          <a:xfrm>
            <a:off x="1908175" y="476250"/>
            <a:ext cx="5105400" cy="476250"/>
          </a:xfrm>
          <a:prstGeom prst="rect">
            <a:avLst/>
          </a:prstGeom>
          <a:noFill/>
        </p:spPr>
        <p:txBody>
          <a:bodyPr wrap="none">
            <a:spAutoFit/>
          </a:bodyPr>
          <a:lstStyle/>
          <a:p>
            <a:pPr lvl="0" algn="ctr" hangingPunct="1">
              <a:lnSpc>
                <a:spcPct val="90000"/>
              </a:lnSpc>
              <a:spcBef>
                <a:spcPct val="50000"/>
              </a:spcBef>
              <a:buNone/>
            </a:pPr>
            <a:r>
              <a:rPr lang="zh-CN" sz="2800" b="0" i="0" u="none">
                <a:ea typeface="黑体" pitchFamily="49" charset="-122"/>
              </a:rPr>
              <a:t>1.1.1 状态与状态函数-内能、焓</a:t>
            </a:r>
            <a:endParaRPr lang="zh-CN" sz="2800" b="0" i="0" u="none">
              <a:ea typeface="黑体" pitchFamily="49" charset="-122"/>
            </a:endParaRPr>
          </a:p>
        </p:txBody>
      </p:sp>
      <p:sp>
        <p:nvSpPr>
          <p:cNvPr id="245" name="Rectangle 9"/>
          <p:cNvSpPr>
            <a:spLocks noGrp="1" noChangeShapeType="1"/>
          </p:cNvSpPr>
          <p:nvPr/>
        </p:nvSpPr>
        <p:spPr>
          <a:xfrm>
            <a:off x="684212" y="4440237"/>
            <a:ext cx="7993062" cy="1800225"/>
          </a:xfrm>
          <a:prstGeom prst="rect">
            <a:avLst/>
          </a:prstGeom>
          <a:noFill/>
        </p:spPr>
        <p:txBody>
          <a:bodyPr lIns="91440" tIns="45720" rIns="91440" bIns="45720" anchor="ctr" anchorCtr="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en-US" sz="2800" b="1" i="0" u="none">
                <a:latin typeface="楷体_GB2312" pitchFamily="49" charset="-122"/>
                <a:ea typeface="楷体_GB2312" pitchFamily="49" charset="-122"/>
              </a:rPr>
              <a:t>体系的状态一定,则体系的各状态函数就有一个确定的值.体系的一个状态函数或者几个状态函数发生改变,则体系的状态也就发生变化.</a:t>
            </a:r>
            <a:r>
              <a:rPr lang="zh-CN" sz="2800" b="1" i="0" u="none">
                <a:solidFill>
                  <a:srgbClr val="AE1E39"/>
                </a:solidFill>
                <a:latin typeface="楷体_GB2312" pitchFamily="49" charset="-122"/>
                <a:ea typeface="楷体_GB2312" pitchFamily="49" charset="-122"/>
              </a:rPr>
              <a:t>状态函数变化取决于体系始终状态，与变化途径无关</a:t>
            </a:r>
            <a:r>
              <a:rPr lang="en-US" sz="2800" b="1" i="0" u="none">
                <a:latin typeface="楷体_GB2312" pitchFamily="49" charset="-122"/>
                <a:ea typeface="楷体_GB2312" pitchFamily="49" charset="-122"/>
              </a:rPr>
              <a:t>。 </a:t>
            </a:r>
            <a:endParaRPr lang="en-US" sz="2800" b="1" i="0" u="none">
              <a:latin typeface="楷体_GB2312" pitchFamily="49" charset="-122"/>
              <a:ea typeface="楷体_GB2312" pitchFamily="49" charset="-122"/>
            </a:endParaRPr>
          </a:p>
        </p:txBody>
      </p:sp>
      <p:sp>
        <p:nvSpPr>
          <p:cNvPr id="246" name="Rectangle 15"/>
          <p:cNvSpPr>
            <a:spLocks noGrp="1" noChangeShapeType="1"/>
          </p:cNvSpPr>
          <p:nvPr>
            <p:ph type="body"/>
          </p:nvPr>
        </p:nvSpPr>
        <p:spPr>
          <a:xfrm>
            <a:off x="611187" y="1125537"/>
            <a:ext cx="8137525" cy="3311525"/>
          </a:xfrm>
          <a:prstGeom prst="rect">
            <a:avLst/>
          </a:prstGeom>
          <a:noFill/>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20000"/>
              </a:spcBef>
              <a:buClr>
                <a:srgbClr val="00007D"/>
              </a:buClr>
              <a:buSzPct val="75000"/>
              <a:buFont typeface="Wingdings" panose="05000000000000000000" pitchFamily="2" charset="2"/>
              <a:buChar char="n"/>
            </a:pPr>
            <a:r>
              <a:rPr lang="zh-CN" sz="2800" b="1" i="0" u="none">
                <a:solidFill>
                  <a:schemeClr val="lt2"/>
                </a:solidFill>
                <a:ea typeface="黑体" pitchFamily="49" charset="-122"/>
              </a:rPr>
              <a:t>状态</a:t>
            </a:r>
            <a:r>
              <a:rPr lang="en-US" sz="2800" b="1" i="0" u="none"/>
              <a:t>(State)：</a:t>
            </a:r>
            <a:r>
              <a:rPr lang="zh-CN" sz="2800" b="1" i="0" u="none">
                <a:ea typeface="楷体_GB2312" pitchFamily="49" charset="-122"/>
              </a:rPr>
              <a:t>由一系列表征体系性质的物理量所确定下来的体系的存在形式称为体系的状态</a:t>
            </a:r>
            <a:r>
              <a:rPr lang="zh-CN" sz="2800" b="1" i="0" u="none">
                <a:ea typeface="楷体_GB2312" pitchFamily="49" charset="-122"/>
              </a:rPr>
              <a:t>。</a:t>
            </a:r>
            <a:r>
              <a:rPr lang="zh-CN" sz="2800" b="1" i="0" u="none">
                <a:ea typeface="楷体_GB2312" pitchFamily="49" charset="-122"/>
              </a:rPr>
              <a:t>是系统全部物理性质和化学性质的综合体现</a:t>
            </a:r>
            <a:r>
              <a:rPr lang="en-US" sz="2800" b="1" i="0" u="none"/>
              <a:t>。</a:t>
            </a:r>
            <a:endParaRPr lang="en-US" sz="2800" b="1" i="0" u="none"/>
          </a:p>
          <a:p>
            <a:pPr marL="0" lvl="0" indent="0" hangingPunct="1">
              <a:spcBef>
                <a:spcPct val="20000"/>
              </a:spcBef>
              <a:buClr>
                <a:srgbClr val="00007D"/>
              </a:buClr>
              <a:buSzPct val="75000"/>
              <a:buFont typeface="Wingdings" panose="05000000000000000000" pitchFamily="2" charset="2"/>
              <a:buChar char="n"/>
            </a:pPr>
            <a:endParaRPr lang="en-US" sz="2800"/>
          </a:p>
          <a:p>
            <a:pPr marL="0" lvl="0" indent="0" hangingPunct="1">
              <a:spcBef>
                <a:spcPct val="20000"/>
              </a:spcBef>
              <a:buClr>
                <a:srgbClr val="00007D"/>
              </a:buClr>
              <a:buSzPct val="75000"/>
              <a:buFont typeface="Wingdings" panose="05000000000000000000" pitchFamily="2" charset="2"/>
              <a:buChar char="n"/>
            </a:pPr>
            <a:r>
              <a:rPr lang="zh-CN" sz="2800" b="1" i="0" u="none">
                <a:solidFill>
                  <a:schemeClr val="lt2"/>
                </a:solidFill>
                <a:ea typeface="黑体" pitchFamily="49" charset="-122"/>
              </a:rPr>
              <a:t>状态函数</a:t>
            </a:r>
            <a:r>
              <a:rPr lang="en-US" sz="2800" b="1" i="0" u="none"/>
              <a:t>(State Function) ：</a:t>
            </a:r>
            <a:r>
              <a:rPr lang="zh-CN" sz="2800" b="1" i="0" u="none">
                <a:ea typeface="楷体_GB2312" pitchFamily="49" charset="-122"/>
              </a:rPr>
              <a:t>确定体系状态的物理量(体积,质量,压力,温度等)称为体系的状态函数</a:t>
            </a:r>
            <a:endParaRPr lang="zh-CN" sz="2800" b="1" i="0" u="none">
              <a:ea typeface="楷体_GB2312" pitchFamily="49"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47" name=""/>
        <p:cNvGrpSpPr/>
        <p:nvPr/>
      </p:nvGrpSpPr>
      <p:grpSpPr>
        <a:xfrm>
          <a:off x="0" y="0"/>
          <a:ext cx="0" cy="0"/>
          <a:chOff x="0" y="0"/>
          <a:chExt cx="0" cy="0"/>
        </a:xfrm>
      </p:grpSpPr>
      <p:sp>
        <p:nvSpPr>
          <p:cNvPr id="248" name="Rectangle 4"/>
          <p:cNvSpPr>
            <a:spLocks noGrp="1" noChangeShapeType="1"/>
          </p:cNvSpPr>
          <p:nvPr/>
        </p:nvSpPr>
        <p:spPr>
          <a:xfrm>
            <a:off x="684212" y="836612"/>
            <a:ext cx="7993062" cy="5262562"/>
          </a:xfrm>
          <a:prstGeom prst="rect">
            <a:avLst/>
          </a:prstGeom>
          <a:noFill/>
        </p:spPr>
        <p:txBody>
          <a:bodyPr lIns="91440" tIns="45720" rIns="91440" bIns="45720">
            <a:spAutoFit/>
          </a:bodyPr>
          <a:lstStyle/>
          <a:p>
            <a:pPr lvl="0" hangingPunct="1"/>
            <a:r>
              <a:rPr lang="zh-CN" sz="2800" b="1" i="0" u="none">
                <a:solidFill>
                  <a:schemeClr val="lt2"/>
                </a:solidFill>
                <a:ea typeface="黑体" pitchFamily="49" charset="-122"/>
              </a:rPr>
              <a:t>内能 </a:t>
            </a:r>
            <a:r>
              <a:rPr lang="en-US" sz="2800" b="1" i="0" u="none">
                <a:latin typeface="楷体_GB2312" pitchFamily="49" charset="-122"/>
                <a:ea typeface="楷体_GB2312" pitchFamily="49" charset="-122"/>
              </a:rPr>
              <a:t>(U或E, </a:t>
            </a:r>
            <a:r>
              <a:rPr lang="zh-CN" sz="2800" b="1" i="0" u="sng">
                <a:solidFill>
                  <a:schemeClr val="accent1"/>
                </a:solidFill>
                <a:latin typeface="楷体_GB2312" pitchFamily="49" charset="-122"/>
                <a:ea typeface="楷体_GB2312" pitchFamily="49" charset="-122"/>
              </a:rPr>
              <a:t>J/mol</a:t>
            </a:r>
            <a:r>
              <a:rPr lang="en-US" sz="2800" b="1" i="0" u="none">
                <a:latin typeface="楷体_GB2312" pitchFamily="49" charset="-122"/>
                <a:ea typeface="楷体_GB2312" pitchFamily="49" charset="-122"/>
              </a:rPr>
              <a:t>)：</a:t>
            </a:r>
            <a:r>
              <a:rPr lang="zh-CN" sz="2800" b="1" i="0" u="none">
                <a:latin typeface="楷体_GB2312" pitchFamily="49" charset="-122"/>
                <a:ea typeface="楷体_GB2312" pitchFamily="49" charset="-122"/>
              </a:rPr>
              <a:t>体系内部质点能量的总和。</a:t>
            </a:r>
            <a:r>
              <a:rPr lang="zh-CN" sz="2800" b="1" i="0" u="none">
                <a:solidFill>
                  <a:srgbClr val="AE1E39"/>
                </a:solidFill>
                <a:latin typeface="楷体_GB2312" pitchFamily="49" charset="-122"/>
                <a:ea typeface="楷体_GB2312" pitchFamily="49" charset="-122"/>
              </a:rPr>
              <a:t>内能本质是由于分子的平动能、转动能、振动能、电子能、分子间相互作用的势能等等形成</a:t>
            </a:r>
            <a:r>
              <a:rPr lang="zh-CN" sz="2800" b="1" i="0" u="none">
                <a:latin typeface="楷体_GB2312" pitchFamily="49" charset="-122"/>
                <a:ea typeface="楷体_GB2312" pitchFamily="49" charset="-122"/>
              </a:rPr>
              <a:t>。绝对值未知，但变化的量</a:t>
            </a:r>
            <a:r>
              <a:rPr lang="en-US" sz="2800" b="1" i="0" u="none">
                <a:solidFill>
                  <a:srgbClr val="FF0000"/>
                </a:solidFill>
              </a:rPr>
              <a:t>ΔU</a:t>
            </a:r>
            <a:r>
              <a:rPr lang="zh-CN" sz="2800" b="1" i="0" u="none">
                <a:ea typeface="楷体_GB2312" pitchFamily="49" charset="-122"/>
              </a:rPr>
              <a:t>可知</a:t>
            </a:r>
            <a:r>
              <a:rPr lang="zh-CN" sz="2800" b="1" i="0" u="none"/>
              <a:t>。</a:t>
            </a:r>
            <a:endParaRPr lang="zh-CN" sz="2800" b="1" i="0" u="none"/>
          </a:p>
          <a:p>
            <a:pPr lvl="0" hangingPunct="1"/>
            <a:r>
              <a:rPr lang="zh-CN" sz="2800" b="0" i="0" u="none">
                <a:effectLst>
                  <a:outerShdw blurRad="38100" dist="38100" dir="2700000" algn="tl">
                    <a:srgbClr val="000000">
                      <a:alpha val="43137"/>
                    </a:srgbClr>
                  </a:outerShdw>
                </a:effectLst>
              </a:rPr>
              <a:t>  </a:t>
            </a:r>
            <a:endParaRPr lang="zh-CN" sz="2800" b="0" i="0" u="none">
              <a:effectLst>
                <a:outerShdw blurRad="38100" dist="38100" dir="2700000" algn="tl">
                  <a:srgbClr val="000000">
                    <a:alpha val="43137"/>
                  </a:srgbClr>
                </a:outerShdw>
              </a:effectLst>
            </a:endParaRPr>
          </a:p>
          <a:p>
            <a:pPr lvl="0" hangingPunct="1"/>
            <a:r>
              <a:rPr lang="zh-CN" sz="2800" b="0" i="0" u="none">
                <a:effectLst>
                  <a:outerShdw blurRad="38100" dist="38100" dir="2700000" algn="tl">
                    <a:srgbClr val="000000">
                      <a:alpha val="43137"/>
                    </a:srgbClr>
                  </a:outerShdw>
                </a:effectLst>
              </a:rPr>
              <a:t> </a:t>
            </a:r>
            <a:r>
              <a:rPr lang="zh-CN" sz="2800" b="0" i="0" u="none">
                <a:ea typeface="楷体_GB2312" pitchFamily="49" charset="-122"/>
              </a:rPr>
              <a:t>状态</a:t>
            </a:r>
            <a:r>
              <a:rPr lang="en-US" sz="2800" b="0" i="0" u="none"/>
              <a:t>I (U1)</a:t>
            </a:r>
            <a:r>
              <a:rPr lang="en-US" sz="2800" b="0" i="0" u="none">
                <a:sym typeface="Wingdings" panose="05000000000000000000" pitchFamily="2" charset="2"/>
              </a:rPr>
              <a:t></a:t>
            </a:r>
            <a:r>
              <a:rPr lang="zh-CN" sz="2800" b="0" i="0" u="none">
                <a:ea typeface="楷体_GB2312" pitchFamily="49" charset="-122"/>
              </a:rPr>
              <a:t>状态</a:t>
            </a:r>
            <a:r>
              <a:rPr lang="en-US" sz="2800" b="0" i="0" u="none"/>
              <a:t>II (U2):</a:t>
            </a:r>
            <a:r>
              <a:rPr lang="en-US" sz="2800" b="1" i="0" u="none"/>
              <a:t>   </a:t>
            </a:r>
            <a:r>
              <a:rPr lang="en-US" sz="2800" b="1" i="0" u="none">
                <a:solidFill>
                  <a:srgbClr val="FF0000"/>
                </a:solidFill>
              </a:rPr>
              <a:t>ΔU = U2 - U1</a:t>
            </a:r>
            <a:endParaRPr lang="en-US" sz="2800" b="1" i="0" u="none">
              <a:solidFill>
                <a:srgbClr val="FF0000"/>
              </a:solidFill>
            </a:endParaRPr>
          </a:p>
          <a:p>
            <a:pPr lvl="0" hangingPunct="1"/>
            <a:endParaRPr lang="en-US" sz="2800"/>
          </a:p>
          <a:p>
            <a:pPr lvl="0" hangingPunct="1"/>
            <a:r>
              <a:rPr lang="zh-CN" sz="2800" b="1" i="0" u="none">
                <a:solidFill>
                  <a:schemeClr val="lt2"/>
                </a:solidFill>
                <a:ea typeface="黑体" pitchFamily="49" charset="-122"/>
              </a:rPr>
              <a:t>焓</a:t>
            </a:r>
            <a:r>
              <a:rPr lang="en-US" sz="2800" b="0" i="0" u="none">
                <a:effectLst>
                  <a:outerShdw blurRad="38100" dist="38100" dir="2700000" algn="tl">
                    <a:srgbClr val="000000">
                      <a:alpha val="43137"/>
                    </a:srgbClr>
                  </a:outerShdw>
                </a:effectLst>
              </a:rPr>
              <a:t>(enthalpy，</a:t>
            </a:r>
            <a:r>
              <a:rPr lang="zh-CN" sz="2800" b="1" i="0" u="none"/>
              <a:t>H, </a:t>
            </a:r>
            <a:r>
              <a:rPr lang="en-US" sz="2800" b="1" i="0" u="sng">
                <a:solidFill>
                  <a:schemeClr val="accent1"/>
                </a:solidFill>
                <a:latin typeface="楷体_GB2312" pitchFamily="49" charset="-122"/>
                <a:ea typeface="楷体_GB2312" pitchFamily="49" charset="-122"/>
              </a:rPr>
              <a:t>J/mol</a:t>
            </a:r>
            <a:r>
              <a:rPr lang="zh-CN" sz="2800" b="0" i="0" u="none">
                <a:effectLst>
                  <a:outerShdw blurRad="38100" dist="38100" dir="2700000" algn="tl">
                    <a:srgbClr val="000000">
                      <a:alpha val="43137"/>
                    </a:srgbClr>
                  </a:outerShdw>
                </a:effectLst>
              </a:rPr>
              <a:t>)：</a:t>
            </a:r>
            <a:r>
              <a:rPr lang="en-US" sz="2800" b="1" i="0" u="none">
                <a:latin typeface="楷体_GB2312" pitchFamily="49" charset="-122"/>
                <a:ea typeface="楷体_GB2312" pitchFamily="49" charset="-122"/>
              </a:rPr>
              <a:t>一个体系的内能与其全部质点压力和体积变化之和.</a:t>
            </a:r>
            <a:r>
              <a:rPr lang="zh-CN" sz="2800" b="1" i="0" u="none">
                <a:solidFill>
                  <a:srgbClr val="AE1E39"/>
                </a:solidFill>
                <a:latin typeface="楷体_GB2312" pitchFamily="49" charset="-122"/>
                <a:ea typeface="楷体_GB2312" pitchFamily="49" charset="-122"/>
              </a:rPr>
              <a:t>包含体系内质点自身的能量以及质点之间的相互作用</a:t>
            </a:r>
            <a:r>
              <a:rPr lang="en-US" sz="2800" b="1" i="0" u="none">
                <a:latin typeface="楷体_GB2312" pitchFamily="49" charset="-122"/>
                <a:ea typeface="楷体_GB2312" pitchFamily="49" charset="-122"/>
              </a:rPr>
              <a:t>。表述为:</a:t>
            </a:r>
            <a:endParaRPr lang="en-US" sz="2800" b="1" i="0" u="none">
              <a:latin typeface="楷体_GB2312" pitchFamily="49" charset="-122"/>
              <a:ea typeface="楷体_GB2312" pitchFamily="49" charset="-122"/>
            </a:endParaRPr>
          </a:p>
          <a:p>
            <a:pPr lvl="0" hangingPunct="1"/>
            <a:endParaRPr lang="en-US" sz="2800"/>
          </a:p>
          <a:p>
            <a:pPr lvl="0" hangingPunct="1"/>
            <a:r>
              <a:rPr lang="zh-CN" sz="2800" b="1" i="0" u="none">
                <a:solidFill>
                  <a:srgbClr val="FF0000"/>
                </a:solidFill>
              </a:rPr>
              <a:t>                ΔH = ΔU +Δ（PV）</a:t>
            </a:r>
            <a:endParaRPr lang="zh-CN" sz="2800" b="1" i="0" u="none">
              <a:solidFill>
                <a:srgbClr val="FF0000"/>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49" name=""/>
        <p:cNvGrpSpPr/>
        <p:nvPr/>
      </p:nvGrpSpPr>
      <p:grpSpPr>
        <a:xfrm>
          <a:off x="0" y="0"/>
          <a:ext cx="0" cy="0"/>
          <a:chOff x="0" y="0"/>
          <a:chExt cx="0" cy="0"/>
        </a:xfrm>
      </p:grpSpPr>
      <p:sp>
        <p:nvSpPr>
          <p:cNvPr id="250" name="Rectangle 4"/>
          <p:cNvSpPr>
            <a:spLocks noGrp="1" noChangeShapeType="1"/>
          </p:cNvSpPr>
          <p:nvPr/>
        </p:nvSpPr>
        <p:spPr>
          <a:xfrm>
            <a:off x="611187" y="798512"/>
            <a:ext cx="7991475" cy="5262562"/>
          </a:xfrm>
          <a:prstGeom prst="rect">
            <a:avLst/>
          </a:prstGeom>
          <a:noFill/>
        </p:spPr>
        <p:txBody>
          <a:bodyPr lIns="91440" tIns="45720" rIns="91440" bIns="45720" anchor="ctr" anchorCtr="0">
            <a:spAutoFit/>
          </a:bodyPr>
          <a:lstStyle/>
          <a:p>
            <a:pPr lvl="0" hangingPunct="1"/>
            <a:r>
              <a:rPr lang="en-US" sz="2400" b="0" i="0" u="none">
                <a:latin typeface="楷体_GB2312" pitchFamily="49" charset="-122"/>
                <a:ea typeface="楷体_GB2312" pitchFamily="49" charset="-122"/>
              </a:rPr>
              <a:t>一般说来U包含体系的所有能量，包括分子能量（分子间作用能），原子能量（质子电子的电磁能），核子内部能量的，其绝对值无法得知。</a:t>
            </a:r>
            <a:endParaRPr lang="en-US" sz="2400" b="0" i="0" u="none">
              <a:latin typeface="楷体_GB2312" pitchFamily="49" charset="-122"/>
              <a:ea typeface="楷体_GB2312" pitchFamily="49" charset="-122"/>
            </a:endParaRPr>
          </a:p>
          <a:p>
            <a:pPr lvl="0" hangingPunct="1"/>
            <a:endParaRPr lang="en-US" sz="2400"/>
          </a:p>
          <a:p>
            <a:pPr lvl="0" hangingPunct="1"/>
            <a:r>
              <a:rPr lang="en-US" sz="2400" b="0" i="0" u="none">
                <a:latin typeface="楷体_GB2312" pitchFamily="49" charset="-122"/>
                <a:ea typeface="楷体_GB2312" pitchFamily="49" charset="-122"/>
              </a:rPr>
              <a:t>所以</a:t>
            </a:r>
            <a:r>
              <a:rPr lang="zh-CN" sz="2400" b="1" i="0" u="none">
                <a:latin typeface="楷体_GB2312" pitchFamily="49" charset="-122"/>
                <a:ea typeface="楷体_GB2312" pitchFamily="49" charset="-122"/>
              </a:rPr>
              <a:t>H的绝对数值也是无法得知的</a:t>
            </a:r>
            <a:r>
              <a:rPr lang="en-US" sz="2400" b="0" i="0" u="none">
                <a:latin typeface="楷体_GB2312" pitchFamily="49" charset="-122"/>
                <a:ea typeface="楷体_GB2312" pitchFamily="49" charset="-122"/>
              </a:rPr>
              <a:t>。</a:t>
            </a:r>
            <a:br>
              <a:rPr lang="en-US" sz="2400" b="0" i="0" u="none">
                <a:latin typeface="楷体_GB2312" pitchFamily="49" charset="-122"/>
                <a:ea typeface="楷体_GB2312" pitchFamily="49" charset="-122"/>
              </a:rPr>
            </a:br>
            <a:br>
              <a:rPr lang="en-US" sz="2400" b="0" i="0" u="none">
                <a:latin typeface="楷体_GB2312" pitchFamily="49" charset="-122"/>
                <a:ea typeface="楷体_GB2312" pitchFamily="49" charset="-122"/>
              </a:rPr>
            </a:br>
            <a:r>
              <a:rPr lang="zh-CN" sz="2400" b="0" i="0" u="none">
                <a:solidFill>
                  <a:srgbClr val="AE1E39"/>
                </a:solidFill>
                <a:latin typeface="楷体_GB2312" pitchFamily="49" charset="-122"/>
                <a:ea typeface="楷体_GB2312" pitchFamily="49" charset="-122"/>
              </a:rPr>
              <a:t>焓是一个热力学常数，</a:t>
            </a:r>
            <a:r>
              <a:rPr lang="zh-CN" sz="2400" b="0" i="0" u="none">
                <a:solidFill>
                  <a:srgbClr val="AE1E39"/>
                </a:solidFill>
                <a:latin typeface="楷体_GB2312" pitchFamily="49" charset="-122"/>
                <a:ea typeface="楷体_GB2312" pitchFamily="49" charset="-122"/>
              </a:rPr>
              <a:t>没有</a:t>
            </a:r>
            <a:r>
              <a:rPr lang="zh-CN" sz="2400" b="0" i="0" u="none">
                <a:solidFill>
                  <a:srgbClr val="AE1E39"/>
                </a:solidFill>
                <a:latin typeface="楷体_GB2312" pitchFamily="49" charset="-122"/>
                <a:ea typeface="楷体_GB2312" pitchFamily="49" charset="-122"/>
              </a:rPr>
              <a:t>明确</a:t>
            </a:r>
            <a:r>
              <a:rPr lang="zh-CN" sz="2400" b="0" i="0" u="none">
                <a:solidFill>
                  <a:srgbClr val="AE1E39"/>
                </a:solidFill>
                <a:latin typeface="楷体_GB2312" pitchFamily="49" charset="-122"/>
                <a:ea typeface="楷体_GB2312" pitchFamily="49" charset="-122"/>
              </a:rPr>
              <a:t>直观物理意义</a:t>
            </a:r>
            <a:r>
              <a:rPr lang="en-US" sz="2400" b="0" i="0" u="none">
                <a:latin typeface="楷体_GB2312" pitchFamily="49" charset="-122"/>
                <a:ea typeface="楷体_GB2312" pitchFamily="49" charset="-122"/>
              </a:rPr>
              <a:t>，焓变是焓在一个过程中的变化值。</a:t>
            </a:r>
            <a:endParaRPr lang="en-US" sz="2400" b="0" i="0" u="none">
              <a:latin typeface="楷体_GB2312" pitchFamily="49" charset="-122"/>
              <a:ea typeface="楷体_GB2312" pitchFamily="49" charset="-122"/>
            </a:endParaRPr>
          </a:p>
          <a:p>
            <a:pPr lvl="0" hangingPunct="1"/>
            <a:endParaRPr lang="en-US" sz="2400"/>
          </a:p>
          <a:p>
            <a:pPr lvl="0" hangingPunct="1"/>
            <a:r>
              <a:rPr lang="en-US" sz="2400" b="0" i="0" u="none">
                <a:latin typeface="楷体_GB2312" pitchFamily="49" charset="-122"/>
                <a:ea typeface="楷体_GB2312" pitchFamily="49" charset="-122"/>
              </a:rPr>
              <a:t>U是状态函数，P，V也是状态函数，所以H也是。</a:t>
            </a:r>
            <a:br>
              <a:rPr lang="en-US" sz="2400" b="0" i="0" u="none">
                <a:latin typeface="楷体_GB2312" pitchFamily="49" charset="-122"/>
                <a:ea typeface="楷体_GB2312" pitchFamily="49" charset="-122"/>
              </a:rPr>
            </a:br>
            <a:br>
              <a:rPr lang="en-US" sz="2400" b="0" i="0" u="none">
                <a:latin typeface="楷体_GB2312" pitchFamily="49" charset="-122"/>
                <a:ea typeface="楷体_GB2312" pitchFamily="49" charset="-122"/>
              </a:rPr>
            </a:br>
            <a:r>
              <a:rPr lang="en-US" sz="2400" b="0" i="0" u="none">
                <a:latin typeface="楷体_GB2312" pitchFamily="49" charset="-122"/>
                <a:ea typeface="楷体_GB2312" pitchFamily="49" charset="-122"/>
              </a:rPr>
              <a:t>使用H时注意一点，PV两项虽然有能量的量纲（单位），有时等于能量的量值，但它不是能量项，只是在等压变化中以（U+PV）作为整体方便而采用的，记作H。</a:t>
            </a:r>
            <a:endParaRPr lang="en-US" sz="2400" b="0" i="0" u="none">
              <a:latin typeface="楷体_GB2312" pitchFamily="49" charset="-122"/>
              <a:ea typeface="楷体_GB2312" pitchFamily="49"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 name=""/>
        <p:cNvGrpSpPr/>
        <p:nvPr/>
      </p:nvGrpSpPr>
      <p:grpSpPr>
        <a:xfrm>
          <a:off x="0" y="0"/>
          <a:ext cx="0" cy="0"/>
          <a:chOff x="0" y="0"/>
          <a:chExt cx="0" cy="0"/>
        </a:xfrm>
      </p:grpSpPr>
      <p:sp>
        <p:nvSpPr>
          <p:cNvPr id="6" name="Rectangle 3"/>
          <p:cNvSpPr>
            <a:spLocks noGrp="1" noChangeShapeType="1"/>
          </p:cNvSpPr>
          <p:nvPr>
            <p:ph type="body"/>
          </p:nvPr>
        </p:nvSpPr>
        <p:spPr>
          <a:xfrm>
            <a:off x="1116012" y="3068637"/>
            <a:ext cx="6911975" cy="1666875"/>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742950" lvl="1" indent="-285750" algn="just" hangingPunct="1">
              <a:lnSpc>
                <a:spcPct val="120000"/>
              </a:lnSpc>
              <a:spcBef>
                <a:spcPct val="20000"/>
              </a:spcBef>
              <a:buClr>
                <a:srgbClr val="FF00FF"/>
              </a:buClr>
              <a:buFont typeface="Wingdings" panose="05000000000000000000" pitchFamily="2" charset="2"/>
              <a:buChar char="«"/>
            </a:pPr>
            <a:r>
              <a:rPr lang="en-US" sz="2400">
                <a:latin typeface="黑体" pitchFamily="49" charset="-122"/>
                <a:ea typeface="黑体" pitchFamily="49" charset="-122"/>
              </a:rPr>
              <a:t>等温过程(isothermal process) :△</a:t>
            </a:r>
            <a:r>
              <a:rPr lang="en-US" sz="2400" b="0" i="1" u="none">
                <a:latin typeface="黑体" pitchFamily="49" charset="-122"/>
                <a:ea typeface="黑体" pitchFamily="49" charset="-122"/>
              </a:rPr>
              <a:t>T </a:t>
            </a:r>
            <a:r>
              <a:rPr lang="zh-CN" sz="2400">
                <a:latin typeface="黑体" pitchFamily="49" charset="-122"/>
                <a:ea typeface="黑体" pitchFamily="49" charset="-122"/>
              </a:rPr>
              <a:t>= 0</a:t>
            </a:r>
            <a:endParaRPr lang="zh-CN" sz="2400">
              <a:latin typeface="黑体" pitchFamily="49" charset="-122"/>
              <a:ea typeface="黑体" pitchFamily="49" charset="-122"/>
            </a:endParaRPr>
          </a:p>
          <a:p>
            <a:pPr marL="742950" lvl="1" indent="-285750" algn="just" hangingPunct="1">
              <a:lnSpc>
                <a:spcPct val="120000"/>
              </a:lnSpc>
              <a:spcBef>
                <a:spcPct val="20000"/>
              </a:spcBef>
              <a:buClr>
                <a:srgbClr val="FF00FF"/>
              </a:buClr>
              <a:buFont typeface="Wingdings" panose="05000000000000000000" pitchFamily="2" charset="2"/>
              <a:buChar char="«"/>
            </a:pPr>
            <a:r>
              <a:rPr lang="zh-CN" sz="2400">
                <a:latin typeface="黑体" pitchFamily="49" charset="-122"/>
                <a:ea typeface="黑体" pitchFamily="49" charset="-122"/>
              </a:rPr>
              <a:t>等压过程(isobaric process) :  △</a:t>
            </a:r>
            <a:r>
              <a:rPr lang="en-US" sz="2400" b="0" i="1" u="none">
                <a:latin typeface="黑体" pitchFamily="49" charset="-122"/>
                <a:ea typeface="黑体" pitchFamily="49" charset="-122"/>
              </a:rPr>
              <a:t>p </a:t>
            </a:r>
            <a:r>
              <a:rPr lang="zh-CN" sz="2400">
                <a:latin typeface="黑体" pitchFamily="49" charset="-122"/>
                <a:ea typeface="黑体" pitchFamily="49" charset="-122"/>
              </a:rPr>
              <a:t>= 0</a:t>
            </a:r>
            <a:endParaRPr lang="zh-CN" sz="2400">
              <a:latin typeface="黑体" pitchFamily="49" charset="-122"/>
              <a:ea typeface="黑体" pitchFamily="49" charset="-122"/>
            </a:endParaRPr>
          </a:p>
          <a:p>
            <a:pPr marL="742950" lvl="1" indent="-285750" algn="just" hangingPunct="1">
              <a:lnSpc>
                <a:spcPct val="120000"/>
              </a:lnSpc>
              <a:spcBef>
                <a:spcPct val="20000"/>
              </a:spcBef>
              <a:buClr>
                <a:srgbClr val="FF00FF"/>
              </a:buClr>
              <a:buFont typeface="Wingdings" panose="05000000000000000000" pitchFamily="2" charset="2"/>
              <a:buChar char="«"/>
            </a:pPr>
            <a:r>
              <a:rPr lang="zh-CN" sz="2400">
                <a:latin typeface="黑体" pitchFamily="49" charset="-122"/>
                <a:ea typeface="黑体" pitchFamily="49" charset="-122"/>
              </a:rPr>
              <a:t>等容过程(isovolumic process) :△</a:t>
            </a:r>
            <a:r>
              <a:rPr lang="en-US" sz="2400" b="0" i="1" u="none">
                <a:latin typeface="黑体" pitchFamily="49" charset="-122"/>
                <a:ea typeface="黑体" pitchFamily="49" charset="-122"/>
              </a:rPr>
              <a:t>V </a:t>
            </a:r>
            <a:r>
              <a:rPr lang="en-US" sz="2400">
                <a:latin typeface="黑体" pitchFamily="49" charset="-122"/>
                <a:ea typeface="黑体" pitchFamily="49" charset="-122"/>
              </a:rPr>
              <a:t>= 0</a:t>
            </a:r>
            <a:endParaRPr lang="en-US" sz="2400">
              <a:latin typeface="黑体" pitchFamily="49" charset="-122"/>
              <a:ea typeface="黑体" pitchFamily="49" charset="-122"/>
            </a:endParaRPr>
          </a:p>
        </p:txBody>
      </p:sp>
      <p:sp>
        <p:nvSpPr>
          <p:cNvPr id="7" name="Rectangle 5"/>
          <p:cNvSpPr>
            <a:spLocks noGrp="1" noChangeShapeType="1"/>
          </p:cNvSpPr>
          <p:nvPr/>
        </p:nvSpPr>
        <p:spPr>
          <a:xfrm>
            <a:off x="2268537" y="404812"/>
            <a:ext cx="4451350" cy="604837"/>
          </a:xfrm>
          <a:prstGeom prst="rect">
            <a:avLst/>
          </a:prstGeom>
          <a:noFill/>
        </p:spPr>
        <p:txBody>
          <a:bodyPr wrap="none">
            <a:spAutoFit/>
          </a:bodyPr>
          <a:lstStyle/>
          <a:p>
            <a:pPr lvl="0" algn="ctr" hangingPunct="1">
              <a:lnSpc>
                <a:spcPct val="120000"/>
              </a:lnSpc>
              <a:spcBef>
                <a:spcPct val="20000"/>
              </a:spcBef>
              <a:buNone/>
            </a:pPr>
            <a:r>
              <a:rPr lang="zh-CN" sz="2800" b="0" i="0" u="none">
                <a:latin typeface="黑体" pitchFamily="49" charset="-122"/>
                <a:ea typeface="黑体" pitchFamily="49" charset="-122"/>
              </a:rPr>
              <a:t>1.1.2 途径函数</a:t>
            </a:r>
            <a:r>
              <a:rPr lang="en-US" sz="2800" b="0" i="0" u="none">
                <a:ea typeface="黑体" pitchFamily="49" charset="-122"/>
              </a:rPr>
              <a:t>——</a:t>
            </a:r>
            <a:r>
              <a:rPr lang="zh-CN" sz="2800" b="0" i="0" u="none">
                <a:ea typeface="黑体" pitchFamily="49" charset="-122"/>
              </a:rPr>
              <a:t>热与功</a:t>
            </a:r>
            <a:endParaRPr lang="zh-CN" sz="2800" b="0" i="0" u="none">
              <a:ea typeface="黑体" pitchFamily="49" charset="-122"/>
            </a:endParaRPr>
          </a:p>
        </p:txBody>
      </p:sp>
      <p:sp>
        <p:nvSpPr>
          <p:cNvPr id="8" name="Text Box 6"/>
          <p:cNvSpPr txBox="1">
            <a:spLocks noGrp="1" noChangeShapeType="1"/>
          </p:cNvSpPr>
          <p:nvPr/>
        </p:nvSpPr>
        <p:spPr>
          <a:xfrm>
            <a:off x="755650" y="5157787"/>
            <a:ext cx="7920037" cy="10668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zh-CN" sz="2800" b="1" i="0" u="none">
                <a:solidFill>
                  <a:srgbClr val="AE1E39"/>
                </a:solidFill>
                <a:ea typeface="黑体" pitchFamily="49" charset="-122"/>
              </a:rPr>
              <a:t>途径函数：</a:t>
            </a:r>
            <a:r>
              <a:rPr lang="en-US" sz="2400" b="1" i="0" u="none">
                <a:solidFill>
                  <a:srgbClr val="AE1E39"/>
                </a:solidFill>
                <a:ea typeface="楷体_GB2312" pitchFamily="49" charset="-122"/>
              </a:rPr>
              <a:t>描述系统状态变化过程中的一些物理参数。</a:t>
            </a:r>
            <a:endParaRPr lang="en-US" sz="2400" b="1" i="0" u="none">
              <a:solidFill>
                <a:srgbClr val="AE1E39"/>
              </a:solidFill>
              <a:ea typeface="楷体_GB2312" pitchFamily="49" charset="-122"/>
            </a:endParaRPr>
          </a:p>
          <a:p>
            <a:pPr marL="0" lvl="0" indent="0" hangingPunct="1">
              <a:spcBef>
                <a:spcPct val="50000"/>
              </a:spcBef>
              <a:buNone/>
            </a:pPr>
            <a:r>
              <a:rPr lang="en-US" sz="2400" b="1" i="0" u="none">
                <a:solidFill>
                  <a:srgbClr val="AE1E39"/>
                </a:solidFill>
                <a:ea typeface="楷体_GB2312" pitchFamily="49" charset="-122"/>
              </a:rPr>
              <a:t>如功, 热, 路程等, 其改变值取决于具体的变化方式</a:t>
            </a:r>
            <a:r>
              <a:rPr lang="zh-CN" sz="2400" b="1" i="0" u="none">
                <a:ea typeface="楷体_GB2312" pitchFamily="49" charset="-122"/>
              </a:rPr>
              <a:t>. </a:t>
            </a:r>
            <a:endParaRPr lang="zh-CN" sz="2400" b="1" i="0" u="none">
              <a:ea typeface="楷体_GB2312" pitchFamily="49" charset="-122"/>
            </a:endParaRPr>
          </a:p>
        </p:txBody>
      </p:sp>
      <p:sp>
        <p:nvSpPr>
          <p:cNvPr id="9" name="Text Box 8"/>
          <p:cNvSpPr txBox="1">
            <a:spLocks noGrp="1" noChangeShapeType="1"/>
          </p:cNvSpPr>
          <p:nvPr/>
        </p:nvSpPr>
        <p:spPr>
          <a:xfrm>
            <a:off x="323850" y="3644900"/>
            <a:ext cx="1657350" cy="4572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algn="ctr" hangingPunct="1">
              <a:spcBef>
                <a:spcPct val="50000"/>
              </a:spcBef>
              <a:buNone/>
            </a:pPr>
            <a:r>
              <a:rPr lang="en-US" sz="2400" b="1" i="0" u="none">
                <a:latin typeface="楷体_GB2312" pitchFamily="49" charset="-122"/>
                <a:ea typeface="楷体_GB2312" pitchFamily="49" charset="-122"/>
              </a:rPr>
              <a:t>例如:</a:t>
            </a:r>
            <a:endParaRPr lang="en-US" sz="2400" b="1" i="0" u="none">
              <a:latin typeface="楷体_GB2312" pitchFamily="49" charset="-122"/>
              <a:ea typeface="楷体_GB2312" pitchFamily="49" charset="-122"/>
            </a:endParaRPr>
          </a:p>
        </p:txBody>
      </p:sp>
      <p:sp>
        <p:nvSpPr>
          <p:cNvPr id="10" name="Rectangle 9"/>
          <p:cNvSpPr>
            <a:spLocks noGrp="1" noChangeShapeType="1"/>
          </p:cNvSpPr>
          <p:nvPr/>
        </p:nvSpPr>
        <p:spPr>
          <a:xfrm>
            <a:off x="827087" y="1412875"/>
            <a:ext cx="7775575" cy="1373187"/>
          </a:xfrm>
          <a:prstGeom prst="rect">
            <a:avLst/>
          </a:prstGeom>
          <a:noFill/>
        </p:spPr>
        <p:txBody>
          <a:bodyPr lIns="91440" tIns="45720" rIns="91440" bIns="45720" anchor="ctr" anchorCtr="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2800" b="1" i="0" u="none">
                <a:solidFill>
                  <a:schemeClr val="lt2"/>
                </a:solidFill>
                <a:latin typeface="黑体" pitchFamily="49" charset="-122"/>
                <a:ea typeface="黑体" pitchFamily="49" charset="-122"/>
              </a:rPr>
              <a:t>过程</a:t>
            </a:r>
            <a:r>
              <a:rPr lang="zh-CN" sz="2800" b="1" i="0" u="none">
                <a:latin typeface="黑体" pitchFamily="49" charset="-122"/>
                <a:ea typeface="黑体" pitchFamily="49" charset="-122"/>
              </a:rPr>
              <a:t>：</a:t>
            </a:r>
            <a:r>
              <a:rPr lang="en-US" sz="2800" b="1" i="0" u="none">
                <a:latin typeface="楷体_GB2312" pitchFamily="49" charset="-122"/>
                <a:ea typeface="楷体_GB2312" pitchFamily="49" charset="-122"/>
              </a:rPr>
              <a:t>体系状态发生变化时,状态变化的具体方式称为过程。体系由始态到终态,可以经由不同的方式,我们把每一种具体的方式称为一种途径. </a:t>
            </a:r>
            <a:endParaRPr lang="en-US" sz="2800" b="1" i="0" u="none">
              <a:latin typeface="楷体_GB2312" pitchFamily="49" charset="-122"/>
              <a:ea typeface="楷体_GB2312" pitchFamily="49" charset="-122"/>
            </a:endParaRPr>
          </a:p>
        </p:txBody>
      </p:sp>
      <p:sp>
        <p:nvSpPr>
          <p:cNvPr id="11" name="TextBox 8"/>
          <p:cNvSpPr txBox="1">
            <a:spLocks noGrp="1" noChangeShapeType="1"/>
          </p:cNvSpPr>
          <p:nvPr/>
        </p:nvSpPr>
        <p:spPr>
          <a:xfrm>
            <a:off x="5429250" y="6488112"/>
            <a:ext cx="3714750" cy="369887"/>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1800"/>
              <a:t>理解：距离与路程</a:t>
            </a:r>
            <a:endParaRPr lang="zh-CN" sz="180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2" name=""/>
        <p:cNvGrpSpPr/>
        <p:nvPr/>
      </p:nvGrpSpPr>
      <p:grpSpPr>
        <a:xfrm>
          <a:off x="0" y="0"/>
          <a:ext cx="0" cy="0"/>
          <a:chOff x="0" y="0"/>
          <a:chExt cx="0" cy="0"/>
        </a:xfrm>
      </p:grpSpPr>
      <p:sp>
        <p:nvSpPr>
          <p:cNvPr id="13" name="Rectangle 2"/>
          <p:cNvSpPr>
            <a:spLocks noGrp="1" noChangeShapeType="1"/>
          </p:cNvSpPr>
          <p:nvPr>
            <p:ph type="body"/>
          </p:nvPr>
        </p:nvSpPr>
        <p:spPr>
          <a:xfrm>
            <a:off x="900112" y="1482725"/>
            <a:ext cx="7343775" cy="4121150"/>
          </a:xfrm>
          <a:prstGeom prst="rect">
            <a:avLst/>
          </a:prstGeom>
          <a:noFill/>
        </p:spPr>
        <p:txBody>
          <a:bodyPr lIns="91440" tIns="45720" rIns="91440" bIns="45720" anchor="t">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50000"/>
              </a:lnSpc>
              <a:spcBef>
                <a:spcPts val="0"/>
              </a:spcBef>
              <a:buNone/>
            </a:pPr>
            <a:r>
              <a:rPr lang="en-US" b="1" i="0" u="none">
                <a:solidFill>
                  <a:schemeClr val="lt2"/>
                </a:solidFill>
                <a:latin typeface="黑体" pitchFamily="49" charset="-122"/>
                <a:ea typeface="黑体" pitchFamily="49" charset="-122"/>
              </a:rPr>
              <a:t>热(Q)</a:t>
            </a:r>
            <a:r>
              <a:rPr lang="zh-CN" b="1" i="0" u="none">
                <a:latin typeface="黑体" pitchFamily="49" charset="-122"/>
                <a:ea typeface="黑体" pitchFamily="49" charset="-122"/>
              </a:rPr>
              <a:t>：</a:t>
            </a:r>
            <a:r>
              <a:rPr lang="en-US" sz="2800" b="1" i="0" u="none">
                <a:latin typeface="楷体_GB2312" pitchFamily="49" charset="-122"/>
                <a:ea typeface="楷体_GB2312" pitchFamily="49" charset="-122"/>
              </a:rPr>
              <a:t>系统和环境之间由于温度差而交换的能量形式。</a:t>
            </a:r>
            <a:endParaRPr lang="en-US" sz="2800" b="1" i="0" u="none">
              <a:latin typeface="楷体_GB2312" pitchFamily="49" charset="-122"/>
              <a:ea typeface="楷体_GB2312" pitchFamily="49" charset="-122"/>
            </a:endParaRPr>
          </a:p>
          <a:p>
            <a:pPr marL="0" lvl="0" indent="0" hangingPunct="1">
              <a:lnSpc>
                <a:spcPct val="150000"/>
              </a:lnSpc>
              <a:spcBef>
                <a:spcPts val="0"/>
              </a:spcBef>
              <a:buNone/>
            </a:pPr>
            <a:r>
              <a:rPr lang="en-US" sz="2800" b="1" i="0" u="none">
                <a:latin typeface="楷体_GB2312" pitchFamily="49" charset="-122"/>
                <a:ea typeface="楷体_GB2312" pitchFamily="49" charset="-122"/>
              </a:rPr>
              <a:t>    温差传递,即以质点无序运动方式传递。</a:t>
            </a:r>
            <a:endParaRPr lang="en-US" sz="2800" b="1" i="0" u="none">
              <a:latin typeface="楷体_GB2312" pitchFamily="49" charset="-122"/>
              <a:ea typeface="楷体_GB2312" pitchFamily="49" charset="-122"/>
            </a:endParaRPr>
          </a:p>
          <a:p>
            <a:pPr marL="0" lvl="0" indent="0" hangingPunct="1">
              <a:lnSpc>
                <a:spcPct val="150000"/>
              </a:lnSpc>
              <a:spcBef>
                <a:spcPts val="0"/>
              </a:spcBef>
              <a:buNone/>
            </a:pPr>
            <a:r>
              <a:rPr lang="zh-CN" b="1" i="0" u="none">
                <a:solidFill>
                  <a:schemeClr val="lt2"/>
                </a:solidFill>
                <a:latin typeface="黑体" pitchFamily="49" charset="-122"/>
                <a:ea typeface="黑体" pitchFamily="49" charset="-122"/>
              </a:rPr>
              <a:t>功(W)</a:t>
            </a:r>
            <a:r>
              <a:rPr lang="en-US" b="1" i="0" u="none">
                <a:latin typeface="黑体" pitchFamily="49" charset="-122"/>
                <a:ea typeface="黑体" pitchFamily="49" charset="-122"/>
              </a:rPr>
              <a:t>：</a:t>
            </a:r>
            <a:r>
              <a:rPr lang="zh-CN" sz="2800" b="1" i="0" u="none">
                <a:latin typeface="楷体_GB2312" pitchFamily="49" charset="-122"/>
                <a:ea typeface="楷体_GB2312" pitchFamily="49" charset="-122"/>
              </a:rPr>
              <a:t>系统和环境之间除了热以外的一切能量交换形式，如膨胀功，电功等。</a:t>
            </a:r>
            <a:endParaRPr lang="zh-CN" sz="2800" b="1" i="0" u="none">
              <a:latin typeface="楷体_GB2312" pitchFamily="49" charset="-122"/>
              <a:ea typeface="楷体_GB2312" pitchFamily="49" charset="-122"/>
            </a:endParaRPr>
          </a:p>
          <a:p>
            <a:pPr marL="0" lvl="0" indent="0" hangingPunct="1">
              <a:lnSpc>
                <a:spcPct val="150000"/>
              </a:lnSpc>
              <a:spcBef>
                <a:spcPts val="0"/>
              </a:spcBef>
              <a:buNone/>
            </a:pPr>
            <a:r>
              <a:rPr lang="zh-CN" sz="2800" b="1" i="0" u="none">
                <a:latin typeface="楷体_GB2312" pitchFamily="49" charset="-122"/>
                <a:ea typeface="楷体_GB2312" pitchFamily="49" charset="-122"/>
              </a:rPr>
              <a:t>    定向进行,以质点有序运动方式移动。</a:t>
            </a:r>
            <a:endParaRPr lang="zh-CN" sz="2800" b="1" i="0" u="none">
              <a:latin typeface="楷体_GB2312" pitchFamily="49" charset="-122"/>
              <a:ea typeface="楷体_GB2312" pitchFamily="49" charset="-122"/>
            </a:endParaRPr>
          </a:p>
        </p:txBody>
      </p:sp>
      <p:sp>
        <p:nvSpPr>
          <p:cNvPr id="14" name="Text Box 4"/>
          <p:cNvSpPr txBox="1">
            <a:spLocks noGrp="1" noChangeShapeType="1"/>
          </p:cNvSpPr>
          <p:nvPr/>
        </p:nvSpPr>
        <p:spPr>
          <a:xfrm>
            <a:off x="900112" y="549275"/>
            <a:ext cx="7508875" cy="94615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2800" b="1" i="0" u="none">
                <a:latin typeface="Times New Roman" panose="02020603050405020304"/>
                <a:ea typeface="楷体_GB2312" pitchFamily="49" charset="-122"/>
              </a:rPr>
              <a:t>一个体系在状态发生改变时与环境交换能量有两种普遍形式：</a:t>
            </a:r>
            <a:endParaRPr lang="zh-CN" sz="2800" b="1" i="0" u="none">
              <a:latin typeface="Times New Roman" panose="02020603050405020304"/>
              <a:ea typeface="楷体_GB2312" pitchFamily="49" charset="-122"/>
            </a:endParaRPr>
          </a:p>
        </p:txBody>
      </p:sp>
      <p:sp>
        <p:nvSpPr>
          <p:cNvPr id="15" name="Rectangle 5"/>
          <p:cNvSpPr>
            <a:spLocks noGrp="1" noChangeShapeType="1"/>
          </p:cNvSpPr>
          <p:nvPr/>
        </p:nvSpPr>
        <p:spPr>
          <a:xfrm>
            <a:off x="1258887" y="5661025"/>
            <a:ext cx="4806950" cy="604837"/>
          </a:xfrm>
          <a:prstGeom prst="rect">
            <a:avLst/>
          </a:prstGeom>
          <a:noFill/>
        </p:spPr>
        <p:txBody>
          <a:bodyPr wrap="none">
            <a:spAutoFit/>
          </a:bodyPr>
          <a:lstStyle/>
          <a:p>
            <a:pPr marL="457200" lvl="0" algn="ctr" hangingPunct="1">
              <a:lnSpc>
                <a:spcPct val="120000"/>
              </a:lnSpc>
              <a:spcBef>
                <a:spcPct val="20000"/>
              </a:spcBef>
              <a:buNone/>
            </a:pPr>
            <a:r>
              <a:rPr lang="en-US" sz="2800" b="0" i="0" u="none">
                <a:solidFill>
                  <a:srgbClr val="AE1E39"/>
                </a:solidFill>
                <a:latin typeface="黑体" pitchFamily="49" charset="-122"/>
                <a:ea typeface="黑体" pitchFamily="49" charset="-122"/>
              </a:rPr>
              <a:t>特点:  </a:t>
            </a:r>
            <a:r>
              <a:rPr lang="en-US" sz="2800" b="0" i="1" u="none">
                <a:solidFill>
                  <a:srgbClr val="AE1E39"/>
                </a:solidFill>
                <a:latin typeface="黑体" pitchFamily="49" charset="-122"/>
                <a:ea typeface="黑体" pitchFamily="49" charset="-122"/>
              </a:rPr>
              <a:t>Q, W</a:t>
            </a:r>
            <a:r>
              <a:rPr lang="zh-CN" sz="2800" b="0" i="0" u="none">
                <a:solidFill>
                  <a:srgbClr val="AE1E39"/>
                </a:solidFill>
                <a:latin typeface="黑体" pitchFamily="49" charset="-122"/>
                <a:ea typeface="黑体" pitchFamily="49" charset="-122"/>
              </a:rPr>
              <a:t> 均非状态函数。</a:t>
            </a:r>
            <a:endParaRPr lang="zh-CN" sz="2800" b="0" i="0" u="none">
              <a:solidFill>
                <a:srgbClr val="AE1E39"/>
              </a:solidFill>
              <a:latin typeface="黑体" pitchFamily="49" charset="-122"/>
              <a:ea typeface="黑体"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3">
                                            <p:txEl>
                                              <p:pRg st="0" end="27"/>
                                            </p:txEl>
                                          </p:spTgt>
                                        </p:tgtEl>
                                        <p:attrNameLst>
                                          <p:attrName>style.visibility</p:attrName>
                                        </p:attrNameLst>
                                      </p:cBhvr>
                                      <p:to>
                                        <p:strVal val="visible"/>
                                      </p:to>
                                    </p:set>
                                    <p:animEffect transition="in" filter="slide(fromBottom)">
                                      <p:cBhvr>
                                        <p:cTn id="12" dur="500"/>
                                        <p:tgtEl>
                                          <p:spTgt spid="13">
                                            <p:txEl>
                                              <p:pRg st="0" end="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3">
                                            <p:txEl>
                                              <p:pRg st="27" end="50"/>
                                            </p:txEl>
                                          </p:spTgt>
                                        </p:tgtEl>
                                        <p:attrNameLst>
                                          <p:attrName>style.visibility</p:attrName>
                                        </p:attrNameLst>
                                      </p:cBhvr>
                                      <p:to>
                                        <p:strVal val="visible"/>
                                      </p:to>
                                    </p:set>
                                    <p:animEffect transition="in" filter="slide(fromBottom)">
                                      <p:cBhvr>
                                        <p:cTn id="17" dur="500"/>
                                        <p:tgtEl>
                                          <p:spTgt spid="13">
                                            <p:txEl>
                                              <p:pRg st="27" end="5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3">
                                            <p:txEl>
                                              <p:pRg st="50" end="87"/>
                                            </p:txEl>
                                          </p:spTgt>
                                        </p:tgtEl>
                                        <p:attrNameLst>
                                          <p:attrName>style.visibility</p:attrName>
                                        </p:attrNameLst>
                                      </p:cBhvr>
                                      <p:to>
                                        <p:strVal val="visible"/>
                                      </p:to>
                                    </p:set>
                                    <p:animEffect transition="in" filter="slide(fromBottom)">
                                      <p:cBhvr>
                                        <p:cTn id="22" dur="500"/>
                                        <p:tgtEl>
                                          <p:spTgt spid="13">
                                            <p:txEl>
                                              <p:pRg st="50" end="8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3">
                                            <p:txEl>
                                              <p:pRg st="87" end="109"/>
                                            </p:txEl>
                                          </p:spTgt>
                                        </p:tgtEl>
                                        <p:attrNameLst>
                                          <p:attrName>style.visibility</p:attrName>
                                        </p:attrNameLst>
                                      </p:cBhvr>
                                      <p:to>
                                        <p:strVal val="visible"/>
                                      </p:to>
                                    </p:set>
                                    <p:animEffect transition="in" filter="slide(fromBottom)">
                                      <p:cBhvr>
                                        <p:cTn id="27" dur="500"/>
                                        <p:tgtEl>
                                          <p:spTgt spid="13">
                                            <p:txEl>
                                              <p:pRg st="87" end="10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15">
                                            <p:txEl>
                                              <p:pRg st="0" end="18"/>
                                            </p:txEl>
                                          </p:spTgt>
                                        </p:tgtEl>
                                        <p:attrNameLst>
                                          <p:attrName>style.visibility</p:attrName>
                                        </p:attrNameLst>
                                      </p:cBhvr>
                                      <p:to>
                                        <p:strVal val="visible"/>
                                      </p:to>
                                    </p:set>
                                    <p:anim calcmode="lin" valueType="num">
                                      <p:cBhvr>
                                        <p:cTn id="32" dur="1000" fill="hold"/>
                                        <p:tgtEl>
                                          <p:spTgt spid="15">
                                            <p:txEl>
                                              <p:pRg st="0" end="18"/>
                                            </p:txEl>
                                          </p:spTgt>
                                        </p:tgtEl>
                                        <p:attrNameLst>
                                          <p:attrName>ppt_w</p:attrName>
                                        </p:attrNameLst>
                                      </p:cBhvr>
                                      <p:tavLst>
                                        <p:tav tm="0">
                                          <p:val>
                                            <p:strVal val="#ppt_w*0.70"/>
                                          </p:val>
                                        </p:tav>
                                        <p:tav tm="100000">
                                          <p:val>
                                            <p:strVal val="#ppt_w"/>
                                          </p:val>
                                        </p:tav>
                                      </p:tavLst>
                                    </p:anim>
                                    <p:anim calcmode="lin" valueType="num">
                                      <p:cBhvr>
                                        <p:cTn id="33" dur="1000" fill="hold"/>
                                        <p:tgtEl>
                                          <p:spTgt spid="15">
                                            <p:txEl>
                                              <p:pRg st="0" end="18"/>
                                            </p:txEl>
                                          </p:spTgt>
                                        </p:tgtEl>
                                        <p:attrNameLst>
                                          <p:attrName>ppt_h</p:attrName>
                                        </p:attrNameLst>
                                      </p:cBhvr>
                                      <p:tavLst>
                                        <p:tav tm="0">
                                          <p:val>
                                            <p:strVal val="#ppt_h"/>
                                          </p:val>
                                        </p:tav>
                                        <p:tav tm="100000">
                                          <p:val>
                                            <p:strVal val="#ppt_h"/>
                                          </p:val>
                                        </p:tav>
                                      </p:tavLst>
                                    </p:anim>
                                    <p:animEffect transition="in" filter="fade">
                                      <p:cBhvr>
                                        <p:cTn id="34" dur="1000"/>
                                        <p:tgtEl>
                                          <p:spTgt spid="15">
                                            <p:txEl>
                                              <p:pRg st="0" end="18"/>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6" name=""/>
        <p:cNvGrpSpPr/>
        <p:nvPr/>
      </p:nvGrpSpPr>
      <p:grpSpPr>
        <a:xfrm>
          <a:off x="0" y="0"/>
          <a:ext cx="0" cy="0"/>
          <a:chOff x="0" y="0"/>
          <a:chExt cx="0" cy="0"/>
        </a:xfrm>
      </p:grpSpPr>
      <p:sp>
        <p:nvSpPr>
          <p:cNvPr id="17" name="Rectangle 2"/>
          <p:cNvSpPr>
            <a:spLocks noGrp="1" noChangeShapeType="1"/>
          </p:cNvSpPr>
          <p:nvPr/>
        </p:nvSpPr>
        <p:spPr>
          <a:xfrm>
            <a:off x="395287" y="1052512"/>
            <a:ext cx="8496300" cy="1358900"/>
          </a:xfrm>
          <a:prstGeom prst="rect">
            <a:avLst/>
          </a:prstGeom>
          <a:noFill/>
        </p:spPr>
        <p:txBody>
          <a:bodyPr lIns="91440" tIns="45720" rIns="91440" bIns="45720" anchor="ctr" anchorCtr="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30000"/>
              </a:lnSpc>
              <a:spcBef>
                <a:spcPts val="0"/>
              </a:spcBef>
              <a:buNone/>
            </a:pPr>
            <a:r>
              <a:rPr lang="zh-CN" sz="2800" b="1" i="0" u="none">
                <a:solidFill>
                  <a:schemeClr val="lt2"/>
                </a:solidFill>
                <a:latin typeface="黑体" pitchFamily="49" charset="-122"/>
                <a:ea typeface="黑体" pitchFamily="49" charset="-122"/>
              </a:rPr>
              <a:t>能量守恒</a:t>
            </a:r>
            <a:r>
              <a:rPr lang="en-US" sz="2800" b="1" i="0" u="none">
                <a:latin typeface="黑体" pitchFamily="49" charset="-122"/>
                <a:ea typeface="黑体" pitchFamily="49" charset="-122"/>
              </a:rPr>
              <a:t>:</a:t>
            </a:r>
            <a:r>
              <a:rPr lang="en-US" b="0" i="0" u="none">
                <a:latin typeface="Times New Roman" panose="02020603050405020304"/>
              </a:rPr>
              <a:t> </a:t>
            </a:r>
            <a:r>
              <a:rPr lang="zh-CN" sz="2800" b="1" i="0" u="none">
                <a:latin typeface="楷体_GB2312" pitchFamily="49" charset="-122"/>
                <a:ea typeface="楷体_GB2312" pitchFamily="49" charset="-122"/>
              </a:rPr>
              <a:t>一个体系及其周围环境的总能量为一常数.</a:t>
            </a:r>
            <a:endParaRPr lang="en-US" sz="2800"/>
          </a:p>
          <a:p>
            <a:pPr marL="0" lvl="0" indent="0" hangingPunct="1">
              <a:lnSpc>
                <a:spcPct val="130000"/>
              </a:lnSpc>
              <a:spcBef>
                <a:spcPts val="0"/>
              </a:spcBef>
              <a:buNone/>
            </a:pPr>
            <a:r>
              <a:rPr lang="en-US" b="0" i="0" u="none">
                <a:latin typeface="黑体" pitchFamily="49" charset="-122"/>
                <a:ea typeface="黑体" pitchFamily="49" charset="-122"/>
              </a:rPr>
              <a:t>           </a:t>
            </a:r>
            <a:endParaRPr lang="en-US" b="0" i="0" u="none">
              <a:latin typeface="黑体" pitchFamily="49" charset="-122"/>
              <a:ea typeface="黑体" pitchFamily="49" charset="-122"/>
            </a:endParaRPr>
          </a:p>
        </p:txBody>
      </p:sp>
      <p:sp>
        <p:nvSpPr>
          <p:cNvPr id="18" name="Rectangle 3"/>
          <p:cNvSpPr>
            <a:spLocks noGrp="1" noChangeShapeType="1"/>
          </p:cNvSpPr>
          <p:nvPr/>
        </p:nvSpPr>
        <p:spPr>
          <a:xfrm>
            <a:off x="395287" y="476250"/>
            <a:ext cx="8135937" cy="64135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3600" b="1" i="0" u="none">
                <a:latin typeface="Times New Roman" panose="02020603050405020304"/>
                <a:ea typeface="黑体" pitchFamily="49" charset="-122"/>
              </a:rPr>
              <a:t>1.2 热力学第一定律</a:t>
            </a:r>
            <a:endParaRPr lang="zh-CN" sz="3600" b="1" i="0" u="none">
              <a:latin typeface="Times New Roman" panose="02020603050405020304"/>
              <a:ea typeface="黑体" pitchFamily="49" charset="-122"/>
            </a:endParaRPr>
          </a:p>
        </p:txBody>
      </p:sp>
      <p:sp>
        <p:nvSpPr>
          <p:cNvPr id="19" name="Rectangle 5"/>
          <p:cNvSpPr>
            <a:spLocks noGrp="1" noChangeShapeType="1"/>
          </p:cNvSpPr>
          <p:nvPr/>
        </p:nvSpPr>
        <p:spPr>
          <a:xfrm>
            <a:off x="611187" y="3573462"/>
            <a:ext cx="8208962" cy="1920875"/>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algn="ctr" hangingPunct="1">
              <a:spcBef>
                <a:spcPts val="0"/>
              </a:spcBef>
              <a:buNone/>
            </a:pPr>
            <a:r>
              <a:rPr lang="en-US" b="1" i="0" u="none"/>
              <a:t>Δ</a:t>
            </a:r>
            <a:r>
              <a:rPr lang="en-US" b="1" i="1" u="none"/>
              <a:t>H</a:t>
            </a:r>
            <a:r>
              <a:rPr lang="en-US" b="1" i="0" u="none"/>
              <a:t> = Δ</a:t>
            </a:r>
            <a:r>
              <a:rPr lang="en-US" b="1" i="1" u="none"/>
              <a:t>U</a:t>
            </a:r>
            <a:r>
              <a:rPr lang="en-US" b="1" i="0" u="none"/>
              <a:t> + Δ</a:t>
            </a:r>
            <a:r>
              <a:rPr lang="en-US" b="1" i="1" u="none"/>
              <a:t>PV </a:t>
            </a:r>
            <a:endParaRPr lang="en-US" b="1" i="1" u="none"/>
          </a:p>
          <a:p>
            <a:pPr marL="0" lvl="0" indent="0" algn="ctr" hangingPunct="1">
              <a:spcBef>
                <a:spcPts val="0"/>
              </a:spcBef>
              <a:buNone/>
            </a:pPr>
            <a:r>
              <a:rPr lang="en-US" b="1" i="1" u="none"/>
              <a:t>         dH = dU + PdV + VdP </a:t>
            </a:r>
            <a:endParaRPr lang="en-US"/>
          </a:p>
          <a:p>
            <a:pPr marL="0" lvl="0" indent="0" hangingPunct="1">
              <a:spcBef>
                <a:spcPts val="0"/>
              </a:spcBef>
              <a:buNone/>
            </a:pPr>
            <a:endParaRPr lang="en-US" sz="2800"/>
          </a:p>
          <a:p>
            <a:pPr marL="0" lvl="0" indent="0" hangingPunct="1">
              <a:spcBef>
                <a:spcPts val="0"/>
              </a:spcBef>
              <a:buNone/>
            </a:pPr>
            <a:r>
              <a:rPr lang="zh-CN" sz="2800" b="1" i="0" u="none">
                <a:latin typeface="黑体" pitchFamily="49" charset="-122"/>
                <a:ea typeface="黑体" pitchFamily="49" charset="-122"/>
              </a:rPr>
              <a:t>生化过程近似恒压、恒容过程（</a:t>
            </a:r>
            <a:r>
              <a:rPr lang="en-US" sz="2800" b="1" i="1" u="none"/>
              <a:t>dV ≈0,  dP ≈0</a:t>
            </a:r>
            <a:r>
              <a:rPr lang="zh-CN" sz="2800" b="1" i="0" u="none"/>
              <a:t> ）</a:t>
            </a:r>
            <a:endParaRPr lang="zh-CN" sz="2800" b="1" i="0" u="none"/>
          </a:p>
        </p:txBody>
      </p:sp>
      <p:sp>
        <p:nvSpPr>
          <p:cNvPr id="20" name="Rectangle 8"/>
          <p:cNvSpPr>
            <a:spLocks noGrp="1" noChangeShapeType="1"/>
          </p:cNvSpPr>
          <p:nvPr/>
        </p:nvSpPr>
        <p:spPr>
          <a:xfrm>
            <a:off x="468312" y="1916112"/>
            <a:ext cx="8135937" cy="946150"/>
          </a:xfrm>
          <a:prstGeom prst="rect">
            <a:avLst/>
          </a:prstGeom>
          <a:noFill/>
        </p:spPr>
        <p:txBody>
          <a:bodyPr lIns="91440" tIns="45720" rIns="91440" bIns="45720" anchor="ctr" anchorCtr="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en-US" sz="2800" b="1" i="0" u="none">
                <a:ea typeface="楷体_GB2312" pitchFamily="49" charset="-122"/>
              </a:rPr>
              <a:t>一个指定体系内能的变化量等于环境对它作的功 W 和外界传递给它的热量 Q 的总和。</a:t>
            </a:r>
            <a:endParaRPr lang="en-US" sz="2800" b="1" i="0" u="none">
              <a:ea typeface="楷体_GB2312" pitchFamily="49" charset="-122"/>
            </a:endParaRPr>
          </a:p>
        </p:txBody>
      </p:sp>
      <p:sp>
        <p:nvSpPr>
          <p:cNvPr id="21" name="Rectangle 9"/>
          <p:cNvSpPr>
            <a:spLocks noGrp="1" noChangeShapeType="1"/>
          </p:cNvSpPr>
          <p:nvPr/>
        </p:nvSpPr>
        <p:spPr>
          <a:xfrm>
            <a:off x="2555875" y="2852737"/>
            <a:ext cx="4679950" cy="6477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30000"/>
              </a:lnSpc>
              <a:spcBef>
                <a:spcPts val="0"/>
              </a:spcBef>
              <a:buNone/>
            </a:pPr>
            <a:r>
              <a:rPr lang="en-US" sz="2800" b="1" i="0" u="none">
                <a:solidFill>
                  <a:srgbClr val="FF0000"/>
                </a:solidFill>
              </a:rPr>
              <a:t>   ΔU = U2 - U1</a:t>
            </a:r>
            <a:r>
              <a:rPr lang="en-US" sz="2800"/>
              <a:t> </a:t>
            </a:r>
            <a:r>
              <a:rPr lang="en-US" sz="2800" b="1" i="0" u="none">
                <a:solidFill>
                  <a:srgbClr val="FF0000"/>
                </a:solidFill>
              </a:rPr>
              <a:t>=</a:t>
            </a:r>
            <a:r>
              <a:rPr lang="en-US" sz="2800"/>
              <a:t> </a:t>
            </a:r>
            <a:r>
              <a:rPr lang="en-US" sz="2800" b="1" i="0" u="none">
                <a:solidFill>
                  <a:srgbClr val="FF0000"/>
                </a:solidFill>
              </a:rPr>
              <a:t>Q + W</a:t>
            </a:r>
            <a:endParaRPr lang="en-US" sz="2800" b="1" i="0" u="none">
              <a:solidFill>
                <a:srgbClr val="FF0000"/>
              </a:solidFill>
            </a:endParaRPr>
          </a:p>
        </p:txBody>
      </p:sp>
      <p:sp>
        <p:nvSpPr>
          <p:cNvPr id="22" name="Rectangle 10"/>
          <p:cNvSpPr>
            <a:spLocks noGrp="1" noChangeShapeType="1"/>
          </p:cNvSpPr>
          <p:nvPr/>
        </p:nvSpPr>
        <p:spPr>
          <a:xfrm>
            <a:off x="1331912" y="5805487"/>
            <a:ext cx="6513512" cy="595312"/>
          </a:xfrm>
          <a:prstGeom prst="rect">
            <a:avLst/>
          </a:prstGeom>
          <a:noFill/>
          <a:ln w="76200">
            <a:solidFill>
              <a:schemeClr val="accent1"/>
            </a:solidFill>
            <a:round/>
          </a:ln>
        </p:spPr>
        <p:txBody>
          <a:bodyPr wrap="none">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2800" b="1" i="0" u="none">
                <a:solidFill>
                  <a:srgbClr val="FF0000"/>
                </a:solidFill>
                <a:latin typeface="黑体" pitchFamily="49" charset="-122"/>
                <a:ea typeface="黑体" pitchFamily="49" charset="-122"/>
              </a:rPr>
              <a:t>生物化学中</a:t>
            </a:r>
            <a:r>
              <a:rPr lang="zh-CN" sz="2800" b="1" i="0" u="none">
                <a:solidFill>
                  <a:srgbClr val="FF0000"/>
                </a:solidFill>
                <a:ea typeface="黑体" pitchFamily="49" charset="-122"/>
              </a:rPr>
              <a:t>“</a:t>
            </a:r>
            <a:r>
              <a:rPr lang="zh-CN" sz="2800" b="1" i="0" u="none">
                <a:solidFill>
                  <a:srgbClr val="FF0000"/>
                </a:solidFill>
                <a:latin typeface="黑体" pitchFamily="49" charset="-122"/>
                <a:ea typeface="黑体" pitchFamily="49" charset="-122"/>
              </a:rPr>
              <a:t>能量变化</a:t>
            </a:r>
            <a:r>
              <a:rPr lang="zh-CN" sz="2800" b="1" i="0" u="none">
                <a:solidFill>
                  <a:srgbClr val="FF0000"/>
                </a:solidFill>
                <a:ea typeface="黑体" pitchFamily="49" charset="-122"/>
              </a:rPr>
              <a:t>”</a:t>
            </a:r>
            <a:r>
              <a:rPr lang="en-US" sz="2800" b="1" i="0" u="none">
                <a:solidFill>
                  <a:srgbClr val="FF0000"/>
                </a:solidFill>
                <a:latin typeface="黑体" pitchFamily="49" charset="-122"/>
                <a:ea typeface="黑体" pitchFamily="49" charset="-122"/>
              </a:rPr>
              <a:t> ≈ ΔH ≈ ΔU</a:t>
            </a:r>
            <a:r>
              <a:rPr lang="en-US" sz="2800" b="0" i="0" u="none">
                <a:latin typeface="黑体" pitchFamily="49" charset="-122"/>
                <a:ea typeface="黑体" pitchFamily="49" charset="-122"/>
              </a:rPr>
              <a:t> </a:t>
            </a:r>
            <a:endParaRPr lang="en-US" sz="2800" b="0" i="0" u="none">
              <a:latin typeface="黑体" pitchFamily="49" charset="-122"/>
              <a:ea typeface="黑体"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1000" fill="hold"/>
                                        <p:tgtEl>
                                          <p:spTgt spid="18"/>
                                        </p:tgtEl>
                                        <p:attrNameLst>
                                          <p:attrName>ppt_x</p:attrName>
                                        </p:attrNameLst>
                                      </p:cBhvr>
                                      <p:tavLst>
                                        <p:tav tm="0">
                                          <p:val>
                                            <p:strVal val="0-#ppt_w/2"/>
                                          </p:val>
                                        </p:tav>
                                        <p:tav tm="100000">
                                          <p:val>
                                            <p:strVal val="#ppt_x"/>
                                          </p:val>
                                        </p:tav>
                                      </p:tavLst>
                                    </p:anim>
                                    <p:anim calcmode="lin" valueType="num">
                                      <p:cBhvr additive="base">
                                        <p:cTn id="8" dur="10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dissolv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19">
                                            <p:txEl>
                                              <p:pRg st="0" end="15"/>
                                            </p:txEl>
                                          </p:spTgt>
                                        </p:tgtEl>
                                        <p:attrNameLst>
                                          <p:attrName>style.visibility</p:attrName>
                                        </p:attrNameLst>
                                      </p:cBhvr>
                                      <p:to>
                                        <p:strVal val="visible"/>
                                      </p:to>
                                    </p:set>
                                    <p:animEffect transition="in" filter="checkerboard(across)">
                                      <p:cBhvr>
                                        <p:cTn id="18" dur="500"/>
                                        <p:tgtEl>
                                          <p:spTgt spid="19">
                                            <p:txEl>
                                              <p:pRg st="0" end="1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19">
                                            <p:txEl>
                                              <p:pRg st="15" end="45"/>
                                            </p:txEl>
                                          </p:spTgt>
                                        </p:tgtEl>
                                        <p:attrNameLst>
                                          <p:attrName>style.visibility</p:attrName>
                                        </p:attrNameLst>
                                      </p:cBhvr>
                                      <p:to>
                                        <p:strVal val="visible"/>
                                      </p:to>
                                    </p:set>
                                    <p:animEffect transition="in" filter="checkerboard(across)">
                                      <p:cBhvr>
                                        <p:cTn id="23" dur="500"/>
                                        <p:tgtEl>
                                          <p:spTgt spid="19">
                                            <p:txEl>
                                              <p:pRg st="15" end="4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19">
                                            <p:txEl>
                                              <p:pRg st="46" end="76"/>
                                            </p:txEl>
                                          </p:spTgt>
                                        </p:tgtEl>
                                        <p:attrNameLst>
                                          <p:attrName>style.visibility</p:attrName>
                                        </p:attrNameLst>
                                      </p:cBhvr>
                                      <p:to>
                                        <p:strVal val="visible"/>
                                      </p:to>
                                    </p:set>
                                    <p:animEffect transition="in" filter="checkerboard(across)">
                                      <p:cBhvr>
                                        <p:cTn id="28" dur="500"/>
                                        <p:tgtEl>
                                          <p:spTgt spid="19">
                                            <p:txEl>
                                              <p:pRg st="46" end="76"/>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3" name=""/>
        <p:cNvGrpSpPr/>
        <p:nvPr/>
      </p:nvGrpSpPr>
      <p:grpSpPr>
        <a:xfrm>
          <a:off x="0" y="0"/>
          <a:ext cx="0" cy="0"/>
          <a:chOff x="0" y="0"/>
          <a:chExt cx="0" cy="0"/>
        </a:xfrm>
      </p:grpSpPr>
      <p:sp>
        <p:nvSpPr>
          <p:cNvPr id="24" name="Rectangle 3"/>
          <p:cNvSpPr>
            <a:spLocks noGrp="1" noChangeShapeType="1"/>
          </p:cNvSpPr>
          <p:nvPr>
            <p:ph type="body"/>
          </p:nvPr>
        </p:nvSpPr>
        <p:spPr>
          <a:xfrm>
            <a:off x="539750" y="692150"/>
            <a:ext cx="8229600" cy="4530725"/>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lnSpc>
                <a:spcPct val="130000"/>
              </a:lnSpc>
              <a:spcBef>
                <a:spcPct val="20000"/>
              </a:spcBef>
              <a:buNone/>
            </a:pPr>
            <a:r>
              <a:rPr lang="zh-CN" sz="2800">
                <a:ea typeface="黑体" pitchFamily="49" charset="-122"/>
              </a:rPr>
              <a:t>热力学规定：</a:t>
            </a:r>
            <a:endParaRPr lang="zh-CN" sz="2800">
              <a:ea typeface="黑体" pitchFamily="49" charset="-122"/>
            </a:endParaRPr>
          </a:p>
          <a:p>
            <a:pPr marL="342900" lvl="0" indent="-342900" hangingPunct="1">
              <a:lnSpc>
                <a:spcPct val="130000"/>
              </a:lnSpc>
              <a:spcBef>
                <a:spcPct val="20000"/>
              </a:spcBef>
              <a:buNone/>
            </a:pPr>
            <a:r>
              <a:rPr lang="zh-CN" b="0" i="0" u="none"/>
              <a:t>      </a:t>
            </a:r>
            <a:r>
              <a:rPr lang="zh-CN" sz="2800" b="0" i="0" u="none">
                <a:latin typeface="楷体_GB2312" pitchFamily="49" charset="-122"/>
                <a:ea typeface="楷体_GB2312" pitchFamily="49" charset="-122"/>
              </a:rPr>
              <a:t>系统向环境放热，</a:t>
            </a:r>
            <a:r>
              <a:rPr lang="en-US" sz="2800" b="0" i="1" u="none">
                <a:latin typeface="楷体_GB2312" pitchFamily="49" charset="-122"/>
                <a:ea typeface="楷体_GB2312" pitchFamily="49" charset="-122"/>
              </a:rPr>
              <a:t>Q </a:t>
            </a:r>
            <a:r>
              <a:rPr lang="zh-CN" sz="2800" b="0" i="0" u="none">
                <a:latin typeface="楷体_GB2312" pitchFamily="49" charset="-122"/>
                <a:ea typeface="楷体_GB2312" pitchFamily="49" charset="-122"/>
              </a:rPr>
              <a:t>&lt; 0 ；</a:t>
            </a:r>
            <a:endParaRPr lang="zh-CN" sz="2800" b="0" i="0" u="none">
              <a:latin typeface="楷体_GB2312" pitchFamily="49" charset="-122"/>
              <a:ea typeface="楷体_GB2312" pitchFamily="49" charset="-122"/>
            </a:endParaRPr>
          </a:p>
          <a:p>
            <a:pPr marL="342900" lvl="0" indent="-342900" algn="just" hangingPunct="1">
              <a:lnSpc>
                <a:spcPct val="130000"/>
              </a:lnSpc>
              <a:spcBef>
                <a:spcPct val="20000"/>
              </a:spcBef>
              <a:buNone/>
            </a:pPr>
            <a:r>
              <a:rPr lang="zh-CN" sz="2800" b="0" i="0" u="none">
                <a:latin typeface="楷体_GB2312" pitchFamily="49" charset="-122"/>
                <a:ea typeface="楷体_GB2312" pitchFamily="49" charset="-122"/>
              </a:rPr>
              <a:t>    系统从环境吸热，</a:t>
            </a:r>
            <a:r>
              <a:rPr lang="en-US" sz="2800" b="0" i="1" u="none">
                <a:latin typeface="楷体_GB2312" pitchFamily="49" charset="-122"/>
                <a:ea typeface="楷体_GB2312" pitchFamily="49" charset="-122"/>
              </a:rPr>
              <a:t>Q </a:t>
            </a:r>
            <a:r>
              <a:rPr lang="zh-CN" sz="2800" b="0" i="0" u="none">
                <a:latin typeface="楷体_GB2312" pitchFamily="49" charset="-122"/>
                <a:ea typeface="楷体_GB2312" pitchFamily="49" charset="-122"/>
              </a:rPr>
              <a:t>&gt; 0 ；</a:t>
            </a:r>
            <a:endParaRPr lang="zh-CN" sz="2800" b="0" i="0" u="none">
              <a:latin typeface="楷体_GB2312" pitchFamily="49" charset="-122"/>
              <a:ea typeface="楷体_GB2312" pitchFamily="49" charset="-122"/>
            </a:endParaRPr>
          </a:p>
          <a:p>
            <a:pPr marL="342900" lvl="0" indent="-342900" algn="just" hangingPunct="1">
              <a:lnSpc>
                <a:spcPct val="130000"/>
              </a:lnSpc>
              <a:spcBef>
                <a:spcPct val="20000"/>
              </a:spcBef>
              <a:buNone/>
            </a:pPr>
            <a:r>
              <a:rPr lang="zh-CN" sz="2800" b="0" i="0" u="none">
                <a:latin typeface="楷体_GB2312" pitchFamily="49" charset="-122"/>
                <a:ea typeface="楷体_GB2312" pitchFamily="49" charset="-122"/>
              </a:rPr>
              <a:t>    系统对环境作功，</a:t>
            </a:r>
            <a:r>
              <a:rPr lang="en-US" sz="2800" b="0" i="1" u="none">
                <a:latin typeface="楷体_GB2312" pitchFamily="49" charset="-122"/>
                <a:ea typeface="楷体_GB2312" pitchFamily="49" charset="-122"/>
              </a:rPr>
              <a:t>W </a:t>
            </a:r>
            <a:r>
              <a:rPr lang="zh-CN" sz="2800" b="0" i="0" u="none">
                <a:latin typeface="楷体_GB2312" pitchFamily="49" charset="-122"/>
                <a:ea typeface="楷体_GB2312" pitchFamily="49" charset="-122"/>
              </a:rPr>
              <a:t>&lt; 0 ；</a:t>
            </a:r>
            <a:endParaRPr lang="zh-CN" sz="2800" b="0" i="0" u="none">
              <a:latin typeface="楷体_GB2312" pitchFamily="49" charset="-122"/>
              <a:ea typeface="楷体_GB2312" pitchFamily="49" charset="-122"/>
            </a:endParaRPr>
          </a:p>
          <a:p>
            <a:pPr marL="342900" lvl="0" indent="-342900" hangingPunct="1">
              <a:lnSpc>
                <a:spcPct val="130000"/>
              </a:lnSpc>
              <a:spcBef>
                <a:spcPct val="20000"/>
              </a:spcBef>
              <a:buNone/>
            </a:pPr>
            <a:r>
              <a:rPr lang="zh-CN" sz="2800" b="0" i="0" u="none">
                <a:latin typeface="楷体_GB2312" pitchFamily="49" charset="-122"/>
                <a:ea typeface="楷体_GB2312" pitchFamily="49" charset="-122"/>
              </a:rPr>
              <a:t>    系统从环境得功，</a:t>
            </a:r>
            <a:r>
              <a:rPr lang="en-US" sz="2800" b="0" i="1" u="none">
                <a:latin typeface="楷体_GB2312" pitchFamily="49" charset="-122"/>
                <a:ea typeface="楷体_GB2312" pitchFamily="49" charset="-122"/>
              </a:rPr>
              <a:t>W </a:t>
            </a:r>
            <a:r>
              <a:rPr lang="zh-CN" sz="2800" b="0" i="0" u="none">
                <a:latin typeface="楷体_GB2312" pitchFamily="49" charset="-122"/>
                <a:ea typeface="楷体_GB2312" pitchFamily="49" charset="-122"/>
              </a:rPr>
              <a:t>&gt; 0   (环境对系统作功)</a:t>
            </a:r>
            <a:endParaRPr lang="zh-CN" sz="2800" b="0" i="0" u="none">
              <a:latin typeface="楷体_GB2312" pitchFamily="49" charset="-122"/>
              <a:ea typeface="楷体_GB2312" pitchFamily="49" charset="-122"/>
            </a:endParaRPr>
          </a:p>
          <a:p>
            <a:pPr marL="742950" lvl="1" indent="-285750" hangingPunct="1">
              <a:lnSpc>
                <a:spcPct val="130000"/>
              </a:lnSpc>
              <a:spcBef>
                <a:spcPct val="20000"/>
              </a:spcBef>
              <a:buNone/>
            </a:pPr>
            <a:r>
              <a:rPr lang="en-US" b="0" i="0" u="none">
                <a:solidFill>
                  <a:schemeClr val="lt2"/>
                </a:solidFill>
                <a:ea typeface="黑体" pitchFamily="49" charset="-122"/>
              </a:rPr>
              <a:t>  要点</a:t>
            </a:r>
            <a:r>
              <a:rPr lang="zh-CN" b="0" i="0" u="none">
                <a:ea typeface="黑体" pitchFamily="49" charset="-122"/>
              </a:rPr>
              <a:t>：</a:t>
            </a:r>
            <a:r>
              <a:rPr lang="zh-CN" b="0" i="0" u="none">
                <a:ea typeface="黑体" pitchFamily="49" charset="-122"/>
              </a:rPr>
              <a:t>使系统能量升高为正</a:t>
            </a:r>
            <a:endParaRPr lang="zh-CN" b="0" i="0" u="none">
              <a:ea typeface="黑体" pitchFamily="49" charset="-122"/>
            </a:endParaRPr>
          </a:p>
        </p:txBody>
      </p:sp>
      <p:sp>
        <p:nvSpPr>
          <p:cNvPr id="25" name="Text Box 5"/>
          <p:cNvSpPr txBox="1">
            <a:spLocks noGrp="1" noChangeShapeType="1"/>
          </p:cNvSpPr>
          <p:nvPr/>
        </p:nvSpPr>
        <p:spPr>
          <a:xfrm>
            <a:off x="1258887" y="5056187"/>
            <a:ext cx="6121400" cy="1160462"/>
          </a:xfrm>
          <a:prstGeom prst="rect">
            <a:avLst/>
          </a:prstGeom>
          <a:noFill/>
        </p:spPr>
        <p:txBody>
          <a:bodyPr lIns="91440" tIns="45720" rIns="91440" bIns="45720">
            <a:spAutoFit/>
          </a:bodyPr>
          <a:lstStyle/>
          <a:p>
            <a:pPr lvl="0" hangingPunct="1">
              <a:spcBef>
                <a:spcPct val="50000"/>
              </a:spcBef>
            </a:pPr>
            <a:r>
              <a:rPr lang="zh-CN" sz="2800"/>
              <a:t>推导得出：</a:t>
            </a:r>
            <a:r>
              <a:rPr lang="en-US" sz="2800" b="1" i="0" u="none">
                <a:solidFill>
                  <a:srgbClr val="FF0000"/>
                </a:solidFill>
              </a:rPr>
              <a:t>ΔH ≈ Q</a:t>
            </a:r>
            <a:r>
              <a:rPr lang="en-US" sz="2800" b="1" i="0" u="none" baseline="-25000">
                <a:solidFill>
                  <a:srgbClr val="FF0000"/>
                </a:solidFill>
              </a:rPr>
              <a:t>p</a:t>
            </a:r>
            <a:r>
              <a:rPr lang="en-US" sz="2800" b="1" i="0" u="none">
                <a:solidFill>
                  <a:srgbClr val="FF0000"/>
                </a:solidFill>
              </a:rPr>
              <a:t> </a:t>
            </a:r>
            <a:r>
              <a:rPr lang="zh-CN" sz="2800" b="0" i="0" u="none">
                <a:latin typeface="楷体_GB2312" pitchFamily="49" charset="-122"/>
                <a:ea typeface="楷体_GB2312" pitchFamily="49" charset="-122"/>
              </a:rPr>
              <a:t>(等压过程)</a:t>
            </a:r>
            <a:endParaRPr lang="zh-CN" sz="2800" b="0" i="0" u="none">
              <a:latin typeface="楷体_GB2312" pitchFamily="49" charset="-122"/>
              <a:ea typeface="楷体_GB2312" pitchFamily="49" charset="-122"/>
            </a:endParaRPr>
          </a:p>
          <a:p>
            <a:pPr lvl="0" hangingPunct="1">
              <a:spcBef>
                <a:spcPct val="50000"/>
              </a:spcBef>
            </a:pPr>
            <a:r>
              <a:rPr lang="en-US" sz="2800" b="1" i="0" u="none">
                <a:solidFill>
                  <a:srgbClr val="FF0000"/>
                </a:solidFill>
              </a:rPr>
              <a:t>                  ΔU</a:t>
            </a:r>
            <a:r>
              <a:rPr lang="en-US" sz="2800" b="1" i="0" u="none">
                <a:solidFill>
                  <a:srgbClr val="AE1E39"/>
                </a:solidFill>
              </a:rPr>
              <a:t> </a:t>
            </a:r>
            <a:r>
              <a:rPr lang="en-US" sz="2800" b="1" i="0" u="none">
                <a:solidFill>
                  <a:srgbClr val="FF0000"/>
                </a:solidFill>
              </a:rPr>
              <a:t>≈ Q</a:t>
            </a:r>
            <a:r>
              <a:rPr lang="en-US" sz="2800" b="1" i="0" u="none" baseline="-25000">
                <a:solidFill>
                  <a:srgbClr val="FF0000"/>
                </a:solidFill>
              </a:rPr>
              <a:t>v</a:t>
            </a:r>
            <a:r>
              <a:rPr lang="en-US" sz="2800" b="1" i="0" u="none">
                <a:solidFill>
                  <a:srgbClr val="FF0000"/>
                </a:solidFill>
              </a:rPr>
              <a:t>  </a:t>
            </a:r>
            <a:r>
              <a:rPr lang="zh-CN" sz="2800" b="0" i="0" u="none">
                <a:latin typeface="楷体_GB2312" pitchFamily="49" charset="-122"/>
                <a:ea typeface="楷体_GB2312" pitchFamily="49" charset="-122"/>
              </a:rPr>
              <a:t>(等容过程)</a:t>
            </a:r>
            <a:endParaRPr lang="zh-CN" sz="2800" b="0" i="0" u="none">
              <a:latin typeface="楷体_GB2312" pitchFamily="49" charset="-122"/>
              <a:ea typeface="楷体_GB2312" pitchFamily="49"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27" name="内容占位符 2"/>
          <p:cNvSpPr>
            <a:spLocks noGrp="1" noChangeShapeType="1"/>
          </p:cNvSpPr>
          <p:nvPr>
            <p:ph/>
          </p:nvPr>
        </p:nvSpPr>
        <p:spPr>
          <a:xfrm>
            <a:off x="123825" y="4086225"/>
            <a:ext cx="8229600" cy="2006600"/>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a:lnSpc>
                <a:spcPct val="150000"/>
              </a:lnSpc>
              <a:spcBef>
                <a:spcPct val="20000"/>
              </a:spcBef>
              <a:buClr>
                <a:srgbClr val="00007D"/>
              </a:buClr>
              <a:buSzPct val="75000"/>
              <a:buFont typeface="Wingdings" panose="05000000000000000000" pitchFamily="2" charset="2"/>
              <a:buChar char="n"/>
            </a:pPr>
            <a:r>
              <a:rPr lang="zh-CN" sz="2400"/>
              <a:t>随着早期人类在赤道非洲开始直立行走，研究人员表示，他们的头顶越来越多地受到太阳辐射的冲击。卷发让人保持凉爽，进一步阐明了头发质地的进化适应如何使人类大脑长到现代的大小。</a:t>
            </a:r>
            <a:endParaRPr lang="zh-CN" sz="2400"/>
          </a:p>
        </p:txBody>
      </p:sp>
      <p:pic>
        <p:nvPicPr>
          <p:cNvPr id="28" name="图片 4"/>
          <p:cNvPicPr>
            <a:picLocks noGrp="1" noChangeAspect="1"/>
          </p:cNvPicPr>
          <p:nvPr/>
        </p:nvPicPr>
        <p:blipFill>
          <a:blip r:embed="rId1"/>
          <a:srcRect/>
          <a:stretch>
            <a:fillRect/>
          </a:stretch>
        </p:blipFill>
        <p:spPr>
          <a:xfrm>
            <a:off x="107950" y="44450"/>
            <a:ext cx="5341937" cy="3686175"/>
          </a:xfrm>
          <a:prstGeom prst="rect">
            <a:avLst/>
          </a:prstGeom>
          <a:noFill/>
        </p:spPr>
      </p:pic>
      <p:sp>
        <p:nvSpPr>
          <p:cNvPr id="29" name="文本框 6"/>
          <p:cNvSpPr txBox="1">
            <a:spLocks noGrp="1" noChangeShapeType="1"/>
          </p:cNvSpPr>
          <p:nvPr/>
        </p:nvSpPr>
        <p:spPr>
          <a:xfrm>
            <a:off x="5449887" y="765175"/>
            <a:ext cx="3549650" cy="2935287"/>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50000"/>
              </a:lnSpc>
              <a:spcBef>
                <a:spcPts val="0"/>
              </a:spcBef>
              <a:buNone/>
            </a:pPr>
            <a:r>
              <a:rPr lang="zh-CN" sz="1800">
                <a:latin typeface="黑体" pitchFamily="49" charset="-122"/>
                <a:ea typeface="黑体" pitchFamily="49" charset="-122"/>
              </a:rPr>
              <a:t>“人类在赤道非洲进化，一天中的大部分时间，年复一年，太阳都在头顶。在这里，头皮和头顶以热量的形式接收到更稳定的强烈太阳辐射。 我们发现紧紧卷曲的头发能让人保持凉爽，实际上还能节约用水。”</a:t>
            </a:r>
            <a:endParaRPr lang="zh-CN" sz="1800">
              <a:latin typeface="黑体" pitchFamily="49" charset="-122"/>
              <a:ea typeface="黑体" pitchFamily="49"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31" name="内容占位符 2"/>
          <p:cNvSpPr>
            <a:spLocks noGrp="1" noChangeShapeType="1"/>
          </p:cNvSpPr>
          <p:nvPr>
            <p:ph/>
          </p:nvPr>
        </p:nvSpPr>
        <p:spPr>
          <a:xfrm>
            <a:off x="457200" y="2708275"/>
            <a:ext cx="8229600" cy="2808287"/>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a:lnSpc>
                <a:spcPct val="150000"/>
              </a:lnSpc>
              <a:spcBef>
                <a:spcPct val="20000"/>
              </a:spcBef>
              <a:buClr>
                <a:srgbClr val="00007D"/>
              </a:buClr>
              <a:buSzPct val="75000"/>
              <a:buFont typeface="Wingdings" panose="05000000000000000000" pitchFamily="2" charset="2"/>
              <a:buChar char="n"/>
            </a:pPr>
            <a:r>
              <a:rPr lang="zh-CN" sz="2400"/>
              <a:t>使用了</a:t>
            </a:r>
            <a:r>
              <a:rPr lang="zh-CN" sz="2400">
                <a:solidFill>
                  <a:srgbClr val="FF0000"/>
                </a:solidFill>
              </a:rPr>
              <a:t>热模型</a:t>
            </a:r>
            <a:r>
              <a:rPr lang="en-US" sz="2400"/>
              <a:t>——一种使用电力来模拟体温的人形模型。能够研究人体皮肤与环境之间以及人类头发假发之间的热传递，以检查不同的头发质地如何影响太阳辐射的热量获取。</a:t>
            </a:r>
            <a:endParaRPr lang="en-US" sz="2400"/>
          </a:p>
          <a:p>
            <a:pPr marL="342900" lvl="0" indent="-342900">
              <a:lnSpc>
                <a:spcPct val="150000"/>
              </a:lnSpc>
              <a:spcBef>
                <a:spcPct val="20000"/>
              </a:spcBef>
              <a:buClr>
                <a:srgbClr val="00007D"/>
              </a:buClr>
              <a:buSzPct val="75000"/>
              <a:buFont typeface="Wingdings" panose="05000000000000000000" pitchFamily="2" charset="2"/>
              <a:buChar char="n"/>
            </a:pPr>
            <a:r>
              <a:rPr lang="en-US" sz="2400"/>
              <a:t>所有的头发都能减少头皮的太阳辐射，但紧密卷曲的头发提供了最好的保护，免受太阳辐射热的影响，同时最大限度地减少出汗以保持凉爽的需要。</a:t>
            </a:r>
            <a:endParaRPr lang="en-US" sz="2400"/>
          </a:p>
        </p:txBody>
      </p:sp>
      <p:pic>
        <p:nvPicPr>
          <p:cNvPr id="32" name="Picture 4" descr="图片"/>
          <p:cNvPicPr>
            <a:picLocks noGrp="1" noChangeAspect="1"/>
          </p:cNvPicPr>
          <p:nvPr/>
        </p:nvPicPr>
        <p:blipFill>
          <a:blip r:embed="rId1"/>
          <a:srcRect t="13542" b="13542"/>
          <a:stretch>
            <a:fillRect/>
          </a:stretch>
        </p:blipFill>
        <p:spPr>
          <a:xfrm>
            <a:off x="2339975" y="163512"/>
            <a:ext cx="4332287" cy="2354262"/>
          </a:xfrm>
          <a:prstGeom prst="rect">
            <a:avLst/>
          </a:prstGeom>
          <a:noFill/>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34" name="内容占位符 2"/>
          <p:cNvSpPr>
            <a:spLocks noGrp="1" noChangeShapeType="1"/>
          </p:cNvSpPr>
          <p:nvPr>
            <p:ph/>
          </p:nvPr>
        </p:nvSpPr>
        <p:spPr>
          <a:xfrm>
            <a:off x="385762" y="2781300"/>
            <a:ext cx="8229600" cy="3886200"/>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a:spcBef>
                <a:spcPct val="20000"/>
              </a:spcBef>
              <a:buClr>
                <a:srgbClr val="00007D"/>
              </a:buClr>
              <a:buSzPct val="75000"/>
              <a:buFont typeface="Wingdings" panose="05000000000000000000" pitchFamily="2" charset="2"/>
              <a:buChar char="n"/>
            </a:pPr>
            <a:r>
              <a:rPr lang="en-US" sz="2400"/>
              <a:t>大脑对热敏感，大脑越大，产生的热量就越多，过多容易引起中暑。虽然人类开发了汗腺以有效保持凉爽，但出汗是以失去水分和电解质为代价的。</a:t>
            </a:r>
            <a:endParaRPr lang="en-US" sz="2400"/>
          </a:p>
          <a:p>
            <a:pPr marL="342900" lvl="0" indent="-342900">
              <a:spcBef>
                <a:spcPct val="20000"/>
              </a:spcBef>
              <a:buClr>
                <a:srgbClr val="00007D"/>
              </a:buClr>
              <a:buSzPct val="75000"/>
              <a:buFont typeface="Wingdings" panose="05000000000000000000" pitchFamily="2" charset="2"/>
              <a:buChar char="n"/>
            </a:pPr>
            <a:r>
              <a:rPr lang="en-US" sz="2400"/>
              <a:t>大约 200 万年前，出现直立人，他们的身体构造与我们相同，但大脑尺寸更小。 到 100 万年前，基本上已经达到了现代大脑的大小。</a:t>
            </a:r>
            <a:endParaRPr lang="en-US" sz="2400"/>
          </a:p>
          <a:p>
            <a:pPr marL="342900" lvl="0" indent="-342900">
              <a:spcBef>
                <a:spcPct val="20000"/>
              </a:spcBef>
              <a:buClr>
                <a:srgbClr val="00007D"/>
              </a:buClr>
              <a:buSzPct val="75000"/>
              <a:buFont typeface="Wingdings" panose="05000000000000000000" pitchFamily="2" charset="2"/>
              <a:buChar char="n"/>
            </a:pPr>
            <a:r>
              <a:rPr lang="en-US" sz="2400"/>
              <a:t>研究人员认为，头皮毛发提供了一种被动机制来减少我们从太阳辐射中获得的热量。某种东西释放了一种物理约束，让我们的大脑得以成长。</a:t>
            </a:r>
            <a:endParaRPr lang="en-US" sz="2400"/>
          </a:p>
        </p:txBody>
      </p:sp>
      <p:pic>
        <p:nvPicPr>
          <p:cNvPr id="35" name="图片 3"/>
          <p:cNvPicPr>
            <a:picLocks noGrp="1" noChangeAspect="1"/>
          </p:cNvPicPr>
          <p:nvPr/>
        </p:nvPicPr>
        <p:blipFill>
          <a:blip r:embed="rId1"/>
          <a:srcRect/>
          <a:stretch>
            <a:fillRect/>
          </a:stretch>
        </p:blipFill>
        <p:spPr>
          <a:xfrm>
            <a:off x="155575" y="115887"/>
            <a:ext cx="4271962" cy="2403475"/>
          </a:xfrm>
          <a:prstGeom prst="rect">
            <a:avLst/>
          </a:prstGeom>
          <a:noFill/>
        </p:spPr>
      </p:pic>
      <p:sp>
        <p:nvSpPr>
          <p:cNvPr id="36" name="文本框 5"/>
          <p:cNvSpPr txBox="1">
            <a:spLocks noGrp="1" noChangeShapeType="1"/>
          </p:cNvSpPr>
          <p:nvPr/>
        </p:nvSpPr>
        <p:spPr>
          <a:xfrm>
            <a:off x="4500562" y="549275"/>
            <a:ext cx="4572000" cy="16891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50000"/>
              </a:lnSpc>
              <a:spcBef>
                <a:spcPts val="0"/>
              </a:spcBef>
              <a:buNone/>
            </a:pPr>
            <a:r>
              <a:rPr lang="zh-CN" sz="1800" b="1" i="0" u="none">
                <a:latin typeface="黑体" pitchFamily="49" charset="-122"/>
                <a:ea typeface="黑体" pitchFamily="49" charset="-122"/>
              </a:rPr>
              <a:t>所有的头发都能减少头皮的太阳辐射</a:t>
            </a:r>
            <a:r>
              <a:rPr lang="zh-CN" sz="1800">
                <a:latin typeface="黑体" pitchFamily="49" charset="-122"/>
                <a:ea typeface="黑体" pitchFamily="49" charset="-122"/>
              </a:rPr>
              <a:t>，但</a:t>
            </a:r>
            <a:r>
              <a:rPr lang="zh-CN" sz="1800" b="1" i="0" u="none">
                <a:solidFill>
                  <a:srgbClr val="8062C2"/>
                </a:solidFill>
                <a:latin typeface="黑体" pitchFamily="49" charset="-122"/>
                <a:ea typeface="黑体" pitchFamily="49" charset="-122"/>
              </a:rPr>
              <a:t>紧密卷曲的头发提供了最好的保护，免受太阳辐射热的影响，同时最大限度地减少出汗以保持凉爽的需要</a:t>
            </a:r>
            <a:r>
              <a:rPr lang="zh-CN" sz="1800">
                <a:latin typeface="黑体" pitchFamily="49" charset="-122"/>
                <a:ea typeface="黑体" pitchFamily="49" charset="-122"/>
              </a:rPr>
              <a:t>。</a:t>
            </a:r>
            <a:endParaRPr lang="zh-CN" sz="1800">
              <a:latin typeface="黑体" pitchFamily="49" charset="-122"/>
              <a:ea typeface="黑体"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38" name="Rectangle 2"/>
          <p:cNvSpPr>
            <a:spLocks noGrp="1" noChangeShapeType="1"/>
          </p:cNvSpPr>
          <p:nvPr/>
        </p:nvSpPr>
        <p:spPr>
          <a:xfrm>
            <a:off x="827087" y="1773237"/>
            <a:ext cx="8066087" cy="4619625"/>
          </a:xfrm>
          <a:prstGeom prst="rect">
            <a:avLst/>
          </a:prstGeom>
          <a:noFill/>
        </p:spPr>
        <p:txBody>
          <a:bodyPr lIns="91440" tIns="45720" rIns="91440" bIns="45720">
            <a:spAutoFit/>
          </a:bodyPr>
          <a:lstStyle/>
          <a:p>
            <a:pPr lvl="0" hangingPunct="1">
              <a:lnSpc>
                <a:spcPct val="130000"/>
              </a:lnSpc>
              <a:spcBef>
                <a:spcPct val="50000"/>
              </a:spcBef>
            </a:pPr>
            <a:r>
              <a:rPr lang="zh-CN" sz="2800" b="1" i="0" u="none">
                <a:solidFill>
                  <a:srgbClr val="FF0000"/>
                </a:solidFill>
                <a:latin typeface="黑体" pitchFamily="49" charset="-122"/>
                <a:ea typeface="黑体" pitchFamily="49" charset="-122"/>
              </a:rPr>
              <a:t>自发过程：</a:t>
            </a:r>
            <a:r>
              <a:rPr lang="zh-CN" sz="2800" b="1" i="0" u="none">
                <a:latin typeface="楷体_GB2312" pitchFamily="49" charset="-122"/>
                <a:ea typeface="楷体_GB2312" pitchFamily="49" charset="-122"/>
              </a:rPr>
              <a:t>没有外力作用或人为干预而能自动进行的过程。大多数自发过程都有对外做功的能力。</a:t>
            </a:r>
            <a:endParaRPr lang="zh-CN" sz="2800" b="1" i="0" u="none">
              <a:latin typeface="楷体_GB2312" pitchFamily="49" charset="-122"/>
              <a:ea typeface="楷体_GB2312" pitchFamily="49" charset="-122"/>
            </a:endParaRPr>
          </a:p>
          <a:p>
            <a:pPr lvl="0" hangingPunct="1"/>
            <a:endParaRPr lang="en-US" sz="2800"/>
          </a:p>
          <a:p>
            <a:pPr lvl="0" hangingPunct="1"/>
            <a:r>
              <a:rPr lang="en-US" sz="2800" b="1" i="0" u="none">
                <a:latin typeface="黑体" pitchFamily="49" charset="-122"/>
                <a:ea typeface="黑体" pitchFamily="49" charset="-122"/>
              </a:rPr>
              <a:t>特点: </a:t>
            </a:r>
            <a:r>
              <a:rPr lang="en-US" sz="2800" b="1" i="0" u="none">
                <a:sym typeface="Wingdings" panose="05000000000000000000" pitchFamily="2" charset="2"/>
              </a:rPr>
              <a:t>(1)</a:t>
            </a:r>
            <a:r>
              <a:rPr lang="zh-CN" sz="2800" b="1" i="0" u="none">
                <a:ea typeface="楷体_GB2312" pitchFamily="49" charset="-122"/>
              </a:rPr>
              <a:t> 有方向和限度, 总是单一方向自动地从非平衡态前进到平衡态。</a:t>
            </a:r>
            <a:endParaRPr lang="zh-CN" sz="2800" b="1" i="0" u="none">
              <a:ea typeface="楷体_GB2312" pitchFamily="49" charset="-122"/>
            </a:endParaRPr>
          </a:p>
          <a:p>
            <a:pPr lvl="0" hangingPunct="1"/>
            <a:r>
              <a:rPr lang="zh-CN" sz="2800" b="1" i="0" u="none">
                <a:ea typeface="楷体_GB2312" pitchFamily="49" charset="-122"/>
              </a:rPr>
              <a:t>                </a:t>
            </a:r>
            <a:endParaRPr lang="zh-CN" sz="2800" b="1" i="0" u="none">
              <a:ea typeface="楷体_GB2312" pitchFamily="49" charset="-122"/>
            </a:endParaRPr>
          </a:p>
          <a:p>
            <a:pPr lvl="0" hangingPunct="1"/>
            <a:r>
              <a:rPr lang="en-US" sz="2800" b="1" i="0" u="none">
                <a:effectLst>
                  <a:outerShdw blurRad="38100" dist="38100" dir="2700000" algn="tl">
                    <a:srgbClr val="000000">
                      <a:alpha val="43137"/>
                    </a:srgbClr>
                  </a:outerShdw>
                </a:effectLst>
              </a:rPr>
              <a:t>           (2) </a:t>
            </a:r>
            <a:r>
              <a:rPr lang="zh-CN" sz="2800" b="1" i="0" u="none">
                <a:ea typeface="楷体_GB2312" pitchFamily="49" charset="-122"/>
              </a:rPr>
              <a:t>具有作功的潜能。如由山上滚下的石头  可推动其它物体运动作功。                 </a:t>
            </a:r>
            <a:endParaRPr lang="zh-CN" sz="2800" b="1" i="0" u="none">
              <a:ea typeface="楷体_GB2312" pitchFamily="49" charset="-122"/>
            </a:endParaRPr>
          </a:p>
          <a:p>
            <a:pPr lvl="0" hangingPunct="1"/>
            <a:r>
              <a:rPr lang="zh-CN" sz="2800" b="1" i="0" u="none">
                <a:ea typeface="楷体_GB2312" pitchFamily="49" charset="-122"/>
              </a:rPr>
              <a:t>              </a:t>
            </a:r>
            <a:endParaRPr lang="zh-CN" sz="2800" b="1" i="0" u="none">
              <a:ea typeface="楷体_GB2312" pitchFamily="49" charset="-122"/>
            </a:endParaRPr>
          </a:p>
          <a:p>
            <a:pPr lvl="0" hangingPunct="1"/>
            <a:r>
              <a:rPr lang="zh-CN" sz="2800" b="1" i="0" u="none">
                <a:ea typeface="楷体_GB2312" pitchFamily="49" charset="-122"/>
              </a:rPr>
              <a:t>           </a:t>
            </a:r>
            <a:r>
              <a:rPr lang="en-US" sz="2800" b="1" i="0" u="none">
                <a:effectLst>
                  <a:outerShdw blurRad="38100" dist="38100" dir="2700000" algn="tl">
                    <a:srgbClr val="000000">
                      <a:alpha val="43137"/>
                    </a:srgbClr>
                  </a:outerShdw>
                </a:effectLst>
              </a:rPr>
              <a:t>(3)</a:t>
            </a:r>
            <a:r>
              <a:rPr lang="zh-CN" sz="2800" b="1" i="0" u="none">
                <a:ea typeface="楷体_GB2312" pitchFamily="49" charset="-122"/>
              </a:rPr>
              <a:t>不能自动逆转（逆过程非自发）</a:t>
            </a:r>
            <a:endParaRPr lang="zh-CN" sz="2800" b="1" i="0" u="none">
              <a:ea typeface="楷体_GB2312" pitchFamily="49" charset="-122"/>
            </a:endParaRPr>
          </a:p>
        </p:txBody>
      </p:sp>
      <p:sp>
        <p:nvSpPr>
          <p:cNvPr id="39" name="Rectangle 3"/>
          <p:cNvSpPr>
            <a:spLocks noGrp="1" noChangeShapeType="1"/>
          </p:cNvSpPr>
          <p:nvPr/>
        </p:nvSpPr>
        <p:spPr>
          <a:xfrm>
            <a:off x="900112" y="404812"/>
            <a:ext cx="5616575" cy="64135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3600" b="1" i="0" u="none">
                <a:latin typeface="Times New Roman" panose="02020603050405020304"/>
                <a:ea typeface="黑体" pitchFamily="49" charset="-122"/>
              </a:rPr>
              <a:t>1.3 热力学第二定律</a:t>
            </a:r>
            <a:endParaRPr lang="zh-CN" sz="3600" b="1" i="0" u="none">
              <a:latin typeface="Times New Roman" panose="02020603050405020304"/>
              <a:ea typeface="黑体" pitchFamily="49" charset="-122"/>
            </a:endParaRPr>
          </a:p>
        </p:txBody>
      </p:sp>
      <p:sp>
        <p:nvSpPr>
          <p:cNvPr id="40" name="Rectangle 5"/>
          <p:cNvSpPr>
            <a:spLocks noGrp="1" noChangeShapeType="1"/>
          </p:cNvSpPr>
          <p:nvPr/>
        </p:nvSpPr>
        <p:spPr>
          <a:xfrm>
            <a:off x="900112" y="1196975"/>
            <a:ext cx="6891337" cy="51911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en-US" sz="2800" b="1" i="0" u="none">
                <a:latin typeface="黑体" pitchFamily="49" charset="-122"/>
                <a:ea typeface="黑体" pitchFamily="49" charset="-122"/>
              </a:rPr>
              <a:t>热力学第二定律:</a:t>
            </a:r>
            <a:r>
              <a:rPr lang="en-US" sz="2800" b="1" i="0" u="none"/>
              <a:t> </a:t>
            </a:r>
            <a:r>
              <a:rPr lang="zh-CN" sz="2800" b="1" i="0" u="none">
                <a:ea typeface="楷体_GB2312" pitchFamily="49" charset="-122"/>
              </a:rPr>
              <a:t>热传导只能由高温→低温</a:t>
            </a:r>
            <a:endParaRPr lang="zh-CN" sz="2800" b="1" i="0" u="none">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8">
                                            <p:txEl>
                                              <p:pRg st="0" end="44"/>
                                            </p:txEl>
                                          </p:spTgt>
                                        </p:tgtEl>
                                        <p:attrNameLst>
                                          <p:attrName>style.visibility</p:attrName>
                                        </p:attrNameLst>
                                      </p:cBhvr>
                                      <p:to>
                                        <p:strVal val="visible"/>
                                      </p:to>
                                    </p:set>
                                    <p:animEffect transition="in" filter="checkerboard(across)">
                                      <p:cBhvr>
                                        <p:cTn id="7" dur="500"/>
                                        <p:tgtEl>
                                          <p:spTgt spid="38">
                                            <p:txEl>
                                              <p:pRg st="0" end="44"/>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
                                            <p:txEl>
                                              <p:pRg st="45" end="83"/>
                                            </p:txEl>
                                          </p:spTgt>
                                        </p:tgtEl>
                                        <p:attrNameLst>
                                          <p:attrName>style.visibility</p:attrName>
                                        </p:attrNameLst>
                                      </p:cBhvr>
                                      <p:to>
                                        <p:strVal val="visible"/>
                                      </p:to>
                                    </p:set>
                                    <p:animEffect transition="in" filter="checkerboard(across)">
                                      <p:cBhvr>
                                        <p:cTn id="12" dur="500"/>
                                        <p:tgtEl>
                                          <p:spTgt spid="38">
                                            <p:txEl>
                                              <p:pRg st="45" end="8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8">
                                            <p:txEl>
                                              <p:pRg st="83" end="100"/>
                                            </p:txEl>
                                          </p:spTgt>
                                        </p:tgtEl>
                                        <p:attrNameLst>
                                          <p:attrName>style.visibility</p:attrName>
                                        </p:attrNameLst>
                                      </p:cBhvr>
                                      <p:to>
                                        <p:strVal val="visible"/>
                                      </p:to>
                                    </p:set>
                                    <p:animEffect transition="in" filter="checkerboard(across)">
                                      <p:cBhvr>
                                        <p:cTn id="17" dur="500"/>
                                        <p:tgtEl>
                                          <p:spTgt spid="38">
                                            <p:txEl>
                                              <p:pRg st="83" end="10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8">
                                            <p:txEl>
                                              <p:pRg st="100" end="164"/>
                                            </p:txEl>
                                          </p:spTgt>
                                        </p:tgtEl>
                                        <p:attrNameLst>
                                          <p:attrName>style.visibility</p:attrName>
                                        </p:attrNameLst>
                                      </p:cBhvr>
                                      <p:to>
                                        <p:strVal val="visible"/>
                                      </p:to>
                                    </p:set>
                                    <p:animEffect transition="in" filter="checkerboard(across)">
                                      <p:cBhvr>
                                        <p:cTn id="22" dur="500"/>
                                        <p:tgtEl>
                                          <p:spTgt spid="38">
                                            <p:txEl>
                                              <p:pRg st="100" end="16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8">
                                            <p:txEl>
                                              <p:pRg st="164" end="179"/>
                                            </p:txEl>
                                          </p:spTgt>
                                        </p:tgtEl>
                                        <p:attrNameLst>
                                          <p:attrName>style.visibility</p:attrName>
                                        </p:attrNameLst>
                                      </p:cBhvr>
                                      <p:to>
                                        <p:strVal val="visible"/>
                                      </p:to>
                                    </p:set>
                                    <p:animEffect transition="in" filter="checkerboard(across)">
                                      <p:cBhvr>
                                        <p:cTn id="27" dur="500"/>
                                        <p:tgtEl>
                                          <p:spTgt spid="38">
                                            <p:txEl>
                                              <p:pRg st="164" end="17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8">
                                            <p:txEl>
                                              <p:pRg st="179" end="208"/>
                                            </p:txEl>
                                          </p:spTgt>
                                        </p:tgtEl>
                                        <p:attrNameLst>
                                          <p:attrName>style.visibility</p:attrName>
                                        </p:attrNameLst>
                                      </p:cBhvr>
                                      <p:to>
                                        <p:strVal val="visible"/>
                                      </p:to>
                                    </p:set>
                                    <p:animEffect transition="in" filter="checkerboard(across)">
                                      <p:cBhvr>
                                        <p:cTn id="32" dur="500"/>
                                        <p:tgtEl>
                                          <p:spTgt spid="38">
                                            <p:txEl>
                                              <p:pRg st="179" end="208"/>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42" name="Rectangle 6"/>
          <p:cNvSpPr>
            <a:spLocks noGrp="1" noChangeShapeType="1"/>
          </p:cNvSpPr>
          <p:nvPr/>
        </p:nvSpPr>
        <p:spPr>
          <a:xfrm>
            <a:off x="323850" y="1052512"/>
            <a:ext cx="8259762" cy="2232025"/>
          </a:xfrm>
          <a:prstGeom prst="rect">
            <a:avLst/>
          </a:prstGeom>
          <a:noFill/>
        </p:spPr>
        <p:txBody>
          <a:bodyPr lIns="91440" tIns="45720" rIns="91440" bIns="45720"/>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spcBef>
                <a:spcPct val="20000"/>
              </a:spcBef>
              <a:buNone/>
            </a:pPr>
            <a:r>
              <a:rPr lang="en-US" sz="2400" b="1" i="0" u="none">
                <a:latin typeface="黑体" pitchFamily="49" charset="-122"/>
                <a:ea typeface="黑体" pitchFamily="49" charset="-122"/>
              </a:rPr>
              <a:t>   自发过程:</a:t>
            </a:r>
            <a:endParaRPr lang="en-US" sz="2400" b="1" i="0" u="none">
              <a:latin typeface="黑体" pitchFamily="49" charset="-122"/>
              <a:ea typeface="黑体" pitchFamily="49" charset="-122"/>
            </a:endParaRPr>
          </a:p>
          <a:p>
            <a:pPr marL="342900" lvl="0" indent="-342900" hangingPunct="1">
              <a:spcBef>
                <a:spcPct val="20000"/>
              </a:spcBef>
              <a:buNone/>
            </a:pPr>
            <a:r>
              <a:rPr lang="zh-CN" sz="2400" b="1" i="0" u="none">
                <a:latin typeface="楷体_GB2312" pitchFamily="49" charset="-122"/>
                <a:ea typeface="楷体_GB2312" pitchFamily="49" charset="-122"/>
              </a:rPr>
              <a:t>   水流方向     高水位     低水位     到水位相等为止</a:t>
            </a:r>
            <a:endParaRPr lang="zh-CN" sz="2400" b="1" i="0" u="none">
              <a:latin typeface="楷体_GB2312" pitchFamily="49" charset="-122"/>
              <a:ea typeface="楷体_GB2312" pitchFamily="49" charset="-122"/>
            </a:endParaRPr>
          </a:p>
          <a:p>
            <a:pPr marL="342900" lvl="0" indent="-342900" hangingPunct="1">
              <a:spcBef>
                <a:spcPct val="20000"/>
              </a:spcBef>
              <a:buNone/>
            </a:pPr>
            <a:r>
              <a:rPr lang="zh-CN" sz="2400" b="1" i="0" u="none">
                <a:latin typeface="楷体_GB2312" pitchFamily="49" charset="-122"/>
                <a:ea typeface="楷体_GB2312" pitchFamily="49" charset="-122"/>
              </a:rPr>
              <a:t>   气体扩散     高压处     低压处     到压力相等为止</a:t>
            </a:r>
            <a:endParaRPr lang="zh-CN" sz="2400" b="1" i="0" u="none">
              <a:latin typeface="楷体_GB2312" pitchFamily="49" charset="-122"/>
              <a:ea typeface="楷体_GB2312" pitchFamily="49" charset="-122"/>
            </a:endParaRPr>
          </a:p>
          <a:p>
            <a:pPr marL="342900" lvl="0" indent="-342900" hangingPunct="1">
              <a:spcBef>
                <a:spcPct val="20000"/>
              </a:spcBef>
              <a:buNone/>
            </a:pPr>
            <a:r>
              <a:rPr lang="zh-CN" sz="2400" b="1" i="0" u="none">
                <a:latin typeface="楷体_GB2312" pitchFamily="49" charset="-122"/>
                <a:ea typeface="楷体_GB2312" pitchFamily="49" charset="-122"/>
              </a:rPr>
              <a:t>   渗透作用     低渗液     高渗液     到渗透平衡为止</a:t>
            </a:r>
            <a:endParaRPr lang="zh-CN" sz="2400" b="1" i="0" u="none">
              <a:latin typeface="楷体_GB2312" pitchFamily="49" charset="-122"/>
              <a:ea typeface="楷体_GB2312" pitchFamily="49" charset="-122"/>
            </a:endParaRPr>
          </a:p>
          <a:p>
            <a:pPr marL="342900" lvl="0" indent="-342900" hangingPunct="1">
              <a:spcBef>
                <a:spcPct val="20000"/>
              </a:spcBef>
              <a:buNone/>
            </a:pPr>
            <a:r>
              <a:rPr lang="zh-CN" sz="2800" b="1" i="0" u="none"/>
              <a:t>   </a:t>
            </a:r>
            <a:r>
              <a:rPr lang="en-US" sz="2800" b="1" i="0" u="none">
                <a:ea typeface="Arial"/>
              </a:rPr>
              <a:t>……</a:t>
            </a:r>
            <a:endParaRPr lang="en-US" sz="2800" b="1" i="0" u="none">
              <a:ea typeface="Arial"/>
            </a:endParaRPr>
          </a:p>
        </p:txBody>
      </p:sp>
      <p:sp>
        <p:nvSpPr>
          <p:cNvPr id="43" name="Rectangle 13"/>
          <p:cNvSpPr>
            <a:spLocks noGrp="1" noChangeShapeType="1"/>
          </p:cNvSpPr>
          <p:nvPr/>
        </p:nvSpPr>
        <p:spPr>
          <a:xfrm>
            <a:off x="741362" y="3357562"/>
            <a:ext cx="8259762" cy="2016125"/>
          </a:xfrm>
          <a:prstGeom prst="rect">
            <a:avLst/>
          </a:prstGeom>
          <a:noFill/>
        </p:spPr>
        <p:txBody>
          <a:bodyPr lIns="91440" tIns="45720" rIns="91440" bIns="45720"/>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spcBef>
                <a:spcPct val="20000"/>
              </a:spcBef>
              <a:buNone/>
            </a:pPr>
            <a:r>
              <a:rPr lang="zh-CN" sz="2400" b="1" i="0" u="none">
                <a:ea typeface="黑体" pitchFamily="49" charset="-122"/>
              </a:rPr>
              <a:t>自发的化学反应：</a:t>
            </a:r>
            <a:r>
              <a:rPr lang="zh-CN" sz="2800" b="1" i="0" u="none"/>
              <a:t> </a:t>
            </a:r>
            <a:endParaRPr lang="zh-CN" sz="2800" b="1" i="0" u="none"/>
          </a:p>
          <a:p>
            <a:pPr marL="342900" lvl="0" indent="-342900" hangingPunct="1">
              <a:spcBef>
                <a:spcPct val="20000"/>
              </a:spcBef>
              <a:buNone/>
            </a:pPr>
            <a:r>
              <a:rPr lang="en-US" sz="2400" b="1" i="0" u="none">
                <a:latin typeface="楷体_GB2312" pitchFamily="49" charset="-122"/>
                <a:ea typeface="楷体_GB2312" pitchFamily="49" charset="-122"/>
              </a:rPr>
              <a:t>   酸碱中和：     OH</a:t>
            </a:r>
            <a:r>
              <a:rPr lang="en-US" sz="2400" b="1" i="0" u="none" baseline="50000">
                <a:latin typeface="楷体_GB2312" pitchFamily="49" charset="-122"/>
                <a:ea typeface="楷体_GB2312" pitchFamily="49" charset="-122"/>
              </a:rPr>
              <a:t>-</a:t>
            </a:r>
            <a:r>
              <a:rPr lang="en-US" sz="2400" b="1" i="0" u="none">
                <a:latin typeface="楷体_GB2312" pitchFamily="49" charset="-122"/>
                <a:ea typeface="楷体_GB2312" pitchFamily="49" charset="-122"/>
              </a:rPr>
              <a:t> + H</a:t>
            </a:r>
            <a:r>
              <a:rPr lang="en-US" sz="2400" b="1" i="0" u="none" baseline="30000">
                <a:latin typeface="楷体_GB2312" pitchFamily="49" charset="-122"/>
                <a:ea typeface="楷体_GB2312" pitchFamily="49" charset="-122"/>
              </a:rPr>
              <a:t>+</a:t>
            </a:r>
            <a:r>
              <a:rPr lang="en-US" sz="2400" b="1" i="0" u="none">
                <a:latin typeface="楷体_GB2312" pitchFamily="49" charset="-122"/>
                <a:ea typeface="楷体_GB2312" pitchFamily="49" charset="-122"/>
              </a:rPr>
              <a:t>         H</a:t>
            </a:r>
            <a:r>
              <a:rPr lang="en-US" sz="2400" b="1" i="0" u="none" baseline="-25000">
                <a:latin typeface="楷体_GB2312" pitchFamily="49" charset="-122"/>
                <a:ea typeface="楷体_GB2312" pitchFamily="49" charset="-122"/>
              </a:rPr>
              <a:t>2</a:t>
            </a:r>
            <a:r>
              <a:rPr lang="en-US" sz="2400" b="1" i="0" u="none">
                <a:latin typeface="楷体_GB2312" pitchFamily="49" charset="-122"/>
                <a:ea typeface="楷体_GB2312" pitchFamily="49" charset="-122"/>
              </a:rPr>
              <a:t>O   </a:t>
            </a:r>
            <a:endParaRPr lang="en-US" sz="2400" b="1" i="0" u="none">
              <a:latin typeface="楷体_GB2312" pitchFamily="49" charset="-122"/>
              <a:ea typeface="楷体_GB2312" pitchFamily="49" charset="-122"/>
            </a:endParaRPr>
          </a:p>
          <a:p>
            <a:pPr marL="342900" lvl="0" indent="-342900" hangingPunct="1">
              <a:spcBef>
                <a:spcPct val="20000"/>
              </a:spcBef>
              <a:buNone/>
            </a:pPr>
            <a:r>
              <a:rPr lang="en-US" sz="2400" b="1" i="0" u="none">
                <a:latin typeface="楷体_GB2312" pitchFamily="49" charset="-122"/>
                <a:ea typeface="楷体_GB2312" pitchFamily="49" charset="-122"/>
              </a:rPr>
              <a:t>   H</a:t>
            </a:r>
            <a:r>
              <a:rPr lang="en-US" sz="2400" b="1" i="0" u="none" baseline="-25000">
                <a:latin typeface="楷体_GB2312" pitchFamily="49" charset="-122"/>
                <a:ea typeface="楷体_GB2312" pitchFamily="49" charset="-122"/>
              </a:rPr>
              <a:t>2</a:t>
            </a:r>
            <a:r>
              <a:rPr lang="zh-CN" sz="2400" b="1" i="0" u="none">
                <a:latin typeface="楷体_GB2312" pitchFamily="49" charset="-122"/>
                <a:ea typeface="楷体_GB2312" pitchFamily="49" charset="-122"/>
              </a:rPr>
              <a:t>O生成：       H</a:t>
            </a:r>
            <a:r>
              <a:rPr lang="en-US" sz="2400" b="1" i="0" u="none" baseline="-25000">
                <a:latin typeface="楷体_GB2312" pitchFamily="49" charset="-122"/>
                <a:ea typeface="楷体_GB2312" pitchFamily="49" charset="-122"/>
              </a:rPr>
              <a:t>2</a:t>
            </a:r>
            <a:r>
              <a:rPr lang="en-US" sz="2400" b="1" i="0" u="none">
                <a:latin typeface="楷体_GB2312" pitchFamily="49" charset="-122"/>
                <a:ea typeface="楷体_GB2312" pitchFamily="49" charset="-122"/>
              </a:rPr>
              <a:t>(</a:t>
            </a:r>
            <a:r>
              <a:rPr lang="zh-CN" sz="2400" b="1" i="0" u="none"/>
              <a:t>↑</a:t>
            </a:r>
            <a:r>
              <a:rPr lang="en-US" sz="2400" b="1" i="0" u="none">
                <a:latin typeface="楷体_GB2312" pitchFamily="49" charset="-122"/>
                <a:ea typeface="楷体_GB2312" pitchFamily="49" charset="-122"/>
              </a:rPr>
              <a:t>) + 1/2 O</a:t>
            </a:r>
            <a:r>
              <a:rPr lang="en-US" sz="2400" b="1" i="0" u="none" baseline="-25000">
                <a:latin typeface="楷体_GB2312" pitchFamily="49" charset="-122"/>
                <a:ea typeface="楷体_GB2312" pitchFamily="49" charset="-122"/>
              </a:rPr>
              <a:t>2 </a:t>
            </a:r>
            <a:r>
              <a:rPr lang="en-US" sz="2400" b="1" i="0" u="none">
                <a:latin typeface="楷体_GB2312" pitchFamily="49" charset="-122"/>
                <a:ea typeface="楷体_GB2312" pitchFamily="49" charset="-122"/>
              </a:rPr>
              <a:t>(</a:t>
            </a:r>
            <a:r>
              <a:rPr lang="zh-CN" sz="2400" b="1" i="0" u="none"/>
              <a:t>↑</a:t>
            </a:r>
            <a:r>
              <a:rPr lang="en-US" sz="2400" b="1" i="0" u="none">
                <a:latin typeface="楷体_GB2312" pitchFamily="49" charset="-122"/>
                <a:ea typeface="楷体_GB2312" pitchFamily="49" charset="-122"/>
              </a:rPr>
              <a:t>)       H</a:t>
            </a:r>
            <a:r>
              <a:rPr lang="en-US" sz="2400" b="1" i="0" u="none" baseline="-25000">
                <a:latin typeface="楷体_GB2312" pitchFamily="49" charset="-122"/>
                <a:ea typeface="楷体_GB2312" pitchFamily="49" charset="-122"/>
              </a:rPr>
              <a:t>2</a:t>
            </a:r>
            <a:r>
              <a:rPr lang="en-US" sz="2400" b="1" i="0" u="none">
                <a:latin typeface="楷体_GB2312" pitchFamily="49" charset="-122"/>
                <a:ea typeface="楷体_GB2312" pitchFamily="49" charset="-122"/>
              </a:rPr>
              <a:t>O    </a:t>
            </a:r>
            <a:endParaRPr lang="en-US" sz="2400" b="1" i="0" u="none">
              <a:latin typeface="楷体_GB2312" pitchFamily="49" charset="-122"/>
              <a:ea typeface="楷体_GB2312" pitchFamily="49" charset="-122"/>
            </a:endParaRPr>
          </a:p>
          <a:p>
            <a:pPr marL="342900" lvl="0" indent="-342900" hangingPunct="1">
              <a:spcBef>
                <a:spcPct val="20000"/>
              </a:spcBef>
              <a:buNone/>
            </a:pPr>
            <a:r>
              <a:rPr lang="en-US" sz="2400" b="1" i="0" u="none">
                <a:latin typeface="楷体_GB2312" pitchFamily="49" charset="-122"/>
                <a:ea typeface="楷体_GB2312" pitchFamily="49" charset="-122"/>
              </a:rPr>
              <a:t>   NH</a:t>
            </a:r>
            <a:r>
              <a:rPr lang="en-US" sz="2400" b="1" i="0" u="none" baseline="-25000">
                <a:latin typeface="楷体_GB2312" pitchFamily="49" charset="-122"/>
                <a:ea typeface="楷体_GB2312" pitchFamily="49" charset="-122"/>
              </a:rPr>
              <a:t>4</a:t>
            </a:r>
            <a:r>
              <a:rPr lang="en-US" sz="2400" b="1" i="0" u="none">
                <a:latin typeface="楷体_GB2312" pitchFamily="49" charset="-122"/>
                <a:ea typeface="楷体_GB2312" pitchFamily="49" charset="-122"/>
              </a:rPr>
              <a:t>HCO</a:t>
            </a:r>
            <a:r>
              <a:rPr lang="en-US" sz="2400" b="1" i="0" u="none" baseline="-25000">
                <a:latin typeface="楷体_GB2312" pitchFamily="49" charset="-122"/>
                <a:ea typeface="楷体_GB2312" pitchFamily="49" charset="-122"/>
              </a:rPr>
              <a:t>3</a:t>
            </a:r>
            <a:r>
              <a:rPr lang="zh-CN" sz="2400" b="1" i="0" u="none">
                <a:latin typeface="楷体_GB2312" pitchFamily="49" charset="-122"/>
                <a:ea typeface="楷体_GB2312" pitchFamily="49" charset="-122"/>
              </a:rPr>
              <a:t>分解：   NH</a:t>
            </a:r>
            <a:r>
              <a:rPr lang="en-US" sz="2400" b="1" i="0" u="none" baseline="-25000">
                <a:latin typeface="楷体_GB2312" pitchFamily="49" charset="-122"/>
                <a:ea typeface="楷体_GB2312" pitchFamily="49" charset="-122"/>
              </a:rPr>
              <a:t>4</a:t>
            </a:r>
            <a:r>
              <a:rPr lang="en-US" sz="2400" b="1" i="0" u="none">
                <a:latin typeface="楷体_GB2312" pitchFamily="49" charset="-122"/>
                <a:ea typeface="楷体_GB2312" pitchFamily="49" charset="-122"/>
              </a:rPr>
              <a:t>HCO</a:t>
            </a:r>
            <a:r>
              <a:rPr lang="en-US" sz="2400" b="1" i="0" u="none" baseline="-25000">
                <a:latin typeface="楷体_GB2312" pitchFamily="49" charset="-122"/>
                <a:ea typeface="楷体_GB2312" pitchFamily="49" charset="-122"/>
              </a:rPr>
              <a:t>3</a:t>
            </a:r>
            <a:r>
              <a:rPr lang="en-US" sz="2400" b="1" i="0" u="none">
                <a:latin typeface="楷体_GB2312" pitchFamily="49" charset="-122"/>
                <a:ea typeface="楷体_GB2312" pitchFamily="49" charset="-122"/>
              </a:rPr>
              <a:t>     NH</a:t>
            </a:r>
            <a:r>
              <a:rPr lang="en-US" sz="2400" b="1" i="0" u="none" baseline="-25000">
                <a:latin typeface="楷体_GB2312" pitchFamily="49" charset="-122"/>
                <a:ea typeface="楷体_GB2312" pitchFamily="49" charset="-122"/>
              </a:rPr>
              <a:t>3</a:t>
            </a:r>
            <a:r>
              <a:rPr lang="en-US" sz="2400" b="1" i="0" u="none">
                <a:latin typeface="楷体_GB2312" pitchFamily="49" charset="-122"/>
                <a:ea typeface="楷体_GB2312" pitchFamily="49" charset="-122"/>
              </a:rPr>
              <a:t>(</a:t>
            </a:r>
            <a:r>
              <a:rPr lang="zh-CN" sz="2400" b="1" i="0" u="none"/>
              <a:t>↑</a:t>
            </a:r>
            <a:r>
              <a:rPr lang="en-US" sz="2400" b="1" i="0" u="none">
                <a:latin typeface="楷体_GB2312" pitchFamily="49" charset="-122"/>
                <a:ea typeface="楷体_GB2312" pitchFamily="49" charset="-122"/>
              </a:rPr>
              <a:t>)+CO</a:t>
            </a:r>
            <a:r>
              <a:rPr lang="en-US" sz="2400" b="1" i="0" u="none" baseline="-25000">
                <a:latin typeface="楷体_GB2312" pitchFamily="49" charset="-122"/>
                <a:ea typeface="楷体_GB2312" pitchFamily="49" charset="-122"/>
              </a:rPr>
              <a:t>2</a:t>
            </a:r>
            <a:r>
              <a:rPr lang="en-US" sz="2400" b="1" i="0" u="none">
                <a:latin typeface="楷体_GB2312" pitchFamily="49" charset="-122"/>
                <a:ea typeface="楷体_GB2312" pitchFamily="49" charset="-122"/>
              </a:rPr>
              <a:t>(</a:t>
            </a:r>
            <a:r>
              <a:rPr lang="zh-CN" sz="2400" b="1" i="0" u="none"/>
              <a:t>↑</a:t>
            </a:r>
            <a:r>
              <a:rPr lang="en-US" sz="2400" b="1" i="0" u="none">
                <a:latin typeface="楷体_GB2312" pitchFamily="49" charset="-122"/>
                <a:ea typeface="楷体_GB2312" pitchFamily="49" charset="-122"/>
              </a:rPr>
              <a:t>)+H</a:t>
            </a:r>
            <a:r>
              <a:rPr lang="en-US" sz="2400" b="1" i="0" u="none" baseline="-25000">
                <a:latin typeface="楷体_GB2312" pitchFamily="49" charset="-122"/>
                <a:ea typeface="楷体_GB2312" pitchFamily="49" charset="-122"/>
              </a:rPr>
              <a:t>2</a:t>
            </a:r>
            <a:r>
              <a:rPr lang="en-US" sz="2400" b="1" i="0" u="none">
                <a:latin typeface="楷体_GB2312" pitchFamily="49" charset="-122"/>
                <a:ea typeface="楷体_GB2312" pitchFamily="49" charset="-122"/>
              </a:rPr>
              <a:t>O</a:t>
            </a:r>
            <a:endParaRPr lang="en-US" sz="2400" b="1" i="0" u="none">
              <a:latin typeface="楷体_GB2312" pitchFamily="49" charset="-122"/>
              <a:ea typeface="楷体_GB2312" pitchFamily="49" charset="-122"/>
            </a:endParaRPr>
          </a:p>
        </p:txBody>
      </p:sp>
      <p:sp>
        <p:nvSpPr>
          <p:cNvPr id="44" name="Rectangle 2"/>
          <p:cNvSpPr>
            <a:spLocks noGrp="1" noChangeShapeType="1"/>
          </p:cNvSpPr>
          <p:nvPr>
            <p:ph type="body"/>
          </p:nvPr>
        </p:nvSpPr>
        <p:spPr>
          <a:xfrm>
            <a:off x="684212" y="5516562"/>
            <a:ext cx="8064500" cy="1008062"/>
          </a:xfrm>
          <a:prstGeom prst="rect">
            <a:avLst/>
          </a:prstGeom>
          <a:noFill/>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lnSpc>
                <a:spcPct val="90000"/>
              </a:lnSpc>
              <a:spcBef>
                <a:spcPts val="0"/>
              </a:spcBef>
              <a:buNone/>
            </a:pPr>
            <a:r>
              <a:rPr lang="zh-CN" sz="2400" b="1" i="0" u="none">
                <a:solidFill>
                  <a:srgbClr val="AE1E39"/>
                </a:solidFill>
                <a:ea typeface="黑体" pitchFamily="49" charset="-122"/>
              </a:rPr>
              <a:t>自发</a:t>
            </a:r>
            <a:r>
              <a:rPr lang="en-US" sz="2400" b="1" i="0" u="none">
                <a:solidFill>
                  <a:srgbClr val="AE1E39"/>
                </a:solidFill>
              </a:rPr>
              <a:t> —— 只</a:t>
            </a:r>
            <a:r>
              <a:rPr lang="zh-CN" sz="2400" b="1" i="0" u="none">
                <a:solidFill>
                  <a:srgbClr val="AE1E39"/>
                </a:solidFill>
                <a:ea typeface="楷体_GB2312" pitchFamily="49" charset="-122"/>
              </a:rPr>
              <a:t>意味反应可自动进行的方向，不含速度因素，不意味着瞬间反应。自发过程的实现受到众多因素影响</a:t>
            </a:r>
            <a:endParaRPr lang="zh-CN" sz="2400" b="1" i="0" u="none">
              <a:solidFill>
                <a:srgbClr val="AE1E39"/>
              </a:solidFill>
              <a:ea typeface="楷体_GB2312" pitchFamily="49" charset="-122"/>
            </a:endParaRPr>
          </a:p>
        </p:txBody>
      </p:sp>
      <p:sp>
        <p:nvSpPr>
          <p:cNvPr id="45" name="Rectangle 7"/>
          <p:cNvSpPr>
            <a:spLocks noGrp="1" noChangeShapeType="1"/>
          </p:cNvSpPr>
          <p:nvPr/>
        </p:nvSpPr>
        <p:spPr>
          <a:xfrm>
            <a:off x="611187" y="404812"/>
            <a:ext cx="3219450" cy="519112"/>
          </a:xfrm>
          <a:prstGeom prst="rect">
            <a:avLst/>
          </a:prstGeom>
          <a:noFill/>
        </p:spPr>
        <p:txBody>
          <a:bodyPr wrap="none">
            <a:spAutoFit/>
          </a:bodyPr>
          <a:lstStyle/>
          <a:p>
            <a:pPr lvl="0" algn="ctr" hangingPunct="1"/>
            <a:r>
              <a:rPr lang="zh-CN" sz="2800" b="1" i="0" u="none">
                <a:latin typeface="黑体" pitchFamily="49" charset="-122"/>
                <a:ea typeface="黑体" pitchFamily="49" charset="-122"/>
              </a:rPr>
              <a:t>过程的方向与限度</a:t>
            </a:r>
            <a:r>
              <a:rPr lang="zh-CN" sz="2800">
                <a:latin typeface="黑体" pitchFamily="49" charset="-122"/>
                <a:ea typeface="黑体" pitchFamily="49" charset="-122"/>
              </a:rPr>
              <a:t> </a:t>
            </a:r>
            <a:endParaRPr lang="zh-CN" sz="2800">
              <a:latin typeface="黑体" pitchFamily="49" charset="-122"/>
              <a:ea typeface="黑体" pitchFamily="49" charset="-122"/>
            </a:endParaRPr>
          </a:p>
        </p:txBody>
      </p:sp>
      <p:sp>
        <p:nvSpPr>
          <p:cNvPr id="46" name="Line 10"/>
          <p:cNvSpPr>
            <a:spLocks noGrp="1" noChangeShapeType="1"/>
          </p:cNvSpPr>
          <p:nvPr/>
        </p:nvSpPr>
        <p:spPr>
          <a:xfrm>
            <a:off x="4643437" y="4076700"/>
            <a:ext cx="476250" cy="0"/>
          </a:xfrm>
          <a:prstGeom prst="line">
            <a:avLst/>
          </a:prstGeom>
          <a:noFill/>
          <a:ln w="38100">
            <a:solidFill>
              <a:schemeClr val="dk1"/>
            </a:solidFill>
            <a:round/>
            <a:tailEnd type="triangle" w="med" len="med"/>
          </a:ln>
        </p:spPr>
        <p:txBody>
          <a:bodyPr lIns="91440" tIns="45720" rIns="91440" bIns="45720"/>
          <a:lstStyle/>
          <a:p>
            <a:endParaRPr sz="1400" dirty="0"/>
          </a:p>
        </p:txBody>
      </p:sp>
      <p:sp>
        <p:nvSpPr>
          <p:cNvPr id="47" name="Line 11"/>
          <p:cNvSpPr>
            <a:spLocks noGrp="1" noChangeShapeType="1"/>
          </p:cNvSpPr>
          <p:nvPr/>
        </p:nvSpPr>
        <p:spPr>
          <a:xfrm>
            <a:off x="6011862" y="4508500"/>
            <a:ext cx="473075" cy="0"/>
          </a:xfrm>
          <a:prstGeom prst="line">
            <a:avLst/>
          </a:prstGeom>
          <a:noFill/>
          <a:ln w="38100">
            <a:solidFill>
              <a:schemeClr val="dk1"/>
            </a:solidFill>
            <a:round/>
            <a:tailEnd type="triangle" w="med" len="med"/>
          </a:ln>
        </p:spPr>
        <p:txBody>
          <a:bodyPr lIns="91440" tIns="45720" rIns="91440" bIns="45720"/>
          <a:lstStyle/>
          <a:p>
            <a:endParaRPr sz="1400" dirty="0"/>
          </a:p>
        </p:txBody>
      </p:sp>
      <p:sp>
        <p:nvSpPr>
          <p:cNvPr id="48" name="Line 12"/>
          <p:cNvSpPr>
            <a:spLocks noGrp="1" noChangeShapeType="1"/>
          </p:cNvSpPr>
          <p:nvPr/>
        </p:nvSpPr>
        <p:spPr>
          <a:xfrm>
            <a:off x="5148262" y="4941887"/>
            <a:ext cx="474662" cy="0"/>
          </a:xfrm>
          <a:prstGeom prst="line">
            <a:avLst/>
          </a:prstGeom>
          <a:noFill/>
          <a:ln w="38100">
            <a:solidFill>
              <a:schemeClr val="dk1"/>
            </a:solidFill>
            <a:round/>
            <a:tailEnd type="triangle" w="med" len="med"/>
          </a:ln>
        </p:spPr>
        <p:txBody>
          <a:bodyPr lIns="91440" tIns="45720" rIns="91440" bIns="45720"/>
          <a:lstStyle/>
          <a:p>
            <a:endParaRPr sz="1400" dirty="0"/>
          </a:p>
        </p:txBody>
      </p:sp>
      <p:sp>
        <p:nvSpPr>
          <p:cNvPr id="49" name="Line 14"/>
          <p:cNvSpPr>
            <a:spLocks noGrp="1" noChangeShapeType="1"/>
          </p:cNvSpPr>
          <p:nvPr/>
        </p:nvSpPr>
        <p:spPr>
          <a:xfrm>
            <a:off x="3276600" y="1773237"/>
            <a:ext cx="476250" cy="0"/>
          </a:xfrm>
          <a:prstGeom prst="line">
            <a:avLst/>
          </a:prstGeom>
          <a:noFill/>
          <a:ln w="38100">
            <a:solidFill>
              <a:schemeClr val="dk1"/>
            </a:solidFill>
            <a:round/>
            <a:tailEnd type="triangle" w="med" len="med"/>
          </a:ln>
        </p:spPr>
        <p:txBody>
          <a:bodyPr lIns="91440" tIns="45720" rIns="91440" bIns="45720"/>
          <a:lstStyle/>
          <a:p>
            <a:endParaRPr sz="1400" dirty="0"/>
          </a:p>
        </p:txBody>
      </p:sp>
      <p:sp>
        <p:nvSpPr>
          <p:cNvPr id="50" name="Line 15"/>
          <p:cNvSpPr>
            <a:spLocks noGrp="1" noChangeShapeType="1"/>
          </p:cNvSpPr>
          <p:nvPr/>
        </p:nvSpPr>
        <p:spPr>
          <a:xfrm>
            <a:off x="3276600" y="2205037"/>
            <a:ext cx="476250" cy="0"/>
          </a:xfrm>
          <a:prstGeom prst="line">
            <a:avLst/>
          </a:prstGeom>
          <a:noFill/>
          <a:ln w="38100">
            <a:solidFill>
              <a:schemeClr val="dk1"/>
            </a:solidFill>
            <a:round/>
            <a:tailEnd type="triangle" w="med" len="med"/>
          </a:ln>
        </p:spPr>
        <p:txBody>
          <a:bodyPr lIns="91440" tIns="45720" rIns="91440" bIns="45720"/>
          <a:lstStyle/>
          <a:p>
            <a:endParaRPr sz="1400" dirty="0"/>
          </a:p>
        </p:txBody>
      </p:sp>
      <p:sp>
        <p:nvSpPr>
          <p:cNvPr id="51" name="Line 16"/>
          <p:cNvSpPr>
            <a:spLocks noGrp="1" noChangeShapeType="1"/>
          </p:cNvSpPr>
          <p:nvPr/>
        </p:nvSpPr>
        <p:spPr>
          <a:xfrm>
            <a:off x="3276600" y="2636837"/>
            <a:ext cx="476250" cy="0"/>
          </a:xfrm>
          <a:prstGeom prst="line">
            <a:avLst/>
          </a:prstGeom>
          <a:noFill/>
          <a:ln w="38100">
            <a:solidFill>
              <a:schemeClr val="dk1"/>
            </a:solidFill>
            <a:round/>
            <a:tailEnd type="triangle" w="med" len="med"/>
          </a:ln>
        </p:spPr>
        <p:txBody>
          <a:bodyPr lIns="91440" tIns="45720" rIns="91440" bIns="45720"/>
          <a:lstStyle/>
          <a:p>
            <a:endParaRPr sz="1400" dirty="0"/>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checkerboard(across)">
                                      <p:cBhvr>
                                        <p:cTn id="7" dur="5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4">
                                            <p:txEl>
                                              <p:pRg st="0" end="52"/>
                                            </p:txEl>
                                          </p:spTgt>
                                        </p:tgtEl>
                                        <p:attrNameLst>
                                          <p:attrName>style.visibility</p:attrName>
                                        </p:attrNameLst>
                                      </p:cBhvr>
                                      <p:to>
                                        <p:strVal val="visible"/>
                                      </p:to>
                                    </p:set>
                                    <p:animEffect transition="in" filter="checkerboard(across)">
                                      <p:cBhvr>
                                        <p:cTn id="12" dur="500"/>
                                        <p:tgtEl>
                                          <p:spTgt spid="44">
                                            <p:txEl>
                                              <p:pRg st="0" end="52"/>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53" name="Rectangle 4"/>
          <p:cNvSpPr>
            <a:spLocks noGrp="1" noChangeShapeType="1"/>
          </p:cNvSpPr>
          <p:nvPr/>
        </p:nvSpPr>
        <p:spPr>
          <a:xfrm>
            <a:off x="900112" y="549275"/>
            <a:ext cx="7775575" cy="5822950"/>
          </a:xfrm>
          <a:prstGeom prst="rect">
            <a:avLst/>
          </a:prstGeom>
          <a:noFill/>
        </p:spPr>
        <p:txBody>
          <a:bodyPr lIns="91440" tIns="45720" rIns="91440" bIns="45720">
            <a:spAutoFit/>
          </a:bodyPr>
          <a:lstStyle/>
          <a:p>
            <a:pPr lvl="0" hangingPunct="1">
              <a:lnSpc>
                <a:spcPct val="130000"/>
              </a:lnSpc>
              <a:spcBef>
                <a:spcPct val="50000"/>
              </a:spcBef>
            </a:pPr>
            <a:r>
              <a:rPr lang="en-US" sz="2800" b="1" i="0" u="none">
                <a:solidFill>
                  <a:srgbClr val="FF0000"/>
                </a:solidFill>
                <a:latin typeface="黑体" pitchFamily="49" charset="-122"/>
                <a:ea typeface="黑体" pitchFamily="49" charset="-122"/>
              </a:rPr>
              <a:t>熵(S):</a:t>
            </a:r>
            <a:r>
              <a:rPr lang="zh-CN" sz="2800" b="1" i="0" u="none">
                <a:latin typeface="楷体_GB2312" pitchFamily="49" charset="-122"/>
                <a:ea typeface="楷体_GB2312" pitchFamily="49" charset="-122"/>
              </a:rPr>
              <a:t>体系能量分散程度的状态函数，也代表体系质点散乱无序的程度。单位 J</a:t>
            </a:r>
            <a:r>
              <a:rPr lang="en-US" sz="2800" b="1" i="0" u="none">
                <a:latin typeface="宋体" pitchFamily="2" charset="-122"/>
                <a:ea typeface="楷体_GB2312" pitchFamily="49" charset="-122"/>
              </a:rPr>
              <a:t>·</a:t>
            </a:r>
            <a:r>
              <a:rPr lang="en-US" sz="2800" b="1" i="0" u="none">
                <a:latin typeface="楷体_GB2312" pitchFamily="49" charset="-122"/>
                <a:ea typeface="楷体_GB2312" pitchFamily="49" charset="-122"/>
              </a:rPr>
              <a:t>mol</a:t>
            </a:r>
            <a:r>
              <a:rPr lang="en-US" sz="2800" b="1" i="0" u="none" baseline="30000">
                <a:latin typeface="楷体_GB2312" pitchFamily="49" charset="-122"/>
                <a:ea typeface="楷体_GB2312" pitchFamily="49" charset="-122"/>
              </a:rPr>
              <a:t>-1</a:t>
            </a:r>
            <a:r>
              <a:rPr lang="en-US" sz="2800" b="1" i="0" u="none">
                <a:latin typeface="宋体" pitchFamily="2" charset="-122"/>
                <a:ea typeface="楷体_GB2312" pitchFamily="49" charset="-122"/>
              </a:rPr>
              <a:t>·</a:t>
            </a:r>
            <a:r>
              <a:rPr lang="en-US" sz="2800" b="1" i="0" u="none">
                <a:latin typeface="楷体_GB2312" pitchFamily="49" charset="-122"/>
                <a:ea typeface="楷体_GB2312" pitchFamily="49" charset="-122"/>
              </a:rPr>
              <a:t>K</a:t>
            </a:r>
            <a:r>
              <a:rPr lang="en-US" sz="2800" b="1" i="0" u="none" baseline="30000">
                <a:latin typeface="楷体_GB2312" pitchFamily="49" charset="-122"/>
                <a:ea typeface="楷体_GB2312" pitchFamily="49" charset="-122"/>
              </a:rPr>
              <a:t>-1</a:t>
            </a:r>
            <a:r>
              <a:rPr lang="zh-CN" sz="2800" b="1" i="0" u="none">
                <a:latin typeface="楷体_GB2312" pitchFamily="49" charset="-122"/>
                <a:ea typeface="楷体_GB2312" pitchFamily="49" charset="-122"/>
              </a:rPr>
              <a:t>。</a:t>
            </a:r>
            <a:r>
              <a:rPr lang="zh-CN" b="0" i="0" u="none"/>
              <a:t> </a:t>
            </a:r>
            <a:endParaRPr lang="en-US" sz="2800"/>
          </a:p>
          <a:p>
            <a:pPr lvl="0" hangingPunct="1">
              <a:lnSpc>
                <a:spcPct val="130000"/>
              </a:lnSpc>
              <a:spcBef>
                <a:spcPct val="50000"/>
              </a:spcBef>
            </a:pPr>
            <a:r>
              <a:rPr lang="en-US" sz="2800" b="1" i="0" u="none">
                <a:solidFill>
                  <a:srgbClr val="AE1E39"/>
                </a:solidFill>
                <a:latin typeface="楷体_GB2312" pitchFamily="49" charset="-122"/>
                <a:ea typeface="楷体_GB2312" pitchFamily="49" charset="-122"/>
              </a:rPr>
              <a:t>自发过程其特征是能量分散程度增大.（熵增）</a:t>
            </a:r>
            <a:endParaRPr lang="en-US" sz="2800" b="1" i="0" u="none">
              <a:solidFill>
                <a:srgbClr val="AE1E39"/>
              </a:solidFill>
              <a:latin typeface="楷体_GB2312" pitchFamily="49" charset="-122"/>
              <a:ea typeface="楷体_GB2312" pitchFamily="49" charset="-122"/>
            </a:endParaRPr>
          </a:p>
          <a:p>
            <a:pPr lvl="0" hangingPunct="1">
              <a:lnSpc>
                <a:spcPct val="130000"/>
              </a:lnSpc>
              <a:spcBef>
                <a:spcPct val="50000"/>
              </a:spcBef>
            </a:pPr>
            <a:r>
              <a:rPr lang="zh-CN" sz="2800" b="1" i="0" u="none">
                <a:solidFill>
                  <a:schemeClr val="lt2"/>
                </a:solidFill>
                <a:latin typeface="黑体" pitchFamily="49" charset="-122"/>
                <a:ea typeface="黑体" pitchFamily="49" charset="-122"/>
              </a:rPr>
              <a:t>自发过程是熵增的过程.</a:t>
            </a:r>
            <a:endParaRPr lang="zh-CN" sz="2800" b="1" i="0" u="none">
              <a:solidFill>
                <a:schemeClr val="lt2"/>
              </a:solidFill>
              <a:latin typeface="黑体" pitchFamily="49" charset="-122"/>
              <a:ea typeface="黑体" pitchFamily="49" charset="-122"/>
            </a:endParaRPr>
          </a:p>
          <a:p>
            <a:pPr lvl="0" hangingPunct="1">
              <a:lnSpc>
                <a:spcPct val="130000"/>
              </a:lnSpc>
              <a:spcBef>
                <a:spcPct val="50000"/>
              </a:spcBef>
            </a:pPr>
            <a:r>
              <a:rPr lang="en-US" sz="2800" b="1" i="0" u="none">
                <a:ea typeface="黑体" pitchFamily="49" charset="-122"/>
              </a:rPr>
              <a:t>规律：</a:t>
            </a:r>
            <a:r>
              <a:rPr lang="zh-CN" sz="2800" b="1" i="0" u="none">
                <a:latin typeface="楷体_GB2312" pitchFamily="49" charset="-122"/>
                <a:ea typeface="楷体_GB2312" pitchFamily="49" charset="-122"/>
              </a:rPr>
              <a:t>① 体系倾向于取得最低的势能状态</a:t>
            </a:r>
            <a:endParaRPr lang="zh-CN" sz="2800" b="1" i="0" u="none">
              <a:latin typeface="楷体_GB2312" pitchFamily="49" charset="-122"/>
              <a:ea typeface="楷体_GB2312" pitchFamily="49" charset="-122"/>
            </a:endParaRPr>
          </a:p>
          <a:p>
            <a:pPr lvl="0" hangingPunct="1">
              <a:lnSpc>
                <a:spcPct val="130000"/>
              </a:lnSpc>
              <a:spcBef>
                <a:spcPct val="50000"/>
              </a:spcBef>
            </a:pPr>
            <a:r>
              <a:rPr lang="zh-CN" sz="2800" b="1" i="0" u="none">
                <a:latin typeface="楷体_GB2312" pitchFamily="49" charset="-122"/>
                <a:ea typeface="楷体_GB2312" pitchFamily="49" charset="-122"/>
              </a:rPr>
              <a:t>                          </a:t>
            </a:r>
            <a:r>
              <a:rPr lang="en-US" sz="2800" b="1" i="0" u="none">
                <a:latin typeface="宋体" pitchFamily="2" charset="-122"/>
                <a:ea typeface="楷体_GB2312" pitchFamily="49" charset="-122"/>
              </a:rPr>
              <a:t>——</a:t>
            </a:r>
            <a:r>
              <a:rPr lang="zh-CN" sz="2800" b="1" i="0" u="none">
                <a:latin typeface="楷体_GB2312" pitchFamily="49" charset="-122"/>
                <a:ea typeface="楷体_GB2312" pitchFamily="49" charset="-122"/>
              </a:rPr>
              <a:t>能量因素</a:t>
            </a:r>
            <a:endParaRPr lang="zh-CN" sz="2800" b="1" i="0" u="none">
              <a:latin typeface="楷体_GB2312" pitchFamily="49" charset="-122"/>
              <a:ea typeface="楷体_GB2312" pitchFamily="49" charset="-122"/>
            </a:endParaRPr>
          </a:p>
          <a:p>
            <a:pPr lvl="0" hangingPunct="1">
              <a:lnSpc>
                <a:spcPct val="130000"/>
              </a:lnSpc>
              <a:spcBef>
                <a:spcPct val="50000"/>
              </a:spcBef>
            </a:pPr>
            <a:r>
              <a:rPr lang="zh-CN" sz="2800" b="1" i="0" u="none">
                <a:effectLst>
                  <a:outerShdw blurRad="38100" dist="38100" dir="2700000" algn="tl">
                    <a:srgbClr val="000000">
                      <a:alpha val="43137"/>
                    </a:srgbClr>
                  </a:outerShdw>
                </a:effectLst>
              </a:rPr>
              <a:t>            </a:t>
            </a:r>
            <a:r>
              <a:rPr lang="en-US" sz="2800" b="1" i="0" u="none">
                <a:latin typeface="楷体_GB2312" pitchFamily="49" charset="-122"/>
                <a:ea typeface="楷体_GB2312" pitchFamily="49" charset="-122"/>
              </a:rPr>
              <a:t>② 体系倾向于取得最大的混乱度</a:t>
            </a:r>
            <a:endParaRPr lang="en-US" sz="2800" b="1" i="0" u="none">
              <a:latin typeface="楷体_GB2312" pitchFamily="49" charset="-122"/>
              <a:ea typeface="楷体_GB2312" pitchFamily="49" charset="-122"/>
            </a:endParaRPr>
          </a:p>
          <a:p>
            <a:pPr lvl="0" hangingPunct="1">
              <a:lnSpc>
                <a:spcPct val="130000"/>
              </a:lnSpc>
              <a:spcBef>
                <a:spcPct val="50000"/>
              </a:spcBef>
            </a:pPr>
            <a:r>
              <a:rPr lang="en-US" sz="2800" b="1" i="0" u="none">
                <a:latin typeface="楷体_GB2312" pitchFamily="49" charset="-122"/>
                <a:ea typeface="楷体_GB2312" pitchFamily="49" charset="-122"/>
              </a:rPr>
              <a:t>                          </a:t>
            </a:r>
            <a:r>
              <a:rPr lang="en-US" sz="2800" b="1" i="0" u="none">
                <a:latin typeface="宋体" pitchFamily="2" charset="-122"/>
                <a:ea typeface="楷体_GB2312" pitchFamily="49" charset="-122"/>
              </a:rPr>
              <a:t>——</a:t>
            </a:r>
            <a:r>
              <a:rPr lang="zh-CN" sz="2800" b="1" i="0" u="none">
                <a:latin typeface="楷体_GB2312" pitchFamily="49" charset="-122"/>
                <a:ea typeface="楷体_GB2312" pitchFamily="49" charset="-122"/>
              </a:rPr>
              <a:t>混乱度因素</a:t>
            </a:r>
            <a:endParaRPr lang="zh-CN" sz="2800" b="1" i="0" u="none">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3">
                                            <p:txEl>
                                              <p:pRg st="0" end="51"/>
                                            </p:txEl>
                                          </p:spTgt>
                                        </p:tgtEl>
                                        <p:attrNameLst>
                                          <p:attrName>style.visibility</p:attrName>
                                        </p:attrNameLst>
                                      </p:cBhvr>
                                      <p:to>
                                        <p:strVal val="visible"/>
                                      </p:to>
                                    </p:set>
                                    <p:animEffect transition="in" filter="checkerboard(across)">
                                      <p:cBhvr>
                                        <p:cTn id="7" dur="500"/>
                                        <p:tgtEl>
                                          <p:spTgt spid="53">
                                            <p:txEl>
                                              <p:pRg st="0" end="51"/>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53">
                                            <p:txEl>
                                              <p:pRg st="51" end="73"/>
                                            </p:txEl>
                                          </p:spTgt>
                                        </p:tgtEl>
                                        <p:attrNameLst>
                                          <p:attrName>style.visibility</p:attrName>
                                        </p:attrNameLst>
                                      </p:cBhvr>
                                      <p:to>
                                        <p:strVal val="visible"/>
                                      </p:to>
                                    </p:set>
                                    <p:animEffect transition="in" filter="checkerboard(across)">
                                      <p:cBhvr>
                                        <p:cTn id="12" dur="500"/>
                                        <p:tgtEl>
                                          <p:spTgt spid="53">
                                            <p:txEl>
                                              <p:pRg st="51" end="7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53">
                                            <p:txEl>
                                              <p:pRg st="73" end="85"/>
                                            </p:txEl>
                                          </p:spTgt>
                                        </p:tgtEl>
                                        <p:attrNameLst>
                                          <p:attrName>style.visibility</p:attrName>
                                        </p:attrNameLst>
                                      </p:cBhvr>
                                      <p:to>
                                        <p:strVal val="visible"/>
                                      </p:to>
                                    </p:set>
                                    <p:animEffect transition="in" filter="checkerboard(across)">
                                      <p:cBhvr>
                                        <p:cTn id="17" dur="500"/>
                                        <p:tgtEl>
                                          <p:spTgt spid="53">
                                            <p:txEl>
                                              <p:pRg st="73" end="8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3">
                                            <p:txEl>
                                              <p:pRg st="85" end="105"/>
                                            </p:txEl>
                                          </p:spTgt>
                                        </p:tgtEl>
                                        <p:attrNameLst>
                                          <p:attrName>style.visibility</p:attrName>
                                        </p:attrNameLst>
                                      </p:cBhvr>
                                      <p:to>
                                        <p:strVal val="visible"/>
                                      </p:to>
                                    </p:set>
                                    <p:animEffect transition="in" filter="checkerboard(across)">
                                      <p:cBhvr>
                                        <p:cTn id="22" dur="500"/>
                                        <p:tgtEl>
                                          <p:spTgt spid="53">
                                            <p:txEl>
                                              <p:pRg st="85" end="10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53">
                                            <p:txEl>
                                              <p:pRg st="105" end="138"/>
                                            </p:txEl>
                                          </p:spTgt>
                                        </p:tgtEl>
                                        <p:attrNameLst>
                                          <p:attrName>style.visibility</p:attrName>
                                        </p:attrNameLst>
                                      </p:cBhvr>
                                      <p:to>
                                        <p:strVal val="visible"/>
                                      </p:to>
                                    </p:set>
                                    <p:animEffect transition="in" filter="checkerboard(across)">
                                      <p:cBhvr>
                                        <p:cTn id="27" dur="500"/>
                                        <p:tgtEl>
                                          <p:spTgt spid="53">
                                            <p:txEl>
                                              <p:pRg st="105" end="13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53">
                                            <p:txEl>
                                              <p:pRg st="138" end="166"/>
                                            </p:txEl>
                                          </p:spTgt>
                                        </p:tgtEl>
                                        <p:attrNameLst>
                                          <p:attrName>style.visibility</p:attrName>
                                        </p:attrNameLst>
                                      </p:cBhvr>
                                      <p:to>
                                        <p:strVal val="visible"/>
                                      </p:to>
                                    </p:set>
                                    <p:animEffect transition="in" filter="checkerboard(across)">
                                      <p:cBhvr>
                                        <p:cTn id="32" dur="500"/>
                                        <p:tgtEl>
                                          <p:spTgt spid="53">
                                            <p:txEl>
                                              <p:pRg st="138" end="16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53">
                                            <p:txEl>
                                              <p:pRg st="166" end="200"/>
                                            </p:txEl>
                                          </p:spTgt>
                                        </p:tgtEl>
                                        <p:attrNameLst>
                                          <p:attrName>style.visibility</p:attrName>
                                        </p:attrNameLst>
                                      </p:cBhvr>
                                      <p:to>
                                        <p:strVal val="visible"/>
                                      </p:to>
                                    </p:set>
                                    <p:animEffect transition="in" filter="checkerboard(across)">
                                      <p:cBhvr>
                                        <p:cTn id="37" dur="500"/>
                                        <p:tgtEl>
                                          <p:spTgt spid="53">
                                            <p:txEl>
                                              <p:pRg st="166" end="200"/>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graphicFrame>
        <p:nvGraphicFramePr>
          <p:cNvPr id="57" name="Group 49"/>
          <p:cNvGraphicFramePr/>
          <p:nvPr/>
        </p:nvGraphicFramePr>
        <p:xfrm>
          <a:off x="971550" y="549275"/>
          <a:ext cx="7272338" cy="5794375"/>
        </p:xfrm>
        <a:graphic>
          <a:graphicData uri="http://schemas.openxmlformats.org/drawingml/2006/table">
            <a:tbl>
              <a:tblPr/>
              <a:tblGrid>
                <a:gridCol w="7272338"/>
              </a:tblGrid>
              <a:tr h="155465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a:ln>
                            <a:noFill/>
                          </a:ln>
                          <a:solidFill>
                            <a:schemeClr val="bg2"/>
                          </a:solidFill>
                          <a:effectLst/>
                          <a:latin typeface="Times New Roman" panose="02020603050405020304" charset="0"/>
                          <a:ea typeface="黑体" pitchFamily="49" charset="-122"/>
                        </a:rPr>
                        <a:t>熵增加原理</a:t>
                      </a:r>
                      <a:r>
                        <a:rPr kumimoji="1" lang="zh-CN" altLang="en-US" sz="2400" b="1" i="0" u="none" strike="noStrike" cap="none" normalizeH="0" baseline="0">
                          <a:ln>
                            <a:noFill/>
                          </a:ln>
                          <a:solidFill>
                            <a:schemeClr val="tx1"/>
                          </a:solidFill>
                          <a:effectLst/>
                          <a:latin typeface="Times New Roman" panose="02020603050405020304" charset="0"/>
                          <a:ea typeface="楷体_GB2312" pitchFamily="49" charset="-122"/>
                        </a:rPr>
                        <a:t>（</a:t>
                      </a:r>
                      <a:r>
                        <a:rPr kumimoji="1" lang="en-US" altLang="zh-CN" sz="2400" b="1" i="0" u="none" strike="noStrike" cap="none" normalizeH="0" baseline="0">
                          <a:ln>
                            <a:noFill/>
                          </a:ln>
                          <a:solidFill>
                            <a:schemeClr val="tx1"/>
                          </a:solidFill>
                          <a:effectLst/>
                          <a:latin typeface="Times New Roman" panose="02020603050405020304" charset="0"/>
                          <a:ea typeface="楷体_GB2312" pitchFamily="49" charset="-122"/>
                        </a:rPr>
                        <a:t>principle of entropy increase</a:t>
                      </a:r>
                      <a:r>
                        <a:rPr kumimoji="1" lang="zh-CN" altLang="en-US" sz="2400" b="1" i="0" u="none" strike="noStrike" cap="none" normalizeH="0" baseline="0">
                          <a:ln>
                            <a:noFill/>
                          </a:ln>
                          <a:solidFill>
                            <a:schemeClr val="tx1"/>
                          </a:solidFill>
                          <a:effectLst/>
                          <a:latin typeface="Times New Roman" panose="02020603050405020304" charset="0"/>
                          <a:ea typeface="楷体_GB2312" pitchFamily="49" charset="-122"/>
                        </a:rPr>
                        <a:t>）：</a:t>
                      </a:r>
                      <a:r>
                        <a:rPr kumimoji="1" lang="zh-CN" altLang="en-US" sz="2400" b="0" i="0" u="none" strike="noStrike" cap="none" normalizeH="0" baseline="0">
                          <a:ln>
                            <a:noFill/>
                          </a:ln>
                          <a:solidFill>
                            <a:schemeClr val="tx1"/>
                          </a:solidFill>
                          <a:effectLst/>
                          <a:latin typeface="楷体_GB2312" pitchFamily="49" charset="-122"/>
                          <a:ea typeface="楷体_GB2312" pitchFamily="49" charset="-122"/>
                        </a:rPr>
                        <a:t>在孤立系统的任何自发过程中，系统的熵总是增加的，即：</a:t>
                      </a:r>
                      <a:br>
                        <a:rPr kumimoji="1" lang="zh-CN" altLang="en-US" sz="2400" b="0" i="0" u="none" strike="noStrike" cap="none" normalizeH="0" baseline="0">
                          <a:ln>
                            <a:noFill/>
                          </a:ln>
                          <a:solidFill>
                            <a:srgbClr val="66FF33"/>
                          </a:solidFill>
                          <a:latin typeface="宋体" pitchFamily="2" charset="-122"/>
                          <a:ea typeface="宋体" pitchFamily="2" charset="-122"/>
                        </a:rPr>
                      </a:br>
                      <a:r>
                        <a:rPr kumimoji="1" lang="zh-CN" altLang="en-US" sz="2400" b="0" i="0" u="none" strike="noStrike" cap="none" normalizeH="0" baseline="0">
                          <a:ln>
                            <a:noFill/>
                          </a:ln>
                          <a:solidFill>
                            <a:srgbClr val="66FF33"/>
                          </a:solidFill>
                          <a:effectLst/>
                          <a:latin typeface="宋体" pitchFamily="2" charset="-122"/>
                          <a:ea typeface="宋体" pitchFamily="2" charset="-122"/>
                        </a:rPr>
                        <a:t> </a:t>
                      </a:r>
                      <a:endParaRPr kumimoji="1" lang="zh-CN" altLang="en-US" sz="2400" b="0" i="0" u="none" strike="noStrike" cap="none" normalizeH="0" baseline="0">
                        <a:ln>
                          <a:noFill/>
                        </a:ln>
                        <a:solidFill>
                          <a:srgbClr val="66FF33"/>
                        </a:solidFill>
                        <a:effectLst/>
                        <a:latin typeface="宋体" pitchFamily="2" charset="-122"/>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0">
                          <a:ln>
                            <a:noFill/>
                          </a:ln>
                          <a:solidFill>
                            <a:srgbClr val="FF0000"/>
                          </a:solidFill>
                          <a:effectLst/>
                          <a:latin typeface="黑体" pitchFamily="49" charset="-122"/>
                          <a:ea typeface="黑体" pitchFamily="49" charset="-122"/>
                        </a:rPr>
                        <a:t>                </a:t>
                      </a:r>
                      <a:r>
                        <a:rPr kumimoji="1" lang="en-US" altLang="en-US" sz="2400" b="1" i="0" u="none" strike="noStrike" cap="none" normalizeH="0" baseline="0">
                          <a:ln>
                            <a:noFill/>
                          </a:ln>
                          <a:solidFill>
                            <a:srgbClr val="FF0000"/>
                          </a:solidFill>
                          <a:effectLst/>
                          <a:latin typeface="黑体" pitchFamily="49" charset="-122"/>
                          <a:ea typeface="黑体" pitchFamily="49" charset="-122"/>
                        </a:rPr>
                        <a:t>△</a:t>
                      </a:r>
                      <a:r>
                        <a:rPr kumimoji="1" lang="en-US" altLang="zh-CN" sz="2400" b="1" i="1" u="none" strike="noStrike" cap="none" normalizeH="0" baseline="0">
                          <a:ln>
                            <a:noFill/>
                          </a:ln>
                          <a:solidFill>
                            <a:srgbClr val="FF0000"/>
                          </a:solidFill>
                          <a:effectLst/>
                          <a:latin typeface="黑体" pitchFamily="49" charset="-122"/>
                          <a:ea typeface="黑体" pitchFamily="49" charset="-122"/>
                        </a:rPr>
                        <a:t>S</a:t>
                      </a:r>
                      <a:r>
                        <a:rPr kumimoji="1" lang="zh-CN" altLang="en-US" sz="2400" b="1" i="0" u="none" strike="noStrike" cap="none" normalizeH="0" baseline="-25000">
                          <a:ln>
                            <a:noFill/>
                          </a:ln>
                          <a:solidFill>
                            <a:srgbClr val="FF0000"/>
                          </a:solidFill>
                          <a:effectLst/>
                          <a:latin typeface="黑体" pitchFamily="49" charset="-122"/>
                          <a:ea typeface="黑体" pitchFamily="49" charset="-122"/>
                        </a:rPr>
                        <a:t>隔离</a:t>
                      </a:r>
                      <a:r>
                        <a:rPr kumimoji="1" lang="en-US" altLang="en-US" sz="2400" b="1" i="0" u="none" strike="noStrike" cap="none" normalizeH="0" baseline="0">
                          <a:ln>
                            <a:noFill/>
                          </a:ln>
                          <a:solidFill>
                            <a:srgbClr val="FF0000"/>
                          </a:solidFill>
                          <a:effectLst/>
                          <a:latin typeface="黑体" pitchFamily="49" charset="-122"/>
                          <a:ea typeface="黑体" pitchFamily="49" charset="-122"/>
                        </a:rPr>
                        <a:t>≧</a:t>
                      </a:r>
                      <a:r>
                        <a:rPr kumimoji="1" lang="zh-CN" altLang="en-US" sz="2400" b="1" i="0" u="none" strike="noStrike" cap="none" normalizeH="0" baseline="0">
                          <a:ln>
                            <a:noFill/>
                          </a:ln>
                          <a:solidFill>
                            <a:srgbClr val="FF0000"/>
                          </a:solidFill>
                          <a:effectLst/>
                          <a:latin typeface="黑体" pitchFamily="49" charset="-122"/>
                          <a:ea typeface="黑体" pitchFamily="49" charset="-122"/>
                        </a:rPr>
                        <a:t> </a:t>
                      </a:r>
                      <a:r>
                        <a:rPr kumimoji="1" lang="en-US" altLang="zh-CN" sz="2400" b="1" i="0" u="none" strike="noStrike" cap="none" normalizeH="0" baseline="0">
                          <a:ln>
                            <a:noFill/>
                          </a:ln>
                          <a:solidFill>
                            <a:srgbClr val="FF0000"/>
                          </a:solidFill>
                          <a:effectLst/>
                          <a:latin typeface="黑体" pitchFamily="49" charset="-122"/>
                          <a:ea typeface="黑体" pitchFamily="49" charset="-122"/>
                        </a:rPr>
                        <a:t>0 </a:t>
                      </a:r>
                      <a:r>
                        <a:rPr kumimoji="1" lang="zh-CN" altLang="en-US" sz="2400" b="1" i="0" u="none" strike="noStrike" cap="none" normalizeH="0" baseline="-30000">
                          <a:ln>
                            <a:noFill/>
                          </a:ln>
                          <a:solidFill>
                            <a:srgbClr val="FF0000"/>
                          </a:solidFill>
                          <a:effectLst/>
                          <a:latin typeface="Times New Roman" panose="02020603050405020304"/>
                          <a:ea typeface="黑体" pitchFamily="49" charset="-122"/>
                        </a:rPr>
                        <a:t>    </a:t>
                      </a:r>
                      <a:r>
                        <a:rPr kumimoji="1" lang="zh-CN" altLang="en-US" sz="2400" b="1" i="0" u="none" strike="noStrike" cap="none" normalizeH="0" baseline="-30000">
                          <a:ln>
                            <a:noFill/>
                          </a:ln>
                          <a:solidFill>
                            <a:srgbClr val="66FF33"/>
                          </a:solidFill>
                          <a:effectLst/>
                          <a:latin typeface="Times New Roman" panose="02020603050405020304"/>
                          <a:ea typeface="黑体" pitchFamily="49" charset="-122"/>
                        </a:rPr>
                        <a:t>         </a:t>
                      </a:r>
                      <a:r>
                        <a:rPr kumimoji="1" lang="zh-CN" altLang="en-US" sz="2400" b="0" i="0" u="none" strike="noStrike" cap="none" normalizeH="0" baseline="-30000">
                          <a:ln>
                            <a:noFill/>
                          </a:ln>
                          <a:solidFill>
                            <a:srgbClr val="66FF33"/>
                          </a:solidFill>
                          <a:effectLst/>
                          <a:latin typeface="宋体" pitchFamily="2" charset="-122"/>
                          <a:ea typeface="宋体" pitchFamily="2" charset="-122"/>
                        </a:rPr>
                        <a:t> </a:t>
                      </a:r>
                      <a:endParaRPr kumimoji="1" lang="zh-CN" altLang="en-US" sz="2400" b="0" i="0" u="none" strike="noStrike" cap="none" normalizeH="0" baseline="-30000">
                        <a:ln>
                          <a:noFill/>
                        </a:ln>
                        <a:solidFill>
                          <a:srgbClr val="66FF33"/>
                        </a:solidFill>
                        <a:effectLst/>
                        <a:latin typeface="宋体" pitchFamily="2" charset="-122"/>
                        <a:ea typeface="宋体" pitchFamily="2" charset="-122"/>
                      </a:endParaRPr>
                    </a:p>
                  </a:txBody>
                  <a:tcPr marT="45725" marB="45725" anchor="ctr" horzOverflow="overflow">
                    <a:lnL cap="flat">
                      <a:noFill/>
                    </a:lnL>
                    <a:lnR cap="flat">
                      <a:noFill/>
                    </a:lnR>
                    <a:lnT cap="flat">
                      <a:noFill/>
                    </a:lnT>
                    <a:lnB>
                      <a:noFill/>
                    </a:lnB>
                    <a:lnTlToBr>
                      <a:noFill/>
                    </a:lnTlToBr>
                    <a:lnBlToTr>
                      <a:noFill/>
                    </a:lnBlToTr>
                    <a:noFill/>
                  </a:tcPr>
                </a:tc>
              </a:tr>
              <a:tr h="3416675">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latin typeface="宋体" pitchFamily="2" charset="-122"/>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楷体_GB2312" pitchFamily="49" charset="-122"/>
                          <a:ea typeface="楷体_GB2312" pitchFamily="49" charset="-122"/>
                        </a:rPr>
                        <a:t>由于真正孤立的系统不存在，可以把系统</a:t>
                      </a:r>
                      <a:r>
                        <a:rPr kumimoji="1" lang="en-US" altLang="zh-CN" sz="2400" b="0" i="0" u="none" strike="noStrike" cap="none" normalizeH="0" baseline="0">
                          <a:ln>
                            <a:noFill/>
                          </a:ln>
                          <a:solidFill>
                            <a:schemeClr val="tx1"/>
                          </a:solidFill>
                          <a:effectLst/>
                          <a:latin typeface="楷体_GB2312" pitchFamily="49" charset="-122"/>
                          <a:ea typeface="楷体_GB2312" pitchFamily="49" charset="-122"/>
                        </a:rPr>
                        <a:t>+</a:t>
                      </a:r>
                      <a:r>
                        <a:rPr kumimoji="1" lang="zh-CN" altLang="en-US" sz="2400" b="0" i="0" u="none" strike="noStrike" cap="none" normalizeH="0" baseline="0">
                          <a:ln>
                            <a:noFill/>
                          </a:ln>
                          <a:solidFill>
                            <a:schemeClr val="tx1"/>
                          </a:solidFill>
                          <a:effectLst/>
                          <a:latin typeface="楷体_GB2312" pitchFamily="49" charset="-122"/>
                          <a:ea typeface="楷体_GB2312" pitchFamily="49" charset="-122"/>
                        </a:rPr>
                        <a:t>环境看成孤立系统，则：</a:t>
                      </a:r>
                      <a:br>
                        <a:rPr kumimoji="1" lang="zh-CN" altLang="en-US" sz="2400" b="0" i="0" u="none" strike="noStrike" cap="none" normalizeH="0" baseline="0">
                          <a:ln>
                            <a:noFill/>
                          </a:ln>
                          <a:solidFill>
                            <a:schemeClr val="tx1"/>
                          </a:solidFill>
                          <a:latin typeface="楷体_GB2312" pitchFamily="49" charset="-122"/>
                          <a:ea typeface="楷体_GB2312" pitchFamily="49" charset="-122"/>
                        </a:rPr>
                      </a:br>
                      <a:r>
                        <a:rPr kumimoji="1" lang="zh-CN" altLang="en-US" sz="2400" b="0" i="0" u="none" strike="noStrike" cap="none" normalizeH="0" baseline="0">
                          <a:ln>
                            <a:noFill/>
                          </a:ln>
                          <a:solidFill>
                            <a:schemeClr val="tx1"/>
                          </a:solidFill>
                          <a:effectLst/>
                          <a:latin typeface="楷体_GB2312" pitchFamily="49" charset="-122"/>
                          <a:ea typeface="楷体_GB2312" pitchFamily="49" charset="-122"/>
                        </a:rPr>
                        <a:t>                </a:t>
                      </a:r>
                      <a:r>
                        <a:rPr kumimoji="1" lang="zh-CN" altLang="en-US" sz="2400" b="1" i="0" u="none" strike="noStrike" cap="none" normalizeH="0" baseline="0">
                          <a:ln>
                            <a:noFill/>
                          </a:ln>
                          <a:solidFill>
                            <a:srgbClr val="FF0000"/>
                          </a:solidFill>
                          <a:effectLst/>
                          <a:latin typeface="黑体" pitchFamily="49" charset="-122"/>
                          <a:ea typeface="黑体" pitchFamily="49" charset="-122"/>
                        </a:rPr>
                        <a:t>△</a:t>
                      </a:r>
                      <a:r>
                        <a:rPr kumimoji="1" lang="en-US" altLang="zh-CN" sz="2400" b="1" i="0" u="none" strike="noStrike" cap="none" normalizeH="0" baseline="0">
                          <a:ln>
                            <a:noFill/>
                          </a:ln>
                          <a:solidFill>
                            <a:srgbClr val="FF0000"/>
                          </a:solidFill>
                          <a:effectLst/>
                          <a:latin typeface="黑体" pitchFamily="49" charset="-122"/>
                          <a:ea typeface="黑体" pitchFamily="49" charset="-122"/>
                        </a:rPr>
                        <a:t>S</a:t>
                      </a:r>
                      <a:r>
                        <a:rPr kumimoji="1" lang="zh-CN" altLang="en-US" sz="2400" b="1" i="0" u="none" strike="noStrike" cap="none" normalizeH="0" baseline="-30000">
                          <a:ln>
                            <a:noFill/>
                          </a:ln>
                          <a:solidFill>
                            <a:srgbClr val="FF0000"/>
                          </a:solidFill>
                          <a:effectLst/>
                          <a:latin typeface="黑体" pitchFamily="49" charset="-122"/>
                          <a:ea typeface="黑体" pitchFamily="49" charset="-122"/>
                        </a:rPr>
                        <a:t>总</a:t>
                      </a:r>
                      <a:r>
                        <a:rPr kumimoji="1" lang="en-US" altLang="zh-CN" sz="2400" b="1" i="0" u="none" strike="noStrike" cap="none" normalizeH="0" baseline="0">
                          <a:ln>
                            <a:noFill/>
                          </a:ln>
                          <a:solidFill>
                            <a:srgbClr val="FF0000"/>
                          </a:solidFill>
                          <a:effectLst/>
                          <a:latin typeface="黑体" pitchFamily="49" charset="-122"/>
                          <a:ea typeface="黑体" pitchFamily="49" charset="-122"/>
                        </a:rPr>
                        <a:t>=△S</a:t>
                      </a:r>
                      <a:r>
                        <a:rPr kumimoji="1" lang="zh-CN" altLang="en-US" sz="2400" b="1" i="0" u="none" strike="noStrike" cap="none" normalizeH="0" baseline="-30000">
                          <a:ln>
                            <a:noFill/>
                          </a:ln>
                          <a:solidFill>
                            <a:srgbClr val="FF0000"/>
                          </a:solidFill>
                          <a:effectLst/>
                          <a:latin typeface="黑体" pitchFamily="49" charset="-122"/>
                          <a:ea typeface="黑体" pitchFamily="49" charset="-122"/>
                        </a:rPr>
                        <a:t>系统</a:t>
                      </a:r>
                      <a:r>
                        <a:rPr kumimoji="1" lang="en-US" altLang="zh-CN" sz="2400" b="1" i="0" u="none" strike="noStrike" cap="none" normalizeH="0" baseline="0">
                          <a:ln>
                            <a:noFill/>
                          </a:ln>
                          <a:solidFill>
                            <a:srgbClr val="FF0000"/>
                          </a:solidFill>
                          <a:effectLst/>
                          <a:latin typeface="黑体" pitchFamily="49" charset="-122"/>
                          <a:ea typeface="黑体" pitchFamily="49" charset="-122"/>
                        </a:rPr>
                        <a:t>+△S</a:t>
                      </a:r>
                      <a:r>
                        <a:rPr kumimoji="1" lang="zh-CN" altLang="en-US" sz="2400" b="1" i="0" u="none" strike="noStrike" cap="none" normalizeH="0" baseline="-30000">
                          <a:ln>
                            <a:noFill/>
                          </a:ln>
                          <a:solidFill>
                            <a:srgbClr val="FF0000"/>
                          </a:solidFill>
                          <a:effectLst/>
                          <a:latin typeface="黑体" pitchFamily="49" charset="-122"/>
                          <a:ea typeface="黑体" pitchFamily="49" charset="-122"/>
                        </a:rPr>
                        <a:t>环境 </a:t>
                      </a:r>
                      <a:r>
                        <a:rPr kumimoji="1" lang="zh-CN" altLang="en-US" sz="2400" b="1" i="0" u="none" strike="noStrike" cap="none" normalizeH="0" baseline="0">
                          <a:ln>
                            <a:noFill/>
                          </a:ln>
                          <a:solidFill>
                            <a:srgbClr val="FF0000"/>
                          </a:solidFill>
                          <a:effectLst/>
                          <a:latin typeface="黑体" pitchFamily="49" charset="-122"/>
                          <a:ea typeface="黑体" pitchFamily="49" charset="-122"/>
                        </a:rPr>
                        <a:t>≥</a:t>
                      </a:r>
                      <a:r>
                        <a:rPr kumimoji="1" lang="en-US" altLang="zh-CN" sz="2400" b="1" i="0" u="none" strike="noStrike" cap="none" normalizeH="0" baseline="0">
                          <a:ln>
                            <a:noFill/>
                          </a:ln>
                          <a:solidFill>
                            <a:srgbClr val="FF0000"/>
                          </a:solidFill>
                          <a:effectLst/>
                          <a:latin typeface="黑体" pitchFamily="49" charset="-122"/>
                          <a:ea typeface="黑体" pitchFamily="49" charset="-122"/>
                        </a:rPr>
                        <a:t>0</a:t>
                      </a:r>
                      <a:r>
                        <a:rPr kumimoji="1" lang="en-US" altLang="zh-CN" sz="2400" b="1" i="0" u="none" strike="noStrike" cap="none" normalizeH="0" baseline="0">
                          <a:ln>
                            <a:noFill/>
                          </a:ln>
                          <a:solidFill>
                            <a:srgbClr val="FF0000"/>
                          </a:solidFill>
                          <a:effectLst/>
                          <a:latin typeface="Times New Roman" panose="02020603050405020304"/>
                          <a:ea typeface="黑体" pitchFamily="49" charset="-122"/>
                        </a:rPr>
                        <a:t> </a:t>
                      </a:r>
                      <a:r>
                        <a:rPr kumimoji="1" lang="en-US" altLang="zh-CN" sz="2400" b="0" i="0" u="none" strike="noStrike" cap="none" normalizeH="0" baseline="0">
                          <a:ln>
                            <a:noFill/>
                          </a:ln>
                          <a:solidFill>
                            <a:schemeClr val="tx1"/>
                          </a:solidFill>
                          <a:effectLst/>
                          <a:latin typeface="Times New Roman" panose="02020603050405020304" charset="0"/>
                          <a:ea typeface="宋体" pitchFamily="2" charset="-122"/>
                        </a:rPr>
                        <a:t>     </a:t>
                      </a:r>
                      <a:endParaRPr kumimoji="1" lang="en-US" altLang="zh-CN" sz="2400" b="0" i="0" u="none" strike="noStrike" cap="none" normalizeH="0" baseline="0">
                        <a:ln>
                          <a:noFill/>
                        </a:ln>
                        <a:solidFill>
                          <a:schemeClr val="tx1"/>
                        </a:solidFill>
                        <a:effectLst/>
                        <a:latin typeface="Times New Roman" panose="0202060305040502030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latin typeface="Times New Roman" panose="0202060305040502030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latin typeface="Times New Roman" panose="02020603050405020304" charset="0"/>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Times New Roman" panose="02020603050405020304" charset="0"/>
                          <a:ea typeface="宋体" pitchFamily="2" charset="-122"/>
                        </a:rPr>
                        <a:t>                      </a:t>
                      </a:r>
                      <a:r>
                        <a:rPr kumimoji="1" lang="zh-CN" altLang="en-US" sz="2400" b="0" i="0" u="none" strike="noStrike" cap="none" normalizeH="0" baseline="0">
                          <a:ln>
                            <a:noFill/>
                          </a:ln>
                          <a:solidFill>
                            <a:schemeClr val="tx1"/>
                          </a:solidFill>
                          <a:effectLst/>
                          <a:latin typeface="黑体" pitchFamily="49" charset="-122"/>
                          <a:ea typeface="黑体" pitchFamily="49" charset="-122"/>
                        </a:rPr>
                        <a:t>＞ </a:t>
                      </a:r>
                      <a:r>
                        <a:rPr kumimoji="1" lang="en-US" altLang="zh-CN" sz="2400" b="0" i="0" u="none" strike="noStrike" cap="none" normalizeH="0" baseline="0">
                          <a:ln>
                            <a:noFill/>
                          </a:ln>
                          <a:solidFill>
                            <a:schemeClr val="tx1"/>
                          </a:solidFill>
                          <a:effectLst/>
                          <a:latin typeface="黑体" pitchFamily="49" charset="-122"/>
                          <a:ea typeface="黑体" pitchFamily="49" charset="-122"/>
                        </a:rPr>
                        <a:t>0     </a:t>
                      </a:r>
                      <a:r>
                        <a:rPr kumimoji="1" lang="zh-CN" altLang="en-US" sz="2400" b="0" i="0" u="none" strike="noStrike" cap="none" normalizeH="0" baseline="0">
                          <a:ln>
                            <a:noFill/>
                          </a:ln>
                          <a:solidFill>
                            <a:schemeClr val="tx1"/>
                          </a:solidFill>
                          <a:effectLst/>
                          <a:latin typeface="黑体" pitchFamily="49" charset="-122"/>
                          <a:ea typeface="黑体" pitchFamily="49" charset="-122"/>
                        </a:rPr>
                        <a:t>自发过程，  </a:t>
                      </a:r>
                      <a:r>
                        <a:rPr kumimoji="1" lang="zh-CN" altLang="en-US" sz="2400" b="1" i="0" u="none" strike="noStrike" cap="none" normalizeH="0" baseline="0">
                          <a:ln>
                            <a:noFill/>
                          </a:ln>
                          <a:solidFill>
                            <a:srgbClr val="AE1E39"/>
                          </a:solidFill>
                          <a:effectLst/>
                          <a:latin typeface="黑体" pitchFamily="49" charset="-122"/>
                          <a:ea typeface="黑体" pitchFamily="49" charset="-122"/>
                        </a:rPr>
                        <a:t>不可逆</a:t>
                      </a:r>
                      <a:endParaRPr kumimoji="1" lang="en-US" altLang="zh-CN" sz="2400" b="0" i="0" u="none" strike="noStrike" cap="none" normalizeH="0" baseline="0">
                        <a:ln>
                          <a:noFill/>
                        </a:ln>
                        <a:solidFill>
                          <a:srgbClr val="AE1E39"/>
                        </a:solidFill>
                        <a:latin typeface="黑体" pitchFamily="49" charset="-122"/>
                        <a:ea typeface="黑体" pitchFamily="49"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0" i="0" u="none" strike="noStrike" cap="none" normalizeH="0" baseline="0">
                          <a:ln>
                            <a:noFill/>
                          </a:ln>
                          <a:solidFill>
                            <a:schemeClr val="tx1"/>
                          </a:solidFill>
                          <a:effectLst/>
                          <a:latin typeface="黑体" pitchFamily="49" charset="-122"/>
                          <a:ea typeface="黑体" pitchFamily="49" charset="-122"/>
                        </a:rPr>
                        <a:t>若</a:t>
                      </a:r>
                      <a:r>
                        <a:rPr kumimoji="1" lang="zh-CN" altLang="en-US" sz="2400" b="0" i="0" u="none" strike="noStrike" cap="none" normalizeH="0" baseline="-30000">
                          <a:ln>
                            <a:noFill/>
                          </a:ln>
                          <a:solidFill>
                            <a:schemeClr val="tx1"/>
                          </a:solidFill>
                          <a:effectLst/>
                          <a:latin typeface="黑体" pitchFamily="49" charset="-122"/>
                          <a:ea typeface="黑体" pitchFamily="49" charset="-122"/>
                        </a:rPr>
                        <a:t> </a:t>
                      </a:r>
                      <a:r>
                        <a:rPr kumimoji="1" lang="en-US" altLang="en-US" sz="2400" b="0" i="0" u="none" strike="noStrike" cap="none" normalizeH="0" baseline="0">
                          <a:ln>
                            <a:noFill/>
                          </a:ln>
                          <a:solidFill>
                            <a:srgbClr val="FF0000"/>
                          </a:solidFill>
                          <a:effectLst/>
                          <a:latin typeface="黑体" pitchFamily="49" charset="-122"/>
                          <a:ea typeface="黑体" pitchFamily="49" charset="-122"/>
                        </a:rPr>
                        <a:t>△</a:t>
                      </a:r>
                      <a:r>
                        <a:rPr kumimoji="1" lang="en-US" altLang="zh-CN" sz="2400" b="0" i="1" u="none" strike="noStrike" cap="none" normalizeH="0" baseline="0">
                          <a:ln>
                            <a:noFill/>
                          </a:ln>
                          <a:solidFill>
                            <a:srgbClr val="FF0000"/>
                          </a:solidFill>
                          <a:effectLst/>
                          <a:latin typeface="黑体" pitchFamily="49" charset="-122"/>
                          <a:ea typeface="黑体" pitchFamily="49" charset="-122"/>
                        </a:rPr>
                        <a:t>S</a:t>
                      </a:r>
                      <a:r>
                        <a:rPr kumimoji="1" lang="zh-CN" altLang="en-US" sz="2400" b="1" i="0" u="none" strike="noStrike" cap="none" normalizeH="0" baseline="-30000">
                          <a:ln>
                            <a:noFill/>
                          </a:ln>
                          <a:solidFill>
                            <a:srgbClr val="FF0000"/>
                          </a:solidFill>
                          <a:effectLst/>
                          <a:latin typeface="黑体" pitchFamily="49" charset="-122"/>
                          <a:ea typeface="黑体" pitchFamily="49" charset="-122"/>
                        </a:rPr>
                        <a:t>隔离</a:t>
                      </a:r>
                      <a:r>
                        <a:rPr kumimoji="1" lang="zh-CN" altLang="en-US" sz="2400" b="0" i="0" u="none" strike="noStrike" cap="none" normalizeH="0" baseline="-30000">
                          <a:ln>
                            <a:noFill/>
                          </a:ln>
                          <a:solidFill>
                            <a:schemeClr val="tx1"/>
                          </a:solidFill>
                          <a:effectLst/>
                          <a:latin typeface="Times New Roman" panose="02020603050405020304"/>
                          <a:ea typeface="黑体" pitchFamily="49" charset="-122"/>
                        </a:rPr>
                        <a:t> </a:t>
                      </a:r>
                      <a:r>
                        <a:rPr kumimoji="1" lang="zh-CN" altLang="en-US" sz="2400" b="0" i="0" u="none" strike="noStrike" cap="none" normalizeH="0" baseline="-30000">
                          <a:ln>
                            <a:noFill/>
                          </a:ln>
                          <a:solidFill>
                            <a:schemeClr val="tx1"/>
                          </a:solidFill>
                          <a:effectLst/>
                          <a:latin typeface="黑体" pitchFamily="49" charset="-122"/>
                          <a:ea typeface="黑体" pitchFamily="49" charset="-122"/>
                        </a:rPr>
                        <a:t>  </a:t>
                      </a:r>
                      <a:r>
                        <a:rPr kumimoji="1" lang="en-US" altLang="zh-CN" sz="2400" b="0" i="0" u="none" strike="noStrike" cap="none" normalizeH="0" baseline="-30000">
                          <a:ln>
                            <a:noFill/>
                          </a:ln>
                          <a:solidFill>
                            <a:schemeClr val="tx1"/>
                          </a:solidFill>
                          <a:effectLst/>
                          <a:latin typeface="Times New Roman" panose="02020603050405020304"/>
                          <a:ea typeface="黑体" pitchFamily="49" charset="-122"/>
                        </a:rPr>
                        <a:t>  </a:t>
                      </a:r>
                      <a:r>
                        <a:rPr kumimoji="1" lang="en-US" altLang="zh-CN" sz="2400" b="0" i="0" u="none" strike="noStrike" cap="none" normalizeH="0" baseline="0">
                          <a:ln>
                            <a:noFill/>
                          </a:ln>
                          <a:solidFill>
                            <a:schemeClr val="tx1"/>
                          </a:solidFill>
                          <a:effectLst/>
                          <a:latin typeface="Arial"/>
                          <a:ea typeface="黑体" pitchFamily="49" charset="-122"/>
                        </a:rPr>
                        <a:t> </a:t>
                      </a:r>
                      <a:r>
                        <a:rPr kumimoji="1" lang="en-US" altLang="zh-CN" sz="2400" b="0" i="0" u="none" strike="noStrike" cap="none" normalizeH="0" baseline="0">
                          <a:ln>
                            <a:noFill/>
                          </a:ln>
                          <a:solidFill>
                            <a:schemeClr val="tx1"/>
                          </a:solidFill>
                          <a:effectLst/>
                          <a:latin typeface="黑体" pitchFamily="49" charset="-122"/>
                          <a:ea typeface="黑体" pitchFamily="49" charset="-122"/>
                        </a:rPr>
                        <a:t>=  0     </a:t>
                      </a:r>
                      <a:r>
                        <a:rPr kumimoji="1" lang="zh-CN" altLang="en-US" sz="2400" b="0" i="0" u="none" strike="noStrike" cap="none" normalizeH="0" baseline="0">
                          <a:ln>
                            <a:noFill/>
                          </a:ln>
                          <a:solidFill>
                            <a:schemeClr val="tx1"/>
                          </a:solidFill>
                          <a:effectLst/>
                          <a:latin typeface="黑体" pitchFamily="49" charset="-122"/>
                          <a:ea typeface="黑体" pitchFamily="49" charset="-122"/>
                        </a:rPr>
                        <a:t>平衡，      </a:t>
                      </a:r>
                      <a:r>
                        <a:rPr kumimoji="1" lang="zh-CN" altLang="en-US" sz="2400" b="1" i="0" u="none" strike="noStrike" cap="none" normalizeH="0" baseline="0">
                          <a:ln>
                            <a:noFill/>
                          </a:ln>
                          <a:solidFill>
                            <a:srgbClr val="AE1E39"/>
                          </a:solidFill>
                          <a:effectLst/>
                          <a:latin typeface="Arial" panose="02080604020202020204" pitchFamily="34" charset="0"/>
                          <a:ea typeface="宋体" pitchFamily="2" charset="-122"/>
                        </a:rPr>
                        <a:t>可逆</a:t>
                      </a:r>
                      <a:r>
                        <a:rPr kumimoji="1" lang="en-US" altLang="zh-CN" sz="2400" b="0" i="0" u="none" strike="noStrike" cap="none" normalizeH="0" baseline="-30000">
                          <a:ln>
                            <a:noFill/>
                          </a:ln>
                          <a:solidFill>
                            <a:schemeClr val="tx1"/>
                          </a:solidFill>
                          <a:effectLst/>
                          <a:latin typeface="Times New Roman" panose="02020603050405020304"/>
                          <a:ea typeface="黑体" pitchFamily="49" charset="-122"/>
                        </a:rPr>
                        <a:t>                         </a:t>
                      </a:r>
                      <a:endParaRPr kumimoji="1" lang="en-US" altLang="zh-CN" sz="2400" b="0" i="0" u="none" strike="noStrike" cap="none" normalizeH="0" baseline="-30000">
                        <a:ln>
                          <a:noFill/>
                        </a:ln>
                        <a:solidFill>
                          <a:schemeClr val="tx1"/>
                        </a:solidFill>
                        <a:latin typeface="黑体" pitchFamily="49" charset="-122"/>
                        <a:ea typeface="黑体" pitchFamily="49"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400" b="0" i="0" u="none" strike="noStrike" cap="none" normalizeH="0" baseline="-30000">
                          <a:ln>
                            <a:noFill/>
                          </a:ln>
                          <a:solidFill>
                            <a:schemeClr val="tx1"/>
                          </a:solidFill>
                          <a:effectLst/>
                          <a:latin typeface="黑体" pitchFamily="49" charset="-122"/>
                          <a:ea typeface="黑体" pitchFamily="49" charset="-122"/>
                        </a:rPr>
                        <a:t>                 </a:t>
                      </a:r>
                      <a:r>
                        <a:rPr kumimoji="1" lang="zh-CN" altLang="en-US" sz="2400" b="0" i="0" u="none" strike="noStrike" cap="none" normalizeH="0" baseline="0">
                          <a:ln>
                            <a:noFill/>
                          </a:ln>
                          <a:solidFill>
                            <a:schemeClr val="tx1"/>
                          </a:solidFill>
                          <a:effectLst/>
                          <a:latin typeface="黑体" pitchFamily="49" charset="-122"/>
                          <a:ea typeface="黑体" pitchFamily="49" charset="-122"/>
                        </a:rPr>
                        <a:t>＜ </a:t>
                      </a:r>
                      <a:r>
                        <a:rPr kumimoji="1" lang="en-US" altLang="zh-CN" sz="2400" b="0" i="0" u="none" strike="noStrike" cap="none" normalizeH="0" baseline="0">
                          <a:ln>
                            <a:noFill/>
                          </a:ln>
                          <a:solidFill>
                            <a:schemeClr val="tx1"/>
                          </a:solidFill>
                          <a:effectLst/>
                          <a:latin typeface="黑体" pitchFamily="49" charset="-122"/>
                          <a:ea typeface="黑体" pitchFamily="49" charset="-122"/>
                        </a:rPr>
                        <a:t>0</a:t>
                      </a:r>
                      <a:r>
                        <a:rPr kumimoji="1" lang="en-US" altLang="zh-CN" sz="2400" b="0" i="0" u="none" strike="noStrike" cap="none" normalizeH="0" baseline="-30000">
                          <a:ln>
                            <a:noFill/>
                          </a:ln>
                          <a:solidFill>
                            <a:schemeClr val="tx1"/>
                          </a:solidFill>
                          <a:effectLst/>
                          <a:latin typeface="Times New Roman" panose="02020603050405020304"/>
                          <a:ea typeface="黑体" pitchFamily="49" charset="-122"/>
                        </a:rPr>
                        <a:t>     </a:t>
                      </a:r>
                      <a:r>
                        <a:rPr kumimoji="1" lang="en-US" altLang="zh-CN" sz="2400" b="0" i="0" u="none" strike="noStrike" cap="none" normalizeH="0" baseline="-30000">
                          <a:ln>
                            <a:noFill/>
                          </a:ln>
                          <a:solidFill>
                            <a:schemeClr val="tx1"/>
                          </a:solidFill>
                          <a:effectLst/>
                          <a:latin typeface="黑体" pitchFamily="49" charset="-122"/>
                          <a:ea typeface="黑体" pitchFamily="49" charset="-122"/>
                        </a:rPr>
                        <a:t>     </a:t>
                      </a:r>
                      <a:r>
                        <a:rPr kumimoji="1" lang="zh-CN" altLang="en-US" sz="2400" b="0" i="0" u="none" strike="noStrike" cap="none" normalizeH="0" baseline="0">
                          <a:ln>
                            <a:noFill/>
                          </a:ln>
                          <a:solidFill>
                            <a:schemeClr val="tx1"/>
                          </a:solidFill>
                          <a:effectLst/>
                          <a:latin typeface="黑体" pitchFamily="49" charset="-122"/>
                          <a:ea typeface="黑体" pitchFamily="49" charset="-122"/>
                        </a:rPr>
                        <a:t>非自发过程，</a:t>
                      </a:r>
                      <a:r>
                        <a:rPr kumimoji="1" lang="zh-CN" altLang="en-US" sz="2400" b="1" i="0" u="none" strike="noStrike" cap="none" normalizeH="0" baseline="0">
                          <a:ln>
                            <a:noFill/>
                          </a:ln>
                          <a:solidFill>
                            <a:srgbClr val="AE1E39"/>
                          </a:solidFill>
                          <a:effectLst/>
                          <a:latin typeface="黑体" pitchFamily="49" charset="-122"/>
                          <a:ea typeface="黑体" pitchFamily="49" charset="-122"/>
                        </a:rPr>
                        <a:t>需做功</a:t>
                      </a:r>
                      <a:r>
                        <a:rPr kumimoji="1" lang="en-US" altLang="zh-CN" sz="2400" b="1" i="0" u="none" strike="noStrike" cap="none" normalizeH="0" baseline="0">
                          <a:ln>
                            <a:noFill/>
                          </a:ln>
                          <a:solidFill>
                            <a:srgbClr val="66FF33"/>
                          </a:solidFill>
                          <a:effectLst/>
                          <a:latin typeface="Arial"/>
                          <a:ea typeface="黑体" pitchFamily="49" charset="-122"/>
                        </a:rPr>
                        <a:t> </a:t>
                      </a:r>
                      <a:r>
                        <a:rPr kumimoji="1" lang="en-US" altLang="zh-CN" sz="2400" b="0" i="0" u="none" strike="noStrike" cap="none" normalizeH="0" baseline="-30000">
                          <a:ln>
                            <a:noFill/>
                          </a:ln>
                          <a:solidFill>
                            <a:schemeClr val="tx1"/>
                          </a:solidFill>
                          <a:effectLst/>
                          <a:latin typeface="Times New Roman" panose="02020603050405020304"/>
                          <a:ea typeface="黑体" pitchFamily="49" charset="-122"/>
                        </a:rPr>
                        <a:t>    </a:t>
                      </a:r>
                      <a:r>
                        <a:rPr kumimoji="1" lang="en-US" altLang="zh-CN" sz="2400" b="0" i="0" u="none" strike="noStrike" cap="none" normalizeH="0" baseline="-30000">
                          <a:ln>
                            <a:noFill/>
                          </a:ln>
                          <a:solidFill>
                            <a:schemeClr val="tx1"/>
                          </a:solidFill>
                          <a:effectLst/>
                          <a:latin typeface="Times New Roman" panose="02020603050405020304"/>
                          <a:ea typeface="宋体" pitchFamily="2" charset="-122"/>
                        </a:rPr>
                        <a:t>       </a:t>
                      </a:r>
                      <a:r>
                        <a:rPr kumimoji="1" lang="en-US" altLang="zh-CN" sz="2400" b="0" i="0" u="none" strike="noStrike" cap="none" normalizeH="0" baseline="-30000">
                          <a:ln>
                            <a:noFill/>
                          </a:ln>
                          <a:solidFill>
                            <a:schemeClr val="tx1"/>
                          </a:solidFill>
                          <a:effectLst/>
                          <a:latin typeface="宋体" pitchFamily="2" charset="-122"/>
                          <a:ea typeface="宋体" pitchFamily="2" charset="-122"/>
                        </a:rPr>
                        <a:t> </a:t>
                      </a:r>
                      <a:endParaRPr kumimoji="1" lang="en-US" altLang="zh-CN" sz="2400" b="0" i="0" u="none" strike="noStrike" cap="none" normalizeH="0" baseline="-30000">
                        <a:ln>
                          <a:noFill/>
                        </a:ln>
                        <a:solidFill>
                          <a:schemeClr val="tx1"/>
                        </a:solidFill>
                        <a:effectLst/>
                        <a:latin typeface="宋体" pitchFamily="2" charset="-122"/>
                        <a:ea typeface="宋体" pitchFamily="2" charset="-122"/>
                      </a:endParaRPr>
                    </a:p>
                  </a:txBody>
                  <a:tcPr marT="45725" marB="45725" anchor="ctr" horzOverflow="overflow">
                    <a:lnL cap="flat">
                      <a:noFill/>
                    </a:lnL>
                    <a:lnR cap="flat">
                      <a:noFill/>
                    </a:lnR>
                    <a:lnT>
                      <a:noFill/>
                    </a:lnT>
                    <a:lnB>
                      <a:noFill/>
                    </a:lnB>
                    <a:lnTlToBr>
                      <a:noFill/>
                    </a:lnTlToBr>
                    <a:lnBlToTr>
                      <a:noFill/>
                    </a:lnBlToTr>
                    <a:noFill/>
                  </a:tcPr>
                </a:tc>
              </a:tr>
              <a:tr h="823050">
                <a:tc>
                  <a:txBody>
                    <a:bodyPr/>
                    <a:lstStyle/>
                    <a:p>
                      <a:pPr marL="0" marR="0" lvl="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latin typeface="宋体" pitchFamily="2" charset="-122"/>
                        <a:ea typeface="宋体" pitchFamily="2" charset="-122"/>
                      </a:endParaRPr>
                    </a:p>
                    <a:p>
                      <a:pPr marL="0" marR="0" lvl="0" indent="0" algn="l" defTabSz="914400" rtl="0" eaLnBrk="1" fontAlgn="base" latinLnBrk="0" hangingPunct="1">
                        <a:lnSpc>
                          <a:spcPct val="100000"/>
                        </a:lnSpc>
                        <a:spcBef>
                          <a:spcPct val="0"/>
                        </a:spcBef>
                        <a:spcAft>
                          <a:spcPct val="0"/>
                        </a:spcAft>
                        <a:buClrTx/>
                        <a:buSzTx/>
                        <a:buFontTx/>
                        <a:buNone/>
                      </a:pPr>
                      <a:r>
                        <a:rPr kumimoji="1" lang="zh-CN" altLang="en-US" sz="2400" b="1" i="0" u="none" strike="noStrike" cap="none" normalizeH="0" baseline="0">
                          <a:ln>
                            <a:noFill/>
                          </a:ln>
                          <a:solidFill>
                            <a:srgbClr val="66FF33"/>
                          </a:solidFill>
                          <a:effectLst/>
                          <a:latin typeface="宋体" pitchFamily="2" charset="-122"/>
                          <a:ea typeface="黑体" pitchFamily="49" charset="-122"/>
                        </a:rPr>
                        <a:t>            </a:t>
                      </a:r>
                      <a:r>
                        <a:rPr kumimoji="1" lang="zh-CN" altLang="en-US" sz="2400" b="1" i="0" u="none" strike="noStrike" cap="none" normalizeH="0" baseline="0">
                          <a:ln>
                            <a:noFill/>
                          </a:ln>
                          <a:solidFill>
                            <a:srgbClr val="AE1E39"/>
                          </a:solidFill>
                          <a:effectLst/>
                          <a:latin typeface="宋体" pitchFamily="2" charset="-122"/>
                          <a:ea typeface="黑体" pitchFamily="49" charset="-122"/>
                        </a:rPr>
                        <a:t>熵判据</a:t>
                      </a:r>
                      <a:r>
                        <a:rPr kumimoji="1" lang="zh-CN" altLang="en-US" sz="2400" b="1" i="0" u="none" strike="noStrike" cap="none" normalizeH="0" baseline="0">
                          <a:ln>
                            <a:noFill/>
                          </a:ln>
                          <a:solidFill>
                            <a:schemeClr val="tx1"/>
                          </a:solidFill>
                          <a:effectLst/>
                          <a:latin typeface="宋体" pitchFamily="2" charset="-122"/>
                          <a:ea typeface="楷体_GB2312" pitchFamily="49" charset="-122"/>
                        </a:rPr>
                        <a:t>（</a:t>
                      </a:r>
                      <a:r>
                        <a:rPr kumimoji="1" lang="en-US" altLang="zh-CN" sz="2400" b="1" i="0" u="none" strike="noStrike" cap="none" normalizeH="0" baseline="0">
                          <a:ln>
                            <a:noFill/>
                          </a:ln>
                          <a:solidFill>
                            <a:schemeClr val="tx1"/>
                          </a:solidFill>
                          <a:effectLst/>
                          <a:latin typeface="宋体" pitchFamily="2" charset="-122"/>
                          <a:ea typeface="楷体_GB2312" pitchFamily="49" charset="-122"/>
                        </a:rPr>
                        <a:t>entropy criterion</a:t>
                      </a:r>
                      <a:r>
                        <a:rPr kumimoji="1" lang="zh-CN" altLang="en-US" sz="2400" b="1" i="0" u="none" strike="noStrike" cap="none" normalizeH="0" baseline="0">
                          <a:ln>
                            <a:noFill/>
                          </a:ln>
                          <a:solidFill>
                            <a:schemeClr val="tx1"/>
                          </a:solidFill>
                          <a:effectLst/>
                          <a:latin typeface="宋体" pitchFamily="2" charset="-122"/>
                          <a:ea typeface="楷体_GB2312" pitchFamily="49" charset="-122"/>
                        </a:rPr>
                        <a:t>）</a:t>
                      </a:r>
                      <a:endParaRPr kumimoji="1" lang="zh-CN" altLang="en-US" sz="2400" b="0" i="0" u="none" strike="noStrike" cap="none" normalizeH="0" baseline="0">
                        <a:ln>
                          <a:noFill/>
                        </a:ln>
                        <a:solidFill>
                          <a:schemeClr val="tx1"/>
                        </a:solidFill>
                        <a:latin typeface="Times New Roman" panose="02020603050405020304" charset="0"/>
                        <a:ea typeface="宋体" pitchFamily="2" charset="-122"/>
                      </a:endParaRPr>
                    </a:p>
                  </a:txBody>
                  <a:tcPr marT="45725" marB="45725" anchor="ctr" horzOverflow="overflow">
                    <a:lnL cap="flat">
                      <a:noFill/>
                    </a:lnL>
                    <a:lnR cap="flat">
                      <a:noFill/>
                    </a:lnR>
                    <a:lnT>
                      <a:noFill/>
                    </a:lnT>
                    <a:lnB cap="flat">
                      <a:noFill/>
                    </a:lnB>
                    <a:lnTlToBr>
                      <a:noFill/>
                    </a:lnTlToBr>
                    <a:lnBlToTr>
                      <a:noFill/>
                    </a:lnBlToTr>
                    <a:noFill/>
                  </a:tcPr>
                </a:tc>
              </a:tr>
            </a:tbl>
          </a:graphicData>
        </a:graphic>
      </p:graphicFrame>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59" name="Rectangle 2"/>
          <p:cNvSpPr>
            <a:spLocks noGrp="1" noChangeShapeType="1"/>
          </p:cNvSpPr>
          <p:nvPr>
            <p:ph type="title"/>
          </p:nvPr>
        </p:nvSpPr>
        <p:spPr>
          <a:xfrm>
            <a:off x="611187" y="188912"/>
            <a:ext cx="6192837" cy="1190625"/>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3600" b="1" i="0" u="none">
                <a:latin typeface="Times New Roman" panose="02020603050405020304"/>
                <a:ea typeface="黑体" pitchFamily="49" charset="-122"/>
              </a:rPr>
              <a:t>1.4  生物体系中化学能的转化</a:t>
            </a:r>
            <a:endParaRPr lang="zh-CN" sz="3600" b="1" i="0" u="none">
              <a:latin typeface="Times New Roman" panose="02020603050405020304"/>
              <a:ea typeface="黑体" pitchFamily="49" charset="-122"/>
            </a:endParaRPr>
          </a:p>
        </p:txBody>
      </p:sp>
      <p:sp>
        <p:nvSpPr>
          <p:cNvPr id="60" name="Rectangle 3"/>
          <p:cNvSpPr>
            <a:spLocks noGrp="1" noChangeShapeType="1"/>
          </p:cNvSpPr>
          <p:nvPr>
            <p:ph type="body"/>
          </p:nvPr>
        </p:nvSpPr>
        <p:spPr>
          <a:xfrm>
            <a:off x="755650" y="2997200"/>
            <a:ext cx="7777162" cy="2663825"/>
          </a:xfrm>
          <a:prstGeom prst="rect">
            <a:avLst/>
          </a:prstGeom>
          <a:noFill/>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lnSpc>
                <a:spcPct val="130000"/>
              </a:lnSpc>
              <a:spcBef>
                <a:spcPct val="20000"/>
              </a:spcBef>
              <a:buFont typeface="Wingdings" panose="05000000000000000000" pitchFamily="2" charset="2"/>
              <a:buChar char="Ø"/>
            </a:pPr>
            <a:r>
              <a:rPr lang="zh-CN" sz="2400">
                <a:latin typeface="黑体" pitchFamily="49" charset="-122"/>
                <a:ea typeface="黑体" pitchFamily="49" charset="-122"/>
              </a:rPr>
              <a:t>化学能</a:t>
            </a:r>
            <a:r>
              <a:rPr lang="en-US" sz="2400">
                <a:latin typeface="黑体" pitchFamily="49" charset="-122"/>
                <a:ea typeface="黑体" pitchFamily="49" charset="-122"/>
                <a:sym typeface="Wingdings" panose="05000000000000000000" pitchFamily="2" charset="2"/>
              </a:rPr>
              <a:t></a:t>
            </a:r>
            <a:r>
              <a:rPr lang="zh-CN" sz="2400">
                <a:latin typeface="黑体" pitchFamily="49" charset="-122"/>
                <a:ea typeface="黑体" pitchFamily="49" charset="-122"/>
              </a:rPr>
              <a:t>其它能量形式 （光，热，机械，电</a:t>
            </a:r>
            <a:r>
              <a:rPr lang="en-US" sz="2400">
                <a:ea typeface="黑体" pitchFamily="49" charset="-122"/>
              </a:rPr>
              <a:t>…</a:t>
            </a:r>
            <a:r>
              <a:rPr lang="zh-CN" sz="2400">
                <a:latin typeface="黑体" pitchFamily="49" charset="-122"/>
                <a:ea typeface="黑体" pitchFamily="49" charset="-122"/>
              </a:rPr>
              <a:t>) </a:t>
            </a:r>
            <a:endParaRPr lang="zh-CN" sz="2400">
              <a:latin typeface="黑体" pitchFamily="49" charset="-122"/>
              <a:ea typeface="黑体" pitchFamily="49" charset="-122"/>
            </a:endParaRPr>
          </a:p>
          <a:p>
            <a:pPr marL="342900" lvl="0" indent="-342900" hangingPunct="1">
              <a:lnSpc>
                <a:spcPct val="130000"/>
              </a:lnSpc>
              <a:spcBef>
                <a:spcPct val="20000"/>
              </a:spcBef>
              <a:buFont typeface="Wingdings" panose="05000000000000000000" pitchFamily="2" charset="2"/>
              <a:buChar char="Ø"/>
            </a:pPr>
            <a:r>
              <a:rPr lang="zh-CN" sz="2400">
                <a:latin typeface="黑体" pitchFamily="49" charset="-122"/>
                <a:ea typeface="黑体" pitchFamily="49" charset="-122"/>
              </a:rPr>
              <a:t>高能化合物</a:t>
            </a:r>
            <a:r>
              <a:rPr lang="en-US" sz="2400">
                <a:latin typeface="黑体" pitchFamily="49" charset="-122"/>
                <a:ea typeface="黑体" pitchFamily="49" charset="-122"/>
                <a:sym typeface="Wingdings" panose="05000000000000000000" pitchFamily="2" charset="2"/>
              </a:rPr>
              <a:t></a:t>
            </a:r>
            <a:r>
              <a:rPr lang="zh-CN" sz="2400">
                <a:latin typeface="黑体" pitchFamily="49" charset="-122"/>
                <a:ea typeface="黑体" pitchFamily="49" charset="-122"/>
              </a:rPr>
              <a:t>低能化合物 + 自由能 + 热</a:t>
            </a:r>
            <a:endParaRPr lang="zh-CN" sz="2400">
              <a:latin typeface="黑体" pitchFamily="49" charset="-122"/>
              <a:ea typeface="黑体" pitchFamily="49" charset="-122"/>
            </a:endParaRPr>
          </a:p>
          <a:p>
            <a:pPr marL="342900" lvl="0" indent="-342900" hangingPunct="1">
              <a:lnSpc>
                <a:spcPct val="130000"/>
              </a:lnSpc>
              <a:spcBef>
                <a:spcPct val="20000"/>
              </a:spcBef>
              <a:buFont typeface="Wingdings" panose="05000000000000000000" pitchFamily="2" charset="2"/>
              <a:buChar char="Ø"/>
            </a:pPr>
            <a:r>
              <a:rPr lang="zh-CN" sz="2400">
                <a:latin typeface="黑体" pitchFamily="49" charset="-122"/>
                <a:ea typeface="黑体" pitchFamily="49" charset="-122"/>
              </a:rPr>
              <a:t>生物氧化</a:t>
            </a:r>
            <a:r>
              <a:rPr lang="en-US" sz="2400">
                <a:latin typeface="黑体" pitchFamily="49" charset="-122"/>
                <a:ea typeface="黑体" pitchFamily="49" charset="-122"/>
                <a:sym typeface="Wingdings" panose="05000000000000000000" pitchFamily="2" charset="2"/>
              </a:rPr>
              <a:t></a:t>
            </a:r>
            <a:r>
              <a:rPr lang="zh-CN" sz="2400">
                <a:latin typeface="黑体" pitchFamily="49" charset="-122"/>
                <a:ea typeface="黑体" pitchFamily="49" charset="-122"/>
              </a:rPr>
              <a:t>逐级分解,缓慢释放,并形成ATP为代表的小分子高能化合物,捕获贮存能量</a:t>
            </a:r>
            <a:endParaRPr lang="zh-CN" sz="2400">
              <a:latin typeface="黑体" pitchFamily="49" charset="-122"/>
              <a:ea typeface="黑体" pitchFamily="49" charset="-122"/>
            </a:endParaRPr>
          </a:p>
        </p:txBody>
      </p:sp>
      <p:sp>
        <p:nvSpPr>
          <p:cNvPr id="61" name="Text Box 4"/>
          <p:cNvSpPr txBox="1">
            <a:spLocks noGrp="1" noChangeShapeType="1"/>
          </p:cNvSpPr>
          <p:nvPr/>
        </p:nvSpPr>
        <p:spPr>
          <a:xfrm>
            <a:off x="684212" y="1196975"/>
            <a:ext cx="7848600" cy="1373187"/>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2800" b="1" i="0" u="none">
                <a:latin typeface="楷体_GB2312" pitchFamily="49" charset="-122"/>
                <a:ea typeface="楷体_GB2312" pitchFamily="49" charset="-122"/>
              </a:rPr>
              <a:t>化合物蕴含的能量在发生化学反应时转换为其他形式. 过程不同，转换的不同形式能量各异，但体系变化前后总能量变化一致.</a:t>
            </a:r>
            <a:endParaRPr lang="en-US" sz="2800" b="1" i="0" u="none">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 calcmode="lin" valueType="num">
                                      <p:cBhvr additive="base">
                                        <p:cTn id="7" dur="500" fill="hold"/>
                                        <p:tgtEl>
                                          <p:spTgt spid="59"/>
                                        </p:tgtEl>
                                        <p:attrNameLst>
                                          <p:attrName>ppt_x</p:attrName>
                                        </p:attrNameLst>
                                      </p:cBhvr>
                                      <p:tavLst>
                                        <p:tav tm="0">
                                          <p:val>
                                            <p:strVal val="0-#ppt_w/2"/>
                                          </p:val>
                                        </p:tav>
                                        <p:tav tm="100000">
                                          <p:val>
                                            <p:strVal val="#ppt_x"/>
                                          </p:val>
                                        </p:tav>
                                      </p:tavLst>
                                    </p:anim>
                                    <p:anim calcmode="lin" valueType="num">
                                      <p:cBhvr additive="base">
                                        <p:cTn id="8" dur="500" fill="hold"/>
                                        <p:tgtEl>
                                          <p:spTgt spid="5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60">
                                            <p:txEl>
                                              <p:pRg st="0" end="24"/>
                                            </p:txEl>
                                          </p:spTgt>
                                        </p:tgtEl>
                                        <p:attrNameLst>
                                          <p:attrName>style.visibility</p:attrName>
                                        </p:attrNameLst>
                                      </p:cBhvr>
                                      <p:to>
                                        <p:strVal val="visible"/>
                                      </p:to>
                                    </p:set>
                                    <p:animEffect transition="in" filter="dissolve">
                                      <p:cBhvr>
                                        <p:cTn id="13" dur="500"/>
                                        <p:tgtEl>
                                          <p:spTgt spid="60">
                                            <p:txEl>
                                              <p:pRg st="0" end="2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60">
                                            <p:txEl>
                                              <p:pRg st="24" end="46"/>
                                            </p:txEl>
                                          </p:spTgt>
                                        </p:tgtEl>
                                        <p:attrNameLst>
                                          <p:attrName>style.visibility</p:attrName>
                                        </p:attrNameLst>
                                      </p:cBhvr>
                                      <p:to>
                                        <p:strVal val="visible"/>
                                      </p:to>
                                    </p:set>
                                    <p:animEffect transition="in" filter="dissolve">
                                      <p:cBhvr>
                                        <p:cTn id="18" dur="500"/>
                                        <p:tgtEl>
                                          <p:spTgt spid="60">
                                            <p:txEl>
                                              <p:pRg st="24" end="4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60">
                                            <p:txEl>
                                              <p:pRg st="46" end="87"/>
                                            </p:txEl>
                                          </p:spTgt>
                                        </p:tgtEl>
                                        <p:attrNameLst>
                                          <p:attrName>style.visibility</p:attrName>
                                        </p:attrNameLst>
                                      </p:cBhvr>
                                      <p:to>
                                        <p:strVal val="visible"/>
                                      </p:to>
                                    </p:set>
                                    <p:animEffect transition="in" filter="dissolve">
                                      <p:cBhvr>
                                        <p:cTn id="23" dur="500"/>
                                        <p:tgtEl>
                                          <p:spTgt spid="60">
                                            <p:txEl>
                                              <p:pRg st="46" end="87"/>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63" name="Rectangle 2"/>
          <p:cNvSpPr>
            <a:spLocks noGrp="1" noChangeShapeType="1"/>
          </p:cNvSpPr>
          <p:nvPr>
            <p:ph type="title"/>
          </p:nvPr>
        </p:nvSpPr>
        <p:spPr>
          <a:xfrm>
            <a:off x="684212" y="404812"/>
            <a:ext cx="3524250" cy="623887"/>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3600" b="1" i="0" u="none">
                <a:latin typeface="Times New Roman" panose="02020603050405020304"/>
                <a:ea typeface="黑体" pitchFamily="49" charset="-122"/>
              </a:rPr>
              <a:t>1.5  自由能</a:t>
            </a:r>
            <a:endParaRPr lang="zh-CN" sz="3600" b="1" i="0" u="none">
              <a:latin typeface="Times New Roman" panose="02020603050405020304"/>
              <a:ea typeface="黑体" pitchFamily="49" charset="-122"/>
            </a:endParaRPr>
          </a:p>
        </p:txBody>
      </p:sp>
      <p:sp>
        <p:nvSpPr>
          <p:cNvPr id="64" name="Rectangle 3"/>
          <p:cNvSpPr>
            <a:spLocks noGrp="1" noChangeShapeType="1"/>
          </p:cNvSpPr>
          <p:nvPr/>
        </p:nvSpPr>
        <p:spPr>
          <a:xfrm>
            <a:off x="755650" y="1341437"/>
            <a:ext cx="7920037" cy="350996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2800" b="0" i="0" u="none">
                <a:latin typeface="黑体" pitchFamily="49" charset="-122"/>
                <a:ea typeface="黑体" pitchFamily="49" charset="-122"/>
              </a:rPr>
              <a:t>自由能: </a:t>
            </a:r>
            <a:r>
              <a:rPr lang="zh-CN" sz="2800" b="1" i="0" u="none">
                <a:latin typeface="楷体_GB2312" pitchFamily="49" charset="-122"/>
                <a:ea typeface="楷体_GB2312" pitchFamily="49" charset="-122"/>
              </a:rPr>
              <a:t>体系恒温恒压下能够用于做功的能量。</a:t>
            </a:r>
            <a:endParaRPr lang="zh-CN" sz="2800" b="1" i="0" u="none">
              <a:latin typeface="楷体_GB2312" pitchFamily="49" charset="-122"/>
              <a:ea typeface="楷体_GB2312" pitchFamily="49" charset="-122"/>
            </a:endParaRPr>
          </a:p>
          <a:p>
            <a:pPr marL="0" lvl="0" indent="0" hangingPunct="1">
              <a:spcBef>
                <a:spcPct val="50000"/>
              </a:spcBef>
              <a:buNone/>
            </a:pPr>
            <a:r>
              <a:rPr lang="zh-CN" sz="2800" b="1" i="0" u="none">
                <a:latin typeface="楷体_GB2312" pitchFamily="49" charset="-122"/>
                <a:ea typeface="楷体_GB2312" pitchFamily="49" charset="-122"/>
              </a:rPr>
              <a:t>吉布斯自由能(G)是状态函数，是与能量有关的物理量（具有能量量纲）。实际上</a:t>
            </a:r>
            <a:r>
              <a:rPr lang="en-US" sz="2800" b="1" i="0" u="none">
                <a:solidFill>
                  <a:srgbClr val="AE1E39"/>
                </a:solidFill>
                <a:latin typeface="楷体_GB2312" pitchFamily="49" charset="-122"/>
                <a:ea typeface="楷体_GB2312" pitchFamily="49" charset="-122"/>
              </a:rPr>
              <a:t>自由能并无直观的物理意义</a:t>
            </a:r>
            <a:r>
              <a:rPr lang="zh-CN" sz="2800" b="0" i="0" u="none">
                <a:latin typeface="楷体_GB2312" pitchFamily="49" charset="-122"/>
                <a:ea typeface="楷体_GB2312" pitchFamily="49" charset="-122"/>
              </a:rPr>
              <a:t>，</a:t>
            </a:r>
            <a:r>
              <a:rPr lang="en-US" sz="2800" b="1" i="0" u="none">
                <a:latin typeface="楷体_GB2312" pitchFamily="49" charset="-122"/>
                <a:ea typeface="楷体_GB2312" pitchFamily="49" charset="-122"/>
              </a:rPr>
              <a:t>但可以看成是一种化学势能。</a:t>
            </a:r>
            <a:endParaRPr lang="en-US" sz="2800" b="1" i="0" u="none">
              <a:latin typeface="楷体_GB2312" pitchFamily="49" charset="-122"/>
              <a:ea typeface="楷体_GB2312" pitchFamily="49" charset="-122"/>
            </a:endParaRPr>
          </a:p>
          <a:p>
            <a:pPr marL="0" lvl="0" indent="0" hangingPunct="1">
              <a:spcBef>
                <a:spcPct val="50000"/>
              </a:spcBef>
              <a:buNone/>
            </a:pPr>
            <a:r>
              <a:rPr lang="en-US" sz="2800" b="1" i="0" u="none">
                <a:latin typeface="楷体_GB2312" pitchFamily="49" charset="-122"/>
                <a:ea typeface="楷体_GB2312" pitchFamily="49" charset="-122"/>
              </a:rPr>
              <a:t>系统自由能的变化（ΔG）可以用系统在等温等压下，可逆过程对外作的</a:t>
            </a:r>
            <a:r>
              <a:rPr lang="zh-CN" sz="2800" b="1" i="0" u="none">
                <a:solidFill>
                  <a:srgbClr val="FF0000"/>
                </a:solidFill>
                <a:latin typeface="楷体_GB2312" pitchFamily="49" charset="-122"/>
                <a:ea typeface="楷体_GB2312" pitchFamily="49" charset="-122"/>
              </a:rPr>
              <a:t>最大非体积功</a:t>
            </a:r>
            <a:r>
              <a:rPr lang="zh-CN" sz="2800" b="1" i="0" u="none">
                <a:latin typeface="楷体_GB2312" pitchFamily="49" charset="-122"/>
                <a:ea typeface="楷体_GB2312" pitchFamily="49" charset="-122"/>
              </a:rPr>
              <a:t>来量度</a:t>
            </a:r>
            <a:r>
              <a:rPr lang="zh-CN" sz="2800" b="0" i="0" u="none">
                <a:latin typeface="楷体_GB2312" pitchFamily="49" charset="-122"/>
                <a:ea typeface="楷体_GB2312" pitchFamily="49" charset="-122"/>
              </a:rPr>
              <a:t>，即：</a:t>
            </a:r>
            <a:r>
              <a:rPr lang="en-US" sz="2800" b="1" i="0" u="none">
                <a:solidFill>
                  <a:srgbClr val="FF0000"/>
                </a:solidFill>
              </a:rPr>
              <a:t>ΔG = -W’</a:t>
            </a:r>
            <a:endParaRPr lang="en-US" sz="2800" b="1" i="0" u="none">
              <a:solidFill>
                <a:srgbClr val="FF0000"/>
              </a:solidFill>
            </a:endParaRPr>
          </a:p>
        </p:txBody>
      </p:sp>
      <p:sp>
        <p:nvSpPr>
          <p:cNvPr id="65" name="Rectangle 6"/>
          <p:cNvSpPr>
            <a:spLocks noGrp="1" noChangeShapeType="1"/>
          </p:cNvSpPr>
          <p:nvPr/>
        </p:nvSpPr>
        <p:spPr>
          <a:xfrm>
            <a:off x="755650" y="5084762"/>
            <a:ext cx="8137525" cy="51911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20000"/>
              </a:spcBef>
              <a:buNone/>
            </a:pPr>
            <a:r>
              <a:rPr lang="zh-CN" sz="2800" b="1" i="0" u="none">
                <a:latin typeface="楷体_GB2312" pitchFamily="49" charset="-122"/>
                <a:ea typeface="楷体_GB2312" pitchFamily="49" charset="-122"/>
              </a:rPr>
              <a:t>体系只做体积功时，</a:t>
            </a:r>
            <a:r>
              <a:rPr lang="en-US" sz="2800" b="1" i="0" u="none">
                <a:solidFill>
                  <a:srgbClr val="FF0000"/>
                </a:solidFill>
              </a:rPr>
              <a:t>ΔG = 0</a:t>
            </a:r>
            <a:r>
              <a:rPr lang="zh-CN" sz="2800" b="1" i="0" u="none">
                <a:latin typeface="楷体_GB2312" pitchFamily="49" charset="-122"/>
                <a:ea typeface="楷体_GB2312" pitchFamily="49" charset="-122"/>
              </a:rPr>
              <a:t>   （热力学可逆） </a:t>
            </a:r>
            <a:endParaRPr lang="zh-CN" sz="2800" b="1" i="0" u="none">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4">
                                            <p:txEl>
                                              <p:pRg st="0" end="23"/>
                                            </p:txEl>
                                          </p:spTgt>
                                        </p:tgtEl>
                                        <p:attrNameLst>
                                          <p:attrName>style.visibility</p:attrName>
                                        </p:attrNameLst>
                                      </p:cBhvr>
                                      <p:to>
                                        <p:strVal val="visible"/>
                                      </p:to>
                                    </p:set>
                                    <p:animEffect transition="in" filter="slide(fromBottom)">
                                      <p:cBhvr>
                                        <p:cTn id="7" dur="500"/>
                                        <p:tgtEl>
                                          <p:spTgt spid="64">
                                            <p:txEl>
                                              <p:p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4">
                                            <p:txEl>
                                              <p:pRg st="23" end="87"/>
                                            </p:txEl>
                                          </p:spTgt>
                                        </p:tgtEl>
                                        <p:attrNameLst>
                                          <p:attrName>style.visibility</p:attrName>
                                        </p:attrNameLst>
                                      </p:cBhvr>
                                      <p:to>
                                        <p:strVal val="visible"/>
                                      </p:to>
                                    </p:set>
                                    <p:animEffect transition="in" filter="slide(fromBottom)">
                                      <p:cBhvr>
                                        <p:cTn id="12" dur="500"/>
                                        <p:tgtEl>
                                          <p:spTgt spid="64">
                                            <p:txEl>
                                              <p:pRg st="23" end="8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64">
                                            <p:txEl>
                                              <p:pRg st="87" end="140"/>
                                            </p:txEl>
                                          </p:spTgt>
                                        </p:tgtEl>
                                        <p:attrNameLst>
                                          <p:attrName>style.visibility</p:attrName>
                                        </p:attrNameLst>
                                      </p:cBhvr>
                                      <p:to>
                                        <p:strVal val="visible"/>
                                      </p:to>
                                    </p:set>
                                    <p:animEffect transition="in" filter="slide(fromBottom)">
                                      <p:cBhvr>
                                        <p:cTn id="17" dur="500"/>
                                        <p:tgtEl>
                                          <p:spTgt spid="64">
                                            <p:txEl>
                                              <p:pRg st="87" end="14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0" presetClass="entr" presetSubtype="0" fill="hold" nodeType="clickEffect">
                                  <p:stCondLst>
                                    <p:cond delay="0"/>
                                  </p:stCondLst>
                                  <p:iterate type="lt">
                                    <p:tmPct val="10000"/>
                                  </p:iterate>
                                  <p:childTnLst>
                                    <p:set>
                                      <p:cBhvr>
                                        <p:cTn id="21" dur="1" fill="hold">
                                          <p:stCondLst>
                                            <p:cond delay="0"/>
                                          </p:stCondLst>
                                        </p:cTn>
                                        <p:tgtEl>
                                          <p:spTgt spid="65"/>
                                        </p:tgtEl>
                                        <p:attrNameLst>
                                          <p:attrName>style.visibility</p:attrName>
                                        </p:attrNameLst>
                                      </p:cBhvr>
                                      <p:to>
                                        <p:strVal val="visible"/>
                                      </p:to>
                                    </p:set>
                                    <p:animEffect transition="in" filter="fade">
                                      <p:cBhvr>
                                        <p:cTn id="22" dur="1000"/>
                                        <p:tgtEl>
                                          <p:spTgt spid="65"/>
                                        </p:tgtEl>
                                      </p:cBhvr>
                                    </p:animEffect>
                                    <p:anim calcmode="lin" valueType="num">
                                      <p:cBhvr>
                                        <p:cTn id="23" dur="1000" fill="hold"/>
                                        <p:tgtEl>
                                          <p:spTgt spid="65"/>
                                        </p:tgtEl>
                                        <p:attrNameLst>
                                          <p:attrName>ppt_x</p:attrName>
                                        </p:attrNameLst>
                                      </p:cBhvr>
                                      <p:tavLst>
                                        <p:tav tm="0">
                                          <p:val>
                                            <p:strVal val="#ppt_x-.1"/>
                                          </p:val>
                                        </p:tav>
                                        <p:tav tm="100000">
                                          <p:val>
                                            <p:strVal val="#ppt_x"/>
                                          </p:val>
                                        </p:tav>
                                      </p:tavLst>
                                    </p:anim>
                                    <p:anim calcmode="lin" valueType="num">
                                      <p:cBhvr>
                                        <p:cTn id="24" dur="1000" fill="hold"/>
                                        <p:tgtEl>
                                          <p:spTgt spid="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67" name="Rectangle 72"/>
          <p:cNvSpPr>
            <a:spLocks noGrp="1" noChangeShapeType="1"/>
          </p:cNvSpPr>
          <p:nvPr/>
        </p:nvSpPr>
        <p:spPr>
          <a:xfrm>
            <a:off x="827087" y="2205037"/>
            <a:ext cx="7489825" cy="1800225"/>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2800" b="0" i="0" u="none">
                <a:solidFill>
                  <a:schemeClr val="lt2"/>
                </a:solidFill>
                <a:latin typeface="黑体" pitchFamily="49" charset="-122"/>
                <a:ea typeface="黑体" pitchFamily="49" charset="-122"/>
              </a:rPr>
              <a:t>Gibbs方程</a:t>
            </a:r>
            <a:r>
              <a:rPr lang="en-US" sz="2800" b="0" i="0" u="none">
                <a:latin typeface="黑体" pitchFamily="49" charset="-122"/>
                <a:ea typeface="黑体" pitchFamily="49" charset="-122"/>
              </a:rPr>
              <a:t>把影响化学反应自发性的两个因素：   </a:t>
            </a:r>
            <a:endParaRPr lang="en-US" sz="2800" b="0" i="0" u="none">
              <a:latin typeface="黑体" pitchFamily="49" charset="-122"/>
              <a:ea typeface="黑体" pitchFamily="49" charset="-122"/>
            </a:endParaRPr>
          </a:p>
          <a:p>
            <a:pPr marL="0" lvl="0" indent="0" hangingPunct="1">
              <a:spcBef>
                <a:spcPts val="0"/>
              </a:spcBef>
              <a:buNone/>
            </a:pPr>
            <a:r>
              <a:rPr lang="en-US" sz="2800" b="0" i="0" u="none">
                <a:latin typeface="黑体" pitchFamily="49" charset="-122"/>
                <a:ea typeface="黑体" pitchFamily="49" charset="-122"/>
              </a:rPr>
              <a:t>能量（这里表现为△H）和混乱度（即△S）</a:t>
            </a:r>
            <a:endParaRPr lang="en-US" sz="2800" b="0" i="0" u="none">
              <a:latin typeface="黑体" pitchFamily="49" charset="-122"/>
              <a:ea typeface="黑体" pitchFamily="49" charset="-122"/>
            </a:endParaRPr>
          </a:p>
          <a:p>
            <a:pPr marL="0" lvl="0" indent="0" hangingPunct="1">
              <a:spcBef>
                <a:spcPts val="0"/>
              </a:spcBef>
              <a:buNone/>
            </a:pPr>
            <a:r>
              <a:rPr lang="en-US" sz="2800" b="0" i="0" u="none">
                <a:latin typeface="黑体" pitchFamily="49" charset="-122"/>
                <a:ea typeface="黑体" pitchFamily="49" charset="-122"/>
              </a:rPr>
              <a:t>统一起来。同时，生物体系（不做体积功）自由能变化：</a:t>
            </a:r>
            <a:endParaRPr lang="en-US" sz="2800" b="0" i="0" u="none">
              <a:latin typeface="黑体" pitchFamily="49" charset="-122"/>
              <a:ea typeface="黑体" pitchFamily="49" charset="-122"/>
            </a:endParaRPr>
          </a:p>
        </p:txBody>
      </p:sp>
      <p:sp>
        <p:nvSpPr>
          <p:cNvPr id="68" name="Rectangle 74"/>
          <p:cNvSpPr>
            <a:spLocks noGrp="1" noChangeShapeType="1"/>
          </p:cNvSpPr>
          <p:nvPr/>
        </p:nvSpPr>
        <p:spPr>
          <a:xfrm>
            <a:off x="755650" y="620712"/>
            <a:ext cx="7561262" cy="1179512"/>
          </a:xfrm>
          <a:prstGeom prst="rect">
            <a:avLst/>
          </a:prstGeom>
          <a:solidFill>
            <a:schemeClr val="lt1"/>
          </a:solidFill>
          <a:ln w="57150">
            <a:solidFill>
              <a:schemeClr val="accent1"/>
            </a:solidFill>
            <a:round/>
          </a:ln>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20000"/>
              </a:spcBef>
              <a:buNone/>
            </a:pPr>
            <a:r>
              <a:rPr lang="zh-CN" sz="2800" b="1" i="0" u="none">
                <a:latin typeface="黑体" pitchFamily="49" charset="-122"/>
                <a:ea typeface="黑体" pitchFamily="49" charset="-122"/>
              </a:rPr>
              <a:t>Gibbs提出的自由能公式：</a:t>
            </a:r>
            <a:endParaRPr lang="zh-CN" sz="2800" b="1" i="0" u="none">
              <a:latin typeface="黑体" pitchFamily="49" charset="-122"/>
              <a:ea typeface="黑体" pitchFamily="49" charset="-122"/>
            </a:endParaRPr>
          </a:p>
          <a:p>
            <a:pPr marL="0" lvl="0" indent="0" algn="ctr" hangingPunct="1">
              <a:spcBef>
                <a:spcPct val="20000"/>
              </a:spcBef>
              <a:buNone/>
            </a:pPr>
            <a:r>
              <a:rPr lang="en-US" sz="3300" b="1" i="0" u="none">
                <a:solidFill>
                  <a:srgbClr val="FF0000"/>
                </a:solidFill>
                <a:latin typeface="Times New Roman" panose="02020603050405020304"/>
              </a:rPr>
              <a:t>ΔG = ΔH – TΔS</a:t>
            </a:r>
            <a:endParaRPr lang="en-US" sz="3300" b="1" i="0" u="none">
              <a:solidFill>
                <a:srgbClr val="FF0000"/>
              </a:solidFill>
              <a:latin typeface="Times New Roman" panose="02020603050405020304"/>
            </a:endParaRPr>
          </a:p>
        </p:txBody>
      </p:sp>
      <p:sp>
        <p:nvSpPr>
          <p:cNvPr id="69" name="Rectangle 77"/>
          <p:cNvSpPr>
            <a:spLocks noGrp="1" noChangeShapeType="1"/>
          </p:cNvSpPr>
          <p:nvPr/>
        </p:nvSpPr>
        <p:spPr>
          <a:xfrm>
            <a:off x="1258887" y="4149725"/>
            <a:ext cx="6242050" cy="576262"/>
          </a:xfrm>
          <a:prstGeom prst="rect">
            <a:avLst/>
          </a:prstGeom>
          <a:noFill/>
        </p:spPr>
        <p:txBody>
          <a:bodyPr lIns="91440" tIns="45720" rIns="91440" bIns="45720"/>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spcBef>
                <a:spcPct val="20000"/>
              </a:spcBef>
              <a:buNone/>
            </a:pPr>
            <a:r>
              <a:rPr lang="en-US" sz="3300" b="1" i="0" u="none">
                <a:solidFill>
                  <a:srgbClr val="FF0000"/>
                </a:solidFill>
                <a:latin typeface="Times New Roman" panose="02020603050405020304"/>
              </a:rPr>
              <a:t>ΔG = - W’</a:t>
            </a:r>
            <a:r>
              <a:rPr lang="zh-CN" b="1" i="0" u="none">
                <a:latin typeface="楷体_GB2312" pitchFamily="49" charset="-122"/>
                <a:ea typeface="楷体_GB2312" pitchFamily="49" charset="-122"/>
              </a:rPr>
              <a:t> </a:t>
            </a:r>
            <a:r>
              <a:rPr lang="en-US" sz="2800" b="1" i="0" u="none">
                <a:solidFill>
                  <a:schemeClr val="lt2"/>
                </a:solidFill>
              </a:rPr>
              <a:t>(最大有用功)          </a:t>
            </a:r>
            <a:r>
              <a:rPr lang="zh-CN" sz="2800" b="1" i="0" u="none"/>
              <a:t>p27</a:t>
            </a:r>
            <a:r>
              <a:rPr lang="en-US" b="0" i="0" u="none"/>
              <a:t> </a:t>
            </a:r>
            <a:endParaRPr lang="en-US" b="0" i="0" u="none"/>
          </a:p>
        </p:txBody>
      </p:sp>
      <p:sp>
        <p:nvSpPr>
          <p:cNvPr id="70" name="Rectangle 78"/>
          <p:cNvSpPr>
            <a:spLocks noGrp="1" noChangeShapeType="1"/>
          </p:cNvSpPr>
          <p:nvPr/>
        </p:nvSpPr>
        <p:spPr>
          <a:xfrm>
            <a:off x="827087" y="4941887"/>
            <a:ext cx="7704137" cy="94615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en-US" sz="2800" b="0" i="0" u="none">
                <a:latin typeface="黑体" pitchFamily="49" charset="-122"/>
                <a:ea typeface="黑体" pitchFamily="49" charset="-122"/>
              </a:rPr>
              <a:t>可以通过测定系统所作的最大非体积功，带入Gibbs方程，进行自由能变化的测量和计算。</a:t>
            </a:r>
            <a:endParaRPr lang="en-US" sz="2800" b="0" i="0" u="none">
              <a:latin typeface="黑体" pitchFamily="49" charset="-122"/>
              <a:ea typeface="黑体"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40" presetClass="entr" presetSubtype="0" fill="hold" nodeType="clickEffect">
                                  <p:stCondLst>
                                    <p:cond delay="0"/>
                                  </p:stCondLst>
                                  <p:iterate type="lt">
                                    <p:tmPct val="10000"/>
                                  </p:iterate>
                                  <p:childTnLst>
                                    <p:set>
                                      <p:cBhvr>
                                        <p:cTn id="6" dur="1" fill="hold">
                                          <p:stCondLst>
                                            <p:cond delay="0"/>
                                          </p:stCondLst>
                                        </p:cTn>
                                        <p:tgtEl>
                                          <p:spTgt spid="68"/>
                                        </p:tgtEl>
                                        <p:attrNameLst>
                                          <p:attrName>style.visibility</p:attrName>
                                        </p:attrNameLst>
                                      </p:cBhvr>
                                      <p:to>
                                        <p:strVal val="visible"/>
                                      </p:to>
                                    </p:set>
                                    <p:animEffect transition="in" filter="fade">
                                      <p:cBhvr>
                                        <p:cTn id="7" dur="1000"/>
                                        <p:tgtEl>
                                          <p:spTgt spid="68"/>
                                        </p:tgtEl>
                                      </p:cBhvr>
                                    </p:animEffect>
                                    <p:anim calcmode="lin" valueType="num">
                                      <p:cBhvr>
                                        <p:cTn id="8" dur="1000" fill="hold"/>
                                        <p:tgtEl>
                                          <p:spTgt spid="68"/>
                                        </p:tgtEl>
                                        <p:attrNameLst>
                                          <p:attrName>ppt_x</p:attrName>
                                        </p:attrNameLst>
                                      </p:cBhvr>
                                      <p:tavLst>
                                        <p:tav tm="0">
                                          <p:val>
                                            <p:strVal val="#ppt_x-.1"/>
                                          </p:val>
                                        </p:tav>
                                        <p:tav tm="100000">
                                          <p:val>
                                            <p:strVal val="#ppt_x"/>
                                          </p:val>
                                        </p:tav>
                                      </p:tavLst>
                                    </p:anim>
                                    <p:anim calcmode="lin" valueType="num">
                                      <p:cBhvr>
                                        <p:cTn id="9" dur="1000" fill="hold"/>
                                        <p:tgtEl>
                                          <p:spTgt spid="68"/>
                                        </p:tgtEl>
                                        <p:attrNameLst>
                                          <p:attrName>ppt_y</p:attrName>
                                        </p:attrNameLst>
                                      </p:cBhvr>
                                      <p:tavLst>
                                        <p:tav tm="0">
                                          <p:val>
                                            <p:strVal val="#ppt_y"/>
                                          </p:val>
                                        </p:tav>
                                        <p:tav tm="100000">
                                          <p:val>
                                            <p:strVal val="#ppt_y"/>
                                          </p:val>
                                        </p:tav>
                                      </p:tavLst>
                                    </p:anim>
                                  </p:childTnLst>
                                </p:cTn>
                              </p:par>
                              <p:par>
                                <p:cTn id="10" presetID="1" presetClass="entr" presetSubtype="0" fill="hold" nodeType="withEffect">
                                  <p:stCondLst>
                                    <p:cond delay="0"/>
                                  </p:stCondLst>
                                  <p:childTnLst>
                                    <p:set>
                                      <p:cBhvr>
                                        <p:cTn id="11" dur="1" fill="hold">
                                          <p:stCondLst>
                                            <p:cond delay="0"/>
                                          </p:stCondLst>
                                        </p:cTn>
                                        <p:tgtEl>
                                          <p:spTgt spid="69">
                                            <p:txEl>
                                              <p:pRg st="0" end="32"/>
                                            </p:txEl>
                                          </p:spTgt>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72" name="Rectangle 3"/>
          <p:cNvSpPr>
            <a:spLocks noGrp="1" noChangeShapeType="1"/>
          </p:cNvSpPr>
          <p:nvPr>
            <p:ph type="body"/>
          </p:nvPr>
        </p:nvSpPr>
        <p:spPr>
          <a:xfrm>
            <a:off x="1692275" y="1341437"/>
            <a:ext cx="6192837" cy="4530725"/>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lnSpc>
                <a:spcPct val="135000"/>
              </a:lnSpc>
              <a:spcBef>
                <a:spcPct val="20000"/>
              </a:spcBef>
              <a:buNone/>
            </a:pPr>
            <a:r>
              <a:rPr lang="zh-CN" sz="2800" b="1" i="0" u="none">
                <a:ea typeface="黑体" pitchFamily="49" charset="-122"/>
              </a:rPr>
              <a:t>2.1 标准自由能与反应平衡常数</a:t>
            </a:r>
            <a:endParaRPr lang="zh-CN" sz="2800" b="1" i="0" u="none">
              <a:ea typeface="黑体" pitchFamily="49" charset="-122"/>
            </a:endParaRPr>
          </a:p>
          <a:p>
            <a:pPr marL="342900" lvl="0" indent="-342900" hangingPunct="1">
              <a:lnSpc>
                <a:spcPct val="135000"/>
              </a:lnSpc>
              <a:spcBef>
                <a:spcPct val="20000"/>
              </a:spcBef>
              <a:buNone/>
            </a:pPr>
            <a:r>
              <a:rPr lang="zh-CN" sz="2800" b="1" i="0" u="none">
                <a:ea typeface="黑体" pitchFamily="49" charset="-122"/>
              </a:rPr>
              <a:t>2.2 标准自由能变化的可加性及其意义</a:t>
            </a:r>
            <a:endParaRPr lang="zh-CN" sz="2800" b="1" i="0" u="none">
              <a:ea typeface="黑体" pitchFamily="49" charset="-122"/>
            </a:endParaRPr>
          </a:p>
          <a:p>
            <a:pPr marL="342900" lvl="0" indent="-342900" hangingPunct="1">
              <a:lnSpc>
                <a:spcPct val="135000"/>
              </a:lnSpc>
              <a:spcBef>
                <a:spcPct val="20000"/>
              </a:spcBef>
              <a:buNone/>
            </a:pPr>
            <a:r>
              <a:rPr lang="zh-CN" sz="2800" b="1" i="0" u="none">
                <a:ea typeface="黑体" pitchFamily="49" charset="-122"/>
              </a:rPr>
              <a:t>2.3 标准生成自由能 </a:t>
            </a:r>
            <a:endParaRPr lang="en-US" sz="2800"/>
          </a:p>
          <a:p>
            <a:pPr marL="342900" lvl="0" indent="-342900" hangingPunct="1">
              <a:lnSpc>
                <a:spcPct val="135000"/>
              </a:lnSpc>
              <a:spcBef>
                <a:spcPct val="20000"/>
              </a:spcBef>
              <a:buNone/>
            </a:pPr>
            <a:r>
              <a:rPr lang="zh-CN" sz="2800" b="1" i="0" u="none">
                <a:ea typeface="黑体" pitchFamily="49" charset="-122"/>
              </a:rPr>
              <a:t>2.4 化学反应方向与自由能</a:t>
            </a:r>
            <a:endParaRPr lang="zh-CN" sz="2800" b="1" i="0" u="none">
              <a:ea typeface="黑体" pitchFamily="49" charset="-122"/>
            </a:endParaRPr>
          </a:p>
        </p:txBody>
      </p:sp>
      <p:sp>
        <p:nvSpPr>
          <p:cNvPr id="73" name="Rectangle 6"/>
          <p:cNvSpPr>
            <a:spLocks noGrp="1" noChangeShapeType="1"/>
          </p:cNvSpPr>
          <p:nvPr/>
        </p:nvSpPr>
        <p:spPr>
          <a:xfrm>
            <a:off x="827087" y="476250"/>
            <a:ext cx="6985000" cy="579437"/>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b="1" i="0" u="none">
                <a:latin typeface="黑体" pitchFamily="49" charset="-122"/>
                <a:ea typeface="黑体" pitchFamily="49" charset="-122"/>
              </a:rPr>
              <a:t>2. 化学反应中的自由能变化和意义</a:t>
            </a:r>
            <a:endParaRPr lang="zh-CN" b="1" i="0" u="none">
              <a:latin typeface="黑体" pitchFamily="49" charset="-122"/>
              <a:ea typeface="黑体"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72">
                                            <p:txEl>
                                              <p:pRg st="0" end="17"/>
                                            </p:txEl>
                                          </p:spTgt>
                                        </p:tgtEl>
                                        <p:attrNameLst>
                                          <p:attrName>style.visibility</p:attrName>
                                        </p:attrNameLst>
                                      </p:cBhvr>
                                      <p:to>
                                        <p:strVal val="visible"/>
                                      </p:to>
                                    </p:set>
                                    <p:animEffect transition="in" filter="slide(fromBottom)">
                                      <p:cBhvr>
                                        <p:cTn id="7" dur="500"/>
                                        <p:tgtEl>
                                          <p:spTgt spid="72">
                                            <p:txEl>
                                              <p:pRg st="0" end="17"/>
                                            </p:txEl>
                                          </p:spTgt>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72">
                                            <p:txEl>
                                              <p:pRg st="17" end="37"/>
                                            </p:txEl>
                                          </p:spTgt>
                                        </p:tgtEl>
                                        <p:attrNameLst>
                                          <p:attrName>style.visibility</p:attrName>
                                        </p:attrNameLst>
                                      </p:cBhvr>
                                      <p:to>
                                        <p:strVal val="visible"/>
                                      </p:to>
                                    </p:set>
                                    <p:animEffect transition="in" filter="slide(fromBottom)">
                                      <p:cBhvr>
                                        <p:cTn id="11" dur="500"/>
                                        <p:tgtEl>
                                          <p:spTgt spid="72">
                                            <p:txEl>
                                              <p:pRg st="17" end="37"/>
                                            </p:txEl>
                                          </p:spTgt>
                                        </p:tgtEl>
                                      </p:cBhvr>
                                    </p:animEffect>
                                  </p:childTnLst>
                                </p:cTn>
                              </p:par>
                            </p:childTnLst>
                          </p:cTn>
                        </p:par>
                        <p:par>
                          <p:cTn id="12" fill="hold">
                            <p:stCondLst>
                              <p:cond delay="1000"/>
                            </p:stCondLst>
                            <p:childTnLst>
                              <p:par>
                                <p:cTn id="13" presetID="12" presetClass="entr" presetSubtype="4" fill="hold" nodeType="afterEffect">
                                  <p:stCondLst>
                                    <p:cond delay="0"/>
                                  </p:stCondLst>
                                  <p:childTnLst>
                                    <p:set>
                                      <p:cBhvr>
                                        <p:cTn id="14" dur="1" fill="hold">
                                          <p:stCondLst>
                                            <p:cond delay="0"/>
                                          </p:stCondLst>
                                        </p:cTn>
                                        <p:tgtEl>
                                          <p:spTgt spid="72">
                                            <p:txEl>
                                              <p:pRg st="37" end="50"/>
                                            </p:txEl>
                                          </p:spTgt>
                                        </p:tgtEl>
                                        <p:attrNameLst>
                                          <p:attrName>style.visibility</p:attrName>
                                        </p:attrNameLst>
                                      </p:cBhvr>
                                      <p:to>
                                        <p:strVal val="visible"/>
                                      </p:to>
                                    </p:set>
                                    <p:animEffect transition="in" filter="slide(fromBottom)">
                                      <p:cBhvr>
                                        <p:cTn id="15" dur="500"/>
                                        <p:tgtEl>
                                          <p:spTgt spid="72">
                                            <p:txEl>
                                              <p:pRg st="37" end="50"/>
                                            </p:txEl>
                                          </p:spTgt>
                                        </p:tgtEl>
                                      </p:cBhvr>
                                    </p:animEffect>
                                  </p:childTnLst>
                                </p:cTn>
                              </p:par>
                            </p:childTnLst>
                          </p:cTn>
                        </p:par>
                        <p:par>
                          <p:cTn id="16" fill="hold">
                            <p:stCondLst>
                              <p:cond delay="1500"/>
                            </p:stCondLst>
                            <p:childTnLst>
                              <p:par>
                                <p:cTn id="17" presetID="12" presetClass="entr" presetSubtype="4" fill="hold" nodeType="afterEffect">
                                  <p:stCondLst>
                                    <p:cond delay="0"/>
                                  </p:stCondLst>
                                  <p:childTnLst>
                                    <p:set>
                                      <p:cBhvr>
                                        <p:cTn id="18" dur="1" fill="hold">
                                          <p:stCondLst>
                                            <p:cond delay="0"/>
                                          </p:stCondLst>
                                        </p:cTn>
                                        <p:tgtEl>
                                          <p:spTgt spid="72">
                                            <p:txEl>
                                              <p:pRg st="50" end="65"/>
                                            </p:txEl>
                                          </p:spTgt>
                                        </p:tgtEl>
                                        <p:attrNameLst>
                                          <p:attrName>style.visibility</p:attrName>
                                        </p:attrNameLst>
                                      </p:cBhvr>
                                      <p:to>
                                        <p:strVal val="visible"/>
                                      </p:to>
                                    </p:set>
                                    <p:animEffect transition="in" filter="slide(fromBottom)">
                                      <p:cBhvr>
                                        <p:cTn id="19" dur="500"/>
                                        <p:tgtEl>
                                          <p:spTgt spid="72">
                                            <p:txEl>
                                              <p:pRg st="50" end="65"/>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74" name=""/>
        <p:cNvGrpSpPr/>
        <p:nvPr/>
      </p:nvGrpSpPr>
      <p:grpSpPr>
        <a:xfrm>
          <a:off x="0" y="0"/>
          <a:ext cx="0" cy="0"/>
          <a:chOff x="0" y="0"/>
          <a:chExt cx="0" cy="0"/>
        </a:xfrm>
      </p:grpSpPr>
      <p:sp>
        <p:nvSpPr>
          <p:cNvPr id="75" name="Rectangle 2"/>
          <p:cNvSpPr>
            <a:spLocks noGrp="1" noChangeShapeType="1"/>
          </p:cNvSpPr>
          <p:nvPr>
            <p:ph type="title"/>
          </p:nvPr>
        </p:nvSpPr>
        <p:spPr>
          <a:xfrm>
            <a:off x="206375" y="285750"/>
            <a:ext cx="7345362" cy="752475"/>
          </a:xfrm>
          <a:prstGeom prst="rect">
            <a:avLst/>
          </a:prstGeom>
          <a:noFill/>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3200" b="1" i="0" u="none">
                <a:latin typeface="Times New Roman" panose="02020603050405020304"/>
                <a:ea typeface="黑体" pitchFamily="49" charset="-122"/>
              </a:rPr>
              <a:t>2.1 标准自由能变化与反应平衡常数</a:t>
            </a:r>
            <a:endParaRPr lang="zh-CN" sz="3200" b="1" i="0" u="none">
              <a:latin typeface="Times New Roman" panose="02020603050405020304"/>
              <a:ea typeface="黑体" pitchFamily="49" charset="-122"/>
            </a:endParaRPr>
          </a:p>
        </p:txBody>
      </p:sp>
      <p:sp>
        <p:nvSpPr>
          <p:cNvPr id="76" name="Rectangle 3"/>
          <p:cNvSpPr>
            <a:spLocks noGrp="1" noChangeShapeType="1"/>
          </p:cNvSpPr>
          <p:nvPr>
            <p:ph type="body"/>
          </p:nvPr>
        </p:nvSpPr>
        <p:spPr>
          <a:xfrm>
            <a:off x="611187" y="981075"/>
            <a:ext cx="8064500" cy="5040312"/>
          </a:xfrm>
          <a:prstGeom prst="rect">
            <a:avLst/>
          </a:prstGeom>
          <a:solidFill>
            <a:schemeClr val="lt1"/>
          </a:solidFill>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20000"/>
              </a:spcBef>
              <a:buNone/>
            </a:pPr>
            <a:r>
              <a:rPr lang="en-US" sz="2800">
                <a:latin typeface="黑体" pitchFamily="49" charset="-122"/>
                <a:ea typeface="黑体" pitchFamily="49" charset="-122"/>
              </a:rPr>
              <a:t>2.1.1</a:t>
            </a:r>
            <a:r>
              <a:rPr lang="zh-CN" sz="2800">
                <a:solidFill>
                  <a:srgbClr val="AE1E39"/>
                </a:solidFill>
                <a:latin typeface="黑体" pitchFamily="49" charset="-122"/>
                <a:ea typeface="黑体" pitchFamily="49" charset="-122"/>
              </a:rPr>
              <a:t> 标准状态</a:t>
            </a:r>
            <a:r>
              <a:rPr lang="zh-CN" sz="2800">
                <a:latin typeface="黑体" pitchFamily="49" charset="-122"/>
                <a:ea typeface="黑体" pitchFamily="49" charset="-122"/>
              </a:rPr>
              <a:t>（</a:t>
            </a:r>
            <a:r>
              <a:rPr lang="en-US" sz="2800" b="0" i="0" u="none"/>
              <a:t>p32）</a:t>
            </a:r>
            <a:r>
              <a:rPr lang="zh-CN" sz="2800" b="0" i="0" u="none">
                <a:solidFill>
                  <a:srgbClr val="AE1E39"/>
                </a:solidFill>
                <a:latin typeface="黑体" pitchFamily="49" charset="-122"/>
                <a:ea typeface="黑体" pitchFamily="49" charset="-122"/>
              </a:rPr>
              <a:t> </a:t>
            </a:r>
            <a:r>
              <a:rPr lang="en-US" sz="2800" b="0" i="0" u="none"/>
              <a:t>:</a:t>
            </a:r>
            <a:endParaRPr lang="en-US" sz="2800" b="0" i="0" u="none"/>
          </a:p>
          <a:p>
            <a:pPr marL="0" lvl="0" indent="0" hangingPunct="1">
              <a:spcBef>
                <a:spcPts val="0"/>
              </a:spcBef>
              <a:buNone/>
            </a:pPr>
            <a:r>
              <a:rPr lang="en-US" sz="2800" b="0" i="0" u="none">
                <a:ea typeface="黑体" pitchFamily="49" charset="-122"/>
              </a:rPr>
              <a:t>    </a:t>
            </a:r>
            <a:r>
              <a:rPr lang="en-US" sz="2800" b="0" i="0" u="none">
                <a:ea typeface="黑体" pitchFamily="49" charset="-122"/>
              </a:rPr>
              <a:t> </a:t>
            </a:r>
            <a:r>
              <a:rPr lang="en-US" sz="2800" b="1" i="0" u="none">
                <a:latin typeface="楷体_GB2312" pitchFamily="49" charset="-122"/>
                <a:ea typeface="楷体_GB2312" pitchFamily="49" charset="-122"/>
              </a:rPr>
              <a:t>(</a:t>
            </a:r>
            <a:r>
              <a:rPr lang="en-US" sz="2800" b="1" i="0" u="none">
                <a:latin typeface="楷体_GB2312" pitchFamily="49" charset="-122"/>
                <a:ea typeface="楷体_GB2312" pitchFamily="49" charset="-122"/>
              </a:rPr>
              <a:t>1) 298 K (25 ℃)</a:t>
            </a:r>
            <a:endParaRPr lang="en-US" sz="2800" b="1" i="0" u="none">
              <a:latin typeface="楷体_GB2312" pitchFamily="49" charset="-122"/>
              <a:ea typeface="楷体_GB2312" pitchFamily="49" charset="-122"/>
            </a:endParaRPr>
          </a:p>
          <a:p>
            <a:pPr marL="0" lvl="0" indent="0" hangingPunct="1">
              <a:spcBef>
                <a:spcPts val="0"/>
              </a:spcBef>
              <a:buNone/>
            </a:pPr>
            <a:r>
              <a:rPr lang="en-US" sz="2800" b="1" i="0" u="none">
                <a:latin typeface="楷体_GB2312" pitchFamily="49" charset="-122"/>
                <a:ea typeface="楷体_GB2312" pitchFamily="49" charset="-122"/>
              </a:rPr>
              <a:t>    (2) 反应物和产物的初始浓度为1 mol/L </a:t>
            </a:r>
            <a:endParaRPr lang="en-US" sz="2800" b="1" i="0" u="none">
              <a:latin typeface="楷体_GB2312" pitchFamily="49" charset="-122"/>
              <a:ea typeface="楷体_GB2312" pitchFamily="49" charset="-122"/>
            </a:endParaRPr>
          </a:p>
          <a:p>
            <a:pPr marL="0" lvl="0" indent="0" hangingPunct="1">
              <a:spcBef>
                <a:spcPts val="0"/>
              </a:spcBef>
              <a:buNone/>
            </a:pPr>
            <a:r>
              <a:rPr lang="en-US" sz="2800" b="1" i="0" u="none">
                <a:latin typeface="楷体_GB2312" pitchFamily="49" charset="-122"/>
                <a:ea typeface="楷体_GB2312" pitchFamily="49" charset="-122"/>
              </a:rPr>
              <a:t>    (3) 气体分压为101.3 kPa (1 atm)</a:t>
            </a:r>
            <a:endParaRPr lang="en-US" sz="2800" b="1" i="0" u="none">
              <a:latin typeface="楷体_GB2312" pitchFamily="49" charset="-122"/>
              <a:ea typeface="楷体_GB2312" pitchFamily="49" charset="-122"/>
            </a:endParaRPr>
          </a:p>
          <a:p>
            <a:pPr marL="0" lvl="0" indent="0" hangingPunct="1">
              <a:spcBef>
                <a:spcPts val="0"/>
              </a:spcBef>
              <a:buNone/>
            </a:pPr>
            <a:r>
              <a:rPr lang="en-US" sz="2800" b="1" i="0" u="none">
                <a:latin typeface="楷体_GB2312" pitchFamily="49" charset="-122"/>
                <a:ea typeface="楷体_GB2312" pitchFamily="49" charset="-122"/>
              </a:rPr>
              <a:t>    (4) [H</a:t>
            </a:r>
            <a:r>
              <a:rPr lang="zh-CN" sz="2800" b="1" i="0" u="none" baseline="30000">
                <a:latin typeface="楷体_GB2312" pitchFamily="49" charset="-122"/>
                <a:ea typeface="楷体_GB2312" pitchFamily="49" charset="-122"/>
              </a:rPr>
              <a:t>+</a:t>
            </a:r>
            <a:r>
              <a:rPr lang="en-US" sz="2800" b="1" i="0" u="none">
                <a:latin typeface="楷体_GB2312" pitchFamily="49" charset="-122"/>
                <a:ea typeface="楷体_GB2312" pitchFamily="49" charset="-122"/>
              </a:rPr>
              <a:t>] = 1 mol/L , or pH＝0.</a:t>
            </a:r>
            <a:r>
              <a:rPr lang="zh-CN" sz="2800" b="1" i="0" u="none">
                <a:ea typeface="黑体" pitchFamily="49" charset="-122"/>
              </a:rPr>
              <a:t> </a:t>
            </a:r>
            <a:endParaRPr lang="zh-CN" sz="2800" b="1" i="0" u="none">
              <a:ea typeface="黑体" pitchFamily="49" charset="-122"/>
            </a:endParaRPr>
          </a:p>
          <a:p>
            <a:pPr marL="0" lvl="0" indent="0" hangingPunct="1">
              <a:spcBef>
                <a:spcPct val="20000"/>
              </a:spcBef>
              <a:buNone/>
            </a:pPr>
            <a:r>
              <a:rPr lang="en-US" sz="2800" b="0" i="0" u="none">
                <a:latin typeface="黑体" pitchFamily="49" charset="-122"/>
                <a:ea typeface="黑体" pitchFamily="49" charset="-122"/>
              </a:rPr>
              <a:t>上述条件下，体系反应前后的自由能变化被规定为该反应体系的</a:t>
            </a:r>
            <a:r>
              <a:rPr lang="zh-CN" sz="2800" b="0" i="0" u="none">
                <a:solidFill>
                  <a:srgbClr val="AE1E39"/>
                </a:solidFill>
                <a:latin typeface="黑体" pitchFamily="49" charset="-122"/>
                <a:ea typeface="黑体" pitchFamily="49" charset="-122"/>
              </a:rPr>
              <a:t>标准自由能变化</a:t>
            </a:r>
            <a:r>
              <a:rPr lang="en-US" sz="2800" b="0" i="0" u="none">
                <a:latin typeface="黑体" pitchFamily="49" charset="-122"/>
                <a:ea typeface="黑体" pitchFamily="49" charset="-122"/>
              </a:rPr>
              <a:t>，用</a:t>
            </a:r>
            <a:r>
              <a:rPr lang="zh-CN" sz="2800" b="1" i="0" u="none">
                <a:solidFill>
                  <a:srgbClr val="AE1E39"/>
                </a:solidFill>
                <a:latin typeface="黑体" pitchFamily="49" charset="-122"/>
                <a:ea typeface="黑体" pitchFamily="49" charset="-122"/>
              </a:rPr>
              <a:t>ΔG</a:t>
            </a:r>
            <a:r>
              <a:rPr lang="en-US" sz="2800" b="1" i="0" u="none" baseline="30000">
                <a:solidFill>
                  <a:srgbClr val="AE1E39"/>
                </a:solidFill>
                <a:latin typeface="黑体" pitchFamily="49" charset="-122"/>
                <a:ea typeface="黑体" pitchFamily="49" charset="-122"/>
              </a:rPr>
              <a:t>0 </a:t>
            </a:r>
            <a:r>
              <a:rPr lang="zh-CN" sz="2800" b="0" i="0" u="none">
                <a:latin typeface="黑体" pitchFamily="49" charset="-122"/>
                <a:ea typeface="黑体" pitchFamily="49" charset="-122"/>
              </a:rPr>
              <a:t>表示。</a:t>
            </a:r>
            <a:endParaRPr lang="zh-CN" sz="2800" b="0" i="0" u="none">
              <a:latin typeface="黑体" pitchFamily="49" charset="-122"/>
              <a:ea typeface="黑体" pitchFamily="49" charset="-122"/>
            </a:endParaRPr>
          </a:p>
          <a:p>
            <a:pPr marL="0" lvl="0" indent="0" hangingPunct="1">
              <a:spcBef>
                <a:spcPct val="20000"/>
              </a:spcBef>
              <a:buNone/>
            </a:pPr>
            <a:endParaRPr lang="en-US" sz="2800"/>
          </a:p>
          <a:p>
            <a:pPr marL="0" lvl="0" indent="0" hangingPunct="1">
              <a:spcBef>
                <a:spcPct val="20000"/>
              </a:spcBef>
              <a:buNone/>
            </a:pPr>
            <a:r>
              <a:rPr lang="en-US" sz="2800" b="0" i="0" u="none">
                <a:solidFill>
                  <a:srgbClr val="AE1E39"/>
                </a:solidFill>
                <a:latin typeface="黑体" pitchFamily="49" charset="-122"/>
                <a:ea typeface="黑体" pitchFamily="49" charset="-122"/>
              </a:rPr>
              <a:t>生物化学标准状态</a:t>
            </a:r>
            <a:r>
              <a:rPr lang="zh-CN" sz="2800" b="0" i="0" u="none">
                <a:effectLst>
                  <a:outerShdw blurRad="38100" dist="38100" dir="2700000" algn="tl">
                    <a:srgbClr val="000000">
                      <a:alpha val="43137"/>
                    </a:srgbClr>
                  </a:outerShdw>
                </a:effectLst>
              </a:rPr>
              <a:t>: pH＝7，</a:t>
            </a:r>
            <a:r>
              <a:rPr lang="en-US" sz="2800" b="0" i="0" u="none">
                <a:latin typeface="黑体" pitchFamily="49" charset="-122"/>
                <a:ea typeface="黑体" pitchFamily="49" charset="-122"/>
              </a:rPr>
              <a:t>其他条件与上述相同，用</a:t>
            </a:r>
            <a:r>
              <a:rPr lang="zh-CN" sz="2800" b="0" i="0" u="none">
                <a:solidFill>
                  <a:srgbClr val="AE1E39"/>
                </a:solidFill>
                <a:latin typeface="黑体" pitchFamily="49" charset="-122"/>
                <a:ea typeface="黑体" pitchFamily="49" charset="-122"/>
              </a:rPr>
              <a:t>ΔG</a:t>
            </a:r>
            <a:r>
              <a:rPr lang="en-US" sz="2800" b="1" i="0" u="none" baseline="30000">
                <a:solidFill>
                  <a:srgbClr val="AE1E39"/>
                </a:solidFill>
                <a:latin typeface="黑体" pitchFamily="49" charset="-122"/>
                <a:ea typeface="黑体" pitchFamily="49" charset="-122"/>
              </a:rPr>
              <a:t>0</a:t>
            </a:r>
            <a:r>
              <a:rPr lang="zh-CN" sz="2800" b="1" i="0" u="none" baseline="30000">
                <a:solidFill>
                  <a:srgbClr val="AE1E39"/>
                </a:solidFill>
                <a:ea typeface="黑体" pitchFamily="49" charset="-122"/>
              </a:rPr>
              <a:t>’</a:t>
            </a:r>
            <a:r>
              <a:rPr lang="en-US" sz="2800" b="0" i="0" u="none">
                <a:latin typeface="黑体" pitchFamily="49" charset="-122"/>
                <a:ea typeface="黑体" pitchFamily="49" charset="-122"/>
              </a:rPr>
              <a:t>表示反应前后的自由能变化。</a:t>
            </a:r>
            <a:endParaRPr lang="en-US" sz="2800" b="0" i="0" u="none">
              <a:latin typeface="黑体" pitchFamily="49" charset="-122"/>
              <a:ea typeface="黑体" pitchFamily="49" charset="-122"/>
            </a:endParaRPr>
          </a:p>
        </p:txBody>
      </p:sp>
      <p:pic>
        <p:nvPicPr>
          <p:cNvPr id="77" name="Object 6"/>
          <p:cNvPicPr>
            <a:picLocks noGrp="1" noChangeAspect="1"/>
          </p:cNvPicPr>
          <p:nvPr/>
        </p:nvPicPr>
        <p:blipFill>
          <a:blip r:embed="rId1"/>
          <a:srcRect/>
          <a:stretch>
            <a:fillRect/>
          </a:stretch>
        </p:blipFill>
        <p:spPr>
          <a:xfrm>
            <a:off x="3581400" y="3810000"/>
            <a:ext cx="139700" cy="292100"/>
          </a:xfrm>
          <a:prstGeom prst="rect">
            <a:avLst/>
          </a:prstGeom>
          <a:noFill/>
        </p:spPr>
      </p:pic>
      <p:sp>
        <p:nvSpPr>
          <p:cNvPr id="78" name="Text Box 7"/>
          <p:cNvSpPr txBox="1">
            <a:spLocks noGrp="1" noChangeShapeType="1"/>
          </p:cNvSpPr>
          <p:nvPr/>
        </p:nvSpPr>
        <p:spPr>
          <a:xfrm>
            <a:off x="684212" y="5734050"/>
            <a:ext cx="7559675" cy="822325"/>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2400" b="1" i="0" u="none">
                <a:solidFill>
                  <a:srgbClr val="AE1E39"/>
                </a:solidFill>
                <a:latin typeface="楷体_GB2312" pitchFamily="49" charset="-122"/>
                <a:ea typeface="楷体_GB2312" pitchFamily="49" charset="-122"/>
              </a:rPr>
              <a:t>注意：热力学标准状态与生化标准状态的唯一差别是H</a:t>
            </a:r>
            <a:r>
              <a:rPr lang="en-US" sz="2400" b="1" i="0" u="none" baseline="30000">
                <a:solidFill>
                  <a:srgbClr val="AE1E39"/>
                </a:solidFill>
                <a:latin typeface="楷体_GB2312" pitchFamily="49" charset="-122"/>
                <a:ea typeface="楷体_GB2312" pitchFamily="49" charset="-122"/>
              </a:rPr>
              <a:t>+</a:t>
            </a:r>
            <a:r>
              <a:rPr lang="zh-CN" sz="2400" b="1" i="0" u="none">
                <a:solidFill>
                  <a:srgbClr val="AE1E39"/>
                </a:solidFill>
                <a:latin typeface="楷体_GB2312" pitchFamily="49" charset="-122"/>
                <a:ea typeface="楷体_GB2312" pitchFamily="49" charset="-122"/>
              </a:rPr>
              <a:t>浓度（即体系的pH值）不同。</a:t>
            </a:r>
            <a:endParaRPr lang="zh-CN" sz="2400" b="1" i="0" u="none">
              <a:solidFill>
                <a:srgbClr val="AE1E39"/>
              </a:solidFill>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6">
                                            <p:txEl>
                                              <p:pRg st="0" end="18"/>
                                            </p:txEl>
                                          </p:spTgt>
                                        </p:tgtEl>
                                        <p:attrNameLst>
                                          <p:attrName>style.visibility</p:attrName>
                                        </p:attrNameLst>
                                      </p:cBhvr>
                                      <p:to>
                                        <p:strVal val="visible"/>
                                      </p:to>
                                    </p:set>
                                    <p:animEffect transition="in" filter="checkerboard(across)">
                                      <p:cBhvr>
                                        <p:cTn id="7" dur="500"/>
                                        <p:tgtEl>
                                          <p:spTgt spid="76">
                                            <p:txEl>
                                              <p:p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76">
                                            <p:txEl>
                                              <p:pRg st="18" end="40"/>
                                            </p:txEl>
                                          </p:spTgt>
                                        </p:tgtEl>
                                        <p:attrNameLst>
                                          <p:attrName>style.visibility</p:attrName>
                                        </p:attrNameLst>
                                      </p:cBhvr>
                                      <p:to>
                                        <p:strVal val="visible"/>
                                      </p:to>
                                    </p:set>
                                    <p:animEffect transition="in" filter="checkerboard(across)">
                                      <p:cBhvr>
                                        <p:cTn id="12" dur="500"/>
                                        <p:tgtEl>
                                          <p:spTgt spid="76">
                                            <p:txEl>
                                              <p:pRg st="18"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76">
                                            <p:txEl>
                                              <p:pRg st="40" end="69"/>
                                            </p:txEl>
                                          </p:spTgt>
                                        </p:tgtEl>
                                        <p:attrNameLst>
                                          <p:attrName>style.visibility</p:attrName>
                                        </p:attrNameLst>
                                      </p:cBhvr>
                                      <p:to>
                                        <p:strVal val="visible"/>
                                      </p:to>
                                    </p:set>
                                    <p:animEffect transition="in" filter="checkerboard(across)">
                                      <p:cBhvr>
                                        <p:cTn id="17" dur="500"/>
                                        <p:tgtEl>
                                          <p:spTgt spid="76">
                                            <p:txEl>
                                              <p:pRg st="40" end="6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76">
                                            <p:txEl>
                                              <p:pRg st="69" end="100"/>
                                            </p:txEl>
                                          </p:spTgt>
                                        </p:tgtEl>
                                        <p:attrNameLst>
                                          <p:attrName>style.visibility</p:attrName>
                                        </p:attrNameLst>
                                      </p:cBhvr>
                                      <p:to>
                                        <p:strVal val="visible"/>
                                      </p:to>
                                    </p:set>
                                    <p:animEffect transition="in" filter="checkerboard(across)">
                                      <p:cBhvr>
                                        <p:cTn id="22" dur="500"/>
                                        <p:tgtEl>
                                          <p:spTgt spid="76">
                                            <p:txEl>
                                              <p:pRg st="69" end="10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76">
                                            <p:txEl>
                                              <p:pRg st="100" end="135"/>
                                            </p:txEl>
                                          </p:spTgt>
                                        </p:tgtEl>
                                        <p:attrNameLst>
                                          <p:attrName>style.visibility</p:attrName>
                                        </p:attrNameLst>
                                      </p:cBhvr>
                                      <p:to>
                                        <p:strVal val="visible"/>
                                      </p:to>
                                    </p:set>
                                    <p:animEffect transition="in" filter="checkerboard(across)">
                                      <p:cBhvr>
                                        <p:cTn id="27" dur="500"/>
                                        <p:tgtEl>
                                          <p:spTgt spid="76">
                                            <p:txEl>
                                              <p:pRg st="100" end="13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6">
                                            <p:txEl>
                                              <p:pRg st="135" end="18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nodeType="clickEffect">
                                  <p:stCondLst>
                                    <p:cond delay="0"/>
                                  </p:stCondLst>
                                  <p:childTnLst>
                                    <p:set>
                                      <p:cBhvr>
                                        <p:cTn id="35" dur="1" fill="hold">
                                          <p:stCondLst>
                                            <p:cond delay="0"/>
                                          </p:stCondLst>
                                        </p:cTn>
                                        <p:tgtEl>
                                          <p:spTgt spid="76">
                                            <p:txEl>
                                              <p:pRg st="181" end="225"/>
                                            </p:txEl>
                                          </p:spTgt>
                                        </p:tgtEl>
                                        <p:attrNameLst>
                                          <p:attrName>style.visibility</p:attrName>
                                        </p:attrNameLst>
                                      </p:cBhvr>
                                      <p:to>
                                        <p:strVal val="visible"/>
                                      </p:to>
                                    </p:set>
                                    <p:animEffect transition="in" filter="checkerboard(across)">
                                      <p:cBhvr>
                                        <p:cTn id="36" dur="500"/>
                                        <p:tgtEl>
                                          <p:spTgt spid="76">
                                            <p:txEl>
                                              <p:pRg st="181" end="22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box(in)">
                                      <p:cBhvr>
                                        <p:cTn id="41" dur="500"/>
                                        <p:tgtEl>
                                          <p:spTgt spid="78"/>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79" name=""/>
        <p:cNvGrpSpPr/>
        <p:nvPr/>
      </p:nvGrpSpPr>
      <p:grpSpPr>
        <a:xfrm>
          <a:off x="0" y="0"/>
          <a:ext cx="0" cy="0"/>
          <a:chOff x="0" y="0"/>
          <a:chExt cx="0" cy="0"/>
        </a:xfrm>
      </p:grpSpPr>
      <p:sp>
        <p:nvSpPr>
          <p:cNvPr id="80" name="Rectangle 2"/>
          <p:cNvSpPr>
            <a:spLocks noGrp="1" noChangeShapeType="1"/>
          </p:cNvSpPr>
          <p:nvPr/>
        </p:nvSpPr>
        <p:spPr>
          <a:xfrm>
            <a:off x="755650" y="1628775"/>
            <a:ext cx="7848600" cy="1311275"/>
          </a:xfrm>
          <a:prstGeom prst="rect">
            <a:avLst/>
          </a:prstGeom>
          <a:noFill/>
        </p:spPr>
        <p:txBody>
          <a:bodyPr lIns="91440" tIns="45720" rIns="91440" bIns="45720">
            <a:spAutoFit/>
          </a:bodyPr>
          <a:lstStyle/>
          <a:p>
            <a:pPr lvl="0" hangingPunct="1"/>
            <a:r>
              <a:rPr lang="zh-CN" sz="2400" b="1" i="0" u="none">
                <a:latin typeface="黑体" pitchFamily="49" charset="-122"/>
                <a:ea typeface="楷体_GB2312" pitchFamily="49" charset="-122"/>
              </a:rPr>
              <a:t>当体系到达反应动态平衡时，各物质浓度比为化学反应表观反应平衡常数</a:t>
            </a:r>
            <a:r>
              <a:rPr lang="zh-CN" sz="2400" b="1" i="0" u="none">
                <a:ea typeface="楷体_GB2312" pitchFamily="49" charset="-122"/>
              </a:rPr>
              <a:t>：</a:t>
            </a:r>
            <a:r>
              <a:rPr lang="en-US" sz="2800" b="0" i="0" u="none">
                <a:effectLst>
                  <a:outerShdw blurRad="38100" dist="38100" dir="2700000" algn="tl">
                    <a:srgbClr val="000000">
                      <a:alpha val="43137"/>
                    </a:srgbClr>
                  </a:outerShdw>
                </a:effectLst>
              </a:rPr>
              <a:t> </a:t>
            </a:r>
            <a:endParaRPr lang="en-US" sz="2800" b="0" i="0" u="none">
              <a:effectLst>
                <a:outerShdw blurRad="38100" dist="38100" dir="2700000" algn="tl">
                  <a:srgbClr val="000000">
                    <a:alpha val="43137"/>
                  </a:srgbClr>
                </a:outerShdw>
              </a:effectLst>
            </a:endParaRPr>
          </a:p>
          <a:p>
            <a:pPr lvl="0" hangingPunct="1"/>
            <a:r>
              <a:rPr lang="en-US" sz="2800" b="0" i="0" u="none">
                <a:effectLst>
                  <a:outerShdw blurRad="38100" dist="38100" dir="2700000" algn="tl">
                    <a:srgbClr val="000000">
                      <a:alpha val="43137"/>
                    </a:srgbClr>
                  </a:outerShdw>
                </a:effectLst>
              </a:rPr>
              <a:t>              </a:t>
            </a:r>
            <a:r>
              <a:rPr lang="en-US" sz="2800" b="1" i="0" u="none">
                <a:effectLst>
                  <a:outerShdw blurRad="38100" dist="38100" dir="2700000" algn="tl">
                    <a:srgbClr val="000000">
                      <a:alpha val="43137"/>
                    </a:srgbClr>
                  </a:outerShdw>
                </a:effectLst>
              </a:rPr>
              <a:t>K ’</a:t>
            </a:r>
            <a:r>
              <a:rPr lang="en-US" sz="2800" b="1" i="0" u="none" baseline="-25000">
                <a:latin typeface="黑体" pitchFamily="49" charset="-122"/>
                <a:ea typeface="黑体" pitchFamily="49" charset="-122"/>
              </a:rPr>
              <a:t>eq</a:t>
            </a:r>
            <a:r>
              <a:rPr lang="zh-CN" sz="2800" b="1" i="0" u="none">
                <a:ea typeface="楷体_GB2312" pitchFamily="49" charset="-122"/>
              </a:rPr>
              <a:t> </a:t>
            </a:r>
            <a:r>
              <a:rPr lang="en-US" sz="2800" b="1" i="0" u="none">
                <a:effectLst>
                  <a:outerShdw blurRad="38100" dist="38100" dir="2700000" algn="tl">
                    <a:srgbClr val="000000">
                      <a:alpha val="43137"/>
                    </a:srgbClr>
                  </a:outerShdw>
                </a:effectLst>
              </a:rPr>
              <a:t>＝ ([C]</a:t>
            </a:r>
            <a:r>
              <a:rPr lang="en-US" sz="2800" b="1" i="0" u="none" baseline="30000">
                <a:latin typeface="楷体_GB2312" pitchFamily="49" charset="-122"/>
                <a:ea typeface="楷体_GB2312" pitchFamily="49" charset="-122"/>
              </a:rPr>
              <a:t>c</a:t>
            </a:r>
            <a:r>
              <a:rPr lang="en-US" sz="2800" b="1" i="0" u="none">
                <a:effectLst>
                  <a:outerShdw blurRad="38100" dist="38100" dir="2700000" algn="tl">
                    <a:srgbClr val="000000">
                      <a:alpha val="43137"/>
                    </a:srgbClr>
                  </a:outerShdw>
                </a:effectLst>
              </a:rPr>
              <a:t>×[D]</a:t>
            </a:r>
            <a:r>
              <a:rPr lang="en-US" sz="2800" b="1" i="0" u="none" baseline="30000">
                <a:latin typeface="楷体_GB2312" pitchFamily="49" charset="-122"/>
                <a:ea typeface="楷体_GB2312" pitchFamily="49" charset="-122"/>
              </a:rPr>
              <a:t>d</a:t>
            </a:r>
            <a:r>
              <a:rPr lang="en-US" sz="2800" b="1" i="0" u="none">
                <a:effectLst>
                  <a:outerShdw blurRad="38100" dist="38100" dir="2700000" algn="tl">
                    <a:srgbClr val="000000">
                      <a:alpha val="43137"/>
                    </a:srgbClr>
                  </a:outerShdw>
                </a:effectLst>
              </a:rPr>
              <a:t>) / ( [A]</a:t>
            </a:r>
            <a:r>
              <a:rPr lang="en-US" sz="2800" b="1" i="0" u="none" baseline="30000">
                <a:latin typeface="楷体_GB2312" pitchFamily="49" charset="-122"/>
                <a:ea typeface="楷体_GB2312" pitchFamily="49" charset="-122"/>
              </a:rPr>
              <a:t>a</a:t>
            </a:r>
            <a:r>
              <a:rPr lang="en-US" sz="2800" b="1" i="0" u="none">
                <a:effectLst>
                  <a:outerShdw blurRad="38100" dist="38100" dir="2700000" algn="tl">
                    <a:srgbClr val="000000">
                      <a:alpha val="43137"/>
                    </a:srgbClr>
                  </a:outerShdw>
                </a:effectLst>
              </a:rPr>
              <a:t>× [B]</a:t>
            </a:r>
            <a:r>
              <a:rPr lang="en-US" sz="2800" b="1" i="0" u="none" baseline="30000">
                <a:latin typeface="楷体_GB2312" pitchFamily="49" charset="-122"/>
                <a:ea typeface="楷体_GB2312" pitchFamily="49" charset="-122"/>
              </a:rPr>
              <a:t>b</a:t>
            </a:r>
            <a:r>
              <a:rPr lang="en-US" sz="2800" b="1" i="0" u="none">
                <a:effectLst>
                  <a:outerShdw blurRad="38100" dist="38100" dir="2700000" algn="tl">
                    <a:srgbClr val="000000">
                      <a:alpha val="43137"/>
                    </a:srgbClr>
                  </a:outerShdw>
                </a:effectLst>
              </a:rPr>
              <a:t>)</a:t>
            </a:r>
            <a:endParaRPr lang="en-US" sz="2800" b="1" i="0" u="none">
              <a:effectLst>
                <a:outerShdw blurRad="38100" dist="38100" dir="2700000" algn="tl">
                  <a:srgbClr val="000000">
                    <a:alpha val="43137"/>
                  </a:srgbClr>
                </a:outerShdw>
              </a:effectLst>
            </a:endParaRPr>
          </a:p>
        </p:txBody>
      </p:sp>
      <p:sp>
        <p:nvSpPr>
          <p:cNvPr id="81" name="Rectangle 3"/>
          <p:cNvSpPr>
            <a:spLocks noGrp="1" noChangeShapeType="1"/>
          </p:cNvSpPr>
          <p:nvPr/>
        </p:nvSpPr>
        <p:spPr>
          <a:xfrm>
            <a:off x="827087" y="427037"/>
            <a:ext cx="7129462" cy="855662"/>
          </a:xfrm>
          <a:prstGeom prst="rect">
            <a:avLst/>
          </a:prstGeom>
          <a:noFill/>
        </p:spPr>
        <p:txBody>
          <a:bodyPr lIns="91440" tIns="45720" rIns="91440" bIns="45720" anchor="ctr" anchorCtr="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spcAft>
                <a:spcPct val="50000"/>
              </a:spcAft>
              <a:buNone/>
            </a:pPr>
            <a:r>
              <a:rPr lang="en-US" sz="2800" b="1" i="0" u="none">
                <a:latin typeface="黑体" pitchFamily="49" charset="-122"/>
                <a:ea typeface="黑体" pitchFamily="49" charset="-122"/>
              </a:rPr>
              <a:t>2.1.2</a:t>
            </a:r>
            <a:r>
              <a:rPr lang="en-US" sz="2800" b="0" i="0" u="none">
                <a:latin typeface="黑体" pitchFamily="49" charset="-122"/>
                <a:ea typeface="黑体" pitchFamily="49" charset="-122"/>
              </a:rPr>
              <a:t>   </a:t>
            </a:r>
            <a:r>
              <a:rPr lang="zh-CN" sz="2800" b="1" i="0" u="none">
                <a:latin typeface="黑体" pitchFamily="49" charset="-122"/>
                <a:ea typeface="黑体" pitchFamily="49" charset="-122"/>
              </a:rPr>
              <a:t>标准自由能变化与K</a:t>
            </a:r>
            <a:r>
              <a:rPr lang="en-US" sz="2800" b="1" i="0" u="none">
                <a:latin typeface="Times New Roman" panose="02020603050405020304"/>
                <a:ea typeface="黑体" pitchFamily="49" charset="-122"/>
              </a:rPr>
              <a:t>’</a:t>
            </a:r>
            <a:r>
              <a:rPr lang="en-US" sz="2800" b="1" i="0" u="none" baseline="-25000">
                <a:latin typeface="黑体" pitchFamily="49" charset="-122"/>
                <a:ea typeface="黑体" pitchFamily="49" charset="-122"/>
              </a:rPr>
              <a:t>eq</a:t>
            </a:r>
            <a:r>
              <a:rPr lang="zh-CN" sz="2800" b="1" i="0" u="none">
                <a:latin typeface="黑体" pitchFamily="49" charset="-122"/>
                <a:ea typeface="黑体" pitchFamily="49" charset="-122"/>
              </a:rPr>
              <a:t>的关系</a:t>
            </a:r>
            <a:endParaRPr lang="zh-CN" sz="2800" b="1" i="0" u="none">
              <a:latin typeface="黑体" pitchFamily="49" charset="-122"/>
              <a:ea typeface="黑体" pitchFamily="49" charset="-122"/>
            </a:endParaRPr>
          </a:p>
        </p:txBody>
      </p:sp>
      <p:sp>
        <p:nvSpPr>
          <p:cNvPr id="82" name="Rectangle 4"/>
          <p:cNvSpPr>
            <a:spLocks noGrp="1" noChangeShapeType="1"/>
          </p:cNvSpPr>
          <p:nvPr/>
        </p:nvSpPr>
        <p:spPr>
          <a:xfrm>
            <a:off x="1116012" y="1052512"/>
            <a:ext cx="6985000" cy="51911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en-US" sz="2800" b="1" i="0" u="none">
                <a:latin typeface="楷体_GB2312" pitchFamily="49" charset="-122"/>
                <a:ea typeface="楷体_GB2312" pitchFamily="49" charset="-122"/>
              </a:rPr>
              <a:t>       aA + bB → cC + dD</a:t>
            </a:r>
            <a:endParaRPr lang="en-US" sz="2800" b="1" i="0" u="none">
              <a:latin typeface="楷体_GB2312" pitchFamily="49" charset="-122"/>
              <a:ea typeface="楷体_GB2312" pitchFamily="49" charset="-122"/>
            </a:endParaRPr>
          </a:p>
        </p:txBody>
      </p:sp>
      <p:sp>
        <p:nvSpPr>
          <p:cNvPr id="83" name="Rectangle 5"/>
          <p:cNvSpPr>
            <a:spLocks noGrp="1" noChangeShapeType="1"/>
          </p:cNvSpPr>
          <p:nvPr/>
        </p:nvSpPr>
        <p:spPr>
          <a:xfrm>
            <a:off x="827087" y="3357562"/>
            <a:ext cx="7848600" cy="822325"/>
          </a:xfrm>
          <a:prstGeom prst="rect">
            <a:avLst/>
          </a:prstGeom>
          <a:noFill/>
        </p:spPr>
        <p:txBody>
          <a:bodyPr lIns="91440" tIns="45720" rIns="91440" bIns="45720">
            <a:spAutoFit/>
          </a:bodyPr>
          <a:lstStyle/>
          <a:p>
            <a:pPr lvl="0" hangingPunct="1"/>
            <a:r>
              <a:rPr lang="en-US" sz="2400" b="1" i="0" u="none">
                <a:latin typeface="楷体_GB2312" pitchFamily="49" charset="-122"/>
                <a:ea typeface="楷体_GB2312" pitchFamily="49" charset="-122"/>
              </a:rPr>
              <a:t>据Gibbs方程，在恒温恒压下，体系的自由能变化是标准状态自由能变化及对温度、物质浓度项修正的总和：</a:t>
            </a:r>
            <a:endParaRPr lang="en-US" sz="2400" b="1" i="0" u="none">
              <a:latin typeface="楷体_GB2312" pitchFamily="49" charset="-122"/>
              <a:ea typeface="楷体_GB2312" pitchFamily="49" charset="-122"/>
            </a:endParaRPr>
          </a:p>
        </p:txBody>
      </p:sp>
      <p:sp>
        <p:nvSpPr>
          <p:cNvPr id="84" name="Rectangle 6"/>
          <p:cNvSpPr>
            <a:spLocks noGrp="1" noChangeShapeType="1"/>
          </p:cNvSpPr>
          <p:nvPr/>
        </p:nvSpPr>
        <p:spPr>
          <a:xfrm>
            <a:off x="827087" y="4292600"/>
            <a:ext cx="7632700" cy="1816100"/>
          </a:xfrm>
          <a:prstGeom prst="rect">
            <a:avLst/>
          </a:prstGeom>
          <a:noFill/>
          <a:ln w="38100">
            <a:solidFill>
              <a:srgbClr val="AE1E39"/>
            </a:solidFill>
            <a:round/>
          </a:ln>
        </p:spPr>
        <p:txBody>
          <a:bodyPr lIns="91440" tIns="45720" rIns="91440" bIns="45720">
            <a:spAutoFit/>
          </a:bodyPr>
          <a:lstStyle/>
          <a:p>
            <a:pPr lvl="0" algn="ctr" hangingPunct="1"/>
            <a:r>
              <a:rPr lang="zh-CN" sz="2800" b="1" i="0" u="none">
                <a:effectLst>
                  <a:outerShdw blurRad="38100" dist="38100" dir="2700000" algn="tl">
                    <a:srgbClr val="000000">
                      <a:alpha val="43137"/>
                    </a:srgbClr>
                  </a:outerShdw>
                </a:effectLst>
              </a:rPr>
              <a:t>ΔG ＝ ΔG</a:t>
            </a:r>
            <a:r>
              <a:rPr lang="en-US" sz="2800" b="1" i="0" u="none" baseline="30000">
                <a:effectLst>
                  <a:outerShdw blurRad="38100" dist="38100" dir="2700000" algn="tl">
                    <a:srgbClr val="000000">
                      <a:alpha val="43137"/>
                    </a:srgbClr>
                  </a:outerShdw>
                </a:effectLst>
              </a:rPr>
              <a:t>0</a:t>
            </a:r>
            <a:r>
              <a:rPr lang="zh-CN" sz="2800" b="1" i="0" u="none">
                <a:effectLst>
                  <a:outerShdw blurRad="38100" dist="38100" dir="2700000" algn="tl">
                    <a:srgbClr val="000000">
                      <a:alpha val="43137"/>
                    </a:srgbClr>
                  </a:outerShdw>
                </a:effectLst>
              </a:rPr>
              <a:t> ＋ RT ln([C]</a:t>
            </a:r>
            <a:r>
              <a:rPr lang="en-US" sz="2800" b="0" i="0" u="none" baseline="30000">
                <a:latin typeface="楷体_GB2312" pitchFamily="49" charset="-122"/>
                <a:ea typeface="楷体_GB2312" pitchFamily="49" charset="-122"/>
              </a:rPr>
              <a:t>c</a:t>
            </a:r>
            <a:r>
              <a:rPr lang="en-US" sz="2800" b="1" i="0" u="none">
                <a:effectLst>
                  <a:outerShdw blurRad="38100" dist="38100" dir="2700000" algn="tl">
                    <a:srgbClr val="000000">
                      <a:alpha val="43137"/>
                    </a:srgbClr>
                  </a:outerShdw>
                </a:effectLst>
              </a:rPr>
              <a:t>×[D]</a:t>
            </a:r>
            <a:r>
              <a:rPr lang="en-US" sz="2800" b="0" i="0" u="none" baseline="30000">
                <a:latin typeface="楷体_GB2312" pitchFamily="49" charset="-122"/>
                <a:ea typeface="楷体_GB2312" pitchFamily="49" charset="-122"/>
              </a:rPr>
              <a:t>d</a:t>
            </a:r>
            <a:r>
              <a:rPr lang="en-US" sz="2800" b="1" i="0" u="none">
                <a:effectLst>
                  <a:outerShdw blurRad="38100" dist="38100" dir="2700000" algn="tl">
                    <a:srgbClr val="000000">
                      <a:alpha val="43137"/>
                    </a:srgbClr>
                  </a:outerShdw>
                </a:effectLst>
              </a:rPr>
              <a:t>) / ([A]</a:t>
            </a:r>
            <a:r>
              <a:rPr lang="en-US" sz="2800" b="0" i="0" u="none" baseline="30000">
                <a:latin typeface="楷体_GB2312" pitchFamily="49" charset="-122"/>
                <a:ea typeface="楷体_GB2312" pitchFamily="49" charset="-122"/>
              </a:rPr>
              <a:t>a</a:t>
            </a:r>
            <a:r>
              <a:rPr lang="en-US" sz="2800" b="1" i="0" u="none">
                <a:effectLst>
                  <a:outerShdw blurRad="38100" dist="38100" dir="2700000" algn="tl">
                    <a:srgbClr val="000000">
                      <a:alpha val="43137"/>
                    </a:srgbClr>
                  </a:outerShdw>
                </a:effectLst>
              </a:rPr>
              <a:t>×[B]</a:t>
            </a:r>
            <a:r>
              <a:rPr lang="en-US" sz="2800" b="0" i="0" u="none" baseline="30000">
                <a:latin typeface="楷体_GB2312" pitchFamily="49" charset="-122"/>
                <a:ea typeface="楷体_GB2312" pitchFamily="49" charset="-122"/>
              </a:rPr>
              <a:t>b</a:t>
            </a:r>
            <a:r>
              <a:rPr lang="en-US" sz="2800" b="1" i="0" u="none">
                <a:effectLst>
                  <a:outerShdw blurRad="38100" dist="38100" dir="2700000" algn="tl">
                    <a:srgbClr val="000000">
                      <a:alpha val="43137"/>
                    </a:srgbClr>
                  </a:outerShdw>
                </a:effectLst>
              </a:rPr>
              <a:t>)         </a:t>
            </a:r>
            <a:endParaRPr lang="en-US" sz="2800" b="1" i="0" u="none">
              <a:effectLst>
                <a:outerShdw blurRad="38100" dist="38100" dir="2700000" algn="tl">
                  <a:srgbClr val="000000">
                    <a:alpha val="43137"/>
                  </a:srgbClr>
                </a:outerShdw>
              </a:effectLst>
            </a:endParaRPr>
          </a:p>
          <a:p>
            <a:pPr lvl="0" hangingPunct="1"/>
            <a:endParaRPr lang="en-US" sz="2800"/>
          </a:p>
          <a:p>
            <a:pPr lvl="0" hangingPunct="1"/>
            <a:r>
              <a:rPr lang="zh-CN" sz="2400" b="1" i="0" u="none">
                <a:ea typeface="楷体_GB2312" pitchFamily="49" charset="-122"/>
              </a:rPr>
              <a:t>反应达到平衡时</a:t>
            </a:r>
            <a:r>
              <a:rPr lang="zh-CN" b="1" i="0" u="none">
                <a:effectLst>
                  <a:outerShdw blurRad="38100" dist="38100" dir="2700000" algn="tl">
                    <a:srgbClr val="000000">
                      <a:alpha val="43137"/>
                    </a:srgbClr>
                  </a:outerShdw>
                </a:effectLst>
              </a:rPr>
              <a:t>，</a:t>
            </a:r>
            <a:endParaRPr lang="en-US" sz="2800"/>
          </a:p>
          <a:p>
            <a:pPr lvl="0" hangingPunct="1"/>
            <a:r>
              <a:rPr lang="en-US" sz="2800" b="1" i="0" u="none">
                <a:effectLst>
                  <a:outerShdw blurRad="38100" dist="38100" dir="2700000" algn="tl">
                    <a:srgbClr val="000000">
                      <a:alpha val="43137"/>
                    </a:srgbClr>
                  </a:outerShdw>
                </a:effectLst>
              </a:rPr>
              <a:t> ΔG</a:t>
            </a:r>
            <a:r>
              <a:rPr lang="en-US" b="0" i="0" u="none"/>
              <a:t>  </a:t>
            </a:r>
            <a:r>
              <a:rPr lang="zh-CN" sz="2800" b="1" i="0" u="none">
                <a:effectLst>
                  <a:outerShdw blurRad="38100" dist="38100" dir="2700000" algn="tl">
                    <a:srgbClr val="000000">
                      <a:alpha val="43137"/>
                    </a:srgbClr>
                  </a:outerShdw>
                </a:effectLst>
              </a:rPr>
              <a:t>＝ ΔG</a:t>
            </a:r>
            <a:r>
              <a:rPr lang="en-US" sz="2800" b="1" i="0" u="none" baseline="30000">
                <a:effectLst>
                  <a:outerShdw blurRad="38100" dist="38100" dir="2700000" algn="tl">
                    <a:srgbClr val="000000">
                      <a:alpha val="43137"/>
                    </a:srgbClr>
                  </a:outerShdw>
                </a:effectLst>
              </a:rPr>
              <a:t>0</a:t>
            </a:r>
            <a:r>
              <a:rPr lang="zh-CN" sz="2800" b="1" i="0" u="none">
                <a:effectLst>
                  <a:outerShdw blurRad="38100" dist="38100" dir="2700000" algn="tl">
                    <a:srgbClr val="000000">
                      <a:alpha val="43137"/>
                    </a:srgbClr>
                  </a:outerShdw>
                </a:effectLst>
              </a:rPr>
              <a:t> ＋ 2.303 RTlg K ’eq ＝ 0</a:t>
            </a:r>
            <a:endParaRPr lang="zh-CN" sz="2800" b="1" i="0" u="none">
              <a:effectLst>
                <a:outerShdw blurRad="38100" dist="38100" dir="2700000" algn="tl">
                  <a:srgbClr val="000000">
                    <a:alpha val="43137"/>
                  </a:srgbClr>
                </a:outerShdw>
              </a:effectLst>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80">
                                            <p:txEl>
                                              <p:pRg st="0" end="35"/>
                                            </p:txEl>
                                          </p:spTgt>
                                        </p:tgtEl>
                                        <p:attrNameLst>
                                          <p:attrName>style.visibility</p:attrName>
                                        </p:attrNameLst>
                                      </p:cBhvr>
                                      <p:to>
                                        <p:strVal val="visible"/>
                                      </p:to>
                                    </p:set>
                                    <p:animEffect transition="in" filter="checkerboard(across)">
                                      <p:cBhvr>
                                        <p:cTn id="11" dur="1000"/>
                                        <p:tgtEl>
                                          <p:spTgt spid="80">
                                            <p:txEl>
                                              <p:pRg st="0" end="35"/>
                                            </p:txEl>
                                          </p:spTgt>
                                        </p:tgtEl>
                                      </p:cBhvr>
                                    </p:animEffect>
                                  </p:childTnLst>
                                </p:cTn>
                              </p:par>
                              <p:par>
                                <p:cTn id="12" presetID="5" presetClass="entr" presetSubtype="10" fill="hold" nodeType="withEffect">
                                  <p:stCondLst>
                                    <p:cond delay="0"/>
                                  </p:stCondLst>
                                  <p:childTnLst>
                                    <p:set>
                                      <p:cBhvr>
                                        <p:cTn id="13" dur="1" fill="hold">
                                          <p:stCondLst>
                                            <p:cond delay="0"/>
                                          </p:stCondLst>
                                        </p:cTn>
                                        <p:tgtEl>
                                          <p:spTgt spid="80">
                                            <p:txEl>
                                              <p:pRg st="35" end="85"/>
                                            </p:txEl>
                                          </p:spTgt>
                                        </p:tgtEl>
                                        <p:attrNameLst>
                                          <p:attrName>style.visibility</p:attrName>
                                        </p:attrNameLst>
                                      </p:cBhvr>
                                      <p:to>
                                        <p:strVal val="visible"/>
                                      </p:to>
                                    </p:set>
                                    <p:animEffect transition="in" filter="checkerboard(across)">
                                      <p:cBhvr>
                                        <p:cTn id="14" dur="1000"/>
                                        <p:tgtEl>
                                          <p:spTgt spid="80">
                                            <p:txEl>
                                              <p:pRg st="35" end="85"/>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85" name=""/>
        <p:cNvGrpSpPr/>
        <p:nvPr/>
      </p:nvGrpSpPr>
      <p:grpSpPr>
        <a:xfrm>
          <a:off x="0" y="0"/>
          <a:ext cx="0" cy="0"/>
          <a:chOff x="0" y="0"/>
          <a:chExt cx="0" cy="0"/>
        </a:xfrm>
      </p:grpSpPr>
      <p:sp>
        <p:nvSpPr>
          <p:cNvPr id="86" name="Rectangle 11"/>
          <p:cNvSpPr>
            <a:spLocks noGrp="1" noChangeShapeType="1"/>
          </p:cNvSpPr>
          <p:nvPr/>
        </p:nvSpPr>
        <p:spPr>
          <a:xfrm>
            <a:off x="714375" y="690562"/>
            <a:ext cx="7848600" cy="1738312"/>
          </a:xfrm>
          <a:prstGeom prst="rect">
            <a:avLst/>
          </a:prstGeom>
          <a:noFill/>
        </p:spPr>
        <p:txBody>
          <a:bodyPr lIns="91440" tIns="45720" rIns="91440" bIns="45720">
            <a:spAutoFit/>
          </a:bodyPr>
          <a:lstStyle/>
          <a:p>
            <a:pPr lvl="0" hangingPunct="1">
              <a:lnSpc>
                <a:spcPct val="135000"/>
              </a:lnSpc>
            </a:pPr>
            <a:r>
              <a:rPr lang="zh-CN" sz="2400" b="1" i="0" u="none">
                <a:latin typeface="楷体_GB2312" pitchFamily="49" charset="-122"/>
                <a:ea typeface="楷体_GB2312" pitchFamily="49" charset="-122"/>
              </a:rPr>
              <a:t>同理，当生物化学反应处于平衡状态时，</a:t>
            </a:r>
            <a:endParaRPr lang="zh-CN" sz="2400" b="1" i="0" u="none">
              <a:latin typeface="楷体_GB2312" pitchFamily="49" charset="-122"/>
              <a:ea typeface="楷体_GB2312" pitchFamily="49" charset="-122"/>
            </a:endParaRPr>
          </a:p>
          <a:p>
            <a:pPr lvl="0" hangingPunct="1">
              <a:lnSpc>
                <a:spcPct val="135000"/>
              </a:lnSpc>
            </a:pPr>
            <a:r>
              <a:rPr lang="en-US" sz="2800" b="1" i="0" u="none">
                <a:effectLst>
                  <a:outerShdw blurRad="38100" dist="38100" dir="2700000" algn="tl">
                    <a:srgbClr val="000000">
                      <a:alpha val="43137"/>
                    </a:srgbClr>
                  </a:outerShdw>
                </a:effectLst>
              </a:rPr>
              <a:t> ΔG ＝ ΔG</a:t>
            </a:r>
            <a:r>
              <a:rPr lang="zh-CN" sz="2800" b="1" i="0" u="none" baseline="30000">
                <a:effectLst>
                  <a:outerShdw blurRad="38100" dist="38100" dir="2700000" algn="tl">
                    <a:srgbClr val="000000">
                      <a:alpha val="43137"/>
                    </a:srgbClr>
                  </a:outerShdw>
                </a:effectLst>
              </a:rPr>
              <a:t>0</a:t>
            </a:r>
            <a:r>
              <a:rPr lang="en-US" sz="2800" b="1" i="0" u="none">
                <a:effectLst>
                  <a:outerShdw blurRad="38100" dist="38100" dir="2700000" algn="tl">
                    <a:srgbClr val="000000">
                      <a:alpha val="43137"/>
                    </a:srgbClr>
                  </a:outerShdw>
                </a:effectLst>
              </a:rPr>
              <a:t>' ＋ RT lnK'eq ＝</a:t>
            </a:r>
            <a:r>
              <a:rPr lang="zh-CN" b="0" i="0" u="none"/>
              <a:t> </a:t>
            </a:r>
            <a:r>
              <a:rPr lang="en-US" sz="2800" b="1" i="0" u="none">
                <a:effectLst>
                  <a:outerShdw blurRad="38100" dist="38100" dir="2700000" algn="tl">
                    <a:srgbClr val="000000">
                      <a:alpha val="43137"/>
                    </a:srgbClr>
                  </a:outerShdw>
                </a:effectLst>
              </a:rPr>
              <a:t>0 </a:t>
            </a:r>
            <a:r>
              <a:rPr lang="zh-CN" sz="2800" b="1" i="0" u="none">
                <a:latin typeface="楷体_GB2312" pitchFamily="49" charset="-122"/>
                <a:ea typeface="楷体_GB2312" pitchFamily="49" charset="-122"/>
              </a:rPr>
              <a:t>　</a:t>
            </a:r>
            <a:endParaRPr lang="zh-CN" sz="2800" b="1" i="0" u="none">
              <a:latin typeface="楷体_GB2312" pitchFamily="49" charset="-122"/>
              <a:ea typeface="楷体_GB2312" pitchFamily="49" charset="-122"/>
            </a:endParaRPr>
          </a:p>
          <a:p>
            <a:pPr lvl="0" hangingPunct="1">
              <a:lnSpc>
                <a:spcPct val="135000"/>
              </a:lnSpc>
            </a:pPr>
            <a:r>
              <a:rPr lang="en-US" sz="2800" b="1" i="0" u="none">
                <a:solidFill>
                  <a:srgbClr val="AE1E39"/>
                </a:solidFill>
                <a:effectLst>
                  <a:outerShdw blurRad="38100" dist="38100" dir="2700000" algn="tl">
                    <a:srgbClr val="000000">
                      <a:alpha val="43137"/>
                    </a:srgbClr>
                  </a:outerShdw>
                </a:effectLst>
              </a:rPr>
              <a:t>ΔG</a:t>
            </a:r>
            <a:r>
              <a:rPr lang="zh-CN" sz="2800" b="1" i="0" u="none" baseline="30000">
                <a:solidFill>
                  <a:srgbClr val="AE1E39"/>
                </a:solidFill>
                <a:effectLst>
                  <a:outerShdw blurRad="38100" dist="38100" dir="2700000" algn="tl">
                    <a:srgbClr val="000000">
                      <a:alpha val="43137"/>
                    </a:srgbClr>
                  </a:outerShdw>
                </a:effectLst>
              </a:rPr>
              <a:t>0</a:t>
            </a:r>
            <a:r>
              <a:rPr lang="en-US" sz="2800" b="1" i="0" u="none">
                <a:solidFill>
                  <a:srgbClr val="AE1E39"/>
                </a:solidFill>
                <a:effectLst>
                  <a:outerShdw blurRad="38100" dist="38100" dir="2700000" algn="tl">
                    <a:srgbClr val="000000">
                      <a:alpha val="43137"/>
                    </a:srgbClr>
                  </a:outerShdw>
                </a:effectLst>
              </a:rPr>
              <a:t>' = -RTlnK'eq = -2.303RTlgK'eq</a:t>
            </a:r>
            <a:endParaRPr lang="en-US" sz="2800" b="1" i="0" u="none">
              <a:solidFill>
                <a:srgbClr val="AE1E39"/>
              </a:solidFill>
              <a:effectLst>
                <a:outerShdw blurRad="38100" dist="38100" dir="2700000" algn="tl">
                  <a:srgbClr val="000000">
                    <a:alpha val="43137"/>
                  </a:srgbClr>
                </a:outerShdw>
              </a:effectLst>
            </a:endParaRPr>
          </a:p>
        </p:txBody>
      </p:sp>
      <p:sp>
        <p:nvSpPr>
          <p:cNvPr id="87" name="Text Box 14"/>
          <p:cNvSpPr txBox="1">
            <a:spLocks noGrp="1" noChangeShapeType="1"/>
          </p:cNvSpPr>
          <p:nvPr/>
        </p:nvSpPr>
        <p:spPr>
          <a:xfrm>
            <a:off x="684212" y="4292600"/>
            <a:ext cx="7777162" cy="1754187"/>
          </a:xfrm>
          <a:prstGeom prst="rect">
            <a:avLst/>
          </a:prstGeom>
          <a:noFill/>
        </p:spPr>
        <p:txBody>
          <a:bodyPr lIns="91440" tIns="45720" rIns="91440" bIns="45720">
            <a:spAutoFit/>
          </a:bodyPr>
          <a:lstStyle/>
          <a:p>
            <a:pPr lvl="0" hangingPunct="1">
              <a:spcBef>
                <a:spcPct val="50000"/>
              </a:spcBef>
            </a:pPr>
            <a:r>
              <a:rPr lang="zh-CN" sz="2400" b="1" i="0" u="none">
                <a:latin typeface="楷体_GB2312" pitchFamily="49" charset="-122"/>
                <a:ea typeface="楷体_GB2312" pitchFamily="49" charset="-122"/>
              </a:rPr>
              <a:t>从公式可以看出，通过实验测定生化标准条件下，反应体系的表观反应平衡常数，即可求出一个生化反应的标准自由能变化。</a:t>
            </a:r>
            <a:endParaRPr lang="zh-CN" sz="2400" b="1" i="0" u="none">
              <a:latin typeface="楷体_GB2312" pitchFamily="49" charset="-122"/>
              <a:ea typeface="楷体_GB2312" pitchFamily="49" charset="-122"/>
            </a:endParaRPr>
          </a:p>
          <a:p>
            <a:pPr lvl="0" hangingPunct="1">
              <a:spcBef>
                <a:spcPct val="50000"/>
              </a:spcBef>
            </a:pPr>
            <a:r>
              <a:rPr lang="en-US" sz="2400" b="1" i="0" u="none">
                <a:latin typeface="Times New Roman" panose="02020603050405020304"/>
                <a:ea typeface="楷体_GB2312" pitchFamily="49" charset="-122"/>
              </a:rPr>
              <a:t>——</a:t>
            </a:r>
            <a:r>
              <a:rPr lang="zh-CN" sz="2400" b="1" i="0" u="none">
                <a:latin typeface="楷体_GB2312" pitchFamily="49" charset="-122"/>
                <a:ea typeface="楷体_GB2312" pitchFamily="49" charset="-122"/>
              </a:rPr>
              <a:t>大量生化反应反应ΔG</a:t>
            </a:r>
            <a:r>
              <a:rPr lang="en-US" sz="2000" b="1" i="0" u="none" baseline="30000">
                <a:effectLst>
                  <a:outerShdw blurRad="38100" dist="38100" dir="2700000" algn="tl">
                    <a:srgbClr val="000000">
                      <a:alpha val="43137"/>
                    </a:srgbClr>
                  </a:outerShdw>
                </a:effectLst>
              </a:rPr>
              <a:t>0</a:t>
            </a:r>
            <a:r>
              <a:rPr lang="zh-CN" sz="2400" b="1" i="0" u="none">
                <a:latin typeface="楷体_GB2312" pitchFamily="49" charset="-122"/>
                <a:ea typeface="楷体_GB2312" pitchFamily="49" charset="-122"/>
              </a:rPr>
              <a:t>'已载入物理化学手册。</a:t>
            </a:r>
            <a:endParaRPr lang="zh-CN" sz="2400" b="1" i="0" u="none">
              <a:latin typeface="楷体_GB2312" pitchFamily="49" charset="-122"/>
              <a:ea typeface="楷体_GB2312" pitchFamily="49" charset="-122"/>
            </a:endParaRPr>
          </a:p>
        </p:txBody>
      </p:sp>
      <p:sp>
        <p:nvSpPr>
          <p:cNvPr id="88" name="Rectangle 11"/>
          <p:cNvSpPr>
            <a:spLocks noGrp="1" noChangeShapeType="1"/>
          </p:cNvSpPr>
          <p:nvPr/>
        </p:nvSpPr>
        <p:spPr>
          <a:xfrm>
            <a:off x="1285875" y="2530475"/>
            <a:ext cx="5357812" cy="125571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35000"/>
              </a:lnSpc>
              <a:spcBef>
                <a:spcPts val="0"/>
              </a:spcBef>
              <a:buNone/>
            </a:pPr>
            <a:r>
              <a:rPr lang="en-US" sz="2800"/>
              <a:t>R = 8.31 x 10</a:t>
            </a:r>
            <a:r>
              <a:rPr lang="en-US" sz="2800" baseline="30000"/>
              <a:t>-3</a:t>
            </a:r>
            <a:r>
              <a:rPr lang="en-US" sz="2800"/>
              <a:t> kJ/mol</a:t>
            </a:r>
            <a:r>
              <a:rPr lang="en-US" sz="2800" baseline="30000"/>
              <a:t>.</a:t>
            </a:r>
            <a:r>
              <a:rPr lang="en-US" sz="2800"/>
              <a:t>K</a:t>
            </a:r>
            <a:endParaRPr lang="en-US" sz="2800"/>
          </a:p>
          <a:p>
            <a:pPr marL="0" lvl="0" indent="0" hangingPunct="1">
              <a:lnSpc>
                <a:spcPct val="135000"/>
              </a:lnSpc>
              <a:spcBef>
                <a:spcPts val="0"/>
              </a:spcBef>
              <a:buNone/>
            </a:pPr>
            <a:r>
              <a:rPr lang="en-US" sz="2800"/>
              <a:t>    = 1.98 x 10</a:t>
            </a:r>
            <a:r>
              <a:rPr lang="en-US" sz="2800" baseline="30000"/>
              <a:t>-3</a:t>
            </a:r>
            <a:r>
              <a:rPr lang="en-US" sz="2800"/>
              <a:t> kcal/mol</a:t>
            </a:r>
            <a:r>
              <a:rPr lang="en-US" sz="2800" baseline="30000"/>
              <a:t>.</a:t>
            </a:r>
            <a:r>
              <a:rPr lang="en-US" sz="2800"/>
              <a:t>K</a:t>
            </a:r>
            <a:endParaRPr lang="en-US" sz="280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89" name=""/>
        <p:cNvGrpSpPr/>
        <p:nvPr/>
      </p:nvGrpSpPr>
      <p:grpSpPr>
        <a:xfrm>
          <a:off x="0" y="0"/>
          <a:ext cx="0" cy="0"/>
          <a:chOff x="0" y="0"/>
          <a:chExt cx="0" cy="0"/>
        </a:xfrm>
      </p:grpSpPr>
      <p:pic>
        <p:nvPicPr>
          <p:cNvPr id="90" name="Picture 2" descr="369a"/>
          <p:cNvPicPr>
            <a:picLocks noGrp="1" noChangeAspect="1"/>
          </p:cNvPicPr>
          <p:nvPr/>
        </p:nvPicPr>
        <p:blipFill>
          <a:blip r:embed="rId1">
            <a:lum/>
          </a:blip>
          <a:srcRect l="2553" t="33273" r="3829" b="7561"/>
          <a:stretch>
            <a:fillRect/>
          </a:stretch>
        </p:blipFill>
        <p:spPr>
          <a:xfrm>
            <a:off x="2484437" y="1484312"/>
            <a:ext cx="4462462" cy="4110037"/>
          </a:xfrm>
          <a:prstGeom prst="rect">
            <a:avLst/>
          </a:prstGeom>
          <a:noFill/>
        </p:spPr>
      </p:pic>
      <p:sp>
        <p:nvSpPr>
          <p:cNvPr id="91" name="Rectangle 4"/>
          <p:cNvSpPr>
            <a:spLocks noGrp="1" noChangeShapeType="1"/>
          </p:cNvSpPr>
          <p:nvPr/>
        </p:nvSpPr>
        <p:spPr>
          <a:xfrm>
            <a:off x="539750" y="579437"/>
            <a:ext cx="6264275" cy="549275"/>
          </a:xfrm>
          <a:prstGeom prst="rect">
            <a:avLst/>
          </a:prstGeom>
          <a:noFill/>
        </p:spPr>
        <p:txBody>
          <a:bodyPr lIns="91440" tIns="45720" rIns="91440" bIns="45720" anchor="ctr" anchorCtr="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spcAft>
                <a:spcPct val="50000"/>
              </a:spcAft>
              <a:buNone/>
            </a:pPr>
            <a:r>
              <a:rPr lang="en-US" sz="3000" b="1" i="0" u="none">
                <a:latin typeface="黑体" pitchFamily="49" charset="-122"/>
                <a:ea typeface="黑体" pitchFamily="49" charset="-122"/>
              </a:rPr>
              <a:t>ΔG</a:t>
            </a:r>
            <a:r>
              <a:rPr lang="en-US" sz="3000" b="1" i="0" u="none" baseline="30000">
                <a:latin typeface="黑体" pitchFamily="49" charset="-122"/>
                <a:ea typeface="黑体" pitchFamily="49" charset="-122"/>
              </a:rPr>
              <a:t>0</a:t>
            </a:r>
            <a:r>
              <a:rPr lang="en-US" sz="3000" b="1" i="0" u="none">
                <a:latin typeface="Times New Roman" panose="02020603050405020304"/>
                <a:ea typeface="黑体" pitchFamily="49" charset="-122"/>
              </a:rPr>
              <a:t>’</a:t>
            </a:r>
            <a:r>
              <a:rPr lang="en-US" sz="2400" b="1" i="0" u="none">
                <a:latin typeface="黑体" pitchFamily="49" charset="-122"/>
                <a:ea typeface="黑体" pitchFamily="49" charset="-122"/>
              </a:rPr>
              <a:t> </a:t>
            </a:r>
            <a:r>
              <a:rPr lang="zh-CN" sz="3000" b="1" i="0" u="none">
                <a:latin typeface="黑体" pitchFamily="49" charset="-122"/>
                <a:ea typeface="黑体" pitchFamily="49" charset="-122"/>
              </a:rPr>
              <a:t>与 K</a:t>
            </a:r>
            <a:r>
              <a:rPr lang="en-US" sz="3000" b="1" i="0" u="none">
                <a:latin typeface="Times New Roman" panose="02020603050405020304"/>
                <a:ea typeface="黑体" pitchFamily="49" charset="-122"/>
              </a:rPr>
              <a:t>’</a:t>
            </a:r>
            <a:r>
              <a:rPr lang="en-US" sz="3000" b="1" i="0" u="none" baseline="-25000">
                <a:latin typeface="黑体" pitchFamily="49" charset="-122"/>
                <a:ea typeface="黑体" pitchFamily="49" charset="-122"/>
              </a:rPr>
              <a:t>eq</a:t>
            </a:r>
            <a:r>
              <a:rPr lang="zh-CN" sz="3000" b="1" i="0" u="none">
                <a:latin typeface="黑体" pitchFamily="49" charset="-122"/>
                <a:ea typeface="黑体" pitchFamily="49" charset="-122"/>
              </a:rPr>
              <a:t> 的关系</a:t>
            </a:r>
            <a:endParaRPr lang="zh-CN" sz="3000" b="1" i="0" u="none">
              <a:latin typeface="黑体" pitchFamily="49" charset="-122"/>
              <a:ea typeface="黑体" pitchFamily="49" charset="-122"/>
            </a:endParaRPr>
          </a:p>
        </p:txBody>
      </p:sp>
      <p:sp>
        <p:nvSpPr>
          <p:cNvPr id="92" name="Text Box 6"/>
          <p:cNvSpPr txBox="1">
            <a:spLocks noGrp="1" noChangeShapeType="1"/>
          </p:cNvSpPr>
          <p:nvPr/>
        </p:nvSpPr>
        <p:spPr>
          <a:xfrm>
            <a:off x="4427537" y="692150"/>
            <a:ext cx="2808287" cy="36671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1800"/>
              <a:t>参见  P30表20-1</a:t>
            </a:r>
            <a:endParaRPr lang="en-US" sz="1800"/>
          </a:p>
        </p:txBody>
      </p:sp>
      <p:sp>
        <p:nvSpPr>
          <p:cNvPr id="93" name="Text Box 6"/>
          <p:cNvSpPr txBox="1">
            <a:spLocks noGrp="1" noChangeShapeType="1"/>
          </p:cNvSpPr>
          <p:nvPr/>
        </p:nvSpPr>
        <p:spPr>
          <a:xfrm>
            <a:off x="684212" y="5734050"/>
            <a:ext cx="3529012" cy="4572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2400" b="1" i="0" u="none">
                <a:latin typeface="楷体_GB2312" pitchFamily="49" charset="-122"/>
                <a:ea typeface="楷体_GB2312" pitchFamily="49" charset="-122"/>
              </a:rPr>
              <a:t>应用：课本p32例题1</a:t>
            </a:r>
            <a:endParaRPr lang="en-US" sz="2400" b="1" i="0" u="none">
              <a:latin typeface="楷体_GB2312" pitchFamily="49" charset="-122"/>
              <a:ea typeface="楷体_GB2312" pitchFamily="49"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94" name=""/>
        <p:cNvGrpSpPr/>
        <p:nvPr/>
      </p:nvGrpSpPr>
      <p:grpSpPr>
        <a:xfrm>
          <a:off x="0" y="0"/>
          <a:ext cx="0" cy="0"/>
          <a:chOff x="0" y="0"/>
          <a:chExt cx="0" cy="0"/>
        </a:xfrm>
      </p:grpSpPr>
      <p:sp>
        <p:nvSpPr>
          <p:cNvPr id="95" name="Rectangle 2"/>
          <p:cNvSpPr>
            <a:spLocks noGrp="1" noChangeShapeType="1"/>
          </p:cNvSpPr>
          <p:nvPr>
            <p:ph type="title"/>
          </p:nvPr>
        </p:nvSpPr>
        <p:spPr>
          <a:xfrm>
            <a:off x="827087" y="476250"/>
            <a:ext cx="7705725" cy="709612"/>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3200" b="1" i="0" u="none">
                <a:latin typeface="Times New Roman" panose="02020603050405020304"/>
                <a:ea typeface="黑体" pitchFamily="49" charset="-122"/>
              </a:rPr>
              <a:t>2.2  标准自由能变化的可加性及其意义</a:t>
            </a:r>
            <a:endParaRPr lang="zh-CN" sz="3200" b="1" i="0" u="none">
              <a:latin typeface="Times New Roman" panose="02020603050405020304"/>
              <a:ea typeface="黑体" pitchFamily="49" charset="-122"/>
            </a:endParaRPr>
          </a:p>
        </p:txBody>
      </p:sp>
      <p:sp>
        <p:nvSpPr>
          <p:cNvPr id="96" name="Rectangle 3"/>
          <p:cNvSpPr>
            <a:spLocks noGrp="1" noChangeShapeType="1"/>
          </p:cNvSpPr>
          <p:nvPr>
            <p:ph type="body"/>
          </p:nvPr>
        </p:nvSpPr>
        <p:spPr>
          <a:xfrm>
            <a:off x="1042987" y="1341437"/>
            <a:ext cx="7129462" cy="1728787"/>
          </a:xfrm>
          <a:prstGeom prst="rect">
            <a:avLst/>
          </a:prstGeom>
          <a:solidFill>
            <a:schemeClr val="accent1"/>
          </a:solidFill>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spcBef>
                <a:spcPct val="20000"/>
              </a:spcBef>
              <a:buNone/>
            </a:pPr>
            <a:r>
              <a:rPr lang="en-US" sz="2800"/>
              <a:t>A </a:t>
            </a:r>
            <a:r>
              <a:rPr lang="en-US" sz="2800">
                <a:sym typeface="Symbol" pitchFamily="18" charset="2"/>
              </a:rPr>
              <a:t></a:t>
            </a:r>
            <a:r>
              <a:rPr lang="en-US" sz="2800"/>
              <a:t>  B    ΔG</a:t>
            </a:r>
            <a:r>
              <a:rPr lang="en-US" sz="2800" baseline="30000"/>
              <a:t>0</a:t>
            </a:r>
            <a:r>
              <a:rPr lang="en-US" sz="2800"/>
              <a:t>'</a:t>
            </a:r>
            <a:r>
              <a:rPr lang="en-US" sz="2800" baseline="-30000"/>
              <a:t>1</a:t>
            </a:r>
            <a:r>
              <a:rPr lang="en-US" sz="2800"/>
              <a:t> </a:t>
            </a:r>
            <a:endParaRPr lang="en-US" sz="2800"/>
          </a:p>
          <a:p>
            <a:pPr marL="342900" lvl="0" indent="-342900" hangingPunct="1">
              <a:spcBef>
                <a:spcPct val="20000"/>
              </a:spcBef>
              <a:buNone/>
            </a:pPr>
            <a:r>
              <a:rPr lang="en-US" sz="2800"/>
              <a:t>B  </a:t>
            </a:r>
            <a:r>
              <a:rPr lang="en-US" sz="2800">
                <a:sym typeface="Symbol" pitchFamily="18" charset="2"/>
              </a:rPr>
              <a:t></a:t>
            </a:r>
            <a:r>
              <a:rPr lang="en-US" sz="2800"/>
              <a:t>  C    ΔG</a:t>
            </a:r>
            <a:r>
              <a:rPr lang="en-US" sz="2800" baseline="30000"/>
              <a:t>0</a:t>
            </a:r>
            <a:r>
              <a:rPr lang="en-US" sz="2800"/>
              <a:t>'</a:t>
            </a:r>
            <a:r>
              <a:rPr lang="en-US" sz="2800" baseline="-30000"/>
              <a:t>2</a:t>
            </a:r>
            <a:endParaRPr lang="en-US" sz="2800"/>
          </a:p>
          <a:p>
            <a:pPr marL="342900" lvl="0" indent="-342900" hangingPunct="1">
              <a:spcBef>
                <a:spcPct val="20000"/>
              </a:spcBef>
              <a:buNone/>
            </a:pPr>
            <a:r>
              <a:rPr lang="en-US" sz="2800"/>
              <a:t>A  </a:t>
            </a:r>
            <a:r>
              <a:rPr lang="en-US" sz="2800">
                <a:sym typeface="Symbol" pitchFamily="18" charset="2"/>
              </a:rPr>
              <a:t></a:t>
            </a:r>
            <a:r>
              <a:rPr lang="en-US" sz="2800"/>
              <a:t>  C,   ΔG</a:t>
            </a:r>
            <a:r>
              <a:rPr lang="en-US" sz="2800" baseline="30000"/>
              <a:t>0</a:t>
            </a:r>
            <a:r>
              <a:rPr lang="en-US" sz="2800"/>
              <a:t>'</a:t>
            </a:r>
            <a:r>
              <a:rPr lang="en-US" sz="2800" baseline="-30000"/>
              <a:t>total</a:t>
            </a:r>
            <a:r>
              <a:rPr lang="en-US" sz="2800"/>
              <a:t> = ΔG</a:t>
            </a:r>
            <a:r>
              <a:rPr lang="en-US" sz="2800" baseline="30000"/>
              <a:t>0</a:t>
            </a:r>
            <a:r>
              <a:rPr lang="en-US" sz="2800"/>
              <a:t>'</a:t>
            </a:r>
            <a:r>
              <a:rPr lang="en-US" sz="2800" baseline="-30000"/>
              <a:t>l</a:t>
            </a:r>
            <a:r>
              <a:rPr lang="en-US" sz="2800"/>
              <a:t> + ΔG</a:t>
            </a:r>
            <a:r>
              <a:rPr lang="en-US" sz="2800" baseline="30000"/>
              <a:t>0</a:t>
            </a:r>
            <a:r>
              <a:rPr lang="en-US" sz="2800"/>
              <a:t>'</a:t>
            </a:r>
            <a:r>
              <a:rPr lang="en-US" sz="2800" baseline="-30000"/>
              <a:t>2</a:t>
            </a:r>
            <a:r>
              <a:rPr lang="en-US" sz="2800"/>
              <a:t> </a:t>
            </a:r>
            <a:endParaRPr lang="en-US" sz="2800"/>
          </a:p>
        </p:txBody>
      </p:sp>
      <p:sp>
        <p:nvSpPr>
          <p:cNvPr id="97" name="Line 8"/>
          <p:cNvSpPr>
            <a:spLocks noGrp="1" noChangeShapeType="1"/>
          </p:cNvSpPr>
          <p:nvPr/>
        </p:nvSpPr>
        <p:spPr>
          <a:xfrm>
            <a:off x="1042987" y="2397125"/>
            <a:ext cx="7127875" cy="0"/>
          </a:xfrm>
          <a:prstGeom prst="line">
            <a:avLst/>
          </a:prstGeom>
          <a:noFill/>
          <a:ln w="28575">
            <a:solidFill>
              <a:schemeClr val="dk1"/>
            </a:solidFill>
            <a:round/>
          </a:ln>
        </p:spPr>
        <p:txBody>
          <a:bodyPr wrap="none"/>
          <a:lstStyle/>
          <a:p>
            <a:endParaRPr sz="1400" dirty="0"/>
          </a:p>
        </p:txBody>
      </p:sp>
      <p:sp>
        <p:nvSpPr>
          <p:cNvPr id="98" name="Rectangle 10"/>
          <p:cNvSpPr>
            <a:spLocks noGrp="1" noChangeShapeType="1"/>
          </p:cNvSpPr>
          <p:nvPr/>
        </p:nvSpPr>
        <p:spPr>
          <a:xfrm>
            <a:off x="900112" y="3500437"/>
            <a:ext cx="7632700" cy="1800225"/>
          </a:xfrm>
          <a:prstGeom prst="rect">
            <a:avLst/>
          </a:prstGeom>
          <a:noFill/>
        </p:spPr>
        <p:txBody>
          <a:bodyPr lIns="91440" tIns="45720" rIns="91440" bIns="45720">
            <a:spAutoFit/>
          </a:bodyPr>
          <a:lstStyle/>
          <a:p>
            <a:pPr lvl="0" hangingPunct="1"/>
            <a:r>
              <a:rPr lang="zh-CN" sz="2800" b="1" i="0" u="none">
                <a:solidFill>
                  <a:srgbClr val="AE1E39"/>
                </a:solidFill>
                <a:ea typeface="楷体_GB2312" pitchFamily="49" charset="-122"/>
              </a:rPr>
              <a:t>连续发生的化学反应，可以分解为各步简单反应，其始、终状态的总自由能变化值为各分步变化值之和。即各分步反应的自由能变化具有加合性。</a:t>
            </a:r>
            <a:endParaRPr lang="zh-CN" sz="2800" b="1" i="0" u="none">
              <a:solidFill>
                <a:srgbClr val="AE1E39"/>
              </a:solidFill>
              <a:ea typeface="楷体_GB2312" pitchFamily="49" charset="-122"/>
            </a:endParaRPr>
          </a:p>
        </p:txBody>
      </p:sp>
      <p:sp>
        <p:nvSpPr>
          <p:cNvPr id="99" name="Rectangle 9"/>
          <p:cNvSpPr>
            <a:spLocks noGrp="1" noChangeShapeType="1"/>
          </p:cNvSpPr>
          <p:nvPr/>
        </p:nvSpPr>
        <p:spPr>
          <a:xfrm>
            <a:off x="900112" y="5300662"/>
            <a:ext cx="7489825" cy="946150"/>
          </a:xfrm>
          <a:prstGeom prst="rect">
            <a:avLst/>
          </a:prstGeom>
          <a:noFill/>
        </p:spPr>
        <p:txBody>
          <a:bodyPr lIns="91440" tIns="45720" rIns="91440" bIns="45720">
            <a:spAutoFit/>
          </a:bodyPr>
          <a:lstStyle/>
          <a:p>
            <a:pPr lvl="0" hangingPunct="1"/>
            <a:r>
              <a:rPr lang="zh-CN" sz="2800" b="1" i="0" u="none">
                <a:solidFill>
                  <a:srgbClr val="AE1E39"/>
                </a:solidFill>
                <a:ea typeface="楷体_GB2312" pitchFamily="49" charset="-122"/>
              </a:rPr>
              <a:t>实际操作上，可以将一个复杂的反应拆分为若干简单的反应来进行研究、测试。</a:t>
            </a:r>
            <a:endParaRPr lang="zh-CN" sz="2800" b="1" i="0" u="none">
              <a:solidFill>
                <a:srgbClr val="AE1E39"/>
              </a:solidFill>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6">
                                            <p:txEl>
                                              <p:pRg st="0" end="18"/>
                                            </p:txEl>
                                          </p:spTgt>
                                        </p:tgtEl>
                                        <p:attrNameLst>
                                          <p:attrName>style.visibility</p:attrName>
                                        </p:attrNameLst>
                                      </p:cBhvr>
                                      <p:to>
                                        <p:strVal val="visible"/>
                                      </p:to>
                                    </p:set>
                                    <p:animEffect transition="in" filter="dissolve">
                                      <p:cBhvr>
                                        <p:cTn id="7" dur="500"/>
                                        <p:tgtEl>
                                          <p:spTgt spid="96">
                                            <p:txEl>
                                              <p:pRg st="0" end="1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6">
                                            <p:txEl>
                                              <p:pRg st="18" end="35"/>
                                            </p:txEl>
                                          </p:spTgt>
                                        </p:tgtEl>
                                        <p:attrNameLst>
                                          <p:attrName>style.visibility</p:attrName>
                                        </p:attrNameLst>
                                      </p:cBhvr>
                                      <p:to>
                                        <p:strVal val="visible"/>
                                      </p:to>
                                    </p:set>
                                    <p:animEffect transition="in" filter="dissolve">
                                      <p:cBhvr>
                                        <p:cTn id="12" dur="500"/>
                                        <p:tgtEl>
                                          <p:spTgt spid="96">
                                            <p:txEl>
                                              <p:pRg st="18" end="3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6">
                                            <p:txEl>
                                              <p:pRg st="35" end="73"/>
                                            </p:txEl>
                                          </p:spTgt>
                                        </p:tgtEl>
                                        <p:attrNameLst>
                                          <p:attrName>style.visibility</p:attrName>
                                        </p:attrNameLst>
                                      </p:cBhvr>
                                      <p:to>
                                        <p:strVal val="visible"/>
                                      </p:to>
                                    </p:set>
                                    <p:animEffect transition="in" filter="dissolve">
                                      <p:cBhvr>
                                        <p:cTn id="17" dur="500"/>
                                        <p:tgtEl>
                                          <p:spTgt spid="96">
                                            <p:txEl>
                                              <p:pRg st="35" end="7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98">
                                            <p:txEl>
                                              <p:pRg st="0" end="65"/>
                                            </p:txEl>
                                          </p:spTgt>
                                        </p:tgtEl>
                                        <p:attrNameLst>
                                          <p:attrName>style.visibility</p:attrName>
                                        </p:attrNameLst>
                                      </p:cBhvr>
                                      <p:to>
                                        <p:strVal val="visible"/>
                                      </p:to>
                                    </p:set>
                                    <p:animEffect transition="in" filter="checkerboard(across)">
                                      <p:cBhvr>
                                        <p:cTn id="22" dur="500"/>
                                        <p:tgtEl>
                                          <p:spTgt spid="98">
                                            <p:txEl>
                                              <p:pRg st="0" end="6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99"/>
                                        </p:tgtEl>
                                        <p:attrNameLst>
                                          <p:attrName>style.visibility</p:attrName>
                                        </p:attrNameLst>
                                      </p:cBhvr>
                                      <p:to>
                                        <p:strVal val="visible"/>
                                      </p:to>
                                    </p:set>
                                    <p:animEffect transition="in" filter="checkerboard(across)">
                                      <p:cBhvr>
                                        <p:cTn id="27" dur="500"/>
                                        <p:tgtEl>
                                          <p:spTgt spid="99"/>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04" name=""/>
        <p:cNvGrpSpPr/>
        <p:nvPr/>
      </p:nvGrpSpPr>
      <p:grpSpPr>
        <a:xfrm>
          <a:off x="0" y="0"/>
          <a:ext cx="0" cy="0"/>
          <a:chOff x="0" y="0"/>
          <a:chExt cx="0" cy="0"/>
        </a:xfrm>
      </p:grpSpPr>
      <p:sp>
        <p:nvSpPr>
          <p:cNvPr id="105" name="Rectangle 2"/>
          <p:cNvSpPr>
            <a:spLocks noGrp="1" noChangeShapeType="1"/>
          </p:cNvSpPr>
          <p:nvPr>
            <p:ph type="title"/>
          </p:nvPr>
        </p:nvSpPr>
        <p:spPr>
          <a:xfrm>
            <a:off x="827087" y="333375"/>
            <a:ext cx="7705725" cy="709612"/>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3200" b="1" i="0" u="none">
                <a:latin typeface="Times New Roman" panose="02020603050405020304"/>
                <a:ea typeface="黑体" pitchFamily="49" charset="-122"/>
              </a:rPr>
              <a:t>2.2  标准自由能变化的可加性及其意义</a:t>
            </a:r>
            <a:endParaRPr lang="zh-CN" sz="3200" b="1" i="0" u="none">
              <a:latin typeface="Times New Roman" panose="02020603050405020304"/>
              <a:ea typeface="黑体" pitchFamily="49" charset="-122"/>
            </a:endParaRPr>
          </a:p>
        </p:txBody>
      </p:sp>
      <p:sp>
        <p:nvSpPr>
          <p:cNvPr id="106" name="Rectangle 4"/>
          <p:cNvSpPr>
            <a:spLocks noGrp="1" noChangeShapeType="1"/>
          </p:cNvSpPr>
          <p:nvPr/>
        </p:nvSpPr>
        <p:spPr>
          <a:xfrm>
            <a:off x="900112" y="1341437"/>
            <a:ext cx="7775575" cy="2303462"/>
          </a:xfrm>
          <a:prstGeom prst="rect">
            <a:avLst/>
          </a:prstGeom>
          <a:solidFill>
            <a:schemeClr val="accent1"/>
          </a:solidFill>
        </p:spPr>
        <p:txBody>
          <a:bodyPr lIns="91440" tIns="45720" rIns="91440" bIns="45720"/>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spcBef>
                <a:spcPct val="20000"/>
              </a:spcBef>
              <a:buNone/>
            </a:pPr>
            <a:r>
              <a:rPr lang="en-US" sz="2800"/>
              <a:t>A </a:t>
            </a:r>
            <a:r>
              <a:rPr lang="en-US" sz="2800">
                <a:sym typeface="Symbol" pitchFamily="18" charset="2"/>
              </a:rPr>
              <a:t></a:t>
            </a:r>
            <a:r>
              <a:rPr lang="en-US" sz="2800"/>
              <a:t>  B + C       ΔG</a:t>
            </a:r>
            <a:r>
              <a:rPr lang="en-US" sz="2800" baseline="30000"/>
              <a:t>0’</a:t>
            </a:r>
            <a:r>
              <a:rPr lang="en-US" sz="2800" baseline="-30000"/>
              <a:t>1</a:t>
            </a:r>
            <a:r>
              <a:rPr lang="zh-CN" sz="2800"/>
              <a:t>  ﹥0，不能自发进行</a:t>
            </a:r>
            <a:endParaRPr lang="zh-CN" sz="2800"/>
          </a:p>
          <a:p>
            <a:pPr marL="342900" lvl="0" indent="-342900" hangingPunct="1">
              <a:spcBef>
                <a:spcPct val="20000"/>
              </a:spcBef>
              <a:buNone/>
            </a:pPr>
            <a:r>
              <a:rPr lang="zh-CN" sz="2800"/>
              <a:t>B  </a:t>
            </a:r>
            <a:r>
              <a:rPr lang="en-US" sz="2800">
                <a:sym typeface="Symbol" pitchFamily="18" charset="2"/>
              </a:rPr>
              <a:t></a:t>
            </a:r>
            <a:r>
              <a:rPr lang="en-US" sz="2800"/>
              <a:t>  D              ΔG</a:t>
            </a:r>
            <a:r>
              <a:rPr lang="en-US" sz="2800" baseline="30000"/>
              <a:t>0</a:t>
            </a:r>
            <a:r>
              <a:rPr lang="en-US" sz="2800"/>
              <a:t>’</a:t>
            </a:r>
            <a:r>
              <a:rPr lang="en-US" sz="2800" baseline="-30000"/>
              <a:t>2   </a:t>
            </a:r>
            <a:r>
              <a:rPr lang="zh-CN" sz="2800"/>
              <a:t>﹤0，自发进行</a:t>
            </a:r>
            <a:endParaRPr lang="zh-CN" sz="2800"/>
          </a:p>
          <a:p>
            <a:pPr marL="342900" lvl="0" indent="-342900" hangingPunct="1">
              <a:spcBef>
                <a:spcPct val="20000"/>
              </a:spcBef>
              <a:buNone/>
            </a:pPr>
            <a:r>
              <a:rPr lang="zh-CN" sz="2800"/>
              <a:t>A  </a:t>
            </a:r>
            <a:r>
              <a:rPr lang="en-US" sz="2800">
                <a:sym typeface="Symbol" pitchFamily="18" charset="2"/>
              </a:rPr>
              <a:t></a:t>
            </a:r>
            <a:r>
              <a:rPr lang="zh-CN" sz="2800"/>
              <a:t>  C + D   当 ΔG</a:t>
            </a:r>
            <a:r>
              <a:rPr lang="en-US" sz="2800" baseline="30000"/>
              <a:t>0</a:t>
            </a:r>
            <a:r>
              <a:rPr lang="en-US" sz="2800"/>
              <a:t>'</a:t>
            </a:r>
            <a:r>
              <a:rPr lang="en-US" sz="2800" baseline="-30000"/>
              <a:t>total</a:t>
            </a:r>
            <a:r>
              <a:rPr lang="en-US" sz="2800"/>
              <a:t> = ΔG</a:t>
            </a:r>
            <a:r>
              <a:rPr lang="en-US" sz="2800" baseline="30000"/>
              <a:t>0</a:t>
            </a:r>
            <a:r>
              <a:rPr lang="en-US" sz="2800"/>
              <a:t>'</a:t>
            </a:r>
            <a:r>
              <a:rPr lang="en-US" sz="2800" baseline="-30000"/>
              <a:t>l</a:t>
            </a:r>
            <a:r>
              <a:rPr lang="en-US" sz="2800"/>
              <a:t> + ΔG</a:t>
            </a:r>
            <a:r>
              <a:rPr lang="en-US" sz="2800" baseline="30000"/>
              <a:t>0</a:t>
            </a:r>
            <a:r>
              <a:rPr lang="en-US" sz="2800"/>
              <a:t>'</a:t>
            </a:r>
            <a:r>
              <a:rPr lang="en-US" sz="2800" baseline="-30000"/>
              <a:t>2</a:t>
            </a:r>
            <a:r>
              <a:rPr lang="en-US" sz="2800"/>
              <a:t> ﹤0</a:t>
            </a:r>
            <a:r>
              <a:rPr lang="en-US"/>
              <a:t> </a:t>
            </a:r>
            <a:endParaRPr lang="en-US"/>
          </a:p>
          <a:p>
            <a:pPr marL="342900" lvl="0" indent="-342900" hangingPunct="1">
              <a:spcBef>
                <a:spcPct val="20000"/>
              </a:spcBef>
              <a:buNone/>
            </a:pPr>
            <a:r>
              <a:rPr lang="en-US"/>
              <a:t>                                          </a:t>
            </a:r>
            <a:r>
              <a:rPr lang="zh-CN" sz="2800"/>
              <a:t>反应可自发进行</a:t>
            </a:r>
            <a:endParaRPr lang="zh-CN" sz="2800"/>
          </a:p>
        </p:txBody>
      </p:sp>
      <p:sp>
        <p:nvSpPr>
          <p:cNvPr id="107" name="Rectangle 5"/>
          <p:cNvSpPr>
            <a:spLocks noGrp="1" noChangeShapeType="1"/>
          </p:cNvSpPr>
          <p:nvPr/>
        </p:nvSpPr>
        <p:spPr>
          <a:xfrm>
            <a:off x="755650" y="3933825"/>
            <a:ext cx="7848600" cy="1373187"/>
          </a:xfrm>
          <a:prstGeom prst="rect">
            <a:avLst/>
          </a:prstGeom>
          <a:noFill/>
        </p:spPr>
        <p:txBody>
          <a:bodyPr lIns="91440" tIns="45720" rIns="91440" bIns="45720">
            <a:spAutoFit/>
          </a:bodyPr>
          <a:lstStyle/>
          <a:p>
            <a:pPr lvl="0" hangingPunct="1"/>
            <a:r>
              <a:rPr lang="en-US" sz="2800" b="1" i="0" u="none">
                <a:solidFill>
                  <a:srgbClr val="AE1E39"/>
                </a:solidFill>
                <a:ea typeface="楷体_GB2312" pitchFamily="49" charset="-122"/>
              </a:rPr>
              <a:t>一个在热力学上不利的反应（如A产生B和C，吸能）可由另一个热力学上有利（如B产生D,  释能）的反应来驱动。</a:t>
            </a:r>
            <a:endParaRPr lang="en-US" sz="2800" b="1" i="0" u="none">
              <a:solidFill>
                <a:srgbClr val="AE1E39"/>
              </a:solidFill>
              <a:ea typeface="楷体_GB2312" pitchFamily="49" charset="-122"/>
            </a:endParaRPr>
          </a:p>
        </p:txBody>
      </p:sp>
      <p:sp>
        <p:nvSpPr>
          <p:cNvPr id="108" name="Line 9"/>
          <p:cNvSpPr>
            <a:spLocks noGrp="1" noChangeShapeType="1"/>
          </p:cNvSpPr>
          <p:nvPr/>
        </p:nvSpPr>
        <p:spPr>
          <a:xfrm>
            <a:off x="900112" y="2422525"/>
            <a:ext cx="7127875" cy="0"/>
          </a:xfrm>
          <a:prstGeom prst="line">
            <a:avLst/>
          </a:prstGeom>
          <a:noFill/>
          <a:ln w="28575">
            <a:solidFill>
              <a:schemeClr val="dk1"/>
            </a:solidFill>
            <a:round/>
          </a:ln>
        </p:spPr>
        <p:txBody>
          <a:bodyPr wrap="none"/>
          <a:lstStyle/>
          <a:p>
            <a:endParaRPr sz="1400" dirty="0"/>
          </a:p>
        </p:txBody>
      </p:sp>
      <p:sp>
        <p:nvSpPr>
          <p:cNvPr id="109" name="Rectangle 5"/>
          <p:cNvSpPr>
            <a:spLocks noGrp="1" noChangeShapeType="1"/>
          </p:cNvSpPr>
          <p:nvPr/>
        </p:nvSpPr>
        <p:spPr>
          <a:xfrm>
            <a:off x="755650" y="5516562"/>
            <a:ext cx="7848600" cy="519112"/>
          </a:xfrm>
          <a:prstGeom prst="rect">
            <a:avLst/>
          </a:prstGeom>
          <a:noFill/>
        </p:spPr>
        <p:txBody>
          <a:bodyPr lIns="91440" tIns="45720" rIns="91440" bIns="45720">
            <a:spAutoFit/>
          </a:bodyPr>
          <a:lstStyle/>
          <a:p>
            <a:pPr lvl="0" hangingPunct="1"/>
            <a:r>
              <a:rPr lang="zh-CN" sz="2800" b="1" i="0" u="none">
                <a:solidFill>
                  <a:srgbClr val="AE1E39"/>
                </a:solidFill>
                <a:ea typeface="楷体_GB2312" pitchFamily="49" charset="-122"/>
              </a:rPr>
              <a:t>在生物学体系中，酶发挥了上述偶联的作用。</a:t>
            </a:r>
            <a:endParaRPr lang="zh-CN" sz="2800" b="1" i="0" u="none">
              <a:solidFill>
                <a:srgbClr val="AE1E39"/>
              </a:solidFill>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6">
                                            <p:txEl>
                                              <p:pRg st="0" end="35"/>
                                            </p:txEl>
                                          </p:spTgt>
                                        </p:tgtEl>
                                        <p:attrNameLst>
                                          <p:attrName>style.visibility</p:attrName>
                                        </p:attrNameLst>
                                      </p:cBhvr>
                                      <p:to>
                                        <p:strVal val="visible"/>
                                      </p:to>
                                    </p:set>
                                    <p:animEffect transition="in" filter="dissolve">
                                      <p:cBhvr>
                                        <p:cTn id="7" dur="500"/>
                                        <p:tgtEl>
                                          <p:spTgt spid="106">
                                            <p:txEl>
                                              <p:pRg st="0" end="35"/>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6">
                                            <p:txEl>
                                              <p:pRg st="35" end="72"/>
                                            </p:txEl>
                                          </p:spTgt>
                                        </p:tgtEl>
                                        <p:attrNameLst>
                                          <p:attrName>style.visibility</p:attrName>
                                        </p:attrNameLst>
                                      </p:cBhvr>
                                      <p:to>
                                        <p:strVal val="visible"/>
                                      </p:to>
                                    </p:set>
                                    <p:animEffect transition="in" filter="dissolve">
                                      <p:cBhvr>
                                        <p:cTn id="12" dur="500"/>
                                        <p:tgtEl>
                                          <p:spTgt spid="106">
                                            <p:txEl>
                                              <p:pRg st="35" end="7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6">
                                            <p:txEl>
                                              <p:pRg st="72" end="118"/>
                                            </p:txEl>
                                          </p:spTgt>
                                        </p:tgtEl>
                                        <p:attrNameLst>
                                          <p:attrName>style.visibility</p:attrName>
                                        </p:attrNameLst>
                                      </p:cBhvr>
                                      <p:to>
                                        <p:strVal val="visible"/>
                                      </p:to>
                                    </p:set>
                                    <p:animEffect transition="in" filter="dissolve">
                                      <p:cBhvr>
                                        <p:cTn id="17" dur="500"/>
                                        <p:tgtEl>
                                          <p:spTgt spid="106">
                                            <p:txEl>
                                              <p:pRg st="72" end="11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6">
                                            <p:txEl>
                                              <p:pRg st="118" end="168"/>
                                            </p:txEl>
                                          </p:spTgt>
                                        </p:tgtEl>
                                        <p:attrNameLst>
                                          <p:attrName>style.visibility</p:attrName>
                                        </p:attrNameLst>
                                      </p:cBhvr>
                                      <p:to>
                                        <p:strVal val="visible"/>
                                      </p:to>
                                    </p:set>
                                    <p:animEffect transition="in" filter="dissolve">
                                      <p:cBhvr>
                                        <p:cTn id="22" dur="500"/>
                                        <p:tgtEl>
                                          <p:spTgt spid="106">
                                            <p:txEl>
                                              <p:pRg st="118" end="16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07"/>
                                        </p:tgtEl>
                                        <p:attrNameLst>
                                          <p:attrName>style.visibility</p:attrName>
                                        </p:attrNameLst>
                                      </p:cBhvr>
                                      <p:to>
                                        <p:strVal val="visible"/>
                                      </p:to>
                                    </p:set>
                                    <p:animEffect transition="in" filter="checkerboard(across)">
                                      <p:cBhvr>
                                        <p:cTn id="27" dur="500"/>
                                        <p:tgtEl>
                                          <p:spTgt spid="107"/>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09"/>
                                        </p:tgtEl>
                                        <p:attrNameLst>
                                          <p:attrName>style.visibility</p:attrName>
                                        </p:attrNameLst>
                                      </p:cBhvr>
                                      <p:to>
                                        <p:strVal val="visible"/>
                                      </p:to>
                                    </p:set>
                                    <p:animEffect transition="in" filter="checkerboard(across)">
                                      <p:cBhvr>
                                        <p:cTn id="32" dur="500"/>
                                        <p:tgtEl>
                                          <p:spTgt spid="109"/>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10" name=""/>
        <p:cNvGrpSpPr/>
        <p:nvPr/>
      </p:nvGrpSpPr>
      <p:grpSpPr>
        <a:xfrm>
          <a:off x="0" y="0"/>
          <a:ext cx="0" cy="0"/>
          <a:chOff x="0" y="0"/>
          <a:chExt cx="0" cy="0"/>
        </a:xfrm>
      </p:grpSpPr>
      <p:sp>
        <p:nvSpPr>
          <p:cNvPr id="111" name="Rectangle 2"/>
          <p:cNvSpPr>
            <a:spLocks noGrp="1" noChangeShapeType="1"/>
          </p:cNvSpPr>
          <p:nvPr/>
        </p:nvSpPr>
        <p:spPr>
          <a:xfrm>
            <a:off x="971550" y="1196975"/>
            <a:ext cx="6911975" cy="393541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457200" lvl="0" indent="-457200" hangingPunct="1">
              <a:spcBef>
                <a:spcPts val="0"/>
              </a:spcBef>
              <a:buNone/>
            </a:pPr>
            <a:r>
              <a:rPr lang="en-US" sz="2800" b="1" i="0" u="none">
                <a:latin typeface="Times New Roman" panose="02020603050405020304"/>
              </a:rPr>
              <a:t>(1) G  + Pi  </a:t>
            </a:r>
            <a:r>
              <a:rPr lang="en-US" sz="2800" b="1" i="0" u="none">
                <a:latin typeface="Times New Roman" panose="02020603050405020304"/>
                <a:sym typeface="Symbol" pitchFamily="18" charset="2"/>
              </a:rPr>
              <a:t></a:t>
            </a:r>
            <a:r>
              <a:rPr lang="en-US" sz="2800" b="1" i="0" u="none">
                <a:latin typeface="Times New Roman" panose="02020603050405020304"/>
              </a:rPr>
              <a:t> G-6-P + H</a:t>
            </a:r>
            <a:r>
              <a:rPr lang="en-US" sz="2800" b="1" i="0" u="none" baseline="-25000">
                <a:latin typeface="Times New Roman" panose="02020603050405020304"/>
              </a:rPr>
              <a:t>2</a:t>
            </a:r>
            <a:r>
              <a:rPr lang="en-US" sz="2800" b="1" i="0" u="none">
                <a:latin typeface="Times New Roman" panose="02020603050405020304"/>
              </a:rPr>
              <a:t>O       </a:t>
            </a:r>
            <a:endParaRPr lang="en-US" sz="2800" b="1" i="0" u="none">
              <a:latin typeface="Times New Roman" panose="02020603050405020304"/>
            </a:endParaRPr>
          </a:p>
          <a:p>
            <a:pPr marL="457200" lvl="0" indent="-457200" hangingPunct="1">
              <a:spcBef>
                <a:spcPts val="0"/>
              </a:spcBef>
              <a:spcAft>
                <a:spcPct val="100000"/>
              </a:spcAft>
              <a:buNone/>
            </a:pPr>
            <a:r>
              <a:rPr lang="en-US" sz="2800" b="1" i="0" u="none">
                <a:latin typeface="Times New Roman" panose="02020603050405020304"/>
              </a:rPr>
              <a:t>     ΔG</a:t>
            </a:r>
            <a:r>
              <a:rPr lang="en-US" sz="2800" b="1" i="0" u="none" baseline="30000">
                <a:latin typeface="Times New Roman" panose="02020603050405020304"/>
              </a:rPr>
              <a:t>0</a:t>
            </a:r>
            <a:r>
              <a:rPr lang="en-US" sz="2800" b="1" i="0" u="none">
                <a:latin typeface="Times New Roman" panose="02020603050405020304"/>
              </a:rPr>
              <a:t>' = 13.8 kJ/mol</a:t>
            </a:r>
            <a:endParaRPr lang="en-US" sz="2800" b="1" i="0" u="none">
              <a:latin typeface="Times New Roman" panose="02020603050405020304"/>
            </a:endParaRPr>
          </a:p>
          <a:p>
            <a:pPr marL="457200" lvl="0" indent="-457200" hangingPunct="1">
              <a:spcBef>
                <a:spcPts val="0"/>
              </a:spcBef>
              <a:buNone/>
            </a:pPr>
            <a:r>
              <a:rPr lang="en-US" sz="2800" b="1" i="0" u="none">
                <a:latin typeface="Times New Roman" panose="02020603050405020304"/>
              </a:rPr>
              <a:t>(2) ATP + H</a:t>
            </a:r>
            <a:r>
              <a:rPr lang="en-US" sz="2800" b="1" i="0" u="none" baseline="-25000">
                <a:latin typeface="Times New Roman" panose="02020603050405020304"/>
              </a:rPr>
              <a:t>2</a:t>
            </a:r>
            <a:r>
              <a:rPr lang="en-US" sz="2800" b="1" i="0" u="none">
                <a:latin typeface="Times New Roman" panose="02020603050405020304"/>
              </a:rPr>
              <a:t>O </a:t>
            </a:r>
            <a:r>
              <a:rPr lang="en-US" sz="2800" b="1" i="0" u="none">
                <a:latin typeface="Times New Roman" panose="02020603050405020304"/>
                <a:sym typeface="Symbol" pitchFamily="18" charset="2"/>
              </a:rPr>
              <a:t></a:t>
            </a:r>
            <a:r>
              <a:rPr lang="en-US" sz="2800" b="1" i="0" u="none">
                <a:latin typeface="Times New Roman" panose="02020603050405020304"/>
              </a:rPr>
              <a:t>  ADP + Pi </a:t>
            </a:r>
            <a:endParaRPr lang="en-US" sz="2800" b="1" i="0" u="none">
              <a:latin typeface="Times New Roman" panose="02020603050405020304"/>
            </a:endParaRPr>
          </a:p>
          <a:p>
            <a:pPr marL="457200" lvl="0" indent="-457200" hangingPunct="1">
              <a:spcBef>
                <a:spcPts val="0"/>
              </a:spcBef>
              <a:spcAft>
                <a:spcPct val="100000"/>
              </a:spcAft>
              <a:buNone/>
            </a:pPr>
            <a:r>
              <a:rPr lang="en-US" sz="2800" b="1" i="0" u="none">
                <a:latin typeface="Times New Roman" panose="02020603050405020304"/>
              </a:rPr>
              <a:t>     ΔG</a:t>
            </a:r>
            <a:r>
              <a:rPr lang="en-US" sz="2800" b="1" i="0" u="none" baseline="30000">
                <a:latin typeface="Times New Roman" panose="02020603050405020304"/>
              </a:rPr>
              <a:t>0</a:t>
            </a:r>
            <a:r>
              <a:rPr lang="en-US" sz="2800" b="1" i="0" u="none">
                <a:latin typeface="Times New Roman" panose="02020603050405020304"/>
              </a:rPr>
              <a:t>' = -30.5 kJ/mol</a:t>
            </a:r>
            <a:endParaRPr lang="en-US" sz="2800" b="1" i="0" u="none">
              <a:latin typeface="Times New Roman" panose="02020603050405020304"/>
            </a:endParaRPr>
          </a:p>
          <a:p>
            <a:pPr marL="457200" lvl="0" indent="-457200" hangingPunct="1">
              <a:spcBef>
                <a:spcPts val="0"/>
              </a:spcBef>
              <a:buNone/>
            </a:pPr>
            <a:r>
              <a:rPr lang="en-US" sz="2800" b="1" i="0" u="none">
                <a:latin typeface="Times New Roman" panose="02020603050405020304"/>
              </a:rPr>
              <a:t>Sum: ATP + G </a:t>
            </a:r>
            <a:r>
              <a:rPr lang="en-US" sz="2800" b="1" i="0" u="none">
                <a:latin typeface="Times New Roman" panose="02020603050405020304"/>
                <a:sym typeface="Symbol" pitchFamily="18" charset="2"/>
              </a:rPr>
              <a:t> </a:t>
            </a:r>
            <a:r>
              <a:rPr lang="en-US" sz="2800" b="1" i="0" u="none">
                <a:latin typeface="Times New Roman" panose="02020603050405020304"/>
              </a:rPr>
              <a:t>ADP + </a:t>
            </a:r>
            <a:r>
              <a:rPr lang="en-US" sz="2800" b="1" i="0" u="none"/>
              <a:t>G-6-P</a:t>
            </a:r>
            <a:r>
              <a:rPr lang="en-US" sz="2800" b="1" i="0" u="none">
                <a:latin typeface="Times New Roman" panose="02020603050405020304"/>
              </a:rPr>
              <a:t> </a:t>
            </a:r>
            <a:endParaRPr lang="en-US" sz="2800" b="1" i="0" u="none">
              <a:latin typeface="Times New Roman" panose="02020603050405020304"/>
            </a:endParaRPr>
          </a:p>
          <a:p>
            <a:pPr marL="457200" lvl="0" indent="-457200" hangingPunct="1">
              <a:spcBef>
                <a:spcPts val="0"/>
              </a:spcBef>
              <a:buNone/>
            </a:pPr>
            <a:r>
              <a:rPr lang="en-US" sz="2800" b="1" i="0" u="none">
                <a:latin typeface="Times New Roman" panose="02020603050405020304"/>
              </a:rPr>
              <a:t>      ΔG</a:t>
            </a:r>
            <a:r>
              <a:rPr lang="en-US" sz="2800" b="1" i="0" u="none" baseline="30000">
                <a:latin typeface="Times New Roman" panose="02020603050405020304"/>
              </a:rPr>
              <a:t>0</a:t>
            </a:r>
            <a:r>
              <a:rPr lang="en-US" sz="2800" b="1" i="0" u="none">
                <a:latin typeface="Times New Roman" panose="02020603050405020304"/>
              </a:rPr>
              <a:t>' = +13.8 kJ/mol + (-30.5 kJ/mol) </a:t>
            </a:r>
            <a:endParaRPr lang="en-US" sz="2800" b="1" i="0" u="none">
              <a:latin typeface="Times New Roman" panose="02020603050405020304"/>
            </a:endParaRPr>
          </a:p>
          <a:p>
            <a:pPr marL="457200" lvl="0" indent="-457200" hangingPunct="1">
              <a:spcBef>
                <a:spcPts val="0"/>
              </a:spcBef>
              <a:buNone/>
            </a:pPr>
            <a:r>
              <a:rPr lang="en-US" sz="2800" b="1" i="0" u="none">
                <a:latin typeface="Times New Roman" panose="02020603050405020304"/>
              </a:rPr>
              <a:t>                 = -16.7 kJ/mol</a:t>
            </a:r>
            <a:endParaRPr lang="en-US" sz="2800" b="1" i="0" u="none">
              <a:latin typeface="Times New Roman" panose="02020603050405020304"/>
            </a:endParaRPr>
          </a:p>
        </p:txBody>
      </p:sp>
      <p:sp>
        <p:nvSpPr>
          <p:cNvPr id="112" name="Rectangle 3"/>
          <p:cNvSpPr>
            <a:spLocks noGrp="1" noChangeShapeType="1"/>
          </p:cNvSpPr>
          <p:nvPr/>
        </p:nvSpPr>
        <p:spPr>
          <a:xfrm>
            <a:off x="684212" y="476250"/>
            <a:ext cx="8208962" cy="51911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en-US" sz="2800" b="1" i="0" u="none">
                <a:latin typeface="黑体" pitchFamily="49" charset="-122"/>
                <a:ea typeface="黑体" pitchFamily="49" charset="-122"/>
              </a:rPr>
              <a:t>例：6-磷酸葡萄糖的生成</a:t>
            </a:r>
            <a:endParaRPr lang="en-US" sz="2800" b="1" i="0" u="none">
              <a:latin typeface="黑体" pitchFamily="49" charset="-122"/>
              <a:ea typeface="黑体" pitchFamily="49" charset="-122"/>
            </a:endParaRPr>
          </a:p>
        </p:txBody>
      </p:sp>
      <p:sp>
        <p:nvSpPr>
          <p:cNvPr id="113" name="Rectangle 4"/>
          <p:cNvSpPr>
            <a:spLocks noGrp="1" noChangeShapeType="1"/>
          </p:cNvSpPr>
          <p:nvPr/>
        </p:nvSpPr>
        <p:spPr>
          <a:xfrm>
            <a:off x="1835150" y="3789362"/>
            <a:ext cx="4321175" cy="431800"/>
          </a:xfrm>
          <a:prstGeom prst="rect">
            <a:avLst/>
          </a:prstGeom>
          <a:noFill/>
          <a:ln w="38100">
            <a:solidFill>
              <a:srgbClr val="AE1E39"/>
            </a:solidFill>
            <a:round/>
          </a:ln>
        </p:spPr>
        <p:txBody>
          <a:bodyPr wrap="none" anchor="ctr" anchorCtr="0"/>
          <a:lstStyle/>
          <a:p>
            <a:endParaRPr sz="1400" dirty="0"/>
          </a:p>
        </p:txBody>
      </p:sp>
      <p:sp>
        <p:nvSpPr>
          <p:cNvPr id="114" name="Text Box 6"/>
          <p:cNvSpPr txBox="1">
            <a:spLocks noGrp="1" noChangeShapeType="1"/>
          </p:cNvSpPr>
          <p:nvPr/>
        </p:nvSpPr>
        <p:spPr>
          <a:xfrm>
            <a:off x="611187" y="5229225"/>
            <a:ext cx="7921625" cy="118745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2400" b="1" i="0" u="none">
                <a:ea typeface="楷体_GB2312" pitchFamily="49" charset="-122"/>
              </a:rPr>
              <a:t>事实表明，细胞中酶催化发生的复杂反应可以被拆分为数个简单反应，分别测定，然后求出总反应自由能变化。细胞中，该葡萄糖（G）磷酸化反应由</a:t>
            </a:r>
            <a:r>
              <a:rPr lang="zh-CN" sz="2400" b="1" i="0" u="none">
                <a:solidFill>
                  <a:srgbClr val="AE1E39"/>
                </a:solidFill>
                <a:ea typeface="楷体_GB2312" pitchFamily="49" charset="-122"/>
              </a:rPr>
              <a:t>己糖激酶</a:t>
            </a:r>
            <a:r>
              <a:rPr lang="zh-CN" sz="2400" b="1" i="0" u="none">
                <a:ea typeface="楷体_GB2312" pitchFamily="49" charset="-122"/>
              </a:rPr>
              <a:t>催化进行。</a:t>
            </a:r>
            <a:endParaRPr lang="zh-CN" sz="2400" b="1" i="0" u="none">
              <a:ea typeface="楷体_GB2312" pitchFamily="49" charset="-122"/>
            </a:endParaRPr>
          </a:p>
        </p:txBody>
      </p:sp>
      <p:sp>
        <p:nvSpPr>
          <p:cNvPr id="115" name="Text Box 7"/>
          <p:cNvSpPr txBox="1">
            <a:spLocks noGrp="1" noChangeShapeType="1"/>
          </p:cNvSpPr>
          <p:nvPr/>
        </p:nvSpPr>
        <p:spPr>
          <a:xfrm>
            <a:off x="6588125" y="1125537"/>
            <a:ext cx="1631950" cy="366712"/>
          </a:xfrm>
          <a:prstGeom prst="rect">
            <a:avLst/>
          </a:prstGeom>
          <a:noFill/>
        </p:spPr>
        <p:txBody>
          <a:bodyPr wrap="none">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en-US" sz="1800"/>
              <a:t>查P36 表20-3 </a:t>
            </a:r>
            <a:endParaRPr lang="en-US" sz="1800"/>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11">
                                            <p:txEl>
                                              <p:pRg st="0" end="34"/>
                                            </p:txEl>
                                          </p:spTgt>
                                        </p:tgtEl>
                                        <p:attrNameLst>
                                          <p:attrName>style.visibility</p:attrName>
                                        </p:attrNameLst>
                                      </p:cBhvr>
                                      <p:to>
                                        <p:strVal val="visible"/>
                                      </p:to>
                                    </p:set>
                                    <p:animEffect transition="in" filter="slide(fromBottom)">
                                      <p:cBhvr>
                                        <p:cTn id="7" dur="500"/>
                                        <p:tgtEl>
                                          <p:spTgt spid="111">
                                            <p:txEl>
                                              <p:pRg st="0" end="3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11">
                                            <p:txEl>
                                              <p:pRg st="34" end="58"/>
                                            </p:txEl>
                                          </p:spTgt>
                                        </p:tgtEl>
                                        <p:attrNameLst>
                                          <p:attrName>style.visibility</p:attrName>
                                        </p:attrNameLst>
                                      </p:cBhvr>
                                      <p:to>
                                        <p:strVal val="visible"/>
                                      </p:to>
                                    </p:set>
                                    <p:animEffect transition="in" filter="slide(fromBottom)">
                                      <p:cBhvr>
                                        <p:cTn id="12" dur="500"/>
                                        <p:tgtEl>
                                          <p:spTgt spid="111">
                                            <p:txEl>
                                              <p:pRg st="34" end="5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11">
                                            <p:txEl>
                                              <p:pRg st="58" end="85"/>
                                            </p:txEl>
                                          </p:spTgt>
                                        </p:tgtEl>
                                        <p:attrNameLst>
                                          <p:attrName>style.visibility</p:attrName>
                                        </p:attrNameLst>
                                      </p:cBhvr>
                                      <p:to>
                                        <p:strVal val="visible"/>
                                      </p:to>
                                    </p:set>
                                    <p:animEffect transition="in" filter="slide(fromBottom)">
                                      <p:cBhvr>
                                        <p:cTn id="17" dur="500"/>
                                        <p:tgtEl>
                                          <p:spTgt spid="111">
                                            <p:txEl>
                                              <p:pRg st="58" end="8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11">
                                            <p:txEl>
                                              <p:pRg st="85" end="110"/>
                                            </p:txEl>
                                          </p:spTgt>
                                        </p:tgtEl>
                                        <p:attrNameLst>
                                          <p:attrName>style.visibility</p:attrName>
                                        </p:attrNameLst>
                                      </p:cBhvr>
                                      <p:to>
                                        <p:strVal val="visible"/>
                                      </p:to>
                                    </p:set>
                                    <p:animEffect transition="in" filter="slide(fromBottom)">
                                      <p:cBhvr>
                                        <p:cTn id="22" dur="500"/>
                                        <p:tgtEl>
                                          <p:spTgt spid="111">
                                            <p:txEl>
                                              <p:pRg st="85" end="1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11">
                                            <p:txEl>
                                              <p:pRg st="138" end="182"/>
                                            </p:txEl>
                                          </p:spTgt>
                                        </p:tgtEl>
                                        <p:attrNameLst>
                                          <p:attrName>style.visibility</p:attrName>
                                        </p:attrNameLst>
                                      </p:cBhvr>
                                      <p:to>
                                        <p:strVal val="visible"/>
                                      </p:to>
                                    </p:set>
                                    <p:animEffect transition="in" filter="slide(fromBottom)">
                                      <p:cBhvr>
                                        <p:cTn id="27" dur="500"/>
                                        <p:tgtEl>
                                          <p:spTgt spid="111">
                                            <p:txEl>
                                              <p:pRg st="138" end="18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111">
                                            <p:txEl>
                                              <p:pRg st="182" end="214"/>
                                            </p:txEl>
                                          </p:spTgt>
                                        </p:tgtEl>
                                        <p:attrNameLst>
                                          <p:attrName>style.visibility</p:attrName>
                                        </p:attrNameLst>
                                      </p:cBhvr>
                                      <p:to>
                                        <p:strVal val="visible"/>
                                      </p:to>
                                    </p:set>
                                    <p:animEffect transition="in" filter="slide(fromBottom)">
                                      <p:cBhvr>
                                        <p:cTn id="32" dur="500"/>
                                        <p:tgtEl>
                                          <p:spTgt spid="111">
                                            <p:txEl>
                                              <p:pRg st="182" end="21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114"/>
                                        </p:tgtEl>
                                        <p:attrNameLst>
                                          <p:attrName>style.visibility</p:attrName>
                                        </p:attrNameLst>
                                      </p:cBhvr>
                                      <p:to>
                                        <p:strVal val="visible"/>
                                      </p:to>
                                    </p:set>
                                    <p:animEffect transition="in" filter="checkerboard(across)">
                                      <p:cBhvr>
                                        <p:cTn id="37" dur="1000"/>
                                        <p:tgtEl>
                                          <p:spTgt spid="114"/>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16" name=""/>
        <p:cNvGrpSpPr/>
        <p:nvPr/>
      </p:nvGrpSpPr>
      <p:grpSpPr>
        <a:xfrm>
          <a:off x="0" y="0"/>
          <a:ext cx="0" cy="0"/>
          <a:chOff x="0" y="0"/>
          <a:chExt cx="0" cy="0"/>
        </a:xfrm>
      </p:grpSpPr>
      <p:sp>
        <p:nvSpPr>
          <p:cNvPr id="117" name="Rectangle 2"/>
          <p:cNvSpPr>
            <a:spLocks noGrp="1" noChangeShapeType="1"/>
          </p:cNvSpPr>
          <p:nvPr>
            <p:ph type="title"/>
          </p:nvPr>
        </p:nvSpPr>
        <p:spPr>
          <a:xfrm>
            <a:off x="755650" y="404812"/>
            <a:ext cx="6121400" cy="752475"/>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3200" b="1" i="0" u="none">
                <a:latin typeface="Times New Roman" panose="02020603050405020304"/>
                <a:ea typeface="黑体" pitchFamily="49" charset="-122"/>
              </a:rPr>
              <a:t>2.3  标准生成自由能</a:t>
            </a:r>
            <a:endParaRPr lang="zh-CN" sz="3200" b="1" i="0" u="none">
              <a:latin typeface="Times New Roman" panose="02020603050405020304"/>
              <a:ea typeface="黑体" pitchFamily="49" charset="-122"/>
            </a:endParaRPr>
          </a:p>
        </p:txBody>
      </p:sp>
      <p:sp>
        <p:nvSpPr>
          <p:cNvPr id="118" name="Rectangle 3"/>
          <p:cNvSpPr>
            <a:spLocks noGrp="1" noChangeShapeType="1"/>
          </p:cNvSpPr>
          <p:nvPr>
            <p:ph type="body"/>
          </p:nvPr>
        </p:nvSpPr>
        <p:spPr>
          <a:xfrm>
            <a:off x="900112" y="2924175"/>
            <a:ext cx="6408737" cy="495300"/>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lnSpc>
                <a:spcPct val="90000"/>
              </a:lnSpc>
              <a:spcBef>
                <a:spcPct val="20000"/>
              </a:spcBef>
              <a:buNone/>
            </a:pPr>
            <a:r>
              <a:rPr lang="en-US" sz="2800" b="1" i="0" u="none">
                <a:solidFill>
                  <a:srgbClr val="AE1E39"/>
                </a:solidFill>
              </a:rPr>
              <a:t>△G</a:t>
            </a:r>
            <a:r>
              <a:rPr lang="en-US" sz="2800" b="1" i="0" u="none" baseline="30000">
                <a:solidFill>
                  <a:srgbClr val="AE1E39"/>
                </a:solidFill>
              </a:rPr>
              <a:t>0</a:t>
            </a:r>
            <a:r>
              <a:rPr lang="en-US" sz="2800" b="1" i="0" u="none">
                <a:solidFill>
                  <a:srgbClr val="AE1E39"/>
                </a:solidFill>
              </a:rPr>
              <a:t>=∑ ΔG</a:t>
            </a:r>
            <a:r>
              <a:rPr lang="en-US" sz="2800" b="1" i="0" u="none" baseline="30000">
                <a:solidFill>
                  <a:srgbClr val="AE1E39"/>
                </a:solidFill>
              </a:rPr>
              <a:t>0</a:t>
            </a:r>
            <a:r>
              <a:rPr lang="zh-CN" sz="2800" b="1" i="0" u="none" baseline="-25000">
                <a:solidFill>
                  <a:srgbClr val="AE1E39"/>
                </a:solidFill>
              </a:rPr>
              <a:t>f产物</a:t>
            </a:r>
            <a:r>
              <a:rPr lang="en-US" sz="2800" b="1" i="0" u="none">
                <a:solidFill>
                  <a:srgbClr val="AE1E39"/>
                </a:solidFill>
              </a:rPr>
              <a:t>﹣ ∑ ΔG</a:t>
            </a:r>
            <a:r>
              <a:rPr lang="en-US" sz="2800" b="1" i="0" u="none" baseline="30000">
                <a:solidFill>
                  <a:srgbClr val="AE1E39"/>
                </a:solidFill>
              </a:rPr>
              <a:t>0</a:t>
            </a:r>
            <a:r>
              <a:rPr lang="zh-CN" sz="2800" b="1" i="0" u="none" baseline="-25000">
                <a:solidFill>
                  <a:srgbClr val="AE1E39"/>
                </a:solidFill>
              </a:rPr>
              <a:t>f反应物</a:t>
            </a:r>
            <a:endParaRPr lang="zh-CN" sz="2800" b="1" i="0" u="none" baseline="-25000">
              <a:solidFill>
                <a:srgbClr val="AE1E39"/>
              </a:solidFill>
            </a:endParaRPr>
          </a:p>
        </p:txBody>
      </p:sp>
      <p:sp>
        <p:nvSpPr>
          <p:cNvPr id="119" name="Text Box 4"/>
          <p:cNvSpPr txBox="1">
            <a:spLocks noGrp="1" noChangeShapeType="1"/>
          </p:cNvSpPr>
          <p:nvPr/>
        </p:nvSpPr>
        <p:spPr>
          <a:xfrm>
            <a:off x="684212" y="1268412"/>
            <a:ext cx="7777162" cy="1433512"/>
          </a:xfrm>
          <a:prstGeom prst="rect">
            <a:avLst/>
          </a:prstGeom>
          <a:solidFill>
            <a:schemeClr val="lt1"/>
          </a:solidFill>
        </p:spPr>
        <p:txBody>
          <a:bodyPr lIns="91440" tIns="45720" rIns="91440" bIns="45720">
            <a:spAutoFit/>
          </a:bodyPr>
          <a:lstStyle/>
          <a:p>
            <a:pPr lvl="0" hangingPunct="1"/>
            <a:r>
              <a:rPr lang="zh-CN" sz="3200" b="0" i="0" u="none">
                <a:latin typeface="Times New Roman" panose="02020603050405020304"/>
                <a:ea typeface="黑体" pitchFamily="49" charset="-122"/>
              </a:rPr>
              <a:t>标准生成自由能：</a:t>
            </a:r>
            <a:r>
              <a:rPr lang="en-US" sz="2800" b="0" i="0" u="none">
                <a:latin typeface="楷体_GB2312" pitchFamily="49" charset="-122"/>
                <a:ea typeface="楷体_GB2312" pitchFamily="49" charset="-122"/>
              </a:rPr>
              <a:t>由处于标准状态的最稳定单质合成标准状态当量的某化合物时，其标准自由能的变化值。用 ΔG</a:t>
            </a:r>
            <a:r>
              <a:rPr lang="en-US" sz="2800" b="0" i="0" u="none" baseline="30000">
                <a:latin typeface="楷体_GB2312" pitchFamily="49" charset="-122"/>
                <a:ea typeface="楷体_GB2312" pitchFamily="49" charset="-122"/>
              </a:rPr>
              <a:t>0</a:t>
            </a:r>
            <a:r>
              <a:rPr lang="en-US" sz="2800" b="0" i="0" u="none" baseline="-25000">
                <a:latin typeface="楷体_GB2312" pitchFamily="49" charset="-122"/>
                <a:ea typeface="楷体_GB2312" pitchFamily="49" charset="-122"/>
              </a:rPr>
              <a:t>f</a:t>
            </a:r>
            <a:r>
              <a:rPr lang="zh-CN" sz="2800" b="0" i="0" u="none">
                <a:latin typeface="楷体_GB2312" pitchFamily="49" charset="-122"/>
                <a:ea typeface="楷体_GB2312" pitchFamily="49" charset="-122"/>
              </a:rPr>
              <a:t>表示，为物质常数。</a:t>
            </a:r>
            <a:endParaRPr lang="zh-CN" sz="2800" b="0" i="0" u="none">
              <a:latin typeface="楷体_GB2312" pitchFamily="49" charset="-122"/>
              <a:ea typeface="楷体_GB2312" pitchFamily="49" charset="-122"/>
            </a:endParaRPr>
          </a:p>
        </p:txBody>
      </p:sp>
      <p:sp>
        <p:nvSpPr>
          <p:cNvPr id="120" name="Text Box 5"/>
          <p:cNvSpPr txBox="1">
            <a:spLocks noGrp="1" noChangeShapeType="1"/>
          </p:cNvSpPr>
          <p:nvPr/>
        </p:nvSpPr>
        <p:spPr>
          <a:xfrm>
            <a:off x="827087" y="3500437"/>
            <a:ext cx="7847012" cy="946150"/>
          </a:xfrm>
          <a:prstGeom prst="rect">
            <a:avLst/>
          </a:prstGeom>
          <a:solidFill>
            <a:schemeClr val="lt1"/>
          </a:solid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en-US" sz="2800" b="0" i="0" u="none">
                <a:latin typeface="楷体_GB2312" pitchFamily="49" charset="-122"/>
                <a:ea typeface="楷体_GB2312" pitchFamily="49" charset="-122"/>
              </a:rPr>
              <a:t>每一种有机化合物都有其特定的ΔG</a:t>
            </a:r>
            <a:r>
              <a:rPr lang="en-US" sz="2800" b="0" i="0" u="none" baseline="30000">
                <a:latin typeface="楷体_GB2312" pitchFamily="49" charset="-122"/>
                <a:ea typeface="楷体_GB2312" pitchFamily="49" charset="-122"/>
              </a:rPr>
              <a:t>0</a:t>
            </a:r>
            <a:r>
              <a:rPr lang="en-US" sz="2800" b="0" i="0" u="none" baseline="-25000">
                <a:latin typeface="楷体_GB2312" pitchFamily="49" charset="-122"/>
                <a:ea typeface="楷体_GB2312" pitchFamily="49" charset="-122"/>
              </a:rPr>
              <a:t>f</a:t>
            </a:r>
            <a:r>
              <a:rPr lang="zh-CN" sz="2800" b="0" i="0" u="none">
                <a:latin typeface="楷体_GB2312" pitchFamily="49" charset="-122"/>
                <a:ea typeface="楷体_GB2312" pitchFamily="49" charset="-122"/>
              </a:rPr>
              <a:t> 。一些化合物的标准生成自由能见p31 表20-2.</a:t>
            </a:r>
            <a:endParaRPr lang="zh-CN" sz="2800" b="0" i="0" u="none">
              <a:latin typeface="楷体_GB2312" pitchFamily="49" charset="-122"/>
              <a:ea typeface="楷体_GB2312" pitchFamily="49" charset="-122"/>
            </a:endParaRPr>
          </a:p>
        </p:txBody>
      </p:sp>
      <p:sp>
        <p:nvSpPr>
          <p:cNvPr id="121" name="Rectangle 6"/>
          <p:cNvSpPr>
            <a:spLocks noGrp="1" noChangeShapeType="1"/>
          </p:cNvSpPr>
          <p:nvPr/>
        </p:nvSpPr>
        <p:spPr>
          <a:xfrm>
            <a:off x="539750" y="4652962"/>
            <a:ext cx="8389937" cy="1152525"/>
          </a:xfrm>
          <a:prstGeom prst="rect">
            <a:avLst/>
          </a:prstGeom>
          <a:noFill/>
        </p:spPr>
        <p:txBody>
          <a:bodyPr lIns="91440" tIns="45720" rIns="91440" bIns="45720"/>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lnSpc>
                <a:spcPct val="90000"/>
              </a:lnSpc>
              <a:spcBef>
                <a:spcPct val="20000"/>
              </a:spcBef>
              <a:buNone/>
            </a:pPr>
            <a:r>
              <a:rPr lang="zh-CN" sz="2800" b="1" i="0" u="none">
                <a:latin typeface="楷体_GB2312" pitchFamily="49" charset="-122"/>
                <a:ea typeface="楷体_GB2312" pitchFamily="49" charset="-122"/>
              </a:rPr>
              <a:t>例：   草酰乙酸</a:t>
            </a:r>
            <a:r>
              <a:rPr lang="en-US" sz="2800" b="1" i="0" u="none" baseline="30000">
                <a:latin typeface="楷体_GB2312" pitchFamily="49" charset="-122"/>
                <a:ea typeface="楷体_GB2312" pitchFamily="49" charset="-122"/>
              </a:rPr>
              <a:t>2-</a:t>
            </a:r>
            <a:r>
              <a:rPr lang="en-US" sz="2800" b="1" i="0" u="none">
                <a:latin typeface="楷体_GB2312" pitchFamily="49" charset="-122"/>
                <a:ea typeface="楷体_GB2312" pitchFamily="49" charset="-122"/>
              </a:rPr>
              <a:t> + H</a:t>
            </a:r>
            <a:r>
              <a:rPr lang="en-US" sz="2800" b="1" i="0" u="none" baseline="30000">
                <a:latin typeface="楷体_GB2312" pitchFamily="49" charset="-122"/>
                <a:ea typeface="楷体_GB2312" pitchFamily="49" charset="-122"/>
              </a:rPr>
              <a:t>+</a:t>
            </a:r>
            <a:r>
              <a:rPr lang="en-US" sz="2800" b="1" i="0" u="none">
                <a:latin typeface="楷体_GB2312" pitchFamily="49" charset="-122"/>
                <a:ea typeface="楷体_GB2312" pitchFamily="49" charset="-122"/>
              </a:rPr>
              <a:t> = CO</a:t>
            </a:r>
            <a:r>
              <a:rPr lang="en-US" sz="2800" b="1" i="0" u="none" baseline="-25000">
                <a:latin typeface="楷体_GB2312" pitchFamily="49" charset="-122"/>
                <a:ea typeface="楷体_GB2312" pitchFamily="49" charset="-122"/>
              </a:rPr>
              <a:t>2</a:t>
            </a:r>
            <a:r>
              <a:rPr lang="zh-CN" sz="2800" b="1" i="0" u="none">
                <a:latin typeface="楷体_GB2312" pitchFamily="49" charset="-122"/>
                <a:ea typeface="楷体_GB2312" pitchFamily="49" charset="-122"/>
              </a:rPr>
              <a:t> + 丙酮酸</a:t>
            </a:r>
            <a:r>
              <a:rPr lang="en-US" sz="2800" b="1" i="0" u="none" baseline="30000">
                <a:latin typeface="楷体_GB2312" pitchFamily="49" charset="-122"/>
                <a:ea typeface="楷体_GB2312" pitchFamily="49" charset="-122"/>
              </a:rPr>
              <a:t>-</a:t>
            </a:r>
            <a:r>
              <a:rPr lang="en-US" sz="2800" b="1" i="0" u="none">
                <a:latin typeface="楷体_GB2312" pitchFamily="49" charset="-122"/>
                <a:ea typeface="楷体_GB2312" pitchFamily="49" charset="-122"/>
              </a:rPr>
              <a:t> </a:t>
            </a:r>
            <a:endParaRPr lang="en-US" sz="2800" b="1" i="0" u="none">
              <a:latin typeface="楷体_GB2312" pitchFamily="49" charset="-122"/>
              <a:ea typeface="楷体_GB2312" pitchFamily="49" charset="-122"/>
            </a:endParaRPr>
          </a:p>
          <a:p>
            <a:pPr marL="342900" lvl="0" indent="-342900" hangingPunct="1">
              <a:lnSpc>
                <a:spcPct val="90000"/>
              </a:lnSpc>
              <a:spcBef>
                <a:spcPct val="20000"/>
              </a:spcBef>
              <a:buNone/>
            </a:pPr>
            <a:r>
              <a:rPr lang="en-US" sz="2800" b="0" i="0" u="none"/>
              <a:t>ΔG</a:t>
            </a:r>
            <a:r>
              <a:rPr lang="en-US" sz="2800" b="0" i="0" u="none" baseline="30000"/>
              <a:t>0</a:t>
            </a:r>
            <a:r>
              <a:rPr lang="en-US" sz="2800" b="0" i="0" u="none" baseline="-25000"/>
              <a:t>f:</a:t>
            </a:r>
            <a:r>
              <a:rPr lang="en-US" sz="2800" b="0" i="0" u="none"/>
              <a:t>       -797          -40     -395    -474        kJ/mol</a:t>
            </a:r>
            <a:r>
              <a:rPr lang="en-US" b="1" i="0" u="none"/>
              <a:t> </a:t>
            </a:r>
            <a:endParaRPr lang="en-US" b="1" i="0" u="none"/>
          </a:p>
        </p:txBody>
      </p:sp>
      <p:sp>
        <p:nvSpPr>
          <p:cNvPr id="122" name="Rectangle 8"/>
          <p:cNvSpPr>
            <a:spLocks noGrp="1" noChangeShapeType="1"/>
          </p:cNvSpPr>
          <p:nvPr/>
        </p:nvSpPr>
        <p:spPr>
          <a:xfrm>
            <a:off x="1187450" y="5876925"/>
            <a:ext cx="6834187" cy="519112"/>
          </a:xfrm>
          <a:prstGeom prst="rect">
            <a:avLst/>
          </a:prstGeom>
          <a:noFill/>
        </p:spPr>
        <p:txBody>
          <a:bodyPr wrap="none">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spcAft>
                <a:spcPct val="100000"/>
              </a:spcAft>
              <a:buNone/>
            </a:pPr>
            <a:r>
              <a:rPr lang="en-US" sz="2800" b="0" i="0" u="none"/>
              <a:t>ΔG</a:t>
            </a:r>
            <a:r>
              <a:rPr lang="en-US" sz="2800" b="0" i="0" u="none" baseline="30000"/>
              <a:t>0</a:t>
            </a:r>
            <a:r>
              <a:rPr lang="en-US" sz="2800" b="0" i="0" u="none"/>
              <a:t> = -395- 474 +797+40 = -32.68kJ/mol</a:t>
            </a:r>
            <a:endParaRPr lang="en-US" sz="2800" b="0" i="0" u="none"/>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fade">
                                      <p:cBhvr>
                                        <p:cTn id="7" dur="2000"/>
                                        <p:tgtEl>
                                          <p:spTgt spid="11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8">
                                            <p:txEl>
                                              <p:pRg st="0" end="24"/>
                                            </p:txEl>
                                          </p:spTgt>
                                        </p:tgtEl>
                                        <p:attrNameLst>
                                          <p:attrName>style.visibility</p:attrName>
                                        </p:attrNameLst>
                                      </p:cBhvr>
                                      <p:to>
                                        <p:strVal val="visible"/>
                                      </p:to>
                                    </p:set>
                                    <p:animEffect transition="in" filter="checkerboard(across)">
                                      <p:cBhvr>
                                        <p:cTn id="12" dur="500"/>
                                        <p:tgtEl>
                                          <p:spTgt spid="118">
                                            <p:txEl>
                                              <p:pRg st="0" end="2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0">
                                            <p:txEl>
                                              <p:pRg st="0" end="45"/>
                                            </p:txEl>
                                          </p:spTgt>
                                        </p:tgtEl>
                                        <p:attrNameLst>
                                          <p:attrName>style.visibility</p:attrName>
                                        </p:attrNameLst>
                                      </p:cBhvr>
                                      <p:to>
                                        <p:strVal val="visible"/>
                                      </p:to>
                                    </p:set>
                                    <p:animEffect transition="in" filter="fade">
                                      <p:cBhvr>
                                        <p:cTn id="17" dur="2000"/>
                                        <p:tgtEl>
                                          <p:spTgt spid="120">
                                            <p:txEl>
                                              <p:pRg st="0" end="4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21">
                                            <p:txEl>
                                              <p:pRg st="0" end="31"/>
                                            </p:txEl>
                                          </p:spTgt>
                                        </p:tgtEl>
                                        <p:attrNameLst>
                                          <p:attrName>style.visibility</p:attrName>
                                        </p:attrNameLst>
                                      </p:cBhvr>
                                      <p:to>
                                        <p:strVal val="visible"/>
                                      </p:to>
                                    </p:set>
                                    <p:anim calcmode="lin" valueType="num">
                                      <p:cBhvr additive="base">
                                        <p:cTn id="22" dur="500" fill="hold"/>
                                        <p:tgtEl>
                                          <p:spTgt spid="121">
                                            <p:txEl>
                                              <p:pRg st="0" end="3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21">
                                            <p:txEl>
                                              <p:pRg st="0" end="31"/>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121">
                                            <p:txEl>
                                              <p:pRg st="31" end="93"/>
                                            </p:txEl>
                                          </p:spTgt>
                                        </p:tgtEl>
                                        <p:attrNameLst>
                                          <p:attrName>style.visibility</p:attrName>
                                        </p:attrNameLst>
                                      </p:cBhvr>
                                      <p:to>
                                        <p:strVal val="visible"/>
                                      </p:to>
                                    </p:set>
                                    <p:animEffect transition="in" filter="box(in)">
                                      <p:cBhvr>
                                        <p:cTn id="28" dur="500"/>
                                        <p:tgtEl>
                                          <p:spTgt spid="121">
                                            <p:txEl>
                                              <p:pRg st="31" end="9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22"/>
                                        </p:tgtEl>
                                        <p:attrNameLst>
                                          <p:attrName>style.visibility</p:attrName>
                                        </p:attrNameLst>
                                      </p:cBhvr>
                                      <p:to>
                                        <p:strVal val="visible"/>
                                      </p:to>
                                    </p:set>
                                    <p:anim calcmode="lin" valueType="num">
                                      <p:cBhvr additive="base">
                                        <p:cTn id="33" dur="500" fill="hold"/>
                                        <p:tgtEl>
                                          <p:spTgt spid="122"/>
                                        </p:tgtEl>
                                        <p:attrNameLst>
                                          <p:attrName>ppt_x</p:attrName>
                                        </p:attrNameLst>
                                      </p:cBhvr>
                                      <p:tavLst>
                                        <p:tav tm="0">
                                          <p:val>
                                            <p:strVal val="#ppt_x"/>
                                          </p:val>
                                        </p:tav>
                                        <p:tav tm="100000">
                                          <p:val>
                                            <p:strVal val="#ppt_x"/>
                                          </p:val>
                                        </p:tav>
                                      </p:tavLst>
                                    </p:anim>
                                    <p:anim calcmode="lin" valueType="num">
                                      <p:cBhvr additive="base">
                                        <p:cTn id="34" dur="500" fill="hold"/>
                                        <p:tgtEl>
                                          <p:spTgt spid="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24" name="Rectangle 2"/>
          <p:cNvSpPr>
            <a:spLocks noGrp="1" noChangeShapeType="1"/>
          </p:cNvSpPr>
          <p:nvPr>
            <p:ph type="title"/>
          </p:nvPr>
        </p:nvSpPr>
        <p:spPr>
          <a:xfrm>
            <a:off x="611187" y="333375"/>
            <a:ext cx="7954962" cy="781050"/>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3200" b="1" i="0" u="none">
                <a:latin typeface="Times New Roman" panose="02020603050405020304"/>
                <a:ea typeface="黑体" pitchFamily="49" charset="-122"/>
              </a:rPr>
              <a:t>2.4 化学反应方向和自由能变化</a:t>
            </a:r>
            <a:endParaRPr lang="zh-CN" sz="3200" b="1" i="0" u="none">
              <a:latin typeface="Times New Roman" panose="02020603050405020304"/>
              <a:ea typeface="黑体" pitchFamily="49" charset="-122"/>
            </a:endParaRPr>
          </a:p>
        </p:txBody>
      </p:sp>
      <p:sp>
        <p:nvSpPr>
          <p:cNvPr id="125" name="Rectangle 3"/>
          <p:cNvSpPr>
            <a:spLocks noGrp="1" noChangeShapeType="1"/>
          </p:cNvSpPr>
          <p:nvPr>
            <p:ph type="body"/>
          </p:nvPr>
        </p:nvSpPr>
        <p:spPr>
          <a:xfrm>
            <a:off x="0" y="2819400"/>
            <a:ext cx="8915400" cy="3048000"/>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spcBef>
                <a:spcPct val="20000"/>
              </a:spcBef>
              <a:buClr>
                <a:srgbClr val="00007D"/>
              </a:buClr>
              <a:buSzPct val="75000"/>
              <a:buFont typeface="Wingdings" panose="05000000000000000000" pitchFamily="2" charset="2"/>
              <a:buChar char="n"/>
            </a:pPr>
          </a:p>
        </p:txBody>
      </p:sp>
      <p:sp>
        <p:nvSpPr>
          <p:cNvPr id="126" name="Rectangle 4"/>
          <p:cNvSpPr>
            <a:spLocks noGrp="1" noChangeShapeType="1"/>
          </p:cNvSpPr>
          <p:nvPr/>
        </p:nvSpPr>
        <p:spPr>
          <a:xfrm>
            <a:off x="755650" y="4005262"/>
            <a:ext cx="7848600" cy="2227262"/>
          </a:xfrm>
          <a:prstGeom prst="rect">
            <a:avLst/>
          </a:prstGeom>
          <a:noFill/>
        </p:spPr>
        <p:txBody>
          <a:bodyPr lIns="91440" tIns="45720" rIns="91440" bIns="45720">
            <a:spAutoFit/>
          </a:bodyPr>
          <a:lstStyle/>
          <a:p>
            <a:pPr lvl="0" hangingPunct="1"/>
            <a:r>
              <a:rPr lang="zh-CN" sz="2800" b="1" i="0" u="none">
                <a:latin typeface="楷体_GB2312" pitchFamily="49" charset="-122"/>
                <a:ea typeface="楷体_GB2312" pitchFamily="49" charset="-122"/>
              </a:rPr>
              <a:t>用</a:t>
            </a:r>
            <a:r>
              <a:rPr lang="en-US" sz="2800" b="1" i="0" u="none">
                <a:solidFill>
                  <a:srgbClr val="AE1E39"/>
                </a:solidFill>
                <a:latin typeface="楷体_GB2312" pitchFamily="49" charset="-122"/>
                <a:ea typeface="楷体_GB2312" pitchFamily="49" charset="-122"/>
              </a:rPr>
              <a:t>∆G</a:t>
            </a:r>
            <a:r>
              <a:rPr lang="zh-CN" sz="2800" b="1" i="0" u="none">
                <a:latin typeface="楷体_GB2312" pitchFamily="49" charset="-122"/>
                <a:ea typeface="楷体_GB2312" pitchFamily="49" charset="-122"/>
              </a:rPr>
              <a:t>（任意状态下的自由能变化）来判断反应方向。自由能降低越多，反应的推动力也越大。</a:t>
            </a:r>
            <a:endParaRPr lang="zh-CN" sz="2800" b="1" i="0" u="none">
              <a:latin typeface="楷体_GB2312" pitchFamily="49" charset="-122"/>
              <a:ea typeface="楷体_GB2312" pitchFamily="49" charset="-122"/>
            </a:endParaRPr>
          </a:p>
          <a:p>
            <a:pPr lvl="0" hangingPunct="1"/>
            <a:endParaRPr lang="en-US" sz="2800"/>
          </a:p>
          <a:p>
            <a:pPr lvl="0" hangingPunct="1"/>
            <a:r>
              <a:rPr lang="en-US" sz="2800" b="1" i="0" u="none">
                <a:solidFill>
                  <a:srgbClr val="AE1E39"/>
                </a:solidFill>
                <a:latin typeface="楷体_GB2312" pitchFamily="49" charset="-122"/>
                <a:ea typeface="楷体_GB2312" pitchFamily="49" charset="-122"/>
              </a:rPr>
              <a:t>特别注意：区别∆G 和ΔG</a:t>
            </a:r>
            <a:r>
              <a:rPr lang="zh-CN" sz="2800" b="1" i="0" u="none" baseline="30000">
                <a:solidFill>
                  <a:srgbClr val="AE1E39"/>
                </a:solidFill>
                <a:latin typeface="楷体_GB2312" pitchFamily="49" charset="-122"/>
                <a:ea typeface="楷体_GB2312" pitchFamily="49" charset="-122"/>
              </a:rPr>
              <a:t>0</a:t>
            </a:r>
            <a:r>
              <a:rPr lang="en-US" sz="2800" b="1" i="0" u="none">
                <a:solidFill>
                  <a:srgbClr val="AE1E39"/>
                </a:solidFill>
                <a:latin typeface="Times New Roman" panose="02020603050405020304"/>
                <a:ea typeface="楷体_GB2312" pitchFamily="49" charset="-122"/>
              </a:rPr>
              <a:t>’</a:t>
            </a:r>
            <a:r>
              <a:rPr lang="zh-CN" sz="2800" b="1" i="0" u="none">
                <a:solidFill>
                  <a:srgbClr val="AE1E39"/>
                </a:solidFill>
                <a:latin typeface="楷体_GB2312" pitchFamily="49" charset="-122"/>
                <a:ea typeface="楷体_GB2312" pitchFamily="49" charset="-122"/>
              </a:rPr>
              <a:t> 。即使ΔG</a:t>
            </a:r>
            <a:r>
              <a:rPr lang="en-US" sz="2800" b="1" i="0" u="none" baseline="30000">
                <a:solidFill>
                  <a:srgbClr val="AE1E39"/>
                </a:solidFill>
                <a:latin typeface="楷体_GB2312" pitchFamily="49" charset="-122"/>
                <a:ea typeface="楷体_GB2312" pitchFamily="49" charset="-122"/>
              </a:rPr>
              <a:t>0</a:t>
            </a:r>
            <a:r>
              <a:rPr lang="en-US" sz="2800" b="1" i="0" u="none">
                <a:solidFill>
                  <a:srgbClr val="AE1E39"/>
                </a:solidFill>
                <a:latin typeface="Times New Roman" panose="02020603050405020304"/>
                <a:ea typeface="楷体_GB2312" pitchFamily="49" charset="-122"/>
              </a:rPr>
              <a:t>’</a:t>
            </a:r>
            <a:r>
              <a:rPr lang="zh-CN" sz="2800" b="1" i="0" u="none">
                <a:solidFill>
                  <a:srgbClr val="AE1E39"/>
                </a:solidFill>
                <a:latin typeface="楷体_GB2312" pitchFamily="49" charset="-122"/>
                <a:ea typeface="楷体_GB2312" pitchFamily="49" charset="-122"/>
              </a:rPr>
              <a:t>﹥0，也可能有 ∆G﹤0。</a:t>
            </a:r>
            <a:r>
              <a:rPr lang="en-US" sz="2800" b="1" i="0" u="none">
                <a:solidFill>
                  <a:schemeClr val="lt2"/>
                </a:solidFill>
                <a:latin typeface="楷体_GB2312" pitchFamily="49" charset="-122"/>
                <a:ea typeface="楷体_GB2312" pitchFamily="49" charset="-122"/>
              </a:rPr>
              <a:t>（为什么？）</a:t>
            </a:r>
            <a:endParaRPr lang="en-US" sz="2800" b="1" i="0" u="none">
              <a:solidFill>
                <a:schemeClr val="lt2"/>
              </a:solidFill>
              <a:latin typeface="楷体_GB2312" pitchFamily="49" charset="-122"/>
              <a:ea typeface="楷体_GB2312" pitchFamily="49" charset="-122"/>
            </a:endParaRPr>
          </a:p>
        </p:txBody>
      </p:sp>
      <p:sp>
        <p:nvSpPr>
          <p:cNvPr id="127" name="Rectangle 5"/>
          <p:cNvSpPr>
            <a:spLocks noGrp="1" noChangeShapeType="1"/>
          </p:cNvSpPr>
          <p:nvPr/>
        </p:nvSpPr>
        <p:spPr>
          <a:xfrm>
            <a:off x="1042987" y="1844675"/>
            <a:ext cx="7056437" cy="1816100"/>
          </a:xfrm>
          <a:prstGeom prst="rect">
            <a:avLst/>
          </a:prstGeom>
          <a:solidFill>
            <a:schemeClr val="folHlink"/>
          </a:solidFill>
          <a:ln w="57150">
            <a:solidFill>
              <a:srgbClr val="66FF33"/>
            </a:solidFill>
            <a:round/>
          </a:ln>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30000"/>
              </a:lnSpc>
              <a:spcBef>
                <a:spcPts val="0"/>
              </a:spcBef>
              <a:buNone/>
            </a:pPr>
            <a:r>
              <a:rPr lang="zh-CN" sz="2800" b="1" i="0" u="none">
                <a:latin typeface="黑体" pitchFamily="49" charset="-122"/>
                <a:ea typeface="黑体" pitchFamily="49" charset="-122"/>
              </a:rPr>
              <a:t>ΔG&lt;0， </a:t>
            </a:r>
            <a:r>
              <a:rPr lang="zh-CN" sz="2800" b="1" i="0" u="none">
                <a:latin typeface="楷体_GB2312" pitchFamily="49" charset="-122"/>
                <a:ea typeface="楷体_GB2312" pitchFamily="49" charset="-122"/>
              </a:rPr>
              <a:t>反应过程释放自由能，能自发进行</a:t>
            </a:r>
            <a:endParaRPr lang="en-US" sz="2800"/>
          </a:p>
          <a:p>
            <a:pPr marL="0" lvl="0" indent="0" hangingPunct="1">
              <a:lnSpc>
                <a:spcPct val="130000"/>
              </a:lnSpc>
              <a:spcBef>
                <a:spcPts val="0"/>
              </a:spcBef>
              <a:buNone/>
            </a:pPr>
            <a:r>
              <a:rPr lang="zh-CN" sz="2800" b="1" i="0" u="none">
                <a:latin typeface="黑体" pitchFamily="49" charset="-122"/>
                <a:ea typeface="黑体" pitchFamily="49" charset="-122"/>
              </a:rPr>
              <a:t>ΔG＝0</a:t>
            </a:r>
            <a:r>
              <a:rPr lang="en-US" sz="2800" b="0" i="0" u="none"/>
              <a:t>，</a:t>
            </a:r>
            <a:r>
              <a:rPr lang="zh-CN" sz="2800" b="1" i="0" u="none">
                <a:latin typeface="楷体_GB2312" pitchFamily="49" charset="-122"/>
                <a:ea typeface="楷体_GB2312" pitchFamily="49" charset="-122"/>
              </a:rPr>
              <a:t>反应过程可逆（达到动态平衡）</a:t>
            </a:r>
            <a:endParaRPr lang="en-US" sz="2800"/>
          </a:p>
          <a:p>
            <a:pPr marL="0" lvl="0" indent="0" hangingPunct="1">
              <a:lnSpc>
                <a:spcPct val="130000"/>
              </a:lnSpc>
              <a:spcBef>
                <a:spcPts val="0"/>
              </a:spcBef>
              <a:buNone/>
            </a:pPr>
            <a:r>
              <a:rPr lang="en-US" sz="2800" b="1" i="0" u="none">
                <a:latin typeface="黑体" pitchFamily="49" charset="-122"/>
                <a:ea typeface="黑体" pitchFamily="49" charset="-122"/>
              </a:rPr>
              <a:t>ΔG&gt;0， </a:t>
            </a:r>
            <a:r>
              <a:rPr lang="zh-CN" sz="2800" b="1" i="0" u="none">
                <a:latin typeface="楷体_GB2312" pitchFamily="49" charset="-122"/>
                <a:ea typeface="楷体_GB2312" pitchFamily="49" charset="-122"/>
              </a:rPr>
              <a:t>不能自发进行反应，需要提供能量</a:t>
            </a:r>
            <a:endParaRPr lang="zh-CN" sz="2800" b="1" i="0" u="none">
              <a:latin typeface="楷体_GB2312" pitchFamily="49" charset="-122"/>
              <a:ea typeface="楷体_GB2312" pitchFamily="49" charset="-122"/>
            </a:endParaRPr>
          </a:p>
        </p:txBody>
      </p:sp>
      <p:sp>
        <p:nvSpPr>
          <p:cNvPr id="128" name="Rectangle 6"/>
          <p:cNvSpPr>
            <a:spLocks noGrp="1" noChangeShapeType="1"/>
          </p:cNvSpPr>
          <p:nvPr/>
        </p:nvSpPr>
        <p:spPr>
          <a:xfrm>
            <a:off x="395287" y="1052512"/>
            <a:ext cx="8556625" cy="519112"/>
          </a:xfrm>
          <a:prstGeom prst="rect">
            <a:avLst/>
          </a:prstGeom>
          <a:noFill/>
        </p:spPr>
        <p:txBody>
          <a:bodyPr lIns="91440" tIns="45720" rIns="91440" bIns="45720">
            <a:spAutoFit/>
          </a:bodyPr>
          <a:lstStyle/>
          <a:p>
            <a:pPr lvl="0" algn="ctr" hangingPunct="1">
              <a:spcBef>
                <a:spcPct val="20000"/>
              </a:spcBef>
              <a:buNone/>
            </a:pPr>
            <a:r>
              <a:rPr lang="zh-CN" sz="2800" b="1" i="0" u="none">
                <a:latin typeface="楷体_GB2312" pitchFamily="49" charset="-122"/>
                <a:ea typeface="楷体_GB2312" pitchFamily="49" charset="-122"/>
              </a:rPr>
              <a:t>ΔG可用于衡量一个化学反应趋向平衡倾向的大小。</a:t>
            </a:r>
            <a:endParaRPr lang="zh-CN" sz="2800" b="1" i="0" u="none">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dissolve">
                                      <p:cBhvr>
                                        <p:cTn id="7" dur="500"/>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7"/>
                                        </p:tgtEl>
                                        <p:attrNameLst>
                                          <p:attrName>style.visibility</p:attrName>
                                        </p:attrNameLst>
                                      </p:cBhvr>
                                      <p:to>
                                        <p:strVal val="visible"/>
                                      </p:to>
                                    </p:set>
                                    <p:animEffect transition="in" filter="checkerboard(across)">
                                      <p:cBhvr>
                                        <p:cTn id="12" dur="500"/>
                                        <p:tgtEl>
                                          <p:spTgt spid="12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28"/>
                                        </p:tgtEl>
                                        <p:attrNameLst>
                                          <p:attrName>style.visibility</p:attrName>
                                        </p:attrNameLst>
                                      </p:cBhvr>
                                      <p:to>
                                        <p:strVal val="visible"/>
                                      </p:to>
                                    </p:set>
                                    <p:animEffect transition="in" filter="checkerboard(across)">
                                      <p:cBhvr>
                                        <p:cTn id="17" dur="500"/>
                                        <p:tgtEl>
                                          <p:spTgt spid="128"/>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29" name=""/>
        <p:cNvGrpSpPr/>
        <p:nvPr/>
      </p:nvGrpSpPr>
      <p:grpSpPr>
        <a:xfrm>
          <a:off x="0" y="0"/>
          <a:ext cx="0" cy="0"/>
          <a:chOff x="0" y="0"/>
          <a:chExt cx="0" cy="0"/>
        </a:xfrm>
      </p:grpSpPr>
      <p:sp>
        <p:nvSpPr>
          <p:cNvPr id="130" name="Rectangle 2"/>
          <p:cNvSpPr>
            <a:spLocks noGrp="1" noChangeShapeType="1"/>
          </p:cNvSpPr>
          <p:nvPr/>
        </p:nvSpPr>
        <p:spPr>
          <a:xfrm>
            <a:off x="646112" y="1125537"/>
            <a:ext cx="8497887" cy="4156075"/>
          </a:xfrm>
          <a:prstGeom prst="rect">
            <a:avLst/>
          </a:prstGeom>
          <a:solidFill>
            <a:schemeClr val="lt1"/>
          </a:solid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50000"/>
              </a:lnSpc>
              <a:spcBef>
                <a:spcPts val="0"/>
              </a:spcBef>
              <a:spcAft>
                <a:spcPct val="50000"/>
              </a:spcAft>
              <a:buChar char="Ø"/>
            </a:pPr>
            <a:r>
              <a:rPr lang="zh-CN" sz="2800" b="1" i="0" u="none">
                <a:latin typeface="黑体" pitchFamily="49" charset="-122"/>
                <a:ea typeface="黑体" pitchFamily="49" charset="-122"/>
              </a:rPr>
              <a:t>反应能否自发进行是用</a:t>
            </a:r>
            <a:r>
              <a:rPr lang="en-US" sz="2800" b="1" i="0" u="sng">
                <a:solidFill>
                  <a:srgbClr val="AE1E39"/>
                </a:solidFill>
                <a:latin typeface="黑体" pitchFamily="49" charset="-122"/>
                <a:ea typeface="黑体" pitchFamily="49" charset="-122"/>
              </a:rPr>
              <a:t>ΔG判断而非</a:t>
            </a:r>
            <a:r>
              <a:rPr lang="zh-CN" sz="2800" b="1" i="0" u="sng">
                <a:solidFill>
                  <a:srgbClr val="AE1E39"/>
                </a:solidFill>
                <a:latin typeface="Times New Roman" panose="02020603050405020304"/>
              </a:rPr>
              <a:t>ΔG</a:t>
            </a:r>
            <a:r>
              <a:rPr lang="en-US" sz="2800" b="1" i="0" u="sng" baseline="30000">
                <a:solidFill>
                  <a:srgbClr val="AE1E39"/>
                </a:solidFill>
                <a:latin typeface="Times New Roman" panose="02020603050405020304"/>
              </a:rPr>
              <a:t>0</a:t>
            </a:r>
            <a:r>
              <a:rPr lang="en-US" sz="2800" b="1" i="0" u="sng">
                <a:solidFill>
                  <a:srgbClr val="AE1E39"/>
                </a:solidFill>
                <a:latin typeface="Times New Roman" panose="02020603050405020304"/>
              </a:rPr>
              <a:t>'</a:t>
            </a:r>
            <a:r>
              <a:rPr lang="en-US" sz="2800" b="1" i="0" u="sng">
                <a:latin typeface="黑体" pitchFamily="49" charset="-122"/>
                <a:ea typeface="黑体" pitchFamily="49" charset="-122"/>
              </a:rPr>
              <a:t> </a:t>
            </a:r>
            <a:endParaRPr lang="en-US" sz="2800" b="1" i="0" u="sng">
              <a:latin typeface="黑体" pitchFamily="49" charset="-122"/>
              <a:ea typeface="黑体" pitchFamily="49" charset="-122"/>
            </a:endParaRPr>
          </a:p>
          <a:p>
            <a:pPr marL="0" lvl="0" indent="0" hangingPunct="1">
              <a:lnSpc>
                <a:spcPct val="150000"/>
              </a:lnSpc>
              <a:spcBef>
                <a:spcPts val="0"/>
              </a:spcBef>
              <a:spcAft>
                <a:spcPct val="50000"/>
              </a:spcAft>
              <a:buChar char="Ø"/>
            </a:pPr>
            <a:r>
              <a:rPr lang="zh-CN" sz="2800" b="1" i="0" u="none">
                <a:latin typeface="黑体" pitchFamily="49" charset="-122"/>
                <a:ea typeface="黑体" pitchFamily="49" charset="-122"/>
              </a:rPr>
              <a:t>ΔG&lt;0，反应是否就会立刻自动进行？ </a:t>
            </a:r>
            <a:endParaRPr lang="zh-CN" sz="2800" b="1" i="0" u="none">
              <a:latin typeface="黑体" pitchFamily="49" charset="-122"/>
              <a:ea typeface="黑体" pitchFamily="49" charset="-122"/>
            </a:endParaRPr>
          </a:p>
          <a:p>
            <a:pPr marL="0" lvl="0" indent="0" hangingPunct="1">
              <a:lnSpc>
                <a:spcPct val="150000"/>
              </a:lnSpc>
              <a:spcBef>
                <a:spcPts val="0"/>
              </a:spcBef>
              <a:spcAft>
                <a:spcPct val="50000"/>
              </a:spcAft>
              <a:buNone/>
            </a:pPr>
            <a:r>
              <a:rPr lang="zh-CN" sz="2800" b="1" i="0" u="none">
                <a:latin typeface="黑体" pitchFamily="49" charset="-122"/>
                <a:ea typeface="黑体" pitchFamily="49" charset="-122"/>
              </a:rPr>
              <a:t>（ </a:t>
            </a:r>
            <a:r>
              <a:rPr lang="en-US" sz="2800" b="1" i="0" u="none">
                <a:latin typeface="楷体_GB2312" pitchFamily="49" charset="-122"/>
                <a:ea typeface="楷体_GB2312" pitchFamily="49" charset="-122"/>
              </a:rPr>
              <a:t>×,需要活化能！</a:t>
            </a:r>
            <a:r>
              <a:rPr lang="zh-CN" sz="2800" b="1" i="0" u="none">
                <a:latin typeface="黑体" pitchFamily="49" charset="-122"/>
                <a:ea typeface="黑体" pitchFamily="49" charset="-122"/>
              </a:rPr>
              <a:t>）</a:t>
            </a:r>
            <a:endParaRPr lang="zh-CN" sz="2800" b="1" i="0" u="none">
              <a:latin typeface="黑体" pitchFamily="49" charset="-122"/>
              <a:ea typeface="黑体" pitchFamily="49" charset="-122"/>
            </a:endParaRPr>
          </a:p>
          <a:p>
            <a:pPr marL="0" lvl="0" indent="0" hangingPunct="1">
              <a:lnSpc>
                <a:spcPct val="150000"/>
              </a:lnSpc>
              <a:spcBef>
                <a:spcPts val="0"/>
              </a:spcBef>
              <a:spcAft>
                <a:spcPct val="50000"/>
              </a:spcAft>
              <a:buChar char="Ø"/>
            </a:pPr>
            <a:r>
              <a:rPr lang="en-US" sz="2800" b="1" i="0" u="none">
                <a:latin typeface="黑体" pitchFamily="49" charset="-122"/>
                <a:ea typeface="黑体" pitchFamily="49" charset="-122"/>
              </a:rPr>
              <a:t> ΔG</a:t>
            </a:r>
            <a:r>
              <a:rPr lang="en-US" sz="2800" b="1" i="0" u="none" baseline="30000">
                <a:latin typeface="黑体" pitchFamily="49" charset="-122"/>
                <a:ea typeface="黑体" pitchFamily="49" charset="-122"/>
              </a:rPr>
              <a:t>0</a:t>
            </a:r>
            <a:r>
              <a:rPr lang="zh-CN" sz="2800" b="1" i="0" u="none">
                <a:latin typeface="黑体" pitchFamily="49" charset="-122"/>
                <a:ea typeface="黑体" pitchFamily="49" charset="-122"/>
              </a:rPr>
              <a:t>绝对不能判断反应方向吗？</a:t>
            </a:r>
            <a:endParaRPr lang="zh-CN" sz="2800" b="1" i="0" u="none">
              <a:latin typeface="黑体" pitchFamily="49" charset="-122"/>
              <a:ea typeface="黑体" pitchFamily="49" charset="-122"/>
            </a:endParaRPr>
          </a:p>
          <a:p>
            <a:pPr marL="0" lvl="0" indent="0" hangingPunct="1">
              <a:lnSpc>
                <a:spcPct val="150000"/>
              </a:lnSpc>
              <a:spcBef>
                <a:spcPts val="0"/>
              </a:spcBef>
              <a:spcAft>
                <a:spcPct val="50000"/>
              </a:spcAft>
              <a:buNone/>
            </a:pPr>
            <a:r>
              <a:rPr lang="zh-CN" sz="2800" b="1" i="0" u="none">
                <a:latin typeface="黑体" pitchFamily="49" charset="-122"/>
                <a:ea typeface="黑体" pitchFamily="49" charset="-122"/>
              </a:rPr>
              <a:t> （</a:t>
            </a:r>
            <a:r>
              <a:rPr lang="en-US" sz="1800" b="1" i="0" u="none"/>
              <a:t>×</a:t>
            </a:r>
            <a:r>
              <a:rPr lang="zh-CN" sz="2800" b="1" i="0" u="none">
                <a:latin typeface="楷体_GB2312" pitchFamily="49" charset="-122"/>
                <a:ea typeface="楷体_GB2312" pitchFamily="49" charset="-122"/>
              </a:rPr>
              <a:t>，在标准状态下可以</a:t>
            </a:r>
            <a:r>
              <a:rPr lang="zh-CN" sz="2800" b="1" i="0" u="none">
                <a:latin typeface="黑体" pitchFamily="49" charset="-122"/>
                <a:ea typeface="黑体" pitchFamily="49" charset="-122"/>
              </a:rPr>
              <a:t>）</a:t>
            </a:r>
            <a:endParaRPr lang="zh-CN" sz="2800" b="1" i="0" u="none">
              <a:latin typeface="黑体" pitchFamily="49" charset="-122"/>
              <a:ea typeface="黑体" pitchFamily="49" charset="-122"/>
            </a:endParaRPr>
          </a:p>
        </p:txBody>
      </p:sp>
      <p:sp>
        <p:nvSpPr>
          <p:cNvPr id="131" name="Text Box 6"/>
          <p:cNvSpPr txBox="1">
            <a:spLocks noGrp="1" noChangeShapeType="1"/>
          </p:cNvSpPr>
          <p:nvPr/>
        </p:nvSpPr>
        <p:spPr>
          <a:xfrm>
            <a:off x="684212" y="5734050"/>
            <a:ext cx="3529012" cy="4572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2400" b="1" i="0" u="none">
                <a:latin typeface="楷体_GB2312" pitchFamily="49" charset="-122"/>
                <a:ea typeface="楷体_GB2312" pitchFamily="49" charset="-122"/>
              </a:rPr>
              <a:t>应用：课本p33例题2</a:t>
            </a:r>
            <a:endParaRPr lang="en-US" sz="2400" b="1" i="0" u="none">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30">
                                            <p:txEl>
                                              <p:pRg st="22" end="42"/>
                                            </p:txEl>
                                          </p:spTgt>
                                        </p:tgtEl>
                                        <p:attrNameLst>
                                          <p:attrName>style.visibility</p:attrName>
                                        </p:attrNameLst>
                                      </p:cBhvr>
                                      <p:to>
                                        <p:strVal val="visible"/>
                                      </p:to>
                                    </p:set>
                                    <p:animEffect transition="in" filter="checkerboard(across)">
                                      <p:cBhvr>
                                        <p:cTn id="7" dur="500"/>
                                        <p:tgtEl>
                                          <p:spTgt spid="130">
                                            <p:txEl>
                                              <p:pRg st="22" end="42"/>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30">
                                            <p:txEl>
                                              <p:pRg st="42" end="54"/>
                                            </p:txEl>
                                          </p:spTgt>
                                        </p:tgtEl>
                                        <p:attrNameLst>
                                          <p:attrName>style.visibility</p:attrName>
                                        </p:attrNameLst>
                                      </p:cBhvr>
                                      <p:to>
                                        <p:strVal val="visible"/>
                                      </p:to>
                                    </p:set>
                                    <p:animEffect transition="in" filter="checkerboard(across)">
                                      <p:cBhvr>
                                        <p:cTn id="12" dur="500"/>
                                        <p:tgtEl>
                                          <p:spTgt spid="130">
                                            <p:txEl>
                                              <p:pRg st="42" end="5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30">
                                            <p:txEl>
                                              <p:pRg st="54" end="71"/>
                                            </p:txEl>
                                          </p:spTgt>
                                        </p:tgtEl>
                                        <p:attrNameLst>
                                          <p:attrName>style.visibility</p:attrName>
                                        </p:attrNameLst>
                                      </p:cBhvr>
                                      <p:to>
                                        <p:strVal val="visible"/>
                                      </p:to>
                                    </p:set>
                                    <p:animEffect transition="in" filter="checkerboard(across)">
                                      <p:cBhvr>
                                        <p:cTn id="17" dur="500"/>
                                        <p:tgtEl>
                                          <p:spTgt spid="130">
                                            <p:txEl>
                                              <p:pRg st="54" end="7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30">
                                            <p:txEl>
                                              <p:pRg st="71" end="85"/>
                                            </p:txEl>
                                          </p:spTgt>
                                        </p:tgtEl>
                                        <p:attrNameLst>
                                          <p:attrName>style.visibility</p:attrName>
                                        </p:attrNameLst>
                                      </p:cBhvr>
                                      <p:to>
                                        <p:strVal val="visible"/>
                                      </p:to>
                                    </p:set>
                                    <p:animEffect transition="in" filter="checkerboard(across)">
                                      <p:cBhvr>
                                        <p:cTn id="22" dur="500"/>
                                        <p:tgtEl>
                                          <p:spTgt spid="130">
                                            <p:txEl>
                                              <p:pRg st="71" end="8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30">
                                            <p:txEl>
                                              <p:pRg st="54" end="71"/>
                                            </p:txEl>
                                          </p:spTgt>
                                        </p:tgtEl>
                                        <p:attrNameLst>
                                          <p:attrName>style.visibility</p:attrName>
                                        </p:attrNameLst>
                                      </p:cBhvr>
                                      <p:to>
                                        <p:strVal val="visible"/>
                                      </p:to>
                                    </p:set>
                                    <p:animEffect transition="in" filter="checkerboard(across)">
                                      <p:cBhvr>
                                        <p:cTn id="27" dur="500"/>
                                        <p:tgtEl>
                                          <p:spTgt spid="130">
                                            <p:txEl>
                                              <p:pRg st="54" end="7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30">
                                            <p:txEl>
                                              <p:pRg st="71" end="8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131"/>
                                        </p:tgtEl>
                                        <p:attrNameLst>
                                          <p:attrName>style.visibility</p:attrName>
                                        </p:attrNameLst>
                                      </p:cBhvr>
                                      <p:to>
                                        <p:strVal val="visible"/>
                                      </p:to>
                                    </p:set>
                                    <p:animEffect transition="in" filter="box(in)">
                                      <p:cBhvr>
                                        <p:cTn id="36" dur="500"/>
                                        <p:tgtEl>
                                          <p:spTgt spid="131"/>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32" name=""/>
        <p:cNvGrpSpPr/>
        <p:nvPr/>
      </p:nvGrpSpPr>
      <p:grpSpPr>
        <a:xfrm>
          <a:off x="0" y="0"/>
          <a:ext cx="0" cy="0"/>
          <a:chOff x="0" y="0"/>
          <a:chExt cx="0" cy="0"/>
        </a:xfrm>
      </p:grpSpPr>
      <p:sp>
        <p:nvSpPr>
          <p:cNvPr id="133" name="Rectangle 2"/>
          <p:cNvSpPr>
            <a:spLocks noGrp="1" noChangeShapeType="1"/>
          </p:cNvSpPr>
          <p:nvPr>
            <p:ph type="title"/>
          </p:nvPr>
        </p:nvSpPr>
        <p:spPr>
          <a:xfrm>
            <a:off x="755650" y="260350"/>
            <a:ext cx="5040312" cy="1190625"/>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3200" b="1" i="0" u="none">
                <a:latin typeface="Times New Roman" panose="02020603050405020304"/>
                <a:ea typeface="黑体" pitchFamily="49" charset="-122"/>
              </a:rPr>
              <a:t>3  高能化合物</a:t>
            </a:r>
            <a:r>
              <a:rPr lang="zh-CN" sz="4000" b="1" i="0" u="none"/>
              <a:t> </a:t>
            </a:r>
            <a:r>
              <a:rPr lang="zh-CN" sz="2800" b="1" i="0" u="none">
                <a:latin typeface="楷体_GB2312" pitchFamily="49" charset="-122"/>
                <a:ea typeface="楷体_GB2312" pitchFamily="49" charset="-122"/>
              </a:rPr>
              <a:t>（补充）</a:t>
            </a:r>
            <a:endParaRPr lang="zh-CN" sz="2800" b="1" i="0" u="none">
              <a:latin typeface="楷体_GB2312" pitchFamily="49" charset="-122"/>
              <a:ea typeface="楷体_GB2312" pitchFamily="49" charset="-122"/>
            </a:endParaRPr>
          </a:p>
        </p:txBody>
      </p:sp>
      <p:sp>
        <p:nvSpPr>
          <p:cNvPr id="134" name="Rectangle 3"/>
          <p:cNvSpPr>
            <a:spLocks noGrp="1" noChangeShapeType="1"/>
          </p:cNvSpPr>
          <p:nvPr>
            <p:ph type="body"/>
          </p:nvPr>
        </p:nvSpPr>
        <p:spPr>
          <a:xfrm>
            <a:off x="971550" y="1700212"/>
            <a:ext cx="5483225" cy="2449512"/>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spcBef>
                <a:spcPct val="20000"/>
              </a:spcBef>
              <a:buNone/>
            </a:pPr>
            <a:r>
              <a:rPr lang="zh-CN" sz="2800">
                <a:ea typeface="黑体" pitchFamily="49" charset="-122"/>
              </a:rPr>
              <a:t>3.1  概念与</a:t>
            </a:r>
            <a:r>
              <a:rPr lang="zh-CN" sz="2800" b="0" i="0" u="sng">
                <a:ea typeface="黑体" pitchFamily="49" charset="-122"/>
              </a:rPr>
              <a:t>类型</a:t>
            </a:r>
            <a:endParaRPr lang="zh-CN" sz="2800" b="0" i="0" u="sng">
              <a:ea typeface="黑体" pitchFamily="49" charset="-122"/>
            </a:endParaRPr>
          </a:p>
          <a:p>
            <a:pPr marL="342900" lvl="0" indent="-342900" hangingPunct="1">
              <a:spcBef>
                <a:spcPct val="20000"/>
              </a:spcBef>
              <a:buNone/>
            </a:pPr>
            <a:r>
              <a:rPr lang="en-US" sz="2800">
                <a:ea typeface="黑体" pitchFamily="49" charset="-122"/>
              </a:rPr>
              <a:t>3.2  </a:t>
            </a:r>
            <a:r>
              <a:rPr lang="zh-CN" sz="2800" b="0" i="0" u="sng">
                <a:ea typeface="黑体" pitchFamily="49" charset="-122"/>
              </a:rPr>
              <a:t>ATP是细胞能量转运的中心</a:t>
            </a:r>
            <a:endParaRPr lang="zh-CN" sz="2800" b="0" i="0" u="sng">
              <a:ea typeface="黑体" pitchFamily="49" charset="-122"/>
            </a:endParaRPr>
          </a:p>
          <a:p>
            <a:pPr marL="342900" lvl="0" indent="-342900" hangingPunct="1">
              <a:spcBef>
                <a:spcPct val="20000"/>
              </a:spcBef>
              <a:buNone/>
            </a:pPr>
            <a:r>
              <a:rPr lang="en-US" sz="2800">
                <a:ea typeface="黑体" pitchFamily="49" charset="-122"/>
              </a:rPr>
              <a:t>3.3  </a:t>
            </a:r>
            <a:r>
              <a:rPr lang="zh-CN" sz="2800" b="0" i="0" u="sng">
                <a:ea typeface="黑体" pitchFamily="49" charset="-122"/>
              </a:rPr>
              <a:t>磷酸原</a:t>
            </a:r>
            <a:endParaRPr lang="zh-CN" sz="2800" b="0" i="0" u="sng">
              <a:ea typeface="黑体" pitchFamily="49" charset="-122"/>
            </a:endParaRPr>
          </a:p>
          <a:p>
            <a:pPr marL="342900" lvl="0" indent="-342900" hangingPunct="1">
              <a:spcBef>
                <a:spcPct val="20000"/>
              </a:spcBef>
              <a:buNone/>
            </a:pPr>
            <a:r>
              <a:rPr lang="en-US" sz="2800">
                <a:ea typeface="黑体" pitchFamily="49" charset="-122"/>
              </a:rPr>
              <a:t>3.4  </a:t>
            </a:r>
            <a:r>
              <a:rPr lang="zh-CN" sz="2800" b="0" i="0" u="sng">
                <a:ea typeface="黑体" pitchFamily="49" charset="-122"/>
              </a:rPr>
              <a:t>ATP系统的动态平衡</a:t>
            </a:r>
            <a:endParaRPr lang="zh-CN" sz="2800" b="0" i="0" u="sng">
              <a:ea typeface="黑体"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34">
                                            <p:txEl>
                                              <p:pRg st="0" end="11"/>
                                            </p:txEl>
                                          </p:spTgt>
                                        </p:tgtEl>
                                        <p:attrNameLst>
                                          <p:attrName>style.visibility</p:attrName>
                                        </p:attrNameLst>
                                      </p:cBhvr>
                                      <p:to>
                                        <p:strVal val="visible"/>
                                      </p:to>
                                    </p:set>
                                    <p:animEffect transition="in" filter="slide(fromBottom)">
                                      <p:cBhvr>
                                        <p:cTn id="7" dur="500"/>
                                        <p:tgtEl>
                                          <p:spTgt spid="134">
                                            <p:txEl>
                                              <p:pRg st="0" end="11"/>
                                            </p:txEl>
                                          </p:spTgt>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134">
                                            <p:txEl>
                                              <p:pRg st="11" end="30"/>
                                            </p:txEl>
                                          </p:spTgt>
                                        </p:tgtEl>
                                        <p:attrNameLst>
                                          <p:attrName>style.visibility</p:attrName>
                                        </p:attrNameLst>
                                      </p:cBhvr>
                                      <p:to>
                                        <p:strVal val="visible"/>
                                      </p:to>
                                    </p:set>
                                    <p:animEffect transition="in" filter="slide(fromBottom)">
                                      <p:cBhvr>
                                        <p:cTn id="11" dur="500"/>
                                        <p:tgtEl>
                                          <p:spTgt spid="134">
                                            <p:txEl>
                                              <p:pRg st="11" end="30"/>
                                            </p:txEl>
                                          </p:spTgt>
                                        </p:tgtEl>
                                      </p:cBhvr>
                                    </p:animEffect>
                                  </p:childTnLst>
                                </p:cTn>
                              </p:par>
                            </p:childTnLst>
                          </p:cTn>
                        </p:par>
                        <p:par>
                          <p:cTn id="12" fill="hold">
                            <p:stCondLst>
                              <p:cond delay="1000"/>
                            </p:stCondLst>
                            <p:childTnLst>
                              <p:par>
                                <p:cTn id="13" presetID="12" presetClass="entr" presetSubtype="4" fill="hold" nodeType="afterEffect">
                                  <p:stCondLst>
                                    <p:cond delay="0"/>
                                  </p:stCondLst>
                                  <p:childTnLst>
                                    <p:set>
                                      <p:cBhvr>
                                        <p:cTn id="14" dur="1" fill="hold">
                                          <p:stCondLst>
                                            <p:cond delay="0"/>
                                          </p:stCondLst>
                                        </p:cTn>
                                        <p:tgtEl>
                                          <p:spTgt spid="134">
                                            <p:txEl>
                                              <p:pRg st="30" end="39"/>
                                            </p:txEl>
                                          </p:spTgt>
                                        </p:tgtEl>
                                        <p:attrNameLst>
                                          <p:attrName>style.visibility</p:attrName>
                                        </p:attrNameLst>
                                      </p:cBhvr>
                                      <p:to>
                                        <p:strVal val="visible"/>
                                      </p:to>
                                    </p:set>
                                    <p:animEffect transition="in" filter="slide(fromBottom)">
                                      <p:cBhvr>
                                        <p:cTn id="15" dur="500"/>
                                        <p:tgtEl>
                                          <p:spTgt spid="134">
                                            <p:txEl>
                                              <p:pRg st="30" end="39"/>
                                            </p:txEl>
                                          </p:spTgt>
                                        </p:tgtEl>
                                      </p:cBhvr>
                                    </p:animEffect>
                                  </p:childTnLst>
                                </p:cTn>
                              </p:par>
                            </p:childTnLst>
                          </p:cTn>
                        </p:par>
                        <p:par>
                          <p:cTn id="16" fill="hold">
                            <p:stCondLst>
                              <p:cond delay="1500"/>
                            </p:stCondLst>
                            <p:childTnLst>
                              <p:par>
                                <p:cTn id="17" presetID="12" presetClass="entr" presetSubtype="4" fill="hold" nodeType="afterEffect">
                                  <p:stCondLst>
                                    <p:cond delay="0"/>
                                  </p:stCondLst>
                                  <p:childTnLst>
                                    <p:set>
                                      <p:cBhvr>
                                        <p:cTn id="18" dur="1" fill="hold">
                                          <p:stCondLst>
                                            <p:cond delay="0"/>
                                          </p:stCondLst>
                                        </p:cTn>
                                        <p:tgtEl>
                                          <p:spTgt spid="134">
                                            <p:txEl>
                                              <p:pRg st="39" end="55"/>
                                            </p:txEl>
                                          </p:spTgt>
                                        </p:tgtEl>
                                        <p:attrNameLst>
                                          <p:attrName>style.visibility</p:attrName>
                                        </p:attrNameLst>
                                      </p:cBhvr>
                                      <p:to>
                                        <p:strVal val="visible"/>
                                      </p:to>
                                    </p:set>
                                    <p:animEffect transition="in" filter="slide(fromBottom)">
                                      <p:cBhvr>
                                        <p:cTn id="19" dur="500"/>
                                        <p:tgtEl>
                                          <p:spTgt spid="134">
                                            <p:txEl>
                                              <p:pRg st="39" end="55"/>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35" name=""/>
        <p:cNvGrpSpPr/>
        <p:nvPr/>
      </p:nvGrpSpPr>
      <p:grpSpPr>
        <a:xfrm>
          <a:off x="0" y="0"/>
          <a:ext cx="0" cy="0"/>
          <a:chOff x="0" y="0"/>
          <a:chExt cx="0" cy="0"/>
        </a:xfrm>
      </p:grpSpPr>
      <p:sp>
        <p:nvSpPr>
          <p:cNvPr id="136" name="Rectangle 2"/>
          <p:cNvSpPr>
            <a:spLocks noGrp="1" noChangeShapeType="1"/>
          </p:cNvSpPr>
          <p:nvPr>
            <p:ph type="title"/>
          </p:nvPr>
        </p:nvSpPr>
        <p:spPr>
          <a:xfrm>
            <a:off x="684212" y="549275"/>
            <a:ext cx="5903912" cy="490537"/>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2800" b="1" i="0" u="none">
                <a:latin typeface="Times New Roman" panose="02020603050405020304"/>
                <a:ea typeface="黑体" pitchFamily="49" charset="-122"/>
              </a:rPr>
              <a:t>3.1  概念与类型（</a:t>
            </a:r>
            <a:r>
              <a:rPr lang="zh-CN" sz="2800" b="1" i="0" u="none">
                <a:latin typeface="Times New Roman" panose="02020603050405020304"/>
                <a:ea typeface="楷体_GB2312" pitchFamily="49" charset="-122"/>
              </a:rPr>
              <a:t>复习与扩充</a:t>
            </a:r>
            <a:r>
              <a:rPr lang="zh-CN" sz="2800" b="1" i="0" u="none">
                <a:latin typeface="Times New Roman" panose="02020603050405020304"/>
                <a:ea typeface="黑体" pitchFamily="49" charset="-122"/>
              </a:rPr>
              <a:t>）</a:t>
            </a:r>
            <a:endParaRPr lang="zh-CN" sz="2800" b="1" i="0" u="none">
              <a:latin typeface="Times New Roman" panose="02020603050405020304"/>
              <a:ea typeface="黑体" pitchFamily="49" charset="-122"/>
            </a:endParaRPr>
          </a:p>
        </p:txBody>
      </p:sp>
      <p:sp>
        <p:nvSpPr>
          <p:cNvPr id="137" name="Rectangle 3"/>
          <p:cNvSpPr>
            <a:spLocks noGrp="1" noChangeShapeType="1"/>
          </p:cNvSpPr>
          <p:nvPr/>
        </p:nvSpPr>
        <p:spPr>
          <a:xfrm>
            <a:off x="827087" y="1125537"/>
            <a:ext cx="7705725" cy="17399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50000"/>
              </a:lnSpc>
              <a:spcBef>
                <a:spcPts val="0"/>
              </a:spcBef>
              <a:buChar char="Ø"/>
            </a:pPr>
            <a:r>
              <a:rPr lang="zh-CN" sz="2400" b="0" i="0" u="none">
                <a:latin typeface="黑体" pitchFamily="49" charset="-122"/>
                <a:ea typeface="黑体" pitchFamily="49" charset="-122"/>
              </a:rPr>
              <a:t>高能化合物：</a:t>
            </a:r>
            <a:r>
              <a:rPr lang="en-US" sz="2400" b="1" i="0" u="none">
                <a:latin typeface="楷体_GB2312" pitchFamily="49" charset="-122"/>
                <a:ea typeface="楷体_GB2312" pitchFamily="49" charset="-122"/>
              </a:rPr>
              <a:t>一般而言，水解时释放21kJ以上自由能的化合物，称为高能化合物。</a:t>
            </a:r>
            <a:endParaRPr lang="en-US" sz="2400" b="1" i="0" u="none">
              <a:latin typeface="楷体_GB2312" pitchFamily="49" charset="-122"/>
              <a:ea typeface="楷体_GB2312" pitchFamily="49" charset="-122"/>
            </a:endParaRPr>
          </a:p>
          <a:p>
            <a:pPr marL="0" lvl="0" indent="0" hangingPunct="1">
              <a:lnSpc>
                <a:spcPct val="150000"/>
              </a:lnSpc>
              <a:spcBef>
                <a:spcPts val="0"/>
              </a:spcBef>
              <a:buChar char="Ø"/>
            </a:pPr>
            <a:r>
              <a:rPr lang="zh-CN" sz="2400" b="0" i="0" u="none">
                <a:latin typeface="黑体" pitchFamily="49" charset="-122"/>
                <a:ea typeface="黑体" pitchFamily="49" charset="-122"/>
              </a:rPr>
              <a:t>类型：</a:t>
            </a:r>
            <a:endParaRPr lang="zh-CN" sz="2400" b="0" i="0" u="none">
              <a:latin typeface="黑体" pitchFamily="49" charset="-122"/>
              <a:ea typeface="黑体" pitchFamily="49" charset="-122"/>
            </a:endParaRPr>
          </a:p>
        </p:txBody>
      </p:sp>
      <p:sp>
        <p:nvSpPr>
          <p:cNvPr id="138" name="Rectangle 4"/>
          <p:cNvSpPr>
            <a:spLocks noGrp="1" noChangeShapeType="1"/>
          </p:cNvSpPr>
          <p:nvPr>
            <p:ph type="body"/>
          </p:nvPr>
        </p:nvSpPr>
        <p:spPr>
          <a:xfrm>
            <a:off x="684212" y="2925762"/>
            <a:ext cx="7343775" cy="3025775"/>
          </a:xfrm>
          <a:prstGeom prst="rect">
            <a:avLst/>
          </a:prstGeom>
          <a:noFill/>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lnSpc>
                <a:spcPct val="90000"/>
              </a:lnSpc>
              <a:spcBef>
                <a:spcPct val="20000"/>
              </a:spcBef>
              <a:buClr>
                <a:srgbClr val="00007D"/>
              </a:buClr>
              <a:buSzPct val="75000"/>
              <a:buFont typeface="Wingdings" panose="05000000000000000000" pitchFamily="2" charset="2"/>
              <a:buChar char="n"/>
            </a:pPr>
            <a:r>
              <a:rPr lang="en-US" sz="2400" b="1" i="0" u="none">
                <a:latin typeface="楷体_GB2312" pitchFamily="49" charset="-122"/>
                <a:ea typeface="楷体_GB2312" pitchFamily="49" charset="-122"/>
              </a:rPr>
              <a:t>1.</a:t>
            </a:r>
            <a:r>
              <a:rPr lang="zh-CN" sz="2400" b="1" i="0" u="none">
                <a:latin typeface="黑体" pitchFamily="49" charset="-122"/>
                <a:ea typeface="黑体" pitchFamily="49" charset="-122"/>
              </a:rPr>
              <a:t>氧磷键型（-O～P-）：</a:t>
            </a:r>
            <a:r>
              <a:rPr lang="en-US" sz="2400" b="1" i="0" u="none">
                <a:latin typeface="楷体_GB2312" pitchFamily="49" charset="-122"/>
                <a:ea typeface="楷体_GB2312" pitchFamily="49" charset="-122"/>
              </a:rPr>
              <a:t>（</a:t>
            </a:r>
            <a:r>
              <a:rPr lang="zh-CN" sz="2400" b="1" i="0" u="none">
                <a:solidFill>
                  <a:srgbClr val="AE1E39"/>
                </a:solidFill>
                <a:latin typeface="楷体_GB2312" pitchFamily="49" charset="-122"/>
                <a:ea typeface="楷体_GB2312" pitchFamily="49" charset="-122"/>
              </a:rPr>
              <a:t>磷酸酐键或类似结构</a:t>
            </a:r>
            <a:r>
              <a:rPr lang="en-US" sz="2400" b="1" i="0" u="none">
                <a:latin typeface="楷体_GB2312" pitchFamily="49" charset="-122"/>
                <a:ea typeface="楷体_GB2312" pitchFamily="49" charset="-122"/>
              </a:rPr>
              <a:t>）</a:t>
            </a:r>
            <a:endParaRPr lang="en-US" sz="2400" b="1" i="0" u="none">
              <a:latin typeface="楷体_GB2312" pitchFamily="49" charset="-122"/>
              <a:ea typeface="楷体_GB2312" pitchFamily="49" charset="-122"/>
            </a:endParaRPr>
          </a:p>
          <a:p>
            <a:pPr marL="342900" lvl="0" indent="-342900" hangingPunct="1">
              <a:lnSpc>
                <a:spcPct val="90000"/>
              </a:lnSpc>
              <a:spcBef>
                <a:spcPct val="20000"/>
              </a:spcBef>
              <a:buClr>
                <a:srgbClr val="00007D"/>
              </a:buClr>
              <a:buSzPct val="75000"/>
              <a:buFont typeface="Wingdings" panose="05000000000000000000" pitchFamily="2" charset="2"/>
              <a:buChar char="n"/>
            </a:pPr>
            <a:r>
              <a:rPr lang="en-US" sz="2400" b="1" i="0" u="none">
                <a:latin typeface="楷体_GB2312" pitchFamily="49" charset="-122"/>
                <a:ea typeface="楷体_GB2312" pitchFamily="49" charset="-122"/>
              </a:rPr>
              <a:t>（1）酰基磷酸化合物</a:t>
            </a:r>
            <a:endParaRPr lang="en-US" sz="2400" b="1" i="0" u="none">
              <a:latin typeface="楷体_GB2312" pitchFamily="49" charset="-122"/>
              <a:ea typeface="楷体_GB2312" pitchFamily="49" charset="-122"/>
            </a:endParaRPr>
          </a:p>
          <a:p>
            <a:pPr marL="342900" lvl="0" indent="-342900" hangingPunct="1">
              <a:lnSpc>
                <a:spcPct val="90000"/>
              </a:lnSpc>
              <a:spcBef>
                <a:spcPct val="20000"/>
              </a:spcBef>
              <a:buClr>
                <a:srgbClr val="00007D"/>
              </a:buClr>
              <a:buSzPct val="75000"/>
              <a:buFont typeface="Wingdings" panose="05000000000000000000" pitchFamily="2" charset="2"/>
              <a:buChar char="n"/>
            </a:pPr>
            <a:r>
              <a:rPr lang="en-US" sz="2400" b="1" i="0" u="none">
                <a:latin typeface="楷体_GB2312" pitchFamily="49" charset="-122"/>
                <a:ea typeface="楷体_GB2312" pitchFamily="49" charset="-122"/>
              </a:rPr>
              <a:t>（2）焦磷酸化合物</a:t>
            </a:r>
            <a:endParaRPr lang="en-US" sz="2400" b="1" i="0" u="none">
              <a:latin typeface="楷体_GB2312" pitchFamily="49" charset="-122"/>
              <a:ea typeface="楷体_GB2312" pitchFamily="49" charset="-122"/>
            </a:endParaRPr>
          </a:p>
          <a:p>
            <a:pPr marL="342900" lvl="0" indent="-342900" hangingPunct="1">
              <a:lnSpc>
                <a:spcPct val="90000"/>
              </a:lnSpc>
              <a:spcBef>
                <a:spcPct val="20000"/>
              </a:spcBef>
              <a:buClr>
                <a:srgbClr val="00007D"/>
              </a:buClr>
              <a:buSzPct val="75000"/>
              <a:buFont typeface="Wingdings" panose="05000000000000000000" pitchFamily="2" charset="2"/>
              <a:buChar char="n"/>
            </a:pPr>
            <a:r>
              <a:rPr lang="en-US" sz="2400" b="1" i="0" u="none">
                <a:latin typeface="楷体_GB2312" pitchFamily="49" charset="-122"/>
                <a:ea typeface="楷体_GB2312" pitchFamily="49" charset="-122"/>
              </a:rPr>
              <a:t>（3）烯醇式磷酸化合物</a:t>
            </a:r>
            <a:endParaRPr lang="en-US" sz="2400" b="1" i="0" u="none">
              <a:latin typeface="楷体_GB2312" pitchFamily="49" charset="-122"/>
              <a:ea typeface="楷体_GB2312" pitchFamily="49" charset="-122"/>
            </a:endParaRPr>
          </a:p>
          <a:p>
            <a:pPr marL="342900" lvl="0" indent="-342900" hangingPunct="1">
              <a:lnSpc>
                <a:spcPct val="90000"/>
              </a:lnSpc>
              <a:spcBef>
                <a:spcPct val="20000"/>
              </a:spcBef>
              <a:buClr>
                <a:srgbClr val="00007D"/>
              </a:buClr>
              <a:buSzPct val="75000"/>
              <a:buFont typeface="Wingdings" panose="05000000000000000000" pitchFamily="2" charset="2"/>
              <a:buChar char="n"/>
            </a:pPr>
            <a:r>
              <a:rPr lang="zh-CN" sz="2400" b="1" i="0" u="none">
                <a:latin typeface="黑体" pitchFamily="49" charset="-122"/>
                <a:ea typeface="黑体" pitchFamily="49" charset="-122"/>
              </a:rPr>
              <a:t>2.氮磷键型(-N～P-)：      R-N-C-N-</a:t>
            </a:r>
            <a:endParaRPr lang="zh-CN" sz="2400" b="1" i="0" u="none">
              <a:latin typeface="黑体" pitchFamily="49" charset="-122"/>
              <a:ea typeface="黑体" pitchFamily="49" charset="-122"/>
            </a:endParaRPr>
          </a:p>
          <a:p>
            <a:pPr marL="342900" lvl="0" indent="-342900" hangingPunct="1">
              <a:lnSpc>
                <a:spcPct val="90000"/>
              </a:lnSpc>
              <a:spcBef>
                <a:spcPct val="20000"/>
              </a:spcBef>
              <a:buClr>
                <a:srgbClr val="00007D"/>
              </a:buClr>
              <a:buSzPct val="75000"/>
              <a:buFont typeface="Wingdings" panose="05000000000000000000" pitchFamily="2" charset="2"/>
              <a:buChar char="n"/>
            </a:pPr>
            <a:r>
              <a:rPr lang="zh-CN" sz="2400" b="1" i="0" u="none">
                <a:latin typeface="黑体" pitchFamily="49" charset="-122"/>
                <a:ea typeface="黑体" pitchFamily="49" charset="-122"/>
              </a:rPr>
              <a:t>3.硫酯键型：CoA</a:t>
            </a:r>
            <a:endParaRPr lang="zh-CN" sz="2400" b="1" i="0" u="none">
              <a:latin typeface="黑体" pitchFamily="49" charset="-122"/>
              <a:ea typeface="黑体" pitchFamily="49" charset="-122"/>
            </a:endParaRPr>
          </a:p>
          <a:p>
            <a:pPr marL="342900" lvl="0" indent="-342900" hangingPunct="1">
              <a:lnSpc>
                <a:spcPct val="90000"/>
              </a:lnSpc>
              <a:spcBef>
                <a:spcPct val="20000"/>
              </a:spcBef>
              <a:buClr>
                <a:srgbClr val="00007D"/>
              </a:buClr>
              <a:buSzPct val="75000"/>
              <a:buFont typeface="Wingdings" panose="05000000000000000000" pitchFamily="2" charset="2"/>
              <a:buChar char="n"/>
            </a:pPr>
            <a:r>
              <a:rPr lang="zh-CN" sz="2400" b="1" i="0" u="none">
                <a:latin typeface="黑体" pitchFamily="49" charset="-122"/>
                <a:ea typeface="黑体" pitchFamily="49" charset="-122"/>
              </a:rPr>
              <a:t>4.甲硫键型：</a:t>
            </a:r>
            <a:r>
              <a:rPr lang="en-US" sz="2400" b="1" i="0" u="none">
                <a:latin typeface="楷体_GB2312" pitchFamily="49" charset="-122"/>
                <a:ea typeface="楷体_GB2312" pitchFamily="49" charset="-122"/>
              </a:rPr>
              <a:t>Ｓ－腺苷甲硫氨酸（SAM）</a:t>
            </a:r>
            <a:endParaRPr lang="en-US" sz="2400" b="1" i="0" u="none">
              <a:latin typeface="楷体_GB2312" pitchFamily="49" charset="-122"/>
              <a:ea typeface="楷体_GB2312" pitchFamily="49" charset="-122"/>
            </a:endParaRPr>
          </a:p>
        </p:txBody>
      </p:sp>
      <p:sp>
        <p:nvSpPr>
          <p:cNvPr id="139" name="Text Box 5"/>
          <p:cNvSpPr txBox="1">
            <a:spLocks noGrp="1" noChangeShapeType="1"/>
          </p:cNvSpPr>
          <p:nvPr/>
        </p:nvSpPr>
        <p:spPr>
          <a:xfrm>
            <a:off x="6300787" y="5805487"/>
            <a:ext cx="2592387" cy="822325"/>
          </a:xfrm>
          <a:prstGeom prst="rect">
            <a:avLst/>
          </a:prstGeom>
          <a:solidFill>
            <a:schemeClr val="accent1"/>
          </a:solid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en-US" sz="2400" b="1" i="0" u="none">
                <a:solidFill>
                  <a:schemeClr val="lt1"/>
                </a:solidFill>
                <a:latin typeface="Times New Roman" panose="02020603050405020304"/>
              </a:rPr>
              <a:t>高能化合物结构</a:t>
            </a:r>
            <a:endParaRPr lang="en-US" sz="2400" b="1" i="0" u="none">
              <a:solidFill>
                <a:schemeClr val="lt1"/>
              </a:solidFill>
              <a:latin typeface="Times New Roman" panose="02020603050405020304"/>
            </a:endParaRPr>
          </a:p>
          <a:p>
            <a:pPr marL="0" lvl="0" indent="0" hangingPunct="1">
              <a:spcBef>
                <a:spcPts val="0"/>
              </a:spcBef>
              <a:buNone/>
            </a:pPr>
            <a:r>
              <a:rPr lang="en-US" sz="2400" b="1" i="0" u="none">
                <a:solidFill>
                  <a:schemeClr val="lt1"/>
                </a:solidFill>
                <a:latin typeface="Times New Roman" panose="02020603050405020304"/>
              </a:rPr>
              <a:t>见p34-p36.</a:t>
            </a:r>
            <a:endParaRPr lang="en-US" sz="2400" b="1" i="0" u="none">
              <a:solidFill>
                <a:schemeClr val="lt1"/>
              </a:solidFill>
              <a:latin typeface="Times New Roman" panose="02020603050405020304"/>
            </a:endParaRPr>
          </a:p>
        </p:txBody>
      </p:sp>
      <p:grpSp>
        <p:nvGrpSpPr>
          <p:cNvPr id="140" name="Group 6"/>
          <p:cNvGrpSpPr/>
          <p:nvPr/>
        </p:nvGrpSpPr>
        <p:grpSpPr>
          <a:xfrm>
            <a:off x="4859337" y="3141662"/>
            <a:ext cx="2484437" cy="936625"/>
            <a:chOff x="3424" y="1353"/>
            <a:chExt cx="1565" cy="590"/>
          </a:xfrm>
        </p:grpSpPr>
        <p:grpSp>
          <p:nvGrpSpPr>
            <p:cNvPr id="141" name="Group 7"/>
            <p:cNvGrpSpPr/>
            <p:nvPr/>
          </p:nvGrpSpPr>
          <p:grpSpPr>
            <a:xfrm>
              <a:off x="4649" y="1616"/>
              <a:ext cx="340" cy="327"/>
              <a:chOff x="5081" y="2074"/>
              <a:chExt cx="340" cy="327"/>
            </a:xfrm>
          </p:grpSpPr>
          <p:sp>
            <p:nvSpPr>
              <p:cNvPr id="142" name="Oval 8"/>
              <p:cNvSpPr>
                <a:spLocks noChangeShapeType="1"/>
              </p:cNvSpPr>
              <p:nvPr/>
            </p:nvSpPr>
            <p:spPr>
              <a:xfrm>
                <a:off x="5103" y="2115"/>
                <a:ext cx="272" cy="272"/>
              </a:xfrm>
              <a:prstGeom prst="ellipse">
                <a:avLst/>
              </a:prstGeom>
              <a:noFill/>
              <a:ln w="28575">
                <a:solidFill>
                  <a:schemeClr val="accent1"/>
                </a:solidFill>
                <a:prstDash val="sysDot"/>
                <a:round/>
              </a:ln>
            </p:spPr>
            <p:txBody>
              <a:bodyPr wrap="none" anchor="ctr" anchorCtr="0"/>
              <a:lstStyle/>
              <a:p>
                <a:endParaRPr sz="1400" dirty="0"/>
              </a:p>
            </p:txBody>
          </p:sp>
          <p:sp>
            <p:nvSpPr>
              <p:cNvPr id="143" name="Rectangle 9"/>
              <p:cNvSpPr>
                <a:spLocks noChangeShapeType="1"/>
              </p:cNvSpPr>
              <p:nvPr/>
            </p:nvSpPr>
            <p:spPr>
              <a:xfrm>
                <a:off x="5081" y="2074"/>
                <a:ext cx="340" cy="327"/>
              </a:xfrm>
              <a:prstGeom prst="rect">
                <a:avLst/>
              </a:prstGeom>
              <a:noFill/>
            </p:spPr>
            <p:txBody>
              <a:bodyPr wrap="none">
                <a:spAutoFit/>
              </a:bodyPr>
              <a:lstStyle/>
              <a:p>
                <a:pPr lvl="0" algn="ctr" hangingPunct="1"/>
                <a:r>
                  <a:rPr lang="zh-CN" sz="2800" b="0" i="0" u="none">
                    <a:effectLst>
                      <a:outerShdw blurRad="38100" dist="38100" dir="2700000" algn="tl">
                        <a:srgbClr val="000000">
                          <a:alpha val="43137"/>
                        </a:srgbClr>
                      </a:outerShdw>
                    </a:effectLst>
                  </a:rPr>
                  <a:t>Ｐ</a:t>
                </a:r>
                <a:endParaRPr lang="zh-CN" sz="2800" b="0" i="0" u="none">
                  <a:effectLst>
                    <a:outerShdw blurRad="38100" dist="38100" dir="2700000" algn="tl">
                      <a:srgbClr val="000000">
                        <a:alpha val="43137"/>
                      </a:srgbClr>
                    </a:outerShdw>
                  </a:effectLst>
                </a:endParaRPr>
              </a:p>
            </p:txBody>
          </p:sp>
        </p:grpSp>
        <p:sp>
          <p:nvSpPr>
            <p:cNvPr id="144" name="Text Box 10"/>
            <p:cNvSpPr txBox="1">
              <a:spLocks noChangeShapeType="1"/>
            </p:cNvSpPr>
            <p:nvPr/>
          </p:nvSpPr>
          <p:spPr>
            <a:xfrm>
              <a:off x="3424" y="1616"/>
              <a:ext cx="1406" cy="327"/>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algn="ctr" hangingPunct="1">
                <a:spcBef>
                  <a:spcPct val="50000"/>
                </a:spcBef>
                <a:buNone/>
              </a:pPr>
              <a:r>
                <a:rPr lang="zh-CN" sz="2800"/>
                <a:t>Ｒ－Ｃ－Ｏ</a:t>
              </a:r>
              <a:endParaRPr lang="zh-CN" sz="2800"/>
            </a:p>
          </p:txBody>
        </p:sp>
        <p:sp>
          <p:nvSpPr>
            <p:cNvPr id="145" name="Rectangle 11"/>
            <p:cNvSpPr>
              <a:spLocks noChangeShapeType="1"/>
            </p:cNvSpPr>
            <p:nvPr/>
          </p:nvSpPr>
          <p:spPr>
            <a:xfrm>
              <a:off x="3959" y="1353"/>
              <a:ext cx="340" cy="327"/>
            </a:xfrm>
            <a:prstGeom prst="rect">
              <a:avLst/>
            </a:prstGeom>
            <a:noFill/>
          </p:spPr>
          <p:txBody>
            <a:bodyPr wrap="none">
              <a:spAutoFit/>
            </a:bodyPr>
            <a:lstStyle/>
            <a:p>
              <a:pPr lvl="0" algn="ctr" hangingPunct="1"/>
              <a:r>
                <a:rPr lang="zh-CN" sz="2800" b="0" i="0" u="none">
                  <a:effectLst>
                    <a:outerShdw blurRad="38100" dist="38100" dir="2700000" algn="tl">
                      <a:srgbClr val="000000">
                        <a:alpha val="43137"/>
                      </a:srgbClr>
                    </a:outerShdw>
                  </a:effectLst>
                </a:rPr>
                <a:t>Ｏ</a:t>
              </a:r>
              <a:endParaRPr lang="zh-CN" sz="2800" b="0" i="0" u="none">
                <a:effectLst>
                  <a:outerShdw blurRad="38100" dist="38100" dir="2700000" algn="tl">
                    <a:srgbClr val="000000">
                      <a:alpha val="43137"/>
                    </a:srgbClr>
                  </a:outerShdw>
                </a:effectLst>
              </a:endParaRPr>
            </a:p>
          </p:txBody>
        </p:sp>
        <p:sp>
          <p:nvSpPr>
            <p:cNvPr id="146" name="Line 12"/>
            <p:cNvSpPr>
              <a:spLocks noChangeShapeType="1"/>
            </p:cNvSpPr>
            <p:nvPr/>
          </p:nvSpPr>
          <p:spPr>
            <a:xfrm>
              <a:off x="4105" y="1607"/>
              <a:ext cx="0" cy="90"/>
            </a:xfrm>
            <a:prstGeom prst="line">
              <a:avLst/>
            </a:prstGeom>
            <a:noFill/>
            <a:ln w="28575">
              <a:solidFill>
                <a:schemeClr val="dk1"/>
              </a:solidFill>
              <a:round/>
            </a:ln>
          </p:spPr>
          <p:txBody>
            <a:bodyPr wrap="none"/>
            <a:lstStyle/>
            <a:p>
              <a:endParaRPr sz="1400" dirty="0"/>
            </a:p>
          </p:txBody>
        </p:sp>
        <p:sp>
          <p:nvSpPr>
            <p:cNvPr id="147" name="Line 13"/>
            <p:cNvSpPr>
              <a:spLocks noChangeShapeType="1"/>
            </p:cNvSpPr>
            <p:nvPr/>
          </p:nvSpPr>
          <p:spPr>
            <a:xfrm>
              <a:off x="4150" y="1606"/>
              <a:ext cx="0" cy="90"/>
            </a:xfrm>
            <a:prstGeom prst="line">
              <a:avLst/>
            </a:prstGeom>
            <a:noFill/>
            <a:ln w="28575">
              <a:solidFill>
                <a:schemeClr val="dk1"/>
              </a:solidFill>
              <a:round/>
            </a:ln>
          </p:spPr>
          <p:txBody>
            <a:bodyPr wrap="none"/>
            <a:lstStyle/>
            <a:p>
              <a:endParaRPr sz="1400" dirty="0"/>
            </a:p>
          </p:txBody>
        </p:sp>
      </p:grpSp>
      <p:sp>
        <p:nvSpPr>
          <p:cNvPr id="148" name="Line 21"/>
          <p:cNvSpPr>
            <a:spLocks noGrp="1" noChangeShapeType="1"/>
          </p:cNvSpPr>
          <p:nvPr/>
        </p:nvSpPr>
        <p:spPr>
          <a:xfrm>
            <a:off x="5753100" y="4868862"/>
            <a:ext cx="0" cy="142875"/>
          </a:xfrm>
          <a:prstGeom prst="line">
            <a:avLst/>
          </a:prstGeom>
          <a:noFill/>
          <a:ln w="28575">
            <a:solidFill>
              <a:schemeClr val="dk1"/>
            </a:solidFill>
            <a:round/>
          </a:ln>
        </p:spPr>
        <p:txBody>
          <a:bodyPr wrap="none"/>
          <a:lstStyle/>
          <a:p>
            <a:endParaRPr sz="1400" dirty="0"/>
          </a:p>
        </p:txBody>
      </p:sp>
      <p:sp>
        <p:nvSpPr>
          <p:cNvPr id="149" name="Line 22"/>
          <p:cNvSpPr>
            <a:spLocks noGrp="1" noChangeShapeType="1"/>
          </p:cNvSpPr>
          <p:nvPr/>
        </p:nvSpPr>
        <p:spPr>
          <a:xfrm>
            <a:off x="5824537" y="4865687"/>
            <a:ext cx="0" cy="217487"/>
          </a:xfrm>
          <a:prstGeom prst="line">
            <a:avLst/>
          </a:prstGeom>
          <a:noFill/>
          <a:ln w="28575">
            <a:solidFill>
              <a:schemeClr val="dk1"/>
            </a:solidFill>
            <a:round/>
          </a:ln>
        </p:spPr>
        <p:txBody>
          <a:bodyPr wrap="none"/>
          <a:lstStyle/>
          <a:p>
            <a:endParaRPr sz="1400" dirty="0"/>
          </a:p>
        </p:txBody>
      </p:sp>
      <p:sp>
        <p:nvSpPr>
          <p:cNvPr id="150" name="Rectangle 23"/>
          <p:cNvSpPr>
            <a:spLocks noGrp="1" noChangeShapeType="1"/>
          </p:cNvSpPr>
          <p:nvPr/>
        </p:nvSpPr>
        <p:spPr>
          <a:xfrm>
            <a:off x="5435600" y="4941887"/>
            <a:ext cx="1101725" cy="457200"/>
          </a:xfrm>
          <a:prstGeom prst="rect">
            <a:avLst/>
          </a:prstGeom>
          <a:noFill/>
        </p:spPr>
        <p:txBody>
          <a:bodyPr lIns="91440" tIns="45720" rIns="91440" bIns="45720">
            <a:spAutoFit/>
          </a:bodyPr>
          <a:lstStyle/>
          <a:p>
            <a:pPr lvl="0" algn="ctr" hangingPunct="1"/>
            <a:r>
              <a:rPr lang="zh-CN" sz="2400" b="0" i="0" u="none">
                <a:ea typeface="黑体" pitchFamily="49" charset="-122"/>
              </a:rPr>
              <a:t>NＨ</a:t>
            </a:r>
            <a:endParaRPr lang="zh-CN" sz="2400" b="0" i="0" u="none">
              <a:ea typeface="黑体" pitchFamily="49" charset="-122"/>
            </a:endParaRPr>
          </a:p>
        </p:txBody>
      </p:sp>
      <p:grpSp>
        <p:nvGrpSpPr>
          <p:cNvPr id="151" name="Group 24"/>
          <p:cNvGrpSpPr/>
          <p:nvPr/>
        </p:nvGrpSpPr>
        <p:grpSpPr>
          <a:xfrm>
            <a:off x="6215062" y="4500562"/>
            <a:ext cx="631825" cy="523875"/>
            <a:chOff x="5011" y="2087"/>
            <a:chExt cx="398" cy="330"/>
          </a:xfrm>
        </p:grpSpPr>
        <p:sp>
          <p:nvSpPr>
            <p:cNvPr id="152" name="Oval 25"/>
            <p:cNvSpPr>
              <a:spLocks noChangeShapeType="1"/>
            </p:cNvSpPr>
            <p:nvPr/>
          </p:nvSpPr>
          <p:spPr>
            <a:xfrm>
              <a:off x="5103" y="2115"/>
              <a:ext cx="272" cy="272"/>
            </a:xfrm>
            <a:prstGeom prst="ellipse">
              <a:avLst/>
            </a:prstGeom>
            <a:noFill/>
            <a:ln w="28575">
              <a:solidFill>
                <a:schemeClr val="accent1"/>
              </a:solidFill>
              <a:prstDash val="sysDot"/>
              <a:round/>
            </a:ln>
          </p:spPr>
          <p:txBody>
            <a:bodyPr wrap="none" anchor="ctr" anchorCtr="0"/>
            <a:lstStyle/>
            <a:p>
              <a:endParaRPr sz="1400" dirty="0"/>
            </a:p>
          </p:txBody>
        </p:sp>
        <p:sp>
          <p:nvSpPr>
            <p:cNvPr id="153" name="Rectangle 26"/>
            <p:cNvSpPr>
              <a:spLocks noChangeShapeType="1"/>
            </p:cNvSpPr>
            <p:nvPr/>
          </p:nvSpPr>
          <p:spPr>
            <a:xfrm>
              <a:off x="5011" y="2087"/>
              <a:ext cx="398" cy="330"/>
            </a:xfrm>
            <a:prstGeom prst="rect">
              <a:avLst/>
            </a:prstGeom>
            <a:noFill/>
          </p:spPr>
          <p:txBody>
            <a:bodyPr lIns="91440" tIns="45720" rIns="91440" bIns="45720">
              <a:spAutoFit/>
            </a:bodyPr>
            <a:lstStyle/>
            <a:p>
              <a:pPr lvl="0" algn="ctr" hangingPunct="1"/>
              <a:r>
                <a:rPr lang="zh-CN" sz="2800" b="0" i="0" u="none">
                  <a:effectLst>
                    <a:outerShdw blurRad="38100" dist="38100" dir="2700000" algn="tl">
                      <a:srgbClr val="000000">
                        <a:alpha val="43137"/>
                      </a:srgbClr>
                    </a:outerShdw>
                  </a:effectLst>
                </a:rPr>
                <a:t>Ｐ</a:t>
              </a:r>
              <a:endParaRPr lang="zh-CN" sz="2800" b="0" i="0" u="none">
                <a:effectLst>
                  <a:outerShdw blurRad="38100" dist="38100" dir="2700000" algn="tl">
                    <a:srgbClr val="000000">
                      <a:alpha val="43137"/>
                    </a:srgbClr>
                  </a:outerShdw>
                </a:effectLst>
              </a:endParaRPr>
            </a:p>
          </p:txBody>
        </p:sp>
      </p:gr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8">
                                            <p:txEl>
                                              <p:pRg st="0" end="26"/>
                                            </p:txEl>
                                          </p:spTgt>
                                        </p:tgtEl>
                                        <p:attrNameLst>
                                          <p:attrName>style.visibility</p:attrName>
                                        </p:attrNameLst>
                                      </p:cBhvr>
                                      <p:to>
                                        <p:strVal val="visible"/>
                                      </p:to>
                                    </p:set>
                                    <p:animEffect transition="in" filter="dissolve">
                                      <p:cBhvr>
                                        <p:cTn id="7" dur="500"/>
                                        <p:tgtEl>
                                          <p:spTgt spid="138">
                                            <p:txEl>
                                              <p:pRg st="0" end="26"/>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8">
                                            <p:txEl>
                                              <p:pRg st="26" end="37"/>
                                            </p:txEl>
                                          </p:spTgt>
                                        </p:tgtEl>
                                        <p:attrNameLst>
                                          <p:attrName>style.visibility</p:attrName>
                                        </p:attrNameLst>
                                      </p:cBhvr>
                                      <p:to>
                                        <p:strVal val="visible"/>
                                      </p:to>
                                    </p:set>
                                    <p:animEffect transition="in" filter="dissolve">
                                      <p:cBhvr>
                                        <p:cTn id="12" dur="500"/>
                                        <p:tgtEl>
                                          <p:spTgt spid="138">
                                            <p:txEl>
                                              <p:pRg st="26" end="3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8">
                                            <p:txEl>
                                              <p:pRg st="37" end="47"/>
                                            </p:txEl>
                                          </p:spTgt>
                                        </p:tgtEl>
                                        <p:attrNameLst>
                                          <p:attrName>style.visibility</p:attrName>
                                        </p:attrNameLst>
                                      </p:cBhvr>
                                      <p:to>
                                        <p:strVal val="visible"/>
                                      </p:to>
                                    </p:set>
                                    <p:animEffect transition="in" filter="dissolve">
                                      <p:cBhvr>
                                        <p:cTn id="17" dur="500"/>
                                        <p:tgtEl>
                                          <p:spTgt spid="138">
                                            <p:txEl>
                                              <p:pRg st="37" end="4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8">
                                            <p:txEl>
                                              <p:pRg st="47" end="59"/>
                                            </p:txEl>
                                          </p:spTgt>
                                        </p:tgtEl>
                                        <p:attrNameLst>
                                          <p:attrName>style.visibility</p:attrName>
                                        </p:attrNameLst>
                                      </p:cBhvr>
                                      <p:to>
                                        <p:strVal val="visible"/>
                                      </p:to>
                                    </p:set>
                                    <p:animEffect transition="in" filter="dissolve">
                                      <p:cBhvr>
                                        <p:cTn id="22" dur="500"/>
                                        <p:tgtEl>
                                          <p:spTgt spid="138">
                                            <p:txEl>
                                              <p:pRg st="47" end="5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38">
                                            <p:txEl>
                                              <p:pRg st="59" end="88"/>
                                            </p:txEl>
                                          </p:spTgt>
                                        </p:tgtEl>
                                        <p:attrNameLst>
                                          <p:attrName>style.visibility</p:attrName>
                                        </p:attrNameLst>
                                      </p:cBhvr>
                                      <p:to>
                                        <p:strVal val="visible"/>
                                      </p:to>
                                    </p:set>
                                    <p:animEffect transition="in" filter="dissolve">
                                      <p:cBhvr>
                                        <p:cTn id="27" dur="500"/>
                                        <p:tgtEl>
                                          <p:spTgt spid="138">
                                            <p:txEl>
                                              <p:pRg st="59" end="8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38">
                                            <p:txEl>
                                              <p:pRg st="88" end="99"/>
                                            </p:txEl>
                                          </p:spTgt>
                                        </p:tgtEl>
                                        <p:attrNameLst>
                                          <p:attrName>style.visibility</p:attrName>
                                        </p:attrNameLst>
                                      </p:cBhvr>
                                      <p:to>
                                        <p:strVal val="visible"/>
                                      </p:to>
                                    </p:set>
                                    <p:animEffect transition="in" filter="dissolve">
                                      <p:cBhvr>
                                        <p:cTn id="32" dur="500"/>
                                        <p:tgtEl>
                                          <p:spTgt spid="138">
                                            <p:txEl>
                                              <p:pRg st="88" end="9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38">
                                            <p:txEl>
                                              <p:pRg st="99" end="120"/>
                                            </p:txEl>
                                          </p:spTgt>
                                        </p:tgtEl>
                                        <p:attrNameLst>
                                          <p:attrName>style.visibility</p:attrName>
                                        </p:attrNameLst>
                                      </p:cBhvr>
                                      <p:to>
                                        <p:strVal val="visible"/>
                                      </p:to>
                                    </p:set>
                                    <p:animEffect transition="in" filter="dissolve">
                                      <p:cBhvr>
                                        <p:cTn id="37" dur="500"/>
                                        <p:tgtEl>
                                          <p:spTgt spid="138">
                                            <p:txEl>
                                              <p:pRg st="99" end="12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39"/>
                                        </p:tgtEl>
                                        <p:attrNameLst>
                                          <p:attrName>style.visibility</p:attrName>
                                        </p:attrNameLst>
                                      </p:cBhvr>
                                      <p:to>
                                        <p:strVal val="visible"/>
                                      </p:to>
                                    </p:set>
                                    <p:animEffect transition="in" filter="dissolve">
                                      <p:cBhvr>
                                        <p:cTn id="42" dur="500"/>
                                        <p:tgtEl>
                                          <p:spTgt spid="139"/>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54" name=""/>
        <p:cNvGrpSpPr/>
        <p:nvPr/>
      </p:nvGrpSpPr>
      <p:grpSpPr>
        <a:xfrm>
          <a:off x="0" y="0"/>
          <a:ext cx="0" cy="0"/>
          <a:chOff x="0" y="0"/>
          <a:chExt cx="0" cy="0"/>
        </a:xfrm>
      </p:grpSpPr>
      <p:sp>
        <p:nvSpPr>
          <p:cNvPr id="155" name="Text Box 5"/>
          <p:cNvSpPr txBox="1">
            <a:spLocks noGrp="1" noChangeShapeType="1"/>
          </p:cNvSpPr>
          <p:nvPr/>
        </p:nvSpPr>
        <p:spPr>
          <a:xfrm>
            <a:off x="684212" y="620712"/>
            <a:ext cx="6480175" cy="4572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2400">
                <a:latin typeface="黑体" pitchFamily="49" charset="-122"/>
                <a:ea typeface="黑体" pitchFamily="49" charset="-122"/>
              </a:rPr>
              <a:t>表20-3 一些磷酸化合物水解的标准自由能变化</a:t>
            </a:r>
            <a:endParaRPr lang="en-US" sz="2400">
              <a:latin typeface="黑体" pitchFamily="49" charset="-122"/>
              <a:ea typeface="黑体" pitchFamily="49" charset="-122"/>
            </a:endParaRPr>
          </a:p>
        </p:txBody>
      </p:sp>
      <p:sp>
        <p:nvSpPr>
          <p:cNvPr id="156" name="Text Box 6"/>
          <p:cNvSpPr txBox="1">
            <a:spLocks noGrp="1" noChangeShapeType="1"/>
          </p:cNvSpPr>
          <p:nvPr/>
        </p:nvSpPr>
        <p:spPr>
          <a:xfrm>
            <a:off x="1403350" y="1916112"/>
            <a:ext cx="6121400" cy="366712"/>
          </a:xfrm>
          <a:prstGeom prst="rect">
            <a:avLst/>
          </a:prstGeom>
          <a:noFill/>
        </p:spPr>
        <p:txBody>
          <a:bodyPr lIns="91440" tIns="45720" rIns="91440" bIns="45720">
            <a:spAutoFit/>
          </a:bodyPr>
          <a:lstStyle/>
          <a:p>
            <a:endParaRPr sz="1400" dirty="0"/>
          </a:p>
        </p:txBody>
      </p:sp>
      <p:sp>
        <p:nvSpPr>
          <p:cNvPr id="157" name="Text Box 7"/>
          <p:cNvSpPr txBox="1">
            <a:spLocks noGrp="1" noChangeShapeType="1"/>
          </p:cNvSpPr>
          <p:nvPr/>
        </p:nvSpPr>
        <p:spPr>
          <a:xfrm>
            <a:off x="1476375" y="1771650"/>
            <a:ext cx="6264275" cy="45720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2400">
                <a:latin typeface="黑体" pitchFamily="49" charset="-122"/>
                <a:ea typeface="黑体" pitchFamily="49" charset="-122"/>
              </a:rPr>
              <a:t>化合物                      ΔG</a:t>
            </a:r>
            <a:r>
              <a:rPr lang="en-US" sz="2400" baseline="30000">
                <a:latin typeface="黑体" pitchFamily="49" charset="-122"/>
                <a:ea typeface="黑体" pitchFamily="49" charset="-122"/>
              </a:rPr>
              <a:t>0</a:t>
            </a:r>
            <a:r>
              <a:rPr lang="en-US" sz="2400">
                <a:ea typeface="黑体" pitchFamily="49" charset="-122"/>
              </a:rPr>
              <a:t>’</a:t>
            </a:r>
            <a:r>
              <a:rPr lang="en-US" sz="2400">
                <a:latin typeface="黑体" pitchFamily="49" charset="-122"/>
                <a:ea typeface="黑体" pitchFamily="49" charset="-122"/>
              </a:rPr>
              <a:t>(kJ/mol)</a:t>
            </a:r>
            <a:endParaRPr lang="en-US" sz="2400">
              <a:latin typeface="黑体" pitchFamily="49" charset="-122"/>
              <a:ea typeface="黑体" pitchFamily="49" charset="-122"/>
            </a:endParaRPr>
          </a:p>
        </p:txBody>
      </p:sp>
      <p:sp>
        <p:nvSpPr>
          <p:cNvPr id="158" name="Text Box 8"/>
          <p:cNvSpPr txBox="1">
            <a:spLocks noGrp="1" noChangeShapeType="1"/>
          </p:cNvSpPr>
          <p:nvPr/>
        </p:nvSpPr>
        <p:spPr>
          <a:xfrm>
            <a:off x="828675" y="2492375"/>
            <a:ext cx="3600450" cy="366712"/>
          </a:xfrm>
          <a:prstGeom prst="rect">
            <a:avLst/>
          </a:prstGeom>
          <a:noFill/>
        </p:spPr>
        <p:txBody>
          <a:bodyPr lIns="91440" tIns="45720" rIns="91440" bIns="45720">
            <a:spAutoFit/>
          </a:bodyPr>
          <a:lstStyle/>
          <a:p>
            <a:endParaRPr sz="1400" dirty="0"/>
          </a:p>
        </p:txBody>
      </p:sp>
      <p:sp>
        <p:nvSpPr>
          <p:cNvPr id="159" name="Text Box 9"/>
          <p:cNvSpPr txBox="1">
            <a:spLocks noGrp="1" noChangeShapeType="1"/>
          </p:cNvSpPr>
          <p:nvPr/>
        </p:nvSpPr>
        <p:spPr>
          <a:xfrm>
            <a:off x="1187450" y="2563812"/>
            <a:ext cx="6840537" cy="3597275"/>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2000"/>
              <a:t>ATP </a:t>
            </a:r>
            <a:r>
              <a:rPr lang="en-US" sz="2000">
                <a:sym typeface="Wingdings" panose="05000000000000000000" pitchFamily="2" charset="2"/>
              </a:rPr>
              <a:t> ADP + Pi                                                  30.5</a:t>
            </a:r>
            <a:endParaRPr lang="en-US" sz="2000"/>
          </a:p>
          <a:p>
            <a:pPr marL="0" lvl="0" indent="0" hangingPunct="1">
              <a:spcBef>
                <a:spcPct val="50000"/>
              </a:spcBef>
              <a:buNone/>
            </a:pPr>
            <a:r>
              <a:rPr lang="en-US" sz="2000"/>
              <a:t>ATP </a:t>
            </a:r>
            <a:r>
              <a:rPr lang="zh-CN" sz="2000">
                <a:sym typeface="Wingdings" panose="05000000000000000000" pitchFamily="2" charset="2"/>
              </a:rPr>
              <a:t> AMP + PPi                                               32.2 </a:t>
            </a:r>
            <a:endParaRPr lang="zh-CN" sz="2000">
              <a:sym typeface="Wingdings" panose="05000000000000000000" pitchFamily="2" charset="2"/>
            </a:endParaRPr>
          </a:p>
          <a:p>
            <a:pPr marL="0" lvl="0" indent="0" hangingPunct="1">
              <a:spcBef>
                <a:spcPct val="50000"/>
              </a:spcBef>
              <a:buNone/>
            </a:pPr>
            <a:r>
              <a:rPr lang="zh-CN" sz="2000">
                <a:sym typeface="Wingdings" panose="05000000000000000000" pitchFamily="2" charset="2"/>
              </a:rPr>
              <a:t>ADP  AMP + Pi                                                 30.5</a:t>
            </a:r>
            <a:endParaRPr lang="zh-CN" sz="2000">
              <a:sym typeface="Wingdings" panose="05000000000000000000" pitchFamily="2" charset="2"/>
            </a:endParaRPr>
          </a:p>
          <a:p>
            <a:pPr marL="0" lvl="0" indent="0" hangingPunct="1">
              <a:spcBef>
                <a:spcPct val="50000"/>
              </a:spcBef>
              <a:buNone/>
            </a:pPr>
            <a:r>
              <a:rPr lang="zh-CN" sz="2000">
                <a:sym typeface="Wingdings" panose="05000000000000000000" pitchFamily="2" charset="2"/>
              </a:rPr>
              <a:t>AMP  腺苷 + Pi                                                 14.2</a:t>
            </a:r>
            <a:endParaRPr lang="zh-CN" sz="2000">
              <a:sym typeface="Wingdings" panose="05000000000000000000" pitchFamily="2" charset="2"/>
            </a:endParaRPr>
          </a:p>
          <a:p>
            <a:pPr marL="0" lvl="0" indent="0" hangingPunct="1">
              <a:spcBef>
                <a:spcPct val="50000"/>
              </a:spcBef>
              <a:buNone/>
            </a:pPr>
            <a:r>
              <a:rPr lang="zh-CN" sz="2000">
                <a:sym typeface="Wingdings" panose="05000000000000000000" pitchFamily="2" charset="2"/>
              </a:rPr>
              <a:t>G-1-P  G + Pi                                                    20.9</a:t>
            </a:r>
            <a:endParaRPr lang="zh-CN" sz="2000">
              <a:sym typeface="Wingdings" panose="05000000000000000000" pitchFamily="2" charset="2"/>
            </a:endParaRPr>
          </a:p>
          <a:p>
            <a:pPr marL="0" lvl="0" indent="0" hangingPunct="1">
              <a:spcBef>
                <a:spcPct val="50000"/>
              </a:spcBef>
              <a:buNone/>
            </a:pPr>
            <a:r>
              <a:rPr lang="zh-CN" sz="2000">
                <a:sym typeface="Wingdings" panose="05000000000000000000" pitchFamily="2" charset="2"/>
              </a:rPr>
              <a:t>F-6-P  F + Pi                                                15.9/13.8</a:t>
            </a:r>
            <a:endParaRPr lang="zh-CN" sz="2000">
              <a:sym typeface="Wingdings" panose="05000000000000000000" pitchFamily="2" charset="2"/>
            </a:endParaRPr>
          </a:p>
          <a:p>
            <a:pPr marL="0" lvl="0" indent="0" hangingPunct="1">
              <a:spcBef>
                <a:spcPct val="50000"/>
              </a:spcBef>
              <a:buNone/>
            </a:pPr>
            <a:r>
              <a:rPr lang="zh-CN" sz="2000">
                <a:sym typeface="Wingdings" panose="05000000000000000000" pitchFamily="2" charset="2"/>
              </a:rPr>
              <a:t>G-6-P  G + Pi                                                    13.8</a:t>
            </a:r>
            <a:endParaRPr lang="zh-CN" sz="2000">
              <a:sym typeface="Wingdings" panose="05000000000000000000" pitchFamily="2" charset="2"/>
            </a:endParaRPr>
          </a:p>
          <a:p>
            <a:pPr marL="0" lvl="0" indent="0" hangingPunct="1">
              <a:spcBef>
                <a:spcPct val="50000"/>
              </a:spcBef>
              <a:buNone/>
            </a:pPr>
            <a:r>
              <a:rPr lang="zh-CN" sz="2000">
                <a:sym typeface="Wingdings" panose="05000000000000000000" pitchFamily="2" charset="2"/>
              </a:rPr>
              <a:t>   </a:t>
            </a:r>
            <a:endParaRPr lang="zh-CN" sz="2000">
              <a:sym typeface="Wingdings" panose="05000000000000000000" pitchFamily="2" charset="2"/>
            </a:endParaRPr>
          </a:p>
        </p:txBody>
      </p:sp>
      <p:sp>
        <p:nvSpPr>
          <p:cNvPr id="160" name="Line 10"/>
          <p:cNvSpPr>
            <a:spLocks noGrp="1" noChangeShapeType="1"/>
          </p:cNvSpPr>
          <p:nvPr/>
        </p:nvSpPr>
        <p:spPr>
          <a:xfrm>
            <a:off x="1187450" y="1628775"/>
            <a:ext cx="6553200" cy="0"/>
          </a:xfrm>
          <a:prstGeom prst="line">
            <a:avLst/>
          </a:prstGeom>
          <a:noFill/>
          <a:ln w="12700">
            <a:solidFill>
              <a:schemeClr val="dk1"/>
            </a:solidFill>
            <a:prstDash val="sysDot"/>
            <a:round/>
          </a:ln>
        </p:spPr>
        <p:txBody>
          <a:bodyPr wrap="none"/>
          <a:lstStyle/>
          <a:p>
            <a:endParaRPr sz="1400" dirty="0"/>
          </a:p>
        </p:txBody>
      </p:sp>
      <p:sp>
        <p:nvSpPr>
          <p:cNvPr id="161" name="Line 11"/>
          <p:cNvSpPr>
            <a:spLocks noGrp="1" noChangeShapeType="1"/>
          </p:cNvSpPr>
          <p:nvPr/>
        </p:nvSpPr>
        <p:spPr>
          <a:xfrm>
            <a:off x="1187450" y="2347912"/>
            <a:ext cx="6553200" cy="0"/>
          </a:xfrm>
          <a:prstGeom prst="line">
            <a:avLst/>
          </a:prstGeom>
          <a:noFill/>
          <a:ln w="12700">
            <a:solidFill>
              <a:schemeClr val="dk1"/>
            </a:solidFill>
            <a:prstDash val="sysDot"/>
            <a:round/>
          </a:ln>
        </p:spPr>
        <p:txBody>
          <a:bodyPr wrap="none"/>
          <a:lstStyle/>
          <a:p>
            <a:endParaRPr sz="1400" dirty="0"/>
          </a:p>
        </p:txBody>
      </p:sp>
      <p:sp>
        <p:nvSpPr>
          <p:cNvPr id="162" name="Line 12"/>
          <p:cNvSpPr>
            <a:spLocks noGrp="1" noChangeShapeType="1"/>
          </p:cNvSpPr>
          <p:nvPr/>
        </p:nvSpPr>
        <p:spPr>
          <a:xfrm>
            <a:off x="1187450" y="5734050"/>
            <a:ext cx="6553200" cy="0"/>
          </a:xfrm>
          <a:prstGeom prst="line">
            <a:avLst/>
          </a:prstGeom>
          <a:noFill/>
          <a:ln w="12700">
            <a:solidFill>
              <a:schemeClr val="dk1"/>
            </a:solidFill>
            <a:prstDash val="sysDot"/>
            <a:round/>
          </a:ln>
        </p:spPr>
        <p:txBody>
          <a:bodyPr wrap="none"/>
          <a:lstStyle/>
          <a:p>
            <a:endParaRPr sz="1400" dirty="0"/>
          </a:p>
        </p:txBody>
      </p:sp>
      <p:sp>
        <p:nvSpPr>
          <p:cNvPr id="163" name="Text Box 13"/>
          <p:cNvSpPr txBox="1">
            <a:spLocks noGrp="1" noChangeShapeType="1"/>
          </p:cNvSpPr>
          <p:nvPr/>
        </p:nvSpPr>
        <p:spPr>
          <a:xfrm>
            <a:off x="6804025" y="6021387"/>
            <a:ext cx="1800225" cy="36671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1800"/>
              <a:t>参见P36表20-3</a:t>
            </a:r>
            <a:endParaRPr lang="en-US" sz="180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64" name=""/>
        <p:cNvGrpSpPr/>
        <p:nvPr/>
      </p:nvGrpSpPr>
      <p:grpSpPr>
        <a:xfrm>
          <a:off x="0" y="0"/>
          <a:ext cx="0" cy="0"/>
          <a:chOff x="0" y="0"/>
          <a:chExt cx="0" cy="0"/>
        </a:xfrm>
      </p:grpSpPr>
      <p:sp>
        <p:nvSpPr>
          <p:cNvPr id="165" name="Rectangle 2"/>
          <p:cNvSpPr>
            <a:spLocks noGrp="1" noChangeShapeType="1"/>
          </p:cNvSpPr>
          <p:nvPr>
            <p:ph type="title"/>
          </p:nvPr>
        </p:nvSpPr>
        <p:spPr>
          <a:xfrm>
            <a:off x="250825" y="404812"/>
            <a:ext cx="8137525" cy="509587"/>
          </a:xfrm>
          <a:prstGeom prst="rect">
            <a:avLst/>
          </a:prstGeom>
          <a:noFill/>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2800" b="1" i="0" u="none">
                <a:latin typeface="黑体" pitchFamily="49" charset="-122"/>
                <a:ea typeface="黑体" pitchFamily="49" charset="-122"/>
              </a:rPr>
              <a:t>3.2 ATP是细胞能量转运的中心</a:t>
            </a:r>
            <a:endParaRPr lang="zh-CN" sz="2800" b="1" i="0" u="none">
              <a:latin typeface="黑体" pitchFamily="49" charset="-122"/>
              <a:ea typeface="黑体" pitchFamily="49" charset="-122"/>
            </a:endParaRPr>
          </a:p>
        </p:txBody>
      </p:sp>
      <p:pic>
        <p:nvPicPr>
          <p:cNvPr id="166" name="Picture 3" descr="12-2"/>
          <p:cNvPicPr>
            <a:picLocks noGrp="1" noChangeAspect="1"/>
          </p:cNvPicPr>
          <p:nvPr>
            <p:ph type="body"/>
          </p:nvPr>
        </p:nvPicPr>
        <p:blipFill>
          <a:blip r:embed="rId1">
            <a:lum bright="-11999"/>
          </a:blip>
          <a:srcRect b="60075"/>
          <a:stretch>
            <a:fillRect/>
          </a:stretch>
        </p:blipFill>
        <p:spPr>
          <a:xfrm>
            <a:off x="1692275" y="1844675"/>
            <a:ext cx="4464050" cy="2312987"/>
          </a:xfrm>
          <a:prstGeom prst="rect">
            <a:avLst/>
          </a:prstGeom>
          <a:noFill/>
        </p:spPr>
      </p:pic>
      <p:sp>
        <p:nvSpPr>
          <p:cNvPr id="167" name="Text Box 5"/>
          <p:cNvSpPr txBox="1">
            <a:spLocks noGrp="1" noChangeShapeType="1"/>
          </p:cNvSpPr>
          <p:nvPr/>
        </p:nvSpPr>
        <p:spPr>
          <a:xfrm>
            <a:off x="2268537" y="3716337"/>
            <a:ext cx="1152525" cy="457200"/>
          </a:xfrm>
          <a:prstGeom prst="rect">
            <a:avLst/>
          </a:prstGeom>
          <a:solidFill>
            <a:schemeClr val="lt1"/>
          </a:solid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zh-CN" sz="2400" b="1" i="0" u="none">
                <a:latin typeface="楷体_GB2312" pitchFamily="49" charset="-122"/>
                <a:ea typeface="楷体_GB2312" pitchFamily="49" charset="-122"/>
              </a:rPr>
              <a:t>酸酐键</a:t>
            </a:r>
            <a:endParaRPr lang="zh-CN" sz="2400" b="1" i="0" u="none">
              <a:latin typeface="楷体_GB2312" pitchFamily="49" charset="-122"/>
              <a:ea typeface="楷体_GB2312" pitchFamily="49" charset="-122"/>
            </a:endParaRPr>
          </a:p>
        </p:txBody>
      </p:sp>
      <p:sp>
        <p:nvSpPr>
          <p:cNvPr id="168" name="Text Box 8"/>
          <p:cNvSpPr txBox="1">
            <a:spLocks noGrp="1" noChangeShapeType="1"/>
          </p:cNvSpPr>
          <p:nvPr/>
        </p:nvSpPr>
        <p:spPr>
          <a:xfrm>
            <a:off x="3276600" y="1916112"/>
            <a:ext cx="1293812" cy="457200"/>
          </a:xfrm>
          <a:prstGeom prst="rect">
            <a:avLst/>
          </a:prstGeom>
          <a:solidFill>
            <a:schemeClr val="lt1"/>
          </a:solid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zh-CN" sz="2400" b="1" i="0" u="none">
                <a:latin typeface="楷体_GB2312" pitchFamily="49" charset="-122"/>
                <a:ea typeface="楷体_GB2312" pitchFamily="49" charset="-122"/>
              </a:rPr>
              <a:t>磷脂键</a:t>
            </a:r>
            <a:endParaRPr lang="zh-CN" sz="2400" b="1" i="0" u="none">
              <a:latin typeface="楷体_GB2312" pitchFamily="49" charset="-122"/>
              <a:ea typeface="楷体_GB2312" pitchFamily="49" charset="-122"/>
            </a:endParaRPr>
          </a:p>
        </p:txBody>
      </p:sp>
      <p:sp>
        <p:nvSpPr>
          <p:cNvPr id="169" name="Line 10"/>
          <p:cNvSpPr>
            <a:spLocks noGrp="1" noChangeShapeType="1"/>
          </p:cNvSpPr>
          <p:nvPr/>
        </p:nvSpPr>
        <p:spPr>
          <a:xfrm flipV="1">
            <a:off x="2557462" y="3284537"/>
            <a:ext cx="1587" cy="412750"/>
          </a:xfrm>
          <a:prstGeom prst="line">
            <a:avLst/>
          </a:prstGeom>
          <a:noFill/>
          <a:ln w="9524">
            <a:solidFill>
              <a:srgbClr val="000000"/>
            </a:solidFill>
            <a:round/>
            <a:tailEnd type="triangle" w="med" len="med"/>
          </a:ln>
        </p:spPr>
        <p:txBody>
          <a:bodyPr wrap="none"/>
          <a:lstStyle/>
          <a:p>
            <a:endParaRPr sz="1400" dirty="0"/>
          </a:p>
        </p:txBody>
      </p:sp>
      <p:sp>
        <p:nvSpPr>
          <p:cNvPr id="170" name="Line 11"/>
          <p:cNvSpPr>
            <a:spLocks noGrp="1" noChangeShapeType="1"/>
          </p:cNvSpPr>
          <p:nvPr/>
        </p:nvSpPr>
        <p:spPr>
          <a:xfrm flipH="1" flipV="1">
            <a:off x="3132137" y="3284537"/>
            <a:ext cx="1587" cy="412750"/>
          </a:xfrm>
          <a:prstGeom prst="line">
            <a:avLst/>
          </a:prstGeom>
          <a:noFill/>
          <a:ln w="9524">
            <a:solidFill>
              <a:srgbClr val="000000"/>
            </a:solidFill>
            <a:round/>
            <a:tailEnd type="triangle" w="med" len="med"/>
          </a:ln>
        </p:spPr>
        <p:txBody>
          <a:bodyPr wrap="none"/>
          <a:lstStyle/>
          <a:p>
            <a:endParaRPr sz="1400" dirty="0"/>
          </a:p>
        </p:txBody>
      </p:sp>
      <p:sp>
        <p:nvSpPr>
          <p:cNvPr id="171" name="Line 12"/>
          <p:cNvSpPr>
            <a:spLocks noGrp="1" noChangeShapeType="1"/>
          </p:cNvSpPr>
          <p:nvPr/>
        </p:nvSpPr>
        <p:spPr>
          <a:xfrm>
            <a:off x="3708400" y="2420937"/>
            <a:ext cx="1587" cy="492125"/>
          </a:xfrm>
          <a:prstGeom prst="line">
            <a:avLst/>
          </a:prstGeom>
          <a:noFill/>
          <a:ln w="9524">
            <a:solidFill>
              <a:srgbClr val="000000"/>
            </a:solidFill>
            <a:round/>
            <a:tailEnd type="triangle" w="med" len="med"/>
          </a:ln>
        </p:spPr>
        <p:txBody>
          <a:bodyPr wrap="none"/>
          <a:lstStyle/>
          <a:p>
            <a:endParaRPr sz="1400" dirty="0"/>
          </a:p>
        </p:txBody>
      </p:sp>
      <p:sp>
        <p:nvSpPr>
          <p:cNvPr id="172" name="Rectangle 13"/>
          <p:cNvSpPr>
            <a:spLocks noGrp="1" noChangeShapeType="1"/>
          </p:cNvSpPr>
          <p:nvPr/>
        </p:nvSpPr>
        <p:spPr>
          <a:xfrm>
            <a:off x="357187" y="981075"/>
            <a:ext cx="7272337" cy="449262"/>
          </a:xfrm>
          <a:prstGeom prst="rect">
            <a:avLst/>
          </a:prstGeom>
          <a:noFill/>
        </p:spPr>
        <p:txBody>
          <a:bodyPr lIns="91440" tIns="45720" rIns="91440" bIns="45720" anchor="ctr" anchorCtr="0"/>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2800">
                <a:latin typeface="黑体" pitchFamily="49" charset="-122"/>
                <a:ea typeface="黑体" pitchFamily="49" charset="-122"/>
              </a:rPr>
              <a:t>3.1.1 ATP水解的驱动力 （p37-39）</a:t>
            </a:r>
            <a:endParaRPr lang="zh-CN" sz="2800">
              <a:latin typeface="黑体" pitchFamily="49" charset="-122"/>
              <a:ea typeface="黑体" pitchFamily="49" charset="-122"/>
            </a:endParaRPr>
          </a:p>
        </p:txBody>
      </p:sp>
      <p:sp>
        <p:nvSpPr>
          <p:cNvPr id="173" name="Rectangle 14"/>
          <p:cNvSpPr>
            <a:spLocks noGrp="1" noChangeShapeType="1"/>
          </p:cNvSpPr>
          <p:nvPr/>
        </p:nvSpPr>
        <p:spPr>
          <a:xfrm>
            <a:off x="827087" y="4581525"/>
            <a:ext cx="5616575" cy="1871662"/>
          </a:xfrm>
          <a:prstGeom prst="rect">
            <a:avLst/>
          </a:prstGeom>
          <a:noFill/>
        </p:spPr>
        <p:txBody>
          <a:bodyPr lIns="91440" tIns="45720" rIns="91440" bIns="45720"/>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609600" lvl="0" indent="-609600" hangingPunct="1">
              <a:spcBef>
                <a:spcPct val="20000"/>
              </a:spcBef>
              <a:buNone/>
            </a:pPr>
            <a:r>
              <a:rPr lang="zh-CN" sz="2400" b="1" i="0" u="none">
                <a:latin typeface="楷体_GB2312" pitchFamily="49" charset="-122"/>
                <a:ea typeface="楷体_GB2312" pitchFamily="49" charset="-122"/>
              </a:rPr>
              <a:t>(1)磷酸基团负电荷排斥</a:t>
            </a:r>
            <a:endParaRPr lang="zh-CN" sz="2400" b="1" i="0" u="none">
              <a:latin typeface="楷体_GB2312" pitchFamily="49" charset="-122"/>
              <a:ea typeface="楷体_GB2312" pitchFamily="49" charset="-122"/>
            </a:endParaRPr>
          </a:p>
          <a:p>
            <a:pPr marL="609600" lvl="0" indent="-609600" hangingPunct="1">
              <a:spcBef>
                <a:spcPct val="20000"/>
              </a:spcBef>
              <a:buNone/>
            </a:pPr>
            <a:r>
              <a:rPr lang="zh-CN" sz="2400" b="1" i="0" u="none">
                <a:latin typeface="楷体_GB2312" pitchFamily="49" charset="-122"/>
                <a:ea typeface="楷体_GB2312" pitchFamily="49" charset="-122"/>
              </a:rPr>
              <a:t>(2)酸酐键的共振稳定性小于磷酯键</a:t>
            </a:r>
            <a:endParaRPr lang="zh-CN" sz="2400" b="1" i="0" u="none">
              <a:latin typeface="楷体_GB2312" pitchFamily="49" charset="-122"/>
              <a:ea typeface="楷体_GB2312" pitchFamily="49" charset="-122"/>
            </a:endParaRPr>
          </a:p>
          <a:p>
            <a:pPr marL="609600" lvl="0" indent="-609600" hangingPunct="1">
              <a:spcBef>
                <a:spcPct val="20000"/>
              </a:spcBef>
              <a:buNone/>
            </a:pPr>
            <a:r>
              <a:rPr lang="zh-CN" sz="2400" b="1" i="0" u="none">
                <a:latin typeface="楷体_GB2312" pitchFamily="49" charset="-122"/>
                <a:ea typeface="楷体_GB2312" pitchFamily="49" charset="-122"/>
              </a:rPr>
              <a:t>(3)[H</a:t>
            </a:r>
            <a:r>
              <a:rPr lang="en-US" sz="2400" b="1" i="0" u="none" baseline="30000">
                <a:latin typeface="楷体_GB2312" pitchFamily="49" charset="-122"/>
                <a:ea typeface="楷体_GB2312" pitchFamily="49" charset="-122"/>
              </a:rPr>
              <a:t>+</a:t>
            </a:r>
            <a:r>
              <a:rPr lang="zh-CN" sz="2400" b="1" i="0" u="none">
                <a:latin typeface="楷体_GB2312" pitchFamily="49" charset="-122"/>
                <a:ea typeface="楷体_GB2312" pitchFamily="49" charset="-122"/>
              </a:rPr>
              <a:t>] 的低浓度(pH 7)</a:t>
            </a:r>
            <a:endParaRPr lang="zh-CN" sz="2400" b="1" i="0" u="none">
              <a:latin typeface="楷体_GB2312" pitchFamily="49" charset="-122"/>
              <a:ea typeface="楷体_GB2312" pitchFamily="49" charset="-122"/>
            </a:endParaRPr>
          </a:p>
          <a:p>
            <a:pPr marL="609600" lvl="0" indent="-609600" hangingPunct="1">
              <a:spcBef>
                <a:spcPct val="20000"/>
              </a:spcBef>
              <a:buNone/>
            </a:pPr>
            <a:r>
              <a:rPr lang="zh-CN" sz="2400" b="1" i="0" u="none">
                <a:latin typeface="楷体_GB2312" pitchFamily="49" charset="-122"/>
                <a:ea typeface="楷体_GB2312" pitchFamily="49" charset="-122"/>
              </a:rPr>
              <a:t>(4)Pi 和 ADP 具有更大的共振稳定性</a:t>
            </a:r>
            <a:endParaRPr lang="zh-CN" sz="2400" b="1" i="0" u="none">
              <a:latin typeface="楷体_GB2312" pitchFamily="49" charset="-122"/>
              <a:ea typeface="楷体_GB2312" pitchFamily="49" charset="-122"/>
            </a:endParaRPr>
          </a:p>
        </p:txBody>
      </p:sp>
      <p:sp>
        <p:nvSpPr>
          <p:cNvPr id="174" name="Text Box 17"/>
          <p:cNvSpPr txBox="1">
            <a:spLocks noGrp="1" noChangeShapeType="1"/>
          </p:cNvSpPr>
          <p:nvPr/>
        </p:nvSpPr>
        <p:spPr>
          <a:xfrm>
            <a:off x="6551612" y="6237287"/>
            <a:ext cx="2592387" cy="396875"/>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zh-CN" sz="2000">
                <a:solidFill>
                  <a:srgbClr val="AE1E39"/>
                </a:solidFill>
                <a:ea typeface="黑体" pitchFamily="49" charset="-122"/>
              </a:rPr>
              <a:t>细胞能量传递系统？</a:t>
            </a:r>
            <a:endParaRPr lang="zh-CN" sz="2000">
              <a:solidFill>
                <a:srgbClr val="AE1E39"/>
              </a:solidFill>
              <a:ea typeface="黑体"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2" presetClass="entr" presetSubtype="9" fill="hold" nodeType="clickEffect">
                                  <p:stCondLst>
                                    <p:cond delay="0"/>
                                  </p:stCondLst>
                                  <p:childTnLst>
                                    <p:set>
                                      <p:cBhvr>
                                        <p:cTn id="6" dur="1" fill="hold">
                                          <p:stCondLst>
                                            <p:cond delay="0"/>
                                          </p:stCondLst>
                                        </p:cTn>
                                        <p:tgtEl>
                                          <p:spTgt spid="172"/>
                                        </p:tgtEl>
                                        <p:attrNameLst>
                                          <p:attrName>style.visibility</p:attrName>
                                        </p:attrNameLst>
                                      </p:cBhvr>
                                      <p:to>
                                        <p:strVal val="visible"/>
                                      </p:to>
                                    </p:set>
                                    <p:anim calcmode="lin" valueType="num">
                                      <p:cBhvr additive="base">
                                        <p:cTn id="7" dur="500" fill="hold"/>
                                        <p:tgtEl>
                                          <p:spTgt spid="172"/>
                                        </p:tgtEl>
                                        <p:attrNameLst>
                                          <p:attrName>ppt_x</p:attrName>
                                        </p:attrNameLst>
                                      </p:cBhvr>
                                      <p:tavLst>
                                        <p:tav tm="0">
                                          <p:val>
                                            <p:strVal val="0-#ppt_w/2"/>
                                          </p:val>
                                        </p:tav>
                                        <p:tav tm="100000">
                                          <p:val>
                                            <p:strVal val="#ppt_x"/>
                                          </p:val>
                                        </p:tav>
                                      </p:tavLst>
                                    </p:anim>
                                    <p:anim calcmode="lin" valueType="num">
                                      <p:cBhvr additive="base">
                                        <p:cTn id="8" dur="500" fill="hold"/>
                                        <p:tgtEl>
                                          <p:spTgt spid="17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5" fill="hold" nodeType="clickEffect">
                                  <p:stCondLst>
                                    <p:cond delay="0"/>
                                  </p:stCondLst>
                                  <p:childTnLst>
                                    <p:set>
                                      <p:cBhvr>
                                        <p:cTn id="12" dur="1" fill="hold">
                                          <p:stCondLst>
                                            <p:cond delay="0"/>
                                          </p:stCondLst>
                                        </p:cTn>
                                        <p:tgtEl>
                                          <p:spTgt spid="168"/>
                                        </p:tgtEl>
                                        <p:attrNameLst>
                                          <p:attrName>style.visibility</p:attrName>
                                        </p:attrNameLst>
                                      </p:cBhvr>
                                      <p:to>
                                        <p:strVal val="visible"/>
                                      </p:to>
                                    </p:set>
                                    <p:animEffect transition="in" filter="checkerboard(down)">
                                      <p:cBhvr>
                                        <p:cTn id="13" dur="500"/>
                                        <p:tgtEl>
                                          <p:spTgt spid="168"/>
                                        </p:tgtEl>
                                      </p:cBhvr>
                                    </p:animEffect>
                                  </p:childTnLst>
                                </p:cTn>
                              </p:par>
                              <p:par>
                                <p:cTn id="14" presetID="5" presetClass="entr" presetSubtype="5" fill="hold" nodeType="withEffect">
                                  <p:stCondLst>
                                    <p:cond delay="0"/>
                                  </p:stCondLst>
                                  <p:childTnLst>
                                    <p:set>
                                      <p:cBhvr>
                                        <p:cTn id="15" dur="1" fill="hold">
                                          <p:stCondLst>
                                            <p:cond delay="0"/>
                                          </p:stCondLst>
                                        </p:cTn>
                                        <p:tgtEl>
                                          <p:spTgt spid="171"/>
                                        </p:tgtEl>
                                        <p:attrNameLst>
                                          <p:attrName>style.visibility</p:attrName>
                                        </p:attrNameLst>
                                      </p:cBhvr>
                                      <p:to>
                                        <p:strVal val="visible"/>
                                      </p:to>
                                    </p:set>
                                    <p:animEffect transition="in" filter="checkerboard(down)">
                                      <p:cBhvr>
                                        <p:cTn id="16" dur="500"/>
                                        <p:tgtEl>
                                          <p:spTgt spid="171"/>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169"/>
                                        </p:tgtEl>
                                        <p:attrNameLst>
                                          <p:attrName>style.visibility</p:attrName>
                                        </p:attrNameLst>
                                      </p:cBhvr>
                                      <p:to>
                                        <p:strVal val="visible"/>
                                      </p:to>
                                    </p:set>
                                    <p:animEffect transition="in" filter="checkerboard(across)">
                                      <p:cBhvr>
                                        <p:cTn id="21" dur="500"/>
                                        <p:tgtEl>
                                          <p:spTgt spid="169"/>
                                        </p:tgtEl>
                                      </p:cBhvr>
                                    </p:animEffect>
                                  </p:childTnLst>
                                </p:cTn>
                              </p:par>
                              <p:par>
                                <p:cTn id="22" presetID="5" presetClass="entr" presetSubtype="10" fill="hold" nodeType="withEffect">
                                  <p:stCondLst>
                                    <p:cond delay="0"/>
                                  </p:stCondLst>
                                  <p:childTnLst>
                                    <p:set>
                                      <p:cBhvr>
                                        <p:cTn id="23" dur="1" fill="hold">
                                          <p:stCondLst>
                                            <p:cond delay="0"/>
                                          </p:stCondLst>
                                        </p:cTn>
                                        <p:tgtEl>
                                          <p:spTgt spid="167"/>
                                        </p:tgtEl>
                                        <p:attrNameLst>
                                          <p:attrName>style.visibility</p:attrName>
                                        </p:attrNameLst>
                                      </p:cBhvr>
                                      <p:to>
                                        <p:strVal val="visible"/>
                                      </p:to>
                                    </p:set>
                                    <p:animEffect transition="in" filter="checkerboard(across)">
                                      <p:cBhvr>
                                        <p:cTn id="24" dur="500"/>
                                        <p:tgtEl>
                                          <p:spTgt spid="167"/>
                                        </p:tgtEl>
                                      </p:cBhvr>
                                    </p:animEffect>
                                  </p:childTnLst>
                                </p:cTn>
                              </p:par>
                              <p:par>
                                <p:cTn id="25" presetID="5" presetClass="entr" presetSubtype="10" fill="hold" nodeType="withEffect">
                                  <p:stCondLst>
                                    <p:cond delay="0"/>
                                  </p:stCondLst>
                                  <p:childTnLst>
                                    <p:set>
                                      <p:cBhvr>
                                        <p:cTn id="26" dur="1" fill="hold">
                                          <p:stCondLst>
                                            <p:cond delay="0"/>
                                          </p:stCondLst>
                                        </p:cTn>
                                        <p:tgtEl>
                                          <p:spTgt spid="170"/>
                                        </p:tgtEl>
                                        <p:attrNameLst>
                                          <p:attrName>style.visibility</p:attrName>
                                        </p:attrNameLst>
                                      </p:cBhvr>
                                      <p:to>
                                        <p:strVal val="visible"/>
                                      </p:to>
                                    </p:set>
                                    <p:animEffect transition="in" filter="checkerboard(across)">
                                      <p:cBhvr>
                                        <p:cTn id="27" dur="500"/>
                                        <p:tgtEl>
                                          <p:spTgt spid="170"/>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73">
                                            <p:txEl>
                                              <p:pRg st="0" end="13"/>
                                            </p:txEl>
                                          </p:spTgt>
                                        </p:tgtEl>
                                        <p:attrNameLst>
                                          <p:attrName>style.visibility</p:attrName>
                                        </p:attrNameLst>
                                      </p:cBhvr>
                                      <p:to>
                                        <p:strVal val="visible"/>
                                      </p:to>
                                    </p:set>
                                    <p:animEffect transition="in" filter="checkerboard(across)">
                                      <p:cBhvr>
                                        <p:cTn id="32" dur="500"/>
                                        <p:tgtEl>
                                          <p:spTgt spid="173">
                                            <p:txEl>
                                              <p:pRg st="0" end="1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173">
                                            <p:txEl>
                                              <p:pRg st="13" end="31"/>
                                            </p:txEl>
                                          </p:spTgt>
                                        </p:tgtEl>
                                        <p:attrNameLst>
                                          <p:attrName>style.visibility</p:attrName>
                                        </p:attrNameLst>
                                      </p:cBhvr>
                                      <p:to>
                                        <p:strVal val="visible"/>
                                      </p:to>
                                    </p:set>
                                    <p:animEffect transition="in" filter="checkerboard(across)">
                                      <p:cBhvr>
                                        <p:cTn id="37" dur="500"/>
                                        <p:tgtEl>
                                          <p:spTgt spid="173">
                                            <p:txEl>
                                              <p:pRg st="13" end="3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173">
                                            <p:txEl>
                                              <p:pRg st="31" end="50"/>
                                            </p:txEl>
                                          </p:spTgt>
                                        </p:tgtEl>
                                        <p:attrNameLst>
                                          <p:attrName>style.visibility</p:attrName>
                                        </p:attrNameLst>
                                      </p:cBhvr>
                                      <p:to>
                                        <p:strVal val="visible"/>
                                      </p:to>
                                    </p:set>
                                    <p:animEffect transition="in" filter="checkerboard(across)">
                                      <p:cBhvr>
                                        <p:cTn id="42" dur="500"/>
                                        <p:tgtEl>
                                          <p:spTgt spid="173">
                                            <p:txEl>
                                              <p:pRg st="31" end="5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173">
                                            <p:txEl>
                                              <p:pRg st="50" end="73"/>
                                            </p:txEl>
                                          </p:spTgt>
                                        </p:tgtEl>
                                        <p:attrNameLst>
                                          <p:attrName>style.visibility</p:attrName>
                                        </p:attrNameLst>
                                      </p:cBhvr>
                                      <p:to>
                                        <p:strVal val="visible"/>
                                      </p:to>
                                    </p:set>
                                    <p:animEffect transition="in" filter="checkerboard(across)">
                                      <p:cBhvr>
                                        <p:cTn id="47" dur="500"/>
                                        <p:tgtEl>
                                          <p:spTgt spid="173">
                                            <p:txEl>
                                              <p:pRg st="50" end="73"/>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75" name=""/>
        <p:cNvGrpSpPr/>
        <p:nvPr/>
      </p:nvGrpSpPr>
      <p:grpSpPr>
        <a:xfrm>
          <a:off x="0" y="0"/>
          <a:ext cx="0" cy="0"/>
          <a:chOff x="0" y="0"/>
          <a:chExt cx="0" cy="0"/>
        </a:xfrm>
      </p:grpSpPr>
      <p:sp>
        <p:nvSpPr>
          <p:cNvPr id="176" name="Rectangle 2"/>
          <p:cNvSpPr>
            <a:spLocks noGrp="1" noChangeShapeType="1"/>
          </p:cNvSpPr>
          <p:nvPr>
            <p:ph type="title"/>
          </p:nvPr>
        </p:nvSpPr>
        <p:spPr>
          <a:xfrm>
            <a:off x="611187" y="476250"/>
            <a:ext cx="7785100" cy="474662"/>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2800">
                <a:latin typeface="黑体" pitchFamily="49" charset="-122"/>
                <a:ea typeface="黑体" pitchFamily="49" charset="-122"/>
              </a:rPr>
              <a:t>3.2.2 细胞内影响ATP自由能释放的因素</a:t>
            </a:r>
            <a:endParaRPr lang="zh-CN" sz="2800">
              <a:latin typeface="黑体" pitchFamily="49" charset="-122"/>
              <a:ea typeface="黑体" pitchFamily="49" charset="-122"/>
            </a:endParaRPr>
          </a:p>
        </p:txBody>
      </p:sp>
      <p:sp>
        <p:nvSpPr>
          <p:cNvPr id="177" name="Rectangle 3"/>
          <p:cNvSpPr>
            <a:spLocks noGrp="1" noChangeShapeType="1"/>
          </p:cNvSpPr>
          <p:nvPr/>
        </p:nvSpPr>
        <p:spPr>
          <a:xfrm>
            <a:off x="1476375" y="981075"/>
            <a:ext cx="6624637" cy="63976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50000"/>
              </a:lnSpc>
              <a:spcBef>
                <a:spcPts val="0"/>
              </a:spcBef>
              <a:buChar char="Ø"/>
            </a:pPr>
            <a:r>
              <a:rPr lang="en-US" sz="2400" b="1" i="0" u="none">
                <a:latin typeface="黑体" pitchFamily="49" charset="-122"/>
                <a:ea typeface="黑体" pitchFamily="49" charset="-122"/>
              </a:rPr>
              <a:t>[H</a:t>
            </a:r>
            <a:r>
              <a:rPr lang="en-US" sz="2400" b="1" i="0" u="none" baseline="30000">
                <a:latin typeface="黑体" pitchFamily="49" charset="-122"/>
                <a:ea typeface="黑体" pitchFamily="49" charset="-122"/>
              </a:rPr>
              <a:t>+</a:t>
            </a:r>
            <a:r>
              <a:rPr lang="zh-CN" sz="2400" b="1" i="0" u="none">
                <a:latin typeface="黑体" pitchFamily="49" charset="-122"/>
                <a:ea typeface="黑体" pitchFamily="49" charset="-122"/>
              </a:rPr>
              <a:t>] 浓度(pH)与ATP浓度影响  P39 表20-4</a:t>
            </a:r>
            <a:endParaRPr lang="zh-CN" sz="2400" b="1" i="0" u="none">
              <a:latin typeface="黑体" pitchFamily="49" charset="-122"/>
              <a:ea typeface="黑体" pitchFamily="49" charset="-122"/>
            </a:endParaRPr>
          </a:p>
        </p:txBody>
      </p:sp>
      <p:graphicFrame>
        <p:nvGraphicFramePr>
          <p:cNvPr id="178" name="Group 212"/>
          <p:cNvGraphicFramePr/>
          <p:nvPr/>
        </p:nvGraphicFramePr>
        <p:xfrm>
          <a:off x="684213" y="1989138"/>
          <a:ext cx="8064500" cy="4271964"/>
        </p:xfrm>
        <a:graphic>
          <a:graphicData uri="http://schemas.openxmlformats.org/drawingml/2006/table">
            <a:tbl>
              <a:tblPr/>
              <a:tblGrid>
                <a:gridCol w="1800225"/>
                <a:gridCol w="1439862"/>
                <a:gridCol w="1584325"/>
                <a:gridCol w="1512888"/>
                <a:gridCol w="182562"/>
                <a:gridCol w="1544638"/>
              </a:tblGrid>
              <a:tr h="896011">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rPr>
                        <a:t>         ATP </a:t>
                      </a:r>
                      <a:endPar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rPr>
                        <a:t>pH</a:t>
                      </a:r>
                      <a:endParaRPr kumimoji="0" lang="zh-CN" altLang="en-US" sz="2400" b="1"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rPr>
                        <a:t>1mol/L </a:t>
                      </a:r>
                      <a:endPar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rPr>
                        <a:t>(kcal)</a:t>
                      </a:r>
                      <a:endPar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triangl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rPr>
                        <a:t>0.1mol/L </a:t>
                      </a:r>
                      <a:endPar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rPr>
                        <a:t>(kcal)</a:t>
                      </a:r>
                      <a:endPar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triangle" w="med" len="med"/>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rPr>
                        <a:t>0.1mol/L </a:t>
                      </a:r>
                      <a:endPar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rPr>
                        <a:t>(kcal)</a:t>
                      </a:r>
                      <a:endPar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triangle" w="med" len="med"/>
                    </a:lnB>
                    <a:lnTlToBr>
                      <a:noFill/>
                    </a:lnTlToBr>
                    <a:lnBlToTr>
                      <a:noFill/>
                    </a:lnBlToTr>
                    <a:noFill/>
                  </a:tcPr>
                </a:tc>
                <a:tc hMerge="1">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rPr>
                        <a:t>0.1mol/L </a:t>
                      </a:r>
                      <a:endPar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endParaRPr>
                    </a:p>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rPr>
                        <a:t>(kcal)</a:t>
                      </a:r>
                      <a:endParaRPr kumimoji="0" lang="en-US" altLang="zh-CN" sz="2400" b="1"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triangle" w="med" len="med"/>
                    </a:lnB>
                    <a:lnTlToBr>
                      <a:noFill/>
                    </a:lnTlToBr>
                    <a:lnBlToTr>
                      <a:noFill/>
                    </a:lnBlToTr>
                    <a:noFill/>
                  </a:tcPr>
                </a:tc>
              </a:tr>
              <a:tr h="457141">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6.0</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cap="flat">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-7.89</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w="12700" cap="flat" cmpd="sng" algn="ctr">
                      <a:solidFill>
                        <a:schemeClr val="tx1"/>
                      </a:solidFill>
                      <a:prstDash val="solid"/>
                      <a:round/>
                      <a:headEnd type="none" w="med" len="med"/>
                      <a:tailEnd type="triangl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w="12700" cap="flat" cmpd="sng" algn="ctr">
                      <a:solidFill>
                        <a:schemeClr val="tx1"/>
                      </a:solidFill>
                      <a:prstDash val="solid"/>
                      <a:round/>
                      <a:headEnd type="none" w="med" len="med"/>
                      <a:tailEnd type="triangle" w="med" len="med"/>
                    </a:lnT>
                    <a:lnB>
                      <a:noFill/>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w="12700" cap="flat" cmpd="sng" algn="ctr">
                      <a:solidFill>
                        <a:schemeClr val="tx1"/>
                      </a:solidFill>
                      <a:prstDash val="solid"/>
                      <a:round/>
                      <a:headEnd type="none" w="med" len="med"/>
                      <a:tailEnd type="triangle" w="med" len="med"/>
                    </a:lnT>
                    <a:lnB>
                      <a:noFill/>
                    </a:lnB>
                    <a:lnTlToBr>
                      <a:noFill/>
                    </a:lnTlToBr>
                    <a:lnBlToTr>
                      <a:noFill/>
                    </a:lnBlToTr>
                    <a:noFill/>
                  </a:tcPr>
                </a:tc>
                <a:tc hMerge="1">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cap="flat">
                      <a:noFill/>
                    </a:lnR>
                    <a:lnT w="12700" cap="flat" cmpd="sng" algn="ctr">
                      <a:solidFill>
                        <a:schemeClr val="tx1"/>
                      </a:solidFill>
                      <a:prstDash val="solid"/>
                      <a:round/>
                      <a:headEnd type="none" w="med" len="med"/>
                      <a:tailEnd type="triangle" w="med" len="med"/>
                    </a:lnT>
                    <a:lnB>
                      <a:noFill/>
                    </a:lnB>
                    <a:lnTlToBr>
                      <a:noFill/>
                    </a:lnTlToBr>
                    <a:lnBlToTr>
                      <a:noFill/>
                    </a:lnBlToTr>
                    <a:noFill/>
                  </a:tcPr>
                </a:tc>
              </a:tr>
              <a:tr h="485642">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6.4</a:t>
                      </a: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-8.01</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hMerge="1">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cap="flat">
                      <a:noFill/>
                    </a:lnR>
                    <a:lnT>
                      <a:noFill/>
                    </a:lnT>
                    <a:lnB>
                      <a:noFill/>
                    </a:lnB>
                    <a:lnTlToBr>
                      <a:noFill/>
                    </a:lnTlToBr>
                    <a:lnBlToTr>
                      <a:noFill/>
                    </a:lnBlToTr>
                    <a:noFill/>
                  </a:tcPr>
                </a:tc>
              </a:tr>
              <a:tr h="457141">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6.8</a:t>
                      </a: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-8.26</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-9.78</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-11.75</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hMerge="1">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-12.52</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cap="flat">
                      <a:noFill/>
                    </a:lnR>
                    <a:lnT>
                      <a:noFill/>
                    </a:lnT>
                    <a:lnB>
                      <a:noFill/>
                    </a:lnB>
                    <a:lnTlToBr>
                      <a:noFill/>
                    </a:lnTlToBr>
                    <a:lnBlToTr>
                      <a:noFill/>
                    </a:lnBlToTr>
                    <a:noFill/>
                  </a:tcPr>
                </a:tc>
              </a:tr>
              <a:tr h="457141">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7.0</a:t>
                      </a: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-8.40</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hMerge="1">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cap="flat">
                      <a:noFill/>
                    </a:lnR>
                    <a:lnT>
                      <a:noFill/>
                    </a:lnT>
                    <a:lnB>
                      <a:noFill/>
                    </a:lnB>
                    <a:lnTlToBr>
                      <a:noFill/>
                    </a:lnTlToBr>
                    <a:lnBlToTr>
                      <a:noFill/>
                    </a:lnBlToTr>
                    <a:noFill/>
                  </a:tcPr>
                </a:tc>
              </a:tr>
              <a:tr h="457141">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7.4</a:t>
                      </a: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-8.81</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hMerge="1">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cap="flat">
                      <a:noFill/>
                    </a:lnR>
                    <a:lnT>
                      <a:noFill/>
                    </a:lnT>
                    <a:lnB>
                      <a:noFill/>
                    </a:lnB>
                    <a:lnTlToBr>
                      <a:noFill/>
                    </a:lnTlToBr>
                    <a:lnBlToTr>
                      <a:noFill/>
                    </a:lnBlToTr>
                    <a:noFill/>
                  </a:tcPr>
                </a:tc>
              </a:tr>
              <a:tr h="469771">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7.8</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cap="flat">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-9.32</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a:noFill/>
                    </a:lnT>
                    <a:lnB>
                      <a:noFill/>
                    </a:lnB>
                    <a:lnTlToBr>
                      <a:noFill/>
                    </a:lnTlToBr>
                    <a:lnBlToTr>
                      <a:noFill/>
                    </a:lnBlToTr>
                    <a:noFill/>
                  </a:tcPr>
                </a:tc>
                <a:tc hMerge="1">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cap="flat">
                      <a:noFill/>
                    </a:lnR>
                    <a:lnT>
                      <a:noFill/>
                    </a:lnT>
                    <a:lnB>
                      <a:noFill/>
                    </a:lnB>
                    <a:lnTlToBr>
                      <a:noFill/>
                    </a:lnTlToBr>
                    <a:lnBlToTr>
                      <a:noFill/>
                    </a:lnBlToTr>
                    <a:noFill/>
                  </a:tcPr>
                </a:tc>
              </a:tr>
              <a:tr h="591976">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8.0</a:t>
                      </a: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cap="flat">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rPr>
                        <a:t>-9.56</a:t>
                      </a:r>
                      <a:endParaRPr kumimoji="0" lang="en-US" altLang="zh-CN" sz="2400" b="0" i="0" u="none" strike="noStrike" cap="none" normalizeH="0" baseline="0">
                        <a:ln>
                          <a:noFill/>
                        </a:ln>
                        <a:solidFill>
                          <a:schemeClr val="tx1"/>
                        </a:solidFill>
                        <a:effectLst/>
                        <a:latin typeface="Arial" panose="02080604020202020204" pitchFamily="34" charset="0"/>
                        <a:ea typeface="宋体" pitchFamily="2" charset="-122"/>
                      </a:endParaRPr>
                    </a:p>
                  </a:txBody>
                  <a:tcPr marT="45708" marB="45708"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cap="none" normalizeH="0" baseline="0">
                        <a:ln>
                          <a:noFill/>
                        </a:ln>
                        <a:solidFill>
                          <a:schemeClr val="tx1"/>
                        </a:solidFill>
                        <a:latin typeface="Arial" panose="02080604020202020204" pitchFamily="34" charset="0"/>
                        <a:ea typeface="宋体" pitchFamily="2" charset="-122"/>
                      </a:endParaRPr>
                    </a:p>
                  </a:txBody>
                  <a:tcPr marT="45708" marB="45708" horzOverflow="overflow">
                    <a:lnL>
                      <a:noFill/>
                    </a:lnL>
                    <a:lnR cap="flat">
                      <a:noFill/>
                    </a:lnR>
                    <a:lnT>
                      <a:noFill/>
                    </a:lnT>
                    <a:lnB w="12700" cap="flat" cmpd="sng" algn="ctr">
                      <a:solidFill>
                        <a:schemeClr val="tx1"/>
                      </a:solidFill>
                      <a:prstDash val="solid"/>
                      <a:round/>
                      <a:headEnd type="none" w="med" len="med"/>
                      <a:tailEnd type="none" w="med" len="med"/>
                    </a:lnB>
                    <a:lnTlToBr>
                      <a:noFill/>
                    </a:lnTlToBr>
                    <a:lnBlToTr>
                      <a:noFill/>
                    </a:lnBlToTr>
                    <a:noFill/>
                  </a:tcPr>
                </a:tc>
                <a:tc hMerge="1">
                  <a:tcPr/>
                </a:tc>
              </a:tr>
            </a:tbl>
          </a:graphicData>
        </a:graphic>
      </p:graphicFrame>
      <p:sp>
        <p:nvSpPr>
          <p:cNvPr id="179" name="Line 79"/>
          <p:cNvSpPr>
            <a:spLocks noGrp="1" noChangeShapeType="1"/>
          </p:cNvSpPr>
          <p:nvPr/>
        </p:nvSpPr>
        <p:spPr>
          <a:xfrm>
            <a:off x="611187" y="1989137"/>
            <a:ext cx="1727200" cy="865187"/>
          </a:xfrm>
          <a:prstGeom prst="line">
            <a:avLst/>
          </a:prstGeom>
          <a:noFill/>
          <a:ln w="28575">
            <a:solidFill>
              <a:schemeClr val="dk1"/>
            </a:solidFill>
            <a:round/>
          </a:ln>
        </p:spPr>
        <p:txBody>
          <a:bodyPr wrap="none"/>
          <a:lstStyle/>
          <a:p>
            <a:endParaRPr sz="1400" dirty="0"/>
          </a:p>
        </p:txBody>
      </p:sp>
      <p:sp>
        <p:nvSpPr>
          <p:cNvPr id="180" name="TextBox 67"/>
          <p:cNvSpPr txBox="1">
            <a:spLocks noGrp="1" noChangeShapeType="1"/>
          </p:cNvSpPr>
          <p:nvPr/>
        </p:nvSpPr>
        <p:spPr>
          <a:xfrm>
            <a:off x="6643687" y="6488112"/>
            <a:ext cx="2286000" cy="369887"/>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1800"/>
              <a:t>数据表阅读方式</a:t>
            </a:r>
            <a:endParaRPr lang="zh-CN" sz="1800"/>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76"/>
                                        </p:tgtEl>
                                        <p:attrNameLst>
                                          <p:attrName>style.visibility</p:attrName>
                                        </p:attrNameLst>
                                      </p:cBhvr>
                                      <p:to>
                                        <p:strVal val="visible"/>
                                      </p:to>
                                    </p:set>
                                    <p:animEffect transition="in" filter="slide(fromBottom)">
                                      <p:cBhvr>
                                        <p:cTn id="7" dur="500"/>
                                        <p:tgtEl>
                                          <p:spTgt spid="17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iterate type="lt">
                                    <p:tmAbs val="1033476506"/>
                                  </p:iterate>
                                  <p:childTnLst>
                                    <p:set>
                                      <p:cBhvr>
                                        <p:cTn id="11" dur="1" fill="hold">
                                          <p:stCondLst>
                                            <p:cond delay="74"/>
                                          </p:stCondLst>
                                        </p:cTn>
                                        <p:tgtEl>
                                          <p:spTgt spid="177">
                                            <p:txEl>
                                              <p:pRg st="0" end="31"/>
                                            </p:txEl>
                                          </p:spTgt>
                                        </p:tgtEl>
                                        <p:attrNameLst>
                                          <p:attrName>style.visibility</p:attrName>
                                        </p:attrNameLst>
                                      </p:cBhvr>
                                      <p:to>
                                        <p:strVal val="visible"/>
                                      </p:to>
                                    </p:se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93" name=""/>
        <p:cNvGrpSpPr/>
        <p:nvPr/>
      </p:nvGrpSpPr>
      <p:grpSpPr>
        <a:xfrm>
          <a:off x="0" y="0"/>
          <a:ext cx="0" cy="0"/>
          <a:chOff x="0" y="0"/>
          <a:chExt cx="0" cy="0"/>
        </a:xfrm>
      </p:grpSpPr>
      <p:pic>
        <p:nvPicPr>
          <p:cNvPr id="194" name="Picture 2" descr="374"/>
          <p:cNvPicPr>
            <a:picLocks noGrp="1" noChangeAspect="1"/>
          </p:cNvPicPr>
          <p:nvPr/>
        </p:nvPicPr>
        <p:blipFill>
          <a:blip r:embed="rId1">
            <a:lum bright="-6000"/>
          </a:blip>
          <a:srcRect/>
          <a:stretch>
            <a:fillRect/>
          </a:stretch>
        </p:blipFill>
        <p:spPr>
          <a:xfrm>
            <a:off x="2124075" y="1557337"/>
            <a:ext cx="4535487" cy="3097212"/>
          </a:xfrm>
          <a:prstGeom prst="rect">
            <a:avLst/>
          </a:prstGeom>
          <a:noFill/>
        </p:spPr>
      </p:pic>
      <p:sp>
        <p:nvSpPr>
          <p:cNvPr id="195" name="Text Box 3"/>
          <p:cNvSpPr txBox="1">
            <a:spLocks noGrp="1" noChangeShapeType="1"/>
          </p:cNvSpPr>
          <p:nvPr/>
        </p:nvSpPr>
        <p:spPr>
          <a:xfrm>
            <a:off x="827087" y="4868862"/>
            <a:ext cx="7561262" cy="1373187"/>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2800" b="1" i="0" u="none">
                <a:latin typeface="楷体_GB2312" pitchFamily="49" charset="-122"/>
                <a:ea typeface="楷体_GB2312" pitchFamily="49" charset="-122"/>
              </a:rPr>
              <a:t>在pH＝7的生理环境中，磷酸基团处于负电荷状态，极易与细胞中大量存在的镁离子形成复合物，pH增高有利于复合物稳定。</a:t>
            </a:r>
            <a:endParaRPr lang="en-US" sz="2800" b="1" i="0" u="none">
              <a:latin typeface="楷体_GB2312" pitchFamily="49" charset="-122"/>
              <a:ea typeface="楷体_GB2312" pitchFamily="49" charset="-122"/>
            </a:endParaRPr>
          </a:p>
        </p:txBody>
      </p:sp>
      <p:sp>
        <p:nvSpPr>
          <p:cNvPr id="196" name="Rectangle 5"/>
          <p:cNvSpPr>
            <a:spLocks noGrp="1" noChangeShapeType="1"/>
          </p:cNvSpPr>
          <p:nvPr/>
        </p:nvSpPr>
        <p:spPr>
          <a:xfrm>
            <a:off x="1403350" y="530225"/>
            <a:ext cx="2878137" cy="639762"/>
          </a:xfrm>
          <a:prstGeom prst="rect">
            <a:avLst/>
          </a:prstGeom>
          <a:noFill/>
        </p:spPr>
        <p:txBody>
          <a:bodyPr wrap="none">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50000"/>
              </a:lnSpc>
              <a:spcBef>
                <a:spcPts val="0"/>
              </a:spcBef>
              <a:buChar char="Ø"/>
            </a:pPr>
            <a:r>
              <a:rPr lang="zh-CN" sz="2400" b="1" i="0" u="none">
                <a:latin typeface="黑体" pitchFamily="49" charset="-122"/>
                <a:ea typeface="黑体" pitchFamily="49" charset="-122"/>
              </a:rPr>
              <a:t>镁离子浓度影响：</a:t>
            </a:r>
            <a:endParaRPr lang="zh-CN" sz="2400" b="1" i="0" u="none">
              <a:latin typeface="黑体" pitchFamily="49" charset="-122"/>
              <a:ea typeface="黑体"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97" name=""/>
        <p:cNvGrpSpPr/>
        <p:nvPr/>
      </p:nvGrpSpPr>
      <p:grpSpPr>
        <a:xfrm>
          <a:off x="0" y="0"/>
          <a:ext cx="0" cy="0"/>
          <a:chOff x="0" y="0"/>
          <a:chExt cx="0" cy="0"/>
        </a:xfrm>
      </p:grpSpPr>
      <p:sp>
        <p:nvSpPr>
          <p:cNvPr id="198" name="Rectangle 3"/>
          <p:cNvSpPr>
            <a:spLocks noGrp="1" noChangeShapeType="1"/>
          </p:cNvSpPr>
          <p:nvPr/>
        </p:nvSpPr>
        <p:spPr>
          <a:xfrm>
            <a:off x="611187" y="765175"/>
            <a:ext cx="4572000" cy="63976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50000"/>
              </a:lnSpc>
              <a:spcBef>
                <a:spcPts val="0"/>
              </a:spcBef>
              <a:buNone/>
            </a:pPr>
            <a:r>
              <a:rPr lang="en-US" sz="2400" b="1" i="0" u="none">
                <a:latin typeface="黑体" pitchFamily="49" charset="-122"/>
                <a:ea typeface="黑体" pitchFamily="49" charset="-122"/>
              </a:rPr>
              <a:t>不同细胞中ATP\ADP\Pi浓度:</a:t>
            </a:r>
            <a:endParaRPr lang="en-US" sz="2400" b="1" i="0" u="none">
              <a:latin typeface="黑体" pitchFamily="49" charset="-122"/>
              <a:ea typeface="黑体" pitchFamily="49" charset="-122"/>
            </a:endParaRPr>
          </a:p>
        </p:txBody>
      </p:sp>
      <p:pic>
        <p:nvPicPr>
          <p:cNvPr id="199" name="Picture 4" descr="375"/>
          <p:cNvPicPr>
            <a:picLocks noGrp="1" noChangeAspect="1"/>
          </p:cNvPicPr>
          <p:nvPr/>
        </p:nvPicPr>
        <p:blipFill>
          <a:blip r:embed="rId1">
            <a:lum/>
          </a:blip>
          <a:srcRect t="19876" r="13534"/>
          <a:stretch>
            <a:fillRect/>
          </a:stretch>
        </p:blipFill>
        <p:spPr>
          <a:xfrm>
            <a:off x="395287" y="2060575"/>
            <a:ext cx="7956550" cy="3216275"/>
          </a:xfrm>
          <a:prstGeom prst="rect">
            <a:avLst/>
          </a:prstGeom>
          <a:noFill/>
        </p:spPr>
      </p:pic>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iterate type="lt">
                                    <p:tmAbs val="1033476506"/>
                                  </p:iterate>
                                  <p:childTnLst>
                                    <p:set>
                                      <p:cBhvr>
                                        <p:cTn id="6" dur="1" fill="hold">
                                          <p:stCondLst>
                                            <p:cond delay="74"/>
                                          </p:stCondLst>
                                        </p:cTn>
                                        <p:tgtEl>
                                          <p:spTgt spid="198">
                                            <p:txEl>
                                              <p:pRg st="0" end="1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199"/>
                                        </p:tgtEl>
                                        <p:attrNameLst>
                                          <p:attrName>style.visibility</p:attrName>
                                        </p:attrNameLst>
                                      </p:cBhvr>
                                      <p:to>
                                        <p:strVal val="visible"/>
                                      </p:to>
                                    </p:set>
                                    <p:animEffect transition="in" filter="checkerboard(across)">
                                      <p:cBhvr>
                                        <p:cTn id="11" dur="500"/>
                                        <p:tgtEl>
                                          <p:spTgt spid="199"/>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200" name=""/>
        <p:cNvGrpSpPr/>
        <p:nvPr/>
      </p:nvGrpSpPr>
      <p:grpSpPr>
        <a:xfrm>
          <a:off x="0" y="0"/>
          <a:ext cx="0" cy="0"/>
          <a:chOff x="0" y="0"/>
          <a:chExt cx="0" cy="0"/>
        </a:xfrm>
      </p:grpSpPr>
      <p:pic>
        <p:nvPicPr>
          <p:cNvPr id="201" name="Picture 2" descr="379"/>
          <p:cNvPicPr>
            <a:picLocks noGrp="1" noChangeAspect="1"/>
          </p:cNvPicPr>
          <p:nvPr/>
        </p:nvPicPr>
        <p:blipFill>
          <a:blip r:embed="rId1">
            <a:lum bright="23999"/>
          </a:blip>
          <a:srcRect/>
          <a:stretch>
            <a:fillRect/>
          </a:stretch>
        </p:blipFill>
        <p:spPr>
          <a:xfrm>
            <a:off x="1476375" y="1844675"/>
            <a:ext cx="6480175" cy="4752975"/>
          </a:xfrm>
          <a:prstGeom prst="rect">
            <a:avLst/>
          </a:prstGeom>
          <a:noFill/>
        </p:spPr>
      </p:pic>
      <p:sp>
        <p:nvSpPr>
          <p:cNvPr id="202" name="Rectangle 3"/>
          <p:cNvSpPr>
            <a:spLocks noGrp="1" noChangeShapeType="1"/>
          </p:cNvSpPr>
          <p:nvPr>
            <p:ph type="title"/>
          </p:nvPr>
        </p:nvSpPr>
        <p:spPr>
          <a:xfrm>
            <a:off x="827087" y="333375"/>
            <a:ext cx="6697662" cy="579437"/>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en-US" sz="2800">
                <a:latin typeface="黑体" pitchFamily="49" charset="-122"/>
                <a:ea typeface="黑体" pitchFamily="49" charset="-122"/>
              </a:rPr>
              <a:t>3.2.3</a:t>
            </a:r>
            <a:r>
              <a:rPr lang="en-US" sz="2800">
                <a:latin typeface="Times New Roman" panose="02020603050405020304"/>
                <a:ea typeface="黑体" pitchFamily="49" charset="-122"/>
              </a:rPr>
              <a:t>  </a:t>
            </a:r>
            <a:r>
              <a:rPr lang="zh-CN" sz="2800">
                <a:latin typeface="黑体" pitchFamily="49" charset="-122"/>
                <a:ea typeface="黑体" pitchFamily="49" charset="-122"/>
              </a:rPr>
              <a:t>ATP在能量转运中的地位和作用</a:t>
            </a:r>
            <a:endParaRPr lang="zh-CN" sz="2800">
              <a:latin typeface="黑体" pitchFamily="49" charset="-122"/>
              <a:ea typeface="黑体" pitchFamily="49" charset="-122"/>
            </a:endParaRPr>
          </a:p>
        </p:txBody>
      </p:sp>
      <p:sp>
        <p:nvSpPr>
          <p:cNvPr id="203" name="Rectangle 4"/>
          <p:cNvSpPr>
            <a:spLocks noGrp="1" noChangeShapeType="1"/>
          </p:cNvSpPr>
          <p:nvPr/>
        </p:nvSpPr>
        <p:spPr>
          <a:xfrm>
            <a:off x="539750" y="836612"/>
            <a:ext cx="8066087" cy="94615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en-US" sz="2800" b="1" i="0" u="none">
                <a:latin typeface="楷体_GB2312" pitchFamily="49" charset="-122"/>
                <a:ea typeface="楷体_GB2312" pitchFamily="49" charset="-122"/>
              </a:rPr>
              <a:t>在生物体中，ATP是通过磷酸基团转移而非仅仅通过简单水解的形式传递能量(p39图20-2）：</a:t>
            </a:r>
            <a:endParaRPr lang="en-US" sz="2800" b="1" i="0" u="none">
              <a:latin typeface="楷体_GB2312" pitchFamily="49" charset="-122"/>
              <a:ea typeface="楷体_GB2312" pitchFamily="49" charset="-122"/>
            </a:endParaRPr>
          </a:p>
        </p:txBody>
      </p:sp>
      <p:sp>
        <p:nvSpPr>
          <p:cNvPr id="204" name="Text Box 6"/>
          <p:cNvSpPr txBox="1">
            <a:spLocks noGrp="1" noChangeShapeType="1"/>
          </p:cNvSpPr>
          <p:nvPr/>
        </p:nvSpPr>
        <p:spPr>
          <a:xfrm>
            <a:off x="735012" y="5378450"/>
            <a:ext cx="184150" cy="366712"/>
          </a:xfrm>
          <a:prstGeom prst="rect">
            <a:avLst/>
          </a:prstGeom>
          <a:noFill/>
        </p:spPr>
        <p:txBody>
          <a:bodyPr wrap="none">
            <a:spAutoFit/>
          </a:bodyPr>
          <a:lstStyle/>
          <a:p>
            <a:endParaRPr sz="1400" dirty="0"/>
          </a:p>
        </p:txBody>
      </p:sp>
      <p:sp>
        <p:nvSpPr>
          <p:cNvPr id="205" name="Text Box 7"/>
          <p:cNvSpPr txBox="1">
            <a:spLocks noGrp="1" noChangeShapeType="1"/>
          </p:cNvSpPr>
          <p:nvPr/>
        </p:nvSpPr>
        <p:spPr>
          <a:xfrm>
            <a:off x="684212" y="1989137"/>
            <a:ext cx="611187" cy="4176712"/>
          </a:xfrm>
          <a:prstGeom prst="rect">
            <a:avLst/>
          </a:prstGeom>
          <a:noFill/>
        </p:spPr>
        <p:txBody>
          <a:bodyPr vert="vert"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zh-CN" sz="2800" b="1" i="0" u="none">
                <a:latin typeface="楷体_GB2312" pitchFamily="49" charset="-122"/>
                <a:ea typeface="楷体_GB2312" pitchFamily="49" charset="-122"/>
              </a:rPr>
              <a:t>ATP是磷酸基团共同转递体</a:t>
            </a:r>
            <a:endParaRPr lang="zh-CN" sz="2800" b="1" i="0" u="none">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3"/>
                                        </p:tgtEl>
                                        <p:attrNameLst>
                                          <p:attrName>style.visibility</p:attrName>
                                        </p:attrNameLst>
                                      </p:cBhvr>
                                      <p:to>
                                        <p:strVal val="visible"/>
                                      </p:to>
                                    </p:set>
                                    <p:animEffect transition="in" filter="dissolve">
                                      <p:cBhvr>
                                        <p:cTn id="7" dur="500"/>
                                        <p:tgtEl>
                                          <p:spTgt spid="20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201"/>
                                        </p:tgtEl>
                                        <p:attrNameLst>
                                          <p:attrName>style.visibility</p:attrName>
                                        </p:attrNameLst>
                                      </p:cBhvr>
                                      <p:to>
                                        <p:strVal val="visible"/>
                                      </p:to>
                                    </p:set>
                                    <p:animEffect transition="in" filter="blinds(vertical)">
                                      <p:cBhvr>
                                        <p:cTn id="12" dur="500"/>
                                        <p:tgtEl>
                                          <p:spTgt spid="20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5" fill="hold" nodeType="clickEffect">
                                  <p:stCondLst>
                                    <p:cond delay="0"/>
                                  </p:stCondLst>
                                  <p:childTnLst>
                                    <p:set>
                                      <p:cBhvr>
                                        <p:cTn id="16" dur="1" fill="hold">
                                          <p:stCondLst>
                                            <p:cond delay="0"/>
                                          </p:stCondLst>
                                        </p:cTn>
                                        <p:tgtEl>
                                          <p:spTgt spid="205"/>
                                        </p:tgtEl>
                                        <p:attrNameLst>
                                          <p:attrName>style.visibility</p:attrName>
                                        </p:attrNameLst>
                                      </p:cBhvr>
                                      <p:to>
                                        <p:strVal val="visible"/>
                                      </p:to>
                                    </p:set>
                                    <p:animEffect transition="in" filter="checkerboard(down)">
                                      <p:cBhvr>
                                        <p:cTn id="17" dur="1000"/>
                                        <p:tgtEl>
                                          <p:spTgt spid="205"/>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206" name=""/>
        <p:cNvGrpSpPr/>
        <p:nvPr/>
      </p:nvGrpSpPr>
      <p:grpSpPr>
        <a:xfrm>
          <a:off x="0" y="0"/>
          <a:ext cx="0" cy="0"/>
          <a:chOff x="0" y="0"/>
          <a:chExt cx="0" cy="0"/>
        </a:xfrm>
      </p:grpSpPr>
      <p:sp>
        <p:nvSpPr>
          <p:cNvPr id="207" name="Rectangle 2"/>
          <p:cNvSpPr>
            <a:spLocks noGrp="1" noChangeShapeType="1"/>
          </p:cNvSpPr>
          <p:nvPr>
            <p:ph type="title"/>
          </p:nvPr>
        </p:nvSpPr>
        <p:spPr>
          <a:xfrm>
            <a:off x="684212" y="549275"/>
            <a:ext cx="5610225" cy="769937"/>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2800">
                <a:latin typeface="黑体" pitchFamily="49" charset="-122"/>
                <a:ea typeface="黑体" pitchFamily="49" charset="-122"/>
              </a:rPr>
              <a:t>3.2.4 磷酸原(Phosphagens)</a:t>
            </a:r>
            <a:endParaRPr lang="zh-CN" sz="2800">
              <a:latin typeface="黑体" pitchFamily="49" charset="-122"/>
              <a:ea typeface="黑体" pitchFamily="49" charset="-122"/>
            </a:endParaRPr>
          </a:p>
        </p:txBody>
      </p:sp>
      <p:sp>
        <p:nvSpPr>
          <p:cNvPr id="208" name="Rectangle 3"/>
          <p:cNvSpPr>
            <a:spLocks noGrp="1" noChangeShapeType="1"/>
          </p:cNvSpPr>
          <p:nvPr/>
        </p:nvSpPr>
        <p:spPr>
          <a:xfrm>
            <a:off x="900112" y="1341437"/>
            <a:ext cx="7416800" cy="2016125"/>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50000"/>
              </a:lnSpc>
              <a:spcBef>
                <a:spcPts val="0"/>
              </a:spcBef>
              <a:buChar char="Ø"/>
            </a:pPr>
            <a:r>
              <a:rPr lang="en-US" sz="2800" b="0" i="0" u="none">
                <a:latin typeface="Times New Roman" panose="02020603050405020304"/>
                <a:ea typeface="黑体" pitchFamily="49" charset="-122"/>
              </a:rPr>
              <a:t>磷酸肌酸 (in </a:t>
            </a:r>
            <a:r>
              <a:rPr lang="en-US" sz="2800" b="0" i="0" u="none">
                <a:latin typeface="Times New Roman" panose="02020603050405020304"/>
              </a:rPr>
              <a:t>vertebrate, especially in mammal</a:t>
            </a:r>
            <a:r>
              <a:rPr lang="zh-CN" sz="2800" b="0" i="0" u="none">
                <a:latin typeface="Times New Roman" panose="02020603050405020304"/>
                <a:ea typeface="黑体" pitchFamily="49" charset="-122"/>
              </a:rPr>
              <a:t>)</a:t>
            </a:r>
            <a:endParaRPr lang="zh-CN" sz="2800" b="0" i="0" u="none">
              <a:latin typeface="Times New Roman" panose="02020603050405020304"/>
              <a:ea typeface="黑体" pitchFamily="49" charset="-122"/>
            </a:endParaRPr>
          </a:p>
          <a:p>
            <a:pPr marL="0" lvl="0" indent="0" hangingPunct="1">
              <a:lnSpc>
                <a:spcPct val="150000"/>
              </a:lnSpc>
              <a:spcBef>
                <a:spcPts val="0"/>
              </a:spcBef>
              <a:buChar char="Ø"/>
            </a:pPr>
            <a:r>
              <a:rPr lang="zh-CN" sz="2800" b="0" i="0" u="none">
                <a:latin typeface="Times New Roman" panose="02020603050405020304"/>
                <a:ea typeface="黑体" pitchFamily="49" charset="-122"/>
              </a:rPr>
              <a:t>磷酸精氨酸 (in </a:t>
            </a:r>
            <a:r>
              <a:rPr lang="en-US" sz="2800" b="0" i="0" u="none">
                <a:latin typeface="Times New Roman" panose="02020603050405020304"/>
              </a:rPr>
              <a:t>invertebrate</a:t>
            </a:r>
            <a:r>
              <a:rPr lang="zh-CN" sz="2800" b="0" i="0" u="none">
                <a:latin typeface="Times New Roman" panose="02020603050405020304"/>
                <a:ea typeface="黑体" pitchFamily="49" charset="-122"/>
              </a:rPr>
              <a:t>)</a:t>
            </a:r>
            <a:endParaRPr lang="zh-CN" sz="2800" b="0" i="0" u="none">
              <a:latin typeface="Times New Roman" panose="02020603050405020304"/>
              <a:ea typeface="黑体" pitchFamily="49" charset="-122"/>
            </a:endParaRPr>
          </a:p>
          <a:p>
            <a:pPr marL="0" lvl="0" indent="0" hangingPunct="1">
              <a:lnSpc>
                <a:spcPct val="150000"/>
              </a:lnSpc>
              <a:spcBef>
                <a:spcPts val="0"/>
              </a:spcBef>
              <a:buChar char="Ø"/>
            </a:pPr>
            <a:r>
              <a:rPr lang="zh-CN" sz="2800" b="0" i="0" u="none">
                <a:latin typeface="Times New Roman" panose="02020603050405020304"/>
                <a:ea typeface="黑体" pitchFamily="49" charset="-122"/>
              </a:rPr>
              <a:t>聚偏磷酸 (in </a:t>
            </a:r>
            <a:r>
              <a:rPr lang="en-US" sz="2800" b="0" i="0" u="none">
                <a:latin typeface="Times New Roman" panose="02020603050405020304"/>
              </a:rPr>
              <a:t>microorganism</a:t>
            </a:r>
            <a:r>
              <a:rPr lang="en-US" sz="2800" b="0" i="0" u="none">
                <a:latin typeface="Times New Roman" panose="02020603050405020304"/>
                <a:ea typeface="黑体" pitchFamily="49" charset="-122"/>
              </a:rPr>
              <a:t>)</a:t>
            </a:r>
            <a:endParaRPr lang="en-US" sz="2800" b="0" i="0" u="none">
              <a:latin typeface="Times New Roman" panose="02020603050405020304"/>
              <a:ea typeface="黑体" pitchFamily="49" charset="-122"/>
            </a:endParaRPr>
          </a:p>
        </p:txBody>
      </p:sp>
      <p:sp>
        <p:nvSpPr>
          <p:cNvPr id="209" name="Text Box 4"/>
          <p:cNvSpPr txBox="1">
            <a:spLocks noGrp="1" noChangeShapeType="1"/>
          </p:cNvSpPr>
          <p:nvPr/>
        </p:nvSpPr>
        <p:spPr>
          <a:xfrm>
            <a:off x="900112" y="3500437"/>
            <a:ext cx="7559675" cy="1735137"/>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zh-CN" sz="2400" b="1" i="0" u="none">
                <a:latin typeface="楷体_GB2312" pitchFamily="49" charset="-122"/>
                <a:ea typeface="楷体_GB2312" pitchFamily="49" charset="-122"/>
              </a:rPr>
              <a:t>ATP在细胞中的含量较低,但却是神经或肌肉细胞活动的直接供能物质. 细胞中大量的磷酸原物质存在,可以保障ADP 迅速转化为ATP.</a:t>
            </a:r>
            <a:endParaRPr lang="zh-CN" sz="2400" b="1" i="0" u="none">
              <a:latin typeface="楷体_GB2312" pitchFamily="49" charset="-122"/>
              <a:ea typeface="楷体_GB2312" pitchFamily="49" charset="-122"/>
            </a:endParaRPr>
          </a:p>
          <a:p>
            <a:pPr marL="0" lvl="0" indent="0" hangingPunct="1">
              <a:spcBef>
                <a:spcPct val="50000"/>
              </a:spcBef>
              <a:buNone/>
            </a:pPr>
            <a:r>
              <a:rPr lang="en-US" sz="2400">
                <a:solidFill>
                  <a:schemeClr val="lt2"/>
                </a:solidFill>
                <a:latin typeface="楷体_GB2312" pitchFamily="49" charset="-122"/>
                <a:ea typeface="楷体_GB2312" pitchFamily="49" charset="-122"/>
              </a:rPr>
              <a:t>P40 化学反应式</a:t>
            </a:r>
            <a:endParaRPr lang="en-US" sz="2400">
              <a:solidFill>
                <a:schemeClr val="lt2"/>
              </a:solidFill>
              <a:latin typeface="楷体_GB2312" pitchFamily="49" charset="-122"/>
              <a:ea typeface="楷体_GB2312" pitchFamily="49" charset="-122"/>
            </a:endParaRPr>
          </a:p>
        </p:txBody>
      </p:sp>
      <p:sp>
        <p:nvSpPr>
          <p:cNvPr id="210" name="Text Box 5"/>
          <p:cNvSpPr txBox="1">
            <a:spLocks noGrp="1" noChangeShapeType="1"/>
          </p:cNvSpPr>
          <p:nvPr/>
        </p:nvSpPr>
        <p:spPr>
          <a:xfrm>
            <a:off x="827087" y="5373687"/>
            <a:ext cx="7632700" cy="822325"/>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zh-CN" sz="2400">
                <a:solidFill>
                  <a:srgbClr val="AE1E39"/>
                </a:solidFill>
                <a:ea typeface="黑体" pitchFamily="49" charset="-122"/>
              </a:rPr>
              <a:t>磷酸原</a:t>
            </a:r>
            <a:r>
              <a:rPr lang="zh-CN" sz="1800" b="0" i="0" u="none"/>
              <a:t>：</a:t>
            </a:r>
            <a:r>
              <a:rPr lang="en-US" sz="2400" b="1" i="0" u="none">
                <a:latin typeface="楷体_GB2312" pitchFamily="49" charset="-122"/>
                <a:ea typeface="楷体_GB2312" pitchFamily="49" charset="-122"/>
              </a:rPr>
              <a:t>以高能磷酸基团作为贮能形式、与ATP/ADP迅速交换磷酸基团的物质。</a:t>
            </a:r>
            <a:endParaRPr lang="en-US" sz="2400" b="1" i="0" u="none">
              <a:latin typeface="楷体_GB2312" pitchFamily="49" charset="-122"/>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8">
                                            <p:txEl>
                                              <p:pRg st="0" end="43"/>
                                            </p:txEl>
                                          </p:spTgt>
                                        </p:tgtEl>
                                        <p:attrNameLst>
                                          <p:attrName>style.visibility</p:attrName>
                                        </p:attrNameLst>
                                      </p:cBhvr>
                                      <p:to>
                                        <p:strVal val="visible"/>
                                      </p:to>
                                    </p:set>
                                    <p:animEffect transition="in" filter="slide(fromBottom)">
                                      <p:cBhvr>
                                        <p:cTn id="7" dur="500"/>
                                        <p:tgtEl>
                                          <p:spTgt spid="208">
                                            <p:txEl>
                                              <p:pRg st="0" end="4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08">
                                            <p:txEl>
                                              <p:pRg st="43" end="67"/>
                                            </p:txEl>
                                          </p:spTgt>
                                        </p:tgtEl>
                                        <p:attrNameLst>
                                          <p:attrName>style.visibility</p:attrName>
                                        </p:attrNameLst>
                                      </p:cBhvr>
                                      <p:to>
                                        <p:strVal val="visible"/>
                                      </p:to>
                                    </p:set>
                                    <p:animEffect transition="in" filter="slide(fromBottom)">
                                      <p:cBhvr>
                                        <p:cTn id="12" dur="500"/>
                                        <p:tgtEl>
                                          <p:spTgt spid="208">
                                            <p:txEl>
                                              <p:pRg st="43" end="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08">
                                            <p:txEl>
                                              <p:pRg st="67" end="91"/>
                                            </p:txEl>
                                          </p:spTgt>
                                        </p:tgtEl>
                                        <p:attrNameLst>
                                          <p:attrName>style.visibility</p:attrName>
                                        </p:attrNameLst>
                                      </p:cBhvr>
                                      <p:to>
                                        <p:strVal val="visible"/>
                                      </p:to>
                                    </p:set>
                                    <p:animEffect transition="in" filter="slide(fromBottom)">
                                      <p:cBhvr>
                                        <p:cTn id="17" dur="500"/>
                                        <p:tgtEl>
                                          <p:spTgt spid="208">
                                            <p:txEl>
                                              <p:pRg st="67" end="91"/>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211" name=""/>
        <p:cNvGrpSpPr/>
        <p:nvPr/>
      </p:nvGrpSpPr>
      <p:grpSpPr>
        <a:xfrm>
          <a:off x="0" y="0"/>
          <a:ext cx="0" cy="0"/>
          <a:chOff x="0" y="0"/>
          <a:chExt cx="0" cy="0"/>
        </a:xfrm>
      </p:grpSpPr>
      <p:pic>
        <p:nvPicPr>
          <p:cNvPr id="212" name="Picture 2" descr="fig 19-2"/>
          <p:cNvPicPr>
            <a:picLocks noGrp="1" noChangeAspect="1"/>
          </p:cNvPicPr>
          <p:nvPr/>
        </p:nvPicPr>
        <p:blipFill>
          <a:blip r:embed="rId1"/>
          <a:srcRect/>
          <a:stretch>
            <a:fillRect/>
          </a:stretch>
        </p:blipFill>
        <p:spPr>
          <a:xfrm>
            <a:off x="0" y="762000"/>
            <a:ext cx="9144000" cy="4895850"/>
          </a:xfrm>
          <a:prstGeom prst="rect">
            <a:avLst/>
          </a:prstGeom>
          <a:noFill/>
        </p:spPr>
      </p:pic>
      <p:sp>
        <p:nvSpPr>
          <p:cNvPr id="213" name="Text Box 3"/>
          <p:cNvSpPr txBox="1">
            <a:spLocks noGrp="1" noChangeShapeType="1"/>
          </p:cNvSpPr>
          <p:nvPr/>
        </p:nvSpPr>
        <p:spPr>
          <a:xfrm>
            <a:off x="468312" y="5589587"/>
            <a:ext cx="8208962" cy="915987"/>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zh-CN" sz="1800"/>
              <a:t>A 运动前，肌肉细胞中磷酸肌酸的含量高，无机磷酸含量低；B 运动中，磷酸肌酸含量急剧下降，而无机磷酸含量上升。重要的事实是：ATP水平，在运动变化过程中，基本保持不变——机体磷酸原存在的生理意义。</a:t>
            </a:r>
            <a:endParaRPr lang="zh-CN" sz="1800"/>
          </a:p>
        </p:txBody>
      </p:sp>
      <p:sp>
        <p:nvSpPr>
          <p:cNvPr id="214" name="Text Box 5"/>
          <p:cNvSpPr txBox="1">
            <a:spLocks noGrp="1" noChangeShapeType="1"/>
          </p:cNvSpPr>
          <p:nvPr/>
        </p:nvSpPr>
        <p:spPr>
          <a:xfrm>
            <a:off x="900112" y="404812"/>
            <a:ext cx="2376487" cy="51911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zh-CN" sz="2800" b="1" i="0" u="none">
                <a:latin typeface="黑体" pitchFamily="49" charset="-122"/>
                <a:ea typeface="黑体" pitchFamily="49" charset="-122"/>
              </a:rPr>
              <a:t>实例：</a:t>
            </a:r>
            <a:endParaRPr lang="zh-CN" sz="2800" b="1" i="0" u="none">
              <a:latin typeface="黑体" pitchFamily="49" charset="-122"/>
              <a:ea typeface="黑体" pitchFamily="49"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215" name=""/>
        <p:cNvGrpSpPr/>
        <p:nvPr/>
      </p:nvGrpSpPr>
      <p:grpSpPr>
        <a:xfrm>
          <a:off x="0" y="0"/>
          <a:ext cx="0" cy="0"/>
          <a:chOff x="0" y="0"/>
          <a:chExt cx="0" cy="0"/>
        </a:xfrm>
      </p:grpSpPr>
      <p:pic>
        <p:nvPicPr>
          <p:cNvPr id="216" name="Picture 2" descr="375"/>
          <p:cNvPicPr>
            <a:picLocks noGrp="1" noChangeAspect="1"/>
          </p:cNvPicPr>
          <p:nvPr/>
        </p:nvPicPr>
        <p:blipFill>
          <a:blip r:embed="rId1">
            <a:lum/>
          </a:blip>
          <a:srcRect/>
          <a:stretch>
            <a:fillRect/>
          </a:stretch>
        </p:blipFill>
        <p:spPr>
          <a:xfrm>
            <a:off x="0" y="642937"/>
            <a:ext cx="9144000" cy="3994150"/>
          </a:xfrm>
          <a:prstGeom prst="rect">
            <a:avLst/>
          </a:prstGeom>
          <a:noFill/>
        </p:spPr>
      </p:pic>
      <p:sp>
        <p:nvSpPr>
          <p:cNvPr id="217" name="Oval 3"/>
          <p:cNvSpPr>
            <a:spLocks noGrp="1" noChangeShapeType="1"/>
          </p:cNvSpPr>
          <p:nvPr/>
        </p:nvSpPr>
        <p:spPr>
          <a:xfrm>
            <a:off x="8316912" y="3013075"/>
            <a:ext cx="547687" cy="344487"/>
          </a:xfrm>
          <a:prstGeom prst="ellipse">
            <a:avLst/>
          </a:prstGeom>
          <a:noFill/>
          <a:ln w="34925">
            <a:solidFill>
              <a:schemeClr val="hlink"/>
            </a:solidFill>
            <a:prstDash val="sysDot"/>
            <a:miter/>
          </a:ln>
        </p:spPr>
        <p:txBody>
          <a:bodyPr wrap="none" anchor="ctr" anchorCtr="0"/>
          <a:lstStyle/>
          <a:p>
            <a:endParaRPr sz="1400" dirty="0"/>
          </a:p>
        </p:txBody>
      </p:sp>
      <p:sp>
        <p:nvSpPr>
          <p:cNvPr id="218" name="Oval 4"/>
          <p:cNvSpPr>
            <a:spLocks noGrp="1" noChangeShapeType="1"/>
          </p:cNvSpPr>
          <p:nvPr/>
        </p:nvSpPr>
        <p:spPr>
          <a:xfrm>
            <a:off x="0" y="3068637"/>
            <a:ext cx="2339975" cy="360362"/>
          </a:xfrm>
          <a:prstGeom prst="ellipse">
            <a:avLst/>
          </a:prstGeom>
          <a:noFill/>
          <a:ln w="34925">
            <a:solidFill>
              <a:schemeClr val="hlink"/>
            </a:solidFill>
            <a:prstDash val="sysDot"/>
            <a:miter/>
          </a:ln>
        </p:spPr>
        <p:txBody>
          <a:bodyPr wrap="none" anchor="ctr" anchorCtr="0"/>
          <a:lstStyle/>
          <a:p>
            <a:endParaRPr sz="1400" dirty="0"/>
          </a:p>
        </p:txBody>
      </p:sp>
      <p:sp>
        <p:nvSpPr>
          <p:cNvPr id="219" name="Text Box 5"/>
          <p:cNvSpPr txBox="1">
            <a:spLocks noGrp="1" noChangeShapeType="1"/>
          </p:cNvSpPr>
          <p:nvPr/>
        </p:nvSpPr>
        <p:spPr>
          <a:xfrm>
            <a:off x="468312" y="4572000"/>
            <a:ext cx="8280400" cy="1187450"/>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en-US" sz="2400" b="1" i="0" u="none">
                <a:latin typeface="楷体_GB2312" pitchFamily="49" charset="-122"/>
                <a:ea typeface="楷体_GB2312" pitchFamily="49" charset="-122"/>
              </a:rPr>
              <a:t>肌肉细胞中，磷酸肌酸含量较高，以适应瞬时间肌肉收缩对能量消耗时，ATP的细胞水平相对稳定，即由磷酸原物质转移磷酸基团迅速补充ATP。与生物氧化产生ATP的途径互补。</a:t>
            </a:r>
            <a:endParaRPr lang="en-US" sz="2400" b="1" i="0" u="none">
              <a:latin typeface="楷体_GB2312" pitchFamily="49" charset="-122"/>
              <a:ea typeface="楷体_GB2312" pitchFamily="49" charset="-122"/>
            </a:endParaRPr>
          </a:p>
        </p:txBody>
      </p:sp>
      <p:sp>
        <p:nvSpPr>
          <p:cNvPr id="220" name="TextBox 5"/>
          <p:cNvSpPr txBox="1">
            <a:spLocks noGrp="1" noChangeShapeType="1"/>
          </p:cNvSpPr>
          <p:nvPr/>
        </p:nvSpPr>
        <p:spPr>
          <a:xfrm>
            <a:off x="1143000" y="6000750"/>
            <a:ext cx="6357937" cy="46196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ts val="0"/>
              </a:spcBef>
              <a:buNone/>
            </a:pPr>
            <a:r>
              <a:rPr lang="zh-CN" sz="2400">
                <a:solidFill>
                  <a:srgbClr val="FF0000"/>
                </a:solidFill>
              </a:rPr>
              <a:t>ATP + 肌酸                          磷酸肌酸 + ADP </a:t>
            </a:r>
            <a:endParaRPr lang="zh-CN" sz="2400">
              <a:solidFill>
                <a:srgbClr val="FF0000"/>
              </a:solidFill>
            </a:endParaRPr>
          </a:p>
        </p:txBody>
      </p:sp>
      <p:grpSp>
        <p:nvGrpSpPr>
          <p:cNvPr id="221" name="组合 10"/>
          <p:cNvGrpSpPr/>
          <p:nvPr/>
        </p:nvGrpSpPr>
        <p:grpSpPr>
          <a:xfrm>
            <a:off x="3571875" y="6143625"/>
            <a:ext cx="642937" cy="142875"/>
            <a:chOff x="2645821" y="6143644"/>
            <a:chExt cx="1905000" cy="71438"/>
          </a:xfrm>
        </p:grpSpPr>
        <p:sp>
          <p:nvSpPr>
            <p:cNvPr id="222" name="Line 13"/>
            <p:cNvSpPr>
              <a:spLocks noChangeShapeType="1"/>
            </p:cNvSpPr>
            <p:nvPr/>
          </p:nvSpPr>
          <p:spPr>
            <a:xfrm>
              <a:off x="2645821" y="6215082"/>
              <a:ext cx="1905000" cy="0"/>
            </a:xfrm>
            <a:prstGeom prst="line">
              <a:avLst/>
            </a:prstGeom>
            <a:noFill/>
            <a:ln w="9524">
              <a:solidFill>
                <a:schemeClr val="dk1"/>
              </a:solidFill>
              <a:round/>
              <a:tailEnd type="triangle" w="med" len="med"/>
            </a:ln>
          </p:spPr>
          <p:txBody>
            <a:bodyPr lIns="91440" tIns="45720" rIns="91440" bIns="45720"/>
            <a:lstStyle/>
            <a:p>
              <a:endParaRPr sz="1400" dirty="0"/>
            </a:p>
          </p:txBody>
        </p:sp>
        <p:sp>
          <p:nvSpPr>
            <p:cNvPr id="223" name="Line 14"/>
            <p:cNvSpPr>
              <a:spLocks noChangeShapeType="1"/>
            </p:cNvSpPr>
            <p:nvPr/>
          </p:nvSpPr>
          <p:spPr>
            <a:xfrm flipH="1">
              <a:off x="2645821" y="6143644"/>
              <a:ext cx="1828799" cy="0"/>
            </a:xfrm>
            <a:prstGeom prst="line">
              <a:avLst/>
            </a:prstGeom>
            <a:noFill/>
            <a:ln w="9524">
              <a:solidFill>
                <a:schemeClr val="dk1"/>
              </a:solidFill>
              <a:round/>
              <a:tailEnd type="triangle" w="med" len="med"/>
            </a:ln>
          </p:spPr>
          <p:txBody>
            <a:bodyPr lIns="91440" tIns="45720" rIns="91440" bIns="45720"/>
            <a:lstStyle/>
            <a:p>
              <a:endParaRPr sz="1400" dirty="0"/>
            </a:p>
          </p:txBody>
        </p:sp>
      </p:gr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anim calcmode="lin" valueType="num">
                                      <p:cBhvr additive="base">
                                        <p:cTn id="7" dur="500" fill="hold"/>
                                        <p:tgtEl>
                                          <p:spTgt spid="218"/>
                                        </p:tgtEl>
                                        <p:attrNameLst>
                                          <p:attrName>ppt_x</p:attrName>
                                        </p:attrNameLst>
                                      </p:cBhvr>
                                      <p:tavLst>
                                        <p:tav tm="0">
                                          <p:val>
                                            <p:strVal val="0-#ppt_w/2"/>
                                          </p:val>
                                        </p:tav>
                                        <p:tav tm="100000">
                                          <p:val>
                                            <p:strVal val="#ppt_x"/>
                                          </p:val>
                                        </p:tav>
                                      </p:tavLst>
                                    </p:anim>
                                    <p:anim calcmode="lin" valueType="num">
                                      <p:cBhvr additive="base">
                                        <p:cTn id="8" dur="500" fill="hold"/>
                                        <p:tgtEl>
                                          <p:spTgt spid="21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17"/>
                                        </p:tgtEl>
                                        <p:attrNameLst>
                                          <p:attrName>style.visibility</p:attrName>
                                        </p:attrNameLst>
                                      </p:cBhvr>
                                      <p:to>
                                        <p:strVal val="visible"/>
                                      </p:to>
                                    </p:set>
                                    <p:anim calcmode="lin" valueType="num">
                                      <p:cBhvr additive="base">
                                        <p:cTn id="13" dur="500" fill="hold"/>
                                        <p:tgtEl>
                                          <p:spTgt spid="217"/>
                                        </p:tgtEl>
                                        <p:attrNameLst>
                                          <p:attrName>ppt_x</p:attrName>
                                        </p:attrNameLst>
                                      </p:cBhvr>
                                      <p:tavLst>
                                        <p:tav tm="0">
                                          <p:val>
                                            <p:strVal val="0-#ppt_w/2"/>
                                          </p:val>
                                        </p:tav>
                                        <p:tav tm="100000">
                                          <p:val>
                                            <p:strVal val="#ppt_x"/>
                                          </p:val>
                                        </p:tav>
                                      </p:tavLst>
                                    </p:anim>
                                    <p:anim calcmode="lin" valueType="num">
                                      <p:cBhvr additive="base">
                                        <p:cTn id="14" dur="500" fill="hold"/>
                                        <p:tgtEl>
                                          <p:spTgt spid="2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224" name=""/>
        <p:cNvGrpSpPr/>
        <p:nvPr/>
      </p:nvGrpSpPr>
      <p:grpSpPr>
        <a:xfrm>
          <a:off x="0" y="0"/>
          <a:ext cx="0" cy="0"/>
          <a:chOff x="0" y="0"/>
          <a:chExt cx="0" cy="0"/>
        </a:xfrm>
      </p:grpSpPr>
      <p:sp>
        <p:nvSpPr>
          <p:cNvPr id="225" name="Rectangle 2"/>
          <p:cNvSpPr>
            <a:spLocks noGrp="1" noChangeShapeType="1"/>
          </p:cNvSpPr>
          <p:nvPr>
            <p:ph type="title"/>
          </p:nvPr>
        </p:nvSpPr>
        <p:spPr>
          <a:xfrm>
            <a:off x="755650" y="476250"/>
            <a:ext cx="4716462" cy="625475"/>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2800">
                <a:ea typeface="黑体" pitchFamily="49" charset="-122"/>
              </a:rPr>
              <a:t>3.3  ATP以外的NTP</a:t>
            </a:r>
            <a:endParaRPr lang="zh-CN" sz="2800">
              <a:ea typeface="黑体" pitchFamily="49" charset="-122"/>
            </a:endParaRPr>
          </a:p>
        </p:txBody>
      </p:sp>
      <p:sp>
        <p:nvSpPr>
          <p:cNvPr id="226" name="Rectangle 3"/>
          <p:cNvSpPr>
            <a:spLocks noGrp="1" noChangeShapeType="1"/>
          </p:cNvSpPr>
          <p:nvPr/>
        </p:nvSpPr>
        <p:spPr>
          <a:xfrm>
            <a:off x="468312" y="1125537"/>
            <a:ext cx="8424862" cy="4918075"/>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lnSpc>
                <a:spcPct val="160000"/>
              </a:lnSpc>
              <a:spcBef>
                <a:spcPts val="0"/>
              </a:spcBef>
              <a:buChar char="Ø"/>
            </a:pPr>
            <a:r>
              <a:rPr lang="en-US" sz="2800" b="0" i="0" u="none">
                <a:latin typeface="楷体_GB2312" pitchFamily="49" charset="-122"/>
                <a:ea typeface="楷体_GB2312" pitchFamily="49" charset="-122"/>
              </a:rPr>
              <a:t>递能作用、传递P基团</a:t>
            </a:r>
            <a:endParaRPr lang="en-US" sz="2800" b="0" i="0" u="none">
              <a:latin typeface="楷体_GB2312" pitchFamily="49" charset="-122"/>
              <a:ea typeface="楷体_GB2312" pitchFamily="49" charset="-122"/>
            </a:endParaRPr>
          </a:p>
          <a:p>
            <a:pPr marL="0" lvl="0" indent="0" hangingPunct="1">
              <a:lnSpc>
                <a:spcPct val="160000"/>
              </a:lnSpc>
              <a:spcBef>
                <a:spcPts val="0"/>
              </a:spcBef>
              <a:buChar char="Ø"/>
            </a:pPr>
            <a:r>
              <a:rPr lang="en-US" sz="2800" b="0" i="0" u="none">
                <a:latin typeface="楷体_GB2312" pitchFamily="49" charset="-122"/>
                <a:ea typeface="楷体_GB2312" pitchFamily="49" charset="-122"/>
              </a:rPr>
              <a:t>作为构件分子参与大分子合成反应</a:t>
            </a:r>
            <a:endParaRPr lang="en-US" sz="2800" b="0" i="0" u="none">
              <a:latin typeface="楷体_GB2312" pitchFamily="49" charset="-122"/>
              <a:ea typeface="楷体_GB2312" pitchFamily="49" charset="-122"/>
            </a:endParaRPr>
          </a:p>
          <a:p>
            <a:pPr marL="0" lvl="0" indent="0" hangingPunct="1">
              <a:lnSpc>
                <a:spcPct val="160000"/>
              </a:lnSpc>
              <a:spcBef>
                <a:spcPts val="0"/>
              </a:spcBef>
              <a:buNone/>
            </a:pPr>
            <a:r>
              <a:rPr lang="zh-CN" sz="2800" b="0" i="0" u="none">
                <a:solidFill>
                  <a:schemeClr val="folHlink"/>
                </a:solidFill>
                <a:latin typeface="黑体" pitchFamily="49" charset="-122"/>
                <a:ea typeface="黑体" pitchFamily="49" charset="-122"/>
              </a:rPr>
              <a:t>      </a:t>
            </a:r>
            <a:r>
              <a:rPr lang="zh-CN" sz="2800" b="0" i="0" u="none">
                <a:latin typeface="黑体" pitchFamily="49" charset="-122"/>
                <a:ea typeface="黑体" pitchFamily="49" charset="-122"/>
              </a:rPr>
              <a:t>多糖、    </a:t>
            </a:r>
            <a:r>
              <a:rPr lang="zh-CN" sz="2800" b="0" i="0" u="none">
                <a:solidFill>
                  <a:srgbClr val="FF0000"/>
                </a:solidFill>
                <a:latin typeface="黑体" pitchFamily="49" charset="-122"/>
                <a:ea typeface="黑体" pitchFamily="49" charset="-122"/>
              </a:rPr>
              <a:t>蛋白质</a:t>
            </a:r>
            <a:r>
              <a:rPr lang="zh-CN" sz="2800" b="0" i="0" u="none">
                <a:latin typeface="黑体" pitchFamily="49" charset="-122"/>
                <a:ea typeface="黑体" pitchFamily="49" charset="-122"/>
              </a:rPr>
              <a:t>、    </a:t>
            </a:r>
            <a:r>
              <a:rPr lang="zh-CN" sz="2800" b="0" i="0" u="none">
                <a:solidFill>
                  <a:schemeClr val="accent1"/>
                </a:solidFill>
                <a:latin typeface="黑体" pitchFamily="49" charset="-122"/>
                <a:ea typeface="黑体" pitchFamily="49" charset="-122"/>
              </a:rPr>
              <a:t> </a:t>
            </a:r>
            <a:r>
              <a:rPr lang="en-US" sz="2800" b="0" i="0" u="none">
                <a:solidFill>
                  <a:schemeClr val="lt2"/>
                </a:solidFill>
                <a:latin typeface="黑体" pitchFamily="49" charset="-122"/>
                <a:ea typeface="黑体" pitchFamily="49" charset="-122"/>
              </a:rPr>
              <a:t>RNA</a:t>
            </a:r>
            <a:r>
              <a:rPr lang="zh-CN" sz="2800" b="0" i="0" u="none">
                <a:latin typeface="黑体" pitchFamily="49" charset="-122"/>
                <a:ea typeface="黑体" pitchFamily="49" charset="-122"/>
              </a:rPr>
              <a:t>、       </a:t>
            </a:r>
            <a:r>
              <a:rPr lang="en-US" sz="2800" b="0" i="0" u="none">
                <a:solidFill>
                  <a:srgbClr val="008000"/>
                </a:solidFill>
                <a:latin typeface="黑体" pitchFamily="49" charset="-122"/>
                <a:ea typeface="黑体" pitchFamily="49" charset="-122"/>
              </a:rPr>
              <a:t>DNA</a:t>
            </a:r>
            <a:endParaRPr lang="en-US" sz="2800" b="0" i="0" u="none">
              <a:solidFill>
                <a:srgbClr val="008000"/>
              </a:solidFill>
              <a:latin typeface="黑体" pitchFamily="49" charset="-122"/>
              <a:ea typeface="黑体" pitchFamily="49" charset="-122"/>
            </a:endParaRPr>
          </a:p>
          <a:p>
            <a:pPr marL="0" lvl="0" indent="0" hangingPunct="1">
              <a:lnSpc>
                <a:spcPct val="160000"/>
              </a:lnSpc>
              <a:spcBef>
                <a:spcPts val="0"/>
              </a:spcBef>
              <a:buNone/>
            </a:pPr>
            <a:r>
              <a:rPr lang="zh-CN" sz="2800" b="0" i="0" u="none">
                <a:latin typeface="黑体" pitchFamily="49" charset="-122"/>
                <a:ea typeface="黑体" pitchFamily="49" charset="-122"/>
              </a:rPr>
              <a:t>    ATP UTP</a:t>
            </a:r>
            <a:r>
              <a:rPr lang="en-US" sz="2800" b="0" i="0" u="none">
                <a:solidFill>
                  <a:srgbClr val="FFFF00"/>
                </a:solidFill>
                <a:latin typeface="黑体" pitchFamily="49" charset="-122"/>
                <a:ea typeface="黑体" pitchFamily="49" charset="-122"/>
              </a:rPr>
              <a:t>;</a:t>
            </a:r>
            <a:r>
              <a:rPr lang="en-US" sz="2800" b="0" i="0" u="none">
                <a:latin typeface="黑体" pitchFamily="49" charset="-122"/>
                <a:ea typeface="黑体" pitchFamily="49" charset="-122"/>
              </a:rPr>
              <a:t>   </a:t>
            </a:r>
            <a:r>
              <a:rPr lang="en-US" sz="2800" b="0" i="0" u="none">
                <a:solidFill>
                  <a:srgbClr val="FF0000"/>
                </a:solidFill>
                <a:latin typeface="黑体" pitchFamily="49" charset="-122"/>
                <a:ea typeface="黑体" pitchFamily="49" charset="-122"/>
              </a:rPr>
              <a:t>ATP GTP</a:t>
            </a:r>
            <a:r>
              <a:rPr lang="en-US" sz="2800" b="0" i="0" u="none">
                <a:solidFill>
                  <a:srgbClr val="AE1E39"/>
                </a:solidFill>
                <a:latin typeface="黑体" pitchFamily="49" charset="-122"/>
                <a:ea typeface="黑体" pitchFamily="49" charset="-122"/>
              </a:rPr>
              <a:t>;</a:t>
            </a:r>
            <a:r>
              <a:rPr lang="en-US" sz="2800" b="0" i="0" u="none">
                <a:latin typeface="黑体" pitchFamily="49" charset="-122"/>
                <a:ea typeface="黑体" pitchFamily="49" charset="-122"/>
              </a:rPr>
              <a:t> </a:t>
            </a:r>
            <a:r>
              <a:rPr lang="en-US" sz="2800" b="0" i="0" u="none">
                <a:solidFill>
                  <a:schemeClr val="lt2"/>
                </a:solidFill>
                <a:latin typeface="黑体" pitchFamily="49" charset="-122"/>
                <a:ea typeface="黑体" pitchFamily="49" charset="-122"/>
              </a:rPr>
              <a:t>ATP UTP CTP GTP</a:t>
            </a:r>
            <a:r>
              <a:rPr lang="en-US" sz="2800" b="0" i="0" u="none">
                <a:solidFill>
                  <a:schemeClr val="accent2"/>
                </a:solidFill>
                <a:latin typeface="黑体" pitchFamily="49" charset="-122"/>
                <a:ea typeface="黑体" pitchFamily="49" charset="-122"/>
              </a:rPr>
              <a:t>;</a:t>
            </a:r>
            <a:r>
              <a:rPr lang="en-US" sz="2800" b="0" i="0" u="none">
                <a:latin typeface="黑体" pitchFamily="49" charset="-122"/>
                <a:ea typeface="黑体" pitchFamily="49" charset="-122"/>
              </a:rPr>
              <a:t> </a:t>
            </a:r>
            <a:r>
              <a:rPr lang="en-US" sz="2800" b="0" i="0" u="none">
                <a:solidFill>
                  <a:srgbClr val="008000"/>
                </a:solidFill>
                <a:latin typeface="黑体" pitchFamily="49" charset="-122"/>
                <a:ea typeface="黑体" pitchFamily="49" charset="-122"/>
              </a:rPr>
              <a:t>dNTP</a:t>
            </a:r>
            <a:endParaRPr lang="en-US" sz="2800" b="0" i="0" u="none">
              <a:solidFill>
                <a:srgbClr val="008000"/>
              </a:solidFill>
              <a:latin typeface="黑体" pitchFamily="49" charset="-122"/>
              <a:ea typeface="黑体" pitchFamily="49" charset="-122"/>
            </a:endParaRPr>
          </a:p>
          <a:p>
            <a:pPr marL="0" lvl="0" indent="0" hangingPunct="1">
              <a:lnSpc>
                <a:spcPct val="160000"/>
              </a:lnSpc>
              <a:spcBef>
                <a:spcPts val="0"/>
              </a:spcBef>
              <a:buChar char="Ø"/>
            </a:pPr>
            <a:r>
              <a:rPr lang="zh-CN" sz="2800" b="0" i="0" u="none">
                <a:latin typeface="楷体_GB2312" pitchFamily="49" charset="-122"/>
                <a:ea typeface="楷体_GB2312" pitchFamily="49" charset="-122"/>
              </a:rPr>
              <a:t>NMP的再磷酸化只能通过ATP提供高能磷酸基团</a:t>
            </a:r>
            <a:endParaRPr lang="zh-CN" sz="2800" b="0" i="0" u="none">
              <a:latin typeface="楷体_GB2312" pitchFamily="49" charset="-122"/>
              <a:ea typeface="楷体_GB2312" pitchFamily="49" charset="-122"/>
            </a:endParaRPr>
          </a:p>
          <a:p>
            <a:pPr marL="0" lvl="0" indent="0" hangingPunct="1">
              <a:lnSpc>
                <a:spcPct val="160000"/>
              </a:lnSpc>
              <a:spcBef>
                <a:spcPts val="0"/>
              </a:spcBef>
              <a:buNone/>
            </a:pPr>
            <a:r>
              <a:rPr lang="en-US" sz="2800" b="0" i="0" u="none">
                <a:latin typeface="黑体" pitchFamily="49" charset="-122"/>
                <a:ea typeface="黑体" pitchFamily="49" charset="-122"/>
              </a:rPr>
              <a:t>   ATP + NMP             ADP + NDP</a:t>
            </a:r>
            <a:endParaRPr lang="en-US" sz="2800" b="0" i="0" u="none">
              <a:latin typeface="黑体" pitchFamily="49" charset="-122"/>
              <a:ea typeface="黑体" pitchFamily="49" charset="-122"/>
            </a:endParaRPr>
          </a:p>
          <a:p>
            <a:pPr marL="0" lvl="0" indent="0" hangingPunct="1">
              <a:lnSpc>
                <a:spcPct val="160000"/>
              </a:lnSpc>
              <a:spcBef>
                <a:spcPts val="0"/>
              </a:spcBef>
              <a:buNone/>
            </a:pPr>
            <a:r>
              <a:rPr lang="en-US" sz="2800" b="0" i="0" u="none">
                <a:latin typeface="黑体" pitchFamily="49" charset="-122"/>
                <a:ea typeface="黑体" pitchFamily="49" charset="-122"/>
              </a:rPr>
              <a:t>     </a:t>
            </a:r>
            <a:endParaRPr lang="en-US" sz="2800" b="0" i="0" u="none">
              <a:latin typeface="黑体" pitchFamily="49" charset="-122"/>
              <a:ea typeface="黑体" pitchFamily="49" charset="-122"/>
            </a:endParaRPr>
          </a:p>
        </p:txBody>
      </p:sp>
      <p:sp>
        <p:nvSpPr>
          <p:cNvPr id="227" name="Line 13"/>
          <p:cNvSpPr>
            <a:spLocks noGrp="1" noChangeShapeType="1"/>
          </p:cNvSpPr>
          <p:nvPr/>
        </p:nvSpPr>
        <p:spPr>
          <a:xfrm>
            <a:off x="2916237" y="5227637"/>
            <a:ext cx="1905000" cy="0"/>
          </a:xfrm>
          <a:prstGeom prst="line">
            <a:avLst/>
          </a:prstGeom>
          <a:noFill/>
          <a:ln w="9524">
            <a:solidFill>
              <a:schemeClr val="dk1"/>
            </a:solidFill>
            <a:round/>
            <a:tailEnd type="triangle" w="med" len="med"/>
          </a:ln>
        </p:spPr>
        <p:txBody>
          <a:bodyPr lIns="91440" tIns="45720" rIns="91440" bIns="45720"/>
          <a:lstStyle/>
          <a:p>
            <a:endParaRPr sz="1400" dirty="0"/>
          </a:p>
        </p:txBody>
      </p:sp>
      <p:sp>
        <p:nvSpPr>
          <p:cNvPr id="228" name="Line 14"/>
          <p:cNvSpPr>
            <a:spLocks noGrp="1" noChangeShapeType="1"/>
          </p:cNvSpPr>
          <p:nvPr/>
        </p:nvSpPr>
        <p:spPr>
          <a:xfrm flipH="1">
            <a:off x="2916237" y="5156200"/>
            <a:ext cx="1828800" cy="0"/>
          </a:xfrm>
          <a:prstGeom prst="line">
            <a:avLst/>
          </a:prstGeom>
          <a:noFill/>
          <a:ln w="9524">
            <a:solidFill>
              <a:schemeClr val="dk1"/>
            </a:solidFill>
            <a:round/>
            <a:tailEnd type="triangle" w="med" len="med"/>
          </a:ln>
        </p:spPr>
        <p:txBody>
          <a:bodyPr lIns="91440" tIns="45720" rIns="91440" bIns="45720"/>
          <a:lstStyle/>
          <a:p>
            <a:endParaRPr sz="1400" dirty="0"/>
          </a:p>
        </p:txBody>
      </p:sp>
      <p:sp>
        <p:nvSpPr>
          <p:cNvPr id="229" name="Text Box 15"/>
          <p:cNvSpPr txBox="1">
            <a:spLocks noGrp="1" noChangeShapeType="1"/>
          </p:cNvSpPr>
          <p:nvPr/>
        </p:nvSpPr>
        <p:spPr>
          <a:xfrm>
            <a:off x="2916237" y="4724400"/>
            <a:ext cx="1905000" cy="366712"/>
          </a:xfrm>
          <a:prstGeom prst="rect">
            <a:avLst/>
          </a:prstGeom>
          <a:noFill/>
        </p:spPr>
        <p:txBody>
          <a:bodyPr lIns="91440" tIns="45720" rIns="91440" bIns="45720">
            <a:spAutoFit/>
          </a:bodyPr>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0" lvl="0" indent="0" hangingPunct="1">
              <a:spcBef>
                <a:spcPct val="50000"/>
              </a:spcBef>
              <a:buNone/>
            </a:pPr>
            <a:r>
              <a:rPr lang="zh-CN" sz="1800" b="1" i="0" u="none">
                <a:latin typeface="黑体" pitchFamily="49" charset="-122"/>
                <a:ea typeface="黑体" pitchFamily="49" charset="-122"/>
              </a:rPr>
              <a:t>核苷单磷酸激酶</a:t>
            </a:r>
            <a:endParaRPr lang="zh-CN" sz="1800" b="1" i="0" u="none">
              <a:latin typeface="黑体" pitchFamily="49" charset="-122"/>
              <a:ea typeface="黑体"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26">
                                            <p:txEl>
                                              <p:pRg st="0" end="11"/>
                                            </p:txEl>
                                          </p:spTgt>
                                        </p:tgtEl>
                                        <p:attrNameLst>
                                          <p:attrName>style.visibility</p:attrName>
                                        </p:attrNameLst>
                                      </p:cBhvr>
                                      <p:to>
                                        <p:strVal val="visible"/>
                                      </p:to>
                                    </p:set>
                                    <p:animEffect transition="in" filter="slide(fromBottom)">
                                      <p:cBhvr>
                                        <p:cTn id="7" dur="500"/>
                                        <p:tgtEl>
                                          <p:spTgt spid="226">
                                            <p:txEl>
                                              <p:pRg st="0" end="1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226">
                                            <p:txEl>
                                              <p:pRg st="11" end="27"/>
                                            </p:txEl>
                                          </p:spTgt>
                                        </p:tgtEl>
                                        <p:attrNameLst>
                                          <p:attrName>style.visibility</p:attrName>
                                        </p:attrNameLst>
                                      </p:cBhvr>
                                      <p:to>
                                        <p:strVal val="visible"/>
                                      </p:to>
                                    </p:set>
                                    <p:animEffect transition="in" filter="slide(fromBottom)">
                                      <p:cBhvr>
                                        <p:cTn id="12" dur="500"/>
                                        <p:tgtEl>
                                          <p:spTgt spid="226">
                                            <p:txEl>
                                              <p:pRg st="11" end="2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226">
                                            <p:txEl>
                                              <p:pRg st="27" end="64"/>
                                            </p:txEl>
                                          </p:spTgt>
                                        </p:tgtEl>
                                        <p:attrNameLst>
                                          <p:attrName>style.visibility</p:attrName>
                                        </p:attrNameLst>
                                      </p:cBhvr>
                                      <p:to>
                                        <p:strVal val="visible"/>
                                      </p:to>
                                    </p:set>
                                    <p:animEffect transition="in" filter="slide(fromBottom)">
                                      <p:cBhvr>
                                        <p:cTn id="17" dur="500"/>
                                        <p:tgtEl>
                                          <p:spTgt spid="226">
                                            <p:txEl>
                                              <p:pRg st="27" end="6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226">
                                            <p:txEl>
                                              <p:pRg st="64" end="110"/>
                                            </p:txEl>
                                          </p:spTgt>
                                        </p:tgtEl>
                                        <p:attrNameLst>
                                          <p:attrName>style.visibility</p:attrName>
                                        </p:attrNameLst>
                                      </p:cBhvr>
                                      <p:to>
                                        <p:strVal val="visible"/>
                                      </p:to>
                                    </p:set>
                                    <p:animEffect transition="in" filter="slide(fromBottom)">
                                      <p:cBhvr>
                                        <p:cTn id="22" dur="500"/>
                                        <p:tgtEl>
                                          <p:spTgt spid="226">
                                            <p:txEl>
                                              <p:pRg st="64" end="1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226">
                                            <p:txEl>
                                              <p:pRg st="110" end="134"/>
                                            </p:txEl>
                                          </p:spTgt>
                                        </p:tgtEl>
                                        <p:attrNameLst>
                                          <p:attrName>style.visibility</p:attrName>
                                        </p:attrNameLst>
                                      </p:cBhvr>
                                      <p:to>
                                        <p:strVal val="visible"/>
                                      </p:to>
                                    </p:set>
                                    <p:animEffect transition="in" filter="slide(fromBottom)">
                                      <p:cBhvr>
                                        <p:cTn id="27" dur="500"/>
                                        <p:tgtEl>
                                          <p:spTgt spid="226">
                                            <p:txEl>
                                              <p:pRg st="110" end="13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226">
                                            <p:txEl>
                                              <p:pRg st="134" end="169"/>
                                            </p:txEl>
                                          </p:spTgt>
                                        </p:tgtEl>
                                        <p:attrNameLst>
                                          <p:attrName>style.visibility</p:attrName>
                                        </p:attrNameLst>
                                      </p:cBhvr>
                                      <p:to>
                                        <p:strVal val="visible"/>
                                      </p:to>
                                    </p:set>
                                    <p:animEffect transition="in" filter="slide(fromBottom)">
                                      <p:cBhvr>
                                        <p:cTn id="32" dur="500"/>
                                        <p:tgtEl>
                                          <p:spTgt spid="226">
                                            <p:txEl>
                                              <p:pRg st="134" end="16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29"/>
                                        </p:tgtEl>
                                        <p:attrNameLst>
                                          <p:attrName>style.visibility</p:attrName>
                                        </p:attrNameLst>
                                      </p:cBhvr>
                                      <p:to>
                                        <p:strVal val="visible"/>
                                      </p:to>
                                    </p:set>
                                    <p:animEffect transition="in" filter="blinds(horizontal)">
                                      <p:cBhvr>
                                        <p:cTn id="37" dur="500"/>
                                        <p:tgtEl>
                                          <p:spTgt spid="229"/>
                                        </p:tgtEl>
                                      </p:cBhvr>
                                    </p:animEffect>
                                  </p:childTnLst>
                                </p:cTn>
                              </p:par>
                              <p:par>
                                <p:cTn id="38" presetID="3" presetClass="entr" presetSubtype="10" fill="hold" nodeType="withEffect">
                                  <p:stCondLst>
                                    <p:cond delay="0"/>
                                  </p:stCondLst>
                                  <p:childTnLst>
                                    <p:set>
                                      <p:cBhvr>
                                        <p:cTn id="39" dur="1" fill="hold">
                                          <p:stCondLst>
                                            <p:cond delay="0"/>
                                          </p:stCondLst>
                                        </p:cTn>
                                        <p:tgtEl>
                                          <p:spTgt spid="228"/>
                                        </p:tgtEl>
                                        <p:attrNameLst>
                                          <p:attrName>style.visibility</p:attrName>
                                        </p:attrNameLst>
                                      </p:cBhvr>
                                      <p:to>
                                        <p:strVal val="visible"/>
                                      </p:to>
                                    </p:set>
                                    <p:animEffect transition="in" filter="blinds(horizontal)">
                                      <p:cBhvr>
                                        <p:cTn id="40" dur="500"/>
                                        <p:tgtEl>
                                          <p:spTgt spid="228"/>
                                        </p:tgtEl>
                                      </p:cBhvr>
                                    </p:animEffect>
                                  </p:childTnLst>
                                </p:cTn>
                              </p:par>
                              <p:par>
                                <p:cTn id="41" presetID="3" presetClass="entr" presetSubtype="10" fill="hold" nodeType="withEffect">
                                  <p:stCondLst>
                                    <p:cond delay="0"/>
                                  </p:stCondLst>
                                  <p:childTnLst>
                                    <p:set>
                                      <p:cBhvr>
                                        <p:cTn id="42" dur="1" fill="hold">
                                          <p:stCondLst>
                                            <p:cond delay="0"/>
                                          </p:stCondLst>
                                        </p:cTn>
                                        <p:tgtEl>
                                          <p:spTgt spid="227"/>
                                        </p:tgtEl>
                                        <p:attrNameLst>
                                          <p:attrName>style.visibility</p:attrName>
                                        </p:attrNameLst>
                                      </p:cBhvr>
                                      <p:to>
                                        <p:strVal val="visible"/>
                                      </p:to>
                                    </p:set>
                                    <p:animEffect transition="in" filter="blinds(horizontal)">
                                      <p:cBhvr>
                                        <p:cTn id="43" dur="500"/>
                                        <p:tgtEl>
                                          <p:spTgt spid="227"/>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230" name=""/>
        <p:cNvGrpSpPr/>
        <p:nvPr/>
      </p:nvGrpSpPr>
      <p:grpSpPr>
        <a:xfrm>
          <a:off x="0" y="0"/>
          <a:ext cx="0" cy="0"/>
          <a:chOff x="0" y="0"/>
          <a:chExt cx="0" cy="0"/>
        </a:xfrm>
      </p:grpSpPr>
      <p:sp>
        <p:nvSpPr>
          <p:cNvPr id="231" name="Rectangle 2"/>
          <p:cNvSpPr>
            <a:spLocks noGrp="1" noChangeShapeType="1"/>
          </p:cNvSpPr>
          <p:nvPr>
            <p:ph type="title"/>
          </p:nvPr>
        </p:nvSpPr>
        <p:spPr>
          <a:xfrm>
            <a:off x="684212" y="333375"/>
            <a:ext cx="5111750" cy="947737"/>
          </a:xfrm>
          <a:prstGeom prst="rect">
            <a:avLst/>
          </a:prstGeom>
          <a:noFill/>
        </p:spPr>
        <p:txBody>
          <a:bodyPr lIns="92075" tIns="46038" rIns="92075" bIns="46038"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2800" b="1" i="0" u="none">
                <a:latin typeface="黑体" pitchFamily="49" charset="-122"/>
                <a:ea typeface="黑体" pitchFamily="49" charset="-122"/>
              </a:rPr>
              <a:t>3.4  细胞ATP系统的动态平衡</a:t>
            </a:r>
            <a:endParaRPr lang="zh-CN" sz="2800" b="1" i="0" u="none">
              <a:latin typeface="黑体" pitchFamily="49" charset="-122"/>
              <a:ea typeface="黑体" pitchFamily="49" charset="-122"/>
            </a:endParaRPr>
          </a:p>
        </p:txBody>
      </p:sp>
      <p:sp>
        <p:nvSpPr>
          <p:cNvPr id="232" name="Rectangle 3"/>
          <p:cNvSpPr>
            <a:spLocks noGrp="1" noChangeShapeType="1"/>
          </p:cNvSpPr>
          <p:nvPr>
            <p:ph type="body"/>
          </p:nvPr>
        </p:nvSpPr>
        <p:spPr>
          <a:xfrm>
            <a:off x="395287" y="1196975"/>
            <a:ext cx="8424862" cy="5184775"/>
          </a:xfrm>
          <a:prstGeom prst="rect">
            <a:avLst/>
          </a:prstGeom>
          <a:noFill/>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795020" lvl="0" indent="-609600" hangingPunct="1">
              <a:lnSpc>
                <a:spcPct val="135000"/>
              </a:lnSpc>
              <a:spcBef>
                <a:spcPct val="20000"/>
              </a:spcBef>
              <a:buNone/>
            </a:pPr>
            <a:r>
              <a:rPr lang="zh-CN" sz="2400">
                <a:solidFill>
                  <a:srgbClr val="AE1E39"/>
                </a:solidFill>
                <a:ea typeface="黑体" pitchFamily="49" charset="-122"/>
              </a:rPr>
              <a:t>细胞能荷</a:t>
            </a:r>
            <a:r>
              <a:rPr lang="en-US" sz="2400">
                <a:ea typeface="黑体" pitchFamily="49" charset="-122"/>
              </a:rPr>
              <a:t> = (ATP+1/2ADP)/(ATP+ADP+AMP)</a:t>
            </a:r>
            <a:endParaRPr lang="en-US" sz="2400">
              <a:ea typeface="黑体" pitchFamily="49" charset="-122"/>
            </a:endParaRPr>
          </a:p>
          <a:p>
            <a:pPr marL="795020" lvl="0" indent="-609600" hangingPunct="1">
              <a:lnSpc>
                <a:spcPct val="135000"/>
              </a:lnSpc>
              <a:spcBef>
                <a:spcPct val="20000"/>
              </a:spcBef>
              <a:buNone/>
            </a:pPr>
            <a:r>
              <a:rPr lang="zh-CN" sz="2400" b="1" i="0" u="none">
                <a:latin typeface="楷体_GB2312" pitchFamily="49" charset="-122"/>
                <a:ea typeface="楷体_GB2312" pitchFamily="49" charset="-122"/>
              </a:rPr>
              <a:t>机体能量在数量上的衡量形式, </a:t>
            </a:r>
            <a:r>
              <a:rPr lang="en-US" sz="2400" b="1" i="0" u="none">
                <a:solidFill>
                  <a:srgbClr val="AE1E39"/>
                </a:solidFill>
                <a:latin typeface="楷体_GB2312" pitchFamily="49" charset="-122"/>
                <a:ea typeface="楷体_GB2312" pitchFamily="49" charset="-122"/>
              </a:rPr>
              <a:t>指细胞中能量物质状态</a:t>
            </a:r>
            <a:r>
              <a:rPr lang="zh-CN" sz="2400" b="1" i="0" u="none">
                <a:latin typeface="楷体_GB2312" pitchFamily="49" charset="-122"/>
                <a:ea typeface="楷体_GB2312" pitchFamily="49" charset="-122"/>
              </a:rPr>
              <a:t>,以</a:t>
            </a:r>
            <a:endParaRPr lang="zh-CN" sz="2400" b="1" i="0" u="none">
              <a:latin typeface="楷体_GB2312" pitchFamily="49" charset="-122"/>
              <a:ea typeface="楷体_GB2312" pitchFamily="49" charset="-122"/>
            </a:endParaRPr>
          </a:p>
          <a:p>
            <a:pPr marL="795020" lvl="0" indent="-609600" hangingPunct="1">
              <a:lnSpc>
                <a:spcPct val="135000"/>
              </a:lnSpc>
              <a:spcBef>
                <a:spcPct val="20000"/>
              </a:spcBef>
              <a:buNone/>
            </a:pPr>
            <a:r>
              <a:rPr lang="zh-CN" sz="2400" b="1" i="0" u="none">
                <a:latin typeface="楷体_GB2312" pitchFamily="49" charset="-122"/>
                <a:ea typeface="楷体_GB2312" pitchFamily="49" charset="-122"/>
              </a:rPr>
              <a:t>ATP/ADP/AMP之间的关系来表示.比值在 </a:t>
            </a:r>
            <a:r>
              <a:rPr lang="en-US" sz="2400" b="1" i="1" u="none">
                <a:latin typeface="楷体_GB2312" pitchFamily="49" charset="-122"/>
                <a:ea typeface="楷体_GB2312" pitchFamily="49" charset="-122"/>
              </a:rPr>
              <a:t>(0～1)</a:t>
            </a:r>
            <a:endParaRPr lang="en-US" sz="2400" b="1" i="1" u="none">
              <a:latin typeface="楷体_GB2312" pitchFamily="49" charset="-122"/>
              <a:ea typeface="楷体_GB2312" pitchFamily="49" charset="-122"/>
            </a:endParaRPr>
          </a:p>
          <a:p>
            <a:pPr marL="795020" lvl="0" indent="-609600" hangingPunct="1">
              <a:lnSpc>
                <a:spcPct val="135000"/>
              </a:lnSpc>
              <a:spcBef>
                <a:spcPct val="20000"/>
              </a:spcBef>
              <a:buNone/>
            </a:pPr>
            <a:r>
              <a:rPr lang="zh-CN" sz="2400" b="1" i="0" u="none">
                <a:latin typeface="楷体_GB2312" pitchFamily="49" charset="-122"/>
                <a:ea typeface="楷体_GB2312" pitchFamily="49" charset="-122"/>
              </a:rPr>
              <a:t>当所有腺苷酸充分磷酸化为ATP，</a:t>
            </a:r>
            <a:r>
              <a:rPr lang="en-US" sz="2400" b="1" i="1" u="sng">
                <a:latin typeface="楷体_GB2312" pitchFamily="49" charset="-122"/>
                <a:ea typeface="楷体_GB2312" pitchFamily="49" charset="-122"/>
              </a:rPr>
              <a:t>能荷</a:t>
            </a:r>
            <a:r>
              <a:rPr lang="zh-CN" sz="2400" b="1" i="0" u="none">
                <a:latin typeface="楷体_GB2312" pitchFamily="49" charset="-122"/>
                <a:ea typeface="楷体_GB2312" pitchFamily="49" charset="-122"/>
              </a:rPr>
              <a:t>值为1；当所有腺苷酸</a:t>
            </a:r>
            <a:endParaRPr lang="zh-CN" sz="2400" b="1" i="0" u="none">
              <a:latin typeface="楷体_GB2312" pitchFamily="49" charset="-122"/>
              <a:ea typeface="楷体_GB2312" pitchFamily="49" charset="-122"/>
            </a:endParaRPr>
          </a:p>
          <a:p>
            <a:pPr marL="795020" lvl="0" indent="-609600" hangingPunct="1">
              <a:lnSpc>
                <a:spcPct val="135000"/>
              </a:lnSpc>
              <a:spcBef>
                <a:spcPct val="20000"/>
              </a:spcBef>
              <a:buNone/>
            </a:pPr>
            <a:r>
              <a:rPr lang="zh-CN" sz="2400" b="1" i="0" u="none">
                <a:latin typeface="楷体_GB2312" pitchFamily="49" charset="-122"/>
                <a:ea typeface="楷体_GB2312" pitchFamily="49" charset="-122"/>
              </a:rPr>
              <a:t>去磷酸化为AMP，能荷值为零，正常情况下细胞的能荷值</a:t>
            </a:r>
            <a:endParaRPr lang="zh-CN" sz="2400" b="1" i="0" u="none">
              <a:latin typeface="楷体_GB2312" pitchFamily="49" charset="-122"/>
              <a:ea typeface="楷体_GB2312" pitchFamily="49" charset="-122"/>
            </a:endParaRPr>
          </a:p>
          <a:p>
            <a:pPr marL="795020" lvl="0" indent="-609600" hangingPunct="1">
              <a:lnSpc>
                <a:spcPct val="135000"/>
              </a:lnSpc>
              <a:spcBef>
                <a:spcPct val="20000"/>
              </a:spcBef>
              <a:buNone/>
            </a:pPr>
            <a:r>
              <a:rPr lang="zh-CN" sz="2400" b="1" i="0" u="none">
                <a:latin typeface="楷体_GB2312" pitchFamily="49" charset="-122"/>
                <a:ea typeface="楷体_GB2312" pitchFamily="49" charset="-122"/>
              </a:rPr>
              <a:t>约为0.75-0.95。 </a:t>
            </a:r>
            <a:endParaRPr lang="zh-CN" sz="2400" b="1" i="0" u="none">
              <a:latin typeface="楷体_GB2312" pitchFamily="49" charset="-122"/>
              <a:ea typeface="楷体_GB2312" pitchFamily="49" charset="-122"/>
            </a:endParaRPr>
          </a:p>
          <a:p>
            <a:pPr marL="795020" lvl="0" indent="-609600" hangingPunct="1">
              <a:lnSpc>
                <a:spcPct val="135000"/>
              </a:lnSpc>
              <a:spcBef>
                <a:spcPct val="20000"/>
              </a:spcBef>
              <a:buNone/>
            </a:pPr>
            <a:endParaRPr lang="en-US" sz="2400"/>
          </a:p>
          <a:p>
            <a:pPr marL="795020" lvl="0" indent="-609600" hangingPunct="1">
              <a:lnSpc>
                <a:spcPct val="135000"/>
              </a:lnSpc>
              <a:spcBef>
                <a:spcPct val="20000"/>
              </a:spcBef>
              <a:buNone/>
            </a:pPr>
            <a:r>
              <a:rPr lang="en-US" sz="2400" b="0" i="0" u="none">
                <a:solidFill>
                  <a:schemeClr val="lt2"/>
                </a:solidFill>
                <a:ea typeface="黑体" pitchFamily="49" charset="-122"/>
              </a:rPr>
              <a:t>磷酸化势能</a:t>
            </a:r>
            <a:r>
              <a:rPr lang="zh-CN" sz="2400" b="0" i="0" u="none">
                <a:ea typeface="黑体" pitchFamily="49" charset="-122"/>
              </a:rPr>
              <a:t> = [ATP]/[ADP][Pi]</a:t>
            </a:r>
            <a:endParaRPr lang="zh-CN" sz="2400" b="0" i="0" u="none">
              <a:ea typeface="黑体" pitchFamily="49" charset="-122"/>
            </a:endParaRPr>
          </a:p>
          <a:p>
            <a:pPr marL="795020" lvl="0" indent="-609600" hangingPunct="1">
              <a:lnSpc>
                <a:spcPct val="135000"/>
              </a:lnSpc>
              <a:spcBef>
                <a:spcPct val="20000"/>
              </a:spcBef>
              <a:buNone/>
            </a:pPr>
            <a:r>
              <a:rPr lang="en-US" sz="2400" b="1" i="0" u="none">
                <a:ea typeface="楷体_GB2312" pitchFamily="49" charset="-122"/>
              </a:rPr>
              <a:t>从细胞中无机磷酸水平来衡量能量物质状态</a:t>
            </a:r>
            <a:endParaRPr lang="en-US" sz="2400" b="1" i="0" u="none">
              <a:ea typeface="楷体_GB2312" pitchFamily="49" charset="-122"/>
            </a:endParaRPr>
          </a:p>
        </p:txBody>
      </p:sp>
    </p:spTree>
  </p:cSld>
  <p:clrMapOvr>
    <a:masterClrMapping/>
  </p:clrMapOvr>
  <p:transition/>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32">
                                            <p:txEl>
                                              <p:pRg st="0" end="34"/>
                                            </p:txEl>
                                          </p:spTgt>
                                        </p:tgtEl>
                                        <p:attrNameLst>
                                          <p:attrName>style.visibility</p:attrName>
                                        </p:attrNameLst>
                                      </p:cBhvr>
                                      <p:to>
                                        <p:strVal val="visible"/>
                                      </p:to>
                                    </p:set>
                                    <p:animEffect transition="in" filter="dissolve">
                                      <p:cBhvr>
                                        <p:cTn id="7" dur="500"/>
                                        <p:tgtEl>
                                          <p:spTgt spid="232">
                                            <p:txEl>
                                              <p:pRg st="0" end="34"/>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32">
                                            <p:txEl>
                                              <p:pRg st="34" end="62"/>
                                            </p:txEl>
                                          </p:spTgt>
                                        </p:tgtEl>
                                        <p:attrNameLst>
                                          <p:attrName>style.visibility</p:attrName>
                                        </p:attrNameLst>
                                      </p:cBhvr>
                                      <p:to>
                                        <p:strVal val="visible"/>
                                      </p:to>
                                    </p:set>
                                    <p:animEffect transition="in" filter="box(in)">
                                      <p:cBhvr>
                                        <p:cTn id="12" dur="500"/>
                                        <p:tgtEl>
                                          <p:spTgt spid="232">
                                            <p:txEl>
                                              <p:pRg st="34" end="62"/>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232">
                                            <p:txEl>
                                              <p:pRg st="62" end="92"/>
                                            </p:txEl>
                                          </p:spTgt>
                                        </p:tgtEl>
                                        <p:attrNameLst>
                                          <p:attrName>style.visibility</p:attrName>
                                        </p:attrNameLst>
                                      </p:cBhvr>
                                      <p:to>
                                        <p:strVal val="visible"/>
                                      </p:to>
                                    </p:set>
                                    <p:animEffect transition="in" filter="box(in)">
                                      <p:cBhvr>
                                        <p:cTn id="15" dur="500"/>
                                        <p:tgtEl>
                                          <p:spTgt spid="232">
                                            <p:txEl>
                                              <p:pRg st="62" end="92"/>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232">
                                            <p:txEl>
                                              <p:pRg st="92" end="121"/>
                                            </p:txEl>
                                          </p:spTgt>
                                        </p:tgtEl>
                                        <p:attrNameLst>
                                          <p:attrName>style.visibility</p:attrName>
                                        </p:attrNameLst>
                                      </p:cBhvr>
                                      <p:to>
                                        <p:strVal val="visible"/>
                                      </p:to>
                                    </p:set>
                                    <p:animEffect transition="in" filter="box(in)">
                                      <p:cBhvr>
                                        <p:cTn id="18" dur="500"/>
                                        <p:tgtEl>
                                          <p:spTgt spid="232">
                                            <p:txEl>
                                              <p:pRg st="92" end="121"/>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232">
                                            <p:txEl>
                                              <p:pRg st="121" end="148"/>
                                            </p:txEl>
                                          </p:spTgt>
                                        </p:tgtEl>
                                        <p:attrNameLst>
                                          <p:attrName>style.visibility</p:attrName>
                                        </p:attrNameLst>
                                      </p:cBhvr>
                                      <p:to>
                                        <p:strVal val="visible"/>
                                      </p:to>
                                    </p:set>
                                    <p:animEffect transition="in" filter="box(in)">
                                      <p:cBhvr>
                                        <p:cTn id="21" dur="500"/>
                                        <p:tgtEl>
                                          <p:spTgt spid="232">
                                            <p:txEl>
                                              <p:pRg st="121" end="148"/>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232">
                                            <p:txEl>
                                              <p:pRg st="148" end="162"/>
                                            </p:txEl>
                                          </p:spTgt>
                                        </p:tgtEl>
                                        <p:attrNameLst>
                                          <p:attrName>style.visibility</p:attrName>
                                        </p:attrNameLst>
                                      </p:cBhvr>
                                      <p:to>
                                        <p:strVal val="visible"/>
                                      </p:to>
                                    </p:set>
                                    <p:animEffect transition="in" filter="box(in)">
                                      <p:cBhvr>
                                        <p:cTn id="24" dur="500"/>
                                        <p:tgtEl>
                                          <p:spTgt spid="232">
                                            <p:txEl>
                                              <p:pRg st="148" end="16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232">
                                            <p:txEl>
                                              <p:pRg st="163" end="187"/>
                                            </p:txEl>
                                          </p:spTgt>
                                        </p:tgtEl>
                                        <p:attrNameLst>
                                          <p:attrName>style.visibility</p:attrName>
                                        </p:attrNameLst>
                                      </p:cBhvr>
                                      <p:to>
                                        <p:strVal val="visible"/>
                                      </p:to>
                                    </p:set>
                                    <p:animEffect transition="in" filter="dissolve">
                                      <p:cBhvr>
                                        <p:cTn id="29" dur="500"/>
                                        <p:tgtEl>
                                          <p:spTgt spid="232">
                                            <p:txEl>
                                              <p:pRg st="163" end="18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232">
                                            <p:txEl>
                                              <p:pRg st="187" end="207"/>
                                            </p:txEl>
                                          </p:spTgt>
                                        </p:tgtEl>
                                        <p:attrNameLst>
                                          <p:attrName>style.visibility</p:attrName>
                                        </p:attrNameLst>
                                      </p:cBhvr>
                                      <p:to>
                                        <p:strVal val="visible"/>
                                      </p:to>
                                    </p:set>
                                    <p:animEffect transition="in" filter="dissolve">
                                      <p:cBhvr>
                                        <p:cTn id="34" dur="500"/>
                                        <p:tgtEl>
                                          <p:spTgt spid="232">
                                            <p:txEl>
                                              <p:pRg st="187" end="207"/>
                                            </p:txEl>
                                          </p:spTgt>
                                        </p:tgtEl>
                                      </p:cBhvr>
                                    </p:animEffect>
                                  </p:childTnLst>
                                </p:cTn>
                              </p:par>
                            </p:childTnLst>
                          </p:cTn>
                        </p:par>
                      </p:childTnLst>
                    </p:cTn>
                  </p:par>
                </p:childTnLst>
              </p:cTn>
              <p:prevCondLst>
                <p:cond evt="onPrev" delay="0">
                  <p:tgtEl>
                    <p:sldTgt/>
                  </p:tgtEl>
                </p:cond>
                <p:cond evt="onPrev" delay="0"/>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233" name=""/>
        <p:cNvGrpSpPr/>
        <p:nvPr/>
      </p:nvGrpSpPr>
      <p:grpSpPr>
        <a:xfrm>
          <a:off x="0" y="0"/>
          <a:ext cx="0" cy="0"/>
          <a:chOff x="0" y="0"/>
          <a:chExt cx="0" cy="0"/>
        </a:xfrm>
      </p:grpSpPr>
      <p:sp>
        <p:nvSpPr>
          <p:cNvPr id="234" name="Rectangle 2"/>
          <p:cNvSpPr>
            <a:spLocks noGrp="1" noChangeShapeType="1"/>
          </p:cNvSpPr>
          <p:nvPr>
            <p:ph type="title"/>
          </p:nvPr>
        </p:nvSpPr>
        <p:spPr>
          <a:xfrm>
            <a:off x="539750" y="404812"/>
            <a:ext cx="7772400" cy="762000"/>
          </a:xfrm>
          <a:prstGeom prst="rect">
            <a:avLst/>
          </a:prstGeom>
        </p:spPr>
        <p:txBody>
          <a:bodyPr lIns="91440" tIns="45720" rIns="91440" bIns="45720" anchor="ctr" anchorCtr="0"/>
          <a:lstStyle>
            <a:lvl1pPr marL="0" indent="0" algn="l" defTabSz="914400" rtl="0" fontAlgn="base">
              <a:lnSpc>
                <a:spcPct val="100000"/>
              </a:lnSpc>
              <a:spcBef>
                <a:spcPts val="0"/>
              </a:spcBef>
              <a:spcAft>
                <a:spcPts val="0"/>
              </a:spcAft>
              <a:buNone/>
              <a:defRPr sz="4400" b="0" i="0">
                <a:solidFill>
                  <a:schemeClr val="dk1"/>
                </a:solidFill>
                <a:latin typeface="Arial"/>
                <a:ea typeface="宋体"/>
              </a:defRPr>
            </a:lvl1pPr>
            <a:lvl2pPr marL="0" indent="0" algn="l" defTabSz="914400" rtl="0" fontAlgn="base">
              <a:lnSpc>
                <a:spcPct val="100000"/>
              </a:lnSpc>
              <a:spcBef>
                <a:spcPts val="0"/>
              </a:spcBef>
              <a:spcAft>
                <a:spcPts val="0"/>
              </a:spcAft>
              <a:buNone/>
              <a:defRPr sz="4400" b="0" i="0">
                <a:solidFill>
                  <a:schemeClr val="dk1"/>
                </a:solidFill>
                <a:latin typeface="Arial"/>
                <a:ea typeface="宋体"/>
              </a:defRPr>
            </a:lvl2pPr>
            <a:lvl3pPr marL="0" indent="0" algn="l" defTabSz="914400" rtl="0" fontAlgn="base">
              <a:lnSpc>
                <a:spcPct val="100000"/>
              </a:lnSpc>
              <a:spcBef>
                <a:spcPts val="0"/>
              </a:spcBef>
              <a:spcAft>
                <a:spcPts val="0"/>
              </a:spcAft>
              <a:buNone/>
              <a:defRPr sz="4400" b="0" i="0">
                <a:solidFill>
                  <a:schemeClr val="dk1"/>
                </a:solidFill>
                <a:latin typeface="Arial"/>
                <a:ea typeface="宋体"/>
              </a:defRPr>
            </a:lvl3pPr>
            <a:lvl4pPr marL="0" indent="0" algn="l" defTabSz="914400" rtl="0" fontAlgn="base">
              <a:lnSpc>
                <a:spcPct val="100000"/>
              </a:lnSpc>
              <a:spcBef>
                <a:spcPts val="0"/>
              </a:spcBef>
              <a:spcAft>
                <a:spcPts val="0"/>
              </a:spcAft>
              <a:buNone/>
              <a:defRPr sz="4400" b="0" i="0">
                <a:solidFill>
                  <a:schemeClr val="dk1"/>
                </a:solidFill>
                <a:latin typeface="Arial"/>
                <a:ea typeface="宋体"/>
              </a:defRPr>
            </a:lvl4pPr>
            <a:lvl5pPr marL="0" indent="0" algn="l" defTabSz="914400" rtl="0" fontAlgn="base">
              <a:lnSpc>
                <a:spcPct val="100000"/>
              </a:lnSpc>
              <a:spcBef>
                <a:spcPts val="0"/>
              </a:spcBef>
              <a:spcAft>
                <a:spcPts val="0"/>
              </a:spcAft>
              <a:buNone/>
              <a:defRPr sz="4400" b="0" i="0">
                <a:solidFill>
                  <a:schemeClr val="dk1"/>
                </a:solidFill>
                <a:latin typeface="Arial"/>
                <a:ea typeface="宋体"/>
              </a:defRPr>
            </a:lvl5pPr>
          </a:lstStyle>
          <a:p>
            <a:pPr marL="0" lvl="0" indent="0" hangingPunct="1">
              <a:spcBef>
                <a:spcPts val="0"/>
              </a:spcBef>
              <a:buNone/>
            </a:pPr>
            <a:r>
              <a:rPr lang="zh-CN" sz="3600" b="1" i="0" u="none">
                <a:ea typeface="黑体" pitchFamily="49" charset="-122"/>
              </a:rPr>
              <a:t>思考</a:t>
            </a:r>
            <a:r>
              <a:rPr lang="zh-CN" b="1" i="0" u="none"/>
              <a:t> </a:t>
            </a:r>
            <a:endParaRPr lang="zh-CN" b="1" i="0" u="none"/>
          </a:p>
        </p:txBody>
      </p:sp>
      <p:sp>
        <p:nvSpPr>
          <p:cNvPr id="235" name="Rectangle 3"/>
          <p:cNvSpPr>
            <a:spLocks noGrp="1" noChangeShapeType="1"/>
          </p:cNvSpPr>
          <p:nvPr>
            <p:ph type="body"/>
          </p:nvPr>
        </p:nvSpPr>
        <p:spPr>
          <a:xfrm>
            <a:off x="684212" y="1196975"/>
            <a:ext cx="8142287" cy="4032250"/>
          </a:xfrm>
          <a:prstGeom prst="rect">
            <a:avLst/>
          </a:prstGeom>
        </p:spPr>
        <p:txBody>
          <a:bodyPr lIns="91440" tIns="45720" rIns="91440" bIns="45720" anchor="t"/>
          <a:lstStyle>
            <a:lvl1pPr marL="342900" indent="0" algn="l" defTabSz="914400" rtl="0" fontAlgn="base">
              <a:lnSpc>
                <a:spcPct val="100000"/>
              </a:lnSpc>
              <a:spcBef>
                <a:spcPct val="20000"/>
              </a:spcBef>
              <a:spcAft>
                <a:spcPts val="0"/>
              </a:spcAft>
              <a:buClr>
                <a:srgbClr val="00007D"/>
              </a:buClr>
              <a:buSzPct val="75000"/>
              <a:buChar char="n"/>
              <a:defRPr sz="3200" b="0" i="0">
                <a:solidFill>
                  <a:schemeClr val="dk1"/>
                </a:solidFill>
                <a:latin typeface="Arial"/>
                <a:ea typeface="宋体"/>
              </a:defRPr>
            </a:lvl1pPr>
            <a:lvl2pPr marL="742950" indent="457200" algn="l" defTabSz="914400" rtl="0" fontAlgn="base">
              <a:lnSpc>
                <a:spcPct val="100000"/>
              </a:lnSpc>
              <a:spcBef>
                <a:spcPct val="20000"/>
              </a:spcBef>
              <a:spcAft>
                <a:spcPts val="0"/>
              </a:spcAft>
              <a:buClr>
                <a:srgbClr val="9999CC"/>
              </a:buClr>
              <a:buSzPct val="80000"/>
              <a:buChar char="¨"/>
              <a:defRPr sz="2800" b="0" i="0">
                <a:solidFill>
                  <a:schemeClr val="dk1"/>
                </a:solidFill>
                <a:latin typeface="Arial"/>
                <a:ea typeface="宋体"/>
              </a:defRPr>
            </a:lvl2pPr>
            <a:lvl3pPr marL="1143000" indent="914400" algn="l" defTabSz="914400" rtl="0" fontAlgn="base">
              <a:lnSpc>
                <a:spcPct val="100000"/>
              </a:lnSpc>
              <a:spcBef>
                <a:spcPct val="20000"/>
              </a:spcBef>
              <a:spcAft>
                <a:spcPts val="0"/>
              </a:spcAft>
              <a:buClr>
                <a:srgbClr val="00007D"/>
              </a:buClr>
              <a:buSzPct val="65000"/>
              <a:buChar char="n"/>
              <a:defRPr sz="2400" b="0" i="0">
                <a:solidFill>
                  <a:schemeClr val="dk1"/>
                </a:solidFill>
                <a:latin typeface="Arial"/>
                <a:ea typeface="宋体"/>
              </a:defRPr>
            </a:lvl3pPr>
            <a:lvl4pPr marL="1600200" indent="1371600" algn="l" defTabSz="914400" rtl="0" fontAlgn="base">
              <a:lnSpc>
                <a:spcPct val="100000"/>
              </a:lnSpc>
              <a:spcBef>
                <a:spcPct val="20000"/>
              </a:spcBef>
              <a:spcAft>
                <a:spcPts val="0"/>
              </a:spcAft>
              <a:buClr>
                <a:srgbClr val="9999CC"/>
              </a:buClr>
              <a:buSzPct val="70000"/>
              <a:buChar char="¨"/>
              <a:defRPr sz="2000" b="0" i="0">
                <a:solidFill>
                  <a:schemeClr val="dk1"/>
                </a:solidFill>
                <a:latin typeface="Arial"/>
                <a:ea typeface="宋体"/>
              </a:defRPr>
            </a:lvl4pPr>
            <a:lvl5pPr marL="2057400" indent="1828800" algn="l" defTabSz="914400" rtl="0" fontAlgn="base">
              <a:lnSpc>
                <a:spcPct val="100000"/>
              </a:lnSpc>
              <a:spcBef>
                <a:spcPct val="20000"/>
              </a:spcBef>
              <a:spcAft>
                <a:spcPts val="0"/>
              </a:spcAft>
              <a:buClr>
                <a:srgbClr val="00007D"/>
              </a:buClr>
              <a:buSzPct val="70000"/>
              <a:buChar char="§"/>
              <a:defRPr sz="2000" b="0" i="0">
                <a:solidFill>
                  <a:schemeClr val="dk1"/>
                </a:solidFill>
                <a:latin typeface="Arial"/>
                <a:ea typeface="宋体"/>
              </a:defRPr>
            </a:lvl5pPr>
          </a:lstStyle>
          <a:p>
            <a:pPr marL="342900" lvl="0" indent="-342900" hangingPunct="1">
              <a:lnSpc>
                <a:spcPct val="120000"/>
              </a:lnSpc>
              <a:spcBef>
                <a:spcPct val="20000"/>
              </a:spcBef>
              <a:buNone/>
            </a:pPr>
            <a:r>
              <a:rPr lang="en-US" sz="2800" b="1" i="0" u="none">
                <a:latin typeface="楷体_GB2312" pitchFamily="49" charset="-122"/>
                <a:ea typeface="楷体_GB2312" pitchFamily="49" charset="-122"/>
              </a:rPr>
              <a:t>1.ΔG、 ΔG</a:t>
            </a:r>
            <a:r>
              <a:rPr lang="en-US" sz="2800" b="1" i="0" u="none" baseline="30000">
                <a:latin typeface="楷体_GB2312" pitchFamily="49" charset="-122"/>
                <a:ea typeface="楷体_GB2312" pitchFamily="49" charset="-122"/>
              </a:rPr>
              <a:t>0</a:t>
            </a:r>
            <a:r>
              <a:rPr lang="en-US" sz="2800" b="1" i="0" u="none">
                <a:latin typeface="楷体_GB2312" pitchFamily="49" charset="-122"/>
                <a:ea typeface="楷体_GB2312" pitchFamily="49" charset="-122"/>
              </a:rPr>
              <a:t> 、ΔG</a:t>
            </a:r>
            <a:r>
              <a:rPr lang="en-US" sz="2800" b="1" i="0" u="none" baseline="30000">
                <a:latin typeface="楷体_GB2312" pitchFamily="49" charset="-122"/>
                <a:ea typeface="楷体_GB2312" pitchFamily="49" charset="-122"/>
              </a:rPr>
              <a:t>0</a:t>
            </a:r>
            <a:r>
              <a:rPr lang="en-US" sz="2800" b="1" i="0" u="none">
                <a:ea typeface="楷体_GB2312" pitchFamily="49" charset="-122"/>
              </a:rPr>
              <a:t>’</a:t>
            </a:r>
            <a:r>
              <a:rPr lang="en-US" sz="2800" b="1" i="0" u="none">
                <a:latin typeface="楷体_GB2312" pitchFamily="49" charset="-122"/>
                <a:ea typeface="楷体_GB2312" pitchFamily="49" charset="-122"/>
              </a:rPr>
              <a:t>、 ΔG</a:t>
            </a:r>
            <a:r>
              <a:rPr lang="en-US" sz="2800" b="1" i="0" u="none" baseline="30000">
                <a:latin typeface="楷体_GB2312" pitchFamily="49" charset="-122"/>
                <a:ea typeface="楷体_GB2312" pitchFamily="49" charset="-122"/>
              </a:rPr>
              <a:t>0</a:t>
            </a:r>
            <a:r>
              <a:rPr lang="en-US" sz="2800" b="1" i="0" u="none" baseline="-25000">
                <a:latin typeface="楷体_GB2312" pitchFamily="49" charset="-122"/>
                <a:ea typeface="楷体_GB2312" pitchFamily="49" charset="-122"/>
              </a:rPr>
              <a:t>f</a:t>
            </a:r>
            <a:r>
              <a:rPr lang="zh-CN" sz="2800" b="1" i="0" u="none">
                <a:latin typeface="楷体_GB2312" pitchFamily="49" charset="-122"/>
                <a:ea typeface="楷体_GB2312" pitchFamily="49" charset="-122"/>
              </a:rPr>
              <a:t>的概念</a:t>
            </a:r>
            <a:endParaRPr lang="zh-CN" sz="2800" b="1" i="0" u="none">
              <a:latin typeface="楷体_GB2312" pitchFamily="49" charset="-122"/>
              <a:ea typeface="楷体_GB2312" pitchFamily="49" charset="-122"/>
            </a:endParaRPr>
          </a:p>
          <a:p>
            <a:pPr marL="342900" lvl="0" indent="-342900" hangingPunct="1">
              <a:lnSpc>
                <a:spcPct val="120000"/>
              </a:lnSpc>
              <a:spcBef>
                <a:spcPct val="20000"/>
              </a:spcBef>
              <a:buNone/>
            </a:pPr>
            <a:r>
              <a:rPr lang="zh-CN" sz="2800" b="1" i="0" u="none">
                <a:latin typeface="楷体_GB2312" pitchFamily="49" charset="-122"/>
                <a:ea typeface="楷体_GB2312" pitchFamily="49" charset="-122"/>
              </a:rPr>
              <a:t>2.ΔG、 ΔG</a:t>
            </a:r>
            <a:r>
              <a:rPr lang="en-US" sz="2800" b="1" i="0" u="none" baseline="30000">
                <a:latin typeface="楷体_GB2312" pitchFamily="49" charset="-122"/>
                <a:ea typeface="楷体_GB2312" pitchFamily="49" charset="-122"/>
              </a:rPr>
              <a:t>0</a:t>
            </a:r>
            <a:r>
              <a:rPr lang="zh-CN" sz="2800" b="1" i="0" u="none">
                <a:latin typeface="楷体_GB2312" pitchFamily="49" charset="-122"/>
                <a:ea typeface="楷体_GB2312" pitchFamily="49" charset="-122"/>
              </a:rPr>
              <a:t>之间的关系，ΔG</a:t>
            </a:r>
            <a:r>
              <a:rPr lang="en-US" sz="2800" b="1" i="0" u="none" baseline="30000">
                <a:latin typeface="楷体_GB2312" pitchFamily="49" charset="-122"/>
                <a:ea typeface="楷体_GB2312" pitchFamily="49" charset="-122"/>
              </a:rPr>
              <a:t>0</a:t>
            </a:r>
            <a:r>
              <a:rPr lang="en-US" sz="2800" b="1" i="0" u="none">
                <a:latin typeface="楷体_GB2312" pitchFamily="49" charset="-122"/>
                <a:ea typeface="楷体_GB2312" pitchFamily="49" charset="-122"/>
              </a:rPr>
              <a:t> 、ΔG</a:t>
            </a:r>
            <a:r>
              <a:rPr lang="en-US" sz="2800" b="1" i="0" u="none" baseline="30000">
                <a:latin typeface="楷体_GB2312" pitchFamily="49" charset="-122"/>
                <a:ea typeface="楷体_GB2312" pitchFamily="49" charset="-122"/>
              </a:rPr>
              <a:t>0</a:t>
            </a:r>
            <a:r>
              <a:rPr lang="en-US" sz="2800" b="1" i="0" u="none">
                <a:ea typeface="楷体_GB2312" pitchFamily="49" charset="-122"/>
              </a:rPr>
              <a:t>’</a:t>
            </a:r>
            <a:r>
              <a:rPr lang="zh-CN" sz="2800" b="1" i="0" u="none">
                <a:latin typeface="楷体_GB2312" pitchFamily="49" charset="-122"/>
                <a:ea typeface="楷体_GB2312" pitchFamily="49" charset="-122"/>
              </a:rPr>
              <a:t>之间的关系，ΔG</a:t>
            </a:r>
            <a:r>
              <a:rPr lang="en-US" sz="2800" b="1" i="0" u="none" baseline="30000">
                <a:latin typeface="楷体_GB2312" pitchFamily="49" charset="-122"/>
                <a:ea typeface="楷体_GB2312" pitchFamily="49" charset="-122"/>
              </a:rPr>
              <a:t>0</a:t>
            </a:r>
            <a:r>
              <a:rPr lang="en-US" sz="2800" b="1" i="0" u="none">
                <a:latin typeface="楷体_GB2312" pitchFamily="49" charset="-122"/>
                <a:ea typeface="楷体_GB2312" pitchFamily="49" charset="-122"/>
              </a:rPr>
              <a:t> 、ΔG</a:t>
            </a:r>
            <a:r>
              <a:rPr lang="en-US" sz="2800" b="1" i="0" u="none" baseline="30000">
                <a:latin typeface="楷体_GB2312" pitchFamily="49" charset="-122"/>
                <a:ea typeface="楷体_GB2312" pitchFamily="49" charset="-122"/>
              </a:rPr>
              <a:t>0</a:t>
            </a:r>
            <a:r>
              <a:rPr lang="en-US" sz="2800" b="1" i="0" u="none" baseline="-25000">
                <a:latin typeface="楷体_GB2312" pitchFamily="49" charset="-122"/>
                <a:ea typeface="楷体_GB2312" pitchFamily="49" charset="-122"/>
              </a:rPr>
              <a:t>f</a:t>
            </a:r>
            <a:r>
              <a:rPr lang="zh-CN" sz="2800" b="1" i="0" u="none">
                <a:latin typeface="楷体_GB2312" pitchFamily="49" charset="-122"/>
                <a:ea typeface="楷体_GB2312" pitchFamily="49" charset="-122"/>
              </a:rPr>
              <a:t>之间的关系，ΔG</a:t>
            </a:r>
            <a:r>
              <a:rPr lang="en-US" sz="2800" b="1" i="0" u="none" baseline="30000">
                <a:latin typeface="楷体_GB2312" pitchFamily="49" charset="-122"/>
                <a:ea typeface="楷体_GB2312" pitchFamily="49" charset="-122"/>
              </a:rPr>
              <a:t>0</a:t>
            </a:r>
            <a:r>
              <a:rPr lang="en-US" sz="2800" b="1" i="0" u="none">
                <a:ea typeface="楷体_GB2312" pitchFamily="49" charset="-122"/>
              </a:rPr>
              <a:t>’</a:t>
            </a:r>
            <a:r>
              <a:rPr lang="zh-CN" sz="2800" b="1" i="0" u="none">
                <a:latin typeface="楷体_GB2312" pitchFamily="49" charset="-122"/>
                <a:ea typeface="楷体_GB2312" pitchFamily="49" charset="-122"/>
              </a:rPr>
              <a:t>与K</a:t>
            </a:r>
            <a:r>
              <a:rPr lang="en-US" sz="2800" b="1" i="0" u="none">
                <a:ea typeface="楷体_GB2312" pitchFamily="49" charset="-122"/>
              </a:rPr>
              <a:t>’</a:t>
            </a:r>
            <a:r>
              <a:rPr lang="zh-CN" sz="2800" b="1" i="0" u="none">
                <a:latin typeface="楷体_GB2312" pitchFamily="49" charset="-122"/>
                <a:ea typeface="楷体_GB2312" pitchFamily="49" charset="-122"/>
              </a:rPr>
              <a:t>eq之间的关系。</a:t>
            </a:r>
            <a:endParaRPr lang="zh-CN" sz="2800" b="1" i="0" u="none">
              <a:latin typeface="楷体_GB2312" pitchFamily="49" charset="-122"/>
              <a:ea typeface="楷体_GB2312" pitchFamily="49" charset="-122"/>
            </a:endParaRPr>
          </a:p>
          <a:p>
            <a:pPr marL="342900" lvl="0" indent="-342900" hangingPunct="1">
              <a:lnSpc>
                <a:spcPct val="120000"/>
              </a:lnSpc>
              <a:spcBef>
                <a:spcPct val="20000"/>
              </a:spcBef>
              <a:buNone/>
            </a:pPr>
            <a:r>
              <a:rPr lang="zh-CN" sz="2800" b="1" i="0" u="none">
                <a:latin typeface="楷体_GB2312" pitchFamily="49" charset="-122"/>
                <a:ea typeface="楷体_GB2312" pitchFamily="49" charset="-122"/>
              </a:rPr>
              <a:t>3.利用ΔG如何判定化学反应的进程？</a:t>
            </a:r>
            <a:endParaRPr lang="zh-CN" sz="2800" b="1" i="0" u="none">
              <a:latin typeface="楷体_GB2312" pitchFamily="49" charset="-122"/>
              <a:ea typeface="楷体_GB2312" pitchFamily="49" charset="-122"/>
            </a:endParaRPr>
          </a:p>
          <a:p>
            <a:pPr marL="342900" lvl="0" indent="-342900" hangingPunct="1">
              <a:lnSpc>
                <a:spcPct val="120000"/>
              </a:lnSpc>
              <a:spcBef>
                <a:spcPct val="20000"/>
              </a:spcBef>
              <a:buNone/>
            </a:pPr>
            <a:r>
              <a:rPr lang="zh-CN" sz="2800" b="1" i="0" u="none">
                <a:latin typeface="楷体_GB2312" pitchFamily="49" charset="-122"/>
                <a:ea typeface="楷体_GB2312" pitchFamily="49" charset="-122"/>
              </a:rPr>
              <a:t>4.高能磷酸化合物的类型，磷酸原概念。</a:t>
            </a:r>
            <a:endParaRPr lang="zh-CN" sz="2800" b="1" i="0" u="none">
              <a:latin typeface="楷体_GB2312" pitchFamily="49" charset="-122"/>
              <a:ea typeface="楷体_GB2312" pitchFamily="49" charset="-122"/>
            </a:endParaRPr>
          </a:p>
          <a:p>
            <a:pPr marL="342900" lvl="0" indent="-342900" hangingPunct="1">
              <a:lnSpc>
                <a:spcPct val="120000"/>
              </a:lnSpc>
              <a:spcBef>
                <a:spcPct val="20000"/>
              </a:spcBef>
              <a:buNone/>
            </a:pPr>
            <a:r>
              <a:rPr lang="zh-CN" sz="2800" b="1" i="0" u="none">
                <a:latin typeface="楷体_GB2312" pitchFamily="49" charset="-122"/>
                <a:ea typeface="楷体_GB2312" pitchFamily="49" charset="-122"/>
              </a:rPr>
              <a:t>5.能荷的生物学意义</a:t>
            </a:r>
            <a:endParaRPr lang="zh-CN" sz="2800" b="1" i="0" u="none">
              <a:latin typeface="楷体_GB2312" pitchFamily="49" charset="-122"/>
              <a:ea typeface="楷体_GB2312" pitchFamily="49" charset="-122"/>
            </a:endParaRPr>
          </a:p>
        </p:txBody>
      </p:sp>
    </p:spTree>
  </p:cSld>
  <p:clrMapOvr>
    <a:masterClrMapping/>
  </p:clrMapOvr>
  <p:transition/>
</p:sld>
</file>

<file path=ppt/theme/theme1.xml><?xml version="1.0" encoding="utf-8"?>
<a:theme xmlns:a="http://schemas.openxmlformats.org/drawingml/2006/main" name="Pixel">
  <a:themeElements>
    <a:clrScheme name="Default">
      <a:dk1>
        <a:srgbClr val="000000"/>
      </a:dk1>
      <a:lt1>
        <a:srgbClr val="FFFFFF"/>
      </a:lt1>
      <a:dk2>
        <a:srgbClr val="000000"/>
      </a:dk2>
      <a:lt2>
        <a:srgbClr val="00007D"/>
      </a:lt2>
      <a:accent1>
        <a:srgbClr val="9999FF"/>
      </a:accent1>
      <a:accent2>
        <a:srgbClr val="9999CC"/>
      </a:accent2>
      <a:accent3>
        <a:srgbClr val="AAAAAA"/>
      </a:accent3>
      <a:accent4>
        <a:srgbClr val="DCDCDC"/>
      </a:accent4>
      <a:accent5>
        <a:srgbClr val="DBF1FA"/>
      </a:accent5>
      <a:accent6>
        <a:srgbClr val="4B9DCA"/>
      </a:accent6>
      <a:hlink>
        <a:srgbClr val="666699"/>
      </a:hlink>
      <a:folHlink>
        <a:srgbClr val="CCCCE6"/>
      </a:folHlink>
    </a:clrScheme>
    <a:fontScheme name="default">
      <a:majorFont>
        <a:latin typeface="Arial"/>
        <a:ea typeface=""/>
        <a:cs typeface=""/>
      </a:majorFont>
      <a:minorFont>
        <a:latin typeface="宋体"/>
        <a:ea typeface=""/>
        <a:cs typefac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a:themeElements>
    <a:clrScheme name="Default">
      <a:dk1>
        <a:srgbClr val="000000"/>
      </a:dk1>
      <a:lt1>
        <a:srgbClr val="FFFFFF"/>
      </a:lt1>
      <a:dk2>
        <a:srgbClr val="000000"/>
      </a:dk2>
      <a:lt2>
        <a:srgbClr val="808080"/>
      </a:lt2>
      <a:accent1>
        <a:srgbClr val="BBE0E3"/>
      </a:accent1>
      <a:accent2>
        <a:srgbClr val="333399"/>
      </a:accent2>
      <a:accent3>
        <a:srgbClr val="AAAAAA"/>
      </a:accent3>
      <a:accent4>
        <a:srgbClr val="DCDCDC"/>
      </a:accent4>
      <a:accent5>
        <a:srgbClr val="DBF1FA"/>
      </a:accent5>
      <a:accent6>
        <a:srgbClr val="4B9DCA"/>
      </a:accent6>
      <a:hlink>
        <a:srgbClr val="009999"/>
      </a:hlink>
      <a:folHlink>
        <a:srgbClr val="99CC00"/>
      </a:folHlink>
    </a:clrScheme>
    <a:fontScheme name="default">
      <a:majorFont>
        <a:latin typeface="Arial"/>
        <a:ea typeface=""/>
        <a:cs typeface=""/>
      </a:majorFont>
      <a:minorFont>
        <a:latin typeface="宋体"/>
        <a:ea typeface=""/>
        <a:cs typeface=""/>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8797</Words>
  <Application>WPS 演示</Application>
  <PresentationFormat/>
  <Paragraphs>533</Paragraphs>
  <Slides>48</Slides>
  <Notes>0</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48</vt:i4>
      </vt:variant>
    </vt:vector>
  </HeadingPairs>
  <TitlesOfParts>
    <vt:vector size="71" baseType="lpstr">
      <vt:lpstr>Arial</vt:lpstr>
      <vt:lpstr>宋体</vt:lpstr>
      <vt:lpstr>Wingdings</vt:lpstr>
      <vt:lpstr>Arial</vt:lpstr>
      <vt:lpstr>Times New Roman</vt:lpstr>
      <vt:lpstr>宋体</vt:lpstr>
      <vt:lpstr>书宋-简</vt:lpstr>
      <vt:lpstr>Arial Black</vt:lpstr>
      <vt:lpstr>FTToken</vt:lpstr>
      <vt:lpstr>Times New Roman</vt:lpstr>
      <vt:lpstr>黑体</vt:lpstr>
      <vt:lpstr>黑体-简</vt:lpstr>
      <vt:lpstr>楷体_GB2312</vt:lpstr>
      <vt:lpstr>system-ui</vt:lpstr>
      <vt:lpstr>鸿蒙黑体</vt:lpstr>
      <vt:lpstr>微软雅黑</vt:lpstr>
      <vt:lpstr>方正雅意黑 GB18030L2 R</vt:lpstr>
      <vt:lpstr>宋体</vt:lpstr>
      <vt:lpstr>Arial Unicode MS</vt:lpstr>
      <vt:lpstr>楷体-简</vt:lpstr>
      <vt:lpstr>Symbol</vt:lpstr>
      <vt:lpstr>Kingsoft Sign</vt:lpstr>
      <vt:lpstr>Pixel</vt:lpstr>
      <vt:lpstr>PowerPoint 演示文稿</vt:lpstr>
      <vt:lpstr>PowerPoint 演示文稿</vt:lpstr>
      <vt:lpstr>1.  重要热力学概念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1.4  生物体系中化学能的转化</vt:lpstr>
      <vt:lpstr>1.5  自由能</vt:lpstr>
      <vt:lpstr>PowerPoint 演示文稿</vt:lpstr>
      <vt:lpstr>PowerPoint 演示文稿</vt:lpstr>
      <vt:lpstr>2.1 标准自由能变化与反应平衡常数</vt:lpstr>
      <vt:lpstr>PowerPoint 演示文稿</vt:lpstr>
      <vt:lpstr>PowerPoint 演示文稿</vt:lpstr>
      <vt:lpstr>PowerPoint 演示文稿</vt:lpstr>
      <vt:lpstr>2.2  标准自由能变化的可加性及其意义</vt:lpstr>
      <vt:lpstr>2.2  标准自由能变化的可加性及其意义</vt:lpstr>
      <vt:lpstr>PowerPoint 演示文稿</vt:lpstr>
      <vt:lpstr>2.3  标准生成自由能</vt:lpstr>
      <vt:lpstr>2.4 化学反应方向和自由能变化</vt:lpstr>
      <vt:lpstr>PowerPoint 演示文稿</vt:lpstr>
      <vt:lpstr>3  高能化合物 （补充）</vt:lpstr>
      <vt:lpstr>3.1  概念与类型（复习与扩充）</vt:lpstr>
      <vt:lpstr>PowerPoint 演示文稿</vt:lpstr>
      <vt:lpstr>3.2 ATP是细胞能量转运的中心</vt:lpstr>
      <vt:lpstr>3.2.2 细胞内影响ATP自由能释放的因素</vt:lpstr>
      <vt:lpstr>PowerPoint 演示文稿</vt:lpstr>
      <vt:lpstr>PowerPoint 演示文稿</vt:lpstr>
      <vt:lpstr>3.2.3  ATP在能量转运中的地位和作用</vt:lpstr>
      <vt:lpstr>3.2.4 磷酸原(Phosphagens)</vt:lpstr>
      <vt:lpstr>PowerPoint 演示文稿</vt:lpstr>
      <vt:lpstr>PowerPoint 演示文稿</vt:lpstr>
      <vt:lpstr>3.3  ATP以外的NTP</vt:lpstr>
      <vt:lpstr>3.4  细胞ATP系统的动态平衡</vt:lpstr>
      <vt:lpstr>思考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黎达宏</cp:lastModifiedBy>
  <cp:revision>1</cp:revision>
  <dcterms:created xsi:type="dcterms:W3CDTF">2026-04-03T02:26:05Z</dcterms:created>
  <dcterms:modified xsi:type="dcterms:W3CDTF">2026-04-03T02:26:05Z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919DF949919EACED3C25CF69169782F3_43</vt:lpwstr>
  </property>
  <property fmtid="{D5CDD505-2E9C-101B-9397-08002B2CF9AE}" pid="3" name="KSOProductBuildVer">
    <vt:lpwstr>2052-12.1.3.25858</vt:lpwstr>
  </property>
</Properties>
</file>