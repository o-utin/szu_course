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5"/>
  </p:notesMasterIdLst>
  <p:sldIdLst>
    <p:sldId id="282" r:id="rId2"/>
    <p:sldId id="295" r:id="rId3"/>
    <p:sldId id="369" r:id="rId4"/>
    <p:sldId id="37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55" r:id="rId13"/>
    <p:sldId id="313" r:id="rId14"/>
    <p:sldId id="356" r:id="rId15"/>
    <p:sldId id="358" r:id="rId16"/>
    <p:sldId id="368" r:id="rId17"/>
    <p:sldId id="360" r:id="rId18"/>
    <p:sldId id="316" r:id="rId19"/>
    <p:sldId id="317" r:id="rId20"/>
    <p:sldId id="361" r:id="rId21"/>
    <p:sldId id="323" r:id="rId22"/>
    <p:sldId id="324" r:id="rId23"/>
    <p:sldId id="325" r:id="rId24"/>
    <p:sldId id="332" r:id="rId25"/>
    <p:sldId id="333" r:id="rId26"/>
    <p:sldId id="337" r:id="rId27"/>
    <p:sldId id="338" r:id="rId28"/>
    <p:sldId id="365" r:id="rId29"/>
    <p:sldId id="341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63" r:id="rId43"/>
    <p:sldId id="366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14" autoAdjust="0"/>
  </p:normalViewPr>
  <p:slideViewPr>
    <p:cSldViewPr>
      <p:cViewPr varScale="1">
        <p:scale>
          <a:sx n="91" d="100"/>
          <a:sy n="91" d="100"/>
        </p:scale>
        <p:origin x="89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3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D47CCE-630D-46A9-B9D9-67473A752D9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E272B71-DAB2-4BF1-A560-04DB2EE67110}" type="slidenum">
              <a:rPr lang="zh-CN" altLang="en-US" sz="1200"/>
              <a:pPr eaLnBrk="1" hangingPunct="1"/>
              <a:t>3</a:t>
            </a:fld>
            <a:endParaRPr lang="en-US" altLang="zh-CN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mbo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92"/>
          <a:stretch>
            <a:fillRect/>
          </a:stretch>
        </p:blipFill>
        <p:spPr bwMode="ltGray">
          <a:xfrm>
            <a:off x="6292850" y="-1588"/>
            <a:ext cx="28575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1158875"/>
            <a:ext cx="6248400" cy="14319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429000"/>
            <a:ext cx="6019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257175" y="6248400"/>
            <a:ext cx="1622425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108200" y="6248400"/>
            <a:ext cx="299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4864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C793F1A1-8605-4BB0-859D-0526F12D2AB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514215"/>
      </p:ext>
    </p:extLst>
  </p:cSld>
  <p:clrMapOvr>
    <a:masterClrMapping/>
  </p:clrMapOvr>
  <p:transition spd="med"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B70DFE-9961-4499-B912-12FD153F94B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6826241"/>
      </p:ext>
    </p:extLst>
  </p:cSld>
  <p:clrMapOvr>
    <a:masterClrMapping/>
  </p:clrMapOvr>
  <p:transition spd="med"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F0B349-4115-4BC9-A22A-6AD60DB1F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2284206"/>
      </p:ext>
    </p:extLst>
  </p:cSld>
  <p:clrMapOvr>
    <a:masterClrMapping/>
  </p:clrMapOvr>
  <p:transition spd="med"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767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A7614-1739-44DF-A942-AD65A1325AC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322162"/>
      </p:ext>
    </p:extLst>
  </p:cSld>
  <p:clrMapOvr>
    <a:masterClrMapping/>
  </p:clrMapOvr>
  <p:transition spd="med"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79E60-44D0-43A4-89BB-C2B99579C93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0414686"/>
      </p:ext>
    </p:extLst>
  </p:cSld>
  <p:clrMapOvr>
    <a:masterClrMapping/>
  </p:clrMapOvr>
  <p:transition spd="med"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D5C39F-E890-4923-BE4C-5BC924CD96B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9748628"/>
      </p:ext>
    </p:extLst>
  </p:cSld>
  <p:clrMapOvr>
    <a:masterClrMapping/>
  </p:clrMapOvr>
  <p:transition spd="med"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9D485E-C0D4-481A-B596-C0764BC2AEE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6670036"/>
      </p:ext>
    </p:extLst>
  </p:cSld>
  <p:clrMapOvr>
    <a:masterClrMapping/>
  </p:clrMapOvr>
  <p:transition spd="med"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F7F1E-3936-484C-B081-20E8E631C3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714012"/>
      </p:ext>
    </p:extLst>
  </p:cSld>
  <p:clrMapOvr>
    <a:masterClrMapping/>
  </p:clrMapOvr>
  <p:transition spd="med"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24C40C-641D-462A-9B06-70119E9EEB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6098766"/>
      </p:ext>
    </p:extLst>
  </p:cSld>
  <p:clrMapOvr>
    <a:masterClrMapping/>
  </p:clrMapOvr>
  <p:transition spd="med"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983FF5-C511-49F8-94C5-B020E9F2C7A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357923"/>
      </p:ext>
    </p:extLst>
  </p:cSld>
  <p:clrMapOvr>
    <a:masterClrMapping/>
  </p:clrMapOvr>
  <p:transition spd="med"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6450" y="320675"/>
            <a:ext cx="1885950" cy="5775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320675"/>
            <a:ext cx="5505450" cy="5775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72418-6CB6-4F48-934D-06D56601A2A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038987"/>
      </p:ext>
    </p:extLst>
  </p:cSld>
  <p:clrMapOvr>
    <a:masterClrMapping/>
  </p:clrMapOvr>
  <p:transition spd="med"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mbo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76"/>
          <a:stretch>
            <a:fillRect/>
          </a:stretch>
        </p:blipFill>
        <p:spPr bwMode="ltGray">
          <a:xfrm>
            <a:off x="7353300" y="0"/>
            <a:ext cx="1790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20675"/>
            <a:ext cx="74676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981200"/>
            <a:ext cx="7543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84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8400" y="6248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B486D8F8-B3B8-48E1-9A2E-ACECE2C41F9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pull dir="r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23850" y="1782763"/>
            <a:ext cx="7416800" cy="295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4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蛋白质</a:t>
            </a:r>
            <a:r>
              <a:rPr lang="zh-CN" alt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合成及转运</a:t>
            </a:r>
            <a:endParaRPr lang="en-US" altLang="zh-CN" sz="4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endParaRPr lang="en-US" altLang="zh-CN" sz="4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r>
              <a:rPr lang="en-US" altLang="zh-CN" sz="4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Biosynthesis and transport of protein</a:t>
            </a: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/>
          <p:cNvSpPr txBox="1">
            <a:spLocks noChangeArrowheads="1"/>
          </p:cNvSpPr>
          <p:nvPr/>
        </p:nvSpPr>
        <p:spPr bwMode="auto">
          <a:xfrm>
            <a:off x="539750" y="1341438"/>
            <a:ext cx="73025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定义：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生物体合成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mRNA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后，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mRNA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中的遗传信息转变成为蛋白质中氨基酸排序的过程。</a:t>
            </a:r>
          </a:p>
          <a:p>
            <a:pPr eaLnBrk="1" hangingPunct="1"/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条件：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1)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模板：</a:t>
            </a:r>
            <a:r>
              <a:rPr lang="en-US" altLang="zh-CN" sz="28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mRNA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（每个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AA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由三个碱基确定）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2)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原料：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种氨基酸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3)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运载工具：</a:t>
            </a:r>
            <a:r>
              <a:rPr lang="en-US" altLang="zh-CN" sz="28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tRNA</a:t>
            </a:r>
            <a:endParaRPr lang="zh-CN" altLang="en-US" sz="28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4)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能量：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ATP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GTP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5)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催化剂：酶、蛋白因子、无机离子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(Mg</a:t>
            </a:r>
            <a:r>
              <a:rPr lang="en-US" altLang="zh-CN" sz="2800" baseline="3000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,K</a:t>
            </a:r>
            <a:r>
              <a:rPr lang="en-US" altLang="zh-CN" sz="2800" baseline="3000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6)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装配机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合成场所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：核糖体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rRNA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，蛋白质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203575" y="627063"/>
            <a:ext cx="1717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006600"/>
                </a:solidFill>
                <a:ea typeface="隶书" panose="02010509060101010101" pitchFamily="49" charset="-122"/>
              </a:rPr>
              <a:t>翻	译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6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6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6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5"/>
          <p:cNvSpPr txBox="1">
            <a:spLocks noChangeArrowheads="1"/>
          </p:cNvSpPr>
          <p:nvPr/>
        </p:nvSpPr>
        <p:spPr bwMode="auto">
          <a:xfrm>
            <a:off x="468313" y="620713"/>
            <a:ext cx="7199312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遗传密码</a:t>
            </a:r>
            <a:r>
              <a:rPr lang="en-US" altLang="zh-CN" sz="3200" b="1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mRNA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分子上从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sz="2800">
                <a:ea typeface="楷体_GB2312" pitchFamily="49" charset="-122"/>
              </a:rPr>
              <a:t>’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  <a:sym typeface="Wingdings" panose="05000000000000000000" pitchFamily="2" charset="2"/>
              </a:rPr>
              <a:t>-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800">
                <a:ea typeface="楷体_GB2312" pitchFamily="49" charset="-122"/>
              </a:rPr>
              <a:t>’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的方向，每三个碱基形成的三联体，组成一个遗传密码子（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codon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）。</a:t>
            </a:r>
          </a:p>
        </p:txBody>
      </p:sp>
      <p:sp>
        <p:nvSpPr>
          <p:cNvPr id="5123" name="Text Box 6"/>
          <p:cNvSpPr txBox="1">
            <a:spLocks noChangeArrowheads="1"/>
          </p:cNvSpPr>
          <p:nvPr/>
        </p:nvSpPr>
        <p:spPr bwMode="auto">
          <a:xfrm>
            <a:off x="468313" y="2562225"/>
            <a:ext cx="744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遗传密码的基本特点（</a:t>
            </a:r>
            <a:r>
              <a:rPr lang="en-US" altLang="zh-CN" sz="3200" b="1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sz="3200" b="1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个性）：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558800" y="3068638"/>
            <a:ext cx="6245225" cy="252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</a:t>
            </a:r>
            <a:r>
              <a:rPr lang="zh-CN" altLang="en-US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简并性</a:t>
            </a:r>
          </a:p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</a:t>
            </a:r>
            <a:r>
              <a:rPr lang="zh-CN" altLang="en-US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连续性</a:t>
            </a:r>
          </a:p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</a:t>
            </a:r>
            <a:r>
              <a:rPr lang="zh-CN" altLang="en-US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不重叠性</a:t>
            </a:r>
          </a:p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</a:t>
            </a:r>
            <a:r>
              <a:rPr lang="zh-CN" altLang="en-US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摆动性</a:t>
            </a:r>
            <a:r>
              <a:rPr lang="en-US" altLang="zh-CN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变偶性</a:t>
            </a:r>
            <a:r>
              <a:rPr lang="en-US" altLang="zh-CN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</a:t>
            </a:r>
            <a:r>
              <a:rPr lang="zh-CN" altLang="en-US" sz="3200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通用性</a:t>
            </a:r>
          </a:p>
        </p:txBody>
      </p:sp>
    </p:spTree>
  </p:cSld>
  <p:clrMapOvr>
    <a:masterClrMapping/>
  </p:clrMapOvr>
  <p:transition spd="med"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85800" y="2362200"/>
            <a:ext cx="7054850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/>
              <a:t>一个氨基酸具有多个密码子的现象称为密码子的简并性</a:t>
            </a:r>
            <a:r>
              <a:rPr lang="en-US" altLang="zh-CN" sz="3200"/>
              <a:t>(degeneracy)</a:t>
            </a:r>
            <a:r>
              <a:rPr lang="zh-CN" altLang="en-US" sz="3200"/>
              <a:t>。</a:t>
            </a:r>
          </a:p>
          <a:p>
            <a:pPr eaLnBrk="1" hangingPunct="1"/>
            <a:endParaRPr lang="zh-CN" altLang="en-US" sz="3200"/>
          </a:p>
          <a:p>
            <a:pPr eaLnBrk="1" hangingPunct="1"/>
            <a:r>
              <a:rPr lang="zh-CN" altLang="en-US" sz="3200"/>
              <a:t>这些编码同一种氨基酸的多个密码子称为同义密码子</a:t>
            </a:r>
            <a:r>
              <a:rPr lang="en-US" altLang="zh-CN" sz="3200"/>
              <a:t>(synonymous codon)</a:t>
            </a:r>
            <a:r>
              <a:rPr lang="zh-CN" altLang="en-US" sz="3200"/>
              <a:t>。</a:t>
            </a:r>
            <a:r>
              <a:rPr lang="zh-CN" altLang="en-US" sz="3200" i="1"/>
              <a:t> 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122488" y="1150938"/>
            <a:ext cx="3733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、密码子的简并性</a:t>
            </a:r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066800" y="2349500"/>
            <a:ext cx="64579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/>
              <a:t>要正确阅读密码必须按一定的密码框架（</a:t>
            </a:r>
            <a:r>
              <a:rPr lang="en-US" altLang="zh-CN" sz="3200"/>
              <a:t>reading frame</a:t>
            </a:r>
            <a:r>
              <a:rPr lang="zh-CN" altLang="en-US" sz="3200"/>
              <a:t>）从一个正确的起点开始，一个不漏地挨着读下去，直到碰到终止信号为止。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122488" y="1150938"/>
            <a:ext cx="396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、密码子的连续性</a:t>
            </a:r>
          </a:p>
        </p:txBody>
      </p:sp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2122488" y="1150938"/>
            <a:ext cx="4432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、密码子的不重叠性</a:t>
            </a:r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1066800" y="2349500"/>
            <a:ext cx="64579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/>
              <a:t>绝大多数生物中读码规则是不重叠的。少数大肠杆菌噬菌体的</a:t>
            </a:r>
            <a:r>
              <a:rPr lang="en-US" altLang="zh-CN" sz="3200"/>
              <a:t>RNA</a:t>
            </a:r>
            <a:r>
              <a:rPr lang="zh-CN" altLang="en-US" sz="3200"/>
              <a:t>基因组中，部分基因的遗传密码却是重叠的。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065213" y="2349500"/>
            <a:ext cx="6746875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/>
              <a:t>密码子的第一、第二位专一性很强，第三位专一性就弱。</a:t>
            </a:r>
          </a:p>
          <a:p>
            <a:pPr eaLnBrk="1" hangingPunct="1"/>
            <a:endParaRPr lang="zh-CN" altLang="en-US" sz="3200"/>
          </a:p>
          <a:p>
            <a:pPr eaLnBrk="1" hangingPunct="1"/>
            <a:r>
              <a:rPr lang="zh-CN" altLang="en-US" sz="3200"/>
              <a:t>已证明，密码子的专一性主要由头两位碱基决定，</a:t>
            </a:r>
            <a:r>
              <a:rPr lang="en-US" altLang="zh-CN" sz="3200"/>
              <a:t>Crick</a:t>
            </a:r>
            <a:r>
              <a:rPr lang="zh-CN" altLang="en-US" sz="3200"/>
              <a:t>对第三位碱基的这一特性给于一个专门的术语，称“摆动性”</a:t>
            </a:r>
            <a:r>
              <a:rPr lang="en-US" altLang="zh-CN" sz="3200"/>
              <a:t>wobble.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122488" y="1150938"/>
            <a:ext cx="51863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、密码子的摆动性</a:t>
            </a: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变偶性</a:t>
            </a: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533400" y="715963"/>
            <a:ext cx="67278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>
                <a:ea typeface="黑体" panose="02010609060101010101" pitchFamily="49" charset="-122"/>
              </a:rPr>
              <a:t>1966</a:t>
            </a:r>
            <a:r>
              <a:rPr lang="zh-CN" altLang="en-US" sz="2200" b="1">
                <a:ea typeface="黑体" panose="02010609060101010101" pitchFamily="49" charset="-122"/>
              </a:rPr>
              <a:t>年</a:t>
            </a:r>
            <a:r>
              <a:rPr lang="en-US" altLang="zh-CN" sz="2200" b="1">
                <a:ea typeface="黑体" panose="02010609060101010101" pitchFamily="49" charset="-122"/>
              </a:rPr>
              <a:t>F.Crick</a:t>
            </a:r>
            <a:r>
              <a:rPr lang="zh-CN" altLang="en-US" sz="2200" b="1">
                <a:ea typeface="黑体" panose="02010609060101010101" pitchFamily="49" charset="-122"/>
              </a:rPr>
              <a:t>提出的摆动假说（</a:t>
            </a:r>
            <a:r>
              <a:rPr lang="en-US" altLang="zh-CN" sz="2200" b="1">
                <a:ea typeface="黑体" panose="02010609060101010101" pitchFamily="49" charset="-122"/>
              </a:rPr>
              <a:t>wobble hypothesis</a:t>
            </a:r>
            <a:r>
              <a:rPr lang="zh-CN" altLang="en-US" sz="2200" b="1">
                <a:ea typeface="黑体" panose="02010609060101010101" pitchFamily="49" charset="-122"/>
              </a:rPr>
              <a:t>）</a:t>
            </a:r>
            <a:r>
              <a:rPr lang="zh-CN" altLang="en-US" sz="2200"/>
              <a:t> 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9138"/>
            <a:ext cx="5422900" cy="152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650" y="1066800"/>
            <a:ext cx="4056063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4292600"/>
            <a:ext cx="4267200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2411413" y="2819400"/>
            <a:ext cx="152400" cy="457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3786188" y="2819400"/>
            <a:ext cx="152400" cy="457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162550" y="2827338"/>
            <a:ext cx="152400" cy="457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6977063" y="4343400"/>
            <a:ext cx="179387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765175"/>
            <a:ext cx="8229600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065213" y="5435600"/>
            <a:ext cx="6746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CC"/>
                </a:solidFill>
              </a:rPr>
              <a:t>由于摆动性存在，细胞内只需</a:t>
            </a:r>
            <a:r>
              <a:rPr lang="en-US" altLang="zh-CN" sz="2800" b="1">
                <a:solidFill>
                  <a:srgbClr val="0033CC"/>
                </a:solidFill>
              </a:rPr>
              <a:t>32</a:t>
            </a:r>
            <a:r>
              <a:rPr lang="zh-CN" altLang="en-US" sz="2800" b="1">
                <a:solidFill>
                  <a:srgbClr val="0033CC"/>
                </a:solidFill>
              </a:rPr>
              <a:t>种</a:t>
            </a:r>
            <a:r>
              <a:rPr lang="en-US" altLang="zh-CN" sz="2800" b="1">
                <a:solidFill>
                  <a:srgbClr val="0033CC"/>
                </a:solidFill>
              </a:rPr>
              <a:t>tRNA</a:t>
            </a:r>
            <a:r>
              <a:rPr lang="zh-CN" altLang="en-US" sz="2800" b="1">
                <a:solidFill>
                  <a:srgbClr val="0033CC"/>
                </a:solidFill>
              </a:rPr>
              <a:t>即可识别</a:t>
            </a:r>
            <a:r>
              <a:rPr lang="en-US" altLang="zh-CN" sz="2800" b="1">
                <a:solidFill>
                  <a:srgbClr val="0033CC"/>
                </a:solidFill>
              </a:rPr>
              <a:t>61</a:t>
            </a:r>
            <a:r>
              <a:rPr lang="zh-CN" altLang="en-US" sz="2800" b="1">
                <a:solidFill>
                  <a:srgbClr val="0033CC"/>
                </a:solidFill>
              </a:rPr>
              <a:t>个编码氨基酸的密码子！</a:t>
            </a:r>
            <a:endParaRPr lang="en-US" altLang="zh-CN" sz="2800" b="1">
              <a:solidFill>
                <a:srgbClr val="0033CC"/>
              </a:solidFill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2122488" y="1150938"/>
            <a:ext cx="3733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、密码子的通用性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065213" y="2349500"/>
            <a:ext cx="6746875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/>
              <a:t>各种低等和高等生物基本上共用一套遗传密码。</a:t>
            </a:r>
            <a:endParaRPr lang="en-US" altLang="zh-CN" sz="3200"/>
          </a:p>
          <a:p>
            <a:pPr eaLnBrk="1" hangingPunct="1"/>
            <a:endParaRPr lang="zh-CN" altLang="en-US" sz="3200"/>
          </a:p>
          <a:p>
            <a:pPr eaLnBrk="1" hangingPunct="1"/>
            <a:r>
              <a:rPr lang="zh-CN" altLang="en-US" sz="3200"/>
              <a:t>线粒体有自身专用的一套遗传密码。</a:t>
            </a:r>
          </a:p>
          <a:p>
            <a:pPr eaLnBrk="1" hangingPunct="1"/>
            <a:endParaRPr lang="en-US" altLang="zh-CN" sz="3200"/>
          </a:p>
          <a:p>
            <a:pPr eaLnBrk="1" hangingPunct="1"/>
            <a:r>
              <a:rPr lang="zh-CN" altLang="en-US" sz="3200"/>
              <a:t>特殊情况下存在变异（</a:t>
            </a:r>
            <a:r>
              <a:rPr lang="en-US" altLang="zh-CN" sz="3200"/>
              <a:t>P514</a:t>
            </a:r>
            <a:r>
              <a:rPr lang="zh-CN" altLang="en-US" sz="3200"/>
              <a:t>）。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735013" y="228600"/>
            <a:ext cx="255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FF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>
                <a:solidFill>
                  <a:srgbClr val="FFFFFF"/>
                </a:solidFill>
                <a:ea typeface="黑体" panose="02010609060101010101" pitchFamily="49" charset="-122"/>
              </a:rPr>
              <a:t>．肽链的起始：</a:t>
            </a:r>
            <a:r>
              <a:rPr lang="zh-CN" altLang="en-US"/>
              <a:t> </a:t>
            </a:r>
          </a:p>
        </p:txBody>
      </p:sp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360363" y="1412875"/>
            <a:ext cx="7596187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一、</a:t>
            </a:r>
            <a:r>
              <a:rPr lang="en-US" altLang="zh-CN" sz="2800" b="1">
                <a:latin typeface="宋体" panose="02010600030101010101" pitchFamily="2" charset="-122"/>
              </a:rPr>
              <a:t>mRNA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zh-CN">
                <a:latin typeface="宋体" panose="02010600030101010101" pitchFamily="2" charset="-122"/>
              </a:rPr>
              <a:t>mRNA</a:t>
            </a:r>
            <a:r>
              <a:rPr lang="zh-CN" altLang="en-US">
                <a:latin typeface="宋体" panose="02010600030101010101" pitchFamily="2" charset="-122"/>
              </a:rPr>
              <a:t>中的起始密码是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AUG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少数是</a:t>
            </a:r>
            <a:r>
              <a:rPr lang="en-US" altLang="zh-CN">
                <a:latin typeface="宋体" panose="02010600030101010101" pitchFamily="2" charset="-122"/>
              </a:rPr>
              <a:t>GUG)</a:t>
            </a:r>
            <a:r>
              <a:rPr lang="zh-CN" altLang="en-US">
                <a:latin typeface="宋体" panose="02010600030101010101" pitchFamily="2" charset="-122"/>
              </a:rPr>
              <a:t>，原核生物</a:t>
            </a:r>
            <a:r>
              <a:rPr lang="en-US" altLang="zh-CN">
                <a:latin typeface="宋体" panose="02010600030101010101" pitchFamily="2" charset="-122"/>
              </a:rPr>
              <a:t>mRNA</a:t>
            </a:r>
            <a:r>
              <a:rPr lang="zh-CN" altLang="en-US">
                <a:latin typeface="宋体" panose="02010600030101010101" pitchFamily="2" charset="-122"/>
              </a:rPr>
              <a:t>上可有多个起始密码，终止密码是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UAA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UAG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UGA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原核生物</a:t>
            </a:r>
            <a:r>
              <a:rPr lang="zh-CN" altLang="en-US">
                <a:latin typeface="宋体" panose="02010600030101010101" pitchFamily="2" charset="-122"/>
              </a:rPr>
              <a:t>起始密码子上游约</a:t>
            </a:r>
            <a:r>
              <a:rPr lang="en-US" altLang="zh-CN">
                <a:latin typeface="宋体" panose="02010600030101010101" pitchFamily="2" charset="-122"/>
              </a:rPr>
              <a:t>10</a:t>
            </a:r>
            <a:r>
              <a:rPr lang="zh-CN" altLang="en-US">
                <a:latin typeface="宋体" panose="02010600030101010101" pitchFamily="2" charset="-122"/>
              </a:rPr>
              <a:t>个核苷酸的地方往往有一段富含嘌呤的序列称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SD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>
                <a:latin typeface="宋体" panose="02010600030101010101" pitchFamily="2" charset="-122"/>
              </a:rPr>
              <a:t>(Shine-Dalgarno</a:t>
            </a:r>
            <a:r>
              <a:rPr lang="zh-CN" altLang="en-US">
                <a:latin typeface="宋体" panose="02010600030101010101" pitchFamily="2" charset="-122"/>
              </a:rPr>
              <a:t>序列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>
                <a:latin typeface="宋体" panose="02010600030101010101" pitchFamily="2" charset="-122"/>
              </a:rPr>
              <a:t>，一般为</a:t>
            </a: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～</a:t>
            </a:r>
            <a:r>
              <a:rPr lang="en-US" altLang="zh-CN">
                <a:latin typeface="宋体" panose="02010600030101010101" pitchFamily="2" charset="-122"/>
              </a:rPr>
              <a:t>10</a:t>
            </a:r>
            <a:r>
              <a:rPr lang="zh-CN" altLang="en-US">
                <a:latin typeface="宋体" panose="02010600030101010101" pitchFamily="2" charset="-122"/>
              </a:rPr>
              <a:t>个核苷酸，它与核糖体</a:t>
            </a:r>
            <a:r>
              <a:rPr lang="en-US" altLang="zh-CN">
                <a:latin typeface="宋体" panose="02010600030101010101" pitchFamily="2" charset="-122"/>
              </a:rPr>
              <a:t>16SrRNA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宋体" panose="02010600030101010101" pitchFamily="2" charset="-122"/>
              </a:rPr>
              <a:t>3’</a:t>
            </a:r>
            <a:r>
              <a:rPr lang="zh-CN" altLang="en-US">
                <a:latin typeface="宋体" panose="02010600030101010101" pitchFamily="2" charset="-122"/>
              </a:rPr>
              <a:t>端核苷酸序列互补，可促使核糖体与</a:t>
            </a:r>
            <a:r>
              <a:rPr lang="en-US" altLang="zh-CN">
                <a:latin typeface="宋体" panose="02010600030101010101" pitchFamily="2" charset="-122"/>
              </a:rPr>
              <a:t>mRNA</a:t>
            </a:r>
            <a:r>
              <a:rPr lang="zh-CN" altLang="en-US">
                <a:latin typeface="宋体" panose="02010600030101010101" pitchFamily="2" charset="-122"/>
              </a:rPr>
              <a:t>的结合。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4340" name="Text Box 6"/>
          <p:cNvSpPr txBox="1">
            <a:spLocks noChangeArrowheads="1"/>
          </p:cNvSpPr>
          <p:nvPr/>
        </p:nvSpPr>
        <p:spPr bwMode="auto">
          <a:xfrm>
            <a:off x="2613025" y="808038"/>
            <a:ext cx="3240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6600"/>
                </a:solidFill>
                <a:ea typeface="隶书" panose="02010509060101010101" pitchFamily="49" charset="-122"/>
              </a:rPr>
              <a:t>第一节 分子基础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735013" y="228600"/>
            <a:ext cx="255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FF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>
                <a:solidFill>
                  <a:srgbClr val="FFFFFF"/>
                </a:solidFill>
                <a:ea typeface="黑体" panose="02010609060101010101" pitchFamily="49" charset="-122"/>
              </a:rPr>
              <a:t>．肽链的起始：</a:t>
            </a:r>
            <a:r>
              <a:rPr lang="zh-CN" altLang="en-US"/>
              <a:t> </a:t>
            </a:r>
          </a:p>
        </p:txBody>
      </p:sp>
      <p:pic>
        <p:nvPicPr>
          <p:cNvPr id="175108" name="Picture 4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409"/>
          <a:stretch>
            <a:fillRect/>
          </a:stretch>
        </p:blipFill>
        <p:spPr bwMode="auto">
          <a:xfrm>
            <a:off x="36513" y="1204913"/>
            <a:ext cx="8351837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109" name="Picture 5"/>
          <p:cNvPicPr>
            <a:picLocks noChangeAspect="1" noChangeArrowheads="1"/>
          </p:cNvPicPr>
          <p:nvPr/>
        </p:nvPicPr>
        <p:blipFill>
          <a:blip r:embed="rId3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/>
          <a:stretch>
            <a:fillRect/>
          </a:stretch>
        </p:blipFill>
        <p:spPr bwMode="auto">
          <a:xfrm>
            <a:off x="144463" y="3492500"/>
            <a:ext cx="8315325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735013" y="228600"/>
            <a:ext cx="255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FF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>
                <a:solidFill>
                  <a:srgbClr val="FFFFFF"/>
                </a:solidFill>
                <a:ea typeface="黑体" panose="02010609060101010101" pitchFamily="49" charset="-122"/>
              </a:rPr>
              <a:t>．肽链的起始：</a:t>
            </a:r>
            <a:r>
              <a:rPr lang="zh-CN" altLang="en-US"/>
              <a:t> </a:t>
            </a:r>
          </a:p>
        </p:txBody>
      </p:sp>
      <p:sp>
        <p:nvSpPr>
          <p:cNvPr id="220163" name="Text Box 3"/>
          <p:cNvSpPr txBox="1">
            <a:spLocks noChangeArrowheads="1"/>
          </p:cNvSpPr>
          <p:nvPr/>
        </p:nvSpPr>
        <p:spPr bwMode="auto">
          <a:xfrm>
            <a:off x="360363" y="692150"/>
            <a:ext cx="7380287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二、</a:t>
            </a:r>
            <a:r>
              <a:rPr lang="en-US" altLang="zh-CN" sz="2800" b="1">
                <a:latin typeface="宋体" panose="02010600030101010101" pitchFamily="2" charset="-122"/>
              </a:rPr>
              <a:t>tRNA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tRNA</a:t>
            </a:r>
            <a:r>
              <a:rPr lang="zh-CN" altLang="en-US"/>
              <a:t>是氨基酸的搬运工具。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tRNA</a:t>
            </a:r>
            <a:r>
              <a:rPr lang="zh-CN" altLang="en-US"/>
              <a:t>分子上与蛋白质生物合成有关的四个位点</a:t>
            </a:r>
            <a:r>
              <a:rPr lang="en-US" altLang="zh-CN">
                <a:latin typeface="宋体" panose="02010600030101010101" pitchFamily="2" charset="-122"/>
              </a:rPr>
              <a:t>: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/>
              <a:t>1) 3’</a:t>
            </a:r>
            <a:r>
              <a:rPr lang="zh-CN" altLang="en-US"/>
              <a:t>端</a:t>
            </a:r>
            <a:r>
              <a:rPr lang="en-US" altLang="zh-CN"/>
              <a:t>CCA</a:t>
            </a:r>
            <a:r>
              <a:rPr lang="zh-CN" altLang="en-US"/>
              <a:t>上的氨基酸接受位点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/>
              <a:t>2) </a:t>
            </a:r>
            <a:r>
              <a:rPr lang="zh-CN" altLang="en-US"/>
              <a:t>识别氨酰</a:t>
            </a:r>
            <a:r>
              <a:rPr lang="en-US" altLang="zh-CN"/>
              <a:t>-tRNA</a:t>
            </a:r>
            <a:r>
              <a:rPr lang="zh-CN" altLang="en-US"/>
              <a:t>合成酶的位点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/>
              <a:t>3) </a:t>
            </a:r>
            <a:r>
              <a:rPr lang="zh-CN" altLang="en-US"/>
              <a:t>核糖体识别位点，使延长中的肽链附着于核糖体上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/>
              <a:t>4) </a:t>
            </a:r>
            <a:r>
              <a:rPr lang="zh-CN" altLang="en-US"/>
              <a:t>反密码子位点，识别</a:t>
            </a:r>
            <a:r>
              <a:rPr lang="en-US" altLang="zh-CN"/>
              <a:t>mRNA</a:t>
            </a:r>
            <a:r>
              <a:rPr lang="zh-CN" altLang="en-US"/>
              <a:t>上的密码子</a:t>
            </a:r>
            <a:endParaRPr lang="zh-CN" altLang="en-US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04800"/>
            <a:ext cx="8515350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323850" y="981075"/>
            <a:ext cx="7416800" cy="417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6600"/>
                </a:solidFill>
              </a:rPr>
              <a:t>遗传信息、密码子、反密码子的区别与联系 </a:t>
            </a:r>
          </a:p>
          <a:p>
            <a:pPr eaLnBrk="1" hangingPunct="1"/>
            <a:r>
              <a:rPr lang="zh-CN" altLang="en-US" b="1">
                <a:solidFill>
                  <a:srgbClr val="006600"/>
                </a:solidFill>
              </a:rPr>
              <a:t>　　</a:t>
            </a:r>
          </a:p>
          <a:p>
            <a:pPr eaLnBrk="1" hangingPunct="1"/>
            <a:r>
              <a:rPr lang="zh-CN" altLang="en-US" b="1">
                <a:solidFill>
                  <a:srgbClr val="006600"/>
                </a:solidFill>
              </a:rPr>
              <a:t>遗传信息</a:t>
            </a:r>
            <a:r>
              <a:rPr lang="zh-CN" altLang="en-US"/>
              <a:t>是指</a:t>
            </a:r>
            <a:r>
              <a:rPr lang="en-US" altLang="zh-CN"/>
              <a:t>DNA</a:t>
            </a:r>
            <a:r>
              <a:rPr lang="zh-CN" altLang="en-US"/>
              <a:t>分子中基因上的脱氧核苷</a:t>
            </a:r>
            <a:r>
              <a:rPr lang="en-US" altLang="zh-CN"/>
              <a:t>(</a:t>
            </a:r>
            <a:r>
              <a:rPr lang="zh-CN" altLang="en-US"/>
              <a:t>碱基</a:t>
            </a:r>
            <a:r>
              <a:rPr lang="en-US" altLang="zh-CN"/>
              <a:t>)</a:t>
            </a:r>
            <a:r>
              <a:rPr lang="zh-CN" altLang="en-US"/>
              <a:t>排列顺序，</a:t>
            </a:r>
          </a:p>
          <a:p>
            <a:pPr eaLnBrk="1" hangingPunct="1"/>
            <a:r>
              <a:rPr lang="zh-CN" altLang="en-US" b="1">
                <a:solidFill>
                  <a:srgbClr val="006600"/>
                </a:solidFill>
              </a:rPr>
              <a:t>密码子</a:t>
            </a:r>
            <a:r>
              <a:rPr lang="zh-CN" altLang="en-US"/>
              <a:t>是指</a:t>
            </a:r>
            <a:r>
              <a:rPr lang="en-US" altLang="zh-CN"/>
              <a:t>mRNA</a:t>
            </a:r>
            <a:r>
              <a:rPr lang="zh-CN" altLang="en-US"/>
              <a:t>上决定一个氨基酸的三个相邻碱基的排列顺序，</a:t>
            </a:r>
          </a:p>
          <a:p>
            <a:pPr eaLnBrk="1" hangingPunct="1"/>
            <a:r>
              <a:rPr lang="zh-CN" altLang="en-US" b="1">
                <a:solidFill>
                  <a:srgbClr val="006600"/>
                </a:solidFill>
              </a:rPr>
              <a:t>反密码子</a:t>
            </a:r>
            <a:r>
              <a:rPr lang="zh-CN" altLang="en-US"/>
              <a:t>是指</a:t>
            </a:r>
            <a:r>
              <a:rPr lang="en-US" altLang="zh-CN"/>
              <a:t>tRNA</a:t>
            </a:r>
            <a:r>
              <a:rPr lang="zh-CN" altLang="en-US"/>
              <a:t>上的一端的三个碱基排列顺序。</a:t>
            </a:r>
          </a:p>
          <a:p>
            <a:pPr eaLnBrk="1" hangingPunct="1"/>
            <a:endParaRPr lang="zh-CN" altLang="en-US" b="1">
              <a:solidFill>
                <a:srgbClr val="006600"/>
              </a:solidFill>
            </a:endParaRPr>
          </a:p>
          <a:p>
            <a:pPr eaLnBrk="1" hangingPunct="1"/>
            <a:r>
              <a:rPr lang="zh-CN" altLang="en-US" b="1">
                <a:solidFill>
                  <a:srgbClr val="006600"/>
                </a:solidFill>
              </a:rPr>
              <a:t>联系：</a:t>
            </a:r>
            <a:r>
              <a:rPr lang="en-US" altLang="zh-CN"/>
              <a:t>DNA(</a:t>
            </a:r>
            <a:r>
              <a:rPr lang="zh-CN" altLang="en-US"/>
              <a:t>基因</a:t>
            </a:r>
            <a:r>
              <a:rPr lang="en-US" altLang="zh-CN"/>
              <a:t>)</a:t>
            </a:r>
            <a:r>
              <a:rPr lang="zh-CN" altLang="en-US"/>
              <a:t>的遗传信息通过转录传递到</a:t>
            </a:r>
            <a:r>
              <a:rPr lang="en-US" altLang="zh-CN"/>
              <a:t>mRNA</a:t>
            </a:r>
            <a:r>
              <a:rPr lang="zh-CN" altLang="en-US"/>
              <a:t>上，</a:t>
            </a:r>
            <a:r>
              <a:rPr lang="en-US" altLang="zh-CN"/>
              <a:t>tRNA</a:t>
            </a:r>
            <a:r>
              <a:rPr lang="zh-CN" altLang="en-US"/>
              <a:t>一端携带氨基酸，另一端反密码子与信使</a:t>
            </a:r>
            <a:r>
              <a:rPr lang="en-US" altLang="zh-CN"/>
              <a:t>RNA</a:t>
            </a:r>
            <a:r>
              <a:rPr lang="zh-CN" altLang="en-US"/>
              <a:t>上的密码子</a:t>
            </a:r>
            <a:r>
              <a:rPr lang="en-US" altLang="zh-CN"/>
              <a:t>(</a:t>
            </a:r>
            <a:r>
              <a:rPr lang="zh-CN" altLang="en-US"/>
              <a:t>碱基</a:t>
            </a:r>
            <a:r>
              <a:rPr lang="en-US" altLang="zh-CN"/>
              <a:t>)</a:t>
            </a:r>
            <a:r>
              <a:rPr lang="zh-CN" altLang="en-US"/>
              <a:t>配对。</a:t>
            </a:r>
            <a:r>
              <a:rPr lang="zh-CN" altLang="en-US" b="1"/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735013" y="228600"/>
            <a:ext cx="255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FF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>
                <a:solidFill>
                  <a:srgbClr val="FFFFFF"/>
                </a:solidFill>
                <a:ea typeface="黑体" panose="02010609060101010101" pitchFamily="49" charset="-122"/>
              </a:rPr>
              <a:t>．肽链的起始：</a:t>
            </a:r>
            <a:r>
              <a:rPr lang="zh-CN" altLang="en-US"/>
              <a:t> </a:t>
            </a:r>
          </a:p>
        </p:txBody>
      </p:sp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360363" y="692150"/>
            <a:ext cx="7380287" cy="504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三、核糖体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核糖体可以看作是一个大分子的机构，它具有许多精密的配合部分，来挑选并管理参与蛋白质合成的各个组分。它参与多肽链的启动，延长和终止的各种因子的识别（许多结合位点）。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原核和真核生物均有大、小两个亚基，小亚基能与</a:t>
            </a:r>
            <a:r>
              <a:rPr lang="en-US" altLang="zh-CN"/>
              <a:t>mRNA</a:t>
            </a:r>
            <a:r>
              <a:rPr lang="zh-CN" altLang="en-US"/>
              <a:t>结合形成复合物，再与</a:t>
            </a:r>
            <a:r>
              <a:rPr lang="en-US" altLang="zh-CN"/>
              <a:t>tRNA</a:t>
            </a:r>
            <a:r>
              <a:rPr lang="zh-CN" altLang="en-US"/>
              <a:t>结合；大亚基能与</a:t>
            </a:r>
            <a:r>
              <a:rPr lang="en-US" altLang="zh-CN"/>
              <a:t>tRNA</a:t>
            </a:r>
            <a:r>
              <a:rPr lang="zh-CN" altLang="en-US"/>
              <a:t>结合，包括氨酰基位点</a:t>
            </a:r>
            <a:r>
              <a:rPr lang="en-US" altLang="zh-CN"/>
              <a:t>(A</a:t>
            </a:r>
            <a:r>
              <a:rPr lang="zh-CN" altLang="en-US"/>
              <a:t>位点</a:t>
            </a:r>
            <a:r>
              <a:rPr lang="en-US" altLang="zh-CN"/>
              <a:t>)</a:t>
            </a:r>
            <a:r>
              <a:rPr lang="zh-CN" altLang="en-US"/>
              <a:t>与肽酰基位点</a:t>
            </a:r>
            <a:r>
              <a:rPr lang="en-US" altLang="zh-CN"/>
              <a:t>(P</a:t>
            </a:r>
            <a:r>
              <a:rPr lang="zh-CN" altLang="en-US"/>
              <a:t>位点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116013" y="971550"/>
            <a:ext cx="241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原核生物核糖体 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209800" y="33528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70S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276600" y="25146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50S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3263900" y="4162425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30S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4270375" y="2000250"/>
            <a:ext cx="373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5S rRNA</a:t>
            </a:r>
            <a:r>
              <a:rPr lang="zh-CN" altLang="en-US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 </a:t>
            </a:r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23S rRNA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270375" y="3048000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  <a:ea typeface="黑体" panose="02010609060101010101" pitchFamily="49" charset="-122"/>
              </a:rPr>
              <a:t>34</a:t>
            </a:r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种蛋白质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4302125" y="3624263"/>
            <a:ext cx="270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16S rRNA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4332288" y="4691063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  <a:ea typeface="黑体" panose="02010609060101010101" pitchFamily="49" charset="-122"/>
              </a:rPr>
              <a:t>21</a:t>
            </a:r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种蛋白质</a:t>
            </a:r>
          </a:p>
        </p:txBody>
      </p:sp>
      <p:sp>
        <p:nvSpPr>
          <p:cNvPr id="20490" name="AutoShape 10"/>
          <p:cNvSpPr>
            <a:spLocks/>
          </p:cNvSpPr>
          <p:nvPr/>
        </p:nvSpPr>
        <p:spPr bwMode="auto">
          <a:xfrm>
            <a:off x="2895600" y="2703513"/>
            <a:ext cx="381000" cy="1676400"/>
          </a:xfrm>
          <a:prstGeom prst="leftBrace">
            <a:avLst>
              <a:gd name="adj1" fmla="val 36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1" name="AutoShape 11"/>
          <p:cNvSpPr>
            <a:spLocks/>
          </p:cNvSpPr>
          <p:nvPr/>
        </p:nvSpPr>
        <p:spPr bwMode="auto">
          <a:xfrm>
            <a:off x="3962400" y="2209800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2" name="AutoShape 12"/>
          <p:cNvSpPr>
            <a:spLocks/>
          </p:cNvSpPr>
          <p:nvPr/>
        </p:nvSpPr>
        <p:spPr bwMode="auto">
          <a:xfrm>
            <a:off x="3948113" y="3857625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114425" y="971550"/>
            <a:ext cx="2498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真核生物核糖体 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057400" y="34290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80S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201988" y="24384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60S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203575" y="42672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40S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4241800" y="1543050"/>
            <a:ext cx="23749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5SrRNA</a:t>
            </a:r>
            <a:r>
              <a:rPr lang="zh-CN" altLang="en-US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</a:p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5.8SrRNA</a:t>
            </a:r>
            <a:r>
              <a:rPr lang="zh-CN" altLang="en-US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</a:p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28SrRNA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4241800" y="2971800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  <a:ea typeface="黑体" panose="02010609060101010101" pitchFamily="49" charset="-122"/>
              </a:rPr>
              <a:t>49</a:t>
            </a:r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种蛋白质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4213225" y="3714750"/>
            <a:ext cx="203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18SrRNA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4229100" y="4800600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  <a:ea typeface="黑体" panose="02010609060101010101" pitchFamily="49" charset="-122"/>
              </a:rPr>
              <a:t>33</a:t>
            </a:r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种蛋白质</a:t>
            </a:r>
          </a:p>
        </p:txBody>
      </p:sp>
      <p:sp>
        <p:nvSpPr>
          <p:cNvPr id="21514" name="AutoShape 10"/>
          <p:cNvSpPr>
            <a:spLocks/>
          </p:cNvSpPr>
          <p:nvPr/>
        </p:nvSpPr>
        <p:spPr bwMode="auto">
          <a:xfrm>
            <a:off x="2841625" y="2779713"/>
            <a:ext cx="381000" cy="1676400"/>
          </a:xfrm>
          <a:prstGeom prst="leftBrace">
            <a:avLst>
              <a:gd name="adj1" fmla="val 36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5" name="AutoShape 11"/>
          <p:cNvSpPr>
            <a:spLocks/>
          </p:cNvSpPr>
          <p:nvPr/>
        </p:nvSpPr>
        <p:spPr bwMode="auto">
          <a:xfrm>
            <a:off x="3956050" y="2133600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6" name="AutoShape 12"/>
          <p:cNvSpPr>
            <a:spLocks/>
          </p:cNvSpPr>
          <p:nvPr/>
        </p:nvSpPr>
        <p:spPr bwMode="auto">
          <a:xfrm>
            <a:off x="3937000" y="3962400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pull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735013" y="228600"/>
            <a:ext cx="255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FF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>
                <a:solidFill>
                  <a:srgbClr val="FFFFFF"/>
                </a:solidFill>
                <a:ea typeface="黑体" panose="02010609060101010101" pitchFamily="49" charset="-122"/>
              </a:rPr>
              <a:t>．肽链的起始：</a:t>
            </a:r>
            <a:r>
              <a:rPr lang="zh-CN" altLang="en-US"/>
              <a:t> </a:t>
            </a: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2613025" y="808038"/>
            <a:ext cx="3240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6600"/>
                </a:solidFill>
                <a:ea typeface="隶书" panose="02010509060101010101" pitchFamily="49" charset="-122"/>
              </a:rPr>
              <a:t>第二节 翻译过程</a:t>
            </a:r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900113" y="1916113"/>
            <a:ext cx="6985000" cy="325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 dirty="0"/>
              <a:t>一、氨基酸的活化</a:t>
            </a:r>
          </a:p>
          <a:p>
            <a:pPr eaLnBrk="1" hangingPunct="1">
              <a:lnSpc>
                <a:spcPct val="130000"/>
              </a:lnSpc>
            </a:pPr>
            <a:r>
              <a:rPr kumimoji="0" lang="zh-CN" altLang="en-US" sz="3200" b="1" dirty="0"/>
              <a:t>二、肽</a:t>
            </a:r>
            <a:r>
              <a:rPr lang="zh-CN" altLang="en-US" sz="3200" b="1" dirty="0"/>
              <a:t>链</a:t>
            </a:r>
            <a:r>
              <a:rPr kumimoji="0" lang="zh-CN" altLang="en-US" sz="3200" b="1" dirty="0"/>
              <a:t>的合成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3200" b="1" dirty="0"/>
              <a:t>三、蛋白质生物合成所需的能量</a:t>
            </a:r>
            <a:endParaRPr lang="en-US" altLang="zh-CN" sz="3200" b="1"/>
          </a:p>
          <a:p>
            <a:pPr eaLnBrk="1" hangingPunct="1">
              <a:lnSpc>
                <a:spcPct val="130000"/>
              </a:lnSpc>
            </a:pPr>
            <a:r>
              <a:rPr lang="zh-CN" altLang="en-US" sz="3200" b="1"/>
              <a:t>四</a:t>
            </a:r>
            <a:r>
              <a:rPr lang="zh-CN" altLang="en-US" sz="3200" b="1" dirty="0"/>
              <a:t>、真核生物蛋白质合成的某些特点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3200" b="1" dirty="0"/>
              <a:t>五、蛋白质合成的抑制剂</a:t>
            </a:r>
          </a:p>
        </p:txBody>
      </p:sp>
    </p:spTree>
  </p:cSld>
  <p:clrMapOvr>
    <a:masterClrMapping/>
  </p:clrMapOvr>
  <p:transition spd="med"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857250" y="898525"/>
            <a:ext cx="6743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一、氨基酸的活化</a:t>
            </a:r>
            <a:r>
              <a:rPr lang="en-US" altLang="zh-CN" sz="3200" b="1"/>
              <a:t>——</a:t>
            </a:r>
            <a:r>
              <a:rPr lang="zh-CN" altLang="en-US" b="1"/>
              <a:t>氨酰</a:t>
            </a:r>
            <a:r>
              <a:rPr lang="en-US" altLang="zh-CN" b="1"/>
              <a:t>-tRNA</a:t>
            </a:r>
            <a:r>
              <a:rPr lang="zh-CN" altLang="en-US" b="1"/>
              <a:t>的形成</a:t>
            </a: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785813" y="1995488"/>
            <a:ext cx="72009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氨酰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-tRNA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合成酶催化两步反应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酶的专一性表现在：</a:t>
            </a:r>
          </a:p>
          <a:p>
            <a:pPr eaLnBrk="1" hangingPunct="1">
              <a:lnSpc>
                <a:spcPct val="150000"/>
              </a:lnSpc>
            </a:pP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a)   </a:t>
            </a:r>
            <a:r>
              <a:rPr lang="zh-CN" altLang="en-US"/>
              <a:t>识别一个特定的氨基酸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b)   </a:t>
            </a:r>
            <a:r>
              <a:rPr lang="zh-CN" altLang="en-US"/>
              <a:t>识别</a:t>
            </a:r>
            <a:r>
              <a:rPr lang="en-US" altLang="zh-CN"/>
              <a:t>tRNA</a:t>
            </a:r>
            <a:r>
              <a:rPr lang="zh-CN" altLang="en-US"/>
              <a:t>（一个或多个）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c)   </a:t>
            </a:r>
            <a:r>
              <a:rPr lang="zh-CN" altLang="en-US"/>
              <a:t>具有纠错功能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08050"/>
            <a:ext cx="7343775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63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62275"/>
            <a:ext cx="72723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63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365625"/>
            <a:ext cx="7543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5" name="Text Box 7"/>
          <p:cNvSpPr txBox="1">
            <a:spLocks noChangeArrowheads="1"/>
          </p:cNvSpPr>
          <p:nvPr/>
        </p:nvSpPr>
        <p:spPr bwMode="auto">
          <a:xfrm>
            <a:off x="395288" y="3644900"/>
            <a:ext cx="148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黑体" panose="02010609060101010101" pitchFamily="49" charset="-122"/>
              </a:rPr>
              <a:t>总反应式</a:t>
            </a:r>
            <a:r>
              <a:rPr lang="zh-CN" altLang="en-US"/>
              <a:t> </a:t>
            </a:r>
          </a:p>
        </p:txBody>
      </p:sp>
      <p:sp>
        <p:nvSpPr>
          <p:cNvPr id="24582" name="Text Box 8"/>
          <p:cNvSpPr txBox="1">
            <a:spLocks noChangeArrowheads="1"/>
          </p:cNvSpPr>
          <p:nvPr/>
        </p:nvSpPr>
        <p:spPr bwMode="auto">
          <a:xfrm>
            <a:off x="1600200" y="762000"/>
            <a:ext cx="115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3" name="Text Box 9"/>
          <p:cNvSpPr txBox="1">
            <a:spLocks noChangeArrowheads="1"/>
          </p:cNvSpPr>
          <p:nvPr/>
        </p:nvSpPr>
        <p:spPr bwMode="auto">
          <a:xfrm>
            <a:off x="2590800" y="167640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4" name="Text Box 10"/>
          <p:cNvSpPr txBox="1">
            <a:spLocks noChangeArrowheads="1"/>
          </p:cNvSpPr>
          <p:nvPr/>
        </p:nvSpPr>
        <p:spPr bwMode="auto">
          <a:xfrm>
            <a:off x="2651125" y="1749425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468313" y="5157788"/>
            <a:ext cx="7561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 对每个</a:t>
            </a:r>
            <a:r>
              <a:rPr lang="en-US" altLang="zh-CN"/>
              <a:t>AA</a:t>
            </a:r>
            <a:r>
              <a:rPr lang="zh-CN" altLang="en-US"/>
              <a:t>的活化来说，净消耗的是</a:t>
            </a:r>
            <a:r>
              <a:rPr lang="zh-CN" altLang="en-US" b="1">
                <a:solidFill>
                  <a:srgbClr val="0033CC"/>
                </a:solidFill>
              </a:rPr>
              <a:t>两个高能磷酸键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5" grpId="0" autoUpdateAnimBg="0"/>
      <p:bldP spid="18637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2400"/>
            <a:ext cx="5824538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/>
        </p:nvSpPr>
        <p:spPr bwMode="auto">
          <a:xfrm>
            <a:off x="898525" y="898525"/>
            <a:ext cx="3200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3200" b="1"/>
              <a:t>二、肽链的合成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611188" y="1654175"/>
            <a:ext cx="6192837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30S-mRNA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复合物的形成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(IF3)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30S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预起始复合物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(IF1,IF2,GTP)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70S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起始复合物</a:t>
            </a: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、进位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(EF-Ts,EF-Tu,GTP)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、转肽</a:t>
            </a: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、移位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(EF-G,GTP)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、识别终止密码子</a:t>
            </a: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、水解</a:t>
            </a:r>
          </a:p>
          <a:p>
            <a:pPr eaLnBrk="1" hangingPunct="1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9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、释放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(RF,GTP)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262688" y="2060575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hlink"/>
                </a:solidFill>
                <a:ea typeface="隶书" panose="02010509060101010101" pitchFamily="49" charset="-122"/>
              </a:rPr>
              <a:t>起始阶段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6272213" y="3354388"/>
            <a:ext cx="182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hlink"/>
                </a:solidFill>
                <a:ea typeface="隶书" panose="02010509060101010101" pitchFamily="49" charset="-122"/>
              </a:rPr>
              <a:t>延长阶段</a:t>
            </a:r>
            <a:endParaRPr lang="zh-CN" altLang="en-US">
              <a:solidFill>
                <a:schemeClr val="hlink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26630" name="AutoShape 6"/>
          <p:cNvSpPr>
            <a:spLocks/>
          </p:cNvSpPr>
          <p:nvPr/>
        </p:nvSpPr>
        <p:spPr bwMode="auto">
          <a:xfrm>
            <a:off x="6227763" y="1773238"/>
            <a:ext cx="76200" cy="1143000"/>
          </a:xfrm>
          <a:prstGeom prst="righ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1" name="AutoShape 8"/>
          <p:cNvSpPr>
            <a:spLocks/>
          </p:cNvSpPr>
          <p:nvPr/>
        </p:nvSpPr>
        <p:spPr bwMode="auto">
          <a:xfrm>
            <a:off x="6227763" y="3078163"/>
            <a:ext cx="76200" cy="1143000"/>
          </a:xfrm>
          <a:prstGeom prst="righ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2" name="AutoShape 9"/>
          <p:cNvSpPr>
            <a:spLocks/>
          </p:cNvSpPr>
          <p:nvPr/>
        </p:nvSpPr>
        <p:spPr bwMode="auto">
          <a:xfrm>
            <a:off x="6227763" y="4373563"/>
            <a:ext cx="76200" cy="1143000"/>
          </a:xfrm>
          <a:prstGeom prst="righ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3" name="Text Box 10"/>
          <p:cNvSpPr txBox="1">
            <a:spLocks noChangeArrowheads="1"/>
          </p:cNvSpPr>
          <p:nvPr/>
        </p:nvSpPr>
        <p:spPr bwMode="auto">
          <a:xfrm>
            <a:off x="6272213" y="4652963"/>
            <a:ext cx="182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hlink"/>
                </a:solidFill>
                <a:ea typeface="隶书" panose="02010509060101010101" pitchFamily="49" charset="-122"/>
              </a:rPr>
              <a:t>终止阶段</a:t>
            </a:r>
            <a:endParaRPr lang="zh-CN" altLang="en-US">
              <a:solidFill>
                <a:schemeClr val="hlink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898525" y="827088"/>
            <a:ext cx="6842125" cy="51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30S-mRNA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复合物的形成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(IF3)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此反应须起始因子</a:t>
            </a:r>
            <a:r>
              <a:rPr lang="en-US" altLang="zh-CN"/>
              <a:t>3(IF3)</a:t>
            </a:r>
            <a:r>
              <a:rPr lang="zh-CN" altLang="en-US"/>
              <a:t>使已结束蛋白质合成的核糖体</a:t>
            </a:r>
            <a:r>
              <a:rPr lang="en-US" altLang="zh-CN"/>
              <a:t>30S</a:t>
            </a:r>
            <a:r>
              <a:rPr lang="zh-CN" altLang="en-US"/>
              <a:t>和</a:t>
            </a:r>
            <a:r>
              <a:rPr lang="en-US" altLang="zh-CN"/>
              <a:t>50S</a:t>
            </a:r>
            <a:r>
              <a:rPr lang="zh-CN" altLang="en-US"/>
              <a:t>亚基分开。</a:t>
            </a:r>
          </a:p>
          <a:p>
            <a:pPr eaLnBrk="1" hangingPunct="1">
              <a:lnSpc>
                <a:spcPct val="120000"/>
              </a:lnSpc>
            </a:pPr>
            <a:endParaRPr lang="zh-CN" altLang="en-US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30S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预起始复合物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(IF1,IF2,GTP)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消耗一个高能键，</a:t>
            </a:r>
            <a:r>
              <a:rPr lang="en-US" altLang="zh-CN"/>
              <a:t>IF1</a:t>
            </a:r>
            <a:r>
              <a:rPr lang="zh-CN" altLang="en-US"/>
              <a:t>和</a:t>
            </a:r>
            <a:r>
              <a:rPr lang="en-US" altLang="zh-CN"/>
              <a:t>IF2</a:t>
            </a:r>
            <a:r>
              <a:rPr lang="zh-CN" altLang="en-US"/>
              <a:t>分别促进</a:t>
            </a:r>
            <a:r>
              <a:rPr lang="en-US" altLang="zh-CN"/>
              <a:t>mRNA</a:t>
            </a:r>
            <a:r>
              <a:rPr lang="zh-CN" altLang="en-US"/>
              <a:t>和</a:t>
            </a:r>
            <a:r>
              <a:rPr lang="en-US" altLang="zh-CN"/>
              <a:t>fMet-tRNAf</a:t>
            </a:r>
            <a:r>
              <a:rPr lang="zh-CN" altLang="en-US"/>
              <a:t>与</a:t>
            </a:r>
            <a:r>
              <a:rPr lang="en-US" altLang="zh-CN"/>
              <a:t>30S</a:t>
            </a:r>
            <a:r>
              <a:rPr lang="zh-CN" altLang="en-US"/>
              <a:t>亚基结合，并释放出</a:t>
            </a:r>
            <a:r>
              <a:rPr lang="en-US" altLang="zh-CN"/>
              <a:t>IF3</a:t>
            </a:r>
            <a:r>
              <a:rPr lang="zh-CN" altLang="en-US"/>
              <a:t>形成一个</a:t>
            </a:r>
            <a:r>
              <a:rPr lang="en-US" altLang="zh-CN"/>
              <a:t>30S</a:t>
            </a:r>
            <a:r>
              <a:rPr lang="zh-CN" altLang="en-US"/>
              <a:t>起始复合物</a:t>
            </a:r>
            <a:r>
              <a:rPr lang="en-US" altLang="zh-CN"/>
              <a:t>(30S</a:t>
            </a:r>
            <a:r>
              <a:rPr lang="zh-CN" altLang="en-US"/>
              <a:t>核糖体</a:t>
            </a:r>
            <a:r>
              <a:rPr lang="en-US" altLang="zh-CN"/>
              <a:t>-mRNA- fMet-tRNAf)</a:t>
            </a:r>
            <a:endParaRPr lang="zh-CN" altLang="en-US"/>
          </a:p>
          <a:p>
            <a:pPr eaLnBrk="1" hangingPunct="1">
              <a:lnSpc>
                <a:spcPct val="120000"/>
              </a:lnSpc>
            </a:pPr>
            <a:endParaRPr lang="zh-CN" altLang="en-US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70S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起始复合物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/>
              <a:t>IF3</a:t>
            </a:r>
            <a:r>
              <a:rPr lang="zh-CN" altLang="en-US"/>
              <a:t>释放后复合物与</a:t>
            </a:r>
            <a:r>
              <a:rPr lang="en-US" altLang="zh-CN"/>
              <a:t>50S</a:t>
            </a:r>
            <a:r>
              <a:rPr lang="zh-CN" altLang="en-US"/>
              <a:t>亚基结合，再释放</a:t>
            </a:r>
            <a:r>
              <a:rPr lang="en-US" altLang="zh-CN"/>
              <a:t>IF1</a:t>
            </a:r>
            <a:r>
              <a:rPr lang="zh-CN" altLang="en-US"/>
              <a:t>和</a:t>
            </a:r>
            <a:r>
              <a:rPr lang="en-US" altLang="zh-CN"/>
              <a:t>IF2</a:t>
            </a:r>
          </a:p>
        </p:txBody>
      </p:sp>
    </p:spTree>
  </p:cSld>
  <p:clrMapOvr>
    <a:masterClrMapping/>
  </p:clrMapOvr>
  <p:transition spd="med">
    <p:pull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765175"/>
            <a:ext cx="2232025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636838"/>
            <a:ext cx="50323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565400"/>
            <a:ext cx="5032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90488"/>
            <a:ext cx="2016125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1360488"/>
            <a:ext cx="2303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2809875"/>
            <a:ext cx="2700337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3500438"/>
            <a:ext cx="1516062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4398963"/>
            <a:ext cx="4162425" cy="221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2555875" y="1844675"/>
            <a:ext cx="3600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 flipV="1">
            <a:off x="3995738" y="1341438"/>
            <a:ext cx="72072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 flipV="1">
            <a:off x="3563938" y="1844675"/>
            <a:ext cx="4318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 flipH="1" flipV="1">
            <a:off x="3995738" y="1844675"/>
            <a:ext cx="2889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H="1">
            <a:off x="4211638" y="2205038"/>
            <a:ext cx="2160587" cy="2376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 flipH="1">
            <a:off x="5724525" y="2924175"/>
            <a:ext cx="574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>
            <a:off x="4859338" y="3860800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611188" y="2781300"/>
            <a:ext cx="18002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1">
                <a:solidFill>
                  <a:schemeClr val="accent2"/>
                </a:solidFill>
                <a:latin typeface="Times" panose="02020603050405020304" pitchFamily="18" charset="0"/>
              </a:rPr>
              <a:t>inactive 70S ribosome</a:t>
            </a: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7092950" y="2420938"/>
            <a:ext cx="1441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1600" b="1">
                <a:solidFill>
                  <a:srgbClr val="FF3399"/>
                </a:solidFill>
                <a:latin typeface="Times" panose="02020603050405020304" pitchFamily="18" charset="0"/>
              </a:rPr>
              <a:t>SD sequence</a:t>
            </a:r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6084888" y="5805488"/>
            <a:ext cx="1943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zh-CN" b="1">
                <a:solidFill>
                  <a:schemeClr val="accent2"/>
                </a:solidFill>
                <a:latin typeface="Times" panose="02020603050405020304" pitchFamily="18" charset="0"/>
              </a:rPr>
              <a:t>30S initiation complex</a:t>
            </a:r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7667625" y="27082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976688"/>
            <a:ext cx="4319588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0" y="1023938"/>
            <a:ext cx="2303463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4259263" y="304800"/>
            <a:ext cx="0" cy="3600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 flipH="1">
            <a:off x="4259263" y="2032000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 flipH="1">
            <a:off x="3179763" y="1312863"/>
            <a:ext cx="107950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 flipH="1">
            <a:off x="3179763" y="2463800"/>
            <a:ext cx="10795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4259263" y="2968625"/>
            <a:ext cx="165735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38" y="1744663"/>
            <a:ext cx="525462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13" y="3479800"/>
            <a:ext cx="4968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3" y="3408363"/>
            <a:ext cx="59055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5699125" y="4768850"/>
            <a:ext cx="215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zh-CN" b="1">
                <a:solidFill>
                  <a:schemeClr val="accent2"/>
                </a:solidFill>
                <a:latin typeface="Times" panose="02020603050405020304" pitchFamily="18" charset="0"/>
              </a:rPr>
              <a:t>70S initiation complex</a:t>
            </a: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1666875" y="2897188"/>
            <a:ext cx="1439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1">
                <a:solidFill>
                  <a:srgbClr val="FF0000"/>
                </a:solidFill>
                <a:latin typeface="Times" panose="02020603050405020304" pitchFamily="18" charset="0"/>
              </a:rPr>
              <a:t>GDP + Pi</a:t>
            </a:r>
          </a:p>
        </p:txBody>
      </p:sp>
    </p:spTree>
  </p:cSld>
  <p:clrMapOvr>
    <a:masterClrMapping/>
  </p:clrMapOvr>
  <p:transition spd="med">
    <p:pull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898525" y="827088"/>
            <a:ext cx="6986588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、进位（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EF-Ts,EF-Tu,GTP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/>
            <a:r>
              <a:rPr lang="zh-CN" altLang="en-US"/>
              <a:t>除了</a:t>
            </a:r>
            <a:r>
              <a:rPr lang="en-US" altLang="zh-CN"/>
              <a:t>fMet</a:t>
            </a:r>
            <a:r>
              <a:rPr lang="zh-CN" altLang="en-US"/>
              <a:t>－</a:t>
            </a:r>
            <a:r>
              <a:rPr lang="en-US" altLang="zh-CN"/>
              <a:t>tRNAf</a:t>
            </a:r>
            <a:r>
              <a:rPr lang="zh-CN" altLang="en-US"/>
              <a:t>外，所有氨酰</a:t>
            </a:r>
            <a:r>
              <a:rPr lang="en-US" altLang="zh-CN"/>
              <a:t>-tRNA</a:t>
            </a:r>
            <a:r>
              <a:rPr lang="zh-CN" altLang="en-US"/>
              <a:t>必须与</a:t>
            </a:r>
            <a:r>
              <a:rPr lang="en-US" altLang="zh-CN"/>
              <a:t>EF-Tu</a:t>
            </a:r>
            <a:r>
              <a:rPr lang="zh-CN" altLang="en-US"/>
              <a:t>及</a:t>
            </a:r>
            <a:r>
              <a:rPr lang="en-US" altLang="zh-CN"/>
              <a:t>GTP</a:t>
            </a:r>
            <a:r>
              <a:rPr lang="zh-CN" altLang="en-US"/>
              <a:t>结合才能进入</a:t>
            </a:r>
            <a:r>
              <a:rPr lang="en-US" altLang="zh-CN"/>
              <a:t>70S</a:t>
            </a:r>
            <a:r>
              <a:rPr lang="zh-CN" altLang="en-US"/>
              <a:t>核糖体的</a:t>
            </a:r>
            <a:r>
              <a:rPr lang="en-US" altLang="zh-CN"/>
              <a:t>A</a:t>
            </a:r>
            <a:r>
              <a:rPr lang="zh-CN" altLang="en-US"/>
              <a:t>位。</a:t>
            </a:r>
            <a:endParaRPr lang="en-US" altLang="zh-CN"/>
          </a:p>
        </p:txBody>
      </p:sp>
      <p:sp>
        <p:nvSpPr>
          <p:cNvPr id="230403" name="Text Box 3"/>
          <p:cNvSpPr txBox="1">
            <a:spLocks noChangeArrowheads="1"/>
          </p:cNvSpPr>
          <p:nvPr/>
        </p:nvSpPr>
        <p:spPr bwMode="auto">
          <a:xfrm>
            <a:off x="250825" y="2036763"/>
            <a:ext cx="8066088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EF-Tu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GTP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和氨酰</a:t>
            </a:r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-tNRA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首先形成三元复合物，才能进入</a:t>
            </a:r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位。</a:t>
            </a:r>
            <a:r>
              <a:rPr lang="zh-CN" altLang="en-US" sz="2800"/>
              <a:t> </a:t>
            </a:r>
          </a:p>
        </p:txBody>
      </p:sp>
      <p:pic>
        <p:nvPicPr>
          <p:cNvPr id="2304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2940050"/>
            <a:ext cx="842645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7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0"/>
            <a:ext cx="64087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898525" y="476250"/>
            <a:ext cx="439420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、转肽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在</a:t>
            </a:r>
            <a:r>
              <a:rPr lang="en-US" altLang="zh-CN"/>
              <a:t>50S</a:t>
            </a:r>
            <a:r>
              <a:rPr lang="zh-CN" altLang="en-US"/>
              <a:t>亚基上有肽基转移酶催化肽酰基从</a:t>
            </a:r>
            <a:r>
              <a:rPr lang="en-US" altLang="zh-CN"/>
              <a:t>P</a:t>
            </a:r>
            <a:r>
              <a:rPr lang="zh-CN" altLang="en-US"/>
              <a:t>位点到</a:t>
            </a:r>
            <a:r>
              <a:rPr lang="en-US" altLang="zh-CN"/>
              <a:t>A</a:t>
            </a:r>
            <a:r>
              <a:rPr lang="zh-CN" altLang="en-US"/>
              <a:t>位点，同时形成一个新的肽键。同时</a:t>
            </a:r>
            <a:r>
              <a:rPr lang="en-US" altLang="zh-CN"/>
              <a:t>P</a:t>
            </a:r>
            <a:r>
              <a:rPr lang="zh-CN" altLang="en-US"/>
              <a:t>位点上的</a:t>
            </a:r>
            <a:r>
              <a:rPr lang="en-US" altLang="zh-CN"/>
              <a:t>tRNA</a:t>
            </a:r>
            <a:r>
              <a:rPr lang="zh-CN" altLang="en-US"/>
              <a:t>卸下肽链而成为无负载的</a:t>
            </a:r>
            <a:r>
              <a:rPr lang="en-US" altLang="zh-CN"/>
              <a:t>tRNA</a:t>
            </a:r>
            <a:r>
              <a:rPr lang="zh-CN" altLang="en-US"/>
              <a:t>。</a:t>
            </a:r>
            <a:r>
              <a:rPr lang="en-US" altLang="zh-CN"/>
              <a:t>A</a:t>
            </a:r>
            <a:r>
              <a:rPr lang="zh-CN" altLang="en-US"/>
              <a:t>位点上的</a:t>
            </a:r>
            <a:r>
              <a:rPr lang="en-US" altLang="zh-CN"/>
              <a:t>tRNA</a:t>
            </a:r>
            <a:r>
              <a:rPr lang="zh-CN" altLang="en-US"/>
              <a:t>所携带的是一个二肽，需较高浓度的</a:t>
            </a:r>
            <a:r>
              <a:rPr lang="en-US" altLang="zh-CN"/>
              <a:t>K</a:t>
            </a:r>
            <a:r>
              <a:rPr lang="en-US" altLang="zh-CN" baseline="30000"/>
              <a:t>+</a:t>
            </a:r>
            <a:r>
              <a:rPr lang="zh-CN" altLang="en-US"/>
              <a:t>参加。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09600"/>
            <a:ext cx="6858000" cy="560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898525" y="898525"/>
            <a:ext cx="6337300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、移位（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EF-G,GTP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三种移动：</a:t>
            </a:r>
          </a:p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 ⑴空载的</a:t>
            </a:r>
            <a:r>
              <a:rPr lang="en-US" altLang="zh-CN" sz="2800">
                <a:latin typeface="宋体" panose="02010600030101010101" pitchFamily="2" charset="-122"/>
              </a:rPr>
              <a:t>tRNAf</a:t>
            </a:r>
            <a:r>
              <a:rPr lang="zh-CN" altLang="en-US" sz="2800">
                <a:latin typeface="宋体" panose="02010600030101010101" pitchFamily="2" charset="-122"/>
              </a:rPr>
              <a:t>移出</a:t>
            </a:r>
          </a:p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 ⑵肽酰</a:t>
            </a:r>
            <a:r>
              <a:rPr lang="en-US" altLang="zh-CN" sz="2800">
                <a:latin typeface="宋体" panose="02010600030101010101" pitchFamily="2" charset="-122"/>
              </a:rPr>
              <a:t>-tRNA</a:t>
            </a:r>
            <a:r>
              <a:rPr lang="zh-CN" altLang="en-US" sz="2800">
                <a:latin typeface="宋体" panose="02010600030101010101" pitchFamily="2" charset="-122"/>
              </a:rPr>
              <a:t>从</a:t>
            </a:r>
            <a:r>
              <a:rPr lang="en-US" altLang="zh-CN" sz="2800">
                <a:latin typeface="宋体" panose="02010600030101010101" pitchFamily="2" charset="-122"/>
              </a:rPr>
              <a:t>A</a:t>
            </a:r>
            <a:r>
              <a:rPr lang="zh-CN" altLang="en-US" sz="2800">
                <a:latin typeface="宋体" panose="02010600030101010101" pitchFamily="2" charset="-122"/>
              </a:rPr>
              <a:t>位移到</a:t>
            </a:r>
            <a:r>
              <a:rPr lang="en-US" altLang="zh-CN" sz="2800">
                <a:latin typeface="宋体" panose="02010600030101010101" pitchFamily="2" charset="-122"/>
              </a:rPr>
              <a:t>P</a:t>
            </a:r>
            <a:r>
              <a:rPr lang="zh-CN" altLang="en-US" sz="2800">
                <a:latin typeface="宋体" panose="02010600030101010101" pitchFamily="2" charset="-122"/>
              </a:rPr>
              <a:t>位</a:t>
            </a:r>
          </a:p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 ⑶</a:t>
            </a:r>
            <a:r>
              <a:rPr lang="en-US" altLang="zh-CN" sz="2800">
                <a:latin typeface="宋体" panose="02010600030101010101" pitchFamily="2" charset="-122"/>
              </a:rPr>
              <a:t>mRNA</a:t>
            </a:r>
            <a:r>
              <a:rPr lang="zh-CN" altLang="en-US" sz="2800">
                <a:latin typeface="宋体" panose="02010600030101010101" pitchFamily="2" charset="-122"/>
              </a:rPr>
              <a:t>移动</a:t>
            </a:r>
            <a:r>
              <a:rPr lang="en-US" altLang="zh-CN" sz="2800">
                <a:latin typeface="宋体" panose="02010600030101010101" pitchFamily="2" charset="-122"/>
              </a:rPr>
              <a:t>3</a:t>
            </a:r>
            <a:r>
              <a:rPr lang="zh-CN" altLang="en-US" sz="2800">
                <a:latin typeface="宋体" panose="02010600030101010101" pitchFamily="2" charset="-122"/>
              </a:rPr>
              <a:t>个碱基</a:t>
            </a:r>
            <a:r>
              <a:rPr lang="en-US" altLang="zh-CN" sz="2800">
                <a:latin typeface="宋体" panose="02010600030101010101" pitchFamily="2" charset="-122"/>
              </a:rPr>
              <a:t>——</a:t>
            </a:r>
          </a:p>
          <a:p>
            <a:pPr eaLnBrk="1" hangingPunct="1"/>
            <a:r>
              <a:rPr lang="en-US" altLang="zh-CN" sz="2800">
                <a:latin typeface="宋体" panose="02010600030101010101" pitchFamily="2" charset="-122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第三个</a:t>
            </a:r>
            <a:r>
              <a:rPr lang="en-US" altLang="zh-CN" sz="2800">
                <a:latin typeface="宋体" panose="02010600030101010101" pitchFamily="2" charset="-122"/>
              </a:rPr>
              <a:t>codon</a:t>
            </a:r>
            <a:r>
              <a:rPr lang="zh-CN" altLang="en-US" sz="2800">
                <a:latin typeface="宋体" panose="02010600030101010101" pitchFamily="2" charset="-122"/>
              </a:rPr>
              <a:t>进入</a:t>
            </a:r>
            <a:r>
              <a:rPr lang="en-US" altLang="zh-CN" sz="2800">
                <a:latin typeface="宋体" panose="02010600030101010101" pitchFamily="2" charset="-122"/>
              </a:rPr>
              <a:t>ribosome</a:t>
            </a:r>
            <a:r>
              <a:rPr lang="zh-CN" altLang="en-US" sz="2800">
                <a:latin typeface="宋体" panose="02010600030101010101" pitchFamily="2" charset="-122"/>
              </a:rPr>
              <a:t>的</a:t>
            </a:r>
            <a:r>
              <a:rPr lang="en-US" altLang="zh-CN" sz="2800">
                <a:latin typeface="宋体" panose="02010600030101010101" pitchFamily="2" charset="-122"/>
              </a:rPr>
              <a:t>A</a:t>
            </a:r>
            <a:r>
              <a:rPr lang="zh-CN" altLang="en-US" sz="2800">
                <a:latin typeface="宋体" panose="02010600030101010101" pitchFamily="2" charset="-122"/>
              </a:rPr>
              <a:t>位</a:t>
            </a:r>
          </a:p>
          <a:p>
            <a:pPr eaLnBrk="1" hangingPunct="1"/>
            <a:endParaRPr lang="zh-CN" altLang="en-US" sz="280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移动是指核糖体沿</a:t>
            </a:r>
            <a:r>
              <a:rPr lang="en-US" altLang="zh-CN" sz="2800">
                <a:latin typeface="宋体" panose="02010600030101010101" pitchFamily="2" charset="-122"/>
              </a:rPr>
              <a:t>mRNA(5’-3’)</a:t>
            </a:r>
            <a:r>
              <a:rPr lang="zh-CN" altLang="en-US" sz="2800">
                <a:latin typeface="宋体" panose="02010600030101010101" pitchFamily="2" charset="-122"/>
              </a:rPr>
              <a:t>作相对移动。移位需要</a:t>
            </a:r>
            <a:r>
              <a:rPr lang="en-US" altLang="zh-CN" sz="2800">
                <a:latin typeface="宋体" panose="02010600030101010101" pitchFamily="2" charset="-122"/>
              </a:rPr>
              <a:t>EF-G</a:t>
            </a:r>
            <a:r>
              <a:rPr lang="zh-CN" altLang="en-US" sz="2800">
                <a:latin typeface="宋体" panose="02010600030101010101" pitchFamily="2" charset="-122"/>
              </a:rPr>
              <a:t>和</a:t>
            </a:r>
            <a:r>
              <a:rPr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GTP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150"/>
            <a:ext cx="7667625" cy="616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914400" y="330200"/>
            <a:ext cx="3684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黑体" panose="02010609060101010101" pitchFamily="49" charset="-122"/>
              </a:rPr>
              <a:t>移位（</a:t>
            </a:r>
            <a:r>
              <a:rPr lang="en-US" altLang="zh-CN" sz="2800" b="1">
                <a:ea typeface="黑体" panose="02010609060101010101" pitchFamily="49" charset="-122"/>
              </a:rPr>
              <a:t>translocation</a:t>
            </a:r>
            <a:r>
              <a:rPr lang="zh-CN" altLang="en-US" sz="2800" b="1">
                <a:ea typeface="黑体" panose="02010609060101010101" pitchFamily="49" charset="-122"/>
              </a:rPr>
              <a:t>）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/>
          <p:cNvSpPr txBox="1">
            <a:spLocks noChangeArrowheads="1"/>
          </p:cNvSpPr>
          <p:nvPr/>
        </p:nvSpPr>
        <p:spPr bwMode="auto">
          <a:xfrm>
            <a:off x="611188" y="4292600"/>
            <a:ext cx="754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33CC"/>
                </a:solidFill>
                <a:ea typeface="方正舒体" panose="02010601030101010101" pitchFamily="2" charset="-122"/>
              </a:rPr>
              <a:t>三步曲：</a:t>
            </a:r>
            <a:r>
              <a:rPr lang="zh-CN" altLang="en-US" sz="3200" b="1">
                <a:solidFill>
                  <a:srgbClr val="0033CC"/>
                </a:solidFill>
              </a:rPr>
              <a:t>进位、转肽、移位</a:t>
            </a:r>
            <a:endParaRPr lang="zh-CN" altLang="en-US" b="1">
              <a:solidFill>
                <a:srgbClr val="0033CC"/>
              </a:solidFill>
              <a:latin typeface="Tahoma" panose="020B0604030504040204" pitchFamily="34" charset="0"/>
            </a:endParaRPr>
          </a:p>
        </p:txBody>
      </p:sp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611188" y="1060450"/>
            <a:ext cx="7345362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ea typeface="方正舒体" panose="02010601030101010101" pitchFamily="2" charset="-122"/>
              </a:rPr>
              <a:t>结果：</a:t>
            </a:r>
          </a:p>
          <a:p>
            <a:pPr eaLnBrk="1" hangingPunct="1"/>
            <a:r>
              <a:rPr lang="zh-CN" altLang="en-US" sz="3200"/>
              <a:t>原来在</a:t>
            </a:r>
            <a:r>
              <a:rPr lang="en-US" altLang="zh-CN" sz="3200"/>
              <a:t>A</a:t>
            </a:r>
            <a:r>
              <a:rPr lang="zh-CN" altLang="en-US" sz="3200"/>
              <a:t>位点上的肽酰</a:t>
            </a:r>
            <a:r>
              <a:rPr lang="en-US" altLang="zh-CN" sz="3200"/>
              <a:t>-tRNA</a:t>
            </a:r>
            <a:r>
              <a:rPr lang="zh-CN" altLang="en-US" sz="3200"/>
              <a:t>又回到了</a:t>
            </a:r>
            <a:r>
              <a:rPr lang="en-US" altLang="zh-CN" sz="3200"/>
              <a:t>P</a:t>
            </a:r>
            <a:r>
              <a:rPr lang="zh-CN" altLang="en-US" sz="3200"/>
              <a:t>位点；原来在</a:t>
            </a:r>
            <a:r>
              <a:rPr lang="en-US" altLang="zh-CN" sz="3200"/>
              <a:t>P</a:t>
            </a:r>
            <a:r>
              <a:rPr lang="zh-CN" altLang="en-US" sz="3200"/>
              <a:t>位点上的无负载的</a:t>
            </a:r>
            <a:r>
              <a:rPr lang="en-US" altLang="zh-CN" sz="3200"/>
              <a:t>tRNA</a:t>
            </a:r>
            <a:r>
              <a:rPr lang="zh-CN" altLang="en-US" sz="3200"/>
              <a:t>离开核糖体。 整个核糖体沿着</a:t>
            </a:r>
            <a:r>
              <a:rPr lang="en-US" altLang="zh-CN" sz="3200"/>
              <a:t>5’-3’</a:t>
            </a:r>
            <a:r>
              <a:rPr lang="zh-CN" altLang="en-US" sz="3200"/>
              <a:t>移动一个密码子的位置，然后再进位、转肽和移位。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987675" y="1916113"/>
            <a:ext cx="5010150" cy="4329112"/>
            <a:chOff x="1152" y="1248"/>
            <a:chExt cx="3156" cy="2727"/>
          </a:xfrm>
        </p:grpSpPr>
        <p:pic>
          <p:nvPicPr>
            <p:cNvPr id="3789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1248"/>
              <a:ext cx="2444" cy="2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4" name="Oval 5" descr="宽上对角线"/>
            <p:cNvSpPr>
              <a:spLocks noChangeArrowheads="1"/>
            </p:cNvSpPr>
            <p:nvPr/>
          </p:nvSpPr>
          <p:spPr bwMode="auto">
            <a:xfrm>
              <a:off x="2640" y="2736"/>
              <a:ext cx="192" cy="432"/>
            </a:xfrm>
            <a:prstGeom prst="ellipse">
              <a:avLst/>
            </a:prstGeom>
            <a:pattFill prst="wdUpDiag">
              <a:fgClr>
                <a:srgbClr val="FF0000"/>
              </a:fgClr>
              <a:bgClr>
                <a:srgbClr val="FFFFFF"/>
              </a:bgClr>
            </a:patt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895" name="Text Box 6"/>
            <p:cNvSpPr txBox="1">
              <a:spLocks noChangeArrowheads="1"/>
            </p:cNvSpPr>
            <p:nvPr/>
          </p:nvSpPr>
          <p:spPr bwMode="auto">
            <a:xfrm>
              <a:off x="2496" y="3368"/>
              <a:ext cx="37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1"/>
                <a:t>UAA</a:t>
              </a:r>
            </a:p>
          </p:txBody>
        </p:sp>
        <p:sp>
          <p:nvSpPr>
            <p:cNvPr id="37896" name="Line 7"/>
            <p:cNvSpPr>
              <a:spLocks noChangeShapeType="1"/>
            </p:cNvSpPr>
            <p:nvPr/>
          </p:nvSpPr>
          <p:spPr bwMode="auto">
            <a:xfrm flipV="1">
              <a:off x="2880" y="2688"/>
              <a:ext cx="624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7" name="Text Box 8"/>
            <p:cNvSpPr txBox="1">
              <a:spLocks noChangeArrowheads="1"/>
            </p:cNvSpPr>
            <p:nvPr/>
          </p:nvSpPr>
          <p:spPr bwMode="auto">
            <a:xfrm>
              <a:off x="3504" y="2544"/>
              <a:ext cx="8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/>
                <a:t>RF</a:t>
              </a:r>
              <a:r>
                <a:rPr lang="en-US" altLang="zh-CN" sz="1800" b="1" baseline="-25000"/>
                <a:t>1</a:t>
              </a:r>
              <a:r>
                <a:rPr lang="en-US" altLang="zh-CN" sz="1800" b="1"/>
                <a:t> or RF</a:t>
              </a:r>
              <a:r>
                <a:rPr lang="en-US" altLang="zh-CN" sz="1800" b="1" baseline="-25000"/>
                <a:t>2</a:t>
              </a:r>
            </a:p>
          </p:txBody>
        </p:sp>
        <p:sp>
          <p:nvSpPr>
            <p:cNvPr id="37898" name="Line 9"/>
            <p:cNvSpPr>
              <a:spLocks noChangeShapeType="1"/>
            </p:cNvSpPr>
            <p:nvPr/>
          </p:nvSpPr>
          <p:spPr bwMode="auto">
            <a:xfrm flipH="1" flipV="1">
              <a:off x="2784" y="3552"/>
              <a:ext cx="144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Text Box 10"/>
            <p:cNvSpPr txBox="1">
              <a:spLocks noChangeArrowheads="1"/>
            </p:cNvSpPr>
            <p:nvPr/>
          </p:nvSpPr>
          <p:spPr bwMode="auto">
            <a:xfrm>
              <a:off x="2880" y="3744"/>
              <a:ext cx="8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="1">
                  <a:ea typeface="黑体" panose="02010609060101010101" pitchFamily="49" charset="-122"/>
                </a:rPr>
                <a:t>终止密码子</a:t>
              </a:r>
            </a:p>
          </p:txBody>
        </p:sp>
      </p:grp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898525" y="827088"/>
            <a:ext cx="6913563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、识别终止密码子</a:t>
            </a:r>
            <a:endParaRPr lang="zh-CN" altLang="en-US" sz="2800" b="1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>
                <a:latin typeface="宋体" panose="02010600030101010101" pitchFamily="2" charset="-122"/>
              </a:rPr>
              <a:t>释放因子（</a:t>
            </a:r>
            <a:r>
              <a:rPr lang="en-US" altLang="zh-CN" b="1">
                <a:latin typeface="宋体" panose="02010600030101010101" pitchFamily="2" charset="-122"/>
              </a:rPr>
              <a:t>release factor RF</a:t>
            </a:r>
            <a:r>
              <a:rPr lang="zh-CN" altLang="en-US" b="1">
                <a:latin typeface="宋体" panose="02010600030101010101" pitchFamily="2" charset="-122"/>
              </a:rPr>
              <a:t>）能识别终止密码子与终止密码子结合。</a:t>
            </a:r>
          </a:p>
        </p:txBody>
      </p:sp>
      <p:sp>
        <p:nvSpPr>
          <p:cNvPr id="210955" name="Text Box 11"/>
          <p:cNvSpPr txBox="1">
            <a:spLocks noChangeArrowheads="1"/>
          </p:cNvSpPr>
          <p:nvPr/>
        </p:nvSpPr>
        <p:spPr bwMode="auto">
          <a:xfrm>
            <a:off x="468313" y="2970213"/>
            <a:ext cx="31242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2000" b="1">
                <a:ea typeface="黑体" panose="02010609060101010101" pitchFamily="49" charset="-122"/>
              </a:rPr>
              <a:t>  </a:t>
            </a:r>
            <a:r>
              <a:rPr lang="en-US" altLang="zh-CN" sz="2000" b="1">
                <a:ea typeface="黑体" panose="02010609060101010101" pitchFamily="49" charset="-122"/>
              </a:rPr>
              <a:t>RF-1</a:t>
            </a:r>
            <a:r>
              <a:rPr lang="zh-CN" altLang="en-US" sz="2000" b="1">
                <a:ea typeface="黑体" panose="02010609060101010101" pitchFamily="49" charset="-122"/>
              </a:rPr>
              <a:t>：识别</a:t>
            </a:r>
            <a:r>
              <a:rPr lang="en-US" altLang="zh-CN" sz="2000" b="1">
                <a:ea typeface="黑体" panose="02010609060101010101" pitchFamily="49" charset="-122"/>
              </a:rPr>
              <a:t>UAA</a:t>
            </a:r>
            <a:r>
              <a:rPr lang="zh-CN" altLang="en-US" sz="2000" b="1">
                <a:ea typeface="黑体" panose="02010609060101010101" pitchFamily="49" charset="-122"/>
              </a:rPr>
              <a:t>和</a:t>
            </a:r>
            <a:r>
              <a:rPr lang="en-US" altLang="zh-CN" sz="2000" b="1">
                <a:ea typeface="黑体" panose="02010609060101010101" pitchFamily="49" charset="-122"/>
              </a:rPr>
              <a:t>UAG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2000" b="1">
                <a:ea typeface="黑体" panose="02010609060101010101" pitchFamily="49" charset="-122"/>
              </a:rPr>
              <a:t>  RF-2</a:t>
            </a:r>
            <a:r>
              <a:rPr lang="zh-CN" altLang="en-US" sz="2000" b="1">
                <a:ea typeface="黑体" panose="02010609060101010101" pitchFamily="49" charset="-122"/>
              </a:rPr>
              <a:t>：识别</a:t>
            </a:r>
            <a:r>
              <a:rPr lang="en-US" altLang="zh-CN" sz="2000" b="1">
                <a:ea typeface="黑体" panose="02010609060101010101" pitchFamily="49" charset="-122"/>
              </a:rPr>
              <a:t>UAA</a:t>
            </a:r>
            <a:r>
              <a:rPr lang="zh-CN" altLang="en-US" sz="2000" b="1">
                <a:ea typeface="黑体" panose="02010609060101010101" pitchFamily="49" charset="-122"/>
              </a:rPr>
              <a:t>和</a:t>
            </a:r>
            <a:r>
              <a:rPr lang="en-US" altLang="zh-CN" sz="2000" b="1">
                <a:ea typeface="黑体" panose="02010609060101010101" pitchFamily="49" charset="-122"/>
              </a:rPr>
              <a:t>UGA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2000" b="1">
                <a:ea typeface="黑体" panose="02010609060101010101" pitchFamily="49" charset="-122"/>
              </a:rPr>
              <a:t>  RF-3</a:t>
            </a:r>
            <a:r>
              <a:rPr lang="zh-CN" altLang="en-US" sz="2000" b="1">
                <a:ea typeface="黑体" panose="02010609060101010101" pitchFamily="49" charset="-122"/>
              </a:rPr>
              <a:t>：</a:t>
            </a:r>
            <a:r>
              <a:rPr lang="en-US" altLang="zh-CN" sz="2000" b="1">
                <a:ea typeface="黑体" panose="02010609060101010101" pitchFamily="49" charset="-122"/>
              </a:rPr>
              <a:t>RF-3</a:t>
            </a:r>
            <a:r>
              <a:rPr lang="zh-CN" altLang="en-US" sz="2000" b="1">
                <a:ea typeface="黑体" panose="02010609060101010101" pitchFamily="49" charset="-122"/>
              </a:rPr>
              <a:t>和</a:t>
            </a:r>
            <a:r>
              <a:rPr lang="en-US" altLang="zh-CN" sz="2000" b="1">
                <a:ea typeface="黑体" panose="02010609060101010101" pitchFamily="49" charset="-122"/>
              </a:rPr>
              <a:t>GTP</a:t>
            </a:r>
            <a:r>
              <a:rPr lang="zh-CN" altLang="en-US" sz="2000" b="1">
                <a:ea typeface="黑体" panose="02010609060101010101" pitchFamily="49" charset="-122"/>
              </a:rPr>
              <a:t>形成复合物，是一种</a:t>
            </a:r>
            <a:r>
              <a:rPr lang="en-US" altLang="zh-CN" sz="2000" b="1">
                <a:ea typeface="黑体" panose="02010609060101010101" pitchFamily="49" charset="-122"/>
              </a:rPr>
              <a:t>GTP</a:t>
            </a:r>
            <a:r>
              <a:rPr lang="zh-CN" altLang="en-US" sz="2000" b="1">
                <a:ea typeface="黑体" panose="02010609060101010101" pitchFamily="49" charset="-122"/>
              </a:rPr>
              <a:t>结合蛋白，可促进核糖体与</a:t>
            </a:r>
            <a:r>
              <a:rPr lang="en-US" altLang="zh-CN" sz="2000" b="1">
                <a:ea typeface="黑体" panose="02010609060101010101" pitchFamily="49" charset="-122"/>
              </a:rPr>
              <a:t>RF-1</a:t>
            </a:r>
            <a:r>
              <a:rPr lang="zh-CN" altLang="en-US" sz="2000" b="1">
                <a:ea typeface="黑体" panose="02010609060101010101" pitchFamily="49" charset="-122"/>
              </a:rPr>
              <a:t>和</a:t>
            </a:r>
            <a:r>
              <a:rPr lang="en-US" altLang="zh-CN" sz="2000" b="1">
                <a:ea typeface="黑体" panose="02010609060101010101" pitchFamily="49" charset="-122"/>
              </a:rPr>
              <a:t>RF-2</a:t>
            </a:r>
            <a:r>
              <a:rPr lang="zh-CN" altLang="en-US" sz="2000" b="1">
                <a:ea typeface="黑体" panose="02010609060101010101" pitchFamily="49" charset="-122"/>
              </a:rPr>
              <a:t>的结合。</a:t>
            </a:r>
            <a:r>
              <a:rPr lang="zh-CN" altLang="en-US" sz="1800"/>
              <a:t> 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0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0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0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6" grpId="0" build="p" autoUpdateAnimBg="0"/>
      <p:bldP spid="210955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0"/>
            <a:ext cx="43180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9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638425"/>
            <a:ext cx="752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9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636838"/>
            <a:ext cx="72548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9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420938"/>
            <a:ext cx="122078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9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437063"/>
            <a:ext cx="4103687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358775" y="1258888"/>
            <a:ext cx="1584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、水解</a:t>
            </a:r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179388" y="2051050"/>
            <a:ext cx="2484437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 </a:t>
            </a:r>
            <a:r>
              <a:rPr lang="en-US" altLang="zh-CN"/>
              <a:t>RF-1  RF-2</a:t>
            </a:r>
            <a:r>
              <a:rPr lang="zh-CN" altLang="en-US"/>
              <a:t>能进入</a:t>
            </a:r>
            <a:r>
              <a:rPr lang="en-US" altLang="zh-CN"/>
              <a:t>A</a:t>
            </a:r>
            <a:r>
              <a:rPr lang="zh-CN" altLang="en-US"/>
              <a:t>位，诱导肽基转移酶的水解活性</a:t>
            </a:r>
            <a:r>
              <a:rPr lang="en-US" altLang="zh-CN"/>
              <a:t>R1,R2</a:t>
            </a:r>
            <a:r>
              <a:rPr lang="zh-CN" altLang="en-US"/>
              <a:t>可能还可以使</a:t>
            </a:r>
            <a:r>
              <a:rPr lang="en-US" altLang="zh-CN"/>
              <a:t>P</a:t>
            </a:r>
            <a:r>
              <a:rPr lang="zh-CN" altLang="en-US"/>
              <a:t>位点上的肽酰转移酶活力转变为水解活力，从而使肽酰</a:t>
            </a:r>
            <a:r>
              <a:rPr lang="en-US" altLang="zh-CN"/>
              <a:t>-tRNA</a:t>
            </a:r>
            <a:r>
              <a:rPr lang="zh-CN" altLang="en-US"/>
              <a:t>不再转移到氨酰</a:t>
            </a:r>
            <a:r>
              <a:rPr lang="en-US" altLang="zh-CN"/>
              <a:t>-tRNA</a:t>
            </a:r>
            <a:r>
              <a:rPr lang="zh-CN" altLang="en-US"/>
              <a:t>上，而转入水相中。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94" name="Picture 2"/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76250"/>
            <a:ext cx="647700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995" name="Picture 3"/>
          <p:cNvPicPr>
            <a:picLocks noChangeAspect="1" noChangeArrowheads="1"/>
          </p:cNvPicPr>
          <p:nvPr/>
        </p:nvPicPr>
        <p:blipFill>
          <a:blip r:embed="rId3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3375"/>
            <a:ext cx="1739900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996" name="Picture 4"/>
          <p:cNvPicPr>
            <a:picLocks noChangeAspect="1" noChangeArrowheads="1"/>
          </p:cNvPicPr>
          <p:nvPr/>
        </p:nvPicPr>
        <p:blipFill>
          <a:blip r:embed="rId4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341438"/>
            <a:ext cx="2384425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997" name="Picture 5"/>
          <p:cNvPicPr>
            <a:picLocks noChangeAspect="1" noChangeArrowheads="1"/>
          </p:cNvPicPr>
          <p:nvPr/>
        </p:nvPicPr>
        <p:blipFill>
          <a:blip r:embed="rId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3644900"/>
            <a:ext cx="48260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358775" y="1258888"/>
            <a:ext cx="1435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9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、释放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179388" y="2051050"/>
            <a:ext cx="2484437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一旦</a:t>
            </a:r>
            <a:r>
              <a:rPr lang="en-US" altLang="zh-CN"/>
              <a:t>tRNA</a:t>
            </a:r>
            <a:r>
              <a:rPr lang="zh-CN" altLang="en-US"/>
              <a:t>从</a:t>
            </a:r>
            <a:r>
              <a:rPr lang="en-US" altLang="zh-CN"/>
              <a:t>70S</a:t>
            </a:r>
            <a:r>
              <a:rPr lang="zh-CN" altLang="en-US"/>
              <a:t>核糖体上脱落，该核糖体就立即离开</a:t>
            </a:r>
            <a:r>
              <a:rPr lang="en-US" altLang="zh-CN"/>
              <a:t>mRNA,</a:t>
            </a:r>
            <a:r>
              <a:rPr lang="zh-CN" altLang="en-US"/>
              <a:t>解离成</a:t>
            </a:r>
            <a:r>
              <a:rPr lang="en-US" altLang="zh-CN"/>
              <a:t>50S</a:t>
            </a:r>
            <a:r>
              <a:rPr lang="zh-CN" altLang="en-US"/>
              <a:t>与</a:t>
            </a:r>
            <a:r>
              <a:rPr lang="en-US" altLang="zh-CN"/>
              <a:t>30S</a:t>
            </a:r>
            <a:r>
              <a:rPr lang="zh-CN" altLang="en-US"/>
              <a:t>亚基，这样形成的肽链不一定具有生物活性，还需加工。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404813"/>
            <a:ext cx="2257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268413"/>
            <a:ext cx="5524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196975"/>
            <a:ext cx="5810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989138"/>
            <a:ext cx="15843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492375"/>
            <a:ext cx="12858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3068638"/>
            <a:ext cx="7429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8"/>
          <p:cNvPicPr>
            <a:picLocks noChangeAspect="1" noChangeArrowheads="1"/>
          </p:cNvPicPr>
          <p:nvPr/>
        </p:nvPicPr>
        <p:blipFill>
          <a:blip r:embed="rId8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149725"/>
            <a:ext cx="2592387" cy="237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900113" y="3660775"/>
            <a:ext cx="6246812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若要合成</a:t>
            </a:r>
            <a:r>
              <a:rPr lang="en-US" altLang="zh-CN">
                <a:latin typeface="Arial" panose="020B0604020202020204" pitchFamily="34" charset="0"/>
              </a:rPr>
              <a:t>n</a:t>
            </a:r>
            <a:r>
              <a:rPr lang="zh-CN" altLang="en-US">
                <a:latin typeface="Arial" panose="020B0604020202020204" pitchFamily="34" charset="0"/>
              </a:rPr>
              <a:t>个</a:t>
            </a:r>
            <a:r>
              <a:rPr lang="en-US" altLang="zh-CN">
                <a:latin typeface="Arial" panose="020B0604020202020204" pitchFamily="34" charset="0"/>
              </a:rPr>
              <a:t>AA</a:t>
            </a:r>
            <a:r>
              <a:rPr lang="zh-CN" altLang="en-US">
                <a:latin typeface="Arial" panose="020B0604020202020204" pitchFamily="34" charset="0"/>
              </a:rPr>
              <a:t>组成的肽链要消耗多少能量？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①     </a:t>
            </a:r>
            <a:r>
              <a:rPr lang="en-US" altLang="zh-CN">
                <a:latin typeface="Arial" panose="020B0604020202020204" pitchFamily="34" charset="0"/>
              </a:rPr>
              <a:t>n</a:t>
            </a:r>
            <a:r>
              <a:rPr lang="zh-CN" altLang="en-US">
                <a:latin typeface="Arial" panose="020B0604020202020204" pitchFamily="34" charset="0"/>
              </a:rPr>
              <a:t>个</a:t>
            </a:r>
            <a:r>
              <a:rPr lang="en-US" altLang="zh-CN">
                <a:latin typeface="Arial" panose="020B0604020202020204" pitchFamily="34" charset="0"/>
              </a:rPr>
              <a:t>AA</a:t>
            </a:r>
            <a:r>
              <a:rPr lang="zh-CN" altLang="en-US">
                <a:latin typeface="Arial" panose="020B0604020202020204" pitchFamily="34" charset="0"/>
              </a:rPr>
              <a:t>的活化需</a:t>
            </a:r>
            <a:r>
              <a:rPr lang="en-US" altLang="zh-CN">
                <a:latin typeface="Arial" panose="020B0604020202020204" pitchFamily="34" charset="0"/>
              </a:rPr>
              <a:t>2n</a:t>
            </a:r>
            <a:r>
              <a:rPr lang="zh-CN" altLang="en-US">
                <a:latin typeface="Arial" panose="020B0604020202020204" pitchFamily="34" charset="0"/>
              </a:rPr>
              <a:t>个</a:t>
            </a:r>
            <a:r>
              <a:rPr lang="en-US" altLang="zh-CN">
                <a:latin typeface="Arial" panose="020B0604020202020204" pitchFamily="34" charset="0"/>
              </a:rPr>
              <a:t>ATP</a:t>
            </a:r>
            <a:r>
              <a:rPr lang="zh-CN" altLang="en-US">
                <a:latin typeface="Arial" panose="020B0604020202020204" pitchFamily="34" charset="0"/>
              </a:rPr>
              <a:t>高能磷酸键。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②     氨酰</a:t>
            </a:r>
            <a:r>
              <a:rPr lang="en-US" altLang="zh-CN">
                <a:latin typeface="Arial" panose="020B0604020202020204" pitchFamily="34" charset="0"/>
              </a:rPr>
              <a:t>-tRNA</a:t>
            </a:r>
            <a:r>
              <a:rPr lang="zh-CN" altLang="en-US">
                <a:latin typeface="Arial" panose="020B0604020202020204" pitchFamily="34" charset="0"/>
              </a:rPr>
              <a:t>进位需要</a:t>
            </a:r>
            <a:r>
              <a:rPr lang="en-US" altLang="zh-CN">
                <a:latin typeface="Arial" panose="020B0604020202020204" pitchFamily="34" charset="0"/>
              </a:rPr>
              <a:t>n-1</a:t>
            </a:r>
            <a:r>
              <a:rPr lang="zh-CN" altLang="en-US">
                <a:latin typeface="Arial" panose="020B0604020202020204" pitchFamily="34" charset="0"/>
              </a:rPr>
              <a:t>次进入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位  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③     </a:t>
            </a:r>
            <a:r>
              <a:rPr lang="zh-CN" altLang="en-US">
                <a:latin typeface="Arial" panose="020B0604020202020204" pitchFamily="34" charset="0"/>
              </a:rPr>
              <a:t>肽基移位，需要</a:t>
            </a:r>
            <a:r>
              <a:rPr lang="en-US" altLang="zh-CN">
                <a:latin typeface="Arial" panose="020B0604020202020204" pitchFamily="34" charset="0"/>
              </a:rPr>
              <a:t>n-1</a:t>
            </a:r>
            <a:r>
              <a:rPr lang="zh-CN" altLang="en-US">
                <a:latin typeface="Arial" panose="020B0604020202020204" pitchFamily="34" charset="0"/>
              </a:rPr>
              <a:t>次进入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位   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④     </a:t>
            </a:r>
            <a:r>
              <a:rPr lang="zh-CN" altLang="en-US">
                <a:latin typeface="Arial" panose="020B0604020202020204" pitchFamily="34" charset="0"/>
              </a:rPr>
              <a:t>起始和释放各 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个</a:t>
            </a:r>
            <a:r>
              <a:rPr lang="en-US" altLang="zh-CN">
                <a:latin typeface="Arial" panose="020B0604020202020204" pitchFamily="34" charset="0"/>
              </a:rPr>
              <a:t>GTP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总共：</a:t>
            </a:r>
            <a:r>
              <a:rPr lang="en-US" altLang="zh-CN">
                <a:solidFill>
                  <a:srgbClr val="0033CC"/>
                </a:solidFill>
                <a:latin typeface="Arial" panose="020B0604020202020204" pitchFamily="34" charset="0"/>
              </a:rPr>
              <a:t>4n</a:t>
            </a:r>
            <a:endParaRPr lang="en-US" altLang="zh-CN">
              <a:solidFill>
                <a:srgbClr val="0033CC"/>
              </a:solidFill>
            </a:endParaRPr>
          </a:p>
        </p:txBody>
      </p:sp>
      <p:grpSp>
        <p:nvGrpSpPr>
          <p:cNvPr id="41987" name="Group 4"/>
          <p:cNvGrpSpPr>
            <a:grpSpLocks/>
          </p:cNvGrpSpPr>
          <p:nvPr/>
        </p:nvGrpSpPr>
        <p:grpSpPr bwMode="auto">
          <a:xfrm>
            <a:off x="2771775" y="1484313"/>
            <a:ext cx="4267200" cy="2041525"/>
            <a:chOff x="864" y="1200"/>
            <a:chExt cx="2688" cy="1286"/>
          </a:xfrm>
        </p:grpSpPr>
        <p:sp>
          <p:nvSpPr>
            <p:cNvPr id="41989" name="Text Box 5"/>
            <p:cNvSpPr txBox="1">
              <a:spLocks noChangeArrowheads="1"/>
            </p:cNvSpPr>
            <p:nvPr/>
          </p:nvSpPr>
          <p:spPr bwMode="auto">
            <a:xfrm>
              <a:off x="864" y="1200"/>
              <a:ext cx="2688" cy="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60000"/>
                </a:lnSpc>
              </a:pPr>
              <a:r>
                <a:rPr lang="en-US" altLang="zh-CN" sz="2000" b="1">
                  <a:ea typeface="黑体" panose="02010609060101010101" pitchFamily="49" charset="-122"/>
                </a:rPr>
                <a:t>AA</a:t>
              </a:r>
              <a:r>
                <a:rPr lang="zh-CN" altLang="en-US" sz="2000" b="1">
                  <a:ea typeface="黑体" panose="02010609060101010101" pitchFamily="49" charset="-122"/>
                </a:rPr>
                <a:t>活化       </a:t>
              </a:r>
              <a:r>
                <a:rPr lang="en-US" altLang="zh-CN" sz="2000" b="1">
                  <a:ea typeface="黑体" panose="02010609060101010101" pitchFamily="49" charset="-122"/>
                </a:rPr>
                <a:t>1ATP</a:t>
              </a:r>
              <a:r>
                <a:rPr lang="zh-CN" altLang="en-US" sz="2000" b="1">
                  <a:ea typeface="黑体" panose="02010609060101010101" pitchFamily="49" charset="-122"/>
                </a:rPr>
                <a:t>（</a:t>
              </a:r>
              <a:r>
                <a:rPr lang="en-US" altLang="zh-CN" sz="2000" b="1">
                  <a:ea typeface="黑体" panose="02010609060101010101" pitchFamily="49" charset="-122"/>
                </a:rPr>
                <a:t>2</a:t>
              </a:r>
              <a:r>
                <a:rPr lang="zh-CN" altLang="en-US" sz="2000" b="1">
                  <a:ea typeface="黑体" panose="02010609060101010101" pitchFamily="49" charset="-122"/>
                </a:rPr>
                <a:t>个～     键）</a:t>
              </a:r>
            </a:p>
            <a:p>
              <a:pPr eaLnBrk="1" hangingPunct="1">
                <a:lnSpc>
                  <a:spcPct val="160000"/>
                </a:lnSpc>
              </a:pPr>
              <a:r>
                <a:rPr lang="zh-CN" altLang="en-US" sz="2000" b="1">
                  <a:ea typeface="黑体" panose="02010609060101010101" pitchFamily="49" charset="-122"/>
                </a:rPr>
                <a:t>起始             </a:t>
              </a:r>
              <a:r>
                <a:rPr lang="en-US" altLang="zh-CN" sz="2000" b="1">
                  <a:ea typeface="黑体" panose="02010609060101010101" pitchFamily="49" charset="-122"/>
                </a:rPr>
                <a:t>1GTP</a:t>
              </a:r>
              <a:r>
                <a:rPr lang="zh-CN" altLang="en-US" sz="2000" b="1">
                  <a:ea typeface="黑体" panose="02010609060101010101" pitchFamily="49" charset="-122"/>
                </a:rPr>
                <a:t>（</a:t>
              </a:r>
              <a:r>
                <a:rPr lang="en-US" altLang="zh-CN" sz="2000" b="1">
                  <a:ea typeface="黑体" panose="02010609060101010101" pitchFamily="49" charset="-122"/>
                </a:rPr>
                <a:t>1</a:t>
              </a:r>
              <a:r>
                <a:rPr lang="zh-CN" altLang="en-US" sz="2000" b="1">
                  <a:ea typeface="黑体" panose="02010609060101010101" pitchFamily="49" charset="-122"/>
                </a:rPr>
                <a:t>个～    键）</a:t>
              </a:r>
            </a:p>
            <a:p>
              <a:pPr eaLnBrk="1" hangingPunct="1">
                <a:lnSpc>
                  <a:spcPct val="160000"/>
                </a:lnSpc>
              </a:pPr>
              <a:r>
                <a:rPr lang="zh-CN" altLang="en-US" sz="2000" b="1">
                  <a:ea typeface="黑体" panose="02010609060101010101" pitchFamily="49" charset="-122"/>
                </a:rPr>
                <a:t>延长             </a:t>
              </a:r>
              <a:r>
                <a:rPr lang="en-US" altLang="zh-CN" sz="2000" b="1">
                  <a:ea typeface="黑体" panose="02010609060101010101" pitchFamily="49" charset="-122"/>
                </a:rPr>
                <a:t>2GTP</a:t>
              </a:r>
              <a:r>
                <a:rPr lang="zh-CN" altLang="en-US" sz="2000" b="1">
                  <a:ea typeface="黑体" panose="02010609060101010101" pitchFamily="49" charset="-122"/>
                </a:rPr>
                <a:t>（</a:t>
              </a:r>
              <a:r>
                <a:rPr lang="en-US" altLang="zh-CN" sz="2000" b="1">
                  <a:ea typeface="黑体" panose="02010609060101010101" pitchFamily="49" charset="-122"/>
                </a:rPr>
                <a:t>2</a:t>
              </a:r>
              <a:r>
                <a:rPr lang="zh-CN" altLang="en-US" sz="2000" b="1">
                  <a:ea typeface="黑体" panose="02010609060101010101" pitchFamily="49" charset="-122"/>
                </a:rPr>
                <a:t>个～    键）</a:t>
              </a:r>
            </a:p>
            <a:p>
              <a:pPr eaLnBrk="1" hangingPunct="1">
                <a:lnSpc>
                  <a:spcPct val="160000"/>
                </a:lnSpc>
              </a:pPr>
              <a:r>
                <a:rPr lang="zh-CN" altLang="en-US" sz="2000" b="1">
                  <a:ea typeface="黑体" panose="02010609060101010101" pitchFamily="49" charset="-122"/>
                </a:rPr>
                <a:t>终止             </a:t>
              </a:r>
              <a:r>
                <a:rPr lang="en-US" altLang="zh-CN" sz="2000" b="1">
                  <a:ea typeface="黑体" panose="02010609060101010101" pitchFamily="49" charset="-122"/>
                </a:rPr>
                <a:t>1GTP</a:t>
              </a:r>
              <a:r>
                <a:rPr lang="zh-CN" altLang="en-US" sz="2000" b="1">
                  <a:ea typeface="黑体" panose="02010609060101010101" pitchFamily="49" charset="-122"/>
                </a:rPr>
                <a:t>（</a:t>
              </a:r>
              <a:r>
                <a:rPr lang="en-US" altLang="zh-CN" sz="2000" b="1">
                  <a:ea typeface="黑体" panose="02010609060101010101" pitchFamily="49" charset="-122"/>
                </a:rPr>
                <a:t>1</a:t>
              </a:r>
              <a:r>
                <a:rPr lang="zh-CN" altLang="en-US" sz="2000" b="1">
                  <a:ea typeface="黑体" panose="02010609060101010101" pitchFamily="49" charset="-122"/>
                </a:rPr>
                <a:t>个～    键）</a:t>
              </a:r>
            </a:p>
          </p:txBody>
        </p:sp>
        <p:sp>
          <p:nvSpPr>
            <p:cNvPr id="41990" name="Oval 6"/>
            <p:cNvSpPr>
              <a:spLocks noChangeArrowheads="1"/>
            </p:cNvSpPr>
            <p:nvPr/>
          </p:nvSpPr>
          <p:spPr bwMode="auto">
            <a:xfrm>
              <a:off x="2736" y="1344"/>
              <a:ext cx="159" cy="15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/>
                <a:t>P</a:t>
              </a:r>
            </a:p>
          </p:txBody>
        </p:sp>
        <p:sp>
          <p:nvSpPr>
            <p:cNvPr id="41991" name="Oval 7"/>
            <p:cNvSpPr>
              <a:spLocks noChangeArrowheads="1"/>
            </p:cNvSpPr>
            <p:nvPr/>
          </p:nvSpPr>
          <p:spPr bwMode="auto">
            <a:xfrm>
              <a:off x="2736" y="1665"/>
              <a:ext cx="159" cy="15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/>
                <a:t>P</a:t>
              </a:r>
            </a:p>
          </p:txBody>
        </p:sp>
        <p:sp>
          <p:nvSpPr>
            <p:cNvPr id="41992" name="Oval 8"/>
            <p:cNvSpPr>
              <a:spLocks noChangeArrowheads="1"/>
            </p:cNvSpPr>
            <p:nvPr/>
          </p:nvSpPr>
          <p:spPr bwMode="auto">
            <a:xfrm>
              <a:off x="2736" y="1953"/>
              <a:ext cx="159" cy="15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/>
                <a:t>P</a:t>
              </a:r>
            </a:p>
          </p:txBody>
        </p:sp>
        <p:sp>
          <p:nvSpPr>
            <p:cNvPr id="41993" name="Oval 9"/>
            <p:cNvSpPr>
              <a:spLocks noChangeArrowheads="1"/>
            </p:cNvSpPr>
            <p:nvPr/>
          </p:nvSpPr>
          <p:spPr bwMode="auto">
            <a:xfrm>
              <a:off x="2736" y="2256"/>
              <a:ext cx="159" cy="15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/>
                <a:t>P</a:t>
              </a:r>
            </a:p>
          </p:txBody>
        </p:sp>
      </p:grpSp>
      <p:sp>
        <p:nvSpPr>
          <p:cNvPr id="41988" name="Text Box 11"/>
          <p:cNvSpPr txBox="1">
            <a:spLocks noChangeArrowheads="1"/>
          </p:cNvSpPr>
          <p:nvPr/>
        </p:nvSpPr>
        <p:spPr bwMode="auto">
          <a:xfrm>
            <a:off x="900113" y="898525"/>
            <a:ext cx="6119812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 dirty="0"/>
              <a:t>三、蛋白质生物合成所需的能量</a:t>
            </a:r>
            <a:r>
              <a:rPr lang="zh-CN" altLang="en-US" sz="2800" b="1" dirty="0">
                <a:solidFill>
                  <a:srgbClr val="0033CC"/>
                </a:solidFill>
              </a:rPr>
              <a:t>原核生物：</a:t>
            </a:r>
            <a:endParaRPr lang="zh-CN" altLang="en-US" sz="2800" dirty="0">
              <a:solidFill>
                <a:srgbClr val="0033CC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755650" y="1557338"/>
            <a:ext cx="7200900" cy="368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几个主要差别：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宋体" panose="02010600030101010101" pitchFamily="2" charset="-122"/>
              </a:rPr>
              <a:t>1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en-US" altLang="zh-CN" sz="2800">
                <a:latin typeface="宋体" panose="02010600030101010101" pitchFamily="2" charset="-122"/>
              </a:rPr>
              <a:t>mRNA</a:t>
            </a:r>
            <a:r>
              <a:rPr lang="zh-CN" altLang="en-US" sz="2800">
                <a:latin typeface="宋体" panose="02010600030101010101" pitchFamily="2" charset="-122"/>
              </a:rPr>
              <a:t>一般是单顺反子，一般只有一个起始密码子，一个终止密码子；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en-US" sz="2800">
                <a:latin typeface="宋体" panose="02010600030101010101" pitchFamily="2" charset="-122"/>
              </a:rPr>
              <a:t>、一般与</a:t>
            </a:r>
            <a:r>
              <a:rPr lang="en-US" altLang="zh-CN" sz="2800">
                <a:latin typeface="宋体" panose="02010600030101010101" pitchFamily="2" charset="-122"/>
              </a:rPr>
              <a:t>5’</a:t>
            </a:r>
            <a:r>
              <a:rPr lang="zh-CN" altLang="en-US" sz="2800">
                <a:latin typeface="宋体" panose="02010600030101010101" pitchFamily="2" charset="-122"/>
              </a:rPr>
              <a:t>端的第一个</a:t>
            </a:r>
            <a:r>
              <a:rPr lang="en-US" altLang="zh-CN" sz="2800">
                <a:latin typeface="宋体" panose="02010600030101010101" pitchFamily="2" charset="-122"/>
              </a:rPr>
              <a:t>AUG</a:t>
            </a:r>
            <a:r>
              <a:rPr lang="zh-CN" altLang="en-US" sz="2800">
                <a:latin typeface="宋体" panose="02010600030101010101" pitchFamily="2" charset="-122"/>
              </a:rPr>
              <a:t>就是它的起始密码子；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宋体" panose="02010600030101010101" pitchFamily="2" charset="-122"/>
              </a:rPr>
              <a:t>3</a:t>
            </a:r>
            <a:r>
              <a:rPr lang="zh-CN" altLang="en-US" sz="2800">
                <a:latin typeface="宋体" panose="02010600030101010101" pitchFamily="2" charset="-122"/>
              </a:rPr>
              <a:t>、寻找</a:t>
            </a:r>
            <a:r>
              <a:rPr lang="en-US" altLang="zh-CN" sz="2800">
                <a:latin typeface="宋体" panose="02010600030101010101" pitchFamily="2" charset="-122"/>
              </a:rPr>
              <a:t>AUG</a:t>
            </a:r>
            <a:r>
              <a:rPr lang="zh-CN" altLang="en-US" sz="2800">
                <a:latin typeface="宋体" panose="02010600030101010101" pitchFamily="2" charset="-122"/>
              </a:rPr>
              <a:t>起始密码子的方式不同，真核靠</a:t>
            </a:r>
            <a:r>
              <a:rPr lang="en-US" altLang="zh-CN" sz="2800">
                <a:latin typeface="宋体" panose="02010600030101010101" pitchFamily="2" charset="-122"/>
              </a:rPr>
              <a:t>cap(</a:t>
            </a:r>
            <a:r>
              <a:rPr lang="zh-CN" altLang="en-US" sz="2800">
                <a:latin typeface="宋体" panose="02010600030101010101" pitchFamily="2" charset="-122"/>
              </a:rPr>
              <a:t>帽子结合蛋白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就结合在</a:t>
            </a:r>
            <a:r>
              <a:rPr lang="en-US" altLang="zh-CN" sz="2800">
                <a:latin typeface="宋体" panose="02010600030101010101" pitchFamily="2" charset="-122"/>
              </a:rPr>
              <a:t>5’</a:t>
            </a:r>
            <a:r>
              <a:rPr lang="zh-CN" altLang="en-US" sz="2800">
                <a:latin typeface="宋体" panose="02010600030101010101" pitchFamily="2" charset="-122"/>
              </a:rPr>
              <a:t>端。</a:t>
            </a:r>
          </a:p>
        </p:txBody>
      </p:sp>
      <p:sp>
        <p:nvSpPr>
          <p:cNvPr id="43011" name="Text Box 6"/>
          <p:cNvSpPr txBox="1">
            <a:spLocks noChangeArrowheads="1"/>
          </p:cNvSpPr>
          <p:nvPr/>
        </p:nvSpPr>
        <p:spPr bwMode="auto">
          <a:xfrm>
            <a:off x="898525" y="898525"/>
            <a:ext cx="7162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四、真核生物蛋白质合成的某些特点</a:t>
            </a:r>
          </a:p>
        </p:txBody>
      </p:sp>
    </p:spTree>
  </p:cSld>
  <p:clrMapOvr>
    <a:masterClrMapping/>
  </p:clrMapOvr>
  <p:transition spd="med">
    <p:pull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SD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89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7"/>
          <p:cNvSpPr txBox="1">
            <a:spLocks noChangeArrowheads="1"/>
          </p:cNvSpPr>
          <p:nvPr/>
        </p:nvSpPr>
        <p:spPr bwMode="auto">
          <a:xfrm>
            <a:off x="898525" y="898525"/>
            <a:ext cx="5402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五、蛋白质合成的抑制剂</a:t>
            </a:r>
          </a:p>
        </p:txBody>
      </p:sp>
      <p:sp>
        <p:nvSpPr>
          <p:cNvPr id="45059" name="Text Box 8"/>
          <p:cNvSpPr txBox="1">
            <a:spLocks noChangeArrowheads="1"/>
          </p:cNvSpPr>
          <p:nvPr/>
        </p:nvSpPr>
        <p:spPr bwMode="auto">
          <a:xfrm>
            <a:off x="755650" y="1557338"/>
            <a:ext cx="720090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、嘌呤霉素</a:t>
            </a:r>
            <a:r>
              <a:rPr lang="en-US" altLang="zh-CN" sz="2800" dirty="0">
                <a:latin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宋体" panose="02010600030101010101" pitchFamily="2" charset="-122"/>
              </a:rPr>
              <a:t>抑制“转肽”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、白喉霉素</a:t>
            </a:r>
            <a:r>
              <a:rPr lang="en-US" altLang="zh-CN" sz="2800" dirty="0">
                <a:latin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宋体" panose="02010600030101010101" pitchFamily="2" charset="-122"/>
              </a:rPr>
              <a:t>与</a:t>
            </a:r>
            <a:r>
              <a:rPr lang="en-US" altLang="zh-CN" sz="2800" dirty="0">
                <a:latin typeface="宋体" panose="02010600030101010101" pitchFamily="2" charset="-122"/>
              </a:rPr>
              <a:t>EF-2</a:t>
            </a:r>
            <a:r>
              <a:rPr lang="zh-CN" altLang="en-US" sz="2800">
                <a:latin typeface="宋体" panose="02010600030101010101" pitchFamily="2" charset="-122"/>
              </a:rPr>
              <a:t>结合，抑制“移位”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、氯霉素、四环素、链霉素</a:t>
            </a:r>
            <a:r>
              <a:rPr lang="en-US" altLang="zh-CN" sz="2800" dirty="0">
                <a:latin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宋体" panose="02010600030101010101" pitchFamily="2" charset="-122"/>
              </a:rPr>
              <a:t>抑制原核生物</a:t>
            </a:r>
            <a:r>
              <a:rPr lang="en-US" altLang="zh-CN" sz="2800" dirty="0">
                <a:latin typeface="宋体" panose="02010600030101010101" pitchFamily="2" charset="-122"/>
              </a:rPr>
              <a:t>(pro)</a:t>
            </a:r>
            <a:r>
              <a:rPr lang="zh-CN" altLang="en-US" sz="2800" dirty="0">
                <a:latin typeface="宋体" panose="02010600030101010101" pitchFamily="2" charset="-122"/>
              </a:rPr>
              <a:t>翻译，不抑制真核生物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 err="1">
                <a:latin typeface="宋体" panose="02010600030101010101" pitchFamily="2" charset="-122"/>
              </a:rPr>
              <a:t>eu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翻译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4</a:t>
            </a:r>
            <a:r>
              <a:rPr lang="zh-CN" altLang="en-US" sz="2800" dirty="0">
                <a:latin typeface="宋体" panose="02010600030101010101" pitchFamily="2" charset="-122"/>
              </a:rPr>
              <a:t>、亚胺环己酮</a:t>
            </a:r>
            <a:r>
              <a:rPr lang="en-US" altLang="zh-CN" sz="2800" dirty="0">
                <a:latin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宋体" panose="02010600030101010101" pitchFamily="2" charset="-122"/>
              </a:rPr>
              <a:t>抑制</a:t>
            </a:r>
            <a:r>
              <a:rPr lang="en-US" altLang="zh-CN" sz="2800" dirty="0" err="1">
                <a:latin typeface="宋体" panose="02010600030101010101" pitchFamily="2" charset="-122"/>
              </a:rPr>
              <a:t>eu</a:t>
            </a:r>
            <a:r>
              <a:rPr lang="zh-CN" altLang="en-US" sz="2800" dirty="0">
                <a:latin typeface="宋体" panose="02010600030101010101" pitchFamily="2" charset="-122"/>
              </a:rPr>
              <a:t>，不抑制</a:t>
            </a:r>
            <a:r>
              <a:rPr lang="en-US" altLang="zh-CN" sz="2800" dirty="0">
                <a:latin typeface="宋体" panose="02010600030101010101" pitchFamily="2" charset="-122"/>
              </a:rPr>
              <a:t>pro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735013" y="228600"/>
            <a:ext cx="255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FF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>
                <a:solidFill>
                  <a:srgbClr val="FFFFFF"/>
                </a:solidFill>
                <a:ea typeface="黑体" panose="02010609060101010101" pitchFamily="49" charset="-122"/>
              </a:rPr>
              <a:t>．肽链的起始：</a:t>
            </a:r>
            <a:r>
              <a:rPr lang="zh-CN" altLang="en-US"/>
              <a:t> </a:t>
            </a:r>
          </a:p>
        </p:txBody>
      </p:sp>
      <p:sp>
        <p:nvSpPr>
          <p:cNvPr id="231427" name="Text Box 3"/>
          <p:cNvSpPr txBox="1">
            <a:spLocks noChangeArrowheads="1"/>
          </p:cNvSpPr>
          <p:nvPr/>
        </p:nvSpPr>
        <p:spPr bwMode="auto">
          <a:xfrm>
            <a:off x="360363" y="1412875"/>
            <a:ext cx="7596187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宋体" panose="02010600030101010101" pitchFamily="2" charset="-122"/>
              </a:rPr>
              <a:t>运输方向：细胞质</a:t>
            </a:r>
            <a:r>
              <a:rPr lang="en-US" altLang="zh-CN">
                <a:latin typeface="宋体" panose="02010600030101010101" pitchFamily="2" charset="-122"/>
              </a:rPr>
              <a:t>-&gt;</a:t>
            </a:r>
            <a:r>
              <a:rPr lang="zh-CN" altLang="en-US">
                <a:latin typeface="宋体" panose="02010600030101010101" pitchFamily="2" charset="-122"/>
              </a:rPr>
              <a:t>细胞器，膜间隙，细胞外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信号肽：</a:t>
            </a:r>
            <a:r>
              <a:rPr lang="zh-CN" altLang="en-US">
                <a:latin typeface="宋体" panose="02010600030101010101" pitchFamily="2" charset="-122"/>
              </a:rPr>
              <a:t>位于肽链</a:t>
            </a:r>
            <a:r>
              <a:rPr lang="en-US" altLang="zh-CN">
                <a:latin typeface="宋体" panose="02010600030101010101" pitchFamily="2" charset="-122"/>
              </a:rPr>
              <a:t>N</a:t>
            </a:r>
            <a:r>
              <a:rPr lang="zh-CN" altLang="en-US">
                <a:latin typeface="宋体" panose="02010600030101010101" pitchFamily="2" charset="-122"/>
              </a:rPr>
              <a:t>端或者中部，含疏水区，引导跨膜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宋体" panose="02010600030101010101" pitchFamily="2" charset="-122"/>
              </a:rPr>
              <a:t>真核生物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翻译后运输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原核生物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翻译中运输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</a:rPr>
              <a:t>修饰：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糖基化修饰、切除信号肽、形成二硫键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（内质网、高尔基体）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2339975" y="808038"/>
            <a:ext cx="3744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6600"/>
                </a:solidFill>
                <a:ea typeface="隶书" panose="02010509060101010101" pitchFamily="49" charset="-122"/>
              </a:rPr>
              <a:t>第三节 运输及修饰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7" grpId="0" build="p" autoUpdateAnimBg="0"/>
    </p:bldLst>
  </p:timing>
</p:sld>
</file>

<file path=ppt/theme/theme1.xml><?xml version="1.0" encoding="utf-8"?>
<a:theme xmlns:a="http://schemas.openxmlformats.org/drawingml/2006/main" name="Bamboo">
  <a:themeElements>
    <a:clrScheme name="Bamboo 2">
      <a:dk1>
        <a:srgbClr val="000000"/>
      </a:dk1>
      <a:lt1>
        <a:srgbClr val="FFFFFF"/>
      </a:lt1>
      <a:dk2>
        <a:srgbClr val="003300"/>
      </a:dk2>
      <a:lt2>
        <a:srgbClr val="5F5F5F"/>
      </a:lt2>
      <a:accent1>
        <a:srgbClr val="0099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B98A00"/>
      </a:accent6>
      <a:hlink>
        <a:srgbClr val="FF3300"/>
      </a:hlink>
      <a:folHlink>
        <a:srgbClr val="663300"/>
      </a:folHlink>
    </a:clrScheme>
    <a:fontScheme name="Bambo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amboo 1">
        <a:dk1>
          <a:srgbClr val="000000"/>
        </a:dk1>
        <a:lt1>
          <a:srgbClr val="FFFFFF"/>
        </a:lt1>
        <a:dk2>
          <a:srgbClr val="396F39"/>
        </a:dk2>
        <a:lt2>
          <a:srgbClr val="FFCC00"/>
        </a:lt2>
        <a:accent1>
          <a:srgbClr val="009900"/>
        </a:accent1>
        <a:accent2>
          <a:srgbClr val="CC9900"/>
        </a:accent2>
        <a:accent3>
          <a:srgbClr val="AEBBAE"/>
        </a:accent3>
        <a:accent4>
          <a:srgbClr val="DADADA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mboo 2">
        <a:dk1>
          <a:srgbClr val="000000"/>
        </a:dk1>
        <a:lt1>
          <a:srgbClr val="FFFFFF"/>
        </a:lt1>
        <a:dk2>
          <a:srgbClr val="003300"/>
        </a:dk2>
        <a:lt2>
          <a:srgbClr val="5F5F5F"/>
        </a:lt2>
        <a:accent1>
          <a:srgbClr val="0099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4">
        <a:dk1>
          <a:srgbClr val="000000"/>
        </a:dk1>
        <a:lt1>
          <a:srgbClr val="FFFFFF"/>
        </a:lt1>
        <a:dk2>
          <a:srgbClr val="FF0000"/>
        </a:dk2>
        <a:lt2>
          <a:srgbClr val="800000"/>
        </a:lt2>
        <a:accent1>
          <a:srgbClr val="008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E78A00"/>
        </a:accent6>
        <a:hlink>
          <a:srgbClr val="CC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Designs\Bamboo.pot</Template>
  <TotalTime>1222</TotalTime>
  <Words>1840</Words>
  <Application>Microsoft Office PowerPoint</Application>
  <PresentationFormat>全屏显示(4:3)</PresentationFormat>
  <Paragraphs>190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华文新魏</vt:lpstr>
      <vt:lpstr>楷体_GB2312</vt:lpstr>
      <vt:lpstr>隶书</vt:lpstr>
      <vt:lpstr>宋体</vt:lpstr>
      <vt:lpstr>Arial</vt:lpstr>
      <vt:lpstr>Arial Black</vt:lpstr>
      <vt:lpstr>Tahoma</vt:lpstr>
      <vt:lpstr>Times</vt:lpstr>
      <vt:lpstr>Times New Roman</vt:lpstr>
      <vt:lpstr>Wingdings</vt:lpstr>
      <vt:lpstr>Bamboo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HKThome</dc:creator>
  <cp:lastModifiedBy>HUANG KEN</cp:lastModifiedBy>
  <cp:revision>341</cp:revision>
  <dcterms:created xsi:type="dcterms:W3CDTF">1601-01-01T00:00:00Z</dcterms:created>
  <dcterms:modified xsi:type="dcterms:W3CDTF">2023-05-02T02:55:30Z</dcterms:modified>
</cp:coreProperties>
</file>