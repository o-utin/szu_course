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6"/>
  </p:notesMasterIdLst>
  <p:sldIdLst>
    <p:sldId id="282" r:id="rId2"/>
    <p:sldId id="285" r:id="rId3"/>
    <p:sldId id="320" r:id="rId4"/>
    <p:sldId id="321" r:id="rId5"/>
    <p:sldId id="322" r:id="rId6"/>
    <p:sldId id="323" r:id="rId7"/>
    <p:sldId id="324" r:id="rId8"/>
    <p:sldId id="325" r:id="rId9"/>
    <p:sldId id="327" r:id="rId10"/>
    <p:sldId id="317" r:id="rId11"/>
    <p:sldId id="326" r:id="rId12"/>
    <p:sldId id="359" r:id="rId13"/>
    <p:sldId id="334" r:id="rId14"/>
    <p:sldId id="332" r:id="rId15"/>
    <p:sldId id="333" r:id="rId16"/>
    <p:sldId id="335" r:id="rId17"/>
    <p:sldId id="338" r:id="rId18"/>
    <p:sldId id="346" r:id="rId19"/>
    <p:sldId id="342" r:id="rId20"/>
    <p:sldId id="344" r:id="rId21"/>
    <p:sldId id="345" r:id="rId22"/>
    <p:sldId id="347" r:id="rId23"/>
    <p:sldId id="372" r:id="rId24"/>
    <p:sldId id="348" r:id="rId25"/>
    <p:sldId id="349" r:id="rId26"/>
    <p:sldId id="350" r:id="rId27"/>
    <p:sldId id="356" r:id="rId28"/>
    <p:sldId id="351" r:id="rId29"/>
    <p:sldId id="352" r:id="rId30"/>
    <p:sldId id="354" r:id="rId31"/>
    <p:sldId id="353" r:id="rId32"/>
    <p:sldId id="355" r:id="rId33"/>
    <p:sldId id="363" r:id="rId34"/>
    <p:sldId id="364" r:id="rId35"/>
    <p:sldId id="366" r:id="rId36"/>
    <p:sldId id="365" r:id="rId37"/>
    <p:sldId id="367" r:id="rId38"/>
    <p:sldId id="369" r:id="rId39"/>
    <p:sldId id="292" r:id="rId40"/>
    <p:sldId id="373" r:id="rId41"/>
    <p:sldId id="368" r:id="rId42"/>
    <p:sldId id="370" r:id="rId43"/>
    <p:sldId id="371" r:id="rId44"/>
    <p:sldId id="358" r:id="rId4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83" autoAdjust="0"/>
  </p:normalViewPr>
  <p:slideViewPr>
    <p:cSldViewPr>
      <p:cViewPr varScale="1">
        <p:scale>
          <a:sx n="91" d="100"/>
          <a:sy n="91" d="100"/>
        </p:scale>
        <p:origin x="68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33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716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78FE4C3-E152-4C16-B999-91A641FAC7B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ambo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792"/>
          <a:stretch>
            <a:fillRect/>
          </a:stretch>
        </p:blipFill>
        <p:spPr bwMode="ltGray">
          <a:xfrm>
            <a:off x="6292850" y="-1588"/>
            <a:ext cx="2857500" cy="686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04800" y="1158875"/>
            <a:ext cx="6248400" cy="14319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451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04800" y="3429000"/>
            <a:ext cx="6019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257175" y="6248400"/>
            <a:ext cx="1622425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108200" y="6248400"/>
            <a:ext cx="299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486400" y="6248400"/>
            <a:ext cx="1371600" cy="457200"/>
          </a:xfrm>
        </p:spPr>
        <p:txBody>
          <a:bodyPr/>
          <a:lstStyle>
            <a:lvl1pPr>
              <a:defRPr/>
            </a:lvl1pPr>
          </a:lstStyle>
          <a:p>
            <a:fld id="{986D255E-6147-464E-959C-7D7B4B45DA7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4650560"/>
      </p:ext>
    </p:extLst>
  </p:cSld>
  <p:clrMapOvr>
    <a:masterClrMapping/>
  </p:clrMapOvr>
  <p:transition spd="med">
    <p:pull dir="r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084BBF-19FA-4F82-906D-3895A6FF398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4078591"/>
      </p:ext>
    </p:extLst>
  </p:cSld>
  <p:clrMapOvr>
    <a:masterClrMapping/>
  </p:clrMapOvr>
  <p:transition spd="med">
    <p:pull dir="r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1BF27F-CC1D-4845-AE1D-4325E76BD47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1621744"/>
      </p:ext>
    </p:extLst>
  </p:cSld>
  <p:clrMapOvr>
    <a:masterClrMapping/>
  </p:clrMapOvr>
  <p:transition spd="med">
    <p:pull dir="r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286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0767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14DE73-D3C6-4252-8CEF-6D2A0F9674B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705536"/>
      </p:ext>
    </p:extLst>
  </p:cSld>
  <p:clrMapOvr>
    <a:masterClrMapping/>
  </p:clrMapOvr>
  <p:transition spd="med">
    <p:pull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EDFBB1-40E0-4DA1-B88B-B3DC4974DC9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0335371"/>
      </p:ext>
    </p:extLst>
  </p:cSld>
  <p:clrMapOvr>
    <a:masterClrMapping/>
  </p:clrMapOvr>
  <p:transition spd="med">
    <p:pull dir="r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3BA6C8-0B42-42AE-A046-F39FD644DA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5402566"/>
      </p:ext>
    </p:extLst>
  </p:cSld>
  <p:clrMapOvr>
    <a:masterClrMapping/>
  </p:clrMapOvr>
  <p:transition spd="med">
    <p:pull dir="r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F21298-7ECB-4C20-9C02-B7BF04E97A0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5072611"/>
      </p:ext>
    </p:extLst>
  </p:cSld>
  <p:clrMapOvr>
    <a:masterClrMapping/>
  </p:clrMapOvr>
  <p:transition spd="med">
    <p:pull dir="r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9B770E-9417-40D0-B977-57A7E5EDFBC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3088429"/>
      </p:ext>
    </p:extLst>
  </p:cSld>
  <p:clrMapOvr>
    <a:masterClrMapping/>
  </p:clrMapOvr>
  <p:transition spd="med">
    <p:pull dir="r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C8ABEA-D329-4B91-B118-D110F65567E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1871117"/>
      </p:ext>
    </p:extLst>
  </p:cSld>
  <p:clrMapOvr>
    <a:masterClrMapping/>
  </p:clrMapOvr>
  <p:transition spd="med">
    <p:pull dir="r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0252A8-CB3D-46FE-B574-21015EBB91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2244540"/>
      </p:ext>
    </p:extLst>
  </p:cSld>
  <p:clrMapOvr>
    <a:masterClrMapping/>
  </p:clrMapOvr>
  <p:transition spd="med">
    <p:pull dir="r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886450" y="320675"/>
            <a:ext cx="1885950" cy="57753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28600" y="320675"/>
            <a:ext cx="5505450" cy="57753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E89587-4D63-4CC9-967E-EC9D8F4CEDB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7357993"/>
      </p:ext>
    </p:extLst>
  </p:cSld>
  <p:clrMapOvr>
    <a:masterClrMapping/>
  </p:clrMapOvr>
  <p:transition spd="med">
    <p:pull dir="r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320675"/>
            <a:ext cx="7467600" cy="14319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228600" y="1981200"/>
            <a:ext cx="7543800" cy="4114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CF8FEA-F1CB-4056-86D1-96FE46D2934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2452069"/>
      </p:ext>
    </p:extLst>
  </p:cSld>
  <p:clrMapOvr>
    <a:masterClrMapping/>
  </p:clrMapOvr>
  <p:transition spd="med">
    <p:pull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amboo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976"/>
          <a:stretch>
            <a:fillRect/>
          </a:stretch>
        </p:blipFill>
        <p:spPr bwMode="ltGray">
          <a:xfrm>
            <a:off x="7353300" y="0"/>
            <a:ext cx="1790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20675"/>
            <a:ext cx="746760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981200"/>
            <a:ext cx="7543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248400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349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09800" y="6248400"/>
            <a:ext cx="350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349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248400" y="62484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62C6306B-6652-4A47-83F2-895D250041D3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transition spd="med">
    <p:pull dir="rd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­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­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323850" y="2133600"/>
            <a:ext cx="7416800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4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RNA</a:t>
            </a:r>
            <a:r>
              <a:rPr lang="zh-CN" altLang="en-US" sz="4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的生物合成</a:t>
            </a:r>
          </a:p>
          <a:p>
            <a:pPr algn="ctr">
              <a:defRPr/>
            </a:pPr>
            <a:endParaRPr lang="en-US" altLang="zh-CN" sz="48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>
              <a:defRPr/>
            </a:pPr>
            <a:r>
              <a:rPr lang="en-US" altLang="zh-CN" sz="4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Biosynthesis of RNA</a:t>
            </a:r>
          </a:p>
        </p:txBody>
      </p:sp>
    </p:spTree>
  </p:cSld>
  <p:clrMapOvr>
    <a:masterClrMapping/>
  </p:clrMapOvr>
  <p:transition spd="med">
    <p:pull dir="r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028700"/>
            <a:ext cx="6121400" cy="64135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6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一、</a:t>
            </a:r>
            <a:r>
              <a:rPr lang="en-US" altLang="zh-CN" sz="36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DNA</a:t>
            </a:r>
            <a:r>
              <a:rPr lang="zh-CN" altLang="en-US" sz="36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指导下</a:t>
            </a:r>
            <a:r>
              <a:rPr lang="en-US" altLang="zh-CN" sz="36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RNA</a:t>
            </a:r>
            <a:r>
              <a:rPr lang="zh-CN" altLang="en-US" sz="36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的合成</a:t>
            </a:r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1403350" y="1851025"/>
            <a:ext cx="5454650" cy="325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一</a:t>
            </a: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概况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二</a:t>
            </a: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)DNA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指导的</a:t>
            </a: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RNA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聚合酶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三</a:t>
            </a: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原核生物的转录过程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四</a:t>
            </a: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真核生物的转录作用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五</a:t>
            </a: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)RNA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生物合成的抑制剂</a:t>
            </a:r>
          </a:p>
        </p:txBody>
      </p:sp>
    </p:spTree>
  </p:cSld>
  <p:clrMapOvr>
    <a:masterClrMapping/>
  </p:clrMapOvr>
  <p:transition spd="med">
    <p:pull dir="r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2625" y="549275"/>
            <a:ext cx="6121400" cy="579438"/>
          </a:xfrm>
        </p:spPr>
        <p:txBody>
          <a:bodyPr/>
          <a:lstStyle/>
          <a:p>
            <a:pPr algn="l" eaLnBrk="1" hangingPunct="1"/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一</a:t>
            </a: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概况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827088" y="1196975"/>
            <a:ext cx="6840537" cy="256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宋体" panose="02010600030101010101" pitchFamily="2" charset="-122"/>
              </a:rPr>
              <a:t>1</a:t>
            </a:r>
            <a:r>
              <a:rPr lang="zh-CN" altLang="en-US" sz="2800" b="1">
                <a:latin typeface="宋体" panose="02010600030101010101" pitchFamily="2" charset="-122"/>
              </a:rPr>
              <a:t>、转录</a:t>
            </a:r>
            <a:r>
              <a:rPr lang="en-US" altLang="zh-CN" sz="2800" b="1">
                <a:latin typeface="宋体" panose="02010600030101010101" pitchFamily="2" charset="-122"/>
              </a:rPr>
              <a:t>—</a:t>
            </a:r>
            <a:r>
              <a:rPr lang="zh-CN" altLang="en-US" sz="2800" b="1">
                <a:latin typeface="宋体" panose="02010600030101010101" pitchFamily="2" charset="-122"/>
              </a:rPr>
              <a:t>遗传信息从</a:t>
            </a:r>
            <a:r>
              <a:rPr lang="en-US" altLang="zh-CN" sz="2800" b="1">
                <a:latin typeface="宋体" panose="02010600030101010101" pitchFamily="2" charset="-122"/>
              </a:rPr>
              <a:t>DNA</a:t>
            </a:r>
            <a:r>
              <a:rPr lang="zh-CN" altLang="en-US" sz="2800" b="1">
                <a:latin typeface="宋体" panose="02010600030101010101" pitchFamily="2" charset="-122"/>
              </a:rPr>
              <a:t>到</a:t>
            </a:r>
            <a:r>
              <a:rPr lang="en-US" altLang="zh-CN" sz="2800" b="1">
                <a:latin typeface="宋体" panose="02010600030101010101" pitchFamily="2" charset="-122"/>
              </a:rPr>
              <a:t>RNA</a:t>
            </a:r>
            <a:r>
              <a:rPr lang="zh-CN" altLang="en-US" sz="2800" b="1">
                <a:latin typeface="宋体" panose="02010600030101010101" pitchFamily="2" charset="-122"/>
              </a:rPr>
              <a:t>的转移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>
                <a:latin typeface="宋体" panose="02010600030101010101" pitchFamily="2" charset="-122"/>
              </a:rPr>
              <a:t>即以双链</a:t>
            </a:r>
            <a:r>
              <a:rPr lang="en-US" altLang="zh-CN" b="1">
                <a:latin typeface="宋体" panose="02010600030101010101" pitchFamily="2" charset="-122"/>
              </a:rPr>
              <a:t>DNA</a:t>
            </a:r>
            <a:r>
              <a:rPr lang="zh-CN" altLang="en-US" b="1">
                <a:latin typeface="宋体" panose="02010600030101010101" pitchFamily="2" charset="-122"/>
              </a:rPr>
              <a:t>的一条链为模板，以</a:t>
            </a:r>
            <a:r>
              <a:rPr lang="en-US" altLang="zh-CN" b="1">
                <a:latin typeface="宋体" panose="02010600030101010101" pitchFamily="2" charset="-122"/>
              </a:rPr>
              <a:t>4</a:t>
            </a:r>
            <a:r>
              <a:rPr lang="zh-CN" altLang="en-US" b="1">
                <a:latin typeface="宋体" panose="02010600030101010101" pitchFamily="2" charset="-122"/>
              </a:rPr>
              <a:t>种核苷三磷酸</a:t>
            </a:r>
            <a:r>
              <a:rPr lang="en-US" altLang="zh-CN" b="1">
                <a:latin typeface="宋体" panose="02010600030101010101" pitchFamily="2" charset="-122"/>
              </a:rPr>
              <a:t>NTP</a:t>
            </a:r>
            <a:r>
              <a:rPr lang="zh-CN" altLang="en-US" b="1">
                <a:latin typeface="宋体" panose="02010600030101010101" pitchFamily="2" charset="-122"/>
              </a:rPr>
              <a:t>为原料，在</a:t>
            </a:r>
            <a:r>
              <a:rPr lang="en-US" altLang="zh-CN" b="1">
                <a:latin typeface="宋体" panose="02010600030101010101" pitchFamily="2" charset="-122"/>
              </a:rPr>
              <a:t>RNA</a:t>
            </a:r>
            <a:r>
              <a:rPr lang="zh-CN" altLang="en-US" b="1">
                <a:latin typeface="宋体" panose="02010600030101010101" pitchFamily="2" charset="-122"/>
              </a:rPr>
              <a:t>聚合酶催化下合成</a:t>
            </a:r>
            <a:r>
              <a:rPr lang="en-US" altLang="zh-CN" b="1">
                <a:latin typeface="宋体" panose="02010600030101010101" pitchFamily="2" charset="-122"/>
              </a:rPr>
              <a:t>RNA</a:t>
            </a:r>
            <a:r>
              <a:rPr lang="zh-CN" altLang="en-US" b="1">
                <a:latin typeface="宋体" panose="02010600030101010101" pitchFamily="2" charset="-122"/>
              </a:rPr>
              <a:t>的过程（包括</a:t>
            </a:r>
            <a:r>
              <a:rPr lang="en-US" altLang="zh-CN" b="1">
                <a:latin typeface="宋体" panose="02010600030101010101" pitchFamily="2" charset="-122"/>
              </a:rPr>
              <a:t>mRNA</a:t>
            </a:r>
            <a:r>
              <a:rPr lang="zh-CN" altLang="en-US" b="1">
                <a:latin typeface="宋体" panose="02010600030101010101" pitchFamily="2" charset="-122"/>
              </a:rPr>
              <a:t>、</a:t>
            </a:r>
            <a:r>
              <a:rPr lang="en-US" altLang="zh-CN" b="1">
                <a:latin typeface="宋体" panose="02010600030101010101" pitchFamily="2" charset="-122"/>
              </a:rPr>
              <a:t>tRNA</a:t>
            </a:r>
            <a:r>
              <a:rPr lang="zh-CN" altLang="en-US" b="1">
                <a:latin typeface="宋体" panose="02010600030101010101" pitchFamily="2" charset="-122"/>
              </a:rPr>
              <a:t>、</a:t>
            </a:r>
            <a:r>
              <a:rPr lang="en-US" altLang="zh-CN" b="1">
                <a:latin typeface="宋体" panose="02010600030101010101" pitchFamily="2" charset="-122"/>
              </a:rPr>
              <a:t>rRNA</a:t>
            </a:r>
            <a:r>
              <a:rPr lang="zh-CN" altLang="en-US" b="1">
                <a:latin typeface="宋体" panose="02010600030101010101" pitchFamily="2" charset="-122"/>
              </a:rPr>
              <a:t>）。</a:t>
            </a:r>
          </a:p>
        </p:txBody>
      </p:sp>
    </p:spTree>
  </p:cSld>
  <p:clrMapOvr>
    <a:masterClrMapping/>
  </p:clrMapOvr>
  <p:transition spd="med">
    <p:pull dir="r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ChangeArrowheads="1"/>
          </p:cNvSpPr>
          <p:nvPr/>
        </p:nvSpPr>
        <p:spPr bwMode="auto">
          <a:xfrm>
            <a:off x="827088" y="765175"/>
            <a:ext cx="6840537" cy="426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宋体" panose="02010600030101010101" pitchFamily="2" charset="-122"/>
              </a:rPr>
              <a:t>2</a:t>
            </a:r>
            <a:r>
              <a:rPr lang="zh-CN" altLang="en-US" sz="2800" b="1">
                <a:latin typeface="宋体" panose="02010600030101010101" pitchFamily="2" charset="-122"/>
              </a:rPr>
              <a:t>、</a:t>
            </a:r>
            <a:r>
              <a:rPr lang="en-US" altLang="zh-CN" sz="2800" b="1">
                <a:latin typeface="宋体" panose="02010600030101010101" pitchFamily="2" charset="-122"/>
              </a:rPr>
              <a:t>DNA</a:t>
            </a:r>
            <a:r>
              <a:rPr lang="zh-CN" altLang="en-US" sz="2800" b="1">
                <a:latin typeface="宋体" panose="02010600030101010101" pitchFamily="2" charset="-122"/>
              </a:rPr>
              <a:t>分子中的模板链与编码链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chemeClr val="accent1"/>
                </a:solidFill>
                <a:latin typeface="宋体" panose="02010600030101010101" pitchFamily="2" charset="-122"/>
              </a:rPr>
              <a:t>模板链（负链、转录链、</a:t>
            </a:r>
            <a:r>
              <a:rPr lang="en-US" altLang="zh-CN" sz="2800" b="1">
                <a:solidFill>
                  <a:schemeClr val="accent1"/>
                </a:solidFill>
                <a:latin typeface="宋体" panose="02010600030101010101" pitchFamily="2" charset="-122"/>
              </a:rPr>
              <a:t>Watson</a:t>
            </a:r>
            <a:r>
              <a:rPr lang="zh-CN" altLang="en-US" sz="2800" b="1">
                <a:solidFill>
                  <a:schemeClr val="accent1"/>
                </a:solidFill>
                <a:latin typeface="宋体" panose="02010600030101010101" pitchFamily="2" charset="-122"/>
              </a:rPr>
              <a:t>链）：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b="1">
                <a:latin typeface="宋体" panose="02010600030101010101" pitchFamily="2" charset="-122"/>
              </a:rPr>
              <a:t>——</a:t>
            </a:r>
            <a:r>
              <a:rPr lang="zh-CN" altLang="en-US" b="1">
                <a:latin typeface="宋体" panose="02010600030101010101" pitchFamily="2" charset="-122"/>
              </a:rPr>
              <a:t>作为模板的</a:t>
            </a:r>
            <a:r>
              <a:rPr lang="en-US" altLang="zh-CN" b="1">
                <a:latin typeface="宋体" panose="02010600030101010101" pitchFamily="2" charset="-122"/>
              </a:rPr>
              <a:t>DNA</a:t>
            </a:r>
            <a:r>
              <a:rPr lang="zh-CN" altLang="en-US" b="1">
                <a:latin typeface="宋体" panose="02010600030101010101" pitchFamily="2" charset="-122"/>
              </a:rPr>
              <a:t>链，指引</a:t>
            </a:r>
            <a:r>
              <a:rPr lang="en-US" altLang="zh-CN" b="1">
                <a:latin typeface="宋体" panose="02010600030101010101" pitchFamily="2" charset="-122"/>
              </a:rPr>
              <a:t>RNA</a:t>
            </a:r>
            <a:r>
              <a:rPr lang="zh-CN" altLang="en-US" b="1">
                <a:latin typeface="宋体" panose="02010600030101010101" pitchFamily="2" charset="-122"/>
              </a:rPr>
              <a:t>的合成。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b="1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chemeClr val="accent1"/>
                </a:solidFill>
                <a:latin typeface="宋体" panose="02010600030101010101" pitchFamily="2" charset="-122"/>
              </a:rPr>
              <a:t>编码链（正链、非转录链、</a:t>
            </a:r>
            <a:r>
              <a:rPr lang="en-US" altLang="zh-CN" sz="2800" b="1">
                <a:solidFill>
                  <a:schemeClr val="accent1"/>
                </a:solidFill>
                <a:latin typeface="宋体" panose="02010600030101010101" pitchFamily="2" charset="-122"/>
              </a:rPr>
              <a:t>Crick</a:t>
            </a:r>
            <a:r>
              <a:rPr lang="zh-CN" altLang="en-US" sz="2800" b="1">
                <a:solidFill>
                  <a:schemeClr val="accent1"/>
                </a:solidFill>
                <a:latin typeface="宋体" panose="02010600030101010101" pitchFamily="2" charset="-122"/>
              </a:rPr>
              <a:t>链）：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b="1">
                <a:latin typeface="宋体" panose="02010600030101010101" pitchFamily="2" charset="-122"/>
              </a:rPr>
              <a:t>——</a:t>
            </a:r>
            <a:r>
              <a:rPr lang="zh-CN" altLang="en-US" b="1">
                <a:latin typeface="宋体" panose="02010600030101010101" pitchFamily="2" charset="-122"/>
              </a:rPr>
              <a:t>与模板链互补的</a:t>
            </a:r>
            <a:r>
              <a:rPr lang="en-US" altLang="zh-CN" b="1">
                <a:latin typeface="宋体" panose="02010600030101010101" pitchFamily="2" charset="-122"/>
              </a:rPr>
              <a:t>DNA</a:t>
            </a:r>
            <a:r>
              <a:rPr lang="zh-CN" altLang="en-US" b="1">
                <a:latin typeface="宋体" panose="02010600030101010101" pitchFamily="2" charset="-122"/>
              </a:rPr>
              <a:t>链，不转录，可复制，与合成的</a:t>
            </a:r>
            <a:r>
              <a:rPr lang="en-US" altLang="zh-CN" b="1">
                <a:latin typeface="宋体" panose="02010600030101010101" pitchFamily="2" charset="-122"/>
              </a:rPr>
              <a:t>RNA</a:t>
            </a:r>
            <a:r>
              <a:rPr lang="zh-CN" altLang="en-US" b="1">
                <a:latin typeface="宋体" panose="02010600030101010101" pitchFamily="2" charset="-122"/>
              </a:rPr>
              <a:t>链碱基顺序一致，只是以</a:t>
            </a:r>
            <a:r>
              <a:rPr lang="en-US" altLang="zh-CN" b="1">
                <a:latin typeface="宋体" panose="02010600030101010101" pitchFamily="2" charset="-122"/>
              </a:rPr>
              <a:t>T</a:t>
            </a:r>
            <a:r>
              <a:rPr lang="zh-CN" altLang="en-US" b="1">
                <a:latin typeface="宋体" panose="02010600030101010101" pitchFamily="2" charset="-122"/>
              </a:rPr>
              <a:t>被</a:t>
            </a:r>
            <a:r>
              <a:rPr lang="en-US" altLang="zh-CN" b="1">
                <a:latin typeface="宋体" panose="02010600030101010101" pitchFamily="2" charset="-122"/>
              </a:rPr>
              <a:t>U</a:t>
            </a:r>
            <a:r>
              <a:rPr lang="zh-CN" altLang="en-US" b="1">
                <a:latin typeface="宋体" panose="02010600030101010101" pitchFamily="2" charset="-122"/>
              </a:rPr>
              <a:t>取代。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b="1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>
                <a:latin typeface="宋体" panose="02010600030101010101" pitchFamily="2" charset="-122"/>
              </a:rPr>
              <a:t>注：文献中</a:t>
            </a:r>
            <a:r>
              <a:rPr lang="en-US" altLang="zh-CN" sz="2000" b="1">
                <a:latin typeface="宋体" panose="02010600030101010101" pitchFamily="2" charset="-122"/>
              </a:rPr>
              <a:t>DNA</a:t>
            </a:r>
            <a:r>
              <a:rPr lang="zh-CN" altLang="en-US" sz="2000" b="1">
                <a:latin typeface="宋体" panose="02010600030101010101" pitchFamily="2" charset="-122"/>
              </a:rPr>
              <a:t>序列只写编码链，方便查询遗传密码</a:t>
            </a:r>
          </a:p>
        </p:txBody>
      </p:sp>
    </p:spTree>
  </p:cSld>
  <p:clrMapOvr>
    <a:masterClrMapping/>
  </p:clrMapOvr>
  <p:transition spd="med">
    <p:pull dir="r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3" descr="未标题-2 拷贝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322388"/>
            <a:ext cx="7823200" cy="405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827088" y="765175"/>
            <a:ext cx="6840537" cy="348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宋体" panose="02010600030101010101" pitchFamily="2" charset="-122"/>
              </a:rPr>
              <a:t>3</a:t>
            </a:r>
            <a:r>
              <a:rPr lang="zh-CN" altLang="en-US" sz="2800" b="1">
                <a:latin typeface="宋体" panose="02010600030101010101" pitchFamily="2" charset="-122"/>
              </a:rPr>
              <a:t>、不对称转录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accent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b="1">
                <a:solidFill>
                  <a:schemeClr val="accent1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>
                <a:solidFill>
                  <a:schemeClr val="accent1"/>
                </a:solidFill>
                <a:latin typeface="宋体" panose="02010600030101010101" pitchFamily="2" charset="-122"/>
              </a:rPr>
              <a:t>）复制是基因组全长</a:t>
            </a:r>
            <a:r>
              <a:rPr lang="en-US" altLang="zh-CN" b="1">
                <a:solidFill>
                  <a:schemeClr val="accent1"/>
                </a:solidFill>
                <a:latin typeface="宋体" panose="02010600030101010101" pitchFamily="2" charset="-122"/>
              </a:rPr>
              <a:t>DNA</a:t>
            </a:r>
            <a:r>
              <a:rPr lang="zh-CN" altLang="en-US" b="1">
                <a:solidFill>
                  <a:schemeClr val="accent1"/>
                </a:solidFill>
                <a:latin typeface="宋体" panose="02010600030101010101" pitchFamily="2" charset="-122"/>
              </a:rPr>
              <a:t>的复制</a:t>
            </a:r>
            <a:endParaRPr lang="en-US" altLang="zh-CN" b="1">
              <a:solidFill>
                <a:schemeClr val="accent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accent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b="1">
                <a:solidFill>
                  <a:schemeClr val="accent1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>
                <a:solidFill>
                  <a:schemeClr val="accent1"/>
                </a:solidFill>
                <a:latin typeface="宋体" panose="02010600030101010101" pitchFamily="2" charset="-122"/>
              </a:rPr>
              <a:t>）转录是有选择性的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>
                <a:latin typeface="宋体" panose="02010600030101010101" pitchFamily="2" charset="-122"/>
              </a:rPr>
              <a:t>-</a:t>
            </a:r>
            <a:r>
              <a:rPr lang="zh-CN" altLang="en-US" b="1">
                <a:latin typeface="宋体" panose="02010600030101010101" pitchFamily="2" charset="-122"/>
              </a:rPr>
              <a:t>在细胞的不同发育时期按生存条件和需要转录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>
                <a:latin typeface="宋体" panose="02010600030101010101" pitchFamily="2" charset="-122"/>
              </a:rPr>
              <a:t>-</a:t>
            </a:r>
            <a:r>
              <a:rPr lang="zh-CN" altLang="en-US" b="1">
                <a:latin typeface="宋体" panose="02010600030101010101" pitchFamily="2" charset="-122"/>
              </a:rPr>
              <a:t>非基因组全长转录，只有部分区段转录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>
                <a:latin typeface="宋体" panose="02010600030101010101" pitchFamily="2" charset="-122"/>
              </a:rPr>
              <a:t>-</a:t>
            </a:r>
            <a:r>
              <a:rPr lang="zh-CN" altLang="en-US" b="1">
                <a:latin typeface="宋体" panose="02010600030101010101" pitchFamily="2" charset="-122"/>
              </a:rPr>
              <a:t>同一个区段同一时间内只有一股链可转录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>
                <a:latin typeface="宋体" panose="02010600030101010101" pitchFamily="2" charset="-122"/>
              </a:rPr>
              <a:t>-</a:t>
            </a:r>
            <a:r>
              <a:rPr lang="zh-CN" altLang="en-US" b="1">
                <a:latin typeface="宋体" panose="02010600030101010101" pitchFamily="2" charset="-122"/>
              </a:rPr>
              <a:t>模板链不是永远在一股链上</a:t>
            </a:r>
          </a:p>
        </p:txBody>
      </p:sp>
      <p:pic>
        <p:nvPicPr>
          <p:cNvPr id="8195" name="Picture 3" descr="不对称转录"/>
          <p:cNvPicPr>
            <a:picLocks noChangeAspect="1" noChangeArrowheads="1"/>
          </p:cNvPicPr>
          <p:nvPr/>
        </p:nvPicPr>
        <p:blipFill>
          <a:blip r:embed="rId2">
            <a:lum bright="-4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4314825"/>
            <a:ext cx="70866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827088" y="765175"/>
            <a:ext cx="6840537" cy="396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宋体" panose="02010600030101010101" pitchFamily="2" charset="-122"/>
              </a:rPr>
              <a:t>4</a:t>
            </a:r>
            <a:r>
              <a:rPr lang="zh-CN" altLang="en-US" sz="2800" b="1">
                <a:latin typeface="宋体" panose="02010600030101010101" pitchFamily="2" charset="-122"/>
              </a:rPr>
              <a:t>、</a:t>
            </a:r>
            <a:r>
              <a:rPr lang="en-US" altLang="zh-CN" sz="2800" b="1">
                <a:latin typeface="宋体" panose="02010600030101010101" pitchFamily="2" charset="-122"/>
              </a:rPr>
              <a:t>RNA</a:t>
            </a:r>
            <a:r>
              <a:rPr lang="zh-CN" altLang="en-US" sz="2800" b="1">
                <a:latin typeface="宋体" panose="02010600030101010101" pitchFamily="2" charset="-122"/>
              </a:rPr>
              <a:t>合成过程一般分两步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accent1"/>
                </a:solidFill>
                <a:latin typeface="宋体" panose="02010600030101010101" pitchFamily="2" charset="-122"/>
              </a:rPr>
              <a:t>第一步合成原始转录产物。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>
                <a:latin typeface="宋体" panose="02010600030101010101" pitchFamily="2" charset="-122"/>
              </a:rPr>
              <a:t>-</a:t>
            </a:r>
            <a:r>
              <a:rPr lang="zh-CN" altLang="en-US" b="1">
                <a:latin typeface="宋体" panose="02010600030101010101" pitchFamily="2" charset="-122"/>
              </a:rPr>
              <a:t>包括转录的启动、延伸和终止阶段。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endParaRPr lang="zh-CN" altLang="en-US" b="1">
              <a:solidFill>
                <a:schemeClr val="accent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accent1"/>
                </a:solidFill>
                <a:latin typeface="宋体" panose="02010600030101010101" pitchFamily="2" charset="-122"/>
              </a:rPr>
              <a:t>第二步为转录产物的后加工，使无生物活性的原始转录产物转变成有生物功能的成熟</a:t>
            </a:r>
            <a:r>
              <a:rPr lang="en-US" altLang="zh-CN" b="1">
                <a:solidFill>
                  <a:schemeClr val="accent1"/>
                </a:solidFill>
                <a:latin typeface="宋体" panose="02010600030101010101" pitchFamily="2" charset="-122"/>
              </a:rPr>
              <a:t>RNA</a:t>
            </a:r>
            <a:r>
              <a:rPr lang="zh-CN" altLang="en-US" b="1">
                <a:solidFill>
                  <a:schemeClr val="accent1"/>
                </a:solidFill>
                <a:latin typeface="宋体" panose="02010600030101010101" pitchFamily="2" charset="-122"/>
              </a:rPr>
              <a:t>。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>
                <a:latin typeface="宋体" panose="02010600030101010101" pitchFamily="2" charset="-122"/>
              </a:rPr>
              <a:t>-</a:t>
            </a:r>
            <a:r>
              <a:rPr lang="zh-CN" altLang="en-US" b="1">
                <a:latin typeface="宋体" panose="02010600030101010101" pitchFamily="2" charset="-122"/>
              </a:rPr>
              <a:t>原核生物</a:t>
            </a:r>
            <a:r>
              <a:rPr lang="en-US" altLang="zh-CN" b="1">
                <a:latin typeface="宋体" panose="02010600030101010101" pitchFamily="2" charset="-122"/>
              </a:rPr>
              <a:t>mRNA</a:t>
            </a:r>
            <a:r>
              <a:rPr lang="zh-CN" altLang="en-US" b="1">
                <a:latin typeface="宋体" panose="02010600030101010101" pitchFamily="2" charset="-122"/>
              </a:rPr>
              <a:t>的原始转录产物一般不需要后加工就能直接作为翻译蛋白质的模板。</a:t>
            </a:r>
            <a:endParaRPr lang="en-US" altLang="zh-CN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pull dir="r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2625" y="549275"/>
            <a:ext cx="6121400" cy="579438"/>
          </a:xfrm>
        </p:spPr>
        <p:txBody>
          <a:bodyPr/>
          <a:lstStyle/>
          <a:p>
            <a:pPr algn="l" eaLnBrk="1" hangingPunct="1"/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二</a:t>
            </a: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)DNA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指导的</a:t>
            </a: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RNA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聚合酶</a:t>
            </a:r>
            <a:endParaRPr lang="en-US" altLang="zh-CN" sz="3200" b="1">
              <a:solidFill>
                <a:schemeClr val="accent1"/>
              </a:solidFill>
              <a:latin typeface="宋体" panose="02010600030101010101" pitchFamily="2" charset="-122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539750" y="1125538"/>
            <a:ext cx="7129463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>
                <a:latin typeface="宋体" panose="02010600030101010101" pitchFamily="2" charset="-122"/>
              </a:rPr>
              <a:t>——</a:t>
            </a:r>
            <a:r>
              <a:rPr lang="zh-CN" altLang="en-US" b="1">
                <a:latin typeface="宋体" panose="02010600030101010101" pitchFamily="2" charset="-122"/>
              </a:rPr>
              <a:t>又称“转录酶”，</a:t>
            </a:r>
            <a:r>
              <a:rPr lang="en-US" altLang="zh-CN" b="1">
                <a:latin typeface="宋体" panose="02010600030101010101" pitchFamily="2" charset="-122"/>
              </a:rPr>
              <a:t>1)</a:t>
            </a:r>
            <a:r>
              <a:rPr lang="zh-CN" altLang="en-US" b="1">
                <a:latin typeface="宋体" panose="02010600030101010101" pitchFamily="2" charset="-122"/>
              </a:rPr>
              <a:t>需要</a:t>
            </a:r>
            <a:r>
              <a:rPr lang="en-US" altLang="zh-CN" b="1">
                <a:latin typeface="宋体" panose="02010600030101010101" pitchFamily="2" charset="-122"/>
              </a:rPr>
              <a:t>DNA</a:t>
            </a:r>
            <a:r>
              <a:rPr lang="zh-CN" altLang="en-US" b="1">
                <a:latin typeface="宋体" panose="02010600030101010101" pitchFamily="2" charset="-122"/>
              </a:rPr>
              <a:t>模板链，</a:t>
            </a:r>
            <a:r>
              <a:rPr lang="en-US" altLang="zh-CN" b="1">
                <a:latin typeface="宋体" panose="02010600030101010101" pitchFamily="2" charset="-122"/>
              </a:rPr>
              <a:t>2)</a:t>
            </a:r>
            <a:r>
              <a:rPr lang="zh-CN" altLang="en-US" b="1">
                <a:latin typeface="宋体" panose="02010600030101010101" pitchFamily="2" charset="-122"/>
              </a:rPr>
              <a:t>需要底物</a:t>
            </a:r>
            <a:r>
              <a:rPr lang="en-US" altLang="zh-CN" b="1">
                <a:latin typeface="宋体" panose="02010600030101010101" pitchFamily="2" charset="-122"/>
              </a:rPr>
              <a:t>NTP</a:t>
            </a:r>
            <a:r>
              <a:rPr lang="zh-CN" altLang="en-US" b="1">
                <a:latin typeface="宋体" panose="02010600030101010101" pitchFamily="2" charset="-122"/>
              </a:rPr>
              <a:t>，</a:t>
            </a:r>
            <a:r>
              <a:rPr lang="en-US" altLang="zh-CN" b="1">
                <a:latin typeface="宋体" panose="02010600030101010101" pitchFamily="2" charset="-122"/>
              </a:rPr>
              <a:t>3)</a:t>
            </a:r>
            <a:r>
              <a:rPr lang="zh-CN" altLang="en-US" b="1">
                <a:latin typeface="宋体" panose="02010600030101010101" pitchFamily="2" charset="-122"/>
              </a:rPr>
              <a:t>不需要引物，</a:t>
            </a:r>
            <a:r>
              <a:rPr lang="en-US" altLang="zh-CN" b="1">
                <a:latin typeface="宋体" panose="02010600030101010101" pitchFamily="2" charset="-122"/>
              </a:rPr>
              <a:t>4)</a:t>
            </a:r>
            <a:r>
              <a:rPr lang="zh-CN" altLang="en-US" b="1">
                <a:solidFill>
                  <a:schemeClr val="hlink"/>
                </a:solidFill>
                <a:latin typeface="宋体" panose="02010600030101010101" pitchFamily="2" charset="-122"/>
              </a:rPr>
              <a:t>无校对功能</a:t>
            </a:r>
            <a:r>
              <a:rPr lang="zh-CN" altLang="en-US" b="1">
                <a:latin typeface="宋体" panose="02010600030101010101" pitchFamily="2" charset="-122"/>
              </a:rPr>
              <a:t>。</a:t>
            </a:r>
          </a:p>
        </p:txBody>
      </p:sp>
      <p:pic>
        <p:nvPicPr>
          <p:cNvPr id="10244" name="Picture 11"/>
          <p:cNvPicPr>
            <a:picLocks noChangeAspect="1" noChangeArrowheads="1"/>
          </p:cNvPicPr>
          <p:nvPr/>
        </p:nvPicPr>
        <p:blipFill>
          <a:blip r:embed="rId2">
            <a:lum bright="-4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33600"/>
            <a:ext cx="9144000" cy="457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827088" y="765175"/>
            <a:ext cx="6840537" cy="103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kumimoji="0" lang="en-US" altLang="zh-CN" sz="2800" b="1">
                <a:latin typeface="宋体" panose="02010600030101010101" pitchFamily="2" charset="-122"/>
              </a:rPr>
              <a:t>1</a:t>
            </a:r>
            <a:r>
              <a:rPr kumimoji="0" lang="zh-CN" altLang="en-US" sz="2800" b="1">
                <a:latin typeface="宋体" panose="02010600030101010101" pitchFamily="2" charset="-122"/>
              </a:rPr>
              <a:t>、原核生物的</a:t>
            </a:r>
            <a:r>
              <a:rPr kumimoji="0" lang="en-US" altLang="zh-CN" sz="2800" b="1">
                <a:latin typeface="宋体" panose="02010600030101010101" pitchFamily="2" charset="-122"/>
              </a:rPr>
              <a:t>RNA</a:t>
            </a:r>
            <a:r>
              <a:rPr kumimoji="0" lang="zh-CN" altLang="en-US" sz="2800" b="1">
                <a:latin typeface="宋体" panose="02010600030101010101" pitchFamily="2" charset="-122"/>
              </a:rPr>
              <a:t>聚合酶</a:t>
            </a:r>
            <a:endParaRPr lang="zh-CN" altLang="en-US" sz="2800" b="1">
              <a:latin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>
                <a:solidFill>
                  <a:schemeClr val="accent1"/>
                </a:solidFill>
                <a:latin typeface="宋体" panose="02010600030101010101" pitchFamily="2" charset="-122"/>
              </a:rPr>
              <a:t>-</a:t>
            </a:r>
            <a:r>
              <a:rPr lang="zh-CN" altLang="en-US" b="1">
                <a:solidFill>
                  <a:schemeClr val="accent1"/>
                </a:solidFill>
              </a:rPr>
              <a:t>只有一种，兼有合成</a:t>
            </a:r>
            <a:r>
              <a:rPr lang="en-US" altLang="zh-CN" b="1">
                <a:solidFill>
                  <a:schemeClr val="accent1"/>
                </a:solidFill>
              </a:rPr>
              <a:t>mRNA, tRNA, rRNA</a:t>
            </a:r>
            <a:r>
              <a:rPr lang="zh-CN" altLang="en-US" b="1">
                <a:solidFill>
                  <a:schemeClr val="accent1"/>
                </a:solidFill>
              </a:rPr>
              <a:t>的功能</a:t>
            </a:r>
          </a:p>
        </p:txBody>
      </p:sp>
      <p:pic>
        <p:nvPicPr>
          <p:cNvPr id="11267" name="Picture 4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2"/>
          <a:stretch>
            <a:fillRect/>
          </a:stretch>
        </p:blipFill>
        <p:spPr bwMode="auto">
          <a:xfrm>
            <a:off x="323850" y="2089150"/>
            <a:ext cx="7705725" cy="306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Text Box 5"/>
          <p:cNvSpPr txBox="1">
            <a:spLocks noChangeArrowheads="1"/>
          </p:cNvSpPr>
          <p:nvPr/>
        </p:nvSpPr>
        <p:spPr bwMode="auto">
          <a:xfrm>
            <a:off x="323850" y="5432425"/>
            <a:ext cx="78486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sz="2800" b="1">
                <a:ea typeface="黑体" panose="02010609060101010101" pitchFamily="49" charset="-122"/>
              </a:rPr>
              <a:t> </a:t>
            </a:r>
            <a:r>
              <a:rPr lang="zh-CN" altLang="en-US" b="1">
                <a:ea typeface="黑体" panose="02010609060101010101" pitchFamily="49" charset="-122"/>
              </a:rPr>
              <a:t>原核生物</a:t>
            </a:r>
            <a:r>
              <a:rPr lang="en-US" altLang="zh-CN" b="1">
                <a:ea typeface="黑体" panose="02010609060101010101" pitchFamily="49" charset="-122"/>
              </a:rPr>
              <a:t>RNA</a:t>
            </a:r>
            <a:r>
              <a:rPr lang="zh-CN" altLang="en-US" b="1">
                <a:ea typeface="黑体" panose="02010609060101010101" pitchFamily="49" charset="-122"/>
              </a:rPr>
              <a:t>聚合酶可以被</a:t>
            </a:r>
            <a:r>
              <a:rPr lang="zh-CN" altLang="en-US" b="1">
                <a:solidFill>
                  <a:schemeClr val="accent1"/>
                </a:solidFill>
                <a:ea typeface="黑体" panose="02010609060101010101" pitchFamily="49" charset="-122"/>
              </a:rPr>
              <a:t>利福霉素</a:t>
            </a:r>
            <a:r>
              <a:rPr lang="zh-CN" altLang="en-US" b="1">
                <a:ea typeface="黑体" panose="02010609060101010101" pitchFamily="49" charset="-122"/>
              </a:rPr>
              <a:t>和</a:t>
            </a:r>
            <a:r>
              <a:rPr lang="zh-CN" altLang="en-US" b="1">
                <a:solidFill>
                  <a:schemeClr val="accent1"/>
                </a:solidFill>
                <a:ea typeface="黑体" panose="02010609060101010101" pitchFamily="49" charset="-122"/>
              </a:rPr>
              <a:t>利链菌素</a:t>
            </a:r>
            <a:r>
              <a:rPr lang="zh-CN" altLang="en-US" b="1">
                <a:ea typeface="黑体" panose="02010609060101010101" pitchFamily="49" charset="-122"/>
              </a:rPr>
              <a:t>抑制</a:t>
            </a:r>
            <a:r>
              <a:rPr lang="zh-CN" altLang="en-US" sz="2200"/>
              <a:t> </a:t>
            </a:r>
          </a:p>
        </p:txBody>
      </p:sp>
    </p:spTree>
  </p:cSld>
  <p:clrMapOvr>
    <a:masterClrMapping/>
  </p:clrMapOvr>
  <p:transition spd="med">
    <p:pull dir="r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/>
          <p:cNvSpPr txBox="1">
            <a:spLocks noChangeArrowheads="1"/>
          </p:cNvSpPr>
          <p:nvPr/>
        </p:nvSpPr>
        <p:spPr bwMode="auto">
          <a:xfrm>
            <a:off x="381000" y="381000"/>
            <a:ext cx="4953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400" b="1">
                <a:solidFill>
                  <a:srgbClr val="99CC00"/>
                </a:solidFill>
                <a:latin typeface="楷体_GB2312" pitchFamily="49" charset="-122"/>
                <a:ea typeface="楷体_GB2312" pitchFamily="49" charset="-122"/>
              </a:rPr>
              <a:t>核心酶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en-US" altLang="zh-CN" sz="3600" b="1">
                <a:latin typeface="楷体_GB2312" pitchFamily="49" charset="-122"/>
                <a:ea typeface="楷体_GB2312" pitchFamily="49" charset="-122"/>
              </a:rPr>
              <a:t>core enzyme</a:t>
            </a:r>
            <a:endParaRPr lang="en-US" altLang="zh-CN" sz="3200" b="1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4419600" y="1447800"/>
            <a:ext cx="45720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800" b="1">
                <a:solidFill>
                  <a:srgbClr val="99CC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全酶</a:t>
            </a:r>
            <a:r>
              <a:rPr lang="zh-CN" altLang="en-US" sz="3600" b="1">
                <a:solidFill>
                  <a:srgbClr val="99CC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80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3800" b="1">
                <a:latin typeface="华文楷体" panose="02010600040101010101" pitchFamily="2" charset="-122"/>
                <a:ea typeface="华文楷体" panose="02010600040101010101" pitchFamily="2" charset="-122"/>
              </a:rPr>
              <a:t>holoenzyme</a:t>
            </a:r>
            <a:endParaRPr lang="en-US" altLang="zh-CN" sz="4400" b="1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914400" y="1371600"/>
            <a:ext cx="2667000" cy="2819400"/>
            <a:chOff x="480" y="2112"/>
            <a:chExt cx="1680" cy="1776"/>
          </a:xfrm>
        </p:grpSpPr>
        <p:sp>
          <p:nvSpPr>
            <p:cNvPr id="12306" name="Oval 5"/>
            <p:cNvSpPr>
              <a:spLocks noChangeArrowheads="1"/>
            </p:cNvSpPr>
            <p:nvPr/>
          </p:nvSpPr>
          <p:spPr bwMode="auto">
            <a:xfrm>
              <a:off x="1104" y="2112"/>
              <a:ext cx="1056" cy="1200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07" name="Text Box 6"/>
            <p:cNvSpPr txBox="1">
              <a:spLocks noChangeArrowheads="1"/>
            </p:cNvSpPr>
            <p:nvPr/>
          </p:nvSpPr>
          <p:spPr bwMode="auto">
            <a:xfrm>
              <a:off x="1488" y="2448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chemeClr val="bg2"/>
                  </a:solidFill>
                  <a:sym typeface="Symbol" panose="05050102010706020507" pitchFamily="18" charset="2"/>
                </a:rPr>
                <a:t></a:t>
              </a:r>
              <a:endParaRPr lang="zh-CN" altLang="en-US" sz="3600" b="1">
                <a:solidFill>
                  <a:schemeClr val="tx2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12308" name="Oval 7"/>
            <p:cNvSpPr>
              <a:spLocks noChangeArrowheads="1"/>
            </p:cNvSpPr>
            <p:nvPr/>
          </p:nvSpPr>
          <p:spPr bwMode="auto">
            <a:xfrm>
              <a:off x="480" y="2304"/>
              <a:ext cx="864" cy="13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09" name="Text Box 8"/>
            <p:cNvSpPr txBox="1">
              <a:spLocks noChangeArrowheads="1"/>
            </p:cNvSpPr>
            <p:nvPr/>
          </p:nvSpPr>
          <p:spPr bwMode="auto">
            <a:xfrm>
              <a:off x="768" y="268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chemeClr val="bg2"/>
                  </a:solidFill>
                  <a:sym typeface="Symbol" panose="05050102010706020507" pitchFamily="18" charset="2"/>
                </a:rPr>
                <a:t></a:t>
              </a:r>
              <a:endParaRPr lang="zh-CN" altLang="en-US" b="1">
                <a:solidFill>
                  <a:schemeClr val="bg2"/>
                </a:solidFill>
              </a:endParaRPr>
            </a:p>
          </p:txBody>
        </p:sp>
        <p:sp>
          <p:nvSpPr>
            <p:cNvPr id="12310" name="Oval 9"/>
            <p:cNvSpPr>
              <a:spLocks noChangeArrowheads="1"/>
            </p:cNvSpPr>
            <p:nvPr/>
          </p:nvSpPr>
          <p:spPr bwMode="auto">
            <a:xfrm>
              <a:off x="768" y="3024"/>
              <a:ext cx="672" cy="816"/>
            </a:xfrm>
            <a:prstGeom prst="ellipse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11" name="Text Box 10"/>
            <p:cNvSpPr txBox="1">
              <a:spLocks noChangeArrowheads="1"/>
            </p:cNvSpPr>
            <p:nvPr/>
          </p:nvSpPr>
          <p:spPr bwMode="auto">
            <a:xfrm>
              <a:off x="1008" y="331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chemeClr val="bg2"/>
                  </a:solidFill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12312" name="Oval 11"/>
            <p:cNvSpPr>
              <a:spLocks noChangeArrowheads="1"/>
            </p:cNvSpPr>
            <p:nvPr/>
          </p:nvSpPr>
          <p:spPr bwMode="auto">
            <a:xfrm>
              <a:off x="1296" y="3072"/>
              <a:ext cx="672" cy="816"/>
            </a:xfrm>
            <a:prstGeom prst="ellipse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13" name="Text Box 12"/>
            <p:cNvSpPr txBox="1">
              <a:spLocks noChangeArrowheads="1"/>
            </p:cNvSpPr>
            <p:nvPr/>
          </p:nvSpPr>
          <p:spPr bwMode="auto">
            <a:xfrm>
              <a:off x="1440" y="331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chemeClr val="bg2"/>
                  </a:solidFill>
                  <a:sym typeface="Symbol" panose="05050102010706020507" pitchFamily="18" charset="2"/>
                </a:rPr>
                <a:t></a:t>
              </a:r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5562600" y="2514600"/>
            <a:ext cx="2667000" cy="2819400"/>
            <a:chOff x="480" y="2112"/>
            <a:chExt cx="1680" cy="1776"/>
          </a:xfrm>
        </p:grpSpPr>
        <p:sp>
          <p:nvSpPr>
            <p:cNvPr id="12298" name="Oval 14"/>
            <p:cNvSpPr>
              <a:spLocks noChangeArrowheads="1"/>
            </p:cNvSpPr>
            <p:nvPr/>
          </p:nvSpPr>
          <p:spPr bwMode="auto">
            <a:xfrm>
              <a:off x="1104" y="2112"/>
              <a:ext cx="1056" cy="1200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299" name="Text Box 15"/>
            <p:cNvSpPr txBox="1">
              <a:spLocks noChangeArrowheads="1"/>
            </p:cNvSpPr>
            <p:nvPr/>
          </p:nvSpPr>
          <p:spPr bwMode="auto">
            <a:xfrm>
              <a:off x="1488" y="2448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chemeClr val="bg2"/>
                  </a:solidFill>
                  <a:sym typeface="Symbol" panose="05050102010706020507" pitchFamily="18" charset="2"/>
                </a:rPr>
                <a:t></a:t>
              </a:r>
              <a:endParaRPr lang="zh-CN" altLang="en-US" sz="3600" b="1">
                <a:solidFill>
                  <a:schemeClr val="tx2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12300" name="Oval 16"/>
            <p:cNvSpPr>
              <a:spLocks noChangeArrowheads="1"/>
            </p:cNvSpPr>
            <p:nvPr/>
          </p:nvSpPr>
          <p:spPr bwMode="auto">
            <a:xfrm>
              <a:off x="480" y="2304"/>
              <a:ext cx="864" cy="13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01" name="Text Box 17"/>
            <p:cNvSpPr txBox="1">
              <a:spLocks noChangeArrowheads="1"/>
            </p:cNvSpPr>
            <p:nvPr/>
          </p:nvSpPr>
          <p:spPr bwMode="auto">
            <a:xfrm>
              <a:off x="768" y="268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chemeClr val="bg2"/>
                  </a:solidFill>
                  <a:sym typeface="Symbol" panose="05050102010706020507" pitchFamily="18" charset="2"/>
                </a:rPr>
                <a:t></a:t>
              </a:r>
              <a:endParaRPr lang="zh-CN" altLang="en-US" b="1">
                <a:solidFill>
                  <a:schemeClr val="bg2"/>
                </a:solidFill>
              </a:endParaRPr>
            </a:p>
          </p:txBody>
        </p:sp>
        <p:sp>
          <p:nvSpPr>
            <p:cNvPr id="12302" name="Oval 18"/>
            <p:cNvSpPr>
              <a:spLocks noChangeArrowheads="1"/>
            </p:cNvSpPr>
            <p:nvPr/>
          </p:nvSpPr>
          <p:spPr bwMode="auto">
            <a:xfrm>
              <a:off x="768" y="3024"/>
              <a:ext cx="672" cy="816"/>
            </a:xfrm>
            <a:prstGeom prst="ellipse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03" name="Text Box 19"/>
            <p:cNvSpPr txBox="1">
              <a:spLocks noChangeArrowheads="1"/>
            </p:cNvSpPr>
            <p:nvPr/>
          </p:nvSpPr>
          <p:spPr bwMode="auto">
            <a:xfrm>
              <a:off x="1008" y="331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chemeClr val="bg2"/>
                  </a:solidFill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12304" name="Oval 20"/>
            <p:cNvSpPr>
              <a:spLocks noChangeArrowheads="1"/>
            </p:cNvSpPr>
            <p:nvPr/>
          </p:nvSpPr>
          <p:spPr bwMode="auto">
            <a:xfrm>
              <a:off x="1296" y="3072"/>
              <a:ext cx="672" cy="816"/>
            </a:xfrm>
            <a:prstGeom prst="ellipse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05" name="Text Box 21"/>
            <p:cNvSpPr txBox="1">
              <a:spLocks noChangeArrowheads="1"/>
            </p:cNvSpPr>
            <p:nvPr/>
          </p:nvSpPr>
          <p:spPr bwMode="auto">
            <a:xfrm>
              <a:off x="1440" y="331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chemeClr val="bg2"/>
                  </a:solidFill>
                  <a:sym typeface="Symbol" panose="05050102010706020507" pitchFamily="18" charset="2"/>
                </a:rPr>
                <a:t></a:t>
              </a:r>
            </a:p>
          </p:txBody>
        </p:sp>
      </p:grp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6629400" y="3962400"/>
            <a:ext cx="990600" cy="914400"/>
            <a:chOff x="4128" y="2592"/>
            <a:chExt cx="624" cy="576"/>
          </a:xfrm>
        </p:grpSpPr>
        <p:sp>
          <p:nvSpPr>
            <p:cNvPr id="12296" name="Oval 23"/>
            <p:cNvSpPr>
              <a:spLocks noChangeArrowheads="1"/>
            </p:cNvSpPr>
            <p:nvPr/>
          </p:nvSpPr>
          <p:spPr bwMode="auto">
            <a:xfrm>
              <a:off x="4128" y="2592"/>
              <a:ext cx="624" cy="57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297" name="Text Box 24"/>
            <p:cNvSpPr txBox="1">
              <a:spLocks noChangeArrowheads="1"/>
            </p:cNvSpPr>
            <p:nvPr/>
          </p:nvSpPr>
          <p:spPr bwMode="auto">
            <a:xfrm>
              <a:off x="4320" y="2688"/>
              <a:ext cx="17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3200" b="1">
                  <a:solidFill>
                    <a:schemeClr val="bg2"/>
                  </a:solidFill>
                  <a:sym typeface="Symbol" panose="05050102010706020507" pitchFamily="18" charset="2"/>
                </a:rPr>
                <a:t></a:t>
              </a:r>
            </a:p>
          </p:txBody>
        </p:sp>
      </p:grpSp>
      <p:sp>
        <p:nvSpPr>
          <p:cNvPr id="67609" name="Text Box 25"/>
          <p:cNvSpPr txBox="1">
            <a:spLocks noChangeArrowheads="1"/>
          </p:cNvSpPr>
          <p:nvPr/>
        </p:nvSpPr>
        <p:spPr bwMode="auto">
          <a:xfrm>
            <a:off x="457200" y="4495800"/>
            <a:ext cx="48768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/>
            </a:pP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 活细胞转录</a:t>
            </a:r>
            <a:r>
              <a:rPr lang="zh-CN" altLang="en-US" sz="2800" b="1" i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起始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，需</a:t>
            </a:r>
            <a:r>
              <a:rPr lang="zh-CN" altLang="en-US" sz="28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全酶（</a:t>
            </a:r>
            <a:r>
              <a:rPr lang="en-US" altLang="zh-CN" sz="28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α</a:t>
            </a:r>
            <a:r>
              <a:rPr lang="en-US" altLang="zh-CN" sz="2800" b="1" baseline="-30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zh-CN" sz="28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ββˊσ）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  </a:t>
            </a:r>
          </a:p>
          <a:p>
            <a:pPr algn="just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/>
            </a:pP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 转录</a:t>
            </a:r>
            <a:r>
              <a:rPr lang="zh-CN" altLang="en-US" sz="2800" b="1" i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延长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：仅需</a:t>
            </a:r>
            <a:r>
              <a:rPr lang="zh-CN" altLang="en-US" sz="28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核心酶（</a:t>
            </a:r>
            <a:r>
              <a:rPr lang="en-US" altLang="zh-CN" sz="28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α</a:t>
            </a:r>
            <a:r>
              <a:rPr lang="en-US" altLang="zh-CN" sz="2800" b="1" baseline="-30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zh-CN" sz="28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ββˊ）</a:t>
            </a:r>
            <a:r>
              <a:rPr lang="en-US" altLang="zh-CN" sz="28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endParaRPr lang="zh-CN" altLang="en-US" sz="2800" b="1">
              <a:solidFill>
                <a:srgbClr val="0033CC"/>
              </a:solidFill>
            </a:endParaRP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7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6" grpId="0" build="p" autoUpdateAnimBg="0" advAuto="0"/>
      <p:bldP spid="67587" grpId="0" build="p" autoUpdateAnimBg="0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ChangeArrowheads="1"/>
          </p:cNvSpPr>
          <p:nvPr/>
        </p:nvSpPr>
        <p:spPr bwMode="auto">
          <a:xfrm>
            <a:off x="827088" y="765175"/>
            <a:ext cx="6913562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kumimoji="0" lang="en-US" altLang="zh-CN" sz="2800" b="1">
                <a:latin typeface="宋体" panose="02010600030101010101" pitchFamily="2" charset="-122"/>
              </a:rPr>
              <a:t>2</a:t>
            </a:r>
            <a:r>
              <a:rPr kumimoji="0" lang="zh-CN" altLang="en-US" sz="2800" b="1">
                <a:latin typeface="宋体" panose="02010600030101010101" pitchFamily="2" charset="-122"/>
              </a:rPr>
              <a:t>、真核生物的</a:t>
            </a:r>
            <a:r>
              <a:rPr kumimoji="0" lang="en-US" altLang="zh-CN" sz="2800" b="1">
                <a:latin typeface="宋体" panose="02010600030101010101" pitchFamily="2" charset="-122"/>
              </a:rPr>
              <a:t>RNA</a:t>
            </a:r>
            <a:r>
              <a:rPr kumimoji="0" lang="zh-CN" altLang="en-US" sz="2800" b="1">
                <a:latin typeface="宋体" panose="02010600030101010101" pitchFamily="2" charset="-122"/>
              </a:rPr>
              <a:t>聚合酶</a:t>
            </a:r>
            <a:endParaRPr lang="zh-CN" altLang="en-US" sz="2800" b="1">
              <a:latin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>
                <a:solidFill>
                  <a:schemeClr val="accent1"/>
                </a:solidFill>
                <a:latin typeface="宋体" panose="02010600030101010101" pitchFamily="2" charset="-122"/>
              </a:rPr>
              <a:t>-</a:t>
            </a:r>
            <a:r>
              <a:rPr lang="zh-CN" altLang="en-US" b="1">
                <a:solidFill>
                  <a:schemeClr val="accent1"/>
                </a:solidFill>
              </a:rPr>
              <a:t>包括三种，</a:t>
            </a:r>
            <a:r>
              <a:rPr lang="en-US" altLang="zh-CN" b="1">
                <a:solidFill>
                  <a:schemeClr val="accent1"/>
                </a:solidFill>
              </a:rPr>
              <a:t>RNA pol I</a:t>
            </a:r>
            <a:r>
              <a:rPr lang="zh-CN" altLang="en-US" b="1">
                <a:solidFill>
                  <a:schemeClr val="accent1"/>
                </a:solidFill>
              </a:rPr>
              <a:t>转录产生</a:t>
            </a:r>
            <a:r>
              <a:rPr lang="en-US" altLang="zh-CN" b="1">
                <a:solidFill>
                  <a:schemeClr val="accent1"/>
                </a:solidFill>
              </a:rPr>
              <a:t>5.8S,18S,28SrRNA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b="1">
                <a:solidFill>
                  <a:schemeClr val="accent1"/>
                </a:solidFill>
              </a:rPr>
              <a:t>RNA pol II</a:t>
            </a:r>
            <a:r>
              <a:rPr lang="zh-CN" altLang="en-US" b="1">
                <a:solidFill>
                  <a:schemeClr val="accent1"/>
                </a:solidFill>
              </a:rPr>
              <a:t>转录产生</a:t>
            </a:r>
            <a:r>
              <a:rPr lang="en-US" altLang="zh-CN" b="1">
                <a:solidFill>
                  <a:schemeClr val="accent1"/>
                </a:solidFill>
              </a:rPr>
              <a:t>mRNA</a:t>
            </a:r>
            <a:r>
              <a:rPr lang="zh-CN" altLang="en-US" b="1">
                <a:solidFill>
                  <a:schemeClr val="accent1"/>
                </a:solidFill>
              </a:rPr>
              <a:t>和核内小</a:t>
            </a:r>
            <a:r>
              <a:rPr lang="en-US" altLang="zh-CN" b="1">
                <a:solidFill>
                  <a:schemeClr val="accent1"/>
                </a:solidFill>
              </a:rPr>
              <a:t>RNA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b="1">
                <a:solidFill>
                  <a:schemeClr val="accent1"/>
                </a:solidFill>
              </a:rPr>
              <a:t>RNA pol III</a:t>
            </a:r>
            <a:r>
              <a:rPr lang="zh-CN" altLang="en-US" b="1">
                <a:solidFill>
                  <a:schemeClr val="accent1"/>
                </a:solidFill>
              </a:rPr>
              <a:t>转录产生</a:t>
            </a:r>
            <a:r>
              <a:rPr lang="en-US" altLang="zh-CN" b="1">
                <a:solidFill>
                  <a:schemeClr val="accent1"/>
                </a:solidFill>
              </a:rPr>
              <a:t>tRNA</a:t>
            </a:r>
            <a:r>
              <a:rPr lang="zh-CN" altLang="en-US" b="1">
                <a:solidFill>
                  <a:schemeClr val="accent1"/>
                </a:solidFill>
              </a:rPr>
              <a:t>、</a:t>
            </a:r>
            <a:r>
              <a:rPr lang="en-US" altLang="zh-CN" b="1">
                <a:solidFill>
                  <a:schemeClr val="accent1"/>
                </a:solidFill>
              </a:rPr>
              <a:t>5SrRNA</a:t>
            </a:r>
            <a:r>
              <a:rPr lang="zh-CN" altLang="en-US" b="1">
                <a:solidFill>
                  <a:schemeClr val="accent1"/>
                </a:solidFill>
              </a:rPr>
              <a:t>等小</a:t>
            </a:r>
            <a:r>
              <a:rPr lang="en-US" altLang="zh-CN" b="1">
                <a:solidFill>
                  <a:schemeClr val="accent1"/>
                </a:solidFill>
              </a:rPr>
              <a:t>RNA</a:t>
            </a:r>
          </a:p>
        </p:txBody>
      </p:sp>
      <p:grpSp>
        <p:nvGrpSpPr>
          <p:cNvPr id="13315" name="Group 40"/>
          <p:cNvGrpSpPr>
            <a:grpSpLocks/>
          </p:cNvGrpSpPr>
          <p:nvPr/>
        </p:nvGrpSpPr>
        <p:grpSpPr bwMode="auto">
          <a:xfrm>
            <a:off x="979488" y="3068638"/>
            <a:ext cx="6688137" cy="2774950"/>
            <a:chOff x="612" y="1501"/>
            <a:chExt cx="4032" cy="1748"/>
          </a:xfrm>
        </p:grpSpPr>
        <p:grpSp>
          <p:nvGrpSpPr>
            <p:cNvPr id="13316" name="Group 19"/>
            <p:cNvGrpSpPr>
              <a:grpSpLocks/>
            </p:cNvGrpSpPr>
            <p:nvPr/>
          </p:nvGrpSpPr>
          <p:grpSpPr bwMode="auto">
            <a:xfrm>
              <a:off x="612" y="1501"/>
              <a:ext cx="4032" cy="1748"/>
              <a:chOff x="816" y="1368"/>
              <a:chExt cx="4032" cy="1748"/>
            </a:xfrm>
          </p:grpSpPr>
          <p:grpSp>
            <p:nvGrpSpPr>
              <p:cNvPr id="13326" name="Group 20"/>
              <p:cNvGrpSpPr>
                <a:grpSpLocks/>
              </p:cNvGrpSpPr>
              <p:nvPr/>
            </p:nvGrpSpPr>
            <p:grpSpPr bwMode="auto">
              <a:xfrm>
                <a:off x="816" y="1368"/>
                <a:ext cx="4032" cy="437"/>
                <a:chOff x="816" y="1368"/>
                <a:chExt cx="4032" cy="437"/>
              </a:xfrm>
            </p:grpSpPr>
            <p:sp>
              <p:nvSpPr>
                <p:cNvPr id="13335" name="Rectangle 21"/>
                <p:cNvSpPr>
                  <a:spLocks noChangeArrowheads="1"/>
                </p:cNvSpPr>
                <p:nvPr/>
              </p:nvSpPr>
              <p:spPr bwMode="auto">
                <a:xfrm>
                  <a:off x="2400" y="1368"/>
                  <a:ext cx="2448" cy="4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180000"/>
                    </a:lnSpc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None/>
                  </a:pPr>
                  <a:r>
                    <a:rPr lang="zh-CN" altLang="en-US" sz="2200" b="1">
                      <a:latin typeface="Arial" panose="020B0604020202020204" pitchFamily="34" charset="0"/>
                      <a:ea typeface="黑体" panose="02010609060101010101" pitchFamily="49" charset="-122"/>
                    </a:rPr>
                    <a:t>对抑制物的敏感性</a:t>
                  </a:r>
                </a:p>
              </p:txBody>
            </p:sp>
            <p:sp>
              <p:nvSpPr>
                <p:cNvPr id="13336" name="Rectangle 22"/>
                <p:cNvSpPr>
                  <a:spLocks noChangeArrowheads="1"/>
                </p:cNvSpPr>
                <p:nvPr/>
              </p:nvSpPr>
              <p:spPr bwMode="auto">
                <a:xfrm>
                  <a:off x="816" y="1368"/>
                  <a:ext cx="1584" cy="4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180000"/>
                    </a:lnSpc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None/>
                  </a:pPr>
                  <a:r>
                    <a:rPr lang="zh-CN" altLang="en-US" sz="2200" b="1">
                      <a:latin typeface="Arial" panose="020B0604020202020204" pitchFamily="34" charset="0"/>
                      <a:ea typeface="黑体" panose="02010609060101010101" pitchFamily="49" charset="-122"/>
                    </a:rPr>
                    <a:t> 酶的种类</a:t>
                  </a:r>
                  <a:r>
                    <a:rPr lang="zh-CN" altLang="en-US" sz="2200">
                      <a:latin typeface="Arial" panose="020B0604020202020204" pitchFamily="34" charset="0"/>
                    </a:rPr>
                    <a:t> </a:t>
                  </a:r>
                </a:p>
              </p:txBody>
            </p:sp>
          </p:grpSp>
          <p:sp>
            <p:nvSpPr>
              <p:cNvPr id="13327" name="Line 23"/>
              <p:cNvSpPr>
                <a:spLocks noChangeShapeType="1"/>
              </p:cNvSpPr>
              <p:nvPr/>
            </p:nvSpPr>
            <p:spPr bwMode="auto">
              <a:xfrm>
                <a:off x="816" y="1368"/>
                <a:ext cx="403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8" name="Line 24"/>
              <p:cNvSpPr>
                <a:spLocks noChangeShapeType="1"/>
              </p:cNvSpPr>
              <p:nvPr/>
            </p:nvSpPr>
            <p:spPr bwMode="auto">
              <a:xfrm>
                <a:off x="816" y="1805"/>
                <a:ext cx="40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9" name="Line 25"/>
              <p:cNvSpPr>
                <a:spLocks noChangeShapeType="1"/>
              </p:cNvSpPr>
              <p:nvPr/>
            </p:nvSpPr>
            <p:spPr bwMode="auto">
              <a:xfrm>
                <a:off x="816" y="2242"/>
                <a:ext cx="40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0" name="Line 26"/>
              <p:cNvSpPr>
                <a:spLocks noChangeShapeType="1"/>
              </p:cNvSpPr>
              <p:nvPr/>
            </p:nvSpPr>
            <p:spPr bwMode="auto">
              <a:xfrm>
                <a:off x="816" y="2679"/>
                <a:ext cx="40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1" name="Line 27"/>
              <p:cNvSpPr>
                <a:spLocks noChangeShapeType="1"/>
              </p:cNvSpPr>
              <p:nvPr/>
            </p:nvSpPr>
            <p:spPr bwMode="auto">
              <a:xfrm>
                <a:off x="816" y="3116"/>
                <a:ext cx="403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2" name="Line 28"/>
              <p:cNvSpPr>
                <a:spLocks noChangeShapeType="1"/>
              </p:cNvSpPr>
              <p:nvPr/>
            </p:nvSpPr>
            <p:spPr bwMode="auto">
              <a:xfrm>
                <a:off x="816" y="1368"/>
                <a:ext cx="0" cy="174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3" name="Line 29"/>
              <p:cNvSpPr>
                <a:spLocks noChangeShapeType="1"/>
              </p:cNvSpPr>
              <p:nvPr/>
            </p:nvSpPr>
            <p:spPr bwMode="auto">
              <a:xfrm>
                <a:off x="2400" y="1368"/>
                <a:ext cx="0" cy="17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4" name="Line 30"/>
              <p:cNvSpPr>
                <a:spLocks noChangeShapeType="1"/>
              </p:cNvSpPr>
              <p:nvPr/>
            </p:nvSpPr>
            <p:spPr bwMode="auto">
              <a:xfrm>
                <a:off x="4848" y="1368"/>
                <a:ext cx="0" cy="174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317" name="Group 31"/>
            <p:cNvGrpSpPr>
              <a:grpSpLocks/>
            </p:cNvGrpSpPr>
            <p:nvPr/>
          </p:nvGrpSpPr>
          <p:grpSpPr bwMode="auto">
            <a:xfrm>
              <a:off x="612" y="2812"/>
              <a:ext cx="4032" cy="437"/>
              <a:chOff x="816" y="2679"/>
              <a:chExt cx="4032" cy="437"/>
            </a:xfrm>
          </p:grpSpPr>
          <p:sp>
            <p:nvSpPr>
              <p:cNvPr id="13324" name="Rectangle 32"/>
              <p:cNvSpPr>
                <a:spLocks noChangeArrowheads="1"/>
              </p:cNvSpPr>
              <p:nvPr/>
            </p:nvSpPr>
            <p:spPr bwMode="auto">
              <a:xfrm>
                <a:off x="2400" y="2679"/>
                <a:ext cx="2448" cy="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80000"/>
                  </a:lnSpc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None/>
                </a:pPr>
                <a:r>
                  <a:rPr lang="zh-CN" altLang="en-US" sz="2200" b="1">
                    <a:latin typeface="Arial" panose="020B0604020202020204" pitchFamily="34" charset="0"/>
                    <a:ea typeface="黑体" panose="02010609060101010101" pitchFamily="49" charset="-122"/>
                  </a:rPr>
                  <a:t>对高浓度</a:t>
                </a:r>
                <a:r>
                  <a:rPr lang="en-US" altLang="zh-CN" sz="2200" b="1">
                    <a:latin typeface="Arial" panose="020B0604020202020204" pitchFamily="34" charset="0"/>
                    <a:ea typeface="黑体" panose="02010609060101010101" pitchFamily="49" charset="-122"/>
                  </a:rPr>
                  <a:t>α-</a:t>
                </a:r>
                <a:r>
                  <a:rPr lang="zh-CN" altLang="en-US" sz="2200" b="1">
                    <a:latin typeface="Arial" panose="020B0604020202020204" pitchFamily="34" charset="0"/>
                    <a:ea typeface="黑体" panose="02010609060101010101" pitchFamily="49" charset="-122"/>
                  </a:rPr>
                  <a:t>鹅膏蕈碱敏感</a:t>
                </a:r>
                <a:r>
                  <a:rPr lang="zh-CN" altLang="en-US" sz="2200">
                    <a:latin typeface="Arial" panose="020B0604020202020204" pitchFamily="34" charset="0"/>
                  </a:rPr>
                  <a:t> </a:t>
                </a:r>
              </a:p>
            </p:txBody>
          </p:sp>
          <p:sp>
            <p:nvSpPr>
              <p:cNvPr id="13325" name="Rectangle 33"/>
              <p:cNvSpPr>
                <a:spLocks noChangeArrowheads="1"/>
              </p:cNvSpPr>
              <p:nvPr/>
            </p:nvSpPr>
            <p:spPr bwMode="auto">
              <a:xfrm>
                <a:off x="816" y="2679"/>
                <a:ext cx="1584" cy="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80000"/>
                  </a:lnSpc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None/>
                </a:pPr>
                <a:r>
                  <a:rPr lang="en-US" altLang="zh-CN" sz="2200" b="1">
                    <a:latin typeface="Arial" panose="020B0604020202020204" pitchFamily="34" charset="0"/>
                    <a:ea typeface="黑体" panose="02010609060101010101" pitchFamily="49" charset="-122"/>
                  </a:rPr>
                  <a:t>RNA</a:t>
                </a:r>
                <a:r>
                  <a:rPr lang="zh-CN" altLang="en-US" sz="2200" b="1">
                    <a:latin typeface="Arial" panose="020B0604020202020204" pitchFamily="34" charset="0"/>
                    <a:ea typeface="黑体" panose="02010609060101010101" pitchFamily="49" charset="-122"/>
                  </a:rPr>
                  <a:t>聚合酶</a:t>
                </a:r>
                <a:r>
                  <a:rPr lang="en-US" altLang="zh-CN" sz="2200" b="1">
                    <a:latin typeface="Arial" panose="020B0604020202020204" pitchFamily="34" charset="0"/>
                    <a:ea typeface="黑体" panose="02010609060101010101" pitchFamily="49" charset="-122"/>
                  </a:rPr>
                  <a:t>III (</a:t>
                </a:r>
                <a:r>
                  <a:rPr lang="zh-CN" altLang="en-US" sz="2200" b="1">
                    <a:latin typeface="Arial" panose="020B0604020202020204" pitchFamily="34" charset="0"/>
                    <a:ea typeface="黑体" panose="02010609060101010101" pitchFamily="49" charset="-122"/>
                  </a:rPr>
                  <a:t>核质</a:t>
                </a:r>
                <a:r>
                  <a:rPr lang="en-US" altLang="zh-CN" sz="2200" b="1">
                    <a:latin typeface="Arial" panose="020B0604020202020204" pitchFamily="34" charset="0"/>
                    <a:ea typeface="黑体" panose="02010609060101010101" pitchFamily="49" charset="-122"/>
                  </a:rPr>
                  <a:t>)</a:t>
                </a:r>
                <a:r>
                  <a:rPr lang="en-US" altLang="zh-CN" sz="2200">
                    <a:latin typeface="Arial" panose="020B0604020202020204" pitchFamily="34" charset="0"/>
                  </a:rPr>
                  <a:t> </a:t>
                </a:r>
              </a:p>
            </p:txBody>
          </p:sp>
        </p:grpSp>
        <p:grpSp>
          <p:nvGrpSpPr>
            <p:cNvPr id="13318" name="Group 34"/>
            <p:cNvGrpSpPr>
              <a:grpSpLocks/>
            </p:cNvGrpSpPr>
            <p:nvPr/>
          </p:nvGrpSpPr>
          <p:grpSpPr bwMode="auto">
            <a:xfrm>
              <a:off x="612" y="2375"/>
              <a:ext cx="4032" cy="437"/>
              <a:chOff x="816" y="2242"/>
              <a:chExt cx="4032" cy="437"/>
            </a:xfrm>
          </p:grpSpPr>
          <p:sp>
            <p:nvSpPr>
              <p:cNvPr id="13322" name="Rectangle 35"/>
              <p:cNvSpPr>
                <a:spLocks noChangeArrowheads="1"/>
              </p:cNvSpPr>
              <p:nvPr/>
            </p:nvSpPr>
            <p:spPr bwMode="auto">
              <a:xfrm>
                <a:off x="2400" y="2242"/>
                <a:ext cx="2448" cy="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80000"/>
                  </a:lnSpc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None/>
                </a:pPr>
                <a:r>
                  <a:rPr lang="zh-CN" altLang="en-US" sz="2200" b="1">
                    <a:latin typeface="Arial" panose="020B0604020202020204" pitchFamily="34" charset="0"/>
                    <a:ea typeface="黑体" panose="02010609060101010101" pitchFamily="49" charset="-122"/>
                  </a:rPr>
                  <a:t>对低浓度</a:t>
                </a:r>
                <a:r>
                  <a:rPr lang="en-US" altLang="zh-CN" sz="2200" b="1">
                    <a:latin typeface="Arial" panose="020B0604020202020204" pitchFamily="34" charset="0"/>
                    <a:ea typeface="黑体" panose="02010609060101010101" pitchFamily="49" charset="-122"/>
                  </a:rPr>
                  <a:t>α-</a:t>
                </a:r>
                <a:r>
                  <a:rPr lang="zh-CN" altLang="en-US" sz="2200" b="1">
                    <a:latin typeface="Arial" panose="020B0604020202020204" pitchFamily="34" charset="0"/>
                    <a:ea typeface="黑体" panose="02010609060101010101" pitchFamily="49" charset="-122"/>
                  </a:rPr>
                  <a:t>鹅膏蕈碱敏感</a:t>
                </a:r>
                <a:r>
                  <a:rPr lang="zh-CN" altLang="en-US" sz="2200">
                    <a:latin typeface="Arial" panose="020B0604020202020204" pitchFamily="34" charset="0"/>
                  </a:rPr>
                  <a:t> </a:t>
                </a:r>
              </a:p>
            </p:txBody>
          </p:sp>
          <p:sp>
            <p:nvSpPr>
              <p:cNvPr id="13323" name="Rectangle 36"/>
              <p:cNvSpPr>
                <a:spLocks noChangeArrowheads="1"/>
              </p:cNvSpPr>
              <p:nvPr/>
            </p:nvSpPr>
            <p:spPr bwMode="auto">
              <a:xfrm>
                <a:off x="816" y="2242"/>
                <a:ext cx="1584" cy="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80000"/>
                  </a:lnSpc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None/>
                </a:pPr>
                <a:r>
                  <a:rPr lang="en-US" altLang="zh-CN" sz="2200" b="1">
                    <a:latin typeface="Arial" panose="020B0604020202020204" pitchFamily="34" charset="0"/>
                    <a:ea typeface="黑体" panose="02010609060101010101" pitchFamily="49" charset="-122"/>
                  </a:rPr>
                  <a:t>RNA</a:t>
                </a:r>
                <a:r>
                  <a:rPr lang="zh-CN" altLang="en-US" sz="2200" b="1">
                    <a:latin typeface="Arial" panose="020B0604020202020204" pitchFamily="34" charset="0"/>
                    <a:ea typeface="黑体" panose="02010609060101010101" pitchFamily="49" charset="-122"/>
                  </a:rPr>
                  <a:t>聚合酶</a:t>
                </a:r>
                <a:r>
                  <a:rPr lang="en-US" altLang="zh-CN" sz="2200" b="1">
                    <a:latin typeface="Arial" panose="020B0604020202020204" pitchFamily="34" charset="0"/>
                    <a:ea typeface="黑体" panose="02010609060101010101" pitchFamily="49" charset="-122"/>
                  </a:rPr>
                  <a:t>II (</a:t>
                </a:r>
                <a:r>
                  <a:rPr lang="zh-CN" altLang="en-US" sz="2200" b="1">
                    <a:latin typeface="Arial" panose="020B0604020202020204" pitchFamily="34" charset="0"/>
                    <a:ea typeface="黑体" panose="02010609060101010101" pitchFamily="49" charset="-122"/>
                  </a:rPr>
                  <a:t>核质</a:t>
                </a:r>
                <a:r>
                  <a:rPr lang="en-US" altLang="zh-CN" sz="2200" b="1">
                    <a:latin typeface="Arial" panose="020B0604020202020204" pitchFamily="34" charset="0"/>
                    <a:ea typeface="黑体" panose="02010609060101010101" pitchFamily="49" charset="-122"/>
                  </a:rPr>
                  <a:t>)</a:t>
                </a:r>
              </a:p>
            </p:txBody>
          </p:sp>
        </p:grpSp>
        <p:grpSp>
          <p:nvGrpSpPr>
            <p:cNvPr id="13319" name="Group 37"/>
            <p:cNvGrpSpPr>
              <a:grpSpLocks/>
            </p:cNvGrpSpPr>
            <p:nvPr/>
          </p:nvGrpSpPr>
          <p:grpSpPr bwMode="auto">
            <a:xfrm>
              <a:off x="612" y="1938"/>
              <a:ext cx="4032" cy="437"/>
              <a:chOff x="816" y="1805"/>
              <a:chExt cx="4032" cy="437"/>
            </a:xfrm>
          </p:grpSpPr>
          <p:sp>
            <p:nvSpPr>
              <p:cNvPr id="13320" name="Rectangle 38"/>
              <p:cNvSpPr>
                <a:spLocks noChangeArrowheads="1"/>
              </p:cNvSpPr>
              <p:nvPr/>
            </p:nvSpPr>
            <p:spPr bwMode="auto">
              <a:xfrm>
                <a:off x="2400" y="1805"/>
                <a:ext cx="2448" cy="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80000"/>
                  </a:lnSpc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None/>
                </a:pPr>
                <a:r>
                  <a:rPr lang="zh-CN" altLang="en-US" sz="2200" b="1">
                    <a:latin typeface="Arial" panose="020B0604020202020204" pitchFamily="34" charset="0"/>
                    <a:ea typeface="黑体" panose="02010609060101010101" pitchFamily="49" charset="-122"/>
                  </a:rPr>
                  <a:t>对</a:t>
                </a:r>
                <a:r>
                  <a:rPr lang="en-US" altLang="zh-CN" sz="2200" b="1">
                    <a:latin typeface="Arial" panose="020B0604020202020204" pitchFamily="34" charset="0"/>
                    <a:ea typeface="黑体" panose="02010609060101010101" pitchFamily="49" charset="-122"/>
                  </a:rPr>
                  <a:t>α-</a:t>
                </a:r>
                <a:r>
                  <a:rPr lang="zh-CN" altLang="en-US" sz="2200" b="1">
                    <a:latin typeface="Arial" panose="020B0604020202020204" pitchFamily="34" charset="0"/>
                    <a:ea typeface="黑体" panose="02010609060101010101" pitchFamily="49" charset="-122"/>
                  </a:rPr>
                  <a:t>鹅膏蕈碱不敏感</a:t>
                </a:r>
                <a:r>
                  <a:rPr lang="zh-CN" altLang="en-US" sz="2200">
                    <a:latin typeface="Arial" panose="020B0604020202020204" pitchFamily="34" charset="0"/>
                  </a:rPr>
                  <a:t> </a:t>
                </a:r>
              </a:p>
            </p:txBody>
          </p:sp>
          <p:sp>
            <p:nvSpPr>
              <p:cNvPr id="13321" name="Rectangle 39"/>
              <p:cNvSpPr>
                <a:spLocks noChangeArrowheads="1"/>
              </p:cNvSpPr>
              <p:nvPr/>
            </p:nvSpPr>
            <p:spPr bwMode="auto">
              <a:xfrm>
                <a:off x="816" y="1805"/>
                <a:ext cx="1584" cy="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80000"/>
                  </a:lnSpc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None/>
                </a:pPr>
                <a:r>
                  <a:rPr lang="en-US" altLang="zh-CN" sz="2200" b="1">
                    <a:latin typeface="Arial" panose="020B0604020202020204" pitchFamily="34" charset="0"/>
                    <a:ea typeface="黑体" panose="02010609060101010101" pitchFamily="49" charset="-122"/>
                  </a:rPr>
                  <a:t>RNA</a:t>
                </a:r>
                <a:r>
                  <a:rPr lang="zh-CN" altLang="en-US" sz="2200" b="1">
                    <a:latin typeface="Arial" panose="020B0604020202020204" pitchFamily="34" charset="0"/>
                    <a:ea typeface="黑体" panose="02010609060101010101" pitchFamily="49" charset="-122"/>
                  </a:rPr>
                  <a:t>聚合酶</a:t>
                </a:r>
                <a:r>
                  <a:rPr lang="en-US" altLang="zh-CN" sz="2200" b="1">
                    <a:latin typeface="Arial" panose="020B0604020202020204" pitchFamily="34" charset="0"/>
                    <a:ea typeface="黑体" panose="02010609060101010101" pitchFamily="49" charset="-122"/>
                  </a:rPr>
                  <a:t>I (</a:t>
                </a:r>
                <a:r>
                  <a:rPr lang="zh-CN" altLang="en-US" sz="2200" b="1">
                    <a:latin typeface="Arial" panose="020B0604020202020204" pitchFamily="34" charset="0"/>
                    <a:ea typeface="黑体" panose="02010609060101010101" pitchFamily="49" charset="-122"/>
                  </a:rPr>
                  <a:t>核仁</a:t>
                </a:r>
                <a:r>
                  <a:rPr lang="en-US" altLang="zh-CN" sz="2200" b="1">
                    <a:latin typeface="Arial" panose="020B0604020202020204" pitchFamily="34" charset="0"/>
                    <a:ea typeface="黑体" panose="02010609060101010101" pitchFamily="49" charset="-122"/>
                  </a:rPr>
                  <a:t>)</a:t>
                </a:r>
                <a:endParaRPr lang="en-US" altLang="zh-CN" sz="2200">
                  <a:latin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p:transition spd="med">
    <p:pull dir="r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2625" y="549275"/>
            <a:ext cx="6121400" cy="579438"/>
          </a:xfrm>
        </p:spPr>
        <p:txBody>
          <a:bodyPr/>
          <a:lstStyle/>
          <a:p>
            <a:pPr algn="l" eaLnBrk="1" hangingPunct="1"/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三</a:t>
            </a: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原核生物的转录过程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4339" name="Text Box 4"/>
          <p:cNvSpPr txBox="1">
            <a:spLocks noChangeArrowheads="1"/>
          </p:cNvSpPr>
          <p:nvPr/>
        </p:nvSpPr>
        <p:spPr bwMode="auto">
          <a:xfrm>
            <a:off x="5795963" y="1770063"/>
            <a:ext cx="1905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solidFill>
                  <a:schemeClr val="hlink"/>
                </a:solidFill>
                <a:latin typeface="Tahoma" panose="020B0604030504040204" pitchFamily="34" charset="0"/>
                <a:ea typeface="华文新魏" panose="02010800040101010101" pitchFamily="2" charset="-122"/>
              </a:rPr>
              <a:t>起始阶段</a:t>
            </a:r>
          </a:p>
        </p:txBody>
      </p:sp>
      <p:sp>
        <p:nvSpPr>
          <p:cNvPr id="14340" name="Text Box 5"/>
          <p:cNvSpPr txBox="1">
            <a:spLocks noChangeArrowheads="1"/>
          </p:cNvSpPr>
          <p:nvPr/>
        </p:nvSpPr>
        <p:spPr bwMode="auto">
          <a:xfrm>
            <a:off x="5795963" y="3281363"/>
            <a:ext cx="2057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solidFill>
                  <a:schemeClr val="hlink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延长阶段</a:t>
            </a:r>
          </a:p>
        </p:txBody>
      </p:sp>
      <p:sp>
        <p:nvSpPr>
          <p:cNvPr id="14341" name="Text Box 6"/>
          <p:cNvSpPr txBox="1">
            <a:spLocks noChangeArrowheads="1"/>
          </p:cNvSpPr>
          <p:nvPr/>
        </p:nvSpPr>
        <p:spPr bwMode="auto">
          <a:xfrm>
            <a:off x="5795963" y="4794250"/>
            <a:ext cx="1981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solidFill>
                  <a:schemeClr val="hlink"/>
                </a:solidFill>
                <a:latin typeface="Tahoma" panose="020B0604030504040204" pitchFamily="34" charset="0"/>
                <a:ea typeface="华文新魏" panose="02010800040101010101" pitchFamily="2" charset="-122"/>
              </a:rPr>
              <a:t>终止阶段</a:t>
            </a:r>
          </a:p>
        </p:txBody>
      </p:sp>
      <p:sp>
        <p:nvSpPr>
          <p:cNvPr id="14342" name="Text Box 15"/>
          <p:cNvSpPr txBox="1">
            <a:spLocks noChangeArrowheads="1"/>
          </p:cNvSpPr>
          <p:nvPr/>
        </p:nvSpPr>
        <p:spPr bwMode="auto">
          <a:xfrm>
            <a:off x="915988" y="1196975"/>
            <a:ext cx="4808537" cy="470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/>
              <a:t>1</a:t>
            </a:r>
            <a:r>
              <a:rPr lang="zh-CN" altLang="en-US" sz="2800"/>
              <a:t>、结合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/>
              <a:t>2</a:t>
            </a:r>
            <a:r>
              <a:rPr lang="zh-CN" altLang="en-US" sz="2800"/>
              <a:t>、解链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/>
              <a:t>3</a:t>
            </a:r>
            <a:r>
              <a:rPr lang="zh-CN" altLang="en-US" sz="2800"/>
              <a:t>、引发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/>
              <a:t>4</a:t>
            </a:r>
            <a:r>
              <a:rPr lang="zh-CN" altLang="en-US" sz="2800"/>
              <a:t>、</a:t>
            </a:r>
            <a:r>
              <a:rPr lang="en-US" altLang="zh-CN" sz="2800"/>
              <a:t>б</a:t>
            </a:r>
            <a:r>
              <a:rPr lang="zh-CN" altLang="en-US" sz="2800"/>
              <a:t>因子解离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/>
              <a:t>5</a:t>
            </a:r>
            <a:r>
              <a:rPr lang="zh-CN" altLang="en-US" sz="2800"/>
              <a:t>、核心酶移动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/>
              <a:t>6</a:t>
            </a:r>
            <a:r>
              <a:rPr lang="zh-CN" altLang="en-US" sz="2800"/>
              <a:t>、形成</a:t>
            </a:r>
            <a:r>
              <a:rPr lang="en-US" altLang="zh-CN" sz="2800"/>
              <a:t>3’</a:t>
            </a:r>
            <a:r>
              <a:rPr lang="zh-CN" altLang="en-US" sz="2800"/>
              <a:t>，</a:t>
            </a:r>
            <a:r>
              <a:rPr lang="en-US" altLang="zh-CN" sz="2800"/>
              <a:t>5’</a:t>
            </a:r>
            <a:r>
              <a:rPr lang="zh-CN" altLang="en-US" sz="2800"/>
              <a:t>－磷酸二酯键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/>
              <a:t>7</a:t>
            </a:r>
            <a:r>
              <a:rPr lang="zh-CN" altLang="en-US" sz="2800"/>
              <a:t>、</a:t>
            </a:r>
            <a:r>
              <a:rPr lang="zh-CN" altLang="en-US" sz="2800">
                <a:sym typeface="Symbol" panose="05050102010706020507" pitchFamily="18" charset="2"/>
              </a:rPr>
              <a:t></a:t>
            </a:r>
            <a:r>
              <a:rPr lang="zh-CN" altLang="en-US" sz="2800"/>
              <a:t>因子识别终止信号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/>
              <a:t>8</a:t>
            </a:r>
            <a:r>
              <a:rPr lang="zh-CN" altLang="en-US" sz="2800"/>
              <a:t>、核心酶停止转录</a:t>
            </a:r>
            <a:endParaRPr lang="en-US" altLang="zh-CN" sz="2800">
              <a:latin typeface="Tahoma" panose="020B060403050404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/>
              <a:t>9</a:t>
            </a:r>
            <a:r>
              <a:rPr lang="zh-CN" altLang="en-US" sz="2800"/>
              <a:t>、</a:t>
            </a:r>
            <a:r>
              <a:rPr lang="en-US" altLang="zh-CN" sz="2800">
                <a:latin typeface="宋体" panose="02010600030101010101" pitchFamily="2" charset="-122"/>
              </a:rPr>
              <a:t>RNA</a:t>
            </a:r>
            <a:r>
              <a:rPr lang="zh-CN" altLang="en-US" sz="2800">
                <a:latin typeface="宋体" panose="02010600030101010101" pitchFamily="2" charset="-122"/>
              </a:rPr>
              <a:t>链释放出来</a:t>
            </a:r>
            <a:r>
              <a:rPr lang="zh-CN" altLang="en-US" sz="2800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14343" name="AutoShape 16"/>
          <p:cNvSpPr>
            <a:spLocks/>
          </p:cNvSpPr>
          <p:nvPr/>
        </p:nvSpPr>
        <p:spPr bwMode="auto">
          <a:xfrm>
            <a:off x="5589588" y="1417638"/>
            <a:ext cx="76200" cy="1219200"/>
          </a:xfrm>
          <a:prstGeom prst="rightBrace">
            <a:avLst>
              <a:gd name="adj1" fmla="val 1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344" name="AutoShape 17"/>
          <p:cNvSpPr>
            <a:spLocks/>
          </p:cNvSpPr>
          <p:nvPr/>
        </p:nvSpPr>
        <p:spPr bwMode="auto">
          <a:xfrm>
            <a:off x="5589588" y="4514850"/>
            <a:ext cx="76200" cy="1219200"/>
          </a:xfrm>
          <a:prstGeom prst="rightBrace">
            <a:avLst>
              <a:gd name="adj1" fmla="val 1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345" name="AutoShape 18"/>
          <p:cNvSpPr>
            <a:spLocks/>
          </p:cNvSpPr>
          <p:nvPr/>
        </p:nvSpPr>
        <p:spPr bwMode="auto">
          <a:xfrm>
            <a:off x="5589588" y="2930525"/>
            <a:ext cx="76200" cy="1219200"/>
          </a:xfrm>
          <a:prstGeom prst="rightBrace">
            <a:avLst>
              <a:gd name="adj1" fmla="val 1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pull dir="r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746125" y="1093788"/>
            <a:ext cx="74834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200" b="1">
                <a:ea typeface="黑体" panose="02010609060101010101" pitchFamily="49" charset="-122"/>
              </a:rPr>
              <a:t>转录起始点（</a:t>
            </a:r>
            <a:r>
              <a:rPr lang="en-US" altLang="zh-CN" sz="2200" b="1">
                <a:ea typeface="黑体" panose="02010609060101010101" pitchFamily="49" charset="-122"/>
              </a:rPr>
              <a:t>start point</a:t>
            </a:r>
            <a:r>
              <a:rPr lang="zh-CN" altLang="en-US" sz="2200" b="1">
                <a:ea typeface="黑体" panose="02010609060101010101" pitchFamily="49" charset="-122"/>
              </a:rPr>
              <a:t>）为</a:t>
            </a:r>
            <a:r>
              <a:rPr lang="en-US" altLang="zh-CN" sz="2200" b="1">
                <a:ea typeface="黑体" panose="02010609060101010101" pitchFamily="49" charset="-122"/>
              </a:rPr>
              <a:t>+1</a:t>
            </a:r>
            <a:r>
              <a:rPr lang="zh-CN" altLang="en-US" sz="2200" b="1">
                <a:ea typeface="黑体" panose="02010609060101010101" pitchFamily="49" charset="-122"/>
              </a:rPr>
              <a:t>，位于它上游的序列为负数，位于它下游的序列为正数，没有零。</a:t>
            </a:r>
            <a:endParaRPr lang="zh-CN" altLang="en-US" sz="2200"/>
          </a:p>
        </p:txBody>
      </p:sp>
      <p:pic>
        <p:nvPicPr>
          <p:cNvPr id="15363" name="Picture 3" descr="转录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770188"/>
            <a:ext cx="5867400" cy="238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942975" y="323850"/>
            <a:ext cx="2760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6600"/>
                </a:solidFill>
              </a:rPr>
              <a:t>转录的起始阶段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ransition spd="med">
    <p:pull dir="r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942975" y="323850"/>
            <a:ext cx="2760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6600"/>
                </a:solidFill>
              </a:rPr>
              <a:t>转录的起始阶段</a:t>
            </a:r>
            <a:r>
              <a:rPr lang="zh-CN" altLang="en-US"/>
              <a:t> </a:t>
            </a:r>
          </a:p>
        </p:txBody>
      </p:sp>
      <p:sp>
        <p:nvSpPr>
          <p:cNvPr id="99331" name="Text Box 3"/>
          <p:cNvSpPr txBox="1">
            <a:spLocks noChangeArrowheads="1"/>
          </p:cNvSpPr>
          <p:nvPr/>
        </p:nvSpPr>
        <p:spPr bwMode="auto">
          <a:xfrm>
            <a:off x="971550" y="914400"/>
            <a:ext cx="7254875" cy="316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altLang="zh-CN" b="1">
                <a:ea typeface="黑体" panose="02010609060101010101" pitchFamily="49" charset="-122"/>
              </a:rPr>
              <a:t>A. </a:t>
            </a:r>
            <a:r>
              <a:rPr lang="zh-CN" altLang="en-US" b="1">
                <a:ea typeface="黑体" panose="02010609060101010101" pitchFamily="49" charset="-122"/>
              </a:rPr>
              <a:t>启动子（</a:t>
            </a:r>
            <a:r>
              <a:rPr lang="en-US" altLang="zh-CN" b="1">
                <a:ea typeface="黑体" panose="02010609060101010101" pitchFamily="49" charset="-122"/>
              </a:rPr>
              <a:t>promoter</a:t>
            </a:r>
            <a:r>
              <a:rPr lang="zh-CN" altLang="en-US" b="1">
                <a:ea typeface="黑体" panose="02010609060101010101" pitchFamily="49" charset="-122"/>
              </a:rPr>
              <a:t>）的概念：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000" b="1">
                <a:ea typeface="黑体" panose="02010609060101010101" pitchFamily="49" charset="-122"/>
              </a:rPr>
              <a:t>          </a:t>
            </a:r>
            <a:r>
              <a:rPr lang="zh-CN" altLang="en-US" sz="2000" b="1">
                <a:solidFill>
                  <a:srgbClr val="FF0000"/>
                </a:solidFill>
                <a:ea typeface="黑体" panose="02010609060101010101" pitchFamily="49" charset="-122"/>
              </a:rPr>
              <a:t>启动子是指</a:t>
            </a:r>
            <a:r>
              <a:rPr lang="en-US" altLang="zh-CN" sz="2000" b="1">
                <a:solidFill>
                  <a:srgbClr val="FF0000"/>
                </a:solidFill>
                <a:ea typeface="黑体" panose="02010609060101010101" pitchFamily="49" charset="-122"/>
              </a:rPr>
              <a:t>RNA</a:t>
            </a:r>
            <a:r>
              <a:rPr lang="zh-CN" altLang="en-US" sz="2000" b="1">
                <a:solidFill>
                  <a:srgbClr val="FF0000"/>
                </a:solidFill>
                <a:ea typeface="黑体" panose="02010609060101010101" pitchFamily="49" charset="-122"/>
              </a:rPr>
              <a:t>聚合酶识别，结合并开始转录的一段</a:t>
            </a:r>
            <a:r>
              <a:rPr lang="en-US" altLang="zh-CN" sz="2000" b="1">
                <a:solidFill>
                  <a:srgbClr val="FF0000"/>
                </a:solidFill>
                <a:ea typeface="黑体" panose="02010609060101010101" pitchFamily="49" charset="-122"/>
              </a:rPr>
              <a:t>DNA</a:t>
            </a:r>
            <a:r>
              <a:rPr lang="zh-CN" altLang="en-US" sz="2000" b="1">
                <a:solidFill>
                  <a:srgbClr val="FF0000"/>
                </a:solidFill>
                <a:ea typeface="黑体" panose="02010609060101010101" pitchFamily="49" charset="-122"/>
              </a:rPr>
              <a:t>序列</a:t>
            </a:r>
            <a:r>
              <a:rPr lang="zh-CN" altLang="en-US" sz="2000" b="1">
                <a:ea typeface="黑体" panose="02010609060101010101" pitchFamily="49" charset="-122"/>
              </a:rPr>
              <a:t>，它包括</a:t>
            </a:r>
            <a:r>
              <a:rPr lang="en-US" altLang="zh-CN" sz="2000" b="1">
                <a:ea typeface="黑体" panose="02010609060101010101" pitchFamily="49" charset="-122"/>
              </a:rPr>
              <a:t>4</a:t>
            </a:r>
            <a:r>
              <a:rPr lang="zh-CN" altLang="en-US" sz="2000" b="1">
                <a:ea typeface="黑体" panose="02010609060101010101" pitchFamily="49" charset="-122"/>
              </a:rPr>
              <a:t>个区域：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zh-CN" altLang="en-US" sz="2000" b="1">
                <a:ea typeface="黑体" panose="02010609060101010101" pitchFamily="49" charset="-122"/>
              </a:rPr>
              <a:t>  转录的起始点，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zh-CN" altLang="en-US" sz="2000" b="1">
                <a:ea typeface="黑体" panose="02010609060101010101" pitchFamily="49" charset="-122"/>
              </a:rPr>
              <a:t>  </a:t>
            </a:r>
            <a:r>
              <a:rPr lang="en-US" altLang="zh-CN" sz="2000" b="1">
                <a:ea typeface="黑体" panose="02010609060101010101" pitchFamily="49" charset="-122"/>
              </a:rPr>
              <a:t>-10</a:t>
            </a:r>
            <a:r>
              <a:rPr lang="zh-CN" altLang="en-US" sz="2000" b="1">
                <a:ea typeface="黑体" panose="02010609060101010101" pitchFamily="49" charset="-122"/>
              </a:rPr>
              <a:t>区（</a:t>
            </a:r>
            <a:r>
              <a:rPr lang="en-US" altLang="zh-CN" sz="2000" b="1">
                <a:ea typeface="黑体" panose="02010609060101010101" pitchFamily="49" charset="-122"/>
              </a:rPr>
              <a:t>pribnow box</a:t>
            </a:r>
            <a:r>
              <a:rPr lang="zh-CN" altLang="en-US" sz="2000" b="1">
                <a:ea typeface="黑体" panose="02010609060101010101" pitchFamily="49" charset="-122"/>
              </a:rPr>
              <a:t>，富含</a:t>
            </a:r>
            <a:r>
              <a:rPr lang="en-US" altLang="zh-CN" sz="2000" b="1">
                <a:ea typeface="黑体" panose="02010609060101010101" pitchFamily="49" charset="-122"/>
              </a:rPr>
              <a:t>AT</a:t>
            </a:r>
            <a:r>
              <a:rPr lang="zh-CN" altLang="en-US" sz="2000" b="1">
                <a:ea typeface="黑体" panose="02010609060101010101" pitchFamily="49" charset="-122"/>
              </a:rPr>
              <a:t>，其一致序列为</a:t>
            </a:r>
            <a:r>
              <a:rPr lang="en-US" altLang="zh-CN" sz="2000" b="1">
                <a:ea typeface="黑体" panose="02010609060101010101" pitchFamily="49" charset="-122"/>
              </a:rPr>
              <a:t>TATAAT</a:t>
            </a:r>
            <a:r>
              <a:rPr lang="zh-CN" altLang="en-US" sz="2000" b="1">
                <a:ea typeface="黑体" panose="02010609060101010101" pitchFamily="49" charset="-122"/>
              </a:rPr>
              <a:t>） 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zh-CN" altLang="en-US" sz="2000" b="1">
                <a:ea typeface="黑体" panose="02010609060101010101" pitchFamily="49" charset="-122"/>
              </a:rPr>
              <a:t>  </a:t>
            </a:r>
            <a:r>
              <a:rPr lang="en-US" altLang="zh-CN" sz="2000" b="1">
                <a:ea typeface="黑体" panose="02010609060101010101" pitchFamily="49" charset="-122"/>
              </a:rPr>
              <a:t>-35</a:t>
            </a:r>
            <a:r>
              <a:rPr lang="zh-CN" altLang="en-US" sz="2000" b="1">
                <a:ea typeface="黑体" panose="02010609060101010101" pitchFamily="49" charset="-122"/>
              </a:rPr>
              <a:t>区 一致序列为</a:t>
            </a:r>
            <a:r>
              <a:rPr lang="en-US" altLang="zh-CN" sz="2000" b="1">
                <a:ea typeface="黑体" panose="02010609060101010101" pitchFamily="49" charset="-122"/>
              </a:rPr>
              <a:t>TTGACA</a:t>
            </a:r>
            <a:r>
              <a:rPr lang="zh-CN" altLang="en-US" sz="2000" b="1">
                <a:ea typeface="黑体" panose="02010609060101010101" pitchFamily="49" charset="-122"/>
              </a:rPr>
              <a:t>，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zh-CN" altLang="en-US" sz="2000" b="1">
                <a:ea typeface="黑体" panose="02010609060101010101" pitchFamily="49" charset="-122"/>
              </a:rPr>
              <a:t>  </a:t>
            </a:r>
            <a:r>
              <a:rPr lang="en-US" altLang="zh-CN" sz="2000" b="1">
                <a:ea typeface="黑体" panose="02010609060101010101" pitchFamily="49" charset="-122"/>
              </a:rPr>
              <a:t>-10</a:t>
            </a:r>
            <a:r>
              <a:rPr lang="zh-CN" altLang="en-US" sz="2000" b="1">
                <a:ea typeface="黑体" panose="02010609060101010101" pitchFamily="49" charset="-122"/>
              </a:rPr>
              <a:t>与</a:t>
            </a:r>
            <a:r>
              <a:rPr lang="en-US" altLang="zh-CN" sz="2000" b="1">
                <a:ea typeface="黑体" panose="02010609060101010101" pitchFamily="49" charset="-122"/>
              </a:rPr>
              <a:t>-35</a:t>
            </a:r>
            <a:r>
              <a:rPr lang="zh-CN" altLang="en-US" sz="2000" b="1">
                <a:ea typeface="黑体" panose="02010609060101010101" pitchFamily="49" charset="-122"/>
              </a:rPr>
              <a:t>之间的序列。</a:t>
            </a:r>
            <a:r>
              <a:rPr lang="zh-CN" altLang="en-US" sz="2000"/>
              <a:t> </a:t>
            </a:r>
          </a:p>
        </p:txBody>
      </p:sp>
      <p:sp>
        <p:nvSpPr>
          <p:cNvPr id="99332" name="Text Box 4"/>
          <p:cNvSpPr txBox="1">
            <a:spLocks noChangeArrowheads="1"/>
          </p:cNvSpPr>
          <p:nvPr/>
        </p:nvSpPr>
        <p:spPr bwMode="auto">
          <a:xfrm>
            <a:off x="971550" y="5715000"/>
            <a:ext cx="72390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000" b="1">
                <a:ea typeface="黑体" panose="02010609060101010101" pitchFamily="49" charset="-122"/>
              </a:rPr>
              <a:t>原核生物的</a:t>
            </a:r>
            <a:r>
              <a:rPr lang="en-US" altLang="zh-CN" sz="2000" b="1">
                <a:ea typeface="黑体" panose="02010609060101010101" pitchFamily="49" charset="-122"/>
              </a:rPr>
              <a:t>RNA</a:t>
            </a:r>
            <a:r>
              <a:rPr lang="zh-CN" altLang="en-US" sz="2000" b="1">
                <a:ea typeface="黑体" panose="02010609060101010101" pitchFamily="49" charset="-122"/>
              </a:rPr>
              <a:t>聚合酶能直接识别启动子，并与启动子结合，从而启动基因转录</a:t>
            </a:r>
          </a:p>
        </p:txBody>
      </p:sp>
      <p:pic>
        <p:nvPicPr>
          <p:cNvPr id="99333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4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3971925"/>
            <a:ext cx="8964613" cy="1762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9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 build="p" autoUpdateAnimBg="0"/>
      <p:bldP spid="9933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027113"/>
            <a:ext cx="7794625" cy="528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942975" y="323850"/>
            <a:ext cx="2760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6600"/>
                </a:solidFill>
              </a:rPr>
              <a:t>转录的起始阶段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ransition spd="med">
    <p:pull dir="r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323850" y="955675"/>
            <a:ext cx="784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ea typeface="黑体" panose="02010609060101010101" pitchFamily="49" charset="-122"/>
              </a:rPr>
              <a:t>B. RNA</a:t>
            </a:r>
            <a:r>
              <a:rPr lang="zh-CN" altLang="en-US" b="1">
                <a:ea typeface="黑体" panose="02010609060101010101" pitchFamily="49" charset="-122"/>
              </a:rPr>
              <a:t>聚合酶对启动子的识别、结合和起始复合物形成</a:t>
            </a:r>
            <a:r>
              <a:rPr lang="zh-CN" altLang="en-US" sz="2200" b="1">
                <a:ea typeface="黑体" panose="02010609060101010101" pitchFamily="49" charset="-122"/>
              </a:rPr>
              <a:t> </a:t>
            </a:r>
          </a:p>
        </p:txBody>
      </p:sp>
      <p:pic>
        <p:nvPicPr>
          <p:cNvPr id="18435" name="Picture 3" descr="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446213"/>
            <a:ext cx="6624637" cy="500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942975" y="323850"/>
            <a:ext cx="2760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6600"/>
                </a:solidFill>
              </a:rPr>
              <a:t>转录的起始阶段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ransition spd="med">
    <p:pull dir="r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1066800" y="1027113"/>
            <a:ext cx="3978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ea typeface="黑体" panose="02010609060101010101" pitchFamily="49" charset="-122"/>
              </a:rPr>
              <a:t>RNA</a:t>
            </a:r>
            <a:r>
              <a:rPr lang="zh-CN" altLang="en-US" b="1">
                <a:ea typeface="黑体" panose="02010609060101010101" pitchFamily="49" charset="-122"/>
              </a:rPr>
              <a:t>链的合成方向</a:t>
            </a:r>
            <a:r>
              <a:rPr lang="en-US" altLang="zh-CN" b="1">
                <a:ea typeface="黑体" panose="02010609060101010101" pitchFamily="49" charset="-122"/>
              </a:rPr>
              <a:t>5′→3′</a:t>
            </a:r>
            <a:r>
              <a:rPr lang="en-US" altLang="zh-CN" sz="2200" b="1">
                <a:ea typeface="黑体" panose="02010609060101010101" pitchFamily="49" charset="-122"/>
              </a:rPr>
              <a:t> </a:t>
            </a:r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>
            <a:lum bright="-4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3" b="6761"/>
          <a:stretch>
            <a:fillRect/>
          </a:stretch>
        </p:blipFill>
        <p:spPr bwMode="auto">
          <a:xfrm>
            <a:off x="1187450" y="1482725"/>
            <a:ext cx="6188075" cy="482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942975" y="323850"/>
            <a:ext cx="2760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6600"/>
                </a:solidFill>
              </a:rPr>
              <a:t>转录的延长阶段</a:t>
            </a:r>
            <a:r>
              <a:rPr lang="en-US" altLang="zh-CN"/>
              <a:t> </a:t>
            </a:r>
          </a:p>
        </p:txBody>
      </p:sp>
    </p:spTree>
  </p:cSld>
  <p:clrMapOvr>
    <a:masterClrMapping/>
  </p:clrMapOvr>
  <p:transition spd="med">
    <p:pull dir="r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2"/>
          <p:cNvSpPr txBox="1">
            <a:spLocks noChangeArrowheads="1"/>
          </p:cNvSpPr>
          <p:nvPr/>
        </p:nvSpPr>
        <p:spPr bwMode="auto">
          <a:xfrm>
            <a:off x="755650" y="1579563"/>
            <a:ext cx="6840538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/>
              <a:t>        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当核心酶沿模板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3′→5′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方向移动到终止信号区域时，转录就终止，提供终止信号的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DNA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序列称终止子。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    终止有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种类型：不依赖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ρ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因子的终止，依赖于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ρ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因子的终止。</a:t>
            </a: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942975" y="838200"/>
            <a:ext cx="2760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6600"/>
                </a:solidFill>
              </a:rPr>
              <a:t>转录的终止阶段</a:t>
            </a:r>
            <a:r>
              <a:rPr lang="en-US" altLang="zh-CN"/>
              <a:t> </a:t>
            </a: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4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4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0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862013"/>
            <a:ext cx="7489825" cy="195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71" name="Picture 3"/>
          <p:cNvPicPr>
            <a:picLocks noChangeAspect="1" noChangeArrowheads="1"/>
          </p:cNvPicPr>
          <p:nvPr/>
        </p:nvPicPr>
        <p:blipFill>
          <a:blip r:embed="rId3">
            <a:lum bright="-4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895600"/>
            <a:ext cx="26797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468313" y="522288"/>
            <a:ext cx="74168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>
                <a:ea typeface="黑体" panose="02010609060101010101" pitchFamily="49" charset="-122"/>
              </a:rPr>
              <a:t>不依赖于</a:t>
            </a:r>
            <a:r>
              <a:rPr lang="en-US" altLang="zh-CN" b="1">
                <a:ea typeface="黑体" panose="02010609060101010101" pitchFamily="49" charset="-122"/>
              </a:rPr>
              <a:t>ρ</a:t>
            </a:r>
            <a:r>
              <a:rPr lang="zh-CN" altLang="en-US" b="1">
                <a:ea typeface="黑体" panose="02010609060101010101" pitchFamily="49" charset="-122"/>
              </a:rPr>
              <a:t>因子的终止：这类终止子结构上有</a:t>
            </a:r>
            <a:r>
              <a:rPr lang="en-US" altLang="zh-CN" b="1">
                <a:ea typeface="黑体" panose="02010609060101010101" pitchFamily="49" charset="-122"/>
              </a:rPr>
              <a:t>2</a:t>
            </a:r>
            <a:r>
              <a:rPr lang="zh-CN" altLang="en-US" b="1">
                <a:ea typeface="黑体" panose="02010609060101010101" pitchFamily="49" charset="-122"/>
              </a:rPr>
              <a:t>个特征</a:t>
            </a:r>
            <a:endParaRPr lang="zh-CN" altLang="en-US"/>
          </a:p>
        </p:txBody>
      </p:sp>
      <p:sp>
        <p:nvSpPr>
          <p:cNvPr id="109573" name="Text Box 5"/>
          <p:cNvSpPr txBox="1">
            <a:spLocks noChangeArrowheads="1"/>
          </p:cNvSpPr>
          <p:nvPr/>
        </p:nvSpPr>
        <p:spPr bwMode="auto">
          <a:xfrm>
            <a:off x="3348038" y="4652963"/>
            <a:ext cx="432117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b="1">
                <a:ea typeface="黑体" panose="02010609060101010101" pitchFamily="49" charset="-122"/>
              </a:rPr>
              <a:t>b. </a:t>
            </a:r>
            <a:r>
              <a:rPr lang="zh-CN" altLang="en-US" sz="2000" b="1">
                <a:ea typeface="黑体" panose="02010609060101010101" pitchFamily="49" charset="-122"/>
              </a:rPr>
              <a:t>发夹结构末端紧跟</a:t>
            </a:r>
            <a:r>
              <a:rPr lang="en-US" altLang="zh-CN" sz="2000" b="1">
                <a:ea typeface="黑体" panose="02010609060101010101" pitchFamily="49" charset="-122"/>
              </a:rPr>
              <a:t>6</a:t>
            </a:r>
            <a:r>
              <a:rPr lang="zh-CN" altLang="en-US" sz="2000" b="1">
                <a:ea typeface="黑体" panose="02010609060101010101" pitchFamily="49" charset="-122"/>
              </a:rPr>
              <a:t>个连续的</a:t>
            </a:r>
            <a:r>
              <a:rPr lang="en-US" altLang="zh-CN" sz="2000" b="1">
                <a:ea typeface="黑体" panose="02010609060101010101" pitchFamily="49" charset="-122"/>
              </a:rPr>
              <a:t>U</a:t>
            </a:r>
            <a:r>
              <a:rPr lang="zh-CN" altLang="en-US" sz="2000" b="1">
                <a:ea typeface="黑体" panose="02010609060101010101" pitchFamily="49" charset="-122"/>
              </a:rPr>
              <a:t>，这发夹结构阻碍了聚合酶的进一步延伸，</a:t>
            </a:r>
            <a:r>
              <a:rPr lang="en-US" altLang="zh-CN" sz="2000" b="1">
                <a:ea typeface="黑体" panose="02010609060101010101" pitchFamily="49" charset="-122"/>
              </a:rPr>
              <a:t>RNA</a:t>
            </a:r>
            <a:r>
              <a:rPr lang="zh-CN" altLang="en-US" sz="2000" b="1">
                <a:ea typeface="黑体" panose="02010609060101010101" pitchFamily="49" charset="-122"/>
              </a:rPr>
              <a:t>链的合成就终止，酶和</a:t>
            </a:r>
            <a:r>
              <a:rPr lang="en-US" altLang="zh-CN" sz="2000" b="1">
                <a:ea typeface="黑体" panose="02010609060101010101" pitchFamily="49" charset="-122"/>
              </a:rPr>
              <a:t>mRNA</a:t>
            </a:r>
            <a:r>
              <a:rPr lang="zh-CN" altLang="en-US" sz="2000" b="1">
                <a:ea typeface="黑体" panose="02010609060101010101" pitchFamily="49" charset="-122"/>
              </a:rPr>
              <a:t>就从模板</a:t>
            </a:r>
            <a:r>
              <a:rPr lang="en-US" altLang="zh-CN" sz="2000" b="1">
                <a:ea typeface="黑体" panose="02010609060101010101" pitchFamily="49" charset="-122"/>
              </a:rPr>
              <a:t>DNA</a:t>
            </a:r>
            <a:r>
              <a:rPr lang="zh-CN" altLang="en-US" sz="2000" b="1">
                <a:ea typeface="黑体" panose="02010609060101010101" pitchFamily="49" charset="-122"/>
              </a:rPr>
              <a:t>上释放。</a:t>
            </a:r>
            <a:r>
              <a:rPr lang="zh-CN" altLang="en-US" sz="1800"/>
              <a:t> </a:t>
            </a:r>
          </a:p>
        </p:txBody>
      </p:sp>
      <p:sp>
        <p:nvSpPr>
          <p:cNvPr id="109574" name="Text Box 6"/>
          <p:cNvSpPr txBox="1">
            <a:spLocks noChangeArrowheads="1"/>
          </p:cNvSpPr>
          <p:nvPr/>
        </p:nvSpPr>
        <p:spPr bwMode="auto">
          <a:xfrm>
            <a:off x="3319463" y="2867025"/>
            <a:ext cx="44958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b="1">
                <a:ea typeface="黑体" panose="02010609060101010101" pitchFamily="49" charset="-122"/>
              </a:rPr>
              <a:t>a. DNA</a:t>
            </a:r>
            <a:r>
              <a:rPr lang="zh-CN" altLang="en-US" sz="2000" b="1">
                <a:ea typeface="黑体" panose="02010609060101010101" pitchFamily="49" charset="-122"/>
              </a:rPr>
              <a:t>链的</a:t>
            </a:r>
            <a:r>
              <a:rPr lang="en-US" altLang="zh-CN" sz="2000" b="1">
                <a:ea typeface="黑体" panose="02010609060101010101" pitchFamily="49" charset="-122"/>
              </a:rPr>
              <a:t>3′</a:t>
            </a:r>
            <a:r>
              <a:rPr lang="zh-CN" altLang="en-US" sz="2000" b="1">
                <a:ea typeface="黑体" panose="02010609060101010101" pitchFamily="49" charset="-122"/>
              </a:rPr>
              <a:t>端附近有回文结构，富含</a:t>
            </a:r>
            <a:r>
              <a:rPr lang="en-US" altLang="zh-CN" sz="2000" b="1">
                <a:ea typeface="黑体" panose="02010609060101010101" pitchFamily="49" charset="-122"/>
              </a:rPr>
              <a:t>G-C</a:t>
            </a:r>
            <a:r>
              <a:rPr lang="zh-CN" altLang="en-US" sz="2000" b="1">
                <a:ea typeface="黑体" panose="02010609060101010101" pitchFamily="49" charset="-122"/>
              </a:rPr>
              <a:t>碱基，随后紧跟的是</a:t>
            </a:r>
            <a:r>
              <a:rPr lang="en-US" altLang="zh-CN" sz="2000" b="1">
                <a:ea typeface="黑体" panose="02010609060101010101" pitchFamily="49" charset="-122"/>
              </a:rPr>
              <a:t>A-T</a:t>
            </a:r>
            <a:r>
              <a:rPr lang="zh-CN" altLang="en-US" sz="2000" b="1">
                <a:ea typeface="黑体" panose="02010609060101010101" pitchFamily="49" charset="-122"/>
              </a:rPr>
              <a:t>碱基，转录而形成的</a:t>
            </a:r>
            <a:r>
              <a:rPr lang="en-US" altLang="zh-CN" sz="2000" b="1">
                <a:ea typeface="黑体" panose="02010609060101010101" pitchFamily="49" charset="-122"/>
              </a:rPr>
              <a:t>RNA</a:t>
            </a:r>
            <a:r>
              <a:rPr lang="zh-CN" altLang="en-US" sz="2000" b="1">
                <a:ea typeface="黑体" panose="02010609060101010101" pitchFamily="49" charset="-122"/>
              </a:rPr>
              <a:t>具有茎环的发夹形结构（</a:t>
            </a:r>
            <a:r>
              <a:rPr lang="en-US" altLang="zh-CN" sz="2000" b="1">
                <a:ea typeface="黑体" panose="02010609060101010101" pitchFamily="49" charset="-122"/>
              </a:rPr>
              <a:t>hairpin structure</a:t>
            </a:r>
            <a:r>
              <a:rPr lang="zh-CN" altLang="en-US" sz="2000" b="1">
                <a:ea typeface="黑体" panose="02010609060101010101" pitchFamily="49" charset="-122"/>
              </a:rPr>
              <a:t>）</a:t>
            </a:r>
            <a:r>
              <a:rPr lang="zh-CN" altLang="en-US" sz="2000"/>
              <a:t> 。</a:t>
            </a: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9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9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3" grpId="0" autoUpdateAnimBg="0"/>
      <p:bldP spid="109574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900113" y="1187450"/>
            <a:ext cx="6840537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200" b="1">
                <a:ea typeface="黑体" panose="02010609060101010101" pitchFamily="49" charset="-122"/>
              </a:rPr>
              <a:t>        </a:t>
            </a:r>
            <a:r>
              <a:rPr lang="zh-CN" altLang="en-US" b="1">
                <a:ea typeface="黑体" panose="02010609060101010101" pitchFamily="49" charset="-122"/>
              </a:rPr>
              <a:t>依赖</a:t>
            </a:r>
            <a:r>
              <a:rPr lang="en-US" altLang="zh-CN" b="1">
                <a:ea typeface="黑体" panose="02010609060101010101" pitchFamily="49" charset="-122"/>
              </a:rPr>
              <a:t>ρ</a:t>
            </a:r>
            <a:r>
              <a:rPr lang="zh-CN" altLang="en-US" b="1">
                <a:ea typeface="黑体" panose="02010609060101010101" pitchFamily="49" charset="-122"/>
              </a:rPr>
              <a:t>因子（</a:t>
            </a:r>
            <a:r>
              <a:rPr lang="en-US" altLang="zh-CN" b="1">
                <a:ea typeface="黑体" panose="02010609060101010101" pitchFamily="49" charset="-122"/>
              </a:rPr>
              <a:t>rho factor</a:t>
            </a:r>
            <a:r>
              <a:rPr lang="zh-CN" altLang="en-US" b="1">
                <a:ea typeface="黑体" panose="02010609060101010101" pitchFamily="49" charset="-122"/>
              </a:rPr>
              <a:t>）的终止：</a:t>
            </a:r>
            <a:r>
              <a:rPr lang="en-US" altLang="zh-CN" b="1">
                <a:solidFill>
                  <a:srgbClr val="0000FF"/>
                </a:solidFill>
                <a:ea typeface="黑体" panose="02010609060101010101" pitchFamily="49" charset="-122"/>
              </a:rPr>
              <a:t>ρ</a:t>
            </a:r>
            <a:r>
              <a:rPr lang="zh-CN" altLang="en-US" b="1">
                <a:solidFill>
                  <a:srgbClr val="0000FF"/>
                </a:solidFill>
                <a:ea typeface="黑体" panose="02010609060101010101" pitchFamily="49" charset="-122"/>
              </a:rPr>
              <a:t>因子是</a:t>
            </a:r>
            <a:r>
              <a:rPr lang="en-US" altLang="zh-CN" b="1">
                <a:solidFill>
                  <a:srgbClr val="0000FF"/>
                </a:solidFill>
                <a:ea typeface="黑体" panose="02010609060101010101" pitchFamily="49" charset="-122"/>
              </a:rPr>
              <a:t>ρ</a:t>
            </a:r>
            <a:r>
              <a:rPr lang="zh-CN" altLang="en-US" b="1">
                <a:solidFill>
                  <a:srgbClr val="0000FF"/>
                </a:solidFill>
                <a:ea typeface="黑体" panose="02010609060101010101" pitchFamily="49" charset="-122"/>
              </a:rPr>
              <a:t>基因编码的蛋白质，是一种酶，它具有</a:t>
            </a:r>
            <a:r>
              <a:rPr lang="en-US" altLang="zh-CN" b="1">
                <a:solidFill>
                  <a:srgbClr val="006600"/>
                </a:solidFill>
                <a:ea typeface="黑体" panose="02010609060101010101" pitchFamily="49" charset="-122"/>
              </a:rPr>
              <a:t>ATPase</a:t>
            </a:r>
            <a:r>
              <a:rPr lang="zh-CN" altLang="en-US" b="1">
                <a:solidFill>
                  <a:srgbClr val="006600"/>
                </a:solidFill>
                <a:ea typeface="黑体" panose="02010609060101010101" pitchFamily="49" charset="-122"/>
              </a:rPr>
              <a:t>的活性和解链酶的活性</a:t>
            </a:r>
            <a:r>
              <a:rPr lang="zh-CN" altLang="en-US" b="1">
                <a:ea typeface="黑体" panose="02010609060101010101" pitchFamily="49" charset="-122"/>
              </a:rPr>
              <a:t>，在水解</a:t>
            </a:r>
            <a:r>
              <a:rPr lang="en-US" altLang="zh-CN" b="1">
                <a:ea typeface="黑体" panose="02010609060101010101" pitchFamily="49" charset="-122"/>
              </a:rPr>
              <a:t>ATP</a:t>
            </a:r>
            <a:r>
              <a:rPr lang="zh-CN" altLang="en-US" b="1">
                <a:ea typeface="黑体" panose="02010609060101010101" pitchFamily="49" charset="-122"/>
              </a:rPr>
              <a:t>的情况下，它沿着</a:t>
            </a:r>
            <a:r>
              <a:rPr lang="en-US" altLang="zh-CN" b="1">
                <a:ea typeface="黑体" panose="02010609060101010101" pitchFamily="49" charset="-122"/>
              </a:rPr>
              <a:t>5′→3′</a:t>
            </a:r>
            <a:r>
              <a:rPr lang="zh-CN" altLang="en-US" b="1">
                <a:ea typeface="黑体" panose="02010609060101010101" pitchFamily="49" charset="-122"/>
              </a:rPr>
              <a:t>方向转录物的</a:t>
            </a:r>
            <a:r>
              <a:rPr lang="en-US" altLang="zh-CN" b="1">
                <a:ea typeface="黑体" panose="02010609060101010101" pitchFamily="49" charset="-122"/>
              </a:rPr>
              <a:t>3′</a:t>
            </a:r>
            <a:r>
              <a:rPr lang="zh-CN" altLang="en-US" b="1">
                <a:ea typeface="黑体" panose="02010609060101010101" pitchFamily="49" charset="-122"/>
              </a:rPr>
              <a:t>端前进，直到遇到暂停在终止点位置的</a:t>
            </a:r>
            <a:r>
              <a:rPr lang="en-US" altLang="zh-CN" b="1">
                <a:ea typeface="黑体" panose="02010609060101010101" pitchFamily="49" charset="-122"/>
              </a:rPr>
              <a:t>RNA</a:t>
            </a:r>
            <a:r>
              <a:rPr lang="zh-CN" altLang="en-US" b="1">
                <a:ea typeface="黑体" panose="02010609060101010101" pitchFamily="49" charset="-122"/>
              </a:rPr>
              <a:t>聚合酶。随后</a:t>
            </a:r>
            <a:r>
              <a:rPr lang="en-US" altLang="zh-CN" b="1">
                <a:ea typeface="黑体" panose="02010609060101010101" pitchFamily="49" charset="-122"/>
              </a:rPr>
              <a:t>ρ</a:t>
            </a:r>
            <a:r>
              <a:rPr lang="zh-CN" altLang="en-US" b="1">
                <a:ea typeface="黑体" panose="02010609060101010101" pitchFamily="49" charset="-122"/>
              </a:rPr>
              <a:t>因子通过解链酶的活性解开转录泡（</a:t>
            </a:r>
            <a:r>
              <a:rPr lang="en-US" altLang="zh-CN" b="1">
                <a:ea typeface="黑体" panose="02010609060101010101" pitchFamily="49" charset="-122"/>
              </a:rPr>
              <a:t>transcription bubble</a:t>
            </a:r>
            <a:r>
              <a:rPr lang="zh-CN" altLang="en-US" b="1">
                <a:ea typeface="黑体" panose="02010609060101010101" pitchFamily="49" charset="-122"/>
              </a:rPr>
              <a:t>）上的</a:t>
            </a:r>
            <a:r>
              <a:rPr lang="en-US" altLang="zh-CN" b="1">
                <a:ea typeface="黑体" panose="02010609060101010101" pitchFamily="49" charset="-122"/>
              </a:rPr>
              <a:t>RNA/DNA</a:t>
            </a:r>
            <a:r>
              <a:rPr lang="zh-CN" altLang="en-US" b="1">
                <a:ea typeface="黑体" panose="02010609060101010101" pitchFamily="49" charset="-122"/>
              </a:rPr>
              <a:t>形成的杂交双螺旋，使</a:t>
            </a:r>
            <a:r>
              <a:rPr lang="en-US" altLang="zh-CN" b="1">
                <a:ea typeface="黑体" panose="02010609060101010101" pitchFamily="49" charset="-122"/>
              </a:rPr>
              <a:t>RNA</a:t>
            </a:r>
            <a:r>
              <a:rPr lang="zh-CN" altLang="en-US" b="1">
                <a:ea typeface="黑体" panose="02010609060101010101" pitchFamily="49" charset="-122"/>
              </a:rPr>
              <a:t>转录物得到释放，从而终止转录。</a:t>
            </a:r>
            <a:r>
              <a:rPr lang="zh-CN" altLang="en-US" sz="2200"/>
              <a:t> </a:t>
            </a: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942975" y="323850"/>
            <a:ext cx="2760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6600"/>
                </a:solidFill>
              </a:rPr>
              <a:t>转录的终止阶段</a:t>
            </a:r>
            <a:r>
              <a:rPr lang="en-US" altLang="zh-CN"/>
              <a:t> </a:t>
            </a:r>
          </a:p>
        </p:txBody>
      </p:sp>
    </p:spTree>
  </p:cSld>
  <p:clrMapOvr>
    <a:masterClrMapping/>
  </p:clrMapOvr>
  <p:transition spd="med">
    <p:pull dir="r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833438"/>
            <a:ext cx="7489825" cy="569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685800" y="311150"/>
            <a:ext cx="4865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a typeface="黑体" panose="02010609060101010101" pitchFamily="49" charset="-122"/>
              </a:rPr>
              <a:t>依赖</a:t>
            </a:r>
            <a:r>
              <a:rPr lang="en-US" altLang="zh-CN" b="1">
                <a:ea typeface="黑体" panose="02010609060101010101" pitchFamily="49" charset="-122"/>
              </a:rPr>
              <a:t>ρ</a:t>
            </a:r>
            <a:r>
              <a:rPr lang="zh-CN" altLang="en-US" b="1">
                <a:ea typeface="黑体" panose="02010609060101010101" pitchFamily="49" charset="-122"/>
              </a:rPr>
              <a:t>因子（</a:t>
            </a:r>
            <a:r>
              <a:rPr lang="en-US" altLang="zh-CN" b="1">
                <a:ea typeface="黑体" panose="02010609060101010101" pitchFamily="49" charset="-122"/>
              </a:rPr>
              <a:t>rho factor</a:t>
            </a:r>
            <a:r>
              <a:rPr lang="zh-CN" altLang="en-US" b="1">
                <a:ea typeface="黑体" panose="02010609060101010101" pitchFamily="49" charset="-122"/>
              </a:rPr>
              <a:t>）的终止：</a:t>
            </a:r>
          </a:p>
        </p:txBody>
      </p:sp>
    </p:spTree>
  </p:cSld>
  <p:clrMapOvr>
    <a:masterClrMapping/>
  </p:clrMapOvr>
  <p:transition spd="med">
    <p:pull dir="r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3"/>
          <p:cNvSpPr txBox="1">
            <a:spLocks noChangeArrowheads="1"/>
          </p:cNvSpPr>
          <p:nvPr/>
        </p:nvSpPr>
        <p:spPr bwMode="auto">
          <a:xfrm>
            <a:off x="1116013" y="1282700"/>
            <a:ext cx="6569075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b="1">
                <a:ea typeface="黑体" panose="02010609060101010101" pitchFamily="49" charset="-122"/>
              </a:rPr>
              <a:t>1. </a:t>
            </a:r>
            <a:r>
              <a:rPr lang="zh-CN" altLang="en-US" b="1">
                <a:ea typeface="黑体" panose="02010609060101010101" pitchFamily="49" charset="-122"/>
              </a:rPr>
              <a:t>真核细胞</a:t>
            </a:r>
            <a:r>
              <a:rPr lang="en-US" altLang="zh-CN" b="1">
                <a:ea typeface="黑体" panose="02010609060101010101" pitchFamily="49" charset="-122"/>
              </a:rPr>
              <a:t>RNApol</a:t>
            </a:r>
            <a:r>
              <a:rPr lang="zh-CN" altLang="en-US" b="1">
                <a:ea typeface="黑体" panose="02010609060101010101" pitchFamily="49" charset="-122"/>
              </a:rPr>
              <a:t>种类较多，根据它们对</a:t>
            </a:r>
            <a:r>
              <a:rPr lang="en-US" altLang="zh-CN" b="1">
                <a:ea typeface="黑体" panose="02010609060101010101" pitchFamily="49" charset="-122"/>
              </a:rPr>
              <a:t>α-</a:t>
            </a:r>
            <a:r>
              <a:rPr lang="zh-CN" altLang="en-US" b="1">
                <a:ea typeface="黑体" panose="02010609060101010101" pitchFamily="49" charset="-122"/>
              </a:rPr>
              <a:t>鹅膏蕈碱的敏感性不同分为</a:t>
            </a:r>
            <a:r>
              <a:rPr lang="en-US" altLang="zh-CN" b="1">
                <a:ea typeface="黑体" panose="02010609060101010101" pitchFamily="49" charset="-122"/>
              </a:rPr>
              <a:t>RNA pol I </a:t>
            </a:r>
            <a:r>
              <a:rPr lang="zh-CN" altLang="en-US" b="1">
                <a:ea typeface="黑体" panose="02010609060101010101" pitchFamily="49" charset="-122"/>
              </a:rPr>
              <a:t>、</a:t>
            </a:r>
            <a:r>
              <a:rPr lang="en-US" altLang="zh-CN" b="1">
                <a:ea typeface="黑体" panose="02010609060101010101" pitchFamily="49" charset="-122"/>
              </a:rPr>
              <a:t>II </a:t>
            </a:r>
            <a:r>
              <a:rPr lang="zh-CN" altLang="en-US" b="1">
                <a:ea typeface="黑体" panose="02010609060101010101" pitchFamily="49" charset="-122"/>
              </a:rPr>
              <a:t>、</a:t>
            </a:r>
            <a:r>
              <a:rPr lang="en-US" altLang="zh-CN" b="1">
                <a:ea typeface="黑体" panose="02010609060101010101" pitchFamily="49" charset="-122"/>
              </a:rPr>
              <a:t>III</a:t>
            </a:r>
            <a:r>
              <a:rPr lang="zh-CN" altLang="en-US" b="1">
                <a:ea typeface="黑体" panose="02010609060101010101" pitchFamily="49" charset="-122"/>
              </a:rPr>
              <a:t>，它们是高度分工的，不同的</a:t>
            </a:r>
            <a:r>
              <a:rPr lang="en-US" altLang="zh-CN" b="1">
                <a:ea typeface="黑体" panose="02010609060101010101" pitchFamily="49" charset="-122"/>
              </a:rPr>
              <a:t>RNA</a:t>
            </a:r>
            <a:r>
              <a:rPr lang="zh-CN" altLang="en-US" b="1">
                <a:ea typeface="黑体" panose="02010609060101010101" pitchFamily="49" charset="-122"/>
              </a:rPr>
              <a:t>聚合酶负责合成不同的</a:t>
            </a:r>
            <a:r>
              <a:rPr lang="en-US" altLang="zh-CN" b="1">
                <a:ea typeface="黑体" panose="02010609060101010101" pitchFamily="49" charset="-122"/>
              </a:rPr>
              <a:t>RNA</a:t>
            </a:r>
            <a:r>
              <a:rPr lang="zh-CN" altLang="en-US" b="1">
                <a:ea typeface="黑体" panose="02010609060101010101" pitchFamily="49" charset="-122"/>
              </a:rPr>
              <a:t>。</a:t>
            </a:r>
            <a:r>
              <a:rPr lang="zh-CN" altLang="en-US" sz="2000"/>
              <a:t> </a:t>
            </a:r>
          </a:p>
        </p:txBody>
      </p:sp>
      <p:pic>
        <p:nvPicPr>
          <p:cNvPr id="24579" name="Picture 4" descr="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3429000"/>
            <a:ext cx="6172200" cy="31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Rectangle 6"/>
          <p:cNvSpPr>
            <a:spLocks noChangeArrowheads="1"/>
          </p:cNvSpPr>
          <p:nvPr/>
        </p:nvSpPr>
        <p:spPr bwMode="auto">
          <a:xfrm>
            <a:off x="682625" y="549275"/>
            <a:ext cx="612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四</a:t>
            </a: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真核生物的转录作用</a:t>
            </a:r>
            <a:endParaRPr lang="zh-CN" altLang="en-US" sz="4400" b="1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med">
    <p:pull dir="r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9">
            <a:extLst>
              <a:ext uri="{FF2B5EF4-FFF2-40B4-BE49-F238E27FC236}">
                <a16:creationId xmlns:a16="http://schemas.microsoft.com/office/drawing/2014/main" id="{3BE4FA96-F36D-3579-87B8-9A8024C6FD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624" y="1520825"/>
          <a:ext cx="2052637" cy="381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249577" imgH="2322384" progId="Photoshop.Image.6">
                  <p:embed/>
                </p:oleObj>
              </mc:Choice>
              <mc:Fallback>
                <p:oleObj name="Image" r:id="rId2" imgW="1249577" imgH="2322384" progId="Photoshop.Image.6">
                  <p:embed/>
                  <p:pic>
                    <p:nvPicPr>
                      <p:cNvPr id="2" name="Object 9">
                        <a:extLst>
                          <a:ext uri="{FF2B5EF4-FFF2-40B4-BE49-F238E27FC236}">
                            <a16:creationId xmlns:a16="http://schemas.microsoft.com/office/drawing/2014/main" id="{3BE4FA96-F36D-3579-87B8-9A8024C6FD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1520825"/>
                        <a:ext cx="2052637" cy="381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6" name="Picture 2" descr="罗杰·大卫·科恩伯格">
            <a:extLst>
              <a:ext uri="{FF2B5EF4-FFF2-40B4-BE49-F238E27FC236}">
                <a16:creationId xmlns:a16="http://schemas.microsoft.com/office/drawing/2014/main" id="{AEA1B655-C96A-5751-E01B-72A93198E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1522209"/>
            <a:ext cx="3108682" cy="3816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0041003"/>
      </p:ext>
    </p:extLst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512888"/>
            <a:ext cx="6934200" cy="496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1050925" y="457200"/>
            <a:ext cx="672147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b="1">
                <a:ea typeface="黑体" panose="02010609060101010101" pitchFamily="49" charset="-122"/>
              </a:rPr>
              <a:t>2. </a:t>
            </a:r>
            <a:r>
              <a:rPr lang="zh-CN" altLang="en-US" b="1">
                <a:ea typeface="黑体" panose="02010609060101010101" pitchFamily="49" charset="-122"/>
              </a:rPr>
              <a:t>真核启动子比原核启动子更复杂和更多样性，不同的</a:t>
            </a:r>
            <a:r>
              <a:rPr lang="en-US" altLang="zh-CN" b="1">
                <a:ea typeface="黑体" panose="02010609060101010101" pitchFamily="49" charset="-122"/>
              </a:rPr>
              <a:t>RNA</a:t>
            </a:r>
            <a:r>
              <a:rPr lang="zh-CN" altLang="en-US" b="1">
                <a:ea typeface="黑体" panose="02010609060101010101" pitchFamily="49" charset="-122"/>
              </a:rPr>
              <a:t>聚合酶有不同的启动子。</a:t>
            </a:r>
            <a:r>
              <a:rPr lang="zh-CN" altLang="en-US" sz="2100"/>
              <a:t> </a:t>
            </a:r>
          </a:p>
        </p:txBody>
      </p:sp>
    </p:spTree>
  </p:cSld>
  <p:clrMapOvr>
    <a:masterClrMapping/>
  </p:clrMapOvr>
  <p:transition spd="med">
    <p:pull dir="r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1079500" y="1582738"/>
            <a:ext cx="6661150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b="1">
                <a:ea typeface="黑体" panose="02010609060101010101" pitchFamily="49" charset="-122"/>
              </a:rPr>
              <a:t>3. </a:t>
            </a:r>
            <a:r>
              <a:rPr lang="zh-CN" altLang="en-US" b="1">
                <a:ea typeface="黑体" panose="02010609060101010101" pitchFamily="49" charset="-122"/>
              </a:rPr>
              <a:t>原核细胞靠</a:t>
            </a:r>
            <a:r>
              <a:rPr lang="en-US" altLang="zh-CN" b="1">
                <a:ea typeface="黑体" panose="02010609060101010101" pitchFamily="49" charset="-122"/>
              </a:rPr>
              <a:t>RNA pol</a:t>
            </a:r>
            <a:r>
              <a:rPr lang="zh-CN" altLang="en-US" b="1">
                <a:ea typeface="黑体" panose="02010609060101010101" pitchFamily="49" charset="-122"/>
              </a:rPr>
              <a:t>本身可识别启动子，而</a:t>
            </a:r>
            <a:r>
              <a:rPr lang="zh-CN" altLang="en-US" b="1">
                <a:solidFill>
                  <a:srgbClr val="0000FF"/>
                </a:solidFill>
                <a:ea typeface="黑体" panose="02010609060101010101" pitchFamily="49" charset="-122"/>
              </a:rPr>
              <a:t>真核细胞的</a:t>
            </a:r>
            <a:r>
              <a:rPr lang="en-US" altLang="zh-CN" b="1">
                <a:solidFill>
                  <a:srgbClr val="0000FF"/>
                </a:solidFill>
                <a:ea typeface="黑体" panose="02010609060101010101" pitchFamily="49" charset="-122"/>
              </a:rPr>
              <a:t>RNA pol(</a:t>
            </a:r>
            <a:r>
              <a:rPr lang="zh-CN" altLang="en-US" b="1">
                <a:solidFill>
                  <a:srgbClr val="0000FF"/>
                </a:solidFill>
                <a:ea typeface="黑体" panose="02010609060101010101" pitchFamily="49" charset="-122"/>
              </a:rPr>
              <a:t>无</a:t>
            </a:r>
            <a:r>
              <a:rPr lang="el-GR" altLang="zh-CN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σ</a:t>
            </a:r>
            <a:r>
              <a:rPr lang="zh-CN" altLang="en-US" b="1">
                <a:solidFill>
                  <a:srgbClr val="0000FF"/>
                </a:solidFill>
                <a:ea typeface="黑体" panose="02010609060101010101" pitchFamily="49" charset="-122"/>
              </a:rPr>
              <a:t>因子</a:t>
            </a:r>
            <a:r>
              <a:rPr lang="en-US" altLang="zh-CN" b="1">
                <a:solidFill>
                  <a:srgbClr val="0000FF"/>
                </a:solidFill>
                <a:ea typeface="黑体" panose="02010609060101010101" pitchFamily="49" charset="-122"/>
              </a:rPr>
              <a:t>)</a:t>
            </a:r>
            <a:r>
              <a:rPr lang="zh-CN" altLang="en-US" b="1">
                <a:solidFill>
                  <a:srgbClr val="0000FF"/>
                </a:solidFill>
                <a:ea typeface="黑体" panose="02010609060101010101" pitchFamily="49" charset="-122"/>
              </a:rPr>
              <a:t>无法识别启动子，要靠转录因子</a:t>
            </a:r>
            <a:r>
              <a:rPr lang="en-US" altLang="zh-CN" b="1">
                <a:solidFill>
                  <a:srgbClr val="0000FF"/>
                </a:solidFill>
                <a:ea typeface="黑体" panose="02010609060101010101" pitchFamily="49" charset="-122"/>
              </a:rPr>
              <a:t>(transcription factor</a:t>
            </a:r>
            <a:r>
              <a:rPr lang="zh-CN" altLang="en-US" b="1">
                <a:solidFill>
                  <a:srgbClr val="0000FF"/>
                </a:solidFill>
                <a:ea typeface="黑体" panose="02010609060101010101" pitchFamily="49" charset="-122"/>
              </a:rPr>
              <a:t>，</a:t>
            </a:r>
            <a:r>
              <a:rPr lang="en-US" altLang="zh-CN" b="1">
                <a:solidFill>
                  <a:srgbClr val="0000FF"/>
                </a:solidFill>
                <a:ea typeface="黑体" panose="02010609060101010101" pitchFamily="49" charset="-122"/>
              </a:rPr>
              <a:t>TF)</a:t>
            </a:r>
            <a:r>
              <a:rPr lang="zh-CN" altLang="en-US" b="1">
                <a:solidFill>
                  <a:srgbClr val="0000FF"/>
                </a:solidFill>
                <a:ea typeface="黑体" panose="02010609060101010101" pitchFamily="49" charset="-122"/>
              </a:rPr>
              <a:t>识别启动子</a:t>
            </a:r>
            <a:r>
              <a:rPr lang="zh-CN" altLang="en-US" b="1">
                <a:ea typeface="黑体" panose="02010609060101010101" pitchFamily="49" charset="-122"/>
              </a:rPr>
              <a:t> ，有许多转录因子。   </a:t>
            </a: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1042988" y="3962400"/>
            <a:ext cx="6797675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b="1">
                <a:solidFill>
                  <a:schemeClr val="accent1"/>
                </a:solidFill>
                <a:ea typeface="黑体" panose="02010609060101010101" pitchFamily="49" charset="-122"/>
              </a:rPr>
              <a:t>转录因子的功能：调节</a:t>
            </a:r>
            <a:r>
              <a:rPr lang="en-US" altLang="zh-CN" sz="2200" b="1">
                <a:solidFill>
                  <a:schemeClr val="accent1"/>
                </a:solidFill>
                <a:ea typeface="黑体" panose="02010609060101010101" pitchFamily="49" charset="-122"/>
              </a:rPr>
              <a:t>RNA</a:t>
            </a:r>
            <a:r>
              <a:rPr lang="zh-CN" altLang="en-US" sz="2200" b="1">
                <a:solidFill>
                  <a:schemeClr val="accent1"/>
                </a:solidFill>
                <a:ea typeface="黑体" panose="02010609060101010101" pitchFamily="49" charset="-122"/>
              </a:rPr>
              <a:t>聚合酶的活性，将</a:t>
            </a:r>
            <a:r>
              <a:rPr lang="en-US" altLang="zh-CN" sz="2200" b="1">
                <a:solidFill>
                  <a:schemeClr val="accent1"/>
                </a:solidFill>
                <a:ea typeface="黑体" panose="02010609060101010101" pitchFamily="49" charset="-122"/>
              </a:rPr>
              <a:t>RNA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200" b="1">
                <a:solidFill>
                  <a:schemeClr val="accent1"/>
                </a:solidFill>
                <a:ea typeface="黑体" panose="02010609060101010101" pitchFamily="49" charset="-122"/>
              </a:rPr>
              <a:t>    </a:t>
            </a:r>
            <a:r>
              <a:rPr lang="zh-CN" altLang="en-US" sz="2200" b="1">
                <a:solidFill>
                  <a:schemeClr val="accent1"/>
                </a:solidFill>
                <a:ea typeface="黑体" panose="02010609060101010101" pitchFamily="49" charset="-122"/>
              </a:rPr>
              <a:t>聚合酶引到启动子位置。</a:t>
            </a:r>
          </a:p>
        </p:txBody>
      </p:sp>
    </p:spTree>
  </p:cSld>
  <p:clrMapOvr>
    <a:masterClrMapping/>
  </p:clrMapOvr>
  <p:transition spd="med">
    <p:pull dir="r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ext Box 2"/>
          <p:cNvSpPr txBox="1">
            <a:spLocks noChangeArrowheads="1"/>
          </p:cNvSpPr>
          <p:nvPr/>
        </p:nvSpPr>
        <p:spPr bwMode="auto">
          <a:xfrm>
            <a:off x="1001713" y="1154113"/>
            <a:ext cx="659447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60000"/>
              </a:lnSpc>
            </a:pPr>
            <a:r>
              <a:rPr lang="en-US" altLang="zh-CN" b="1">
                <a:ea typeface="黑体" panose="02010609060101010101" pitchFamily="49" charset="-122"/>
              </a:rPr>
              <a:t>4. </a:t>
            </a:r>
            <a:r>
              <a:rPr lang="zh-CN" altLang="en-US" b="1">
                <a:ea typeface="黑体" panose="02010609060101010101" pitchFamily="49" charset="-122"/>
              </a:rPr>
              <a:t>真核生物的转录受特定的顺式作用元件（</a:t>
            </a:r>
            <a:r>
              <a:rPr lang="en-US" altLang="zh-CN" b="1">
                <a:ea typeface="黑体" panose="02010609060101010101" pitchFamily="49" charset="-122"/>
              </a:rPr>
              <a:t>cis-acting element</a:t>
            </a:r>
            <a:r>
              <a:rPr lang="zh-CN" altLang="en-US" b="1">
                <a:ea typeface="黑体" panose="02010609060101010101" pitchFamily="49" charset="-122"/>
              </a:rPr>
              <a:t>）的影响，</a:t>
            </a:r>
            <a:r>
              <a:rPr lang="zh-CN" altLang="en-US" b="1">
                <a:solidFill>
                  <a:srgbClr val="FF0000"/>
                </a:solidFill>
                <a:ea typeface="黑体" panose="02010609060101010101" pitchFamily="49" charset="-122"/>
              </a:rPr>
              <a:t>顺式作用元件：真核生物</a:t>
            </a:r>
            <a:r>
              <a:rPr lang="en-US" altLang="zh-CN" b="1">
                <a:solidFill>
                  <a:srgbClr val="FF0000"/>
                </a:solidFill>
                <a:ea typeface="黑体" panose="02010609060101010101" pitchFamily="49" charset="-122"/>
              </a:rPr>
              <a:t>DNA</a:t>
            </a:r>
            <a:r>
              <a:rPr lang="zh-CN" altLang="en-US" b="1">
                <a:solidFill>
                  <a:srgbClr val="FF0000"/>
                </a:solidFill>
                <a:ea typeface="黑体" panose="02010609060101010101" pitchFamily="49" charset="-122"/>
              </a:rPr>
              <a:t>中转录调控有关的核苷酸序列，包括增强子、沉默子等</a:t>
            </a:r>
            <a:r>
              <a:rPr lang="zh-CN" altLang="en-US" b="1">
                <a:ea typeface="黑体" panose="02010609060101010101" pitchFamily="49" charset="-122"/>
              </a:rPr>
              <a:t>。</a:t>
            </a:r>
            <a:endParaRPr lang="zh-CN" altLang="en-US"/>
          </a:p>
        </p:txBody>
      </p:sp>
      <p:sp>
        <p:nvSpPr>
          <p:cNvPr id="118787" name="Rectangle 3"/>
          <p:cNvSpPr>
            <a:spLocks noChangeArrowheads="1"/>
          </p:cNvSpPr>
          <p:nvPr/>
        </p:nvSpPr>
        <p:spPr bwMode="auto">
          <a:xfrm>
            <a:off x="1114425" y="4437063"/>
            <a:ext cx="6884988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200" b="1">
                <a:ea typeface="黑体" panose="02010609060101010101" pitchFamily="49" charset="-122"/>
              </a:rPr>
              <a:t>沉默子（</a:t>
            </a:r>
            <a:r>
              <a:rPr lang="en-US" altLang="zh-CN" sz="2200" b="1">
                <a:ea typeface="黑体" panose="02010609060101010101" pitchFamily="49" charset="-122"/>
              </a:rPr>
              <a:t>silencer</a:t>
            </a:r>
            <a:r>
              <a:rPr lang="zh-CN" altLang="en-US" sz="2200" b="1">
                <a:ea typeface="黑体" panose="02010609060101010101" pitchFamily="49" charset="-122"/>
              </a:rPr>
              <a:t>）：降低转录的速度，也称抑制子。</a:t>
            </a:r>
          </a:p>
        </p:txBody>
      </p:sp>
      <p:sp>
        <p:nvSpPr>
          <p:cNvPr id="118788" name="Rectangle 4"/>
          <p:cNvSpPr>
            <a:spLocks noChangeArrowheads="1"/>
          </p:cNvSpPr>
          <p:nvPr/>
        </p:nvSpPr>
        <p:spPr bwMode="auto">
          <a:xfrm>
            <a:off x="1116013" y="3938588"/>
            <a:ext cx="51974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b="1">
                <a:ea typeface="黑体" panose="02010609060101010101" pitchFamily="49" charset="-122"/>
              </a:rPr>
              <a:t>增强子（</a:t>
            </a:r>
            <a:r>
              <a:rPr lang="en-US" altLang="zh-CN" sz="2200" b="1">
                <a:ea typeface="黑体" panose="02010609060101010101" pitchFamily="49" charset="-122"/>
              </a:rPr>
              <a:t>enhancer</a:t>
            </a:r>
            <a:r>
              <a:rPr lang="zh-CN" altLang="en-US" sz="2200" b="1">
                <a:ea typeface="黑体" panose="02010609060101010101" pitchFamily="49" charset="-122"/>
              </a:rPr>
              <a:t>）：增加转录的速度。</a:t>
            </a: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7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6" grpId="0" autoUpdateAnimBg="0"/>
      <p:bldP spid="118787" grpId="0" autoUpdateAnimBg="0"/>
      <p:bldP spid="118788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7543800" cy="3176588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b="1"/>
              <a:t>由某一基因表达后，对另一基因进行转录调控的因子</a:t>
            </a:r>
            <a:r>
              <a:rPr lang="en-US" altLang="zh-CN">
                <a:latin typeface="Times New Roman" panose="02020603050405020304" pitchFamily="18" charset="0"/>
              </a:rPr>
              <a:t>——</a:t>
            </a:r>
            <a:r>
              <a:rPr lang="zh-CN" altLang="en-US" b="1">
                <a:solidFill>
                  <a:srgbClr val="FF0000"/>
                </a:solidFill>
              </a:rPr>
              <a:t>反式作用因子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endParaRPr lang="en-US" altLang="zh-CN" b="1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b="1"/>
              <a:t>对自身基因进行转录调控的特异</a:t>
            </a:r>
            <a:r>
              <a:rPr lang="en-US" altLang="zh-CN" b="1"/>
              <a:t>DNA</a:t>
            </a:r>
            <a:r>
              <a:rPr lang="zh-CN" altLang="en-US" b="1"/>
              <a:t>序列</a:t>
            </a:r>
            <a:r>
              <a:rPr lang="en-US" altLang="zh-CN">
                <a:latin typeface="Times New Roman" panose="02020603050405020304" pitchFamily="18" charset="0"/>
              </a:rPr>
              <a:t>——</a:t>
            </a:r>
            <a:r>
              <a:rPr lang="zh-CN" altLang="en-US" b="1">
                <a:solidFill>
                  <a:srgbClr val="FF0000"/>
                </a:solidFill>
              </a:rPr>
              <a:t>顺式作用元件</a:t>
            </a:r>
            <a:endParaRPr lang="en-US" altLang="zh-CN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pull dir="r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838200" y="1676400"/>
            <a:ext cx="6973888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 b="1">
                <a:ea typeface="黑体" panose="02010609060101010101" pitchFamily="49" charset="-122"/>
              </a:rPr>
              <a:t>        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顺式作用元件</a:t>
            </a:r>
            <a:r>
              <a:rPr lang="zh-CN" altLang="en-US" sz="2800" b="1">
                <a:ea typeface="黑体" panose="02010609060101010101" pitchFamily="49" charset="-122"/>
              </a:rPr>
              <a:t>并不能直接发挥作用，要与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反式作用因子</a:t>
            </a:r>
            <a:r>
              <a:rPr lang="zh-CN" altLang="en-US" sz="2800" b="1"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ea typeface="黑体" panose="02010609060101010101" pitchFamily="49" charset="-122"/>
              </a:rPr>
              <a:t>trans-acting factors</a:t>
            </a:r>
            <a:r>
              <a:rPr lang="zh-CN" altLang="en-US" sz="2800" b="1">
                <a:ea typeface="黑体" panose="02010609060101010101" pitchFamily="49" charset="-122"/>
              </a:rPr>
              <a:t>）相互作用来调控转录，反式作用因子是一些特殊的蛋白质因子。</a:t>
            </a:r>
            <a:endParaRPr lang="zh-CN" altLang="en-US" sz="2800"/>
          </a:p>
        </p:txBody>
      </p:sp>
    </p:spTree>
  </p:cSld>
  <p:clrMapOvr>
    <a:masterClrMapping/>
  </p:clrMapOvr>
  <p:transition spd="med">
    <p:pull dir="r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682625" y="971550"/>
            <a:ext cx="6985000" cy="403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80000"/>
              </a:lnSpc>
            </a:pPr>
            <a:r>
              <a:rPr lang="en-US" altLang="zh-CN" b="1">
                <a:ea typeface="黑体" panose="02010609060101010101" pitchFamily="49" charset="-122"/>
              </a:rPr>
              <a:t>5. </a:t>
            </a:r>
            <a:r>
              <a:rPr lang="zh-CN" altLang="en-US" b="1">
                <a:solidFill>
                  <a:srgbClr val="FF0000"/>
                </a:solidFill>
                <a:ea typeface="黑体" panose="02010609060101010101" pitchFamily="49" charset="-122"/>
              </a:rPr>
              <a:t>原核细胞基因转录的产物大多数为多顺反子</a:t>
            </a:r>
            <a:r>
              <a:rPr lang="en-US" altLang="zh-CN" b="1">
                <a:solidFill>
                  <a:srgbClr val="FF0000"/>
                </a:solidFill>
                <a:ea typeface="黑体" panose="02010609060101010101" pitchFamily="49" charset="-122"/>
              </a:rPr>
              <a:t>mRNA</a:t>
            </a:r>
            <a:r>
              <a:rPr lang="zh-CN" altLang="en-US" b="1">
                <a:ea typeface="黑体" panose="02010609060101010101" pitchFamily="49" charset="-122"/>
              </a:rPr>
              <a:t>，这是由于原核转录系统中功能相关的基因共享一个启动子，它们在转录时，以一个共同的转录单位进行转录。而真核细胞，每一种蛋白质的基因都有自己独立的启动子，所以</a:t>
            </a:r>
            <a:r>
              <a:rPr lang="zh-CN" altLang="en-US" b="1">
                <a:solidFill>
                  <a:srgbClr val="FF0000"/>
                </a:solidFill>
                <a:ea typeface="黑体" panose="02010609060101010101" pitchFamily="49" charset="-122"/>
              </a:rPr>
              <a:t>真核细胞转录产物是单顺反子</a:t>
            </a:r>
            <a:r>
              <a:rPr lang="en-US" altLang="zh-CN" b="1">
                <a:solidFill>
                  <a:srgbClr val="FF0000"/>
                </a:solidFill>
                <a:ea typeface="黑体" panose="02010609060101010101" pitchFamily="49" charset="-122"/>
              </a:rPr>
              <a:t>mRNA</a:t>
            </a:r>
            <a:r>
              <a:rPr lang="zh-CN" altLang="en-US" b="1">
                <a:ea typeface="黑体" panose="02010609060101010101" pitchFamily="49" charset="-122"/>
              </a:rPr>
              <a:t>。</a:t>
            </a:r>
            <a:r>
              <a:rPr lang="zh-CN" altLang="en-US" sz="2200"/>
              <a:t> </a:t>
            </a:r>
          </a:p>
        </p:txBody>
      </p:sp>
    </p:spTree>
  </p:cSld>
  <p:clrMapOvr>
    <a:masterClrMapping/>
  </p:clrMapOvr>
  <p:transition spd="med">
    <p:pull dir="r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 descr="SD"/>
          <p:cNvPicPr>
            <a:picLocks noChangeAspect="1" noChangeArrowheads="1"/>
          </p:cNvPicPr>
          <p:nvPr/>
        </p:nvPicPr>
        <p:blipFill>
          <a:blip r:embed="rId2">
            <a:lum bright="-4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789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682625" y="898525"/>
            <a:ext cx="7102475" cy="173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b="1">
                <a:ea typeface="黑体" panose="02010609060101010101" pitchFamily="49" charset="-122"/>
              </a:rPr>
              <a:t>6. </a:t>
            </a:r>
            <a:r>
              <a:rPr lang="zh-CN" altLang="en-US" b="1">
                <a:ea typeface="黑体" panose="02010609060101010101" pitchFamily="49" charset="-122"/>
              </a:rPr>
              <a:t>原核细胞是边转录、边翻译，两个过程几乎是同时进行的，而真核细胞转录和翻译在时间上和空间上都是分开的，转录在细胞核，翻译在细胞质。</a:t>
            </a:r>
            <a:r>
              <a:rPr lang="zh-CN" altLang="en-US" sz="2200"/>
              <a:t> </a:t>
            </a:r>
          </a:p>
        </p:txBody>
      </p:sp>
      <p:pic>
        <p:nvPicPr>
          <p:cNvPr id="121861" name="Picture 5" descr="未标题-2 拷贝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38" y="2779713"/>
            <a:ext cx="7118350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/>
          <p:cNvSpPr>
            <a:spLocks noChangeArrowheads="1"/>
          </p:cNvSpPr>
          <p:nvPr/>
        </p:nvSpPr>
        <p:spPr bwMode="auto">
          <a:xfrm>
            <a:off x="682625" y="549275"/>
            <a:ext cx="612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五</a:t>
            </a: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RNA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生物合成的抑制剂</a:t>
            </a:r>
            <a:endParaRPr lang="en-US" altLang="zh-CN" sz="4400" b="1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32771" name="Rectangle 5"/>
          <p:cNvSpPr>
            <a:spLocks noChangeArrowheads="1"/>
          </p:cNvSpPr>
          <p:nvPr/>
        </p:nvSpPr>
        <p:spPr bwMode="auto">
          <a:xfrm>
            <a:off x="827088" y="1052513"/>
            <a:ext cx="6840537" cy="43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宋体" panose="02010600030101010101" pitchFamily="2" charset="-122"/>
              </a:rPr>
              <a:t>1</a:t>
            </a:r>
            <a:r>
              <a:rPr lang="zh-CN" altLang="en-US" sz="2800" b="1">
                <a:latin typeface="宋体" panose="02010600030101010101" pitchFamily="2" charset="-122"/>
              </a:rPr>
              <a:t>、嘌呤和嘧啶类似物</a:t>
            </a:r>
            <a:r>
              <a:rPr lang="en-US" altLang="zh-CN" b="1">
                <a:latin typeface="宋体" panose="02010600030101010101" pitchFamily="2" charset="-122"/>
              </a:rPr>
              <a:t>(e.g.</a:t>
            </a:r>
            <a:r>
              <a:rPr lang="en-US" altLang="zh-CN" b="1">
                <a:solidFill>
                  <a:srgbClr val="0033CC"/>
                </a:solidFill>
                <a:latin typeface="宋体" panose="02010600030101010101" pitchFamily="2" charset="-122"/>
              </a:rPr>
              <a:t>5-</a:t>
            </a:r>
            <a:r>
              <a:rPr lang="zh-CN" altLang="en-US" b="1">
                <a:solidFill>
                  <a:srgbClr val="0033CC"/>
                </a:solidFill>
                <a:latin typeface="宋体" panose="02010600030101010101" pitchFamily="2" charset="-122"/>
              </a:rPr>
              <a:t>氟尿嘧啶</a:t>
            </a:r>
            <a:r>
              <a:rPr lang="zh-CN" altLang="en-US" b="1">
                <a:latin typeface="宋体" panose="02010600030101010101" pitchFamily="2" charset="-122"/>
              </a:rPr>
              <a:t>等</a:t>
            </a:r>
            <a:r>
              <a:rPr lang="en-US" altLang="zh-CN" b="1">
                <a:latin typeface="宋体" panose="02010600030101010101" pitchFamily="2" charset="-122"/>
              </a:rPr>
              <a:t>)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>
                <a:latin typeface="宋体" panose="02010600030101010101" pitchFamily="2" charset="-122"/>
              </a:rPr>
              <a:t>抑制核苷酸生物合成相关酶类；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kumimoji="0" lang="zh-CN" altLang="en-US" b="1">
                <a:latin typeface="宋体" panose="02010600030101010101" pitchFamily="2" charset="-122"/>
              </a:rPr>
              <a:t>掺入核酸分子，形成异常核酸并影响其功能。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b="1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宋体" panose="02010600030101010101" pitchFamily="2" charset="-122"/>
              </a:rPr>
              <a:t>2</a:t>
            </a:r>
            <a:r>
              <a:rPr lang="zh-CN" altLang="en-US" sz="2800" b="1">
                <a:latin typeface="宋体" panose="02010600030101010101" pitchFamily="2" charset="-122"/>
              </a:rPr>
              <a:t>、模板抑制物</a:t>
            </a:r>
            <a:endParaRPr lang="en-US" altLang="zh-CN" sz="2800" b="1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>
                <a:latin typeface="宋体" panose="02010600030101010101" pitchFamily="2" charset="-122"/>
              </a:rPr>
              <a:t>烷化剂、放线菌素、嵌入染料</a:t>
            </a:r>
            <a:r>
              <a:rPr lang="en-US" altLang="zh-CN" b="1">
                <a:latin typeface="宋体" panose="02010600030101010101" pitchFamily="2" charset="-122"/>
              </a:rPr>
              <a:t>(e.g.</a:t>
            </a:r>
            <a:r>
              <a:rPr lang="zh-CN" altLang="en-US" b="1">
                <a:solidFill>
                  <a:srgbClr val="0033CC"/>
                </a:solidFill>
                <a:latin typeface="宋体" panose="02010600030101010101" pitchFamily="2" charset="-122"/>
              </a:rPr>
              <a:t>溴乙锭</a:t>
            </a:r>
            <a:r>
              <a:rPr lang="en-US" altLang="zh-CN" b="1">
                <a:latin typeface="宋体" panose="02010600030101010101" pitchFamily="2" charset="-122"/>
              </a:rPr>
              <a:t>)</a:t>
            </a:r>
            <a:r>
              <a:rPr lang="zh-CN" altLang="en-US" b="1">
                <a:latin typeface="宋体" panose="02010600030101010101" pitchFamily="2" charset="-122"/>
              </a:rPr>
              <a:t>等。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b="1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宋体" panose="02010600030101010101" pitchFamily="2" charset="-122"/>
              </a:rPr>
              <a:t>3</a:t>
            </a:r>
            <a:r>
              <a:rPr lang="zh-CN" altLang="en-US" sz="2800" b="1">
                <a:latin typeface="宋体" panose="02010600030101010101" pitchFamily="2" charset="-122"/>
              </a:rPr>
              <a:t>、</a:t>
            </a:r>
            <a:r>
              <a:rPr lang="en-US" altLang="zh-CN" sz="2800" b="1">
                <a:latin typeface="宋体" panose="02010600030101010101" pitchFamily="2" charset="-122"/>
              </a:rPr>
              <a:t>RNA</a:t>
            </a:r>
            <a:r>
              <a:rPr lang="zh-CN" altLang="en-US" sz="2800" b="1">
                <a:latin typeface="宋体" panose="02010600030101010101" pitchFamily="2" charset="-122"/>
              </a:rPr>
              <a:t>聚合酶抑制物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33CC"/>
                </a:solidFill>
                <a:latin typeface="宋体" panose="02010600030101010101" pitchFamily="2" charset="-122"/>
              </a:rPr>
              <a:t>利福霉素</a:t>
            </a:r>
            <a:r>
              <a:rPr lang="zh-CN" altLang="en-US" b="1">
                <a:latin typeface="宋体" panose="02010600030101010101" pitchFamily="2" charset="-122"/>
              </a:rPr>
              <a:t>、利链菌素</a:t>
            </a:r>
            <a:r>
              <a:rPr lang="en-US" altLang="zh-CN" b="1">
                <a:latin typeface="宋体" panose="02010600030101010101" pitchFamily="2" charset="-122"/>
              </a:rPr>
              <a:t>(</a:t>
            </a:r>
            <a:r>
              <a:rPr lang="zh-CN" altLang="en-US" b="1">
                <a:latin typeface="宋体" panose="02010600030101010101" pitchFamily="2" charset="-122"/>
              </a:rPr>
              <a:t>原核</a:t>
            </a:r>
            <a:r>
              <a:rPr lang="en-US" altLang="zh-CN" b="1">
                <a:latin typeface="宋体" panose="02010600030101010101" pitchFamily="2" charset="-122"/>
              </a:rPr>
              <a:t>)</a:t>
            </a:r>
            <a:r>
              <a:rPr lang="zh-CN" altLang="en-US" b="1">
                <a:latin typeface="宋体" panose="02010600030101010101" pitchFamily="2" charset="-122"/>
              </a:rPr>
              <a:t>、</a:t>
            </a:r>
            <a:r>
              <a:rPr lang="en-US" altLang="zh-CN" b="1">
                <a:solidFill>
                  <a:srgbClr val="0033CC"/>
                </a:solidFill>
                <a:latin typeface="宋体" panose="02010600030101010101" pitchFamily="2" charset="-122"/>
              </a:rPr>
              <a:t>α-</a:t>
            </a:r>
            <a:r>
              <a:rPr lang="zh-CN" altLang="en-US" b="1">
                <a:solidFill>
                  <a:srgbClr val="0033CC"/>
                </a:solidFill>
                <a:latin typeface="宋体" panose="02010600030101010101" pitchFamily="2" charset="-122"/>
              </a:rPr>
              <a:t>鹅膏蕈碱</a:t>
            </a:r>
            <a:r>
              <a:rPr lang="en-US" altLang="zh-CN" b="1">
                <a:solidFill>
                  <a:srgbClr val="0033CC"/>
                </a:solidFill>
                <a:latin typeface="宋体" panose="02010600030101010101" pitchFamily="2" charset="-122"/>
              </a:rPr>
              <a:t>(</a:t>
            </a:r>
            <a:r>
              <a:rPr lang="zh-CN" altLang="en-US" b="1">
                <a:solidFill>
                  <a:srgbClr val="0033CC"/>
                </a:solidFill>
                <a:latin typeface="宋体" panose="02010600030101010101" pitchFamily="2" charset="-122"/>
              </a:rPr>
              <a:t>真核</a:t>
            </a:r>
            <a:r>
              <a:rPr lang="en-US" altLang="zh-CN" b="1">
                <a:solidFill>
                  <a:srgbClr val="0033CC"/>
                </a:solidFill>
                <a:latin typeface="宋体" panose="02010600030101010101" pitchFamily="2" charset="-122"/>
              </a:rPr>
              <a:t>)</a:t>
            </a:r>
          </a:p>
        </p:txBody>
      </p:sp>
    </p:spTree>
  </p:cSld>
  <p:clrMapOvr>
    <a:masterClrMapping/>
  </p:clrMapOvr>
  <p:transition spd="med">
    <p:pull dir="r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028700"/>
            <a:ext cx="6121400" cy="64135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6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二、</a:t>
            </a:r>
            <a:r>
              <a:rPr lang="en-US" altLang="zh-CN" sz="36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RNA</a:t>
            </a:r>
            <a:r>
              <a:rPr lang="zh-CN" altLang="en-US" sz="36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的转录后加工</a:t>
            </a:r>
            <a:endParaRPr lang="en-US" altLang="zh-CN" sz="3600" b="1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1403350" y="1851025"/>
            <a:ext cx="5256213" cy="199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一</a:t>
            </a: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)mRNA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前体后加工</a:t>
            </a:r>
            <a:endParaRPr lang="en-US" altLang="zh-CN" sz="3200" b="1">
              <a:solidFill>
                <a:schemeClr val="accent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二</a:t>
            </a: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)tRNA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前体后加工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三</a:t>
            </a: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)rRNA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前体后加工</a:t>
            </a:r>
          </a:p>
        </p:txBody>
      </p:sp>
    </p:spTree>
  </p:cSld>
  <p:clrMapOvr>
    <a:masterClrMapping/>
  </p:clrMapOvr>
  <p:transition spd="med">
    <p:pull dir="r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682625" y="549275"/>
            <a:ext cx="612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一</a:t>
            </a: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)mRNA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前体后加工</a:t>
            </a:r>
            <a:endParaRPr lang="en-US" altLang="zh-CN" sz="3200" b="1">
              <a:solidFill>
                <a:schemeClr val="accent1"/>
              </a:solidFill>
              <a:latin typeface="宋体" panose="02010600030101010101" pitchFamily="2" charset="-122"/>
            </a:endParaRP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827088" y="1162050"/>
            <a:ext cx="6840537" cy="413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宋体" panose="02010600030101010101" pitchFamily="2" charset="-122"/>
              </a:rPr>
              <a:t>-</a:t>
            </a:r>
            <a:r>
              <a:rPr lang="zh-CN" altLang="en-US" sz="2800" b="1">
                <a:latin typeface="宋体" panose="02010600030101010101" pitchFamily="2" charset="-122"/>
              </a:rPr>
              <a:t>原核生物</a:t>
            </a:r>
            <a:r>
              <a:rPr lang="en-US" altLang="zh-CN" sz="2800" b="1">
                <a:latin typeface="宋体" panose="02010600030101010101" pitchFamily="2" charset="-122"/>
              </a:rPr>
              <a:t>mRNA</a:t>
            </a:r>
            <a:r>
              <a:rPr lang="zh-CN" altLang="en-US" sz="2800" b="1">
                <a:latin typeface="宋体" panose="02010600030101010101" pitchFamily="2" charset="-122"/>
              </a:rPr>
              <a:t>的原始转录产物</a:t>
            </a:r>
            <a:r>
              <a:rPr lang="en-US" altLang="zh-CN" sz="2800" b="1">
                <a:latin typeface="宋体" panose="02010600030101010101" pitchFamily="2" charset="-122"/>
              </a:rPr>
              <a:t>(</a:t>
            </a:r>
            <a:r>
              <a:rPr lang="zh-CN" altLang="en-US" sz="2800" b="1">
                <a:latin typeface="宋体" panose="02010600030101010101" pitchFamily="2" charset="-122"/>
              </a:rPr>
              <a:t>除个别噬菌体外</a:t>
            </a:r>
            <a:r>
              <a:rPr lang="en-US" altLang="zh-CN" sz="2800" b="1">
                <a:latin typeface="宋体" panose="02010600030101010101" pitchFamily="2" charset="-122"/>
              </a:rPr>
              <a:t>)</a:t>
            </a:r>
            <a:r>
              <a:rPr lang="zh-CN" altLang="en-US" sz="2800" b="1">
                <a:latin typeface="宋体" panose="02010600030101010101" pitchFamily="2" charset="-122"/>
              </a:rPr>
              <a:t>都可直接用于翻译，而真核生物</a:t>
            </a:r>
            <a:r>
              <a:rPr lang="en-US" altLang="zh-CN" sz="2800" b="1">
                <a:latin typeface="宋体" panose="02010600030101010101" pitchFamily="2" charset="-122"/>
              </a:rPr>
              <a:t>mRNA</a:t>
            </a:r>
            <a:r>
              <a:rPr lang="zh-CN" altLang="en-US" sz="2800" b="1">
                <a:latin typeface="宋体" panose="02010600030101010101" pitchFamily="2" charset="-122"/>
              </a:rPr>
              <a:t>一般都有相应前体，必须经过后加工才能用于翻译蛋白质。</a:t>
            </a:r>
            <a:endParaRPr lang="zh-CN" altLang="en-US" sz="2800" b="1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b="1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宋体" panose="02010600030101010101" pitchFamily="2" charset="-122"/>
              </a:rPr>
              <a:t>-</a:t>
            </a:r>
            <a:r>
              <a:rPr lang="zh-CN" altLang="en-US" sz="2800" b="1">
                <a:latin typeface="宋体" panose="02010600030101010101" pitchFamily="2" charset="-122"/>
              </a:rPr>
              <a:t>真核生物</a:t>
            </a:r>
            <a:r>
              <a:rPr lang="en-US" altLang="zh-CN" sz="2800" b="1">
                <a:latin typeface="宋体" panose="02010600030101010101" pitchFamily="2" charset="-122"/>
              </a:rPr>
              <a:t>mRNA</a:t>
            </a:r>
            <a:r>
              <a:rPr lang="zh-CN" altLang="en-US" sz="2800" b="1">
                <a:latin typeface="宋体" panose="02010600030101010101" pitchFamily="2" charset="-122"/>
              </a:rPr>
              <a:t>的原始转录产物为核不均一</a:t>
            </a:r>
            <a:r>
              <a:rPr lang="en-US" altLang="zh-CN" sz="2800" b="1">
                <a:latin typeface="宋体" panose="02010600030101010101" pitchFamily="2" charset="-122"/>
              </a:rPr>
              <a:t>RNA (hnRNA)</a:t>
            </a:r>
            <a:r>
              <a:rPr lang="zh-CN" altLang="en-US" sz="2800" b="1">
                <a:latin typeface="宋体" panose="02010600030101010101" pitchFamily="2" charset="-122"/>
              </a:rPr>
              <a:t>。</a:t>
            </a:r>
            <a:endParaRPr lang="zh-CN" altLang="en-US" sz="2800" b="1"/>
          </a:p>
        </p:txBody>
      </p:sp>
    </p:spTree>
  </p:cSld>
  <p:clrMapOvr>
    <a:masterClrMapping/>
  </p:clrMapOvr>
  <p:transition spd="med">
    <p:pull dir="r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682625" y="549275"/>
            <a:ext cx="612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一</a:t>
            </a: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)mRNA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前体后加工</a:t>
            </a:r>
            <a:endParaRPr lang="en-US" altLang="zh-CN" sz="3200" b="1">
              <a:solidFill>
                <a:schemeClr val="accent1"/>
              </a:solidFill>
              <a:latin typeface="宋体" panose="02010600030101010101" pitchFamily="2" charset="-122"/>
            </a:endParaRP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827088" y="1052513"/>
            <a:ext cx="6840537" cy="206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宋体" panose="02010600030101010101" pitchFamily="2" charset="-122"/>
              </a:rPr>
              <a:t>1</a:t>
            </a:r>
            <a:r>
              <a:rPr lang="zh-CN" altLang="en-US" sz="2800" b="1">
                <a:latin typeface="宋体" panose="02010600030101010101" pitchFamily="2" charset="-122"/>
              </a:rPr>
              <a:t>、</a:t>
            </a:r>
            <a:r>
              <a:rPr lang="en-US" altLang="zh-CN" sz="2800" b="1">
                <a:latin typeface="宋体" panose="02010600030101010101" pitchFamily="2" charset="-122"/>
              </a:rPr>
              <a:t>5</a:t>
            </a:r>
            <a:r>
              <a:rPr lang="en-US" altLang="zh-CN" sz="2800" b="1">
                <a:latin typeface="Arial" panose="020B0604020202020204" pitchFamily="34" charset="0"/>
              </a:rPr>
              <a:t>’</a:t>
            </a:r>
            <a:r>
              <a:rPr lang="zh-CN" altLang="en-US" sz="2800" b="1">
                <a:latin typeface="宋体" panose="02010600030101010101" pitchFamily="2" charset="-122"/>
              </a:rPr>
              <a:t>端加帽（在细胞核内完成）</a:t>
            </a:r>
            <a:endParaRPr lang="zh-CN" altLang="en-US" b="1">
              <a:latin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>
                <a:latin typeface="Arial" panose="020B0604020202020204" pitchFamily="34" charset="0"/>
              </a:rPr>
              <a:t>——</a:t>
            </a:r>
            <a:r>
              <a:rPr lang="en-US" altLang="zh-CN" b="1">
                <a:latin typeface="宋体" panose="02010600030101010101" pitchFamily="2" charset="-122"/>
              </a:rPr>
              <a:t>5</a:t>
            </a:r>
            <a:r>
              <a:rPr lang="en-US" altLang="zh-CN" b="1">
                <a:latin typeface="Arial" panose="020B0604020202020204" pitchFamily="34" charset="0"/>
              </a:rPr>
              <a:t>’</a:t>
            </a:r>
            <a:r>
              <a:rPr lang="zh-CN" altLang="en-US" b="1">
                <a:latin typeface="宋体" panose="02010600030101010101" pitchFamily="2" charset="-122"/>
              </a:rPr>
              <a:t>端鸟苷三磷酸被甲基化</a:t>
            </a:r>
            <a:r>
              <a:rPr lang="en-US" altLang="zh-CN" b="1">
                <a:latin typeface="宋体" panose="02010600030101010101" pitchFamily="2" charset="-122"/>
              </a:rPr>
              <a:t>(</a:t>
            </a:r>
            <a:r>
              <a:rPr lang="zh-CN" altLang="en-US" b="1">
                <a:latin typeface="宋体" panose="02010600030101010101" pitchFamily="2" charset="-122"/>
              </a:rPr>
              <a:t>供体：</a:t>
            </a:r>
            <a:r>
              <a:rPr lang="en-US" altLang="zh-CN" b="1">
                <a:latin typeface="宋体" panose="02010600030101010101" pitchFamily="2" charset="-122"/>
              </a:rPr>
              <a:t>SAM)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kumimoji="0" lang="zh-CN" altLang="en-US" b="1">
                <a:latin typeface="宋体" panose="02010600030101010101" pitchFamily="2" charset="-122"/>
              </a:rPr>
              <a:t>作用：</a:t>
            </a:r>
            <a:r>
              <a:rPr kumimoji="0" lang="en-US" altLang="zh-CN" b="1">
                <a:latin typeface="宋体" panose="02010600030101010101" pitchFamily="2" charset="-122"/>
              </a:rPr>
              <a:t>a. </a:t>
            </a:r>
            <a:r>
              <a:rPr kumimoji="0" lang="zh-CN" altLang="en-US" b="1">
                <a:latin typeface="宋体" panose="02010600030101010101" pitchFamily="2" charset="-122"/>
              </a:rPr>
              <a:t>翻译过程中起识别作用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kumimoji="0" lang="zh-CN" altLang="en-US" b="1">
                <a:latin typeface="宋体" panose="02010600030101010101" pitchFamily="2" charset="-122"/>
              </a:rPr>
              <a:t>      </a:t>
            </a:r>
            <a:r>
              <a:rPr kumimoji="0" lang="en-US" altLang="zh-CN" b="1">
                <a:latin typeface="宋体" panose="02010600030101010101" pitchFamily="2" charset="-122"/>
              </a:rPr>
              <a:t>b. </a:t>
            </a:r>
            <a:r>
              <a:rPr kumimoji="0" lang="zh-CN" altLang="en-US" b="1">
                <a:latin typeface="宋体" panose="02010600030101010101" pitchFamily="2" charset="-122"/>
              </a:rPr>
              <a:t>避免</a:t>
            </a:r>
            <a:r>
              <a:rPr kumimoji="0" lang="en-US" altLang="zh-CN" b="1">
                <a:latin typeface="宋体" panose="02010600030101010101" pitchFamily="2" charset="-122"/>
              </a:rPr>
              <a:t>mRNA</a:t>
            </a:r>
            <a:r>
              <a:rPr kumimoji="0" lang="zh-CN" altLang="en-US" b="1">
                <a:latin typeface="宋体" panose="02010600030101010101" pitchFamily="2" charset="-122"/>
              </a:rPr>
              <a:t>受核酸外切酶降解</a:t>
            </a:r>
            <a:endParaRPr lang="zh-CN" altLang="en-US" b="1">
              <a:latin typeface="宋体" panose="02010600030101010101" pitchFamily="2" charset="-122"/>
            </a:endParaRPr>
          </a:p>
        </p:txBody>
      </p:sp>
      <p:pic>
        <p:nvPicPr>
          <p:cNvPr id="143364" name="Picture 4" descr="ca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3068638"/>
            <a:ext cx="72009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682625" y="549275"/>
            <a:ext cx="612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一</a:t>
            </a: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)mRNA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前体后加工</a:t>
            </a:r>
            <a:endParaRPr lang="en-US" altLang="zh-CN" sz="3200" b="1">
              <a:solidFill>
                <a:schemeClr val="accent1"/>
              </a:solidFill>
              <a:latin typeface="宋体" panose="02010600030101010101" pitchFamily="2" charset="-122"/>
            </a:endParaRPr>
          </a:p>
        </p:txBody>
      </p:sp>
      <p:sp>
        <p:nvSpPr>
          <p:cNvPr id="36867" name="Rectangle 4"/>
          <p:cNvSpPr>
            <a:spLocks noChangeArrowheads="1"/>
          </p:cNvSpPr>
          <p:nvPr/>
        </p:nvSpPr>
        <p:spPr bwMode="auto">
          <a:xfrm>
            <a:off x="827088" y="1052513"/>
            <a:ext cx="6985000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宋体" panose="02010600030101010101" pitchFamily="2" charset="-122"/>
              </a:rPr>
              <a:t>2</a:t>
            </a:r>
            <a:r>
              <a:rPr lang="zh-CN" altLang="en-US" sz="2800" b="1">
                <a:latin typeface="宋体" panose="02010600030101010101" pitchFamily="2" charset="-122"/>
              </a:rPr>
              <a:t>、</a:t>
            </a:r>
            <a:r>
              <a:rPr lang="en-US" altLang="zh-CN" sz="2800" b="1">
                <a:latin typeface="宋体" panose="02010600030101010101" pitchFamily="2" charset="-122"/>
              </a:rPr>
              <a:t>3</a:t>
            </a:r>
            <a:r>
              <a:rPr lang="en-US" altLang="zh-CN" sz="2800" b="1">
                <a:latin typeface="Arial" panose="020B0604020202020204" pitchFamily="34" charset="0"/>
              </a:rPr>
              <a:t>’</a:t>
            </a:r>
            <a:r>
              <a:rPr lang="zh-CN" altLang="en-US" sz="2800" b="1">
                <a:latin typeface="宋体" panose="02010600030101010101" pitchFamily="2" charset="-122"/>
              </a:rPr>
              <a:t>端加</a:t>
            </a:r>
            <a:r>
              <a:rPr lang="en-US" altLang="zh-CN" sz="2800" b="1">
                <a:latin typeface="宋体" panose="02010600030101010101" pitchFamily="2" charset="-122"/>
              </a:rPr>
              <a:t>polyA</a:t>
            </a:r>
            <a:r>
              <a:rPr lang="zh-CN" altLang="en-US" sz="2800" b="1">
                <a:latin typeface="宋体" panose="02010600030101010101" pitchFamily="2" charset="-122"/>
              </a:rPr>
              <a:t>尾（在细胞核内完成）</a:t>
            </a:r>
            <a:endParaRPr lang="zh-CN" altLang="en-US" b="1">
              <a:latin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>
                <a:latin typeface="Arial" panose="020B0604020202020204" pitchFamily="34" charset="0"/>
              </a:rPr>
              <a:t>——</a:t>
            </a:r>
            <a:r>
              <a:rPr lang="en-US" altLang="zh-CN" b="1">
                <a:latin typeface="宋体" panose="02010600030101010101" pitchFamily="2" charset="-122"/>
              </a:rPr>
              <a:t>3</a:t>
            </a:r>
            <a:r>
              <a:rPr lang="en-US" altLang="zh-CN" b="1">
                <a:latin typeface="Arial" panose="020B0604020202020204" pitchFamily="34" charset="0"/>
              </a:rPr>
              <a:t>’</a:t>
            </a:r>
            <a:r>
              <a:rPr lang="zh-CN" altLang="en-US" b="1">
                <a:latin typeface="宋体" panose="02010600030101010101" pitchFamily="2" charset="-122"/>
              </a:rPr>
              <a:t>端由</a:t>
            </a:r>
            <a:r>
              <a:rPr lang="en-US" altLang="zh-CN" b="1">
                <a:latin typeface="宋体" panose="02010600030101010101" pitchFamily="2" charset="-122"/>
              </a:rPr>
              <a:t>polyA</a:t>
            </a:r>
            <a:r>
              <a:rPr lang="zh-CN" altLang="en-US" b="1">
                <a:latin typeface="宋体" panose="02010600030101010101" pitchFamily="2" charset="-122"/>
              </a:rPr>
              <a:t>聚合酶催化加上</a:t>
            </a:r>
            <a:r>
              <a:rPr lang="en-US" altLang="zh-CN" b="1">
                <a:latin typeface="宋体" panose="02010600030101010101" pitchFamily="2" charset="-122"/>
              </a:rPr>
              <a:t>polyA(</a:t>
            </a:r>
            <a:r>
              <a:rPr lang="zh-CN" altLang="en-US" b="1">
                <a:latin typeface="宋体" panose="02010600030101010101" pitchFamily="2" charset="-122"/>
              </a:rPr>
              <a:t>供体：</a:t>
            </a:r>
            <a:r>
              <a:rPr lang="en-US" altLang="zh-CN" b="1">
                <a:latin typeface="宋体" panose="02010600030101010101" pitchFamily="2" charset="-122"/>
              </a:rPr>
              <a:t>ATP)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>
                <a:latin typeface="宋体" panose="02010600030101010101" pitchFamily="2" charset="-122"/>
              </a:rPr>
              <a:t>加尾信号：</a:t>
            </a:r>
            <a:r>
              <a:rPr lang="en-US" altLang="zh-CN" b="1">
                <a:latin typeface="宋体" panose="02010600030101010101" pitchFamily="2" charset="-122"/>
              </a:rPr>
              <a:t>AAUAAA</a:t>
            </a:r>
            <a:r>
              <a:rPr lang="zh-CN" altLang="en-US" b="1">
                <a:latin typeface="宋体" panose="02010600030101010101" pitchFamily="2" charset="-122"/>
              </a:rPr>
              <a:t>保守序列</a:t>
            </a:r>
          </a:p>
        </p:txBody>
      </p:sp>
      <p:pic>
        <p:nvPicPr>
          <p:cNvPr id="142342" name="Picture 6" descr="poly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708275"/>
            <a:ext cx="7489825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682625" y="549275"/>
            <a:ext cx="612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一</a:t>
            </a: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)mRNA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前体后加工</a:t>
            </a:r>
            <a:endParaRPr lang="en-US" altLang="zh-CN" sz="3200" b="1">
              <a:solidFill>
                <a:schemeClr val="accent1"/>
              </a:solidFill>
              <a:latin typeface="宋体" panose="02010600030101010101" pitchFamily="2" charset="-122"/>
            </a:endParaRPr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827088" y="1052513"/>
            <a:ext cx="6985000" cy="499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宋体" panose="02010600030101010101" pitchFamily="2" charset="-122"/>
              </a:rPr>
              <a:t>3</a:t>
            </a:r>
            <a:r>
              <a:rPr lang="zh-CN" altLang="en-US" sz="2800" b="1">
                <a:latin typeface="宋体" panose="02010600030101010101" pitchFamily="2" charset="-122"/>
              </a:rPr>
              <a:t>、剪接</a:t>
            </a:r>
            <a:endParaRPr lang="zh-CN" altLang="en-US" b="1">
              <a:latin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>
                <a:latin typeface="宋体" panose="02010600030101010101" pitchFamily="2" charset="-122"/>
              </a:rPr>
              <a:t>断裂基因</a:t>
            </a:r>
            <a:r>
              <a:rPr lang="en-US" altLang="zh-CN" b="1">
                <a:latin typeface="宋体" panose="02010600030101010101" pitchFamily="2" charset="-122"/>
              </a:rPr>
              <a:t>(splite gene)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kumimoji="0" lang="zh-CN" altLang="en-US" b="1">
                <a:latin typeface="宋体" panose="02010600030101010101" pitchFamily="2" charset="-122"/>
              </a:rPr>
              <a:t>外显子</a:t>
            </a:r>
            <a:r>
              <a:rPr kumimoji="0" lang="en-US" altLang="zh-CN" b="1">
                <a:latin typeface="宋体" panose="02010600030101010101" pitchFamily="2" charset="-122"/>
              </a:rPr>
              <a:t>(exon)</a:t>
            </a:r>
            <a:r>
              <a:rPr kumimoji="0" lang="zh-CN" altLang="en-US" b="1">
                <a:latin typeface="宋体" panose="02010600030101010101" pitchFamily="2" charset="-122"/>
              </a:rPr>
              <a:t>与内含子</a:t>
            </a:r>
            <a:r>
              <a:rPr kumimoji="0" lang="en-US" altLang="zh-CN" b="1">
                <a:latin typeface="宋体" panose="02010600030101010101" pitchFamily="2" charset="-122"/>
              </a:rPr>
              <a:t>(intron)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kumimoji="0" lang="zh-CN" altLang="en-US" b="1">
                <a:latin typeface="宋体" panose="02010600030101010101" pitchFamily="2" charset="-122"/>
              </a:rPr>
              <a:t>真核生物的结构基因由若干编码区</a:t>
            </a:r>
            <a:r>
              <a:rPr kumimoji="0" lang="en-US" altLang="zh-CN" b="1">
                <a:latin typeface="宋体" panose="02010600030101010101" pitchFamily="2" charset="-122"/>
              </a:rPr>
              <a:t>(</a:t>
            </a:r>
            <a:r>
              <a:rPr kumimoji="0" lang="zh-CN" altLang="en-US" b="1">
                <a:latin typeface="宋体" panose="02010600030101010101" pitchFamily="2" charset="-122"/>
              </a:rPr>
              <a:t>外显子</a:t>
            </a:r>
            <a:r>
              <a:rPr kumimoji="0" lang="en-US" altLang="zh-CN" b="1">
                <a:latin typeface="宋体" panose="02010600030101010101" pitchFamily="2" charset="-122"/>
              </a:rPr>
              <a:t>)</a:t>
            </a:r>
            <a:r>
              <a:rPr kumimoji="0" lang="zh-CN" altLang="en-US" b="1">
                <a:latin typeface="宋体" panose="02010600030101010101" pitchFamily="2" charset="-122"/>
              </a:rPr>
              <a:t>和非编码区</a:t>
            </a:r>
            <a:r>
              <a:rPr kumimoji="0" lang="en-US" altLang="zh-CN" b="1">
                <a:latin typeface="宋体" panose="02010600030101010101" pitchFamily="2" charset="-122"/>
              </a:rPr>
              <a:t>(</a:t>
            </a:r>
            <a:r>
              <a:rPr kumimoji="0" lang="zh-CN" altLang="en-US" b="1">
                <a:latin typeface="宋体" panose="02010600030101010101" pitchFamily="2" charset="-122"/>
              </a:rPr>
              <a:t>内含子</a:t>
            </a:r>
            <a:r>
              <a:rPr kumimoji="0" lang="en-US" altLang="zh-CN" b="1">
                <a:latin typeface="宋体" panose="02010600030101010101" pitchFamily="2" charset="-122"/>
              </a:rPr>
              <a:t>)</a:t>
            </a:r>
            <a:r>
              <a:rPr kumimoji="0" lang="zh-CN" altLang="en-US" b="1">
                <a:latin typeface="宋体" panose="02010600030101010101" pitchFamily="2" charset="-122"/>
              </a:rPr>
              <a:t>互相间隔、连续镶嵌组成，编码一个由连续氨基酸组成的完整蛋白，故称为断裂基因。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endParaRPr kumimoji="0" lang="zh-CN" altLang="en-US" b="1">
              <a:latin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宋体" panose="02010600030101010101" pitchFamily="2" charset="-122"/>
              </a:rPr>
              <a:t>4</a:t>
            </a:r>
            <a:r>
              <a:rPr lang="zh-CN" altLang="en-US" sz="2800" b="1">
                <a:latin typeface="宋体" panose="02010600030101010101" pitchFamily="2" charset="-122"/>
              </a:rPr>
              <a:t>、甲基化修饰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kumimoji="0" lang="en-US" altLang="zh-CN" b="1"/>
              <a:t>mRNA</a:t>
            </a:r>
            <a:r>
              <a:rPr kumimoji="0" lang="zh-CN" altLang="en-US" b="1"/>
              <a:t>分子内的某些部位常存在甲基腺苷，它是由甲基化酶催化产生的</a:t>
            </a:r>
          </a:p>
        </p:txBody>
      </p:sp>
    </p:spTree>
  </p:cSld>
  <p:clrMapOvr>
    <a:masterClrMapping/>
  </p:clrMapOvr>
  <p:transition spd="med">
    <p:pull dir="r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4"/>
          <p:cNvSpPr txBox="1">
            <a:spLocks noChangeArrowheads="1"/>
          </p:cNvSpPr>
          <p:nvPr/>
        </p:nvSpPr>
        <p:spPr bwMode="auto">
          <a:xfrm>
            <a:off x="755650" y="800100"/>
            <a:ext cx="71628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70000"/>
              </a:lnSpc>
            </a:pPr>
            <a:r>
              <a:rPr lang="zh-CN" altLang="en-US" b="1">
                <a:ea typeface="黑体" panose="02010609060101010101" pitchFamily="49" charset="-122"/>
              </a:rPr>
              <a:t>外显子：真核细胞基因</a:t>
            </a:r>
            <a:r>
              <a:rPr lang="en-US" altLang="zh-CN" b="1">
                <a:ea typeface="黑体" panose="02010609060101010101" pitchFamily="49" charset="-122"/>
              </a:rPr>
              <a:t>DNA</a:t>
            </a:r>
            <a:r>
              <a:rPr lang="zh-CN" altLang="en-US" b="1">
                <a:ea typeface="黑体" panose="02010609060101010101" pitchFamily="49" charset="-122"/>
              </a:rPr>
              <a:t>中的编码序列，这部分序列可转录为</a:t>
            </a:r>
            <a:r>
              <a:rPr lang="en-US" altLang="zh-CN" b="1">
                <a:ea typeface="黑体" panose="02010609060101010101" pitchFamily="49" charset="-122"/>
              </a:rPr>
              <a:t>RNA</a:t>
            </a:r>
            <a:r>
              <a:rPr lang="zh-CN" altLang="en-US" b="1">
                <a:ea typeface="黑体" panose="02010609060101010101" pitchFamily="49" charset="-122"/>
              </a:rPr>
              <a:t>并翻译成蛋白，也称表达序列。</a:t>
            </a:r>
            <a:r>
              <a:rPr lang="zh-CN" altLang="en-US" sz="2000"/>
              <a:t> </a:t>
            </a:r>
          </a:p>
        </p:txBody>
      </p:sp>
      <p:sp>
        <p:nvSpPr>
          <p:cNvPr id="146437" name="Text Box 5"/>
          <p:cNvSpPr txBox="1">
            <a:spLocks noChangeArrowheads="1"/>
          </p:cNvSpPr>
          <p:nvPr/>
        </p:nvSpPr>
        <p:spPr bwMode="auto">
          <a:xfrm>
            <a:off x="755650" y="3960813"/>
            <a:ext cx="7129463" cy="195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70000"/>
              </a:lnSpc>
            </a:pPr>
            <a:r>
              <a:rPr lang="zh-CN" altLang="en-US" b="1">
                <a:ea typeface="黑体" panose="02010609060101010101" pitchFamily="49" charset="-122"/>
              </a:rPr>
              <a:t>外显子和内含子都被转录在原始转录物</a:t>
            </a:r>
            <a:r>
              <a:rPr lang="en-US" altLang="zh-CN" b="1">
                <a:ea typeface="黑体" panose="02010609060101010101" pitchFamily="49" charset="-122"/>
              </a:rPr>
              <a:t>HnRNA </a:t>
            </a:r>
            <a:r>
              <a:rPr lang="zh-CN" altLang="en-US" b="1">
                <a:ea typeface="黑体" panose="02010609060101010101" pitchFamily="49" charset="-122"/>
              </a:rPr>
              <a:t>中，以后由剪接酶催化剪接去掉内含子，将相邻的外显子连接起来，称剪接（</a:t>
            </a:r>
            <a:r>
              <a:rPr lang="en-US" altLang="zh-CN" b="1">
                <a:ea typeface="黑体" panose="02010609060101010101" pitchFamily="49" charset="-122"/>
              </a:rPr>
              <a:t>splicing</a:t>
            </a:r>
            <a:r>
              <a:rPr lang="zh-CN" altLang="en-US" b="1">
                <a:ea typeface="黑体" panose="02010609060101010101" pitchFamily="49" charset="-122"/>
              </a:rPr>
              <a:t>）。</a:t>
            </a:r>
            <a:r>
              <a:rPr lang="zh-CN" altLang="en-US" sz="2000"/>
              <a:t> </a:t>
            </a:r>
          </a:p>
        </p:txBody>
      </p:sp>
      <p:sp>
        <p:nvSpPr>
          <p:cNvPr id="146438" name="Text Box 6"/>
          <p:cNvSpPr txBox="1">
            <a:spLocks noChangeArrowheads="1"/>
          </p:cNvSpPr>
          <p:nvPr/>
        </p:nvSpPr>
        <p:spPr bwMode="auto">
          <a:xfrm>
            <a:off x="755650" y="2420938"/>
            <a:ext cx="7056438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70000"/>
              </a:lnSpc>
            </a:pPr>
            <a:r>
              <a:rPr lang="zh-CN" altLang="en-US" b="1">
                <a:ea typeface="黑体" panose="02010609060101010101" pitchFamily="49" charset="-122"/>
              </a:rPr>
              <a:t>内含子：真核细胞基因</a:t>
            </a:r>
            <a:r>
              <a:rPr lang="en-US" altLang="zh-CN" b="1">
                <a:ea typeface="黑体" panose="02010609060101010101" pitchFamily="49" charset="-122"/>
              </a:rPr>
              <a:t>DNA</a:t>
            </a:r>
            <a:r>
              <a:rPr lang="zh-CN" altLang="en-US" b="1">
                <a:ea typeface="黑体" panose="02010609060101010101" pitchFamily="49" charset="-122"/>
              </a:rPr>
              <a:t>中的不编码序列，这部分序列并不编码蛋白质，又称间隔或插入序列。</a:t>
            </a:r>
            <a:endParaRPr lang="zh-CN" altLang="en-US"/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6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7" grpId="0" build="p" autoUpdateAnimBg="0"/>
      <p:bldP spid="146438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lum bright="-24000" contras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0" t="23334" r="14999" b="20667"/>
          <a:stretch>
            <a:fillRect/>
          </a:stretch>
        </p:blipFill>
        <p:spPr bwMode="auto">
          <a:xfrm>
            <a:off x="0" y="0"/>
            <a:ext cx="9144000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7DAE8-A2CB-3150-B04E-DC659DAD7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21C6C0E-1A0D-009A-BF68-5FAAFAD93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81" y="1484833"/>
            <a:ext cx="8817637" cy="388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497449"/>
      </p:ext>
    </p:extLst>
  </p:cSld>
  <p:clrMapOvr>
    <a:masterClrMapping/>
  </p:clrMapOvr>
  <p:transition spd="med">
    <p:pull dir="r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682625" y="549275"/>
            <a:ext cx="612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二</a:t>
            </a: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)tRNA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前体后加工</a:t>
            </a:r>
            <a:endParaRPr lang="en-US" altLang="zh-CN" sz="3200" b="1">
              <a:solidFill>
                <a:schemeClr val="accent1"/>
              </a:solidFill>
              <a:latin typeface="宋体" panose="02010600030101010101" pitchFamily="2" charset="-122"/>
            </a:endParaRPr>
          </a:p>
        </p:txBody>
      </p:sp>
      <p:sp>
        <p:nvSpPr>
          <p:cNvPr id="40963" name="Rectangle 3"/>
          <p:cNvSpPr>
            <a:spLocks noChangeArrowheads="1"/>
          </p:cNvSpPr>
          <p:nvPr/>
        </p:nvSpPr>
        <p:spPr bwMode="auto">
          <a:xfrm>
            <a:off x="827088" y="1212850"/>
            <a:ext cx="6985000" cy="427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tRNA</a:t>
            </a:r>
            <a:r>
              <a:rPr lang="zh-CN" altLang="en-US" sz="2800" b="1"/>
              <a:t>的前体加工主要包括</a:t>
            </a:r>
            <a:r>
              <a:rPr lang="en-US" altLang="zh-CN" sz="2800" b="1"/>
              <a:t>3</a:t>
            </a:r>
            <a:r>
              <a:rPr lang="zh-CN" altLang="en-US" sz="2800" b="1"/>
              <a:t>步</a:t>
            </a:r>
            <a:r>
              <a:rPr lang="en-US" altLang="zh-CN" sz="2800" b="1"/>
              <a:t>:</a:t>
            </a:r>
          </a:p>
          <a:p>
            <a:pPr eaLnBrk="1" hangingPunct="1">
              <a:lnSpc>
                <a:spcPct val="130000"/>
              </a:lnSpc>
              <a:spcBef>
                <a:spcPct val="30000"/>
              </a:spcBef>
            </a:pPr>
            <a:r>
              <a:rPr lang="en-US" altLang="zh-CN" sz="2800" b="1"/>
              <a:t>1</a:t>
            </a:r>
            <a:r>
              <a:rPr lang="zh-CN" altLang="en-US" sz="2800" b="1"/>
              <a:t>）剪接</a:t>
            </a:r>
            <a:r>
              <a:rPr lang="en-US" altLang="zh-CN" sz="2800" b="1"/>
              <a:t>——</a:t>
            </a:r>
            <a:r>
              <a:rPr kumimoji="0" lang="zh-CN" altLang="en-US" sz="2800" b="1"/>
              <a:t>由核酸内切酶和外切酶切除前体</a:t>
            </a:r>
            <a:r>
              <a:rPr kumimoji="0" lang="en-US" altLang="zh-CN" sz="2800" b="1"/>
              <a:t>(4.5S)</a:t>
            </a:r>
            <a:r>
              <a:rPr kumimoji="0" lang="zh-CN" altLang="en-US" sz="2800" b="1"/>
              <a:t>分子</a:t>
            </a:r>
            <a:r>
              <a:rPr kumimoji="0" lang="en-US" altLang="zh-CN" sz="2800" b="1"/>
              <a:t>5’</a:t>
            </a:r>
            <a:r>
              <a:rPr kumimoji="0" lang="zh-CN" altLang="en-US" sz="2800" b="1"/>
              <a:t>端和</a:t>
            </a:r>
            <a:r>
              <a:rPr kumimoji="0" lang="en-US" altLang="zh-CN" sz="2800" b="1"/>
              <a:t>3’</a:t>
            </a:r>
            <a:r>
              <a:rPr kumimoji="0" lang="zh-CN" altLang="en-US" sz="2800" b="1"/>
              <a:t>端的多余序列</a:t>
            </a:r>
            <a:endParaRPr lang="en-US" altLang="zh-CN" sz="2800" b="1"/>
          </a:p>
          <a:p>
            <a:pPr eaLnBrk="1" hangingPunct="1">
              <a:lnSpc>
                <a:spcPct val="130000"/>
              </a:lnSpc>
              <a:spcBef>
                <a:spcPct val="30000"/>
              </a:spcBef>
            </a:pPr>
            <a:r>
              <a:rPr lang="en-US" altLang="zh-CN" sz="2800" b="1"/>
              <a:t>2</a:t>
            </a:r>
            <a:r>
              <a:rPr lang="zh-CN" altLang="en-US" sz="2800" b="1"/>
              <a:t>）</a:t>
            </a:r>
            <a:r>
              <a:rPr lang="en-US" altLang="zh-CN" sz="2800" b="1"/>
              <a:t>3′</a:t>
            </a:r>
            <a:r>
              <a:rPr lang="zh-CN" altLang="en-US" sz="2800" b="1"/>
              <a:t>端加</a:t>
            </a:r>
            <a:r>
              <a:rPr lang="en-US" altLang="zh-CN" sz="2800" b="1"/>
              <a:t>CCA——</a:t>
            </a:r>
            <a:r>
              <a:rPr kumimoji="0" lang="zh-CN" altLang="en-US" sz="2800" b="1"/>
              <a:t>接受氨酰基所需</a:t>
            </a:r>
            <a:endParaRPr lang="en-US" altLang="zh-CN" sz="2800"/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800" b="1"/>
              <a:t>3</a:t>
            </a:r>
            <a:r>
              <a:rPr lang="zh-CN" altLang="en-US" sz="2800" b="1"/>
              <a:t>）碱基修饰：甲基化、尿嘧啶还原成二氢尿嘧啶、脱氨反应，尿苷酸转化为假尿苷酸等。</a:t>
            </a:r>
          </a:p>
        </p:txBody>
      </p:sp>
    </p:spTree>
  </p:cSld>
  <p:clrMapOvr>
    <a:masterClrMapping/>
  </p:clrMapOvr>
  <p:transition spd="med">
    <p:pull dir="rd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682625" y="549275"/>
            <a:ext cx="612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三</a:t>
            </a: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)rRNA</a:t>
            </a:r>
            <a:r>
              <a:rPr lang="zh-CN" altLang="en-US" sz="3200" b="1">
                <a:solidFill>
                  <a:schemeClr val="accent1"/>
                </a:solidFill>
                <a:latin typeface="宋体" panose="02010600030101010101" pitchFamily="2" charset="-122"/>
              </a:rPr>
              <a:t>前体后加工</a:t>
            </a:r>
            <a:endParaRPr lang="en-US" altLang="zh-CN" sz="3200" b="1">
              <a:solidFill>
                <a:schemeClr val="accent1"/>
              </a:solidFill>
              <a:latin typeface="宋体" panose="02010600030101010101" pitchFamily="2" charset="-122"/>
            </a:endParaRPr>
          </a:p>
        </p:txBody>
      </p:sp>
      <p:sp>
        <p:nvSpPr>
          <p:cNvPr id="41987" name="Rectangle 5"/>
          <p:cNvSpPr>
            <a:spLocks noChangeArrowheads="1"/>
          </p:cNvSpPr>
          <p:nvPr/>
        </p:nvSpPr>
        <p:spPr bwMode="auto">
          <a:xfrm>
            <a:off x="827088" y="1268413"/>
            <a:ext cx="6985000" cy="444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0" lang="en-US" altLang="zh-CN" sz="2800" b="1">
                <a:latin typeface="宋体" panose="02010600030101010101" pitchFamily="2" charset="-122"/>
              </a:rPr>
              <a:t>rDNA</a:t>
            </a:r>
            <a:r>
              <a:rPr kumimoji="0" lang="zh-CN" altLang="en-US" sz="2800" b="1">
                <a:latin typeface="宋体" panose="02010600030101010101" pitchFamily="2" charset="-122"/>
              </a:rPr>
              <a:t>位于核仁内，由几种</a:t>
            </a:r>
            <a:r>
              <a:rPr kumimoji="0" lang="en-US" altLang="zh-CN" sz="2800" b="1">
                <a:latin typeface="宋体" panose="02010600030101010101" pitchFamily="2" charset="-122"/>
              </a:rPr>
              <a:t>rRNA</a:t>
            </a:r>
            <a:r>
              <a:rPr kumimoji="0" lang="zh-CN" altLang="en-US" sz="2800" b="1">
                <a:latin typeface="宋体" panose="02010600030101010101" pitchFamily="2" charset="-122"/>
              </a:rPr>
              <a:t>的基因构成一个转录单位，彼此间被间隔区分开。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b="1"/>
              <a:t>原核细胞</a:t>
            </a:r>
            <a:r>
              <a:rPr lang="en-US" altLang="zh-CN" sz="2800" b="1"/>
              <a:t>rRNA</a:t>
            </a:r>
            <a:r>
              <a:rPr lang="zh-CN" altLang="en-US" sz="2800" b="1"/>
              <a:t>有三种</a:t>
            </a:r>
            <a:r>
              <a:rPr lang="en-US" altLang="zh-CN" sz="2800" b="1"/>
              <a:t>:16S</a:t>
            </a:r>
            <a:r>
              <a:rPr lang="zh-CN" altLang="en-US" sz="2800" b="1"/>
              <a:t>、</a:t>
            </a:r>
            <a:r>
              <a:rPr lang="en-US" altLang="zh-CN" sz="2800" b="1"/>
              <a:t>23S</a:t>
            </a:r>
            <a:r>
              <a:rPr lang="zh-CN" altLang="en-US" sz="2800" b="1"/>
              <a:t>和</a:t>
            </a:r>
            <a:r>
              <a:rPr lang="en-US" altLang="zh-CN" sz="2800" b="1"/>
              <a:t>5SrRNA</a:t>
            </a:r>
            <a:r>
              <a:rPr lang="zh-CN" altLang="en-US" sz="2800" b="1"/>
              <a:t>，这三种</a:t>
            </a:r>
            <a:r>
              <a:rPr lang="en-US" altLang="zh-CN" sz="2800" b="1"/>
              <a:t>rRNA</a:t>
            </a:r>
            <a:r>
              <a:rPr lang="zh-CN" altLang="en-US" sz="2800" b="1"/>
              <a:t>是一个转录单位，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b="1"/>
              <a:t>真核细胞有四种</a:t>
            </a:r>
            <a:r>
              <a:rPr lang="en-US" altLang="zh-CN" sz="2800" b="1"/>
              <a:t>rRNA:28S</a:t>
            </a:r>
            <a:r>
              <a:rPr lang="zh-CN" altLang="en-US" sz="2800" b="1"/>
              <a:t>、</a:t>
            </a:r>
            <a:r>
              <a:rPr lang="en-US" altLang="zh-CN" sz="2800" b="1"/>
              <a:t>18S</a:t>
            </a:r>
            <a:r>
              <a:rPr lang="zh-CN" altLang="en-US" sz="2800" b="1"/>
              <a:t>、</a:t>
            </a:r>
            <a:r>
              <a:rPr lang="en-US" altLang="zh-CN" sz="2800" b="1"/>
              <a:t>5.8S</a:t>
            </a:r>
            <a:r>
              <a:rPr lang="zh-CN" altLang="en-US" sz="2800" b="1"/>
              <a:t>和</a:t>
            </a:r>
            <a:r>
              <a:rPr lang="en-US" altLang="zh-CN" sz="2800" b="1"/>
              <a:t>5SrRNA</a:t>
            </a:r>
            <a:r>
              <a:rPr lang="zh-CN" altLang="en-US" sz="2800" b="1"/>
              <a:t>，是两个转录单位，</a:t>
            </a:r>
            <a:r>
              <a:rPr lang="en-US" altLang="zh-CN" sz="2800" b="1"/>
              <a:t>18S</a:t>
            </a:r>
            <a:r>
              <a:rPr lang="zh-CN" altLang="en-US" sz="2800" b="1"/>
              <a:t>、</a:t>
            </a:r>
            <a:r>
              <a:rPr lang="en-US" altLang="zh-CN" sz="2800" b="1"/>
              <a:t>5.8S</a:t>
            </a:r>
            <a:r>
              <a:rPr lang="zh-CN" altLang="en-US" sz="2800" b="1"/>
              <a:t>和</a:t>
            </a:r>
            <a:r>
              <a:rPr lang="en-US" altLang="zh-CN" sz="2800" b="1"/>
              <a:t>28SrRNA</a:t>
            </a:r>
            <a:r>
              <a:rPr lang="zh-CN" altLang="en-US" sz="2800" b="1"/>
              <a:t>的前体是</a:t>
            </a:r>
            <a:r>
              <a:rPr lang="en-US" altLang="zh-CN" sz="2800" b="1"/>
              <a:t>45S</a:t>
            </a:r>
            <a:r>
              <a:rPr lang="zh-CN" altLang="en-US" sz="2800" b="1"/>
              <a:t>，是一个转录单位，</a:t>
            </a:r>
            <a:r>
              <a:rPr lang="en-US" altLang="zh-CN" sz="2800" b="1"/>
              <a:t>5SrRNA</a:t>
            </a:r>
            <a:r>
              <a:rPr lang="zh-CN" altLang="en-US" sz="2800" b="1"/>
              <a:t>是单独的一个转录单位。</a:t>
            </a:r>
            <a:endParaRPr kumimoji="0" lang="zh-CN" altLang="en-US" sz="28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pull dir="rd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028700"/>
            <a:ext cx="6121400" cy="64135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6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三、</a:t>
            </a:r>
            <a:r>
              <a:rPr lang="en-US" altLang="zh-CN" sz="36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RNA</a:t>
            </a:r>
            <a:r>
              <a:rPr lang="zh-CN" altLang="en-US" sz="36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指导下</a:t>
            </a:r>
            <a:r>
              <a:rPr lang="en-US" altLang="zh-CN" sz="36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RNA</a:t>
            </a:r>
            <a:r>
              <a:rPr lang="zh-CN" altLang="en-US" sz="36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和</a:t>
            </a:r>
            <a:r>
              <a:rPr lang="en-US" altLang="zh-CN" sz="36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DNA</a:t>
            </a:r>
            <a:r>
              <a:rPr lang="zh-CN" altLang="en-US" sz="36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合成</a:t>
            </a: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1403350" y="1851025"/>
            <a:ext cx="5256213" cy="1281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chemeClr val="accent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3200" b="1" dirty="0">
                <a:solidFill>
                  <a:schemeClr val="accent1"/>
                </a:solidFill>
                <a:latin typeface="宋体" panose="02010600030101010101" pitchFamily="2" charset="-122"/>
              </a:rPr>
              <a:t>一</a:t>
            </a:r>
            <a:r>
              <a:rPr lang="en-US" altLang="zh-CN" sz="3200" b="1" dirty="0">
                <a:solidFill>
                  <a:schemeClr val="accent1"/>
                </a:solidFill>
                <a:latin typeface="宋体" panose="02010600030101010101" pitchFamily="2" charset="-122"/>
              </a:rPr>
              <a:t>)RNA</a:t>
            </a:r>
            <a:r>
              <a:rPr lang="zh-CN" altLang="en-US" sz="3200" b="1" dirty="0">
                <a:solidFill>
                  <a:schemeClr val="accent1"/>
                </a:solidFill>
                <a:latin typeface="宋体" panose="02010600030101010101" pitchFamily="2" charset="-122"/>
              </a:rPr>
              <a:t>复制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chemeClr val="accent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3200" b="1" dirty="0">
                <a:solidFill>
                  <a:schemeClr val="accent1"/>
                </a:solidFill>
                <a:latin typeface="宋体" panose="02010600030101010101" pitchFamily="2" charset="-122"/>
              </a:rPr>
              <a:t>二</a:t>
            </a:r>
            <a:r>
              <a:rPr lang="en-US" altLang="zh-CN" sz="3200" b="1" dirty="0">
                <a:solidFill>
                  <a:schemeClr val="accent1"/>
                </a:solidFill>
                <a:latin typeface="宋体" panose="02010600030101010101" pitchFamily="2" charset="-122"/>
              </a:rPr>
              <a:t>)RNA</a:t>
            </a:r>
            <a:r>
              <a:rPr lang="zh-CN" altLang="en-US" sz="3200" b="1" dirty="0">
                <a:solidFill>
                  <a:schemeClr val="accent1"/>
                </a:solidFill>
                <a:latin typeface="宋体" panose="02010600030101010101" pitchFamily="2" charset="-122"/>
              </a:rPr>
              <a:t>逆转录</a:t>
            </a:r>
            <a:endParaRPr lang="en-US" altLang="zh-CN" sz="3200" b="1" dirty="0">
              <a:solidFill>
                <a:schemeClr val="accent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pull dir="rd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ChangeArrowheads="1"/>
          </p:cNvSpPr>
          <p:nvPr/>
        </p:nvSpPr>
        <p:spPr bwMode="auto">
          <a:xfrm>
            <a:off x="3492500" y="908050"/>
            <a:ext cx="15113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40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小结</a:t>
            </a:r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971550" y="1720850"/>
            <a:ext cx="6553200" cy="324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006600"/>
              </a:buClr>
              <a:buFont typeface="Wingdings" panose="05000000000000000000" pitchFamily="2" charset="2"/>
              <a:buChar char="Ø"/>
            </a:pPr>
            <a:r>
              <a:rPr kumimoji="0" lang="zh-CN" altLang="en-US" sz="2800" b="1"/>
              <a:t>模板链与编码链的区别</a:t>
            </a:r>
            <a:endParaRPr kumimoji="0" lang="en-US" altLang="zh-CN" sz="2800" b="1"/>
          </a:p>
          <a:p>
            <a:pPr eaLnBrk="1" hangingPunct="1">
              <a:lnSpc>
                <a:spcPct val="150000"/>
              </a:lnSpc>
              <a:buClr>
                <a:srgbClr val="006600"/>
              </a:buClr>
              <a:buFont typeface="Wingdings" panose="05000000000000000000" pitchFamily="2" charset="2"/>
              <a:buChar char="Ø"/>
            </a:pPr>
            <a:r>
              <a:rPr kumimoji="0" lang="zh-CN" altLang="en-US" sz="2800" b="1"/>
              <a:t>启动子的概念</a:t>
            </a:r>
            <a:endParaRPr kumimoji="0" lang="en-US" altLang="zh-CN" sz="2800" b="1"/>
          </a:p>
          <a:p>
            <a:pPr eaLnBrk="1" hangingPunct="1">
              <a:lnSpc>
                <a:spcPct val="150000"/>
              </a:lnSpc>
              <a:buClr>
                <a:srgbClr val="006600"/>
              </a:buClr>
              <a:buFont typeface="Wingdings" panose="05000000000000000000" pitchFamily="2" charset="2"/>
              <a:buChar char="Ø"/>
            </a:pPr>
            <a:r>
              <a:rPr kumimoji="0" lang="zh-CN" altLang="en-US" sz="2800" b="1"/>
              <a:t>顺式作用元件、反式作用因子</a:t>
            </a:r>
            <a:endParaRPr kumimoji="0" lang="en-US" altLang="zh-CN" sz="2800" b="1"/>
          </a:p>
          <a:p>
            <a:pPr eaLnBrk="1" hangingPunct="1">
              <a:lnSpc>
                <a:spcPct val="150000"/>
              </a:lnSpc>
              <a:buClr>
                <a:srgbClr val="006600"/>
              </a:buClr>
              <a:buFont typeface="Wingdings" panose="05000000000000000000" pitchFamily="2" charset="2"/>
              <a:buChar char="Ø"/>
            </a:pPr>
            <a:r>
              <a:rPr lang="zh-CN" altLang="en-US" sz="2800" b="1"/>
              <a:t>转录与复制的比较</a:t>
            </a:r>
          </a:p>
          <a:p>
            <a:pPr eaLnBrk="1" hangingPunct="1">
              <a:lnSpc>
                <a:spcPct val="150000"/>
              </a:lnSpc>
              <a:buClr>
                <a:srgbClr val="006600"/>
              </a:buClr>
              <a:buFont typeface="Wingdings" panose="05000000000000000000" pitchFamily="2" charset="2"/>
              <a:buChar char="Ø"/>
            </a:pPr>
            <a:r>
              <a:rPr lang="zh-CN" altLang="en-US" sz="2800" b="1"/>
              <a:t>真核生物</a:t>
            </a:r>
            <a:r>
              <a:rPr lang="en-US" altLang="zh-CN" sz="2800" b="1"/>
              <a:t>mRNA</a:t>
            </a:r>
            <a:r>
              <a:rPr lang="zh-CN" altLang="en-US" sz="2800" b="1"/>
              <a:t>转录后加工包括几方面</a:t>
            </a:r>
          </a:p>
        </p:txBody>
      </p:sp>
    </p:spTree>
  </p:cSld>
  <p:clrMapOvr>
    <a:masterClrMapping/>
  </p:clrMapOvr>
  <p:transition spd="med">
    <p:pull dir="rd"/>
  </p:transition>
</p:sld>
</file>

<file path=ppt/theme/theme1.xml><?xml version="1.0" encoding="utf-8"?>
<a:theme xmlns:a="http://schemas.openxmlformats.org/drawingml/2006/main" name="Bamboo">
  <a:themeElements>
    <a:clrScheme name="Bamboo 2">
      <a:dk1>
        <a:srgbClr val="000000"/>
      </a:dk1>
      <a:lt1>
        <a:srgbClr val="FFFFFF"/>
      </a:lt1>
      <a:dk2>
        <a:srgbClr val="003300"/>
      </a:dk2>
      <a:lt2>
        <a:srgbClr val="5F5F5F"/>
      </a:lt2>
      <a:accent1>
        <a:srgbClr val="009900"/>
      </a:accent1>
      <a:accent2>
        <a:srgbClr val="CC99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B98A00"/>
      </a:accent6>
      <a:hlink>
        <a:srgbClr val="FF3300"/>
      </a:hlink>
      <a:folHlink>
        <a:srgbClr val="663300"/>
      </a:folHlink>
    </a:clrScheme>
    <a:fontScheme name="Bamboo">
      <a:majorFont>
        <a:latin typeface="Arial Black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Bamboo 1">
        <a:dk1>
          <a:srgbClr val="000000"/>
        </a:dk1>
        <a:lt1>
          <a:srgbClr val="FFFFFF"/>
        </a:lt1>
        <a:dk2>
          <a:srgbClr val="396F39"/>
        </a:dk2>
        <a:lt2>
          <a:srgbClr val="FFCC00"/>
        </a:lt2>
        <a:accent1>
          <a:srgbClr val="009900"/>
        </a:accent1>
        <a:accent2>
          <a:srgbClr val="CC9900"/>
        </a:accent2>
        <a:accent3>
          <a:srgbClr val="AEBBAE"/>
        </a:accent3>
        <a:accent4>
          <a:srgbClr val="DADADA"/>
        </a:accent4>
        <a:accent5>
          <a:srgbClr val="AACAAA"/>
        </a:accent5>
        <a:accent6>
          <a:srgbClr val="B98A00"/>
        </a:accent6>
        <a:hlink>
          <a:srgbClr val="FF3300"/>
        </a:hlink>
        <a:folHlink>
          <a:srgbClr val="66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mboo 2">
        <a:dk1>
          <a:srgbClr val="000000"/>
        </a:dk1>
        <a:lt1>
          <a:srgbClr val="FFFFFF"/>
        </a:lt1>
        <a:dk2>
          <a:srgbClr val="003300"/>
        </a:dk2>
        <a:lt2>
          <a:srgbClr val="5F5F5F"/>
        </a:lt2>
        <a:accent1>
          <a:srgbClr val="0099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B98A00"/>
        </a:accent6>
        <a:hlink>
          <a:srgbClr val="FF3300"/>
        </a:hlink>
        <a:folHlink>
          <a:srgbClr val="66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mbo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mboo 4">
        <a:dk1>
          <a:srgbClr val="000000"/>
        </a:dk1>
        <a:lt1>
          <a:srgbClr val="FFFFFF"/>
        </a:lt1>
        <a:dk2>
          <a:srgbClr val="FF0000"/>
        </a:dk2>
        <a:lt2>
          <a:srgbClr val="800000"/>
        </a:lt2>
        <a:accent1>
          <a:srgbClr val="0080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AAC0AA"/>
        </a:accent5>
        <a:accent6>
          <a:srgbClr val="E78A00"/>
        </a:accent6>
        <a:hlink>
          <a:srgbClr val="CC3300"/>
        </a:hlink>
        <a:folHlink>
          <a:srgbClr val="6633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Designs\Bamboo.pot</Template>
  <TotalTime>993</TotalTime>
  <Words>2054</Words>
  <Application>Microsoft Office PowerPoint</Application>
  <PresentationFormat>全屏显示(4:3)</PresentationFormat>
  <Paragraphs>172</Paragraphs>
  <Slides>44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6" baseType="lpstr">
      <vt:lpstr>黑体</vt:lpstr>
      <vt:lpstr>华文楷体</vt:lpstr>
      <vt:lpstr>楷体_GB2312</vt:lpstr>
      <vt:lpstr>宋体</vt:lpstr>
      <vt:lpstr>Arial</vt:lpstr>
      <vt:lpstr>Arial Black</vt:lpstr>
      <vt:lpstr>Symbol</vt:lpstr>
      <vt:lpstr>Tahoma</vt:lpstr>
      <vt:lpstr>Times New Roman</vt:lpstr>
      <vt:lpstr>Wingdings</vt:lpstr>
      <vt:lpstr>Bamboo</vt:lpstr>
      <vt:lpstr>Image</vt:lpstr>
      <vt:lpstr>PowerPoint 演示文稿</vt:lpstr>
      <vt:lpstr>一、DNA指导下RNA的合成</vt:lpstr>
      <vt:lpstr>(一)概况</vt:lpstr>
      <vt:lpstr>PowerPoint 演示文稿</vt:lpstr>
      <vt:lpstr>PowerPoint 演示文稿</vt:lpstr>
      <vt:lpstr>PowerPoint 演示文稿</vt:lpstr>
      <vt:lpstr>PowerPoint 演示文稿</vt:lpstr>
      <vt:lpstr>(二)DNA指导的RNA聚合酶</vt:lpstr>
      <vt:lpstr>PowerPoint 演示文稿</vt:lpstr>
      <vt:lpstr>PowerPoint 演示文稿</vt:lpstr>
      <vt:lpstr>PowerPoint 演示文稿</vt:lpstr>
      <vt:lpstr>(三)原核生物的转录过程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二、RNA的转录后加工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三、RNA指导下RNA和DNA合成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HKThome</dc:creator>
  <cp:lastModifiedBy>KEN HUANG</cp:lastModifiedBy>
  <cp:revision>217</cp:revision>
  <dcterms:created xsi:type="dcterms:W3CDTF">1601-01-01T00:00:00Z</dcterms:created>
  <dcterms:modified xsi:type="dcterms:W3CDTF">2026-06-11T07:31:21Z</dcterms:modified>
</cp:coreProperties>
</file>