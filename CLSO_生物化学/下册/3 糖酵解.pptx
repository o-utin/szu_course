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03" r:id="rId3"/>
    <p:sldId id="405" r:id="rId5"/>
    <p:sldId id="507" r:id="rId6"/>
    <p:sldId id="428" r:id="rId7"/>
    <p:sldId id="256" r:id="rId8"/>
    <p:sldId id="432" r:id="rId9"/>
    <p:sldId id="446" r:id="rId10"/>
    <p:sldId id="347" r:id="rId11"/>
    <p:sldId id="349" r:id="rId12"/>
    <p:sldId id="467" r:id="rId13"/>
    <p:sldId id="451" r:id="rId14"/>
    <p:sldId id="469" r:id="rId15"/>
    <p:sldId id="389" r:id="rId16"/>
    <p:sldId id="351" r:id="rId17"/>
    <p:sldId id="353" r:id="rId18"/>
    <p:sldId id="352" r:id="rId19"/>
    <p:sldId id="466" r:id="rId20"/>
    <p:sldId id="354" r:id="rId21"/>
    <p:sldId id="392" r:id="rId22"/>
    <p:sldId id="355" r:id="rId23"/>
    <p:sldId id="356" r:id="rId24"/>
    <p:sldId id="357" r:id="rId25"/>
    <p:sldId id="465" r:id="rId26"/>
    <p:sldId id="358" r:id="rId27"/>
    <p:sldId id="449" r:id="rId28"/>
    <p:sldId id="398" r:id="rId29"/>
    <p:sldId id="359" r:id="rId30"/>
    <p:sldId id="470" r:id="rId31"/>
    <p:sldId id="471" r:id="rId32"/>
    <p:sldId id="472" r:id="rId33"/>
    <p:sldId id="473" r:id="rId34"/>
    <p:sldId id="474" r:id="rId35"/>
    <p:sldId id="475" r:id="rId36"/>
    <p:sldId id="476" r:id="rId37"/>
    <p:sldId id="477" r:id="rId38"/>
    <p:sldId id="478" r:id="rId39"/>
    <p:sldId id="479" r:id="rId40"/>
    <p:sldId id="480" r:id="rId41"/>
    <p:sldId id="482" r:id="rId42"/>
    <p:sldId id="483" r:id="rId43"/>
    <p:sldId id="484" r:id="rId44"/>
    <p:sldId id="485" r:id="rId45"/>
    <p:sldId id="486" r:id="rId46"/>
    <p:sldId id="487" r:id="rId47"/>
    <p:sldId id="488" r:id="rId48"/>
    <p:sldId id="489" r:id="rId49"/>
    <p:sldId id="490" r:id="rId50"/>
    <p:sldId id="491" r:id="rId51"/>
    <p:sldId id="509" r:id="rId52"/>
    <p:sldId id="510" r:id="rId53"/>
    <p:sldId id="492" r:id="rId54"/>
    <p:sldId id="493" r:id="rId55"/>
    <p:sldId id="494" r:id="rId56"/>
    <p:sldId id="495" r:id="rId57"/>
    <p:sldId id="496" r:id="rId58"/>
    <p:sldId id="497" r:id="rId59"/>
    <p:sldId id="498" r:id="rId60"/>
    <p:sldId id="499" r:id="rId61"/>
    <p:sldId id="500" r:id="rId62"/>
    <p:sldId id="502" r:id="rId63"/>
    <p:sldId id="503" r:id="rId64"/>
    <p:sldId id="508" r:id="rId65"/>
    <p:sldId id="505" r:id="rId66"/>
    <p:sldId id="506" r:id="rId67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79"/>
    <p:restoredTop sz="90000"/>
  </p:normalViewPr>
  <p:slideViewPr>
    <p:cSldViewPr showGuides="1">
      <p:cViewPr>
        <p:scale>
          <a:sx n="66" d="100"/>
          <a:sy n="66" d="100"/>
        </p:scale>
        <p:origin x="3226" y="10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8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0" Type="http://schemas.openxmlformats.org/officeDocument/2006/relationships/tableStyles" Target="tableStyles.xml"/><Relationship Id="rId7" Type="http://schemas.openxmlformats.org/officeDocument/2006/relationships/slide" Target="slides/slide4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itchFamily="2" charset="-122"/>
              <a:cs typeface="+mn-cs"/>
            </a:endParaRP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80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itchFamily="2" charset="-122"/>
              <a:cs typeface="+mn-cs"/>
            </a:endParaRPr>
          </a:p>
        </p:txBody>
      </p:sp>
      <p:sp>
        <p:nvSpPr>
          <p:cNvPr id="1280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itchFamily="2" charset="-122"/>
              <a:cs typeface="+mn-cs"/>
            </a:endParaRPr>
          </a:p>
        </p:txBody>
      </p:sp>
      <p:sp>
        <p:nvSpPr>
          <p:cNvPr id="1280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Times New Roman" panose="02020603050405020304" charset="0"/>
              </a:rPr>
            </a:fld>
            <a:endParaRPr lang="zh-CN" altLang="en-US" sz="1200" dirty="0">
              <a:latin typeface="Times New Roman" panose="020206030504050203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409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14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人类食物中的糖主要有植物淀粉和动物糖原以及麦芽糖、蔗糖、乳糖、葡萄糖等 。食物中含有的大量 纤维素，因人体内无</a:t>
            </a:r>
            <a:r>
              <a:rPr lang="en-US" altLang="zh-CN" dirty="0"/>
              <a:t>B-</a:t>
            </a:r>
            <a:r>
              <a:rPr lang="zh-CN" altLang="en-US" dirty="0"/>
              <a:t>糖苷酶而不能对其分解利用，但却具有刺激肠蠕动等作用，也为维持健康所必需。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1433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2048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2253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2457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2765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3072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3277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3481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3789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4403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>
          <a:xfrm>
            <a:off x="304800" y="4343400"/>
            <a:ext cx="64008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sz="3200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碘乙酸</a:t>
            </a:r>
            <a:r>
              <a:rPr lang="zh-CN" altLang="en-US" dirty="0"/>
              <a:t>可强烈抑制</a:t>
            </a:r>
            <a:r>
              <a:rPr lang="en-US" altLang="zh-CN" dirty="0"/>
              <a:t>3-</a:t>
            </a:r>
            <a:r>
              <a:rPr lang="zh-CN" altLang="en-US" dirty="0"/>
              <a:t>磷酸甘油醛脱氢酶的活性。</a:t>
            </a:r>
            <a:endParaRPr lang="zh-CN" altLang="en-US" dirty="0"/>
          </a:p>
          <a:p>
            <a:pPr lvl="0" eaLnBrk="1" hangingPunct="1"/>
            <a:r>
              <a:rPr lang="zh-CN" altLang="en-US" dirty="0"/>
              <a:t>        砷酸盐因与磷酸的结构相似可替代磷酸而生成</a:t>
            </a:r>
            <a:r>
              <a:rPr lang="en-US" altLang="zh-CN" dirty="0"/>
              <a:t>1-</a:t>
            </a:r>
            <a:r>
              <a:rPr lang="zh-CN" altLang="en-US" dirty="0"/>
              <a:t>砷酸盐</a:t>
            </a:r>
            <a:r>
              <a:rPr lang="en-US" altLang="zh-CN" dirty="0"/>
              <a:t>-3-</a:t>
            </a:r>
            <a:r>
              <a:rPr lang="zh-CN" altLang="en-US" dirty="0"/>
              <a:t>磷酸甘油酸，但后者不稳定，极易分解成</a:t>
            </a:r>
            <a:r>
              <a:rPr lang="en-US" altLang="zh-CN" dirty="0"/>
              <a:t>3-</a:t>
            </a:r>
            <a:r>
              <a:rPr lang="zh-CN" altLang="en-US" dirty="0"/>
              <a:t>磷酸甘油酸。这样就使</a:t>
            </a:r>
            <a:r>
              <a:rPr lang="en-US" altLang="zh-CN" dirty="0"/>
              <a:t>1,3-</a:t>
            </a:r>
            <a:r>
              <a:rPr lang="zh-CN" altLang="en-US" dirty="0"/>
              <a:t>二磷酸甘油酸的步骤省略，没有脱氢反应和一步底物水平磷酸化，使能量生成受到影响。</a:t>
            </a:r>
            <a:endParaRPr lang="zh-CN" altLang="en-US" dirty="0"/>
          </a:p>
          <a:p>
            <a:pPr lvl="0" eaLnBrk="1" hangingPunct="1"/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1,3-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二磷酸甘油酸是一个酰基磷酸。酰基磷酸是具有高能磷酸基团转移势能的化合物。</a:t>
            </a:r>
            <a:endParaRPr lang="zh-CN" altLang="en-US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0" eaLnBrk="1" hangingPunct="1"/>
            <a:endParaRPr lang="zh-CN" altLang="en-US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4915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是糖酵解开始收获的阶段。在此过程中产生了第一个</a:t>
            </a:r>
            <a:r>
              <a:rPr lang="en-US" altLang="zh-CN" dirty="0"/>
              <a:t>ATP</a:t>
            </a:r>
            <a:r>
              <a:rPr lang="zh-CN" altLang="en-US" dirty="0"/>
              <a:t>分子。贮存了</a:t>
            </a:r>
            <a:r>
              <a:rPr lang="en-US" altLang="zh-CN" dirty="0"/>
              <a:t>30.5kJ</a:t>
            </a:r>
            <a:r>
              <a:rPr lang="zh-CN" altLang="en-US" dirty="0"/>
              <a:t>的能量</a:t>
            </a:r>
            <a:r>
              <a:rPr lang="en-US" altLang="zh-CN" dirty="0"/>
              <a:t>. 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5325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5734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sz="2400" dirty="0"/>
              <a:t>细胞中</a:t>
            </a:r>
            <a:r>
              <a:rPr lang="en-US" altLang="zh-CN" sz="2400" dirty="0"/>
              <a:t>, </a:t>
            </a:r>
            <a:r>
              <a:rPr lang="zh-CN" altLang="en-US" sz="2400" dirty="0"/>
              <a:t>比自由能变化近似于</a:t>
            </a:r>
            <a:r>
              <a:rPr lang="en-US" altLang="zh-CN" sz="2400" dirty="0"/>
              <a:t>0. </a:t>
            </a:r>
            <a:r>
              <a:rPr lang="zh-CN" altLang="en-US" sz="2400" dirty="0"/>
              <a:t>氟化物能与镁离子形成络合物而抑抑烯醇化酶的作用。</a:t>
            </a:r>
            <a:endParaRPr lang="zh-CN" altLang="en-US" sz="24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041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3491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特点：</a:t>
            </a:r>
            <a:r>
              <a:rPr lang="en-US" altLang="zh-CN" dirty="0"/>
              <a:t>1 </a:t>
            </a:r>
            <a:r>
              <a:rPr lang="zh-CN" altLang="en-US" dirty="0"/>
              <a:t>磷酸基团的传递，在糖酵解过程中极为重要。</a:t>
            </a:r>
            <a:r>
              <a:rPr lang="en-US" altLang="zh-CN" dirty="0"/>
              <a:t>2 </a:t>
            </a:r>
            <a:r>
              <a:rPr lang="zh-CN" altLang="en-US" dirty="0"/>
              <a:t>出现了两个高能中间体，具有向</a:t>
            </a:r>
            <a:r>
              <a:rPr lang="en-US" altLang="zh-CN" dirty="0"/>
              <a:t>ADP</a:t>
            </a:r>
            <a:r>
              <a:rPr lang="zh-CN" altLang="en-US" dirty="0"/>
              <a:t>转移能量的势能。</a:t>
            </a:r>
            <a:r>
              <a:rPr lang="en-US" altLang="zh-CN" dirty="0"/>
              <a:t>3 </a:t>
            </a:r>
            <a:r>
              <a:rPr lang="zh-CN" altLang="en-US" dirty="0"/>
              <a:t>几个重要名辞概念</a:t>
            </a:r>
            <a:endParaRPr lang="en-US" altLang="zh-CN" dirty="0"/>
          </a:p>
          <a:p>
            <a:pPr lvl="0" eaLnBrk="1" hangingPunct="1"/>
            <a:r>
              <a:rPr lang="zh-CN" altLang="en-US" dirty="0"/>
              <a:t>  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5539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758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69635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b="1" dirty="0">
                <a:solidFill>
                  <a:srgbClr val="000000"/>
                </a:solidFill>
              </a:rPr>
              <a:t>若糖酵解过度，可因乳酸生成过多而导致乳酸中毒。</a:t>
            </a:r>
            <a:endParaRPr lang="zh-CN" altLang="en-US" b="1" dirty="0">
              <a:solidFill>
                <a:srgbClr val="000000"/>
              </a:solidFill>
            </a:endParaRPr>
          </a:p>
          <a:p>
            <a:pPr lvl="0" eaLnBrk="1" hangingPunct="1"/>
            <a:r>
              <a:rPr lang="en-US" altLang="zh-CN" b="1" dirty="0">
                <a:solidFill>
                  <a:srgbClr val="000000"/>
                </a:solidFill>
              </a:rPr>
              <a:t>1.</a:t>
            </a:r>
            <a:r>
              <a:rPr lang="zh-CN" altLang="en-US" b="1" dirty="0">
                <a:solidFill>
                  <a:srgbClr val="000000"/>
                </a:solidFill>
              </a:rPr>
              <a:t>供能</a:t>
            </a:r>
            <a:endParaRPr lang="zh-CN" altLang="en-US" b="1" dirty="0">
              <a:solidFill>
                <a:srgbClr val="000000"/>
              </a:solidFill>
            </a:endParaRPr>
          </a:p>
          <a:p>
            <a:pPr lvl="0" eaLnBrk="1" hangingPunct="1"/>
            <a:r>
              <a:rPr lang="en-US" altLang="zh-CN" b="1" dirty="0">
                <a:solidFill>
                  <a:srgbClr val="000000"/>
                </a:solidFill>
              </a:rPr>
              <a:t>2.</a:t>
            </a:r>
            <a:r>
              <a:rPr lang="zh-CN" altLang="en-US" b="1" dirty="0">
                <a:solidFill>
                  <a:srgbClr val="000000"/>
                </a:solidFill>
              </a:rPr>
              <a:t>提供生物合成所需的物质</a:t>
            </a:r>
            <a:endParaRPr lang="zh-CN" altLang="en-US" b="1" dirty="0">
              <a:solidFill>
                <a:srgbClr val="000000"/>
              </a:solidFill>
            </a:endParaRPr>
          </a:p>
          <a:p>
            <a:pPr lvl="0" eaLnBrk="1" hangingPunct="1"/>
            <a:r>
              <a:rPr lang="en-US" altLang="zh-CN" b="1" dirty="0">
                <a:solidFill>
                  <a:srgbClr val="000000"/>
                </a:solidFill>
              </a:rPr>
              <a:t>3.</a:t>
            </a:r>
            <a:r>
              <a:rPr lang="zh-CN" altLang="en-US" b="1" dirty="0">
                <a:solidFill>
                  <a:srgbClr val="000000"/>
                </a:solidFill>
              </a:rPr>
              <a:t>糖酵解不仅是葡萄糖的降解途径，也是其它一些单糖的分解代谢途径。</a:t>
            </a:r>
            <a:endParaRPr lang="zh-CN" altLang="en-US" b="1" dirty="0">
              <a:solidFill>
                <a:srgbClr val="000000"/>
              </a:solidFill>
            </a:endParaRPr>
          </a:p>
          <a:p>
            <a:pPr lvl="0" eaLnBrk="1" hangingPunct="1"/>
            <a:r>
              <a:rPr lang="en-US" altLang="zh-CN" b="1" dirty="0">
                <a:solidFill>
                  <a:srgbClr val="000000"/>
                </a:solidFill>
              </a:rPr>
              <a:t>4.</a:t>
            </a:r>
            <a:r>
              <a:rPr lang="zh-CN" altLang="en-US" b="1" dirty="0">
                <a:solidFill>
                  <a:srgbClr val="000000"/>
                </a:solidFill>
              </a:rPr>
              <a:t>为糖的彻底降解作了准备</a:t>
            </a:r>
            <a:endParaRPr lang="zh-CN" altLang="en-US" b="1" dirty="0">
              <a:solidFill>
                <a:srgbClr val="000000"/>
              </a:solidFill>
            </a:endParaRPr>
          </a:p>
          <a:p>
            <a:pPr lvl="0" eaLnBrk="1" hangingPunct="1"/>
            <a:endParaRPr lang="zh-CN" altLang="en-US" b="1" dirty="0"/>
          </a:p>
          <a:p>
            <a:pPr lvl="0" eaLnBrk="1" hangingPunct="1"/>
            <a:endParaRPr lang="zh-CN" altLang="en-US" b="1" dirty="0">
              <a:solidFill>
                <a:srgbClr val="000000"/>
              </a:solidFill>
            </a:endParaRPr>
          </a:p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72707" name="Rectangle 2"/>
          <p:cNvSpPr>
            <a:spLocks noRot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/>
        </p:spPr>
      </p:sp>
      <p:sp>
        <p:nvSpPr>
          <p:cNvPr id="7270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丙酮酸通过载体可扩散穿过线粒体内膜，但条件是生成的</a:t>
            </a:r>
            <a:r>
              <a:rPr lang="en-US" altLang="zh-CN" dirty="0"/>
              <a:t>NADH</a:t>
            </a:r>
            <a:r>
              <a:rPr lang="zh-CN" altLang="en-US" dirty="0"/>
              <a:t>必须移去，而这在缺氧时又不可能。因而，在无氧条件下，丙酮酸接受氢还原为乳酸。这里我们可把氧视为将反应拨到一个方向或另一个方向的开关。</a:t>
            </a:r>
            <a:endParaRPr lang="zh-CN" altLang="en-US" dirty="0"/>
          </a:p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7680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丙酮酸脱羧酶在动物细胞中不存在。</a:t>
            </a:r>
            <a:endParaRPr lang="zh-CN" altLang="en-US" dirty="0"/>
          </a:p>
          <a:p>
            <a:pPr lvl="0" eaLnBrk="1" hangingPunct="1"/>
            <a:r>
              <a:rPr lang="zh-CN" altLang="en-US" dirty="0">
                <a:solidFill>
                  <a:srgbClr val="000000"/>
                </a:solidFill>
              </a:rPr>
              <a:t>酵解和酒精发酵基本路线完全相同，只是在形成丙酮酸以后才有差异。丙酮酸转化为乳酸时称为酵解；丙酮酸转化为乙醛、乙酸时，称为</a:t>
            </a:r>
            <a:r>
              <a:rPr lang="zh-CN" altLang="en-US" dirty="0">
                <a:solidFill>
                  <a:srgbClr val="FF0000"/>
                </a:solidFill>
              </a:rPr>
              <a:t>发酵</a:t>
            </a:r>
            <a:endParaRPr lang="zh-CN" altLang="en-US" dirty="0">
              <a:solidFill>
                <a:srgbClr val="FF0000"/>
              </a:solidFill>
            </a:endParaRPr>
          </a:p>
          <a:p>
            <a:pPr lvl="0" eaLnBrk="1" hangingPunct="1"/>
            <a:r>
              <a:rPr lang="zh-CN" altLang="en-US" dirty="0"/>
              <a:t>生物能源：乙醇代替汽油。</a:t>
            </a:r>
            <a:r>
              <a:rPr lang="en-US" altLang="zh-CN" dirty="0"/>
              <a:t>1</a:t>
            </a:r>
            <a:r>
              <a:rPr lang="zh-CN" altLang="en-US" dirty="0"/>
              <a:t>）自然界的多糖如何水解成为</a:t>
            </a:r>
            <a:r>
              <a:rPr lang="en-US" altLang="zh-CN" dirty="0"/>
              <a:t>G</a:t>
            </a:r>
            <a:r>
              <a:rPr lang="zh-CN" altLang="en-US" dirty="0"/>
              <a:t>；</a:t>
            </a:r>
            <a:r>
              <a:rPr lang="en-US" altLang="zh-CN" dirty="0"/>
              <a:t>2</a:t>
            </a:r>
            <a:r>
              <a:rPr lang="zh-CN" altLang="en-US" dirty="0"/>
              <a:t>）在粗糙条件下，可以高效发酵。巴西：蔗糖发酵产乙醇，美国：纤维素产乙醇。</a:t>
            </a:r>
            <a:endParaRPr lang="zh-CN" altLang="en-US" dirty="0"/>
          </a:p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82947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因为糖酵解作用不只是在缺氧条件下提供能量，也为生物合成提供碳骨架，因此，碳骨架需要的情况也必然影响酵解作用的速度。</a:t>
            </a:r>
            <a:endParaRPr lang="zh-CN" altLang="en-US" dirty="0"/>
          </a:p>
          <a:p>
            <a:pPr lvl="0" eaLnBrk="1" hangingPunct="1"/>
            <a:r>
              <a:rPr lang="zh-CN" altLang="en-US" b="1" dirty="0">
                <a:solidFill>
                  <a:srgbClr val="000000"/>
                </a:solidFill>
              </a:rPr>
              <a:t>磷酸果糖激酶是酵解过程中最重要的调节酶，酵解速度主要取决于该酶活性，因此它是一个</a:t>
            </a:r>
            <a:r>
              <a:rPr lang="zh-CN" altLang="en-US" b="1" dirty="0">
                <a:solidFill>
                  <a:srgbClr val="FF0000"/>
                </a:solidFill>
              </a:rPr>
              <a:t>限速酶</a:t>
            </a:r>
            <a:r>
              <a:rPr lang="zh-CN" altLang="en-US" b="1" dirty="0">
                <a:solidFill>
                  <a:srgbClr val="000000"/>
                </a:solidFill>
              </a:rPr>
              <a:t>。</a:t>
            </a:r>
            <a:endParaRPr lang="zh-CN" altLang="en-US" b="1" dirty="0">
              <a:solidFill>
                <a:srgbClr val="000000"/>
              </a:solidFill>
            </a:endParaRPr>
          </a:p>
          <a:p>
            <a:pPr lvl="0" eaLnBrk="1" hangingPunct="1"/>
            <a:endParaRPr lang="zh-CN" altLang="en-US" b="1" dirty="0">
              <a:solidFill>
                <a:srgbClr val="3333FF"/>
              </a:solidFill>
            </a:endParaRPr>
          </a:p>
          <a:p>
            <a:pPr lvl="0" eaLnBrk="1" hangingPunct="1"/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dirty="0">
                <a:solidFill>
                  <a:srgbClr val="FF0000"/>
                </a:solidFill>
                <a:latin typeface="Arial" panose="02080604020202020204" pitchFamily="34" charset="0"/>
              </a:rPr>
              <a:t>—</a:t>
            </a:r>
            <a:r>
              <a:rPr lang="zh-CN" altLang="en-US" b="1" dirty="0">
                <a:solidFill>
                  <a:srgbClr val="FF0000"/>
                </a:solidFill>
              </a:rPr>
              <a:t>二磷酸果糖</a:t>
            </a:r>
            <a:r>
              <a:rPr lang="zh-CN" altLang="en-US" b="1" dirty="0">
                <a:solidFill>
                  <a:srgbClr val="000000"/>
                </a:solidFill>
              </a:rPr>
              <a:t>是磷酸果糖激酶的变构激活剂，增加该酶与其底物的亲和力。</a:t>
            </a:r>
            <a:endParaRPr lang="zh-CN" altLang="en-US" b="1" dirty="0">
              <a:solidFill>
                <a:srgbClr val="000000"/>
              </a:solidFill>
            </a:endParaRPr>
          </a:p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80604020202020204" pitchFamily="34" charset="0"/>
              </a:rPr>
            </a:fld>
            <a:endParaRPr lang="en-US" altLang="zh-CN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80604020202020204" pitchFamily="34" charset="0"/>
              </a:rPr>
            </a:fld>
            <a:endParaRPr lang="en-US" altLang="zh-CN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80604020202020204" pitchFamily="34" charset="0"/>
              </a:rPr>
            </a:fld>
            <a:endParaRPr lang="en-US" altLang="zh-CN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80604020202020204" pitchFamily="34" charset="0"/>
              </a:rPr>
            </a:fld>
            <a:endParaRPr lang="en-US" altLang="zh-CN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80604020202020204" pitchFamily="34" charset="0"/>
              </a:rPr>
            </a:fld>
            <a:endParaRPr lang="en-US" altLang="zh-CN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80604020202020204" pitchFamily="34" charset="0"/>
              </a:rPr>
            </a:fld>
            <a:endParaRPr lang="en-US" altLang="zh-CN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80604020202020204" pitchFamily="34" charset="0"/>
              </a:rPr>
            </a:fld>
            <a:endParaRPr lang="en-US" altLang="zh-CN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80604020202020204" pitchFamily="34" charset="0"/>
              </a:rPr>
            </a:fld>
            <a:endParaRPr lang="en-US" altLang="zh-CN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80604020202020204" pitchFamily="34" charset="0"/>
              </a:rPr>
            </a:fld>
            <a:endParaRPr lang="en-US" altLang="zh-CN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80604020202020204" pitchFamily="34" charset="0"/>
              </a:rPr>
            </a:fld>
            <a:endParaRPr lang="en-US" altLang="zh-CN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80604020202020204" pitchFamily="34" charset="0"/>
              </a:rPr>
            </a:fld>
            <a:endParaRPr lang="en-US" altLang="zh-CN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anose="0208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anose="0208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80604020202020204" pitchFamily="34" charset="0"/>
              </a:rPr>
            </a:fld>
            <a:endParaRPr lang="en-US" altLang="zh-CN" dirty="0">
              <a:latin typeface="Arial" panose="0208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GIF"/><Relationship Id="rId1" Type="http://schemas.openxmlformats.org/officeDocument/2006/relationships/hyperlink" Target="http://www.biochemsoctrans.org/bst/032/0255/bst0320255.htm&#8212;&#8212;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wmf"/><Relationship Id="rId1" Type="http://schemas.openxmlformats.org/officeDocument/2006/relationships/image" Target="../media/image25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6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wmf"/><Relationship Id="rId3" Type="http://schemas.openxmlformats.org/officeDocument/2006/relationships/image" Target="../media/image38.wmf"/><Relationship Id="rId2" Type="http://schemas.openxmlformats.org/officeDocument/2006/relationships/image" Target="../media/image22.wmf"/><Relationship Id="rId1" Type="http://schemas.openxmlformats.org/officeDocument/2006/relationships/image" Target="../media/image37.w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jpe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074" name="Rectangle 2"/>
          <p:cNvSpPr/>
          <p:nvPr/>
        </p:nvSpPr>
        <p:spPr>
          <a:xfrm>
            <a:off x="755650" y="981075"/>
            <a:ext cx="7489825" cy="51133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氧化供能</a:t>
            </a:r>
            <a:endParaRPr lang="zh-CN" altLang="en-US" sz="2400" dirty="0">
              <a:solidFill>
                <a:srgbClr val="0000FF"/>
              </a:solidFill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    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1g</a:t>
            </a:r>
            <a:r>
              <a:rPr lang="zh-CN" altLang="zh-CN" sz="2400" dirty="0">
                <a:latin typeface="隶书" pitchFamily="49" charset="-122"/>
                <a:ea typeface="隶书" pitchFamily="49" charset="-122"/>
              </a:rPr>
              <a:t>葡萄糖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            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16.7kJ</a:t>
            </a:r>
            <a:endParaRPr lang="en-US" altLang="zh-CN" sz="2400" dirty="0"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lnSpc>
                <a:spcPct val="95000"/>
              </a:lnSpc>
              <a:spcBef>
                <a:spcPct val="10000"/>
              </a:spcBef>
              <a:buFontTx/>
              <a:buNone/>
            </a:pP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   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正常情况下约占机体所需总能量的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50-70%</a:t>
            </a:r>
            <a:endParaRPr lang="en-US" altLang="zh-CN" sz="2400" dirty="0"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spcBef>
                <a:spcPct val="1000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基本结构成分</a:t>
            </a:r>
            <a:endParaRPr lang="zh-CN" altLang="en-US" sz="2400" dirty="0">
              <a:solidFill>
                <a:srgbClr val="0000FF"/>
              </a:solidFill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spcBef>
                <a:spcPct val="10000"/>
              </a:spcBef>
              <a:buFontTx/>
              <a:buNone/>
            </a:pP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1.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核糖和脱氧核糖是核酸的基本组成成分；</a:t>
            </a:r>
            <a:endParaRPr lang="zh-CN" altLang="en-US" sz="2400" dirty="0"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spcBef>
                <a:spcPct val="10000"/>
              </a:spcBef>
              <a:buFontTx/>
              <a:buNone/>
            </a:pPr>
            <a:r>
              <a:rPr lang="en-US" altLang="zh-CN" sz="2400" dirty="0">
                <a:latin typeface="Times New Roman" panose="02020603050405020304" charset="0"/>
                <a:ea typeface="隶书" pitchFamily="49" charset="-122"/>
              </a:rPr>
              <a:t>2. </a:t>
            </a:r>
            <a:r>
              <a:rPr lang="zh-CN" altLang="en-US" sz="2400" dirty="0">
                <a:latin typeface="Times New Roman" panose="02020603050405020304" charset="0"/>
                <a:ea typeface="隶书" pitchFamily="49" charset="-122"/>
              </a:rPr>
              <a:t>糖与脂类或蛋白质结合形成</a:t>
            </a:r>
            <a:r>
              <a:rPr lang="zh-CN" altLang="en-US" sz="2400" dirty="0">
                <a:solidFill>
                  <a:srgbClr val="3333FF"/>
                </a:solidFill>
                <a:latin typeface="Times New Roman" panose="02020603050405020304" charset="0"/>
                <a:ea typeface="隶书" pitchFamily="49" charset="-122"/>
              </a:rPr>
              <a:t>糖脂或糖蛋白</a:t>
            </a:r>
            <a:r>
              <a:rPr lang="en-US" altLang="zh-CN" sz="2400" dirty="0">
                <a:latin typeface="Times New Roman" panose="02020603050405020304" charset="0"/>
                <a:ea typeface="隶书" pitchFamily="49" charset="-122"/>
              </a:rPr>
              <a:t>/</a:t>
            </a:r>
            <a:r>
              <a:rPr lang="zh-CN" altLang="en-US" sz="2400" dirty="0">
                <a:latin typeface="Times New Roman" panose="02020603050405020304" charset="0"/>
                <a:ea typeface="隶书" pitchFamily="49" charset="-122"/>
              </a:rPr>
              <a:t>蛋白聚糖  </a:t>
            </a:r>
            <a:endParaRPr lang="zh-CN" altLang="en-US" sz="2400" dirty="0">
              <a:latin typeface="Times New Roman" panose="02020603050405020304" charset="0"/>
              <a:ea typeface="隶书" pitchFamily="49" charset="-122"/>
            </a:endParaRPr>
          </a:p>
          <a:p>
            <a:pPr marL="342900" lvl="0" indent="-342900" eaLnBrk="1" hangingPunct="1">
              <a:spcBef>
                <a:spcPct val="10000"/>
              </a:spcBef>
              <a:buFontTx/>
              <a:buNone/>
            </a:pPr>
            <a:r>
              <a:rPr lang="zh-CN" altLang="en-US" sz="2400" dirty="0">
                <a:latin typeface="Times New Roman" panose="02020603050405020304" charset="0"/>
                <a:ea typeface="隶书" pitchFamily="49" charset="-122"/>
              </a:rPr>
              <a:t>    （统称糖复合物）。 糖复合物不仅是细胞的结构分</a:t>
            </a:r>
            <a:endParaRPr lang="zh-CN" altLang="en-US" sz="2400" dirty="0">
              <a:latin typeface="Times New Roman" panose="02020603050405020304" charset="0"/>
              <a:ea typeface="隶书" pitchFamily="49" charset="-122"/>
            </a:endParaRPr>
          </a:p>
          <a:p>
            <a:pPr marL="342900" lvl="0" indent="-342900" eaLnBrk="1" hangingPunct="1">
              <a:spcBef>
                <a:spcPct val="10000"/>
              </a:spcBef>
              <a:buFontTx/>
              <a:buNone/>
            </a:pPr>
            <a:r>
              <a:rPr lang="zh-CN" altLang="en-US" sz="2400" dirty="0">
                <a:latin typeface="Times New Roman" panose="02020603050405020304" charset="0"/>
                <a:ea typeface="隶书" pitchFamily="49" charset="-122"/>
              </a:rPr>
              <a:t>     子，而且是</a:t>
            </a:r>
            <a:r>
              <a:rPr lang="zh-CN" altLang="en-US" sz="2400" dirty="0">
                <a:solidFill>
                  <a:srgbClr val="3333FF"/>
                </a:solidFill>
                <a:latin typeface="Times New Roman" panose="02020603050405020304" charset="0"/>
                <a:ea typeface="隶书" pitchFamily="49" charset="-122"/>
              </a:rPr>
              <a:t>信息分子</a:t>
            </a:r>
            <a:r>
              <a:rPr lang="zh-CN" altLang="en-US" sz="2400" dirty="0">
                <a:latin typeface="Times New Roman" panose="02020603050405020304" charset="0"/>
                <a:ea typeface="隶书" pitchFamily="49" charset="-122"/>
              </a:rPr>
              <a:t>。</a:t>
            </a:r>
            <a:endParaRPr lang="zh-CN" altLang="en-US" sz="2400" dirty="0">
              <a:latin typeface="Times New Roman" panose="02020603050405020304" charset="0"/>
              <a:ea typeface="隶书" pitchFamily="49" charset="-122"/>
            </a:endParaRPr>
          </a:p>
          <a:p>
            <a:pPr marL="342900" lvl="0" indent="-342900" eaLnBrk="1" hangingPunct="1">
              <a:spcBef>
                <a:spcPct val="1000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特殊生理功能的活性物质</a:t>
            </a:r>
            <a:endParaRPr lang="en-US" altLang="zh-CN" sz="2400" dirty="0">
              <a:solidFill>
                <a:srgbClr val="0000FF"/>
              </a:solidFill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spcBef>
                <a:spcPct val="10000"/>
              </a:spcBef>
              <a:buFontTx/>
              <a:buNone/>
            </a:pPr>
            <a:r>
              <a:rPr lang="zh-CN" altLang="en-US" sz="2400" dirty="0">
                <a:latin typeface="Times New Roman" panose="02020603050405020304" charset="0"/>
                <a:ea typeface="隶书" pitchFamily="49" charset="-122"/>
              </a:rPr>
              <a:t>      体内许多具有重要功能的蛋白质都是糖蛋白，如抗</a:t>
            </a:r>
            <a:endParaRPr lang="zh-CN" altLang="en-US" sz="2400" dirty="0">
              <a:latin typeface="Times New Roman" panose="02020603050405020304" charset="0"/>
              <a:ea typeface="隶书" pitchFamily="49" charset="-122"/>
            </a:endParaRPr>
          </a:p>
          <a:p>
            <a:pPr marL="342900" lvl="0" indent="-342900" eaLnBrk="1" hangingPunct="1">
              <a:spcBef>
                <a:spcPct val="10000"/>
              </a:spcBef>
              <a:buFontTx/>
              <a:buNone/>
            </a:pPr>
            <a:r>
              <a:rPr lang="zh-CN" altLang="en-US" sz="2400" dirty="0">
                <a:latin typeface="Times New Roman" panose="02020603050405020304" charset="0"/>
                <a:ea typeface="隶书" pitchFamily="49" charset="-122"/>
              </a:rPr>
              <a:t>      体、血型物质、许多酶类和凝血因子等等。</a:t>
            </a:r>
            <a:endParaRPr lang="zh-CN" altLang="en-US" sz="2400" dirty="0">
              <a:latin typeface="Times New Roman" panose="02020603050405020304" charset="0"/>
              <a:ea typeface="隶书" pitchFamily="49" charset="-122"/>
            </a:endParaRPr>
          </a:p>
          <a:p>
            <a:pPr marL="342900" lvl="0" indent="-342900" eaLnBrk="1" hangingPunct="1">
              <a:spcBef>
                <a:spcPct val="1000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charset="0"/>
                <a:ea typeface="隶书" pitchFamily="49" charset="-122"/>
              </a:rPr>
              <a:t>碳架结构供体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3075" name="Text Box 3"/>
          <p:cNvSpPr txBox="1"/>
          <p:nvPr/>
        </p:nvSpPr>
        <p:spPr>
          <a:xfrm>
            <a:off x="395288" y="260350"/>
            <a:ext cx="47529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charset="0"/>
                <a:ea typeface="黑体" pitchFamily="49" charset="-122"/>
              </a:rPr>
              <a:t>糖的主要生理功能</a:t>
            </a:r>
            <a:endParaRPr lang="zh-CN" altLang="en-US" dirty="0">
              <a:solidFill>
                <a:srgbClr val="FF0000"/>
              </a:solidFill>
              <a:latin typeface="Times New Roman" panose="02020603050405020304" charset="0"/>
              <a:ea typeface="黑体" pitchFamily="49" charset="-122"/>
            </a:endParaRPr>
          </a:p>
        </p:txBody>
      </p:sp>
      <p:sp>
        <p:nvSpPr>
          <p:cNvPr id="3076" name="Line 4"/>
          <p:cNvSpPr/>
          <p:nvPr/>
        </p:nvSpPr>
        <p:spPr>
          <a:xfrm>
            <a:off x="3132138" y="1628775"/>
            <a:ext cx="936625" cy="0"/>
          </a:xfrm>
          <a:prstGeom prst="line">
            <a:avLst/>
          </a:prstGeom>
          <a:ln w="5715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122" name="Rectangle 2"/>
          <p:cNvSpPr/>
          <p:nvPr/>
        </p:nvSpPr>
        <p:spPr>
          <a:xfrm>
            <a:off x="755650" y="1484313"/>
            <a:ext cx="7704138" cy="38163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FontTx/>
              <a:buChar char="•"/>
            </a:pPr>
            <a:r>
              <a:rPr lang="zh-CN" altLang="en-US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内源性：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zh-CN" altLang="en-US" dirty="0">
              <a:solidFill>
                <a:srgbClr val="0000FF"/>
              </a:solidFill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    量少，不能满足机体对能量的需要</a:t>
            </a:r>
            <a:endParaRPr lang="zh-CN" altLang="en-US" dirty="0">
              <a:solidFill>
                <a:srgbClr val="080808"/>
              </a:solidFill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spcBef>
                <a:spcPct val="0"/>
              </a:spcBef>
              <a:buFontTx/>
              <a:buNone/>
            </a:pPr>
            <a:endParaRPr lang="zh-CN" altLang="en-US" dirty="0">
              <a:solidFill>
                <a:srgbClr val="080808"/>
              </a:solidFill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spcBef>
                <a:spcPct val="0"/>
              </a:spcBef>
              <a:buFontTx/>
              <a:buChar char="•"/>
            </a:pPr>
            <a:r>
              <a:rPr lang="zh-CN" altLang="en-US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外源性：</a:t>
            </a:r>
            <a:endParaRPr lang="zh-CN" altLang="en-US" dirty="0">
              <a:solidFill>
                <a:srgbClr val="0000FF"/>
              </a:solidFill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spcBef>
                <a:spcPct val="0"/>
              </a:spcBef>
              <a:buFontTx/>
              <a:buNone/>
            </a:pPr>
            <a:r>
              <a:rPr lang="zh-CN" altLang="en-US" i="1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    </a:t>
            </a:r>
            <a:r>
              <a:rPr lang="zh-CN" altLang="en-US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主要来自</a:t>
            </a:r>
            <a:r>
              <a:rPr lang="zh-CN" altLang="en-US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植物</a:t>
            </a:r>
            <a:endParaRPr lang="zh-CN" altLang="en-US" dirty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    从动物性食物中摄入的糖量很少</a:t>
            </a:r>
            <a:endParaRPr lang="zh-CN" altLang="en-US" dirty="0">
              <a:solidFill>
                <a:srgbClr val="080808"/>
              </a:solidFill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    婴儿，</a:t>
            </a:r>
            <a:r>
              <a:rPr lang="zh-CN" altLang="en-US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乳汁中的乳糖</a:t>
            </a:r>
            <a:r>
              <a:rPr lang="zh-CN" altLang="en-US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是主要来源</a:t>
            </a:r>
            <a:endParaRPr lang="zh-CN" altLang="en-US" dirty="0">
              <a:solidFill>
                <a:srgbClr val="080808"/>
              </a:solidFill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spcBef>
                <a:spcPct val="0"/>
              </a:spcBef>
              <a:buFontTx/>
              <a:buNone/>
            </a:pPr>
            <a:endParaRPr lang="zh-CN" altLang="en-US" dirty="0">
              <a:solidFill>
                <a:srgbClr val="080808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123" name="Text Box 3"/>
          <p:cNvSpPr txBox="1"/>
          <p:nvPr/>
        </p:nvSpPr>
        <p:spPr>
          <a:xfrm>
            <a:off x="684213" y="476250"/>
            <a:ext cx="568801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charset="0"/>
                <a:ea typeface="黑体" pitchFamily="49" charset="-122"/>
              </a:rPr>
              <a:t>人体内糖的来源</a:t>
            </a:r>
            <a:endParaRPr lang="en-US" altLang="zh-CN" dirty="0">
              <a:solidFill>
                <a:srgbClr val="FF0000"/>
              </a:solidFill>
              <a:latin typeface="Times New Roman" panose="02020603050405020304" charset="0"/>
              <a:ea typeface="黑体" pitchFamily="49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idx="1"/>
          </p:nvPr>
        </p:nvSpPr>
        <p:spPr>
          <a:xfrm>
            <a:off x="247650" y="1398588"/>
            <a:ext cx="8610600" cy="4622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Clr>
                <a:srgbClr val="0000FF"/>
              </a:buClr>
              <a:buNone/>
            </a:pP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                </a:t>
            </a:r>
            <a:r>
              <a:rPr lang="zh-CN" altLang="en-US" sz="2600" dirty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淀粉</a:t>
            </a:r>
            <a:endParaRPr lang="zh-CN" altLang="en-US" sz="2600" dirty="0">
              <a:solidFill>
                <a:schemeClr val="accent2"/>
              </a:solidFill>
              <a:latin typeface="隶书" pitchFamily="49" charset="-122"/>
              <a:ea typeface="隶书" pitchFamily="49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                 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  <a:sym typeface="Symbol" pitchFamily="18" charset="2"/>
              </a:rPr>
              <a:t>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口腔，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  <a:sym typeface="Symbol" pitchFamily="18" charset="2"/>
              </a:rPr>
              <a:t>唾液淀粉酶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，少量作用</a:t>
            </a:r>
            <a:endParaRPr lang="zh-CN" altLang="en-US" sz="2600" dirty="0">
              <a:latin typeface="隶书" pitchFamily="49" charset="-122"/>
              <a:ea typeface="隶书" pitchFamily="49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                 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  <a:sym typeface="Symbol" pitchFamily="18" charset="2"/>
              </a:rPr>
              <a:t>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胃，几乎不作用</a:t>
            </a:r>
            <a:endParaRPr lang="zh-CN" altLang="en-US" sz="2600" dirty="0">
              <a:latin typeface="隶书" pitchFamily="49" charset="-122"/>
              <a:ea typeface="隶书" pitchFamily="49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                 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  <a:sym typeface="Symbol" pitchFamily="18" charset="2"/>
              </a:rPr>
              <a:t>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小肠，胰淀粉酶，主要消化场所</a:t>
            </a:r>
            <a:endParaRPr lang="zh-CN" altLang="en-US" sz="2600" dirty="0">
              <a:latin typeface="隶书" pitchFamily="49" charset="-122"/>
              <a:ea typeface="隶书" pitchFamily="49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     </a:t>
            </a:r>
            <a:r>
              <a:rPr lang="zh-CN" altLang="en-US" sz="2600" dirty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麦芽糖、糊精、蔗糖、乳糖等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（食物中所混入）</a:t>
            </a:r>
            <a:endParaRPr lang="zh-CN" altLang="en-US" sz="2600" dirty="0">
              <a:latin typeface="隶书" pitchFamily="49" charset="-122"/>
              <a:ea typeface="隶书" pitchFamily="49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                 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  <a:sym typeface="Symbol" pitchFamily="18" charset="2"/>
              </a:rPr>
              <a:t></a:t>
            </a:r>
            <a:r>
              <a:rPr lang="zh-CN" altLang="en-US" sz="2000" dirty="0">
                <a:latin typeface="隶书" pitchFamily="49" charset="-122"/>
                <a:ea typeface="隶书" pitchFamily="49" charset="-122"/>
              </a:rPr>
              <a:t>麦芽糖酶、糊精酶、蔗糖酶，乳糖酶等</a:t>
            </a:r>
            <a:endParaRPr lang="zh-CN" altLang="en-US" sz="2000" dirty="0">
              <a:latin typeface="隶书" pitchFamily="49" charset="-122"/>
              <a:ea typeface="隶书" pitchFamily="49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        </a:t>
            </a:r>
            <a:r>
              <a:rPr lang="zh-CN" altLang="en-US" sz="2600" dirty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葡萄糖、半乳糖、果糖</a:t>
            </a:r>
            <a:endParaRPr lang="zh-CN" altLang="en-US" sz="2600" dirty="0">
              <a:solidFill>
                <a:schemeClr val="accent2"/>
              </a:solidFill>
              <a:latin typeface="隶书" pitchFamily="49" charset="-122"/>
              <a:ea typeface="隶书" pitchFamily="49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                 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  <a:sym typeface="Symbol" pitchFamily="18" charset="2"/>
              </a:rPr>
              <a:t></a:t>
            </a:r>
            <a:endParaRPr lang="zh-CN" altLang="en-US" sz="2600" dirty="0">
              <a:latin typeface="隶书" pitchFamily="49" charset="-122"/>
              <a:ea typeface="隶书" pitchFamily="49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肠黏膜细胞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  <a:sym typeface="Symbol" pitchFamily="18" charset="2"/>
              </a:rPr>
              <a:t>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肠壁毛细血管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  <a:sym typeface="Symbol" pitchFamily="18" charset="2"/>
              </a:rPr>
              <a:t>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门静脉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  <a:sym typeface="Symbol" pitchFamily="18" charset="2"/>
              </a:rPr>
              <a:t>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血液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  <a:sym typeface="Symbol" pitchFamily="18" charset="2"/>
              </a:rPr>
              <a:t></a:t>
            </a:r>
            <a:r>
              <a:rPr lang="zh-CN" altLang="en-US" sz="2600" dirty="0">
                <a:latin typeface="隶书" pitchFamily="49" charset="-122"/>
                <a:ea typeface="隶书" pitchFamily="49" charset="-122"/>
              </a:rPr>
              <a:t>组织、细胞</a:t>
            </a:r>
            <a:endParaRPr lang="zh-CN" altLang="en-US" sz="26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171" name="Rectangle 3"/>
          <p:cNvSpPr/>
          <p:nvPr/>
        </p:nvSpPr>
        <p:spPr>
          <a:xfrm>
            <a:off x="2700338" y="568325"/>
            <a:ext cx="29273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3600" dirty="0">
                <a:solidFill>
                  <a:srgbClr val="3333FF"/>
                </a:solidFill>
                <a:latin typeface="Times New Roman" panose="02020603050405020304" charset="0"/>
                <a:ea typeface="隶书" pitchFamily="49" charset="-122"/>
              </a:rPr>
              <a:t>糖的消化吸收</a:t>
            </a:r>
            <a:endParaRPr lang="zh-CN" altLang="en-US" sz="3600" dirty="0">
              <a:solidFill>
                <a:srgbClr val="3333FF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8194" name="Picture 2" descr="Image00004"/>
          <p:cNvPicPr>
            <a:picLocks noChangeAspect="1"/>
          </p:cNvPicPr>
          <p:nvPr/>
        </p:nvPicPr>
        <p:blipFill>
          <a:blip r:embed="rId1"/>
          <a:srcRect t="19681" b="9071"/>
          <a:stretch>
            <a:fillRect/>
          </a:stretch>
        </p:blipFill>
        <p:spPr>
          <a:xfrm>
            <a:off x="0" y="836613"/>
            <a:ext cx="9144000" cy="5373687"/>
          </a:xfrm>
          <a:prstGeom prst="rect">
            <a:avLst/>
          </a:prstGeom>
          <a:solidFill>
            <a:srgbClr val="0000FF"/>
          </a:solidFill>
          <a:ln w="9525">
            <a:noFill/>
          </a:ln>
        </p:spPr>
      </p:pic>
      <p:sp>
        <p:nvSpPr>
          <p:cNvPr id="8195" name="Text Box 3"/>
          <p:cNvSpPr txBox="1"/>
          <p:nvPr/>
        </p:nvSpPr>
        <p:spPr>
          <a:xfrm>
            <a:off x="539750" y="260350"/>
            <a:ext cx="338455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E60818"/>
                </a:solidFill>
                <a:latin typeface="Times New Roman" panose="02020603050405020304" charset="0"/>
                <a:ea typeface="黑体" pitchFamily="49" charset="-122"/>
              </a:rPr>
              <a:t>糖代谢的概况</a:t>
            </a:r>
            <a:endParaRPr lang="zh-CN" altLang="en-US" sz="3600" b="1" dirty="0">
              <a:solidFill>
                <a:srgbClr val="E60818"/>
              </a:solidFill>
              <a:latin typeface="Times New Roman" panose="02020603050405020304" charset="0"/>
              <a:ea typeface="黑体" pitchFamily="49" charset="-122"/>
            </a:endParaRPr>
          </a:p>
        </p:txBody>
      </p:sp>
      <p:sp>
        <p:nvSpPr>
          <p:cNvPr id="8196" name="Line 4"/>
          <p:cNvSpPr/>
          <p:nvPr/>
        </p:nvSpPr>
        <p:spPr>
          <a:xfrm flipH="1">
            <a:off x="971550" y="4005263"/>
            <a:ext cx="1727200" cy="86360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197" name="Text Box 5"/>
          <p:cNvSpPr txBox="1"/>
          <p:nvPr/>
        </p:nvSpPr>
        <p:spPr>
          <a:xfrm>
            <a:off x="179388" y="4868863"/>
            <a:ext cx="18002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FFFF00"/>
                </a:solidFill>
                <a:latin typeface="Arial" panose="02080604020202020204" pitchFamily="34" charset="0"/>
                <a:ea typeface="宋体" pitchFamily="2" charset="-122"/>
              </a:rPr>
              <a:t>转化为其它糖</a:t>
            </a:r>
            <a:endParaRPr lang="en-US" altLang="zh-CN" sz="2000" b="1" dirty="0">
              <a:solidFill>
                <a:srgbClr val="FFFF00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253958" name="Text Box 6"/>
          <p:cNvSpPr txBox="1"/>
          <p:nvPr/>
        </p:nvSpPr>
        <p:spPr>
          <a:xfrm>
            <a:off x="5364163" y="2349500"/>
            <a:ext cx="1439862" cy="836613"/>
          </a:xfrm>
          <a:prstGeom prst="rect">
            <a:avLst/>
          </a:prstGeom>
          <a:noFill/>
          <a:ln w="5715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Arial" panose="02080604020202020204" pitchFamily="34" charset="0"/>
                <a:ea typeface="宋体" pitchFamily="2" charset="-122"/>
              </a:rPr>
              <a:t>NADH + H</a:t>
            </a:r>
            <a:r>
              <a:rPr lang="en-US" altLang="zh-CN" sz="1800" b="1" baseline="30000" dirty="0">
                <a:solidFill>
                  <a:schemeClr val="bg1"/>
                </a:solidFill>
                <a:latin typeface="Arial" panose="02080604020202020204" pitchFamily="34" charset="0"/>
                <a:ea typeface="宋体" pitchFamily="2" charset="-122"/>
              </a:rPr>
              <a:t>+</a:t>
            </a:r>
            <a:endParaRPr lang="en-US" altLang="zh-CN" sz="1800" b="1" baseline="30000" dirty="0">
              <a:solidFill>
                <a:schemeClr val="bg1"/>
              </a:solidFill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Arial" panose="02080604020202020204" pitchFamily="34" charset="0"/>
                <a:ea typeface="宋体" pitchFamily="2" charset="-122"/>
              </a:rPr>
              <a:t>FADH</a:t>
            </a:r>
            <a:r>
              <a:rPr lang="en-US" altLang="zh-CN" sz="1800" b="1" baseline="-25000" dirty="0">
                <a:solidFill>
                  <a:schemeClr val="bg1"/>
                </a:solidFill>
                <a:latin typeface="Arial" panose="02080604020202020204" pitchFamily="34" charset="0"/>
                <a:ea typeface="宋体" pitchFamily="2" charset="-122"/>
              </a:rPr>
              <a:t>2</a:t>
            </a:r>
            <a:endParaRPr lang="en-US" altLang="zh-CN" sz="1800" b="1" baseline="-25000" dirty="0">
              <a:solidFill>
                <a:schemeClr val="bg1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8199" name="Rectangle 7"/>
          <p:cNvSpPr/>
          <p:nvPr/>
        </p:nvSpPr>
        <p:spPr>
          <a:xfrm>
            <a:off x="1000125" y="3976688"/>
            <a:ext cx="504825" cy="360362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253960" name="Line 8"/>
          <p:cNvSpPr/>
          <p:nvPr/>
        </p:nvSpPr>
        <p:spPr>
          <a:xfrm flipH="1" flipV="1">
            <a:off x="6516688" y="3141663"/>
            <a:ext cx="431800" cy="358775"/>
          </a:xfrm>
          <a:prstGeom prst="line">
            <a:avLst/>
          </a:prstGeom>
          <a:ln w="76200" cap="flat" cmpd="sng"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3961" name="Line 9"/>
          <p:cNvSpPr/>
          <p:nvPr/>
        </p:nvSpPr>
        <p:spPr>
          <a:xfrm flipV="1">
            <a:off x="5580063" y="3141663"/>
            <a:ext cx="144462" cy="503237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02" name="Text Box 10"/>
          <p:cNvSpPr txBox="1"/>
          <p:nvPr/>
        </p:nvSpPr>
        <p:spPr>
          <a:xfrm>
            <a:off x="1547813" y="6238875"/>
            <a:ext cx="64817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E60818"/>
                </a:solidFill>
                <a:latin typeface="Arial" panose="02080604020202020204" pitchFamily="34" charset="0"/>
                <a:ea typeface="楷体_GB2312" pitchFamily="49" charset="-122"/>
              </a:rPr>
              <a:t>机体糖代谢是以葡萄糖为核心的代谢。</a:t>
            </a:r>
            <a:endParaRPr lang="en-US" altLang="zh-CN" sz="2800" b="1" dirty="0">
              <a:solidFill>
                <a:srgbClr val="E60818"/>
              </a:solidFill>
              <a:latin typeface="Arial" panose="02080604020202020204" pitchFamily="34" charset="0"/>
              <a:ea typeface="楷体_GB2312" pitchFamily="49" charset="-122"/>
            </a:endParaRPr>
          </a:p>
        </p:txBody>
      </p:sp>
      <p:sp>
        <p:nvSpPr>
          <p:cNvPr id="253963" name="Line 11"/>
          <p:cNvSpPr/>
          <p:nvPr/>
        </p:nvSpPr>
        <p:spPr>
          <a:xfrm flipV="1">
            <a:off x="3044825" y="4149725"/>
            <a:ext cx="447675" cy="979488"/>
          </a:xfrm>
          <a:prstGeom prst="line">
            <a:avLst/>
          </a:prstGeom>
          <a:ln w="38100" cap="flat" cmpd="sng">
            <a:solidFill>
              <a:srgbClr val="E60818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3964" name="Line 12"/>
          <p:cNvSpPr/>
          <p:nvPr/>
        </p:nvSpPr>
        <p:spPr>
          <a:xfrm>
            <a:off x="4427538" y="3673475"/>
            <a:ext cx="1296987" cy="0"/>
          </a:xfrm>
          <a:prstGeom prst="line">
            <a:avLst/>
          </a:prstGeom>
          <a:ln w="38100" cap="flat" cmpd="sng">
            <a:solidFill>
              <a:srgbClr val="E60818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3965" name="Line 13"/>
          <p:cNvSpPr/>
          <p:nvPr/>
        </p:nvSpPr>
        <p:spPr>
          <a:xfrm>
            <a:off x="6732588" y="3760788"/>
            <a:ext cx="1008062" cy="315912"/>
          </a:xfrm>
          <a:prstGeom prst="line">
            <a:avLst/>
          </a:prstGeom>
          <a:ln w="38100" cap="flat" cmpd="sng">
            <a:solidFill>
              <a:srgbClr val="E60818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3966" name="Line 14"/>
          <p:cNvSpPr/>
          <p:nvPr/>
        </p:nvSpPr>
        <p:spPr>
          <a:xfrm flipV="1">
            <a:off x="6716713" y="3113088"/>
            <a:ext cx="865187" cy="503237"/>
          </a:xfrm>
          <a:prstGeom prst="line">
            <a:avLst/>
          </a:prstGeom>
          <a:ln w="38100" cap="flat" cmpd="sng">
            <a:solidFill>
              <a:srgbClr val="E60818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3967" name="Line 15"/>
          <p:cNvSpPr/>
          <p:nvPr/>
        </p:nvSpPr>
        <p:spPr>
          <a:xfrm flipV="1">
            <a:off x="6804025" y="2565400"/>
            <a:ext cx="360363" cy="287338"/>
          </a:xfrm>
          <a:prstGeom prst="line">
            <a:avLst/>
          </a:prstGeom>
          <a:ln w="57150" cap="flat" cmpd="sng"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08" name="Rectangle 16"/>
          <p:cNvSpPr/>
          <p:nvPr/>
        </p:nvSpPr>
        <p:spPr>
          <a:xfrm rot="-5400000">
            <a:off x="7164388" y="2781300"/>
            <a:ext cx="504825" cy="215900"/>
          </a:xfrm>
          <a:prstGeom prst="rect">
            <a:avLst/>
          </a:prstGeom>
          <a:solidFill>
            <a:srgbClr val="000099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253969" name="Line 17"/>
          <p:cNvSpPr/>
          <p:nvPr/>
        </p:nvSpPr>
        <p:spPr>
          <a:xfrm flipH="1">
            <a:off x="900113" y="3716338"/>
            <a:ext cx="1800225" cy="0"/>
          </a:xfrm>
          <a:prstGeom prst="line">
            <a:avLst/>
          </a:prstGeom>
          <a:ln w="38100" cap="flat" cmpd="sng">
            <a:solidFill>
              <a:srgbClr val="E60818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3972" name="Line 20"/>
          <p:cNvSpPr/>
          <p:nvPr/>
        </p:nvSpPr>
        <p:spPr>
          <a:xfrm flipH="1" flipV="1">
            <a:off x="3492500" y="1989138"/>
            <a:ext cx="0" cy="1295400"/>
          </a:xfrm>
          <a:prstGeom prst="line">
            <a:avLst/>
          </a:prstGeom>
          <a:ln w="38100" cap="flat" cmpd="sng">
            <a:solidFill>
              <a:srgbClr val="E60818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3973" name="Line 21"/>
          <p:cNvSpPr/>
          <p:nvPr/>
        </p:nvSpPr>
        <p:spPr>
          <a:xfrm flipH="1">
            <a:off x="3708400" y="1974850"/>
            <a:ext cx="0" cy="1368425"/>
          </a:xfrm>
          <a:prstGeom prst="line">
            <a:avLst/>
          </a:prstGeom>
          <a:ln w="38100" cap="flat" cmpd="sng">
            <a:solidFill>
              <a:srgbClr val="E60818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3975" name="Line 23"/>
          <p:cNvSpPr/>
          <p:nvPr/>
        </p:nvSpPr>
        <p:spPr>
          <a:xfrm flipH="1" flipV="1">
            <a:off x="3708400" y="4149725"/>
            <a:ext cx="546100" cy="1035050"/>
          </a:xfrm>
          <a:prstGeom prst="line">
            <a:avLst/>
          </a:prstGeom>
          <a:ln w="38100" cap="flat" cmpd="sng">
            <a:solidFill>
              <a:srgbClr val="E60818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3977" name="Line 25"/>
          <p:cNvSpPr/>
          <p:nvPr/>
        </p:nvSpPr>
        <p:spPr>
          <a:xfrm flipH="1">
            <a:off x="971550" y="4005263"/>
            <a:ext cx="1728788" cy="863600"/>
          </a:xfrm>
          <a:prstGeom prst="line">
            <a:avLst/>
          </a:prstGeom>
          <a:ln w="38100" cap="flat" cmpd="sng">
            <a:solidFill>
              <a:srgbClr val="E60818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3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5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5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53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5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53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5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5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53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25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25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25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25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218" name="Rectangle 2"/>
          <p:cNvSpPr/>
          <p:nvPr/>
        </p:nvSpPr>
        <p:spPr>
          <a:xfrm>
            <a:off x="755650" y="1196975"/>
            <a:ext cx="7543800" cy="265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en-US" altLang="zh-CN" sz="5600" b="1" dirty="0">
                <a:latin typeface="Times New Roman" panose="02020603050405020304" charset="0"/>
                <a:ea typeface="宋体" pitchFamily="2" charset="-122"/>
              </a:rPr>
              <a:t>Chapter 3</a:t>
            </a:r>
            <a:endParaRPr lang="en-US" altLang="zh-CN" sz="5600" b="1" dirty="0">
              <a:latin typeface="Times New Roman" panose="02020603050405020304" charset="0"/>
              <a:ea typeface="宋体" pitchFamily="2" charset="-122"/>
            </a:endParaRPr>
          </a:p>
          <a:p>
            <a:pPr marL="0" lvl="0" indent="0" algn="ctr">
              <a:spcBef>
                <a:spcPct val="0"/>
              </a:spcBef>
              <a:buFontTx/>
              <a:buNone/>
            </a:pPr>
            <a:endParaRPr lang="en-US" altLang="zh-CN" sz="5600" b="1" dirty="0">
              <a:latin typeface="Times New Roman" panose="02020603050405020304" charset="0"/>
              <a:ea typeface="宋体" pitchFamily="2" charset="-122"/>
            </a:endParaRPr>
          </a:p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zh-CN" altLang="en-US" sz="5600" b="1" dirty="0">
                <a:latin typeface="Times New Roman" panose="02020603050405020304" charset="0"/>
                <a:ea typeface="黑体" pitchFamily="49" charset="-122"/>
              </a:rPr>
              <a:t>糖酵解</a:t>
            </a:r>
            <a:r>
              <a:rPr lang="en-US" altLang="zh-CN" sz="5600" b="1" dirty="0">
                <a:latin typeface="Times New Roman" panose="02020603050405020304" charset="0"/>
                <a:ea typeface="宋体" pitchFamily="2" charset="-122"/>
              </a:rPr>
              <a:t>(Glycolysis</a:t>
            </a:r>
            <a:r>
              <a:rPr lang="zh-CN" altLang="en-US" sz="5600" b="1" dirty="0">
                <a:latin typeface="Times New Roman" panose="02020603050405020304" charset="0"/>
                <a:ea typeface="宋体" pitchFamily="2" charset="-122"/>
              </a:rPr>
              <a:t>)</a:t>
            </a:r>
            <a:endParaRPr lang="zh-CN" altLang="en-US" sz="5600" b="1" dirty="0">
              <a:latin typeface="Times New Roman" panose="02020603050405020304" charset="0"/>
              <a:ea typeface="宋体" pitchFamily="2" charset="-122"/>
            </a:endParaRPr>
          </a:p>
        </p:txBody>
      </p:sp>
    </p:spTree>
  </p:cSld>
  <p:clrMapOvr>
    <a:masterClrMapping/>
  </p:clrMapOvr>
  <p:transition spd="med">
    <p:pull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242" name="Rectangle 5"/>
          <p:cNvSpPr/>
          <p:nvPr/>
        </p:nvSpPr>
        <p:spPr>
          <a:xfrm>
            <a:off x="684213" y="404813"/>
            <a:ext cx="4392612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E60818"/>
                </a:solidFill>
                <a:latin typeface="黑体" pitchFamily="49" charset="-122"/>
                <a:ea typeface="黑体" pitchFamily="49" charset="-122"/>
              </a:rPr>
              <a:t>代谢途径学习要点</a:t>
            </a:r>
            <a:endParaRPr lang="zh-CN" altLang="en-US" b="1" dirty="0">
              <a:solidFill>
                <a:srgbClr val="E60818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59078" name="Rectangle 6"/>
          <p:cNvSpPr/>
          <p:nvPr/>
        </p:nvSpPr>
        <p:spPr>
          <a:xfrm>
            <a:off x="2339975" y="1557338"/>
            <a:ext cx="5976938" cy="3195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E60818"/>
                </a:solidFill>
                <a:latin typeface="Arial" panose="02080604020202020204" pitchFamily="34" charset="0"/>
                <a:ea typeface="黑体" pitchFamily="49" charset="-122"/>
                <a:sym typeface="Wingdings" panose="05000000000000000000" pitchFamily="2" charset="2"/>
              </a:rPr>
              <a:t>始末状态</a:t>
            </a:r>
            <a:endParaRPr lang="zh-CN" altLang="en-US" sz="2400" dirty="0">
              <a:solidFill>
                <a:srgbClr val="E60818"/>
              </a:solidFill>
              <a:latin typeface="Arial" panose="02080604020202020204" pitchFamily="34" charset="0"/>
              <a:ea typeface="黑体" pitchFamily="49" charset="-122"/>
              <a:sym typeface="Wingdings" panose="05000000000000000000" pitchFamily="2" charset="2"/>
            </a:endParaRPr>
          </a:p>
          <a:p>
            <a:pPr marL="457200" lvl="0" indent="-45720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E60818"/>
                </a:solidFill>
                <a:latin typeface="Arial" panose="02080604020202020204" pitchFamily="34" charset="0"/>
                <a:ea typeface="黑体" pitchFamily="49" charset="-122"/>
                <a:sym typeface="Wingdings" panose="05000000000000000000" pitchFamily="2" charset="2"/>
              </a:rPr>
              <a:t>化学反应</a:t>
            </a:r>
            <a:endParaRPr lang="zh-CN" altLang="en-US" sz="2400" dirty="0">
              <a:solidFill>
                <a:srgbClr val="E60818"/>
              </a:solidFill>
              <a:latin typeface="Arial" panose="02080604020202020204" pitchFamily="34" charset="0"/>
              <a:ea typeface="黑体" pitchFamily="49" charset="-122"/>
              <a:sym typeface="Wingdings" panose="05000000000000000000" pitchFamily="2" charset="2"/>
            </a:endParaRPr>
          </a:p>
          <a:p>
            <a:pPr marL="457200" lvl="0" indent="-45720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E60818"/>
                </a:solidFill>
                <a:latin typeface="Arial" panose="02080604020202020204" pitchFamily="34" charset="0"/>
                <a:ea typeface="黑体" pitchFamily="49" charset="-122"/>
                <a:sym typeface="Wingdings" panose="05000000000000000000" pitchFamily="2" charset="2"/>
              </a:rPr>
              <a:t>质能偶联</a:t>
            </a:r>
            <a:endParaRPr lang="en-US" altLang="zh-CN" sz="2400" dirty="0">
              <a:solidFill>
                <a:srgbClr val="E60818"/>
              </a:solidFill>
              <a:latin typeface="Arial" panose="02080604020202020204" pitchFamily="34" charset="0"/>
              <a:ea typeface="黑体" pitchFamily="49" charset="-122"/>
              <a:sym typeface="Wingdings" panose="05000000000000000000" pitchFamily="2" charset="2"/>
            </a:endParaRPr>
          </a:p>
          <a:p>
            <a:pPr marL="457200" lvl="0" indent="-45720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E60818"/>
                </a:solidFill>
                <a:latin typeface="Arial" panose="02080604020202020204" pitchFamily="34" charset="0"/>
                <a:ea typeface="黑体" pitchFamily="49" charset="-122"/>
                <a:sym typeface="Wingdings" panose="05000000000000000000" pitchFamily="2" charset="2"/>
              </a:rPr>
              <a:t>关键步骤</a:t>
            </a:r>
            <a:endParaRPr lang="zh-CN" altLang="en-US" sz="2400" dirty="0">
              <a:solidFill>
                <a:srgbClr val="E60818"/>
              </a:solidFill>
              <a:latin typeface="Arial" panose="02080604020202020204" pitchFamily="34" charset="0"/>
              <a:ea typeface="黑体" pitchFamily="49" charset="-122"/>
              <a:sym typeface="Wingdings" panose="05000000000000000000" pitchFamily="2" charset="2"/>
            </a:endParaRPr>
          </a:p>
          <a:p>
            <a:pPr marL="457200" lvl="0" indent="-45720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E60818"/>
                </a:solidFill>
                <a:latin typeface="Arial" panose="02080604020202020204" pitchFamily="34" charset="0"/>
                <a:ea typeface="黑体" pitchFamily="49" charset="-122"/>
                <a:sym typeface="Wingdings" panose="05000000000000000000" pitchFamily="2" charset="2"/>
              </a:rPr>
              <a:t>主要调控</a:t>
            </a:r>
            <a:endParaRPr lang="zh-CN" altLang="en-US" sz="2400" dirty="0">
              <a:solidFill>
                <a:srgbClr val="E60818"/>
              </a:solidFill>
              <a:latin typeface="Arial" panose="02080604020202020204" pitchFamily="34" charset="0"/>
              <a:ea typeface="黑体" pitchFamily="49" charset="-122"/>
              <a:sym typeface="Wingdings" panose="05000000000000000000" pitchFamily="2" charset="2"/>
            </a:endParaRPr>
          </a:p>
          <a:p>
            <a:pPr marL="457200" lvl="0" indent="-45720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E60818"/>
                </a:solidFill>
                <a:latin typeface="Arial" panose="02080604020202020204" pitchFamily="34" charset="0"/>
                <a:ea typeface="黑体" pitchFamily="49" charset="-122"/>
                <a:sym typeface="Wingdings" panose="05000000000000000000" pitchFamily="2" charset="2"/>
              </a:rPr>
              <a:t>生理意义</a:t>
            </a:r>
            <a:endParaRPr lang="zh-CN" altLang="en-US" sz="2400" dirty="0">
              <a:solidFill>
                <a:srgbClr val="E60818"/>
              </a:solidFill>
              <a:latin typeface="Arial" panose="02080604020202020204" pitchFamily="34" charset="0"/>
              <a:ea typeface="黑体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9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75460" name="Rectangle 4"/>
          <p:cNvSpPr>
            <a:spLocks noChangeArrowheads="1"/>
          </p:cNvSpPr>
          <p:nvPr/>
        </p:nvSpPr>
        <p:spPr bwMode="auto">
          <a:xfrm>
            <a:off x="1547813" y="1341438"/>
            <a:ext cx="6427788" cy="430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>
              <a:spcBef>
                <a:spcPct val="20000"/>
              </a:spcBef>
              <a:buFont typeface="Arial" panose="0208060402020202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8060402020202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8060402020202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1"/>
              </a:buBlip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2D0DF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糖酵解研究历史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E2D0DF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(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2D0DF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自学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E2D0DF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)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E2D0DF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1"/>
              </a:buBlip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 糖酵解过程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1"/>
              </a:buBlip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 糖酵解中产生的能量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1"/>
              </a:buBlip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 糖酵解的生理意义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1"/>
              </a:buBlip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 糖酵解的调控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1"/>
              </a:buBlip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 丙酮酸的去路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1"/>
              </a:buBlip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31074" name="Text Box 2"/>
          <p:cNvSpPr txBox="1"/>
          <p:nvPr/>
        </p:nvSpPr>
        <p:spPr>
          <a:xfrm>
            <a:off x="684213" y="765175"/>
            <a:ext cx="7775575" cy="5399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E60818"/>
                </a:solidFill>
                <a:latin typeface="Times New Roman" panose="02020603050405020304" charset="0"/>
                <a:ea typeface="黑体" pitchFamily="49" charset="-122"/>
              </a:rPr>
              <a:t>糖酵解作用：</a:t>
            </a:r>
            <a:r>
              <a:rPr lang="zh-CN" altLang="en-US" sz="2800" b="1" dirty="0">
                <a:latin typeface="Times New Roman" panose="02020603050405020304" charset="0"/>
                <a:ea typeface="黑体" pitchFamily="49" charset="-122"/>
              </a:rPr>
              <a:t>（</a:t>
            </a: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在无氧</a:t>
            </a:r>
            <a:r>
              <a:rPr lang="en-US" altLang="zh-CN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/</a:t>
            </a: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缺氧条件下，）</a:t>
            </a:r>
            <a:r>
              <a:rPr lang="en-US" altLang="zh-CN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6C</a:t>
            </a: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的葡萄糖进行分解形成</a:t>
            </a:r>
            <a:r>
              <a:rPr lang="en-US" altLang="zh-CN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分子</a:t>
            </a:r>
            <a:r>
              <a:rPr lang="en-US" altLang="zh-CN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3C</a:t>
            </a: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的丙酮酸并有限提供能量的过程称为</a:t>
            </a:r>
            <a:r>
              <a:rPr lang="zh-CN" altLang="en-US" sz="28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糖酵解作用</a:t>
            </a: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。</a:t>
            </a:r>
            <a:r>
              <a:rPr lang="zh-CN" altLang="en-US" sz="28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糖酵解发生在细胞液中</a:t>
            </a: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。</a:t>
            </a:r>
            <a:endParaRPr lang="en-US" altLang="zh-CN" sz="2800" b="1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糖酵解是一切有机体中普遍存在的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葡萄糖降解途径，也是葡萄糖进行有氧氧化、彻底分解所经历的前期途径，缺氧、有氧均能发生。亦称为</a:t>
            </a:r>
            <a:r>
              <a:rPr lang="en-US" altLang="zh-CN" sz="28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EMP</a:t>
            </a:r>
            <a:r>
              <a:rPr lang="zh-CN" altLang="en-US" sz="28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途径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以纪念其发现者。</a:t>
            </a:r>
            <a:endParaRPr lang="zh-CN" altLang="en-US" sz="2800" b="1" dirty="0"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en-US" altLang="zh-CN" sz="1800" b="1" dirty="0">
              <a:solidFill>
                <a:srgbClr val="E60818"/>
              </a:solidFill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en-US" altLang="zh-CN" sz="1800" b="1" dirty="0">
              <a:solidFill>
                <a:srgbClr val="E60818"/>
              </a:solidFill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rPr>
              <a:t>         E</a:t>
            </a:r>
            <a:r>
              <a:rPr lang="zh-CN" altLang="en-US" sz="2400" b="1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rPr>
              <a:t>：</a:t>
            </a:r>
            <a:r>
              <a:rPr lang="en-US" altLang="zh-CN" sz="2400" b="1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rPr>
              <a:t>Embden</a:t>
            </a:r>
            <a:r>
              <a:rPr lang="zh-CN" altLang="en-US" sz="2400" b="1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rPr>
              <a:t>；</a:t>
            </a:r>
            <a:r>
              <a:rPr lang="en-US" altLang="zh-CN" sz="2400" b="1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rPr>
              <a:t>M: Meyerhof</a:t>
            </a:r>
            <a:r>
              <a:rPr lang="zh-CN" altLang="en-US" sz="2400" b="1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rPr>
              <a:t>；</a:t>
            </a:r>
            <a:r>
              <a:rPr lang="en-US" altLang="zh-CN" sz="2400" b="1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rPr>
              <a:t>P: Parnas</a:t>
            </a:r>
            <a:endParaRPr lang="zh-CN" altLang="en-US" sz="2400" b="1" dirty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zh-CN" altLang="en-US" sz="3600" b="1" dirty="0">
              <a:solidFill>
                <a:schemeClr val="folHlink"/>
              </a:solidFill>
              <a:latin typeface="Times New Roman" panose="02020603050405020304" charset="0"/>
              <a:ea typeface="华文行楷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charRg st="0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1074">
                                            <p:txEl>
                                              <p:charRg st="0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charRg st="70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1074">
                                            <p:txEl>
                                              <p:charRg st="70" end="1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charRg st="147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1074">
                                            <p:txEl>
                                              <p:charRg st="147" end="1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34146" name="Rectangle 2"/>
          <p:cNvSpPr>
            <a:spLocks noGrp="1"/>
          </p:cNvSpPr>
          <p:nvPr>
            <p:ph type="subTitle" idx="1"/>
          </p:nvPr>
        </p:nvSpPr>
        <p:spPr>
          <a:xfrm>
            <a:off x="1116013" y="1268413"/>
            <a:ext cx="5761037" cy="609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Tx/>
              <a:buSzTx/>
            </a:pPr>
            <a:r>
              <a:rPr lang="zh-CN" altLang="zh-CN" sz="3700" b="1" kern="1200" dirty="0">
                <a:solidFill>
                  <a:srgbClr val="3333FF"/>
                </a:solidFill>
                <a:latin typeface="隶书" pitchFamily="49" charset="-122"/>
                <a:ea typeface="隶书" pitchFamily="49" charset="-122"/>
                <a:cs typeface="+mn-cs"/>
              </a:rPr>
              <a:t>1</a:t>
            </a:r>
            <a:r>
              <a:rPr lang="en-US" altLang="zh-CN" sz="3700" b="1" kern="1200" dirty="0">
                <a:solidFill>
                  <a:srgbClr val="3333FF"/>
                </a:solidFill>
                <a:latin typeface="隶书" pitchFamily="49" charset="-122"/>
                <a:ea typeface="隶书" pitchFamily="49" charset="-122"/>
                <a:cs typeface="+mn-cs"/>
              </a:rPr>
              <a:t>0</a:t>
            </a:r>
            <a:r>
              <a:rPr lang="zh-CN" altLang="zh-CN" sz="3700" b="1" kern="1200" dirty="0">
                <a:solidFill>
                  <a:srgbClr val="3333FF"/>
                </a:solidFill>
                <a:latin typeface="隶书" pitchFamily="49" charset="-122"/>
                <a:ea typeface="隶书" pitchFamily="49" charset="-122"/>
                <a:cs typeface="+mn-cs"/>
              </a:rPr>
              <a:t>步酶催化反应</a:t>
            </a:r>
            <a:endParaRPr lang="zh-CN" altLang="en-US" sz="3000" kern="1200" dirty="0">
              <a:solidFill>
                <a:srgbClr val="00CC66"/>
              </a:solidFill>
              <a:latin typeface="隶书" pitchFamily="49" charset="-122"/>
              <a:ea typeface="隶书" pitchFamily="49" charset="-122"/>
              <a:cs typeface="+mn-cs"/>
            </a:endParaRPr>
          </a:p>
        </p:txBody>
      </p:sp>
      <p:sp>
        <p:nvSpPr>
          <p:cNvPr id="134147" name="Rectangle 3"/>
          <p:cNvSpPr/>
          <p:nvPr/>
        </p:nvSpPr>
        <p:spPr>
          <a:xfrm>
            <a:off x="1371600" y="2362200"/>
            <a:ext cx="7239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第一阶段</a:t>
            </a:r>
            <a:r>
              <a:rPr lang="zh-CN" altLang="en-US" b="1" dirty="0">
                <a:solidFill>
                  <a:schemeClr val="folHlink"/>
                </a:solidFill>
                <a:latin typeface="隶书" pitchFamily="49" charset="-122"/>
                <a:ea typeface="隶书" pitchFamily="49" charset="-122"/>
              </a:rPr>
              <a:t>：</a:t>
            </a:r>
            <a:r>
              <a:rPr lang="zh-CN" altLang="en-US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  </a:t>
            </a:r>
            <a:r>
              <a:rPr lang="zh-CN" altLang="en-US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磷酸已糖的生成</a:t>
            </a:r>
            <a:r>
              <a:rPr lang="en-US" altLang="zh-CN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(</a:t>
            </a:r>
            <a:r>
              <a:rPr lang="zh-CN" altLang="en-US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活化</a:t>
            </a:r>
            <a:r>
              <a:rPr lang="en-US" altLang="zh-CN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)</a:t>
            </a:r>
            <a:endParaRPr lang="en-US" altLang="zh-CN" sz="3600" b="1" dirty="0">
              <a:solidFill>
                <a:srgbClr val="080808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4148" name="Rectangle 4"/>
          <p:cNvSpPr/>
          <p:nvPr/>
        </p:nvSpPr>
        <p:spPr>
          <a:xfrm>
            <a:off x="250825" y="2133600"/>
            <a:ext cx="990600" cy="360362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二 个 阶 段</a:t>
            </a:r>
            <a:endParaRPr lang="zh-CN" altLang="en-US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4149" name="Text Box 5"/>
          <p:cNvSpPr txBox="1"/>
          <p:nvPr/>
        </p:nvSpPr>
        <p:spPr>
          <a:xfrm>
            <a:off x="1143000" y="3200400"/>
            <a:ext cx="7086600" cy="5794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    </a:t>
            </a:r>
            <a:r>
              <a:rPr lang="zh-CN" altLang="en-US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磷酸丙糖的生成</a:t>
            </a:r>
            <a:r>
              <a:rPr lang="en-US" altLang="zh-CN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(</a:t>
            </a:r>
            <a:r>
              <a:rPr lang="zh-CN" altLang="en-US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裂解</a:t>
            </a:r>
            <a:r>
              <a:rPr lang="en-US" altLang="zh-CN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)</a:t>
            </a:r>
            <a:endParaRPr lang="en-US" altLang="zh-CN" b="1" dirty="0">
              <a:solidFill>
                <a:srgbClr val="080808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4150" name="Text Box 6"/>
          <p:cNvSpPr txBox="1"/>
          <p:nvPr/>
        </p:nvSpPr>
        <p:spPr>
          <a:xfrm>
            <a:off x="1295400" y="4038600"/>
            <a:ext cx="7848600" cy="1066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第二阶段</a:t>
            </a:r>
            <a:r>
              <a:rPr lang="zh-CN" altLang="en-US" b="1" dirty="0">
                <a:solidFill>
                  <a:schemeClr val="folHlink"/>
                </a:solidFill>
                <a:latin typeface="隶书" pitchFamily="49" charset="-122"/>
                <a:ea typeface="隶书" pitchFamily="49" charset="-122"/>
              </a:rPr>
              <a:t>：</a:t>
            </a:r>
            <a:r>
              <a:rPr lang="zh-CN" altLang="en-US" b="1" i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  </a:t>
            </a:r>
            <a:r>
              <a:rPr lang="en-US" altLang="zh-CN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3-</a:t>
            </a:r>
            <a:r>
              <a:rPr lang="zh-CN" altLang="en-US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磷酸甘油醛转变为</a:t>
            </a:r>
            <a:r>
              <a:rPr lang="en-US" altLang="zh-CN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2-</a:t>
            </a:r>
            <a:r>
              <a:rPr lang="zh-CN" altLang="en-US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磷酸            </a:t>
            </a:r>
            <a:endParaRPr lang="zh-CN" altLang="en-US" b="1" dirty="0">
              <a:solidFill>
                <a:srgbClr val="080808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            苷油酸              </a:t>
            </a:r>
            <a:endParaRPr lang="zh-CN" altLang="en-US" b="1" dirty="0">
              <a:solidFill>
                <a:srgbClr val="080808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4151" name="Text Box 7"/>
          <p:cNvSpPr txBox="1"/>
          <p:nvPr/>
        </p:nvSpPr>
        <p:spPr>
          <a:xfrm>
            <a:off x="1219200" y="5181600"/>
            <a:ext cx="7745413" cy="5794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    </a:t>
            </a:r>
            <a:r>
              <a:rPr lang="zh-CN" altLang="en-US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由</a:t>
            </a:r>
            <a:r>
              <a:rPr lang="en-US" altLang="zh-CN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2-</a:t>
            </a:r>
            <a:r>
              <a:rPr lang="zh-CN" altLang="en-US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磷酸甘油酸生成丙酮酸</a:t>
            </a:r>
            <a:endParaRPr lang="zh-CN" altLang="en-US" b="1" dirty="0">
              <a:solidFill>
                <a:srgbClr val="080808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320" name="Text Box 8"/>
          <p:cNvSpPr txBox="1"/>
          <p:nvPr/>
        </p:nvSpPr>
        <p:spPr>
          <a:xfrm>
            <a:off x="611188" y="476250"/>
            <a:ext cx="43211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一</a:t>
            </a:r>
            <a:r>
              <a:rPr lang="en-US" altLang="zh-CN" b="1" dirty="0">
                <a:latin typeface="黑体" pitchFamily="49" charset="-122"/>
                <a:ea typeface="黑体" pitchFamily="49" charset="-122"/>
              </a:rPr>
              <a:t>. 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糖酵解过程概貌</a:t>
            </a:r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417" name="Text Box 9"/>
          <p:cNvSpPr txBox="1"/>
          <p:nvPr/>
        </p:nvSpPr>
        <p:spPr>
          <a:xfrm>
            <a:off x="1547813" y="2924175"/>
            <a:ext cx="158432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Arial" panose="02080604020202020204" pitchFamily="34" charset="0"/>
                <a:ea typeface="宋体" pitchFamily="2" charset="-122"/>
              </a:rPr>
              <a:t>C</a:t>
            </a:r>
            <a:r>
              <a:rPr lang="zh-CN" altLang="en-US" sz="2400" b="1" dirty="0">
                <a:latin typeface="Arial" panose="02080604020202020204" pitchFamily="34" charset="0"/>
                <a:ea typeface="宋体" pitchFamily="2" charset="-122"/>
              </a:rPr>
              <a:t>架裂解消耗</a:t>
            </a:r>
            <a:r>
              <a:rPr lang="en-US" altLang="zh-CN" sz="2400" b="1" dirty="0">
                <a:latin typeface="Arial" panose="02080604020202020204" pitchFamily="34" charset="0"/>
                <a:ea typeface="宋体" pitchFamily="2" charset="-122"/>
              </a:rPr>
              <a:t>ATP</a:t>
            </a:r>
            <a:endParaRPr lang="en-US" altLang="zh-CN" sz="2400" b="1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7418" name="Text Box 10"/>
          <p:cNvSpPr txBox="1"/>
          <p:nvPr/>
        </p:nvSpPr>
        <p:spPr>
          <a:xfrm>
            <a:off x="1476375" y="4581525"/>
            <a:ext cx="158432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Arial" panose="02080604020202020204" pitchFamily="34" charset="0"/>
                <a:ea typeface="宋体" pitchFamily="2" charset="-122"/>
              </a:rPr>
              <a:t>基团转移产出</a:t>
            </a:r>
            <a:r>
              <a:rPr lang="en-US" altLang="zh-CN" sz="2400" b="1" dirty="0">
                <a:latin typeface="Arial" panose="02080604020202020204" pitchFamily="34" charset="0"/>
                <a:ea typeface="宋体" pitchFamily="2" charset="-122"/>
              </a:rPr>
              <a:t>ATP</a:t>
            </a:r>
            <a:endParaRPr lang="en-US" altLang="zh-CN" sz="2400" b="1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3323" name="Rectangle 13"/>
          <p:cNvSpPr/>
          <p:nvPr/>
        </p:nvSpPr>
        <p:spPr>
          <a:xfrm>
            <a:off x="1547813" y="6491288"/>
            <a:ext cx="64325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http://people.cst.cmich.edu/schul1te/animations/glycolysis.swf</a:t>
            </a: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3324" name="Rectangle 14"/>
          <p:cNvSpPr/>
          <p:nvPr/>
        </p:nvSpPr>
        <p:spPr>
          <a:xfrm>
            <a:off x="1543050" y="6165850"/>
            <a:ext cx="76009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http://www.science.smith.edu/departments/Biology/Bio231/glycolysis.html</a:t>
            </a: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414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6" grpId="0" build="p"/>
      <p:bldP spid="134147" grpId="0"/>
      <p:bldP spid="134148" grpId="0" animBg="1"/>
      <p:bldP spid="134149" grpId="0"/>
      <p:bldP spid="134150" grpId="0"/>
      <p:bldP spid="134151" grpId="0"/>
      <p:bldP spid="17417" grpId="0"/>
      <p:bldP spid="174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2" name="Group 31"/>
          <p:cNvGrpSpPr/>
          <p:nvPr/>
        </p:nvGrpSpPr>
        <p:grpSpPr>
          <a:xfrm>
            <a:off x="684213" y="3819525"/>
            <a:ext cx="7970837" cy="2609850"/>
            <a:chOff x="431" y="2406"/>
            <a:chExt cx="5021" cy="1644"/>
          </a:xfrm>
        </p:grpSpPr>
        <p:pic>
          <p:nvPicPr>
            <p:cNvPr id="15377" name="Picture 4" descr="09_09_glycolysis_pt2-L"/>
            <p:cNvPicPr>
              <a:picLocks noChangeAspect="1"/>
            </p:cNvPicPr>
            <p:nvPr/>
          </p:nvPicPr>
          <p:blipFill>
            <a:blip r:embed="rId1"/>
            <a:srcRect l="6743" t="23285"/>
            <a:stretch>
              <a:fillRect/>
            </a:stretch>
          </p:blipFill>
          <p:spPr>
            <a:xfrm>
              <a:off x="431" y="2406"/>
              <a:ext cx="5021" cy="164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78" name="Rectangle 12"/>
            <p:cNvSpPr/>
            <p:nvPr/>
          </p:nvSpPr>
          <p:spPr>
            <a:xfrm>
              <a:off x="657" y="3153"/>
              <a:ext cx="703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 dirty="0">
                  <a:latin typeface="隶书" pitchFamily="49" charset="-122"/>
                  <a:ea typeface="隶书" pitchFamily="49" charset="-122"/>
                </a:rPr>
                <a:t>磷酸甘油醛脱氢酶</a:t>
              </a:r>
              <a:endParaRPr lang="zh-CN" altLang="en-US" sz="1800" b="1" dirty="0"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15379" name="Rectangle 13"/>
            <p:cNvSpPr/>
            <p:nvPr/>
          </p:nvSpPr>
          <p:spPr>
            <a:xfrm>
              <a:off x="1665" y="3163"/>
              <a:ext cx="725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 dirty="0">
                  <a:latin typeface="隶书" pitchFamily="49" charset="-122"/>
                  <a:ea typeface="隶书" pitchFamily="49" charset="-122"/>
                </a:rPr>
                <a:t>磷酸甘油酸激酶</a:t>
              </a:r>
              <a:endParaRPr lang="zh-CN" altLang="en-US" sz="1800" b="1" dirty="0"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15380" name="Rectangle 14"/>
            <p:cNvSpPr/>
            <p:nvPr/>
          </p:nvSpPr>
          <p:spPr>
            <a:xfrm>
              <a:off x="2623" y="3177"/>
              <a:ext cx="73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 dirty="0">
                  <a:latin typeface="隶书" pitchFamily="49" charset="-122"/>
                  <a:ea typeface="隶书" pitchFamily="49" charset="-122"/>
                </a:rPr>
                <a:t>磷酸甘油酸变位酶</a:t>
              </a:r>
              <a:endParaRPr lang="zh-CN" altLang="en-US" sz="1800" b="1" dirty="0"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15381" name="Rectangle 15"/>
            <p:cNvSpPr/>
            <p:nvPr/>
          </p:nvSpPr>
          <p:spPr>
            <a:xfrm>
              <a:off x="3560" y="3183"/>
              <a:ext cx="7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 dirty="0">
                  <a:latin typeface="隶书" pitchFamily="49" charset="-122"/>
                  <a:ea typeface="隶书" pitchFamily="49" charset="-122"/>
                </a:rPr>
                <a:t>烯醇化酶</a:t>
              </a:r>
              <a:endParaRPr lang="en-US" altLang="zh-CN" sz="1800" b="1" dirty="0"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15382" name="Rectangle 16"/>
            <p:cNvSpPr/>
            <p:nvPr/>
          </p:nvSpPr>
          <p:spPr>
            <a:xfrm>
              <a:off x="4352" y="3183"/>
              <a:ext cx="590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solidFill>
                    <a:srgbClr val="E60818"/>
                  </a:solidFill>
                  <a:latin typeface="Arial" panose="02080604020202020204" pitchFamily="34" charset="0"/>
                  <a:ea typeface="隶书" pitchFamily="49" charset="-122"/>
                </a:rPr>
                <a:t>丙酮酸激酶</a:t>
              </a:r>
              <a:endParaRPr lang="en-US" altLang="zh-CN" sz="1800" dirty="0">
                <a:solidFill>
                  <a:srgbClr val="E60818"/>
                </a:solidFill>
                <a:latin typeface="Arial" panose="02080604020202020204" pitchFamily="34" charset="0"/>
                <a:ea typeface="隶书" pitchFamily="49" charset="-122"/>
              </a:endParaRPr>
            </a:p>
          </p:txBody>
        </p:sp>
        <p:sp>
          <p:nvSpPr>
            <p:cNvPr id="15383" name="AutoShape 24"/>
            <p:cNvSpPr/>
            <p:nvPr/>
          </p:nvSpPr>
          <p:spPr>
            <a:xfrm>
              <a:off x="1928" y="3652"/>
              <a:ext cx="529" cy="337"/>
            </a:xfrm>
            <a:prstGeom prst="irregularSeal1">
              <a:avLst/>
            </a:prstGeom>
            <a:noFill/>
            <a:ln w="38100" cap="flat" cmpd="sng">
              <a:solidFill>
                <a:srgbClr val="DE5E1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solidFill>
                  <a:srgbClr val="FFFF00"/>
                </a:solidFill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15384" name="AutoShape 25"/>
            <p:cNvSpPr/>
            <p:nvPr/>
          </p:nvSpPr>
          <p:spPr>
            <a:xfrm>
              <a:off x="4669" y="3637"/>
              <a:ext cx="454" cy="363"/>
            </a:xfrm>
            <a:prstGeom prst="irregularSeal1">
              <a:avLst/>
            </a:prstGeom>
            <a:noFill/>
            <a:ln w="38100" cap="flat" cmpd="sng">
              <a:solidFill>
                <a:srgbClr val="DE5E1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15385" name="AutoShape 29"/>
            <p:cNvSpPr/>
            <p:nvPr/>
          </p:nvSpPr>
          <p:spPr>
            <a:xfrm>
              <a:off x="1565" y="2614"/>
              <a:ext cx="136" cy="105"/>
            </a:xfrm>
            <a:prstGeom prst="irregularSeal1">
              <a:avLst/>
            </a:prstGeom>
            <a:noFill/>
            <a:ln w="38100" cap="flat" cmpd="sng">
              <a:solidFill>
                <a:srgbClr val="E60818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15386" name="AutoShape 30"/>
            <p:cNvSpPr/>
            <p:nvPr/>
          </p:nvSpPr>
          <p:spPr>
            <a:xfrm>
              <a:off x="4332" y="2523"/>
              <a:ext cx="136" cy="105"/>
            </a:xfrm>
            <a:prstGeom prst="irregularSeal1">
              <a:avLst/>
            </a:prstGeom>
            <a:noFill/>
            <a:ln w="38100" cap="flat" cmpd="sng">
              <a:solidFill>
                <a:srgbClr val="E60818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endParaRPr>
            </a:p>
          </p:txBody>
        </p:sp>
      </p:grpSp>
      <p:grpSp>
        <p:nvGrpSpPr>
          <p:cNvPr id="15363" name="Group 32"/>
          <p:cNvGrpSpPr/>
          <p:nvPr/>
        </p:nvGrpSpPr>
        <p:grpSpPr>
          <a:xfrm>
            <a:off x="684213" y="708025"/>
            <a:ext cx="8459787" cy="2686050"/>
            <a:chOff x="431" y="446"/>
            <a:chExt cx="5329" cy="1692"/>
          </a:xfrm>
        </p:grpSpPr>
        <p:pic>
          <p:nvPicPr>
            <p:cNvPr id="15368" name="Picture 5" descr="09_09_glycolysis_pt1-L"/>
            <p:cNvPicPr>
              <a:picLocks noChangeAspect="1"/>
            </p:cNvPicPr>
            <p:nvPr/>
          </p:nvPicPr>
          <p:blipFill>
            <a:blip r:embed="rId2"/>
            <a:srcRect t="26270" r="7336"/>
            <a:stretch>
              <a:fillRect/>
            </a:stretch>
          </p:blipFill>
          <p:spPr>
            <a:xfrm>
              <a:off x="431" y="482"/>
              <a:ext cx="4989" cy="165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69" name="Rectangle 10"/>
            <p:cNvSpPr/>
            <p:nvPr/>
          </p:nvSpPr>
          <p:spPr>
            <a:xfrm>
              <a:off x="4029" y="507"/>
              <a:ext cx="68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80604020202020204" pitchFamily="34" charset="0"/>
                  <a:ea typeface="宋体" pitchFamily="2" charset="-122"/>
                </a:rPr>
                <a:t> </a:t>
              </a:r>
              <a:r>
                <a:rPr lang="zh-CN" altLang="en-US" sz="1800" b="1" dirty="0">
                  <a:latin typeface="隶书" pitchFamily="49" charset="-122"/>
                  <a:ea typeface="隶书" pitchFamily="49" charset="-122"/>
                </a:rPr>
                <a:t>醛缩酶</a:t>
              </a:r>
              <a:endParaRPr lang="en-US" altLang="zh-CN" sz="1800" b="1" dirty="0"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15370" name="Rectangle 11"/>
            <p:cNvSpPr/>
            <p:nvPr/>
          </p:nvSpPr>
          <p:spPr>
            <a:xfrm>
              <a:off x="4989" y="981"/>
              <a:ext cx="771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 dirty="0">
                  <a:latin typeface="隶书" pitchFamily="49" charset="-122"/>
                  <a:ea typeface="隶书" pitchFamily="49" charset="-122"/>
                </a:rPr>
                <a:t>丙糖磷酸异构酶</a:t>
              </a:r>
              <a:endParaRPr lang="zh-CN" altLang="en-US" sz="1800" b="1" dirty="0"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15371" name="Rectangle 17"/>
            <p:cNvSpPr/>
            <p:nvPr/>
          </p:nvSpPr>
          <p:spPr>
            <a:xfrm>
              <a:off x="1610" y="1399"/>
              <a:ext cx="544" cy="1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15372" name="Rectangle 18"/>
            <p:cNvSpPr/>
            <p:nvPr/>
          </p:nvSpPr>
          <p:spPr>
            <a:xfrm>
              <a:off x="2572" y="1414"/>
              <a:ext cx="544" cy="1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15373" name="Rectangle 19"/>
            <p:cNvSpPr/>
            <p:nvPr/>
          </p:nvSpPr>
          <p:spPr>
            <a:xfrm>
              <a:off x="3641" y="1409"/>
              <a:ext cx="681" cy="1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15374" name="Rectangle 9"/>
            <p:cNvSpPr/>
            <p:nvPr/>
          </p:nvSpPr>
          <p:spPr>
            <a:xfrm>
              <a:off x="2835" y="1344"/>
              <a:ext cx="980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solidFill>
                    <a:srgbClr val="E60818"/>
                  </a:solidFill>
                  <a:latin typeface="隶书" pitchFamily="49" charset="-122"/>
                  <a:ea typeface="隶书" pitchFamily="49" charset="-122"/>
                </a:rPr>
                <a:t>磷酸果糖激酶</a:t>
              </a:r>
              <a:br>
                <a:rPr lang="zh-CN" altLang="en-US" sz="1800" u="sng" dirty="0">
                  <a:solidFill>
                    <a:srgbClr val="E60818"/>
                  </a:solidFill>
                  <a:latin typeface="隶书" pitchFamily="49" charset="-122"/>
                  <a:ea typeface="隶书" pitchFamily="49" charset="-122"/>
                </a:rPr>
              </a:br>
              <a:r>
                <a:rPr lang="zh-CN" altLang="en-US" sz="1800" b="1" dirty="0">
                  <a:solidFill>
                    <a:srgbClr val="E60818"/>
                  </a:solidFill>
                  <a:latin typeface="隶书" pitchFamily="49" charset="-122"/>
                  <a:ea typeface="隶书" pitchFamily="49" charset="-122"/>
                </a:rPr>
                <a:t>（</a:t>
              </a:r>
              <a:r>
                <a:rPr lang="en-US" altLang="zh-CN" sz="1800" b="1" dirty="0">
                  <a:solidFill>
                    <a:srgbClr val="E60818"/>
                  </a:solidFill>
                  <a:latin typeface="隶书" pitchFamily="49" charset="-122"/>
                  <a:ea typeface="隶书" pitchFamily="49" charset="-122"/>
                </a:rPr>
                <a:t>PFK</a:t>
              </a:r>
              <a:r>
                <a:rPr lang="zh-CN" altLang="en-US" sz="1800" b="1" dirty="0">
                  <a:solidFill>
                    <a:srgbClr val="E60818"/>
                  </a:solidFill>
                  <a:latin typeface="隶书" pitchFamily="49" charset="-122"/>
                  <a:ea typeface="隶书" pitchFamily="49" charset="-122"/>
                </a:rPr>
                <a:t>）</a:t>
              </a:r>
              <a:endParaRPr lang="zh-CN" altLang="en-US" sz="18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15375" name="Rectangle 20"/>
            <p:cNvSpPr/>
            <p:nvPr/>
          </p:nvSpPr>
          <p:spPr>
            <a:xfrm>
              <a:off x="1474" y="446"/>
              <a:ext cx="584" cy="23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15376" name="Rectangle 7"/>
            <p:cNvSpPr/>
            <p:nvPr/>
          </p:nvSpPr>
          <p:spPr>
            <a:xfrm>
              <a:off x="1131" y="1359"/>
              <a:ext cx="6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solidFill>
                    <a:srgbClr val="E60818"/>
                  </a:solidFill>
                  <a:latin typeface="Arial" panose="02080604020202020204" pitchFamily="34" charset="0"/>
                  <a:ea typeface="隶书" pitchFamily="49" charset="-122"/>
                </a:rPr>
                <a:t>已糖激酶</a:t>
              </a:r>
              <a:endParaRPr lang="zh-CN" altLang="en-US" sz="1800" dirty="0">
                <a:solidFill>
                  <a:srgbClr val="E60818"/>
                </a:solidFill>
                <a:latin typeface="Arial" panose="02080604020202020204" pitchFamily="34" charset="0"/>
                <a:ea typeface="隶书" pitchFamily="49" charset="-122"/>
              </a:endParaRPr>
            </a:p>
          </p:txBody>
        </p:sp>
      </p:grpSp>
      <p:sp>
        <p:nvSpPr>
          <p:cNvPr id="15364" name="Text Box 22"/>
          <p:cNvSpPr txBox="1"/>
          <p:nvPr/>
        </p:nvSpPr>
        <p:spPr>
          <a:xfrm>
            <a:off x="468313" y="260350"/>
            <a:ext cx="1800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阶段</a:t>
            </a:r>
            <a:r>
              <a:rPr lang="en-US" altLang="zh-CN" sz="2400" b="1" dirty="0"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：</a:t>
            </a:r>
            <a:endParaRPr lang="zh-CN" altLang="en-US" sz="2400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5365" name="Text Box 23"/>
          <p:cNvSpPr txBox="1"/>
          <p:nvPr/>
        </p:nvSpPr>
        <p:spPr>
          <a:xfrm>
            <a:off x="611188" y="3460750"/>
            <a:ext cx="1800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阶段</a:t>
            </a:r>
            <a:r>
              <a:rPr lang="en-US" altLang="zh-CN" sz="2400" b="1" dirty="0"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：</a:t>
            </a:r>
            <a:endParaRPr lang="zh-CN" altLang="en-US" sz="2400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03132" name="AutoShape 28"/>
          <p:cNvSpPr/>
          <p:nvPr/>
        </p:nvSpPr>
        <p:spPr>
          <a:xfrm>
            <a:off x="1300163" y="5734050"/>
            <a:ext cx="1055687" cy="647700"/>
          </a:xfrm>
          <a:prstGeom prst="irregularSeal1">
            <a:avLst/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rgbClr val="FFFF00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5367" name="Rectangle 8"/>
          <p:cNvSpPr/>
          <p:nvPr/>
        </p:nvSpPr>
        <p:spPr>
          <a:xfrm>
            <a:off x="3074988" y="596900"/>
            <a:ext cx="12160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隶书" pitchFamily="49" charset="-122"/>
                <a:ea typeface="隶书" pitchFamily="49" charset="-122"/>
              </a:rPr>
              <a:t>磷酸葡萄糖异构酶</a:t>
            </a:r>
            <a:endParaRPr lang="zh-CN" altLang="en-US" sz="1800" b="1" dirty="0"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80580" name="Text Box 4"/>
          <p:cNvSpPr txBox="1"/>
          <p:nvPr/>
        </p:nvSpPr>
        <p:spPr>
          <a:xfrm>
            <a:off x="468313" y="1341438"/>
            <a:ext cx="8856662" cy="5016500"/>
          </a:xfrm>
          <a:prstGeom prst="rect">
            <a:avLst/>
          </a:prstGeom>
          <a:noFill/>
          <a:ln w="762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 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C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架变化 （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1x6C </a:t>
            </a:r>
            <a:r>
              <a:rPr lang="en-US" altLang="zh-CN" dirty="0">
                <a:latin typeface="隶书" pitchFamily="49" charset="-122"/>
                <a:ea typeface="隶书" pitchFamily="49" charset="-122"/>
                <a:sym typeface="Wingdings" panose="05000000000000000000" pitchFamily="2" charset="2"/>
              </a:rPr>
              <a:t> 2 x 3C)</a:t>
            </a:r>
            <a:endParaRPr lang="zh-CN" altLang="en-US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Char char="•"/>
            </a:pPr>
            <a:r>
              <a:rPr lang="en-US" altLang="zh-CN" dirty="0">
                <a:latin typeface="隶书" pitchFamily="49" charset="-122"/>
                <a:ea typeface="隶书" pitchFamily="49" charset="-122"/>
              </a:rPr>
              <a:t> H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去路 （递氢体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NAD/NADH+H</a:t>
            </a:r>
            <a:r>
              <a:rPr lang="en-US" altLang="zh-CN" baseline="30000" dirty="0">
                <a:latin typeface="隶书" pitchFamily="49" charset="-122"/>
                <a:ea typeface="隶书" pitchFamily="49" charset="-122"/>
              </a:rPr>
              <a:t>+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）</a:t>
            </a:r>
            <a:endParaRPr lang="en-US" altLang="zh-CN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Char char="•"/>
            </a:pPr>
            <a:r>
              <a:rPr lang="zh-CN" altLang="en-US" dirty="0">
                <a:latin typeface="隶书" pitchFamily="49" charset="-122"/>
                <a:ea typeface="隶书" pitchFamily="49" charset="-122"/>
              </a:rPr>
              <a:t> 与磷酸基团转移相关的能量分子</a:t>
            </a:r>
            <a:endParaRPr lang="zh-CN" altLang="en-US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latin typeface="隶书" pitchFamily="49" charset="-122"/>
                <a:ea typeface="隶书" pitchFamily="49" charset="-122"/>
              </a:rPr>
              <a:t>（ 两个高能中间代谢产物？与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ATP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之间关系？）</a:t>
            </a:r>
            <a:endParaRPr lang="zh-CN" altLang="en-US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Char char="•"/>
            </a:pPr>
            <a:r>
              <a:rPr lang="zh-CN" altLang="en-US" dirty="0">
                <a:latin typeface="隶书" pitchFamily="49" charset="-122"/>
                <a:ea typeface="隶书" pitchFamily="49" charset="-122"/>
              </a:rPr>
              <a:t> 关键步骤及其调控</a:t>
            </a:r>
            <a:endParaRPr lang="zh-CN" altLang="en-US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latin typeface="隶书" pitchFamily="49" charset="-122"/>
                <a:ea typeface="隶书" pitchFamily="49" charset="-122"/>
              </a:rPr>
              <a:t> （三个关键酶及其调节机制）</a:t>
            </a:r>
            <a:endParaRPr lang="en-US" altLang="zh-CN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 typeface="Arial" panose="02080604020202020204" pitchFamily="34" charset="0"/>
              <a:buChar char="•"/>
            </a:pPr>
            <a:r>
              <a:rPr lang="zh-CN" altLang="en-US" dirty="0">
                <a:latin typeface="隶书" pitchFamily="49" charset="-122"/>
                <a:ea typeface="隶书" pitchFamily="49" charset="-122"/>
              </a:rPr>
              <a:t> 重要概念</a:t>
            </a:r>
            <a:endParaRPr lang="en-US" altLang="zh-CN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6387" name="Text Box 5"/>
          <p:cNvSpPr txBox="1"/>
          <p:nvPr/>
        </p:nvSpPr>
        <p:spPr>
          <a:xfrm>
            <a:off x="900113" y="549275"/>
            <a:ext cx="259238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latin typeface="Arial" panose="02080604020202020204" pitchFamily="34" charset="0"/>
                <a:ea typeface="黑体" pitchFamily="49" charset="-122"/>
              </a:rPr>
              <a:t>重点掌握</a:t>
            </a:r>
            <a:endParaRPr lang="zh-CN" altLang="en-US" dirty="0">
              <a:latin typeface="Arial" panose="02080604020202020204" pitchFamily="34" charset="0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0580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>
                                            <p:txEl>
                                              <p:charRg st="22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80580">
                                            <p:txEl>
                                              <p:charRg st="22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>
                                            <p:txEl>
                                              <p:charRg st="44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80580">
                                            <p:txEl>
                                              <p:charRg st="44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>
                                            <p:txEl>
                                              <p:charRg st="60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80580">
                                            <p:txEl>
                                              <p:charRg st="60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>
                                            <p:txEl>
                                              <p:charRg st="84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80580">
                                            <p:txEl>
                                              <p:charRg st="84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>
                                            <p:txEl>
                                              <p:charRg st="94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80580">
                                            <p:txEl>
                                              <p:charRg st="94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>
                                            <p:txEl>
                                              <p:charRg st="109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80580">
                                            <p:txEl>
                                              <p:charRg st="109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6178" name="Rectangle 2"/>
          <p:cNvSpPr/>
          <p:nvPr/>
        </p:nvSpPr>
        <p:spPr>
          <a:xfrm>
            <a:off x="1835150" y="2205038"/>
            <a:ext cx="5889625" cy="1219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>
              <a:spcBef>
                <a:spcPct val="0"/>
              </a:spcBef>
              <a:buFontTx/>
              <a:buNone/>
            </a:pPr>
            <a:r>
              <a:rPr lang="zh-CN" altLang="en-US" sz="4000" b="1" dirty="0">
                <a:latin typeface="Arial" panose="02080604020202020204" pitchFamily="34" charset="0"/>
                <a:ea typeface="黑体" pitchFamily="49" charset="-122"/>
              </a:rPr>
              <a:t>糖酵解第一阶段的反应</a:t>
            </a:r>
            <a:endParaRPr lang="zh-CN" altLang="en-US" sz="4000" b="1" dirty="0">
              <a:latin typeface="Arial" panose="02080604020202020204" pitchFamily="34" charset="0"/>
              <a:ea typeface="黑体" pitchFamily="49" charset="-122"/>
            </a:endParaRPr>
          </a:p>
          <a:p>
            <a:pPr marL="342900" lvl="0" indent="-342900"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FF0066"/>
                </a:solidFill>
                <a:latin typeface="Arial" panose="02080604020202020204" pitchFamily="34" charset="0"/>
                <a:ea typeface="楷体_GB2312" pitchFamily="49" charset="-122"/>
              </a:rPr>
              <a:t>               </a:t>
            </a:r>
            <a:r>
              <a:rPr lang="en-US" altLang="zh-CN" sz="4000" b="1" dirty="0">
                <a:solidFill>
                  <a:srgbClr val="E60818"/>
                </a:solidFill>
                <a:latin typeface="Arial" panose="02080604020202020204" pitchFamily="34" charset="0"/>
                <a:ea typeface="楷体_GB2312" pitchFamily="49" charset="-122"/>
              </a:rPr>
              <a:t>——</a:t>
            </a:r>
            <a:r>
              <a:rPr lang="zh-CN" altLang="en-US" sz="4000" b="1" dirty="0">
                <a:solidFill>
                  <a:srgbClr val="E60818"/>
                </a:solidFill>
                <a:latin typeface="Arial" panose="02080604020202020204" pitchFamily="34" charset="0"/>
                <a:ea typeface="楷体_GB2312" pitchFamily="49" charset="-122"/>
              </a:rPr>
              <a:t>吸能阶段</a:t>
            </a:r>
            <a:endParaRPr lang="zh-CN" altLang="en-US" sz="4000" b="1" dirty="0">
              <a:solidFill>
                <a:srgbClr val="E60818"/>
              </a:solidFill>
              <a:latin typeface="Arial" panose="0208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6178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>
                                            <p:txEl>
                                              <p:charRg st="11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6178">
                                            <p:txEl>
                                              <p:charRg st="11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7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00708" name="Text Box 4"/>
          <p:cNvSpPr txBox="1"/>
          <p:nvPr/>
        </p:nvSpPr>
        <p:spPr>
          <a:xfrm>
            <a:off x="611188" y="4581525"/>
            <a:ext cx="8281987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dirty="0">
                <a:latin typeface="Arial" panose="02080604020202020204" pitchFamily="34" charset="0"/>
                <a:ea typeface="宋体" pitchFamily="2" charset="-122"/>
              </a:rPr>
              <a:t>ATP + H</a:t>
            </a:r>
            <a:r>
              <a:rPr lang="en-US" altLang="zh-CN" sz="2000" b="1" baseline="-25000" dirty="0">
                <a:latin typeface="Arial" panose="02080604020202020204" pitchFamily="34" charset="0"/>
                <a:ea typeface="宋体" pitchFamily="2" charset="-122"/>
              </a:rPr>
              <a:t>2</a:t>
            </a:r>
            <a:r>
              <a:rPr lang="en-US" altLang="zh-CN" sz="2000" b="1" dirty="0">
                <a:latin typeface="Arial" panose="02080604020202020204" pitchFamily="34" charset="0"/>
                <a:ea typeface="宋体" pitchFamily="2" charset="-122"/>
              </a:rPr>
              <a:t>O → ADP + Pi        △G</a:t>
            </a:r>
            <a:r>
              <a:rPr lang="en-US" altLang="zh-CN" sz="2000" b="1" baseline="30000" dirty="0"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2000" b="1" dirty="0">
                <a:latin typeface="Arial" panose="02080604020202020204" pitchFamily="34" charset="0"/>
                <a:ea typeface="宋体" pitchFamily="2" charset="-122"/>
              </a:rPr>
              <a:t>’ =  -30.5 kJ/mol    </a:t>
            </a:r>
            <a:endParaRPr lang="en-US" altLang="zh-CN" sz="2000" b="1" dirty="0"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dirty="0">
                <a:latin typeface="Arial" panose="02080604020202020204" pitchFamily="34" charset="0"/>
                <a:ea typeface="宋体" pitchFamily="2" charset="-122"/>
              </a:rPr>
              <a:t>6-P-G+ H</a:t>
            </a:r>
            <a:r>
              <a:rPr lang="en-US" altLang="zh-CN" sz="2000" b="1" baseline="-25000" dirty="0">
                <a:latin typeface="Arial" panose="02080604020202020204" pitchFamily="34" charset="0"/>
                <a:ea typeface="宋体" pitchFamily="2" charset="-122"/>
              </a:rPr>
              <a:t>2</a:t>
            </a:r>
            <a:r>
              <a:rPr lang="en-US" altLang="zh-CN" sz="2000" b="1" dirty="0">
                <a:latin typeface="Arial" panose="02080604020202020204" pitchFamily="34" charset="0"/>
                <a:ea typeface="宋体" pitchFamily="2" charset="-122"/>
              </a:rPr>
              <a:t>O → G + Pi           △G</a:t>
            </a:r>
            <a:r>
              <a:rPr lang="en-US" altLang="zh-CN" sz="2000" b="1" baseline="30000" dirty="0"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2000" b="1" dirty="0">
                <a:latin typeface="Arial" panose="02080604020202020204" pitchFamily="34" charset="0"/>
                <a:ea typeface="宋体" pitchFamily="2" charset="-122"/>
              </a:rPr>
              <a:t>’ =  -13.8 kJ/mol  (</a:t>
            </a:r>
            <a:r>
              <a:rPr lang="zh-CN" altLang="en-US" sz="2000" b="1" dirty="0">
                <a:latin typeface="Arial" panose="02080604020202020204" pitchFamily="34" charset="0"/>
                <a:ea typeface="宋体" pitchFamily="2" charset="-122"/>
              </a:rPr>
              <a:t>反向</a:t>
            </a:r>
            <a:r>
              <a:rPr lang="en-US" altLang="zh-CN" sz="2000" b="1" dirty="0">
                <a:latin typeface="Arial" panose="02080604020202020204" pitchFamily="34" charset="0"/>
                <a:ea typeface="宋体" pitchFamily="2" charset="-122"/>
              </a:rPr>
              <a:t>, △G</a:t>
            </a:r>
            <a:r>
              <a:rPr lang="en-US" altLang="zh-CN" sz="2000" b="1" baseline="30000" dirty="0"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2000" b="1" dirty="0">
                <a:latin typeface="Arial" panose="02080604020202020204" pitchFamily="34" charset="0"/>
                <a:ea typeface="宋体" pitchFamily="2" charset="-122"/>
              </a:rPr>
              <a:t>’</a:t>
            </a:r>
            <a:r>
              <a:rPr lang="zh-CN" altLang="en-US" sz="2000" b="1" dirty="0">
                <a:latin typeface="Arial" panose="02080604020202020204" pitchFamily="34" charset="0"/>
                <a:ea typeface="宋体" pitchFamily="2" charset="-122"/>
              </a:rPr>
              <a:t>为正值</a:t>
            </a:r>
            <a:r>
              <a:rPr lang="en-US" altLang="zh-CN" sz="2000" b="1" dirty="0">
                <a:latin typeface="Arial" panose="02080604020202020204" pitchFamily="34" charset="0"/>
                <a:ea typeface="宋体" pitchFamily="2" charset="-122"/>
              </a:rPr>
              <a:t>) </a:t>
            </a:r>
            <a:endParaRPr lang="en-US" altLang="zh-CN" sz="2000" b="1" dirty="0"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rPr>
              <a:t>ATP + G → 6-P-G + ADP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</a:t>
            </a:r>
            <a:r>
              <a:rPr lang="en-US" altLang="zh-CN" sz="2000" b="1" baseline="30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2000" b="1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’ = - 16.7 kJ/mol</a:t>
            </a:r>
            <a:endParaRPr lang="en-US" altLang="zh-CN" sz="2000" b="1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8435" name="Text Box 5"/>
          <p:cNvSpPr txBox="1"/>
          <p:nvPr/>
        </p:nvSpPr>
        <p:spPr>
          <a:xfrm>
            <a:off x="468313" y="260350"/>
            <a:ext cx="35274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葡萄糖磷酸化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8436" name="Rectangle 6"/>
          <p:cNvSpPr/>
          <p:nvPr/>
        </p:nvSpPr>
        <p:spPr>
          <a:xfrm>
            <a:off x="5991225" y="0"/>
            <a:ext cx="3152775" cy="701675"/>
          </a:xfrm>
          <a:prstGeom prst="rect">
            <a:avLst/>
          </a:prstGeom>
          <a:solidFill>
            <a:schemeClr val="folHlink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FFFF00"/>
                </a:solidFill>
                <a:latin typeface="Times New Roman" panose="02020603050405020304" charset="0"/>
                <a:ea typeface="隶书" pitchFamily="49" charset="-122"/>
              </a:rPr>
              <a:t>糖酵解过程</a:t>
            </a:r>
            <a:r>
              <a:rPr lang="en-US" altLang="zh-CN" sz="4000" b="1" dirty="0">
                <a:solidFill>
                  <a:srgbClr val="FFFF00"/>
                </a:solidFill>
                <a:latin typeface="Times New Roman" panose="02020603050405020304" charset="0"/>
                <a:ea typeface="隶书" pitchFamily="49" charset="-122"/>
              </a:rPr>
              <a:t>1</a:t>
            </a:r>
            <a:endParaRPr lang="en-US" altLang="zh-CN" sz="4800" b="1" dirty="0">
              <a:solidFill>
                <a:srgbClr val="3333FF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18437" name="Text Box 8"/>
          <p:cNvSpPr txBox="1"/>
          <p:nvPr/>
        </p:nvSpPr>
        <p:spPr>
          <a:xfrm>
            <a:off x="2592388" y="1916113"/>
            <a:ext cx="14747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</a:rPr>
              <a:t>+  ATP</a:t>
            </a:r>
            <a:r>
              <a:rPr lang="en-US" altLang="zh-CN" sz="2800" dirty="0">
                <a:latin typeface="Arial" panose="02080604020202020204" pitchFamily="34" charset="0"/>
                <a:ea typeface="宋体" pitchFamily="2" charset="-122"/>
              </a:rPr>
              <a:t>        </a:t>
            </a:r>
            <a:r>
              <a:rPr lang="en-US" altLang="zh-CN" sz="2800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                      </a:t>
            </a:r>
            <a:endParaRPr lang="en-US" altLang="zh-CN" sz="2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8438" name="Line 9"/>
          <p:cNvSpPr/>
          <p:nvPr/>
        </p:nvSpPr>
        <p:spPr>
          <a:xfrm>
            <a:off x="3779838" y="2205038"/>
            <a:ext cx="865187" cy="0"/>
          </a:xfrm>
          <a:prstGeom prst="line">
            <a:avLst/>
          </a:prstGeom>
          <a:ln w="57150" cap="flat" cmpd="sng">
            <a:solidFill>
              <a:srgbClr val="E60818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439" name="Text Box 10"/>
          <p:cNvSpPr txBox="1"/>
          <p:nvPr/>
        </p:nvSpPr>
        <p:spPr>
          <a:xfrm>
            <a:off x="1619250" y="3860800"/>
            <a:ext cx="56165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Arial" panose="02080604020202020204" pitchFamily="34" charset="0"/>
                <a:ea typeface="黑体" pitchFamily="49" charset="-122"/>
              </a:rPr>
              <a:t>己糖激酶催化的磷酰基转移反应</a:t>
            </a:r>
            <a:endParaRPr lang="zh-CN" altLang="en-US" sz="2800" dirty="0">
              <a:latin typeface="Arial" panose="02080604020202020204" pitchFamily="34" charset="0"/>
              <a:ea typeface="黑体" pitchFamily="49" charset="-122"/>
            </a:endParaRPr>
          </a:p>
        </p:txBody>
      </p:sp>
      <p:pic>
        <p:nvPicPr>
          <p:cNvPr id="18440" name="Picture 11" descr="7"/>
          <p:cNvPicPr>
            <a:picLocks noChangeAspect="1"/>
          </p:cNvPicPr>
          <p:nvPr/>
        </p:nvPicPr>
        <p:blipFill>
          <a:blip r:embed="rId1"/>
          <a:srcRect r="52655"/>
          <a:stretch>
            <a:fillRect/>
          </a:stretch>
        </p:blipFill>
        <p:spPr>
          <a:xfrm>
            <a:off x="179388" y="1412875"/>
            <a:ext cx="2449512" cy="1647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41" name="Picture 12" descr="7"/>
          <p:cNvPicPr>
            <a:picLocks noChangeAspect="1"/>
          </p:cNvPicPr>
          <p:nvPr/>
        </p:nvPicPr>
        <p:blipFill>
          <a:blip r:embed="rId1"/>
          <a:srcRect l="4173" r="52655" b="21291"/>
          <a:stretch>
            <a:fillRect/>
          </a:stretch>
        </p:blipFill>
        <p:spPr>
          <a:xfrm>
            <a:off x="4787900" y="1557338"/>
            <a:ext cx="2016125" cy="1296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42" name="Rectangle 14"/>
          <p:cNvSpPr/>
          <p:nvPr/>
        </p:nvSpPr>
        <p:spPr>
          <a:xfrm>
            <a:off x="6488113" y="2044700"/>
            <a:ext cx="1323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+  ADP </a:t>
            </a:r>
            <a:endParaRPr lang="zh-CN" altLang="en-US" sz="2400" dirty="0">
              <a:latin typeface="Arial" panose="02080604020202020204" pitchFamily="34" charset="0"/>
              <a:ea typeface="宋体" pitchFamily="2" charset="-122"/>
              <a:sym typeface="Wingdings" panose="05000000000000000000" pitchFamily="2" charset="2"/>
            </a:endParaRPr>
          </a:p>
        </p:txBody>
      </p:sp>
      <p:sp>
        <p:nvSpPr>
          <p:cNvPr id="18443" name="Text Box 15"/>
          <p:cNvSpPr txBox="1"/>
          <p:nvPr/>
        </p:nvSpPr>
        <p:spPr>
          <a:xfrm>
            <a:off x="5651500" y="1557338"/>
            <a:ext cx="504825" cy="3365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600" dirty="0">
                <a:latin typeface="Gulim" pitchFamily="34" charset="-127"/>
                <a:ea typeface="Gulim" pitchFamily="34" charset="-127"/>
              </a:rPr>
              <a:t>OP</a:t>
            </a:r>
            <a:endParaRPr lang="en-US" altLang="zh-CN" sz="1600" dirty="0"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18444" name="Text Box 7"/>
          <p:cNvSpPr txBox="1"/>
          <p:nvPr/>
        </p:nvSpPr>
        <p:spPr>
          <a:xfrm>
            <a:off x="3348038" y="1484313"/>
            <a:ext cx="1728787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  <a:latin typeface="Arial" panose="02080604020202020204" pitchFamily="34" charset="0"/>
                <a:ea typeface="黑体" pitchFamily="49" charset="-122"/>
              </a:rPr>
              <a:t>己糖激酶</a:t>
            </a:r>
            <a:endParaRPr lang="zh-CN" altLang="en-US" sz="2800" dirty="0">
              <a:solidFill>
                <a:srgbClr val="0000FF"/>
              </a:solidFill>
              <a:latin typeface="Arial" panose="02080604020202020204" pitchFamily="34" charset="0"/>
              <a:ea typeface="黑体" pitchFamily="49" charset="-122"/>
            </a:endParaRPr>
          </a:p>
        </p:txBody>
      </p:sp>
      <p:sp>
        <p:nvSpPr>
          <p:cNvPr id="18445" name="Text Box 17"/>
          <p:cNvSpPr txBox="1"/>
          <p:nvPr/>
        </p:nvSpPr>
        <p:spPr>
          <a:xfrm>
            <a:off x="2916238" y="6092825"/>
            <a:ext cx="34559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Arial" panose="02080604020202020204" pitchFamily="34" charset="0"/>
                <a:ea typeface="宋体" pitchFamily="2" charset="-122"/>
              </a:rPr>
              <a:t>（第二章例题）</a:t>
            </a:r>
            <a:endParaRPr lang="zh-CN" altLang="en-US" sz="2400" b="1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8446" name="Rectangle 18"/>
          <p:cNvSpPr/>
          <p:nvPr/>
        </p:nvSpPr>
        <p:spPr>
          <a:xfrm>
            <a:off x="2843213" y="2852738"/>
            <a:ext cx="2378075" cy="7794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</a:t>
            </a:r>
            <a:r>
              <a:rPr lang="en-US" altLang="zh-CN" sz="2000" b="1" baseline="30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1800" b="1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’ = - 16.7 kJ/mol</a:t>
            </a:r>
            <a:endParaRPr lang="en-US" altLang="zh-CN" sz="1800" b="1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 = - 33.5 kJ/mol</a:t>
            </a:r>
            <a:endParaRPr lang="en-US" altLang="zh-CN" sz="1800" b="1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>
                                            <p:txEl>
                                              <p:charRg st="53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00708">
                                            <p:txEl>
                                              <p:charRg st="53" end="1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>
                                            <p:txEl>
                                              <p:charRg st="120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2000"/>
                                        <p:tgtEl>
                                          <p:spTgt spid="200708">
                                            <p:txEl>
                                              <p:charRg st="120" end="1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9458" name="Line 2"/>
          <p:cNvSpPr/>
          <p:nvPr/>
        </p:nvSpPr>
        <p:spPr>
          <a:xfrm>
            <a:off x="0" y="6858000"/>
            <a:ext cx="9144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8243" name="Text Box 3"/>
          <p:cNvSpPr txBox="1"/>
          <p:nvPr/>
        </p:nvSpPr>
        <p:spPr>
          <a:xfrm>
            <a:off x="684213" y="1052513"/>
            <a:ext cx="7920037" cy="52133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badi MT Condensed Light" pitchFamily="34" charset="0"/>
                <a:ea typeface="隶书" pitchFamily="49" charset="-122"/>
              </a:rPr>
              <a:t>糖酵解途径第一个</a:t>
            </a:r>
            <a:r>
              <a:rPr lang="zh-CN" altLang="en-US" sz="2400" dirty="0">
                <a:solidFill>
                  <a:srgbClr val="E60818"/>
                </a:solidFill>
                <a:latin typeface="Abadi MT Condensed Light" pitchFamily="34" charset="0"/>
                <a:ea typeface="隶书" pitchFamily="49" charset="-122"/>
              </a:rPr>
              <a:t>关键酶：</a:t>
            </a:r>
            <a:r>
              <a:rPr lang="zh-CN" altLang="en-US" sz="2400" dirty="0">
                <a:latin typeface="Abadi MT Condensed Light" pitchFamily="34" charset="0"/>
                <a:ea typeface="隶书" pitchFamily="49" charset="-122"/>
              </a:rPr>
              <a:t>调节某一代谢途径中关键反应的酶，称为</a:t>
            </a:r>
            <a:r>
              <a:rPr lang="zh-CN" altLang="en-US" sz="2400" dirty="0">
                <a:solidFill>
                  <a:srgbClr val="E60818"/>
                </a:solidFill>
                <a:latin typeface="Abadi MT Condensed Light" pitchFamily="34" charset="0"/>
                <a:ea typeface="隶书" pitchFamily="49" charset="-122"/>
              </a:rPr>
              <a:t>关键酶</a:t>
            </a:r>
            <a:r>
              <a:rPr lang="zh-CN" altLang="en-US" sz="2400" dirty="0">
                <a:latin typeface="Abadi MT Condensed Light" pitchFamily="34" charset="0"/>
                <a:ea typeface="隶书" pitchFamily="49" charset="-122"/>
              </a:rPr>
              <a:t>。</a:t>
            </a:r>
            <a:endParaRPr lang="zh-CN" altLang="en-US" sz="2400" dirty="0">
              <a:latin typeface="Abadi MT Condensed Light" pitchFamily="34" charset="0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badi MT Condensed Light" pitchFamily="34" charset="0"/>
                <a:ea typeface="隶书" pitchFamily="49" charset="-122"/>
              </a:rPr>
              <a:t>代谢途径中反应速度最慢的环节称为限速反应，其催化酶称为</a:t>
            </a:r>
            <a:r>
              <a:rPr lang="zh-CN" altLang="en-US" sz="2400" dirty="0">
                <a:solidFill>
                  <a:srgbClr val="E60818"/>
                </a:solidFill>
                <a:latin typeface="Abadi MT Condensed Light" pitchFamily="34" charset="0"/>
                <a:ea typeface="隶书" pitchFamily="49" charset="-122"/>
              </a:rPr>
              <a:t>限速酶。</a:t>
            </a:r>
            <a:endParaRPr lang="zh-CN" altLang="en-US" sz="2400" dirty="0">
              <a:solidFill>
                <a:srgbClr val="E60818"/>
              </a:solidFill>
              <a:latin typeface="Abadi MT Condensed Light" pitchFamily="34" charset="0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en-US" altLang="zh-CN" sz="2400" dirty="0">
              <a:solidFill>
                <a:srgbClr val="E60818"/>
              </a:solidFill>
              <a:latin typeface="Abadi MT Condensed Light" pitchFamily="34" charset="0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E60818"/>
                </a:solidFill>
                <a:latin typeface="Abadi MT Condensed Light" pitchFamily="34" charset="0"/>
                <a:ea typeface="隶书" pitchFamily="49" charset="-122"/>
              </a:rPr>
              <a:t>激酶：</a:t>
            </a:r>
            <a:r>
              <a:rPr lang="zh-CN" altLang="en-US" sz="2400" dirty="0">
                <a:latin typeface="Abadi MT Condensed Light" pitchFamily="34" charset="0"/>
                <a:ea typeface="隶书" pitchFamily="49" charset="-122"/>
              </a:rPr>
              <a:t>能够在</a:t>
            </a:r>
            <a:r>
              <a:rPr lang="en-US" altLang="zh-CN" sz="2400" b="1" dirty="0">
                <a:latin typeface="Arial Black" pitchFamily="34" charset="0"/>
                <a:ea typeface="隶书" pitchFamily="49" charset="-122"/>
              </a:rPr>
              <a:t>ATP</a:t>
            </a:r>
            <a:r>
              <a:rPr lang="zh-CN" altLang="en-US" sz="2400" dirty="0">
                <a:latin typeface="Arial Black" pitchFamily="34" charset="0"/>
                <a:ea typeface="隶书" pitchFamily="49" charset="-122"/>
              </a:rPr>
              <a:t>和任何一种底物之间起催化作用，转</a:t>
            </a:r>
            <a:endParaRPr lang="zh-CN" altLang="en-US" sz="2400" dirty="0">
              <a:latin typeface="Arial Black" pitchFamily="34" charset="0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rial Black" pitchFamily="34" charset="0"/>
                <a:ea typeface="隶书" pitchFamily="49" charset="-122"/>
              </a:rPr>
              <a:t>         移磷酸基团的一类酶。</a:t>
            </a:r>
            <a:endParaRPr lang="zh-CN" altLang="en-US" sz="2400" dirty="0">
              <a:latin typeface="Arial Black" pitchFamily="34" charset="0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rial Black" pitchFamily="34" charset="0"/>
                <a:ea typeface="隶书" pitchFamily="49" charset="-122"/>
              </a:rPr>
              <a:t>已糖激酶：是催化从</a:t>
            </a:r>
            <a:r>
              <a:rPr lang="en-US" altLang="zh-CN" sz="2400" dirty="0">
                <a:latin typeface="Arial Black" pitchFamily="34" charset="0"/>
                <a:ea typeface="隶书" pitchFamily="49" charset="-122"/>
              </a:rPr>
              <a:t>ATP</a:t>
            </a:r>
            <a:r>
              <a:rPr lang="zh-CN" altLang="en-US" sz="2400" dirty="0">
                <a:latin typeface="Arial Black" pitchFamily="34" charset="0"/>
                <a:ea typeface="隶书" pitchFamily="49" charset="-122"/>
              </a:rPr>
              <a:t>转移磷酸基团转移至各种六碳</a:t>
            </a:r>
            <a:endParaRPr lang="zh-CN" altLang="en-US" sz="2400" dirty="0">
              <a:latin typeface="Arial Black" pitchFamily="34" charset="0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rial Black" pitchFamily="34" charset="0"/>
                <a:ea typeface="隶书" pitchFamily="49" charset="-122"/>
              </a:rPr>
              <a:t>               糖（如</a:t>
            </a:r>
            <a:r>
              <a:rPr lang="en-US" altLang="zh-CN" sz="2400" dirty="0">
                <a:latin typeface="Arial Black" pitchFamily="34" charset="0"/>
                <a:ea typeface="隶书" pitchFamily="49" charset="-122"/>
              </a:rPr>
              <a:t>G</a:t>
            </a:r>
            <a:r>
              <a:rPr lang="zh-CN" altLang="en-US" sz="2400" dirty="0">
                <a:latin typeface="Arial Black" pitchFamily="34" charset="0"/>
                <a:ea typeface="隶书" pitchFamily="49" charset="-122"/>
              </a:rPr>
              <a:t>、</a:t>
            </a:r>
            <a:r>
              <a:rPr lang="en-US" altLang="zh-CN" sz="2400" dirty="0">
                <a:latin typeface="Arial Black" pitchFamily="34" charset="0"/>
                <a:ea typeface="隶书" pitchFamily="49" charset="-122"/>
              </a:rPr>
              <a:t>F</a:t>
            </a:r>
            <a:r>
              <a:rPr lang="zh-CN" altLang="en-US" sz="2400" dirty="0">
                <a:latin typeface="Arial Black" pitchFamily="34" charset="0"/>
                <a:ea typeface="隶书" pitchFamily="49" charset="-122"/>
              </a:rPr>
              <a:t>）上去的酶。特异性较低。</a:t>
            </a:r>
            <a:endParaRPr lang="zh-CN" altLang="en-US" sz="2400" dirty="0">
              <a:latin typeface="Arial Black" pitchFamily="34" charset="0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rial Black" pitchFamily="34" charset="0"/>
                <a:ea typeface="隶书" pitchFamily="49" charset="-122"/>
              </a:rPr>
              <a:t>葡萄糖激酶：特异性催化</a:t>
            </a:r>
            <a:r>
              <a:rPr lang="en-US" altLang="zh-CN" sz="2400" dirty="0">
                <a:latin typeface="Arial Black" pitchFamily="34" charset="0"/>
                <a:ea typeface="隶书" pitchFamily="49" charset="-122"/>
              </a:rPr>
              <a:t>ATP</a:t>
            </a:r>
            <a:r>
              <a:rPr lang="zh-CN" altLang="en-US" sz="2400" dirty="0">
                <a:latin typeface="Arial Black" pitchFamily="34" charset="0"/>
                <a:ea typeface="隶书" pitchFamily="49" charset="-122"/>
              </a:rPr>
              <a:t>磷酸基团转移至葡萄糖</a:t>
            </a:r>
            <a:endParaRPr lang="zh-CN" altLang="en-US" sz="2400" dirty="0">
              <a:latin typeface="Arial Black" pitchFamily="34" charset="0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rial Black" pitchFamily="34" charset="0"/>
                <a:ea typeface="隶书" pitchFamily="49" charset="-122"/>
              </a:rPr>
              <a:t>                  分子的酶</a:t>
            </a:r>
            <a:r>
              <a:rPr lang="en-US" altLang="zh-CN" sz="2400" dirty="0">
                <a:latin typeface="Arial Black" pitchFamily="34" charset="0"/>
                <a:ea typeface="隶书" pitchFamily="49" charset="-122"/>
              </a:rPr>
              <a:t>. </a:t>
            </a:r>
            <a:r>
              <a:rPr lang="zh-CN" altLang="en-US" sz="2400" dirty="0">
                <a:latin typeface="Arial Black" pitchFamily="34" charset="0"/>
                <a:ea typeface="隶书" pitchFamily="49" charset="-122"/>
              </a:rPr>
              <a:t>在细胞葡萄糖浓度很高时起作用</a:t>
            </a:r>
            <a:r>
              <a:rPr lang="en-US" altLang="zh-CN" sz="2400" dirty="0">
                <a:latin typeface="Arial Black" pitchFamily="34" charset="0"/>
                <a:ea typeface="隶书" pitchFamily="49" charset="-122"/>
              </a:rPr>
              <a:t>, </a:t>
            </a:r>
            <a:endParaRPr lang="en-US" altLang="zh-CN" sz="2400" dirty="0">
              <a:latin typeface="Arial Black" pitchFamily="34" charset="0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 Black" pitchFamily="34" charset="0"/>
                <a:ea typeface="隶书" pitchFamily="49" charset="-122"/>
              </a:rPr>
              <a:t>                  </a:t>
            </a:r>
            <a:r>
              <a:rPr lang="zh-CN" altLang="en-US" sz="2400" dirty="0">
                <a:latin typeface="Arial Black" pitchFamily="34" charset="0"/>
                <a:ea typeface="隶书" pitchFamily="49" charset="-122"/>
              </a:rPr>
              <a:t>在糖原合成中发挥重要作用</a:t>
            </a:r>
            <a:r>
              <a:rPr lang="en-US" altLang="zh-CN" sz="2400" dirty="0">
                <a:latin typeface="Arial Black" pitchFamily="34" charset="0"/>
                <a:ea typeface="隶书" pitchFamily="49" charset="-122"/>
              </a:rPr>
              <a:t>.</a:t>
            </a:r>
            <a:endParaRPr lang="zh-CN" altLang="en-US" sz="2400" dirty="0">
              <a:latin typeface="Arial Black" pitchFamily="34" charset="0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rial Black" pitchFamily="34" charset="0"/>
                <a:ea typeface="隶书" pitchFamily="49" charset="-122"/>
              </a:rPr>
              <a:t>     </a:t>
            </a:r>
            <a:endParaRPr lang="zh-CN" altLang="en-US" sz="2400" dirty="0">
              <a:latin typeface="Abadi MT Condensed Light" pitchFamily="34" charset="0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Arial Black" pitchFamily="34" charset="0"/>
                <a:ea typeface="隶书" pitchFamily="49" charset="-122"/>
              </a:rPr>
              <a:t>激酶都需要离子</a:t>
            </a:r>
            <a:r>
              <a:rPr lang="en-US" altLang="zh-CN" sz="2400" dirty="0">
                <a:solidFill>
                  <a:srgbClr val="FF3300"/>
                </a:solidFill>
                <a:latin typeface="Arial Black" pitchFamily="34" charset="0"/>
                <a:ea typeface="宋体" pitchFamily="2" charset="-122"/>
              </a:rPr>
              <a:t>Mg</a:t>
            </a:r>
            <a:r>
              <a:rPr lang="en-US" altLang="zh-CN" sz="2400" baseline="30000" dirty="0">
                <a:solidFill>
                  <a:srgbClr val="FF3300"/>
                </a:solidFill>
                <a:latin typeface="Arial Black" pitchFamily="34" charset="0"/>
                <a:ea typeface="宋体" pitchFamily="2" charset="-122"/>
              </a:rPr>
              <a:t>2+</a:t>
            </a:r>
            <a:r>
              <a:rPr lang="zh-CN" altLang="en-US" sz="2400" dirty="0">
                <a:latin typeface="Arial Black" pitchFamily="34" charset="0"/>
                <a:ea typeface="隶书" pitchFamily="49" charset="-122"/>
              </a:rPr>
              <a:t>作为辅助因子</a:t>
            </a:r>
            <a:endParaRPr lang="zh-CN" altLang="en-US" sz="2400" dirty="0">
              <a:latin typeface="Arial Black" pitchFamily="34" charset="0"/>
              <a:ea typeface="隶书" pitchFamily="49" charset="-122"/>
            </a:endParaRPr>
          </a:p>
        </p:txBody>
      </p:sp>
      <p:sp>
        <p:nvSpPr>
          <p:cNvPr id="19460" name="Rectangle 5"/>
          <p:cNvSpPr/>
          <p:nvPr/>
        </p:nvSpPr>
        <p:spPr>
          <a:xfrm>
            <a:off x="3348038" y="384175"/>
            <a:ext cx="3232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E60818"/>
                </a:solidFill>
                <a:latin typeface="黑体" pitchFamily="49" charset="-122"/>
                <a:ea typeface="黑体" pitchFamily="49" charset="-122"/>
              </a:rPr>
              <a:t>已糖激酶</a:t>
            </a:r>
            <a:r>
              <a:rPr lang="en-US" altLang="zh-CN" sz="2400" dirty="0">
                <a:solidFill>
                  <a:srgbClr val="E60818"/>
                </a:solidFill>
                <a:latin typeface="黑体" pitchFamily="49" charset="-122"/>
                <a:ea typeface="黑体" pitchFamily="49" charset="-122"/>
              </a:rPr>
              <a:t>(hexokinase)</a:t>
            </a:r>
            <a:endParaRPr lang="en-US" altLang="zh-CN" sz="2400" dirty="0">
              <a:solidFill>
                <a:srgbClr val="E60818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charRg st="35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38243">
                                            <p:txEl>
                                              <p:charRg st="35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charRg st="68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138243">
                                            <p:txEl>
                                              <p:charRg st="68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charRg st="94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138243">
                                            <p:txEl>
                                              <p:charRg st="94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charRg st="114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138243">
                                            <p:txEl>
                                              <p:charRg st="114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charRg st="140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138243">
                                            <p:txEl>
                                              <p:charRg st="140" end="1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charRg st="174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138243">
                                            <p:txEl>
                                              <p:charRg st="174" end="1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charRg st="199" end="2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1000"/>
                                        <p:tgtEl>
                                          <p:spTgt spid="138243">
                                            <p:txEl>
                                              <p:charRg st="199" end="2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charRg st="240" end="2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1000"/>
                                        <p:tgtEl>
                                          <p:spTgt spid="138243">
                                            <p:txEl>
                                              <p:charRg st="240" end="2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charRg st="272" end="2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1000"/>
                                        <p:tgtEl>
                                          <p:spTgt spid="138243">
                                            <p:txEl>
                                              <p:charRg st="272" end="2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charRg st="278" end="2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8243">
                                            <p:txEl>
                                              <p:charRg st="278" end="2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8243">
                                            <p:txEl>
                                              <p:charRg st="278" end="2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42338" name="Text Box 2"/>
          <p:cNvSpPr txBox="1"/>
          <p:nvPr/>
        </p:nvSpPr>
        <p:spPr>
          <a:xfrm>
            <a:off x="1187450" y="1662113"/>
            <a:ext cx="6840538" cy="3937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FontTx/>
              <a:buBlip>
                <a:blip r:embed="rId1"/>
              </a:buBlip>
            </a:pP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 催化不可逆反应</a:t>
            </a:r>
            <a:endParaRPr lang="zh-CN" altLang="en-US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buFontTx/>
              <a:buBlip>
                <a:blip r:embed="rId1"/>
              </a:buBlip>
            </a:pP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 催化效率低</a:t>
            </a:r>
            <a:endParaRPr lang="zh-CN" altLang="en-US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buFontTx/>
              <a:buBlip>
                <a:blip r:embed="rId1"/>
              </a:buBlip>
            </a:pP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 受多重因素（代谢物或激素等）的调节</a:t>
            </a:r>
            <a:endParaRPr lang="zh-CN" altLang="en-US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buFontTx/>
              <a:buBlip>
                <a:blip r:embed="rId1"/>
              </a:buBlip>
            </a:pP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 常常为整条途径中催化初始反应的酶</a:t>
            </a:r>
            <a:endParaRPr lang="zh-CN" altLang="en-US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buFontTx/>
              <a:buBlip>
                <a:blip r:embed="rId1"/>
              </a:buBlip>
            </a:pP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 酶活性的改变可影响整个代谢途径的速</a:t>
            </a:r>
            <a:endParaRPr lang="zh-CN" altLang="en-US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  度和方向</a:t>
            </a:r>
            <a:endParaRPr lang="zh-CN" altLang="en-US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1507" name="Text Box 8"/>
          <p:cNvSpPr txBox="1"/>
          <p:nvPr/>
        </p:nvSpPr>
        <p:spPr>
          <a:xfrm>
            <a:off x="2268538" y="549275"/>
            <a:ext cx="470217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隶书" pitchFamily="49" charset="-122"/>
                <a:ea typeface="隶书" pitchFamily="49" charset="-122"/>
              </a:rPr>
              <a:t>关键酶</a:t>
            </a:r>
            <a:r>
              <a:rPr lang="en-US" altLang="zh-CN" sz="3600" dirty="0">
                <a:latin typeface="隶书" pitchFamily="49" charset="-122"/>
                <a:ea typeface="隶书" pitchFamily="49" charset="-122"/>
              </a:rPr>
              <a:t>/</a:t>
            </a:r>
            <a:r>
              <a:rPr lang="zh-CN" altLang="en-US" sz="3600" dirty="0">
                <a:latin typeface="隶书" pitchFamily="49" charset="-122"/>
                <a:ea typeface="隶书" pitchFamily="49" charset="-122"/>
              </a:rPr>
              <a:t>限速酶特点</a:t>
            </a:r>
            <a:endParaRPr lang="zh-CN" altLang="en-US" sz="3600" dirty="0"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233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>
                                            <p:txEl>
                                              <p:charRg st="9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2338">
                                            <p:txEl>
                                              <p:charRg st="9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>
                                            <p:txEl>
                                              <p:charRg st="16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2338">
                                            <p:txEl>
                                              <p:charRg st="16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>
                                            <p:txEl>
                                              <p:charRg st="35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2338">
                                            <p:txEl>
                                              <p:charRg st="35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>
                                            <p:txEl>
                                              <p:charRg st="53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2338">
                                            <p:txEl>
                                              <p:charRg st="53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>
                                            <p:txEl>
                                              <p:charRg st="72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2338">
                                            <p:txEl>
                                              <p:charRg st="72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3554" name="Text Box 3"/>
          <p:cNvSpPr txBox="1"/>
          <p:nvPr/>
        </p:nvSpPr>
        <p:spPr>
          <a:xfrm>
            <a:off x="684213" y="5013325"/>
            <a:ext cx="8135937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葡萄糖结合后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,  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酶的构象改变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,  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催化磷酸化反应进行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. </a:t>
            </a:r>
            <a:endParaRPr lang="en-US" altLang="zh-CN" sz="2400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已糖激酶的催化机制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符合典型的酶诱导契合假说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.</a:t>
            </a:r>
            <a:endParaRPr lang="en-US" altLang="zh-CN" sz="2400" dirty="0"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23555" name="Picture 5" descr="h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0" y="981075"/>
            <a:ext cx="4321175" cy="3455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6" name="Rectangle 6"/>
          <p:cNvSpPr/>
          <p:nvPr/>
        </p:nvSpPr>
        <p:spPr>
          <a:xfrm>
            <a:off x="684213" y="6092825"/>
            <a:ext cx="693420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80604020202020204" pitchFamily="34" charset="0"/>
                <a:ea typeface="宋体" pitchFamily="2" charset="-122"/>
              </a:rPr>
              <a:t>http://www.chem.ucsb.edu/~molvisual/ABLE/induced_fit/index.html</a:t>
            </a: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23557" name="Rectangle 9"/>
          <p:cNvSpPr/>
          <p:nvPr/>
        </p:nvSpPr>
        <p:spPr>
          <a:xfrm>
            <a:off x="611188" y="188913"/>
            <a:ext cx="42989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隶书" pitchFamily="49" charset="-122"/>
                <a:ea typeface="隶书" pitchFamily="49" charset="-122"/>
              </a:rPr>
              <a:t>已糖激酶的催化机制</a:t>
            </a:r>
            <a:endParaRPr lang="zh-CN" altLang="en-US" sz="36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3558" name="Text Box 11"/>
          <p:cNvSpPr txBox="1"/>
          <p:nvPr/>
        </p:nvSpPr>
        <p:spPr>
          <a:xfrm>
            <a:off x="4211638" y="4437063"/>
            <a:ext cx="20875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Arial" panose="02080604020202020204" pitchFamily="34" charset="0"/>
                <a:ea typeface="黑体" pitchFamily="49" charset="-122"/>
              </a:rPr>
              <a:t>二聚体</a:t>
            </a:r>
            <a:endParaRPr lang="zh-CN" altLang="en-US" sz="2400" dirty="0">
              <a:latin typeface="Arial" panose="02080604020202020204" pitchFamily="34" charset="0"/>
              <a:ea typeface="黑体" pitchFamily="49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5602" name="Picture 2"/>
          <p:cNvPicPr>
            <a:picLocks noChangeAspect="1"/>
          </p:cNvPicPr>
          <p:nvPr/>
        </p:nvPicPr>
        <p:blipFill>
          <a:blip r:embed="rId1"/>
          <a:srcRect l="28008" t="32292" r="17441" b="24969"/>
          <a:stretch>
            <a:fillRect/>
          </a:stretch>
        </p:blipFill>
        <p:spPr>
          <a:xfrm>
            <a:off x="1116013" y="1125538"/>
            <a:ext cx="7272337" cy="4275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1059" name="Text Box 3"/>
          <p:cNvSpPr txBox="1"/>
          <p:nvPr/>
        </p:nvSpPr>
        <p:spPr>
          <a:xfrm>
            <a:off x="1042988" y="5876925"/>
            <a:ext cx="810101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rPr>
              <a:t>ATP + G → 6-P-G + ADP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</a:t>
            </a:r>
            <a:r>
              <a:rPr lang="en-US" altLang="zh-CN" sz="2000" b="1" baseline="30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2000" b="1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’ = - 16.7 kJ/mol</a:t>
            </a:r>
            <a:endParaRPr lang="en-US" altLang="zh-CN" sz="2000" b="1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25604" name="Text Box 6"/>
          <p:cNvSpPr txBox="1"/>
          <p:nvPr/>
        </p:nvSpPr>
        <p:spPr>
          <a:xfrm>
            <a:off x="3171825" y="2955925"/>
            <a:ext cx="1728788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  <a:latin typeface="Arial" panose="02080604020202020204" pitchFamily="34" charset="0"/>
                <a:ea typeface="黑体" pitchFamily="49" charset="-122"/>
              </a:rPr>
              <a:t>己糖激酶</a:t>
            </a:r>
            <a:endParaRPr lang="zh-CN" altLang="en-US" sz="2800" dirty="0">
              <a:solidFill>
                <a:srgbClr val="0000FF"/>
              </a:solidFill>
              <a:latin typeface="Arial" panose="02080604020202020204" pitchFamily="34" charset="0"/>
              <a:ea typeface="黑体" pitchFamily="49" charset="-122"/>
            </a:endParaRPr>
          </a:p>
        </p:txBody>
      </p:sp>
      <p:sp>
        <p:nvSpPr>
          <p:cNvPr id="25605" name="Rectangle 7"/>
          <p:cNvSpPr/>
          <p:nvPr/>
        </p:nvSpPr>
        <p:spPr>
          <a:xfrm>
            <a:off x="611188" y="188913"/>
            <a:ext cx="42989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隶书" pitchFamily="49" charset="-122"/>
                <a:ea typeface="隶书" pitchFamily="49" charset="-122"/>
              </a:rPr>
              <a:t>已糖激酶的催化机制</a:t>
            </a:r>
            <a:endParaRPr lang="zh-CN" altLang="en-US" sz="3600" dirty="0"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301059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2" name="Group 3"/>
          <p:cNvGrpSpPr/>
          <p:nvPr/>
        </p:nvGrpSpPr>
        <p:grpSpPr>
          <a:xfrm>
            <a:off x="5791200" y="1460500"/>
            <a:ext cx="3352800" cy="4068763"/>
            <a:chOff x="3888" y="1296"/>
            <a:chExt cx="2112" cy="2563"/>
          </a:xfrm>
        </p:grpSpPr>
        <p:sp>
          <p:nvSpPr>
            <p:cNvPr id="26637" name="Text Box 4"/>
            <p:cNvSpPr txBox="1"/>
            <p:nvPr/>
          </p:nvSpPr>
          <p:spPr>
            <a:xfrm>
              <a:off x="3888" y="3494"/>
              <a:ext cx="211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080808"/>
                  </a:solidFill>
                  <a:latin typeface="Abadi MT Condensed Light" pitchFamily="34" charset="0"/>
                  <a:ea typeface="宋体" pitchFamily="2" charset="-122"/>
                </a:rPr>
                <a:t>       </a:t>
              </a:r>
              <a:r>
                <a:rPr lang="en-US" altLang="zh-CN" b="1" dirty="0">
                  <a:solidFill>
                    <a:srgbClr val="080808"/>
                  </a:solidFill>
                  <a:latin typeface="Abadi MT Condensed Light" pitchFamily="34" charset="0"/>
                  <a:ea typeface="宋体" pitchFamily="2" charset="-122"/>
                </a:rPr>
                <a:t>(F-6-P</a:t>
              </a:r>
              <a:r>
                <a:rPr lang="zh-CN" altLang="en-US" b="1" dirty="0">
                  <a:solidFill>
                    <a:srgbClr val="080808"/>
                  </a:solidFill>
                  <a:latin typeface="Abadi MT Condensed Light" pitchFamily="34" charset="0"/>
                  <a:ea typeface="宋体" pitchFamily="2" charset="-122"/>
                </a:rPr>
                <a:t>）</a:t>
              </a:r>
              <a:endParaRPr lang="zh-CN" altLang="zh-CN" b="1" dirty="0">
                <a:solidFill>
                  <a:srgbClr val="080808"/>
                </a:solidFill>
                <a:latin typeface="Times New Roman" panose="02020603050405020304" charset="0"/>
                <a:ea typeface="宋体" pitchFamily="2" charset="-122"/>
              </a:endParaRPr>
            </a:p>
          </p:txBody>
        </p:sp>
        <p:pic>
          <p:nvPicPr>
            <p:cNvPr id="26638" name="Picture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76" y="1296"/>
              <a:ext cx="1323" cy="213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6627" name="Rectangle 6"/>
          <p:cNvSpPr/>
          <p:nvPr/>
        </p:nvSpPr>
        <p:spPr>
          <a:xfrm>
            <a:off x="5991225" y="333375"/>
            <a:ext cx="3152775" cy="701675"/>
          </a:xfrm>
          <a:prstGeom prst="rect">
            <a:avLst/>
          </a:prstGeom>
          <a:solidFill>
            <a:schemeClr val="folHlink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FFFF00"/>
                </a:solidFill>
                <a:latin typeface="Times New Roman" panose="02020603050405020304" charset="0"/>
                <a:ea typeface="隶书" pitchFamily="49" charset="-122"/>
              </a:rPr>
              <a:t>糖酵解过程</a:t>
            </a:r>
            <a:r>
              <a:rPr lang="en-US" altLang="zh-CN" sz="4000" b="1" dirty="0">
                <a:solidFill>
                  <a:srgbClr val="FFFF00"/>
                </a:solidFill>
                <a:latin typeface="Times New Roman" panose="02020603050405020304" charset="0"/>
                <a:ea typeface="隶书" pitchFamily="49" charset="-122"/>
              </a:rPr>
              <a:t>1</a:t>
            </a:r>
            <a:endParaRPr lang="en-US" altLang="zh-CN" sz="4800" b="1" dirty="0">
              <a:solidFill>
                <a:srgbClr val="3333FF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144392" name="Text Box 8"/>
          <p:cNvSpPr txBox="1"/>
          <p:nvPr/>
        </p:nvSpPr>
        <p:spPr>
          <a:xfrm>
            <a:off x="2771775" y="2349500"/>
            <a:ext cx="32400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磷酸葡萄糖异构酶</a:t>
            </a:r>
            <a:endParaRPr lang="zh-CN" altLang="en-US" sz="2800" b="1" dirty="0">
              <a:solidFill>
                <a:schemeClr val="accent2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44393" name="Line 9"/>
          <p:cNvSpPr/>
          <p:nvPr/>
        </p:nvSpPr>
        <p:spPr>
          <a:xfrm>
            <a:off x="2627313" y="2997200"/>
            <a:ext cx="3470275" cy="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grpSp>
        <p:nvGrpSpPr>
          <p:cNvPr id="3" name="Group 10"/>
          <p:cNvGrpSpPr/>
          <p:nvPr/>
        </p:nvGrpSpPr>
        <p:grpSpPr>
          <a:xfrm>
            <a:off x="179388" y="1341438"/>
            <a:ext cx="3455987" cy="4243387"/>
            <a:chOff x="192" y="1008"/>
            <a:chExt cx="2016" cy="2879"/>
          </a:xfrm>
        </p:grpSpPr>
        <p:sp>
          <p:nvSpPr>
            <p:cNvPr id="26635" name="Text Box 11"/>
            <p:cNvSpPr txBox="1"/>
            <p:nvPr/>
          </p:nvSpPr>
          <p:spPr>
            <a:xfrm>
              <a:off x="192" y="3494"/>
              <a:ext cx="2016" cy="3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solidFill>
                    <a:srgbClr val="080808"/>
                  </a:solidFill>
                  <a:latin typeface="Abadi MT Condensed Light" pitchFamily="34" charset="0"/>
                  <a:ea typeface="宋体" pitchFamily="2" charset="-122"/>
                </a:rPr>
                <a:t>(G-6-P</a:t>
              </a:r>
              <a:r>
                <a:rPr lang="zh-CN" altLang="en-US" b="1" dirty="0">
                  <a:solidFill>
                    <a:srgbClr val="080808"/>
                  </a:solidFill>
                  <a:latin typeface="Abadi MT Condensed Light" pitchFamily="34" charset="0"/>
                  <a:ea typeface="宋体" pitchFamily="2" charset="-122"/>
                </a:rPr>
                <a:t>）</a:t>
              </a:r>
              <a:endParaRPr lang="zh-CN" altLang="zh-CN" dirty="0">
                <a:latin typeface="Times New Roman" panose="02020603050405020304" charset="0"/>
                <a:ea typeface="宋体" pitchFamily="2" charset="-122"/>
              </a:endParaRPr>
            </a:p>
          </p:txBody>
        </p:sp>
        <p:pic>
          <p:nvPicPr>
            <p:cNvPr id="26636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6" y="1008"/>
              <a:ext cx="1394" cy="240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44399" name="Rectangle 15"/>
          <p:cNvSpPr/>
          <p:nvPr/>
        </p:nvSpPr>
        <p:spPr>
          <a:xfrm>
            <a:off x="3635375" y="3213100"/>
            <a:ext cx="16573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E60818"/>
                </a:solidFill>
                <a:latin typeface="Arial" panose="02080604020202020204" pitchFamily="34" charset="0"/>
                <a:ea typeface="隶书" pitchFamily="49" charset="-122"/>
              </a:rPr>
              <a:t>专一性高</a:t>
            </a:r>
            <a:endParaRPr lang="zh-CN" altLang="en-US" sz="2400" b="1" dirty="0">
              <a:solidFill>
                <a:srgbClr val="E60818"/>
              </a:solidFill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26632" name="Text Box 16"/>
          <p:cNvSpPr txBox="1"/>
          <p:nvPr/>
        </p:nvSpPr>
        <p:spPr>
          <a:xfrm>
            <a:off x="323850" y="260350"/>
            <a:ext cx="5040313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葡萄糖6-磷酸异构化</a:t>
            </a:r>
            <a:br>
              <a:rPr lang="zh-CN" altLang="zh-CN" sz="2800" dirty="0">
                <a:latin typeface="黑体" pitchFamily="49" charset="-122"/>
                <a:ea typeface="黑体" pitchFamily="49" charset="-122"/>
              </a:rPr>
            </a:b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         转变为果糖6-磷酸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44403" name="Rectangle 19"/>
          <p:cNvSpPr/>
          <p:nvPr/>
        </p:nvSpPr>
        <p:spPr>
          <a:xfrm>
            <a:off x="3203575" y="3860800"/>
            <a:ext cx="2373313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</a:t>
            </a:r>
            <a:r>
              <a:rPr lang="en-US" altLang="zh-CN" sz="2000" baseline="30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2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’ =  1.7 kJ/mol</a:t>
            </a:r>
            <a:endParaRPr lang="en-US" altLang="zh-CN" sz="20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 = - 2.51 kJ/mol</a:t>
            </a:r>
            <a:endParaRPr lang="zh-CN" altLang="en-US" sz="20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44404" name="Text Box 20"/>
          <p:cNvSpPr txBox="1"/>
          <p:nvPr/>
        </p:nvSpPr>
        <p:spPr>
          <a:xfrm>
            <a:off x="611188" y="5661025"/>
            <a:ext cx="7993062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000099"/>
                </a:solidFill>
                <a:latin typeface="Arial" panose="02080604020202020204" pitchFamily="34" charset="0"/>
                <a:ea typeface="楷体_GB2312" pitchFamily="49" charset="-122"/>
              </a:rPr>
              <a:t>酶专一性极高，戊糖磷酸途径中间代谢产物对其有强烈的竞争性抑制。</a:t>
            </a:r>
            <a:endParaRPr lang="zh-CN" altLang="en-US" sz="1800" b="1" dirty="0">
              <a:solidFill>
                <a:srgbClr val="000099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44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92" grpId="0"/>
      <p:bldP spid="144399" grpId="0"/>
      <p:bldP spid="144403" grpId="0"/>
      <p:bldP spid="14440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867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765175"/>
            <a:ext cx="8139113" cy="377825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8675" name="Text Box 3"/>
          <p:cNvSpPr txBox="1"/>
          <p:nvPr/>
        </p:nvSpPr>
        <p:spPr>
          <a:xfrm>
            <a:off x="755650" y="333375"/>
            <a:ext cx="230505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charset="0"/>
                <a:ea typeface="黑体" pitchFamily="49" charset="-122"/>
              </a:rPr>
              <a:t>异构化反应</a:t>
            </a:r>
            <a:endParaRPr lang="zh-CN" altLang="en-US" sz="2800" b="1" dirty="0">
              <a:latin typeface="Times New Roman" panose="02020603050405020304" charset="0"/>
              <a:ea typeface="黑体" pitchFamily="49" charset="-122"/>
            </a:endParaRPr>
          </a:p>
        </p:txBody>
      </p:sp>
      <p:sp>
        <p:nvSpPr>
          <p:cNvPr id="28676" name="Text Box 4"/>
          <p:cNvSpPr txBox="1"/>
          <p:nvPr/>
        </p:nvSpPr>
        <p:spPr>
          <a:xfrm>
            <a:off x="620713" y="1547813"/>
            <a:ext cx="792162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E-Lys</a:t>
            </a:r>
            <a:endParaRPr lang="en-US" altLang="zh-CN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203781" name="Text Box 5"/>
          <p:cNvSpPr txBox="1"/>
          <p:nvPr/>
        </p:nvSpPr>
        <p:spPr>
          <a:xfrm>
            <a:off x="611188" y="2565400"/>
            <a:ext cx="2016125" cy="210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Arial" panose="02080604020202020204" pitchFamily="34" charset="0"/>
                <a:ea typeface="隶书" pitchFamily="49" charset="-122"/>
              </a:rPr>
              <a:t>诱导开环</a:t>
            </a:r>
            <a:endParaRPr lang="zh-CN" altLang="en-US" sz="2400" dirty="0">
              <a:solidFill>
                <a:srgbClr val="0000FF"/>
              </a:solidFill>
              <a:latin typeface="Arial" panose="02080604020202020204" pitchFamily="34" charset="0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Arial" panose="02080604020202020204" pitchFamily="34" charset="0"/>
                <a:ea typeface="隶书" pitchFamily="49" charset="-122"/>
              </a:rPr>
              <a:t>烯二醇中间体</a:t>
            </a:r>
            <a:endParaRPr lang="zh-CN" altLang="en-US" sz="2400" dirty="0">
              <a:solidFill>
                <a:srgbClr val="0000FF"/>
              </a:solidFill>
              <a:latin typeface="Arial" panose="02080604020202020204" pitchFamily="34" charset="0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Arial" panose="02080604020202020204" pitchFamily="34" charset="0"/>
                <a:ea typeface="隶书" pitchFamily="49" charset="-122"/>
              </a:rPr>
              <a:t>质子交换转移</a:t>
            </a:r>
            <a:endParaRPr lang="zh-CN" altLang="en-US" sz="2400" dirty="0">
              <a:solidFill>
                <a:srgbClr val="0000FF"/>
              </a:solidFill>
              <a:latin typeface="Arial" panose="02080604020202020204" pitchFamily="34" charset="0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Arial" panose="02080604020202020204" pitchFamily="34" charset="0"/>
                <a:ea typeface="隶书" pitchFamily="49" charset="-122"/>
              </a:rPr>
              <a:t>闭环</a:t>
            </a:r>
            <a:endParaRPr lang="zh-CN" altLang="en-US" sz="2400" dirty="0">
              <a:solidFill>
                <a:srgbClr val="0000FF"/>
              </a:solidFill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28678" name="Line 7"/>
          <p:cNvSpPr/>
          <p:nvPr/>
        </p:nvSpPr>
        <p:spPr>
          <a:xfrm>
            <a:off x="5219700" y="981075"/>
            <a:ext cx="730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" name="Group 11"/>
          <p:cNvGrpSpPr/>
          <p:nvPr/>
        </p:nvGrpSpPr>
        <p:grpSpPr>
          <a:xfrm>
            <a:off x="1041400" y="4738688"/>
            <a:ext cx="6899275" cy="1971675"/>
            <a:chOff x="656" y="2985"/>
            <a:chExt cx="4346" cy="1242"/>
          </a:xfrm>
        </p:grpSpPr>
        <p:pic>
          <p:nvPicPr>
            <p:cNvPr id="28681" name="Picture 6" descr="7"/>
            <p:cNvPicPr>
              <a:picLocks noChangeAspect="1"/>
            </p:cNvPicPr>
            <p:nvPr/>
          </p:nvPicPr>
          <p:blipFill>
            <a:blip r:embed="rId2"/>
            <a:srcRect r="49376"/>
            <a:stretch>
              <a:fillRect/>
            </a:stretch>
          </p:blipFill>
          <p:spPr>
            <a:xfrm>
              <a:off x="656" y="2985"/>
              <a:ext cx="1906" cy="119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8682" name="Picture 8" descr="7"/>
            <p:cNvPicPr>
              <a:picLocks noChangeAspect="1"/>
            </p:cNvPicPr>
            <p:nvPr/>
          </p:nvPicPr>
          <p:blipFill>
            <a:blip r:embed="rId2"/>
            <a:srcRect l="48181"/>
            <a:stretch>
              <a:fillRect/>
            </a:stretch>
          </p:blipFill>
          <p:spPr>
            <a:xfrm>
              <a:off x="3051" y="3028"/>
              <a:ext cx="1951" cy="119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83" name="Line 9"/>
            <p:cNvSpPr/>
            <p:nvPr/>
          </p:nvSpPr>
          <p:spPr>
            <a:xfrm>
              <a:off x="2534" y="3466"/>
              <a:ext cx="5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684" name="Line 10"/>
            <p:cNvSpPr/>
            <p:nvPr/>
          </p:nvSpPr>
          <p:spPr>
            <a:xfrm flipH="1">
              <a:off x="2516" y="3521"/>
              <a:ext cx="5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8680" name="TextBox 11"/>
          <p:cNvSpPr txBox="1"/>
          <p:nvPr/>
        </p:nvSpPr>
        <p:spPr>
          <a:xfrm>
            <a:off x="2928938" y="415925"/>
            <a:ext cx="1785937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P70</a:t>
            </a: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>
                                            <p:txEl>
                                              <p:charRg st="5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>
                                            <p:txEl>
                                              <p:charRg st="12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>
                                            <p:txEl>
                                              <p:charRg st="19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9698" name="Rectangle 2" descr="70%"/>
          <p:cNvSpPr>
            <a:spLocks noGrp="1"/>
          </p:cNvSpPr>
          <p:nvPr>
            <p:ph type="ctrTitle"/>
          </p:nvPr>
        </p:nvSpPr>
        <p:spPr>
          <a:xfrm>
            <a:off x="323850" y="260350"/>
            <a:ext cx="7620000" cy="977900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⑶果糖6-磷酸再磷酸化</a:t>
            </a:r>
            <a:br>
              <a:rPr lang="zh-CN" altLang="zh-CN" sz="2800" dirty="0">
                <a:latin typeface="黑体" pitchFamily="49" charset="-122"/>
                <a:ea typeface="黑体" pitchFamily="49" charset="-122"/>
              </a:rPr>
            </a:b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      生成果糖1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,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6-二磷酸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9699" name="Rectangle 3"/>
          <p:cNvSpPr/>
          <p:nvPr/>
        </p:nvSpPr>
        <p:spPr>
          <a:xfrm>
            <a:off x="6157913" y="44450"/>
            <a:ext cx="2986087" cy="701675"/>
          </a:xfrm>
          <a:prstGeom prst="rect">
            <a:avLst/>
          </a:prstGeom>
          <a:solidFill>
            <a:schemeClr val="folHlink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FFFF66"/>
                </a:solidFill>
                <a:latin typeface="Times New Roman" panose="02020603050405020304" charset="0"/>
                <a:ea typeface="隶书" pitchFamily="49" charset="-122"/>
              </a:rPr>
              <a:t>糖酵解过程</a:t>
            </a:r>
            <a:r>
              <a:rPr lang="en-US" altLang="zh-CN" sz="4000" b="1" dirty="0">
                <a:solidFill>
                  <a:srgbClr val="FFFF66"/>
                </a:solidFill>
                <a:latin typeface="Times New Roman" panose="02020603050405020304" charset="0"/>
                <a:ea typeface="隶书" pitchFamily="49" charset="-122"/>
              </a:rPr>
              <a:t>1</a:t>
            </a:r>
            <a:endParaRPr lang="en-US" altLang="zh-CN" sz="4800" b="1" dirty="0">
              <a:solidFill>
                <a:srgbClr val="3333FF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445250" y="990600"/>
            <a:ext cx="2382838" cy="4221163"/>
            <a:chOff x="3744" y="624"/>
            <a:chExt cx="1700" cy="2934"/>
          </a:xfrm>
        </p:grpSpPr>
        <p:grpSp>
          <p:nvGrpSpPr>
            <p:cNvPr id="29717" name="Group 5"/>
            <p:cNvGrpSpPr/>
            <p:nvPr/>
          </p:nvGrpSpPr>
          <p:grpSpPr>
            <a:xfrm>
              <a:off x="3744" y="912"/>
              <a:ext cx="1700" cy="2646"/>
              <a:chOff x="3840" y="1248"/>
              <a:chExt cx="1700" cy="2646"/>
            </a:xfrm>
          </p:grpSpPr>
          <p:sp>
            <p:nvSpPr>
              <p:cNvPr id="29719" name="Rectangle 6"/>
              <p:cNvSpPr/>
              <p:nvPr/>
            </p:nvSpPr>
            <p:spPr>
              <a:xfrm>
                <a:off x="4080" y="3533"/>
                <a:ext cx="1460" cy="36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dirty="0">
                    <a:solidFill>
                      <a:srgbClr val="080808"/>
                    </a:solidFill>
                    <a:latin typeface="Abadi MT Condensed Light" pitchFamily="34" charset="0"/>
                    <a:ea typeface="宋体" pitchFamily="2" charset="-122"/>
                  </a:rPr>
                  <a:t>(F-1,6-2P</a:t>
                </a:r>
                <a:r>
                  <a:rPr lang="zh-CN" altLang="en-US" sz="2800" b="1" dirty="0">
                    <a:solidFill>
                      <a:srgbClr val="080808"/>
                    </a:solidFill>
                    <a:latin typeface="Abadi MT Condensed Light" pitchFamily="34" charset="0"/>
                    <a:ea typeface="宋体" pitchFamily="2" charset="-122"/>
                  </a:rPr>
                  <a:t>）</a:t>
                </a:r>
                <a:endParaRPr lang="zh-CN" altLang="en-US" sz="2800" b="1" dirty="0">
                  <a:solidFill>
                    <a:srgbClr val="080808"/>
                  </a:solidFill>
                  <a:latin typeface="Abadi MT Condensed Light" pitchFamily="34" charset="0"/>
                  <a:ea typeface="宋体" pitchFamily="2" charset="-122"/>
                </a:endParaRPr>
              </a:p>
            </p:txBody>
          </p:sp>
          <p:pic>
            <p:nvPicPr>
              <p:cNvPr id="29720" name="Picture 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840" y="1248"/>
                <a:ext cx="1323" cy="2133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29718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60" y="624"/>
              <a:ext cx="674" cy="70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46441" name="Text Box 9"/>
          <p:cNvSpPr txBox="1"/>
          <p:nvPr/>
        </p:nvSpPr>
        <p:spPr>
          <a:xfrm>
            <a:off x="3276600" y="3511550"/>
            <a:ext cx="25654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磷酸果糖激酶</a:t>
            </a:r>
            <a:endParaRPr lang="zh-CN" altLang="en-US" sz="2800" b="1" u="sng" dirty="0">
              <a:solidFill>
                <a:srgbClr val="E60818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（</a:t>
            </a:r>
            <a:r>
              <a:rPr lang="en-US" altLang="zh-CN" sz="28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PFK</a:t>
            </a:r>
            <a:r>
              <a:rPr lang="zh-CN" altLang="en-US" sz="28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）</a:t>
            </a:r>
            <a:endParaRPr lang="zh-CN" altLang="en-US" sz="2800" b="1" dirty="0">
              <a:solidFill>
                <a:srgbClr val="E60818"/>
              </a:solidFill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4" name="Group 21"/>
          <p:cNvGrpSpPr/>
          <p:nvPr/>
        </p:nvGrpSpPr>
        <p:grpSpPr>
          <a:xfrm>
            <a:off x="3421063" y="2646363"/>
            <a:ext cx="2519362" cy="744537"/>
            <a:chOff x="1791" y="1616"/>
            <a:chExt cx="1578" cy="469"/>
          </a:xfrm>
        </p:grpSpPr>
        <p:sp>
          <p:nvSpPr>
            <p:cNvPr id="29712" name="Text Box 11"/>
            <p:cNvSpPr txBox="1"/>
            <p:nvPr/>
          </p:nvSpPr>
          <p:spPr>
            <a:xfrm>
              <a:off x="1791" y="1616"/>
              <a:ext cx="7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FontTx/>
                <a:buNone/>
              </a:pPr>
              <a:r>
                <a:rPr lang="en-US" altLang="zh-CN" sz="2800" b="1" dirty="0">
                  <a:solidFill>
                    <a:srgbClr val="E60818"/>
                  </a:solidFill>
                  <a:latin typeface="黑体" pitchFamily="49" charset="-122"/>
                  <a:ea typeface="黑体" pitchFamily="49" charset="-122"/>
                </a:rPr>
                <a:t>ATP</a:t>
              </a:r>
              <a:endParaRPr lang="en-US" altLang="zh-CN" sz="2800" b="1" dirty="0">
                <a:solidFill>
                  <a:srgbClr val="E60818"/>
                </a:solidFill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29713" name="Group 12"/>
            <p:cNvGrpSpPr/>
            <p:nvPr/>
          </p:nvGrpSpPr>
          <p:grpSpPr>
            <a:xfrm>
              <a:off x="1881" y="1616"/>
              <a:ext cx="1488" cy="464"/>
              <a:chOff x="2016" y="2224"/>
              <a:chExt cx="1488" cy="464"/>
            </a:xfrm>
          </p:grpSpPr>
          <p:sp>
            <p:nvSpPr>
              <p:cNvPr id="29715" name="AutoShape 13"/>
              <p:cNvSpPr/>
              <p:nvPr/>
            </p:nvSpPr>
            <p:spPr>
              <a:xfrm>
                <a:off x="2016" y="2544"/>
                <a:ext cx="1488" cy="144"/>
              </a:xfrm>
              <a:prstGeom prst="curvedUpArrow">
                <a:avLst>
                  <a:gd name="adj1" fmla="val 206666"/>
                  <a:gd name="adj2" fmla="val 413333"/>
                  <a:gd name="adj3" fmla="val 33333"/>
                </a:avLst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  <p:sp>
            <p:nvSpPr>
              <p:cNvPr id="29716" name="Rectangle 14"/>
              <p:cNvSpPr/>
              <p:nvPr/>
            </p:nvSpPr>
            <p:spPr>
              <a:xfrm>
                <a:off x="2880" y="2224"/>
                <a:ext cx="45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FontTx/>
                  <a:buNone/>
                </a:pPr>
                <a:r>
                  <a:rPr lang="en-US" altLang="zh-CN" sz="2800" b="1" dirty="0">
                    <a:solidFill>
                      <a:schemeClr val="hlink"/>
                    </a:solidFill>
                    <a:latin typeface="黑体" pitchFamily="49" charset="-122"/>
                    <a:ea typeface="黑体" pitchFamily="49" charset="-122"/>
                  </a:rPr>
                  <a:t>ADP</a:t>
                </a:r>
                <a:endParaRPr lang="en-US" altLang="zh-CN" sz="2800" b="1" dirty="0">
                  <a:solidFill>
                    <a:schemeClr val="hlink"/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sp>
          <p:nvSpPr>
            <p:cNvPr id="29714" name="Text Box 15"/>
            <p:cNvSpPr txBox="1"/>
            <p:nvPr/>
          </p:nvSpPr>
          <p:spPr>
            <a:xfrm>
              <a:off x="2335" y="1797"/>
              <a:ext cx="53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Abadi MT Condensed Light" pitchFamily="34" charset="0"/>
                  <a:ea typeface="宋体" pitchFamily="2" charset="-122"/>
                </a:rPr>
                <a:t>Mg</a:t>
              </a:r>
              <a:r>
                <a:rPr lang="en-US" altLang="zh-CN" sz="2400" b="1" baseline="30000" dirty="0">
                  <a:latin typeface="Abadi MT Condensed Light" pitchFamily="34" charset="0"/>
                  <a:ea typeface="宋体" pitchFamily="2" charset="-122"/>
                </a:rPr>
                <a:t>2</a:t>
              </a:r>
              <a:r>
                <a:rPr lang="en-US" altLang="zh-CN" sz="2400" b="1" baseline="30000" dirty="0">
                  <a:latin typeface="Times New Roman" panose="02020603050405020304" charset="0"/>
                  <a:ea typeface="宋体" pitchFamily="2" charset="-122"/>
                </a:rPr>
                <a:t>+</a:t>
              </a:r>
              <a:endParaRPr lang="en-US" altLang="zh-CN" sz="2400" b="1" dirty="0">
                <a:latin typeface="Times New Roman" panose="02020603050405020304" charset="0"/>
                <a:ea typeface="宋体" pitchFamily="2" charset="-122"/>
              </a:endParaRPr>
            </a:p>
          </p:txBody>
        </p:sp>
      </p:grpSp>
      <p:grpSp>
        <p:nvGrpSpPr>
          <p:cNvPr id="6" name="Group 17"/>
          <p:cNvGrpSpPr/>
          <p:nvPr/>
        </p:nvGrpSpPr>
        <p:grpSpPr>
          <a:xfrm>
            <a:off x="323850" y="1277938"/>
            <a:ext cx="3203575" cy="3883025"/>
            <a:chOff x="3888" y="1296"/>
            <a:chExt cx="2112" cy="2583"/>
          </a:xfrm>
        </p:grpSpPr>
        <p:sp>
          <p:nvSpPr>
            <p:cNvPr id="29710" name="Text Box 18"/>
            <p:cNvSpPr txBox="1"/>
            <p:nvPr/>
          </p:nvSpPr>
          <p:spPr>
            <a:xfrm>
              <a:off x="3888" y="3494"/>
              <a:ext cx="2112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solidFill>
                    <a:srgbClr val="080808"/>
                  </a:solidFill>
                  <a:latin typeface="Abadi MT Condensed Light" pitchFamily="34" charset="0"/>
                  <a:ea typeface="宋体" pitchFamily="2" charset="-122"/>
                </a:rPr>
                <a:t>   </a:t>
              </a:r>
              <a:r>
                <a:rPr lang="en-US" altLang="zh-CN" sz="2800" b="1" dirty="0">
                  <a:solidFill>
                    <a:srgbClr val="080808"/>
                  </a:solidFill>
                  <a:latin typeface="Abadi MT Condensed Light" pitchFamily="34" charset="0"/>
                  <a:ea typeface="宋体" pitchFamily="2" charset="-122"/>
                </a:rPr>
                <a:t>(F-6-P</a:t>
              </a:r>
              <a:r>
                <a:rPr lang="zh-CN" altLang="en-US" sz="2800" b="1" dirty="0">
                  <a:solidFill>
                    <a:srgbClr val="080808"/>
                  </a:solidFill>
                  <a:latin typeface="Abadi MT Condensed Light" pitchFamily="34" charset="0"/>
                  <a:ea typeface="宋体" pitchFamily="2" charset="-122"/>
                </a:rPr>
                <a:t>）</a:t>
              </a:r>
              <a:endParaRPr lang="zh-CN" altLang="zh-CN" sz="2800" b="1" dirty="0">
                <a:solidFill>
                  <a:srgbClr val="080808"/>
                </a:solidFill>
                <a:latin typeface="Times New Roman" panose="02020603050405020304" charset="0"/>
                <a:ea typeface="宋体" pitchFamily="2" charset="-122"/>
              </a:endParaRPr>
            </a:p>
          </p:txBody>
        </p:sp>
        <p:pic>
          <p:nvPicPr>
            <p:cNvPr id="29711" name="Pictur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6" y="1296"/>
              <a:ext cx="1323" cy="213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9704" name="Line 20"/>
          <p:cNvSpPr/>
          <p:nvPr/>
        </p:nvSpPr>
        <p:spPr>
          <a:xfrm>
            <a:off x="2844800" y="3582988"/>
            <a:ext cx="3352800" cy="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6454" name="Oval 22"/>
          <p:cNvSpPr/>
          <p:nvPr/>
        </p:nvSpPr>
        <p:spPr>
          <a:xfrm>
            <a:off x="1735138" y="3611563"/>
            <a:ext cx="1079500" cy="936625"/>
          </a:xfrm>
          <a:prstGeom prst="ellipse">
            <a:avLst/>
          </a:prstGeom>
          <a:noFill/>
          <a:ln w="38100" cap="flat" cmpd="sng">
            <a:solidFill>
              <a:srgbClr val="66CC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rgbClr val="66CC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46455" name="Oval 23"/>
          <p:cNvSpPr/>
          <p:nvPr/>
        </p:nvSpPr>
        <p:spPr>
          <a:xfrm>
            <a:off x="7121525" y="3625850"/>
            <a:ext cx="1079500" cy="936625"/>
          </a:xfrm>
          <a:prstGeom prst="ellipse">
            <a:avLst/>
          </a:prstGeom>
          <a:noFill/>
          <a:ln w="38100" cap="flat" cmpd="sng">
            <a:solidFill>
              <a:srgbClr val="66CC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rgbClr val="66CC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46457" name="Rectangle 25"/>
          <p:cNvSpPr/>
          <p:nvPr/>
        </p:nvSpPr>
        <p:spPr>
          <a:xfrm>
            <a:off x="2555875" y="4878388"/>
            <a:ext cx="4249738" cy="884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Arial" panose="02080604020202020204" pitchFamily="34" charset="0"/>
                <a:ea typeface="隶书" pitchFamily="49" charset="-122"/>
              </a:rPr>
              <a:t>糖酵解过程的第二个</a:t>
            </a:r>
            <a:r>
              <a:rPr lang="zh-CN" altLang="en-US" sz="2400" b="1" dirty="0">
                <a:solidFill>
                  <a:srgbClr val="E60818"/>
                </a:solidFill>
                <a:latin typeface="Arial" panose="02080604020202020204" pitchFamily="34" charset="0"/>
                <a:ea typeface="隶书" pitchFamily="49" charset="-122"/>
              </a:rPr>
              <a:t>关键酶</a:t>
            </a:r>
            <a:endParaRPr lang="zh-CN" altLang="en-US" sz="2400" b="1" dirty="0">
              <a:solidFill>
                <a:srgbClr val="E60818"/>
              </a:solidFill>
              <a:latin typeface="Arial" panose="02080604020202020204" pitchFamily="34" charset="0"/>
              <a:ea typeface="隶书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E60818"/>
                </a:solidFill>
                <a:latin typeface="Arial" panose="02080604020202020204" pitchFamily="34" charset="0"/>
                <a:ea typeface="隶书" pitchFamily="49" charset="-122"/>
              </a:rPr>
              <a:t>限速酶</a:t>
            </a:r>
            <a:endParaRPr lang="zh-CN" altLang="en-US" sz="2800" b="1" dirty="0">
              <a:solidFill>
                <a:srgbClr val="E60818"/>
              </a:solidFill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146458" name="Line 26"/>
          <p:cNvSpPr/>
          <p:nvPr/>
        </p:nvSpPr>
        <p:spPr>
          <a:xfrm flipV="1">
            <a:off x="4572000" y="4446588"/>
            <a:ext cx="0" cy="504825"/>
          </a:xfrm>
          <a:prstGeom prst="line">
            <a:avLst/>
          </a:prstGeom>
          <a:ln w="76200" cap="flat" cmpd="sng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</p:sp>
      <p:sp>
        <p:nvSpPr>
          <p:cNvPr id="29709" name="Rectangle 27"/>
          <p:cNvSpPr/>
          <p:nvPr/>
        </p:nvSpPr>
        <p:spPr>
          <a:xfrm>
            <a:off x="3132138" y="5805488"/>
            <a:ext cx="2997200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</a:t>
            </a:r>
            <a:r>
              <a:rPr lang="en-US" altLang="zh-CN" sz="2400" baseline="30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’ =  -14.2 kJ/mol</a:t>
            </a:r>
            <a:endParaRPr lang="en-US" altLang="zh-CN" sz="24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 = - 22.2 kJ/mol</a:t>
            </a:r>
            <a:endParaRPr lang="zh-CN" altLang="en-US" sz="24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146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0" dur="500"/>
                                        <p:tgtEl>
                                          <p:spTgt spid="14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41" grpId="0"/>
      <p:bldP spid="146454" grpId="0" animBg="1"/>
      <p:bldP spid="146455" grpId="0" animBg="1"/>
      <p:bldP spid="14645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1746" name="Rectangle 2" descr="70%"/>
          <p:cNvSpPr>
            <a:spLocks noGrp="1"/>
          </p:cNvSpPr>
          <p:nvPr>
            <p:ph type="ctrTitle"/>
          </p:nvPr>
        </p:nvSpPr>
        <p:spPr>
          <a:xfrm>
            <a:off x="3276600" y="549275"/>
            <a:ext cx="2736850" cy="719138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32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磷酸果糖激酶</a:t>
            </a:r>
            <a:endParaRPr lang="zh-CN" altLang="en-US" sz="3200" b="1" dirty="0">
              <a:solidFill>
                <a:srgbClr val="E60818"/>
              </a:solidFill>
              <a:latin typeface="Times New Roman" panose="02020603050405020304" charset="0"/>
              <a:ea typeface="宋体" pitchFamily="2" charset="-122"/>
            </a:endParaRPr>
          </a:p>
        </p:txBody>
      </p:sp>
      <p:sp>
        <p:nvSpPr>
          <p:cNvPr id="31747" name="Text Box 3"/>
          <p:cNvSpPr txBox="1"/>
          <p:nvPr/>
        </p:nvSpPr>
        <p:spPr>
          <a:xfrm>
            <a:off x="0" y="3114675"/>
            <a:ext cx="2743200" cy="3195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endParaRPr lang="zh-CN" altLang="en-US" sz="2400" b="1" dirty="0">
              <a:latin typeface="Times New Roman" panose="0202060305040502030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endParaRPr lang="zh-CN" altLang="en-US" sz="2400" b="1" dirty="0">
              <a:latin typeface="Times New Roman" panose="0202060305040502030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endParaRPr lang="zh-CN" altLang="en-US" sz="2400" b="1" dirty="0">
              <a:latin typeface="Times New Roman" panose="0202060305040502030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endParaRPr lang="zh-CN" altLang="en-US" sz="2400" b="1" dirty="0">
              <a:latin typeface="Times New Roman" panose="0202060305040502030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endParaRPr lang="zh-CN" altLang="en-US" sz="2400" b="1" dirty="0">
              <a:latin typeface="Times New Roman" panose="0202060305040502030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endParaRPr lang="zh-CN" altLang="en-US" sz="2400" b="1" dirty="0">
              <a:latin typeface="Times New Roman" panose="02020603050405020304" charset="0"/>
              <a:ea typeface="宋体" pitchFamily="2" charset="-122"/>
            </a:endParaRPr>
          </a:p>
        </p:txBody>
      </p:sp>
      <p:sp>
        <p:nvSpPr>
          <p:cNvPr id="31748" name="Rectangle 5"/>
          <p:cNvSpPr/>
          <p:nvPr/>
        </p:nvSpPr>
        <p:spPr>
          <a:xfrm>
            <a:off x="900113" y="1268413"/>
            <a:ext cx="7315200" cy="15541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隶书" pitchFamily="49" charset="-122"/>
                <a:ea typeface="隶书" pitchFamily="49" charset="-122"/>
              </a:rPr>
              <a:t>四亚基变构酶。糖酵解三个关键酶中催化效率最低的酶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,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是糖酵解作用最重要的限速酶。</a:t>
            </a:r>
            <a:endParaRPr lang="zh-CN" altLang="en-US" dirty="0"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31749" name="Group 22"/>
          <p:cNvGrpSpPr/>
          <p:nvPr/>
        </p:nvGrpSpPr>
        <p:grpSpPr>
          <a:xfrm>
            <a:off x="608013" y="3284538"/>
            <a:ext cx="7996237" cy="946150"/>
            <a:chOff x="429" y="1888"/>
            <a:chExt cx="5086" cy="596"/>
          </a:xfrm>
        </p:grpSpPr>
        <p:sp>
          <p:nvSpPr>
            <p:cNvPr id="31757" name="Rectangle 8"/>
            <p:cNvSpPr/>
            <p:nvPr/>
          </p:nvSpPr>
          <p:spPr>
            <a:xfrm>
              <a:off x="926" y="1888"/>
              <a:ext cx="4589" cy="59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8000"/>
                  </a:solidFill>
                  <a:latin typeface="隶书" pitchFamily="49" charset="-122"/>
                  <a:ea typeface="隶书" pitchFamily="49" charset="-122"/>
                </a:rPr>
                <a:t>变构激活剂：</a:t>
              </a:r>
              <a:r>
                <a:rPr lang="en-US" altLang="en-US" sz="2800" b="1" dirty="0">
                  <a:latin typeface="隶书" pitchFamily="49" charset="-122"/>
                  <a:ea typeface="隶书" pitchFamily="49" charset="-122"/>
                </a:rPr>
                <a:t>AMP</a:t>
              </a:r>
              <a:r>
                <a:rPr lang="zh-CN" altLang="en-US" sz="2800" b="1" dirty="0">
                  <a:latin typeface="隶书" pitchFamily="49" charset="-122"/>
                  <a:ea typeface="隶书" pitchFamily="49" charset="-122"/>
                </a:rPr>
                <a:t>、</a:t>
              </a:r>
              <a:r>
                <a:rPr lang="en-US" altLang="zh-CN" sz="2800" b="1" dirty="0">
                  <a:latin typeface="隶书" pitchFamily="49" charset="-122"/>
                  <a:ea typeface="隶书" pitchFamily="49" charset="-122"/>
                </a:rPr>
                <a:t>ADP</a:t>
              </a:r>
              <a:r>
                <a:rPr lang="zh-CN" altLang="en-US" sz="2800" b="1" dirty="0">
                  <a:latin typeface="隶书" pitchFamily="49" charset="-122"/>
                  <a:ea typeface="隶书" pitchFamily="49" charset="-122"/>
                </a:rPr>
                <a:t>、果糖</a:t>
              </a:r>
              <a:r>
                <a:rPr lang="en-US" altLang="zh-CN" sz="2800" b="1" dirty="0">
                  <a:latin typeface="隶书" pitchFamily="49" charset="-122"/>
                  <a:ea typeface="隶书" pitchFamily="49" charset="-122"/>
                </a:rPr>
                <a:t>1,6-</a:t>
              </a:r>
              <a:r>
                <a:rPr lang="zh-CN" altLang="en-US" sz="2800" b="1" dirty="0">
                  <a:latin typeface="隶书" pitchFamily="49" charset="-122"/>
                  <a:ea typeface="隶书" pitchFamily="49" charset="-122"/>
                </a:rPr>
                <a:t>二磷酸、果糖</a:t>
              </a:r>
              <a:r>
                <a:rPr lang="en-US" altLang="zh-CN" sz="2800" b="1" dirty="0">
                  <a:latin typeface="隶书" pitchFamily="49" charset="-122"/>
                  <a:ea typeface="隶书" pitchFamily="49" charset="-122"/>
                </a:rPr>
                <a:t>2,6-</a:t>
              </a:r>
              <a:r>
                <a:rPr lang="zh-CN" altLang="en-US" sz="2800" b="1" dirty="0">
                  <a:latin typeface="隶书" pitchFamily="49" charset="-122"/>
                  <a:ea typeface="隶书" pitchFamily="49" charset="-122"/>
                </a:rPr>
                <a:t>二磷酸</a:t>
              </a:r>
              <a:endParaRPr lang="zh-CN" altLang="en-US" sz="2800" b="1" dirty="0">
                <a:latin typeface="隶书" pitchFamily="49" charset="-122"/>
                <a:ea typeface="隶书" pitchFamily="49" charset="-122"/>
              </a:endParaRPr>
            </a:p>
          </p:txBody>
        </p:sp>
        <p:grpSp>
          <p:nvGrpSpPr>
            <p:cNvPr id="31758" name="Group 9"/>
            <p:cNvGrpSpPr/>
            <p:nvPr/>
          </p:nvGrpSpPr>
          <p:grpSpPr>
            <a:xfrm>
              <a:off x="429" y="1888"/>
              <a:ext cx="429" cy="576"/>
              <a:chOff x="2064" y="3264"/>
              <a:chExt cx="458" cy="576"/>
            </a:xfrm>
          </p:grpSpPr>
          <p:grpSp>
            <p:nvGrpSpPr>
              <p:cNvPr id="31759" name="Group 10"/>
              <p:cNvGrpSpPr/>
              <p:nvPr/>
            </p:nvGrpSpPr>
            <p:grpSpPr>
              <a:xfrm>
                <a:off x="2064" y="3264"/>
                <a:ext cx="458" cy="576"/>
                <a:chOff x="2064" y="3264"/>
                <a:chExt cx="458" cy="576"/>
              </a:xfrm>
            </p:grpSpPr>
            <p:sp>
              <p:nvSpPr>
                <p:cNvPr id="31761" name="Oval 11"/>
                <p:cNvSpPr/>
                <p:nvPr/>
              </p:nvSpPr>
              <p:spPr>
                <a:xfrm>
                  <a:off x="2064" y="3264"/>
                  <a:ext cx="458" cy="576"/>
                </a:xfrm>
                <a:prstGeom prst="ellipse">
                  <a:avLst/>
                </a:prstGeom>
                <a:solidFill>
                  <a:srgbClr val="FFFFFF"/>
                </a:solidFill>
                <a:ln w="38100" cap="flat" cmpd="sng">
                  <a:solidFill>
                    <a:srgbClr val="008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 dirty="0">
                    <a:latin typeface="Arial" panose="02080604020202020204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31762" name="Oval 12"/>
                <p:cNvSpPr/>
                <p:nvPr/>
              </p:nvSpPr>
              <p:spPr>
                <a:xfrm>
                  <a:off x="2379" y="3456"/>
                  <a:ext cx="48" cy="48"/>
                </a:xfrm>
                <a:prstGeom prst="ellipse">
                  <a:avLst/>
                </a:prstGeom>
                <a:solidFill>
                  <a:srgbClr val="FFFFFF"/>
                </a:solidFill>
                <a:ln w="38100" cap="flat" cmpd="sng">
                  <a:solidFill>
                    <a:srgbClr val="008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 dirty="0">
                    <a:latin typeface="Arial" panose="02080604020202020204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31763" name="Freeform 13"/>
                <p:cNvSpPr/>
                <p:nvPr/>
              </p:nvSpPr>
              <p:spPr>
                <a:xfrm>
                  <a:off x="2162" y="3580"/>
                  <a:ext cx="265" cy="164"/>
                </a:xfrm>
                <a:custGeom>
                  <a:avLst/>
                  <a:gdLst>
                    <a:gd name="txL" fmla="*/ 0 w 192"/>
                    <a:gd name="txT" fmla="*/ 0 h 144"/>
                    <a:gd name="txR" fmla="*/ 192 w 192"/>
                    <a:gd name="txB" fmla="*/ 144 h 144"/>
                  </a:gdLst>
                  <a:ahLst/>
                  <a:cxnLst>
                    <a:cxn ang="0">
                      <a:pos x="0" y="0"/>
                    </a:cxn>
                    <a:cxn ang="0">
                      <a:pos x="3347" y="605"/>
                    </a:cxn>
                    <a:cxn ang="0">
                      <a:pos x="6653" y="0"/>
                    </a:cxn>
                  </a:cxnLst>
                  <a:rect l="txL" t="txT" r="txR" b="txB"/>
                  <a:pathLst>
                    <a:path w="192" h="144">
                      <a:moveTo>
                        <a:pt x="0" y="0"/>
                      </a:moveTo>
                      <a:cubicBezTo>
                        <a:pt x="32" y="72"/>
                        <a:pt x="64" y="144"/>
                        <a:pt x="96" y="144"/>
                      </a:cubicBezTo>
                      <a:cubicBezTo>
                        <a:pt x="128" y="144"/>
                        <a:pt x="160" y="72"/>
                        <a:pt x="192" y="0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008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31760" name="Oval 14"/>
              <p:cNvSpPr/>
              <p:nvPr/>
            </p:nvSpPr>
            <p:spPr>
              <a:xfrm>
                <a:off x="2185" y="3456"/>
                <a:ext cx="48" cy="48"/>
              </a:xfrm>
              <a:prstGeom prst="ellipse">
                <a:avLst/>
              </a:prstGeom>
              <a:solidFill>
                <a:srgbClr val="FFFFFF"/>
              </a:solidFill>
              <a:ln w="381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31750" name="Group 23"/>
          <p:cNvGrpSpPr/>
          <p:nvPr/>
        </p:nvGrpSpPr>
        <p:grpSpPr>
          <a:xfrm>
            <a:off x="611188" y="4724400"/>
            <a:ext cx="7921625" cy="1098550"/>
            <a:chOff x="1111" y="2795"/>
            <a:chExt cx="3984" cy="692"/>
          </a:xfrm>
        </p:grpSpPr>
        <p:sp>
          <p:nvSpPr>
            <p:cNvPr id="31751" name="Rectangle 16"/>
            <p:cNvSpPr/>
            <p:nvPr/>
          </p:nvSpPr>
          <p:spPr>
            <a:xfrm>
              <a:off x="1639" y="2891"/>
              <a:ext cx="3456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E60818"/>
                  </a:solidFill>
                  <a:latin typeface="隶书" pitchFamily="49" charset="-122"/>
                  <a:ea typeface="隶书" pitchFamily="49" charset="-122"/>
                </a:rPr>
                <a:t>变构抑制剂：</a:t>
              </a:r>
              <a:r>
                <a:rPr lang="en-US" altLang="zh-CN" sz="2800" b="1" dirty="0">
                  <a:latin typeface="隶书" pitchFamily="49" charset="-122"/>
                  <a:ea typeface="隶书" pitchFamily="49" charset="-122"/>
                </a:rPr>
                <a:t>ATP</a:t>
              </a:r>
              <a:r>
                <a:rPr lang="zh-CN" altLang="en-US" sz="2800" b="1" dirty="0">
                  <a:latin typeface="隶书" pitchFamily="49" charset="-122"/>
                  <a:ea typeface="隶书" pitchFamily="49" charset="-122"/>
                </a:rPr>
                <a:t>、柠檬酸、</a:t>
              </a:r>
              <a:r>
                <a:rPr lang="en-US" altLang="zh-CN" sz="2800" b="1" dirty="0">
                  <a:latin typeface="隶书" pitchFamily="49" charset="-122"/>
                  <a:ea typeface="隶书" pitchFamily="49" charset="-122"/>
                </a:rPr>
                <a:t>Pi</a:t>
              </a:r>
              <a:r>
                <a:rPr lang="zh-CN" altLang="en-US" sz="2800" b="1" dirty="0">
                  <a:latin typeface="隶书" pitchFamily="49" charset="-122"/>
                  <a:ea typeface="隶书" pitchFamily="49" charset="-122"/>
                </a:rPr>
                <a:t>、长链脂肪酸</a:t>
              </a:r>
              <a:r>
                <a:rPr lang="zh-CN" altLang="en-US" sz="1800" b="1" dirty="0">
                  <a:latin typeface="Arial" panose="02080604020202020204" pitchFamily="34" charset="0"/>
                  <a:ea typeface="宋体" pitchFamily="2" charset="-122"/>
                </a:rPr>
                <a:t>、</a:t>
              </a:r>
              <a:r>
                <a:rPr lang="en-US" altLang="zh-CN" sz="2800" b="1" dirty="0">
                  <a:latin typeface="隶书" pitchFamily="49" charset="-122"/>
                  <a:ea typeface="隶书" pitchFamily="49" charset="-122"/>
                </a:rPr>
                <a:t> [H</a:t>
              </a:r>
              <a:r>
                <a:rPr lang="en-US" altLang="zh-CN" sz="2800" b="1" baseline="30000" dirty="0">
                  <a:latin typeface="隶书" pitchFamily="49" charset="-122"/>
                  <a:ea typeface="隶书" pitchFamily="49" charset="-122"/>
                </a:rPr>
                <a:t>+</a:t>
              </a:r>
              <a:r>
                <a:rPr lang="en-US" altLang="zh-CN" sz="2800" b="1" dirty="0">
                  <a:latin typeface="隶书" pitchFamily="49" charset="-122"/>
                  <a:ea typeface="隶书" pitchFamily="49" charset="-122"/>
                </a:rPr>
                <a:t>]</a:t>
              </a:r>
              <a:endParaRPr lang="zh-CN" altLang="en-US" sz="2800" b="1" dirty="0">
                <a:latin typeface="隶书" pitchFamily="49" charset="-122"/>
                <a:ea typeface="隶书" pitchFamily="49" charset="-122"/>
              </a:endParaRPr>
            </a:p>
          </p:txBody>
        </p:sp>
        <p:grpSp>
          <p:nvGrpSpPr>
            <p:cNvPr id="31752" name="Group 17"/>
            <p:cNvGrpSpPr/>
            <p:nvPr/>
          </p:nvGrpSpPr>
          <p:grpSpPr>
            <a:xfrm>
              <a:off x="1111" y="2795"/>
              <a:ext cx="384" cy="576"/>
              <a:chOff x="2976" y="3312"/>
              <a:chExt cx="384" cy="576"/>
            </a:xfrm>
          </p:grpSpPr>
          <p:sp>
            <p:nvSpPr>
              <p:cNvPr id="31753" name="Oval 18"/>
              <p:cNvSpPr/>
              <p:nvPr/>
            </p:nvSpPr>
            <p:spPr>
              <a:xfrm>
                <a:off x="2976" y="3312"/>
                <a:ext cx="384" cy="576"/>
              </a:xfrm>
              <a:prstGeom prst="ellipse">
                <a:avLst/>
              </a:prstGeom>
              <a:solidFill>
                <a:srgbClr val="FFFFFF"/>
              </a:solidFill>
              <a:ln w="38100" cap="flat" cmpd="sng">
                <a:solidFill>
                  <a:srgbClr val="FF00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  <p:sp>
            <p:nvSpPr>
              <p:cNvPr id="31754" name="Oval 19"/>
              <p:cNvSpPr/>
              <p:nvPr/>
            </p:nvSpPr>
            <p:spPr>
              <a:xfrm>
                <a:off x="3216" y="3504"/>
                <a:ext cx="48" cy="48"/>
              </a:xfrm>
              <a:prstGeom prst="ellipse">
                <a:avLst/>
              </a:prstGeom>
              <a:solidFill>
                <a:srgbClr val="FFFFFF"/>
              </a:solidFill>
              <a:ln w="38100" cap="flat" cmpd="sng">
                <a:solidFill>
                  <a:srgbClr val="FF00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  <p:sp>
            <p:nvSpPr>
              <p:cNvPr id="31755" name="Freeform 20"/>
              <p:cNvSpPr/>
              <p:nvPr/>
            </p:nvSpPr>
            <p:spPr>
              <a:xfrm rot="-10759961">
                <a:off x="3072" y="3648"/>
                <a:ext cx="192" cy="144"/>
              </a:xfrm>
              <a:custGeom>
                <a:avLst/>
                <a:gdLst>
                  <a:gd name="txL" fmla="*/ 0 w 192"/>
                  <a:gd name="txT" fmla="*/ 0 h 144"/>
                  <a:gd name="txR" fmla="*/ 192 w 192"/>
                  <a:gd name="txB" fmla="*/ 144 h 144"/>
                </a:gdLst>
                <a:ahLst/>
                <a:cxnLst>
                  <a:cxn ang="0">
                    <a:pos x="0" y="0"/>
                  </a:cxn>
                  <a:cxn ang="0">
                    <a:pos x="96" y="144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44">
                    <a:moveTo>
                      <a:pt x="0" y="0"/>
                    </a:moveTo>
                    <a:cubicBezTo>
                      <a:pt x="32" y="72"/>
                      <a:pt x="64" y="144"/>
                      <a:pt x="96" y="144"/>
                    </a:cubicBezTo>
                    <a:cubicBezTo>
                      <a:pt x="128" y="144"/>
                      <a:pt x="160" y="72"/>
                      <a:pt x="192" y="0"/>
                    </a:cubicBezTo>
                  </a:path>
                </a:pathLst>
              </a:custGeom>
              <a:noFill/>
              <a:ln w="38100" cap="flat" cmpd="sng">
                <a:solidFill>
                  <a:srgbClr val="FF0066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56" name="Oval 21"/>
              <p:cNvSpPr/>
              <p:nvPr/>
            </p:nvSpPr>
            <p:spPr>
              <a:xfrm>
                <a:off x="3072" y="3504"/>
                <a:ext cx="48" cy="48"/>
              </a:xfrm>
              <a:prstGeom prst="ellipse">
                <a:avLst/>
              </a:prstGeom>
              <a:solidFill>
                <a:srgbClr val="FFFFFF"/>
              </a:solidFill>
              <a:ln w="38100" cap="flat" cmpd="sng">
                <a:solidFill>
                  <a:srgbClr val="FF00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3794" name="Rectangle 2" descr="70%"/>
          <p:cNvSpPr>
            <a:spLocks noGrp="1"/>
          </p:cNvSpPr>
          <p:nvPr>
            <p:ph type="ctrTitle" idx="4294967295"/>
          </p:nvPr>
        </p:nvSpPr>
        <p:spPr>
          <a:xfrm>
            <a:off x="0" y="260350"/>
            <a:ext cx="4094163" cy="585788"/>
          </a:xfrm>
          <a:ln/>
        </p:spPr>
        <p:txBody>
          <a:bodyPr vert="horz" wrap="square" lIns="91440" tIns="45720" rIns="91440" bIns="45720" anchor="ctr" anchorCtr="0"/>
          <a:lstStyle>
            <a:lvl1pPr lvl="0">
              <a:buClrTx/>
              <a:buSzTx/>
              <a:buFontTx/>
              <a:defRPr/>
            </a:lvl1pPr>
          </a:lstStyle>
          <a:p>
            <a:pPr lvl="0" eaLnBrk="1" hangingPunct="1"/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⑷ 磷酸丙糖的生成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795" name="Rectangle 17"/>
          <p:cNvSpPr/>
          <p:nvPr/>
        </p:nvSpPr>
        <p:spPr>
          <a:xfrm>
            <a:off x="5943600" y="44450"/>
            <a:ext cx="3200400" cy="701675"/>
          </a:xfrm>
          <a:prstGeom prst="rect">
            <a:avLst/>
          </a:prstGeom>
          <a:solidFill>
            <a:schemeClr val="folHlink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TopRight">
              <a:rot lat="0" lon="0" rev="0"/>
            </a:camera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FFFF66"/>
                </a:solidFill>
                <a:latin typeface="Times New Roman" panose="02020603050405020304" charset="0"/>
                <a:ea typeface="隶书" pitchFamily="49" charset="-122"/>
              </a:rPr>
              <a:t>糖酵解过程</a:t>
            </a:r>
            <a:r>
              <a:rPr lang="en-US" altLang="zh-CN" sz="4000" b="1" dirty="0">
                <a:solidFill>
                  <a:srgbClr val="FFFF66"/>
                </a:solidFill>
                <a:latin typeface="Times New Roman" panose="02020603050405020304" charset="0"/>
                <a:ea typeface="隶书" pitchFamily="49" charset="-122"/>
              </a:rPr>
              <a:t>1</a:t>
            </a:r>
            <a:endParaRPr lang="en-US" altLang="zh-CN" sz="4000" b="1" dirty="0">
              <a:solidFill>
                <a:srgbClr val="FFFF66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grpSp>
        <p:nvGrpSpPr>
          <p:cNvPr id="33796" name="Group 21"/>
          <p:cNvGrpSpPr/>
          <p:nvPr/>
        </p:nvGrpSpPr>
        <p:grpSpPr>
          <a:xfrm>
            <a:off x="971550" y="765175"/>
            <a:ext cx="6892925" cy="5127625"/>
            <a:chOff x="476" y="527"/>
            <a:chExt cx="4342" cy="3321"/>
          </a:xfrm>
        </p:grpSpPr>
        <p:grpSp>
          <p:nvGrpSpPr>
            <p:cNvPr id="33802" name="Group 3"/>
            <p:cNvGrpSpPr/>
            <p:nvPr/>
          </p:nvGrpSpPr>
          <p:grpSpPr>
            <a:xfrm>
              <a:off x="3424" y="527"/>
              <a:ext cx="1361" cy="1436"/>
              <a:chOff x="3936" y="576"/>
              <a:chExt cx="1534" cy="1711"/>
            </a:xfrm>
          </p:grpSpPr>
          <p:sp>
            <p:nvSpPr>
              <p:cNvPr id="33815" name="Rectangle 4"/>
              <p:cNvSpPr/>
              <p:nvPr/>
            </p:nvSpPr>
            <p:spPr>
              <a:xfrm>
                <a:off x="4196" y="1745"/>
                <a:ext cx="1274" cy="5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000" b="1" dirty="0">
                    <a:solidFill>
                      <a:srgbClr val="080808"/>
                    </a:solidFill>
                    <a:latin typeface="隶书" pitchFamily="49" charset="-122"/>
                    <a:ea typeface="隶书" pitchFamily="49" charset="-122"/>
                  </a:rPr>
                  <a:t>磷酸二羟丙酮</a:t>
                </a:r>
                <a:endParaRPr lang="zh-CN" altLang="en-US" sz="2000" b="1" dirty="0">
                  <a:solidFill>
                    <a:srgbClr val="080808"/>
                  </a:solidFill>
                  <a:latin typeface="隶书" pitchFamily="49" charset="-122"/>
                  <a:ea typeface="隶书" pitchFamily="49" charset="-122"/>
                </a:endParaRPr>
              </a:p>
              <a:p>
                <a:pPr marL="0" lvl="0" indent="0"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>
                    <a:solidFill>
                      <a:srgbClr val="080808"/>
                    </a:solidFill>
                    <a:latin typeface="隶书" pitchFamily="49" charset="-122"/>
                    <a:ea typeface="隶书" pitchFamily="49" charset="-122"/>
                  </a:rPr>
                  <a:t>DHAP</a:t>
                </a:r>
                <a:endParaRPr lang="zh-CN" altLang="zh-CN" sz="2000" b="1" dirty="0">
                  <a:solidFill>
                    <a:srgbClr val="996633"/>
                  </a:solidFill>
                  <a:latin typeface="隶书" pitchFamily="49" charset="-122"/>
                  <a:ea typeface="隶书" pitchFamily="49" charset="-122"/>
                </a:endParaRPr>
              </a:p>
            </p:txBody>
          </p:sp>
          <p:pic>
            <p:nvPicPr>
              <p:cNvPr id="33816" name="Picture 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936" y="576"/>
                <a:ext cx="1350" cy="1066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33803" name="Group 6"/>
            <p:cNvGrpSpPr/>
            <p:nvPr/>
          </p:nvGrpSpPr>
          <p:grpSpPr>
            <a:xfrm>
              <a:off x="3515" y="2160"/>
              <a:ext cx="1303" cy="1688"/>
              <a:chOff x="3833" y="2599"/>
              <a:chExt cx="1448" cy="2008"/>
            </a:xfrm>
          </p:grpSpPr>
          <p:sp>
            <p:nvSpPr>
              <p:cNvPr id="33813" name="Rectangle 7"/>
              <p:cNvSpPr/>
              <p:nvPr/>
            </p:nvSpPr>
            <p:spPr>
              <a:xfrm>
                <a:off x="3987" y="4066"/>
                <a:ext cx="1204" cy="5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>
                    <a:solidFill>
                      <a:srgbClr val="080808"/>
                    </a:solidFill>
                    <a:latin typeface="隶书" pitchFamily="49" charset="-122"/>
                    <a:ea typeface="隶书" pitchFamily="49" charset="-122"/>
                  </a:rPr>
                  <a:t>3-</a:t>
                </a:r>
                <a:r>
                  <a:rPr lang="zh-CN" altLang="en-US" sz="2000" b="1" dirty="0">
                    <a:solidFill>
                      <a:srgbClr val="080808"/>
                    </a:solidFill>
                    <a:latin typeface="隶书" pitchFamily="49" charset="-122"/>
                    <a:ea typeface="隶书" pitchFamily="49" charset="-122"/>
                  </a:rPr>
                  <a:t>磷酸甘油醛</a:t>
                </a:r>
                <a:endParaRPr lang="zh-CN" altLang="en-US" sz="2000" b="1" dirty="0">
                  <a:solidFill>
                    <a:srgbClr val="080808"/>
                  </a:solidFill>
                  <a:latin typeface="隶书" pitchFamily="49" charset="-122"/>
                  <a:ea typeface="隶书" pitchFamily="49" charset="-122"/>
                </a:endParaRPr>
              </a:p>
              <a:p>
                <a:pPr marL="0" lvl="0" indent="0"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>
                    <a:solidFill>
                      <a:srgbClr val="080808"/>
                    </a:solidFill>
                    <a:latin typeface="隶书" pitchFamily="49" charset="-122"/>
                    <a:ea typeface="隶书" pitchFamily="49" charset="-122"/>
                  </a:rPr>
                  <a:t>GAP</a:t>
                </a:r>
                <a:endParaRPr lang="en-US" altLang="zh-CN" sz="2000" b="1" dirty="0">
                  <a:solidFill>
                    <a:srgbClr val="080808"/>
                  </a:solidFill>
                  <a:latin typeface="隶书" pitchFamily="49" charset="-122"/>
                  <a:ea typeface="隶书" pitchFamily="49" charset="-122"/>
                </a:endParaRPr>
              </a:p>
            </p:txBody>
          </p:sp>
          <p:pic>
            <p:nvPicPr>
              <p:cNvPr id="33814" name="Picture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33" y="2599"/>
                <a:ext cx="1448" cy="1359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33804" name="Group 9"/>
            <p:cNvGrpSpPr/>
            <p:nvPr/>
          </p:nvGrpSpPr>
          <p:grpSpPr>
            <a:xfrm>
              <a:off x="476" y="1026"/>
              <a:ext cx="1452" cy="2421"/>
              <a:chOff x="144" y="1056"/>
              <a:chExt cx="1643" cy="2934"/>
            </a:xfrm>
          </p:grpSpPr>
          <p:sp>
            <p:nvSpPr>
              <p:cNvPr id="33811" name="Rectangle 10"/>
              <p:cNvSpPr/>
              <p:nvPr/>
            </p:nvSpPr>
            <p:spPr>
              <a:xfrm>
                <a:off x="555" y="3583"/>
                <a:ext cx="1191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FontTx/>
                  <a:buNone/>
                </a:pPr>
                <a:r>
                  <a:rPr lang="zh-CN" altLang="en-US" sz="2800" b="1" dirty="0">
                    <a:solidFill>
                      <a:srgbClr val="080808"/>
                    </a:solidFill>
                    <a:latin typeface="Abadi MT Condensed Light" pitchFamily="34" charset="0"/>
                    <a:ea typeface="宋体" pitchFamily="2" charset="-122"/>
                  </a:rPr>
                  <a:t> </a:t>
                </a:r>
                <a:r>
                  <a:rPr lang="en-US" altLang="zh-CN" sz="2400" b="1" dirty="0">
                    <a:solidFill>
                      <a:srgbClr val="080808"/>
                    </a:solidFill>
                    <a:latin typeface="Abadi MT Condensed Light" pitchFamily="34" charset="0"/>
                    <a:ea typeface="宋体" pitchFamily="2" charset="-122"/>
                  </a:rPr>
                  <a:t>(F-1,6-2P)</a:t>
                </a:r>
                <a:endParaRPr lang="zh-CN" altLang="zh-CN" sz="2400" b="1" dirty="0">
                  <a:solidFill>
                    <a:srgbClr val="996633"/>
                  </a:solidFill>
                  <a:latin typeface="Times New Roman" panose="02020603050405020304" charset="0"/>
                  <a:ea typeface="宋体" pitchFamily="2" charset="-122"/>
                </a:endParaRPr>
              </a:p>
            </p:txBody>
          </p:sp>
          <p:pic>
            <p:nvPicPr>
              <p:cNvPr id="33812" name="Picture 1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" y="1056"/>
                <a:ext cx="1643" cy="237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33805" name="Line 12"/>
            <p:cNvSpPr/>
            <p:nvPr/>
          </p:nvSpPr>
          <p:spPr>
            <a:xfrm>
              <a:off x="1776" y="1836"/>
              <a:ext cx="8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33806" name="Line 13"/>
            <p:cNvSpPr/>
            <p:nvPr/>
          </p:nvSpPr>
          <p:spPr>
            <a:xfrm rot="-2657086">
              <a:off x="2574" y="1539"/>
              <a:ext cx="785" cy="18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33807" name="Line 14"/>
            <p:cNvSpPr/>
            <p:nvPr/>
          </p:nvSpPr>
          <p:spPr>
            <a:xfrm rot="3151781" flipH="1">
              <a:off x="2576" y="1958"/>
              <a:ext cx="772" cy="23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33808" name="Text Box 15"/>
            <p:cNvSpPr txBox="1"/>
            <p:nvPr/>
          </p:nvSpPr>
          <p:spPr>
            <a:xfrm>
              <a:off x="1791" y="1480"/>
              <a:ext cx="83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chemeClr val="accent2"/>
                  </a:solidFill>
                  <a:latin typeface="Times New Roman" panose="02020603050405020304" charset="0"/>
                  <a:ea typeface="隶书" pitchFamily="49" charset="-122"/>
                </a:rPr>
                <a:t>醛缩酶</a:t>
              </a:r>
              <a:endParaRPr lang="zh-CN" altLang="en-US" sz="2400" dirty="0">
                <a:solidFill>
                  <a:schemeClr val="accent2"/>
                </a:solidFill>
                <a:latin typeface="Times New Roman" panose="02020603050405020304" charset="0"/>
                <a:ea typeface="隶书" pitchFamily="49" charset="-122"/>
              </a:endParaRPr>
            </a:p>
          </p:txBody>
        </p:sp>
        <p:sp>
          <p:nvSpPr>
            <p:cNvPr id="33809" name="Text Box 16"/>
            <p:cNvSpPr txBox="1"/>
            <p:nvPr/>
          </p:nvSpPr>
          <p:spPr>
            <a:xfrm>
              <a:off x="3651" y="1888"/>
              <a:ext cx="463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FontTx/>
                <a:buNone/>
              </a:pPr>
              <a:r>
                <a:rPr lang="en-US" altLang="zh-CN" sz="2800" b="1" dirty="0">
                  <a:latin typeface="Arial Black" pitchFamily="34" charset="0"/>
                  <a:ea typeface="宋体" pitchFamily="2" charset="-122"/>
                </a:rPr>
                <a:t>+</a:t>
              </a:r>
              <a:endParaRPr lang="en-US" altLang="zh-CN" sz="2800" b="1" dirty="0">
                <a:latin typeface="Arial Black" pitchFamily="34" charset="0"/>
                <a:ea typeface="宋体" pitchFamily="2" charset="-122"/>
              </a:endParaRPr>
            </a:p>
          </p:txBody>
        </p:sp>
        <p:sp>
          <p:nvSpPr>
            <p:cNvPr id="33810" name="Text Box 18"/>
            <p:cNvSpPr txBox="1"/>
            <p:nvPr/>
          </p:nvSpPr>
          <p:spPr>
            <a:xfrm>
              <a:off x="1746" y="2024"/>
              <a:ext cx="1044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800" b="1" dirty="0">
                  <a:latin typeface="Arial" panose="02080604020202020204" pitchFamily="34" charset="0"/>
                  <a:ea typeface="宋体" pitchFamily="2" charset="-122"/>
                </a:rPr>
                <a:t>裂解</a:t>
              </a:r>
              <a:endParaRPr lang="zh-CN" altLang="en-US" sz="1800" b="1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</p:grpSp>
      <p:sp>
        <p:nvSpPr>
          <p:cNvPr id="150550" name="Rectangle 22"/>
          <p:cNvSpPr/>
          <p:nvPr/>
        </p:nvSpPr>
        <p:spPr>
          <a:xfrm>
            <a:off x="3276600" y="3860800"/>
            <a:ext cx="2438400" cy="701675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</a:t>
            </a:r>
            <a:r>
              <a:rPr lang="en-US" altLang="zh-CN" sz="2000" baseline="30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2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’ =  23.9 kJ/mol</a:t>
            </a:r>
            <a:endParaRPr lang="en-US" altLang="zh-CN" sz="20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 = - 1.25 kJ/mol</a:t>
            </a:r>
            <a:endParaRPr lang="zh-CN" altLang="en-US" sz="20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50552" name="Rectangle 24"/>
          <p:cNvSpPr/>
          <p:nvPr/>
        </p:nvSpPr>
        <p:spPr>
          <a:xfrm>
            <a:off x="395288" y="5805488"/>
            <a:ext cx="8520112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标准状态下逆反应趋势更大，酶由此得名。但细胞条件下容易向裂解方向进行，酶分子中的 </a:t>
            </a:r>
            <a:r>
              <a:rPr lang="en-US" altLang="zh-CN" sz="2400" b="1" dirty="0">
                <a:latin typeface="隶书" pitchFamily="49" charset="-122"/>
                <a:ea typeface="隶书" pitchFamily="49" charset="-122"/>
              </a:rPr>
              <a:t>-SH 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是酶活必需氨基酸残基。</a:t>
            </a:r>
            <a:endParaRPr lang="en-US" altLang="zh-CN" sz="2400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3799" name="Rectangle 25"/>
          <p:cNvSpPr/>
          <p:nvPr/>
        </p:nvSpPr>
        <p:spPr>
          <a:xfrm>
            <a:off x="4016375" y="1733550"/>
            <a:ext cx="9874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 dirty="0">
                <a:latin typeface="Arial" panose="02080604020202020204" pitchFamily="34" charset="0"/>
                <a:ea typeface="宋体" pitchFamily="2" charset="-122"/>
              </a:rPr>
              <a:t>缩合</a:t>
            </a:r>
            <a:endParaRPr lang="zh-CN" altLang="en-US" sz="1800" b="1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3800" name="Line 26"/>
          <p:cNvSpPr/>
          <p:nvPr/>
        </p:nvSpPr>
        <p:spPr>
          <a:xfrm flipH="1">
            <a:off x="3563938" y="1916113"/>
            <a:ext cx="5032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801" name="Line 27"/>
          <p:cNvSpPr/>
          <p:nvPr/>
        </p:nvSpPr>
        <p:spPr>
          <a:xfrm>
            <a:off x="3635375" y="3213100"/>
            <a:ext cx="5048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0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0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50" grpId="0"/>
      <p:bldP spid="15055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5842" name="Rectangle 8"/>
          <p:cNvSpPr/>
          <p:nvPr/>
        </p:nvSpPr>
        <p:spPr>
          <a:xfrm>
            <a:off x="3563938" y="188913"/>
            <a:ext cx="19446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Arial" panose="02080604020202020204" pitchFamily="34" charset="0"/>
                <a:ea typeface="黑体" pitchFamily="49" charset="-122"/>
              </a:rPr>
              <a:t>反应机理</a:t>
            </a:r>
            <a:endParaRPr lang="zh-CN" altLang="en-US" sz="2800" b="1" dirty="0">
              <a:latin typeface="Arial" panose="02080604020202020204" pitchFamily="34" charset="0"/>
              <a:ea typeface="黑体" pitchFamily="49" charset="-122"/>
            </a:endParaRPr>
          </a:p>
        </p:txBody>
      </p:sp>
      <p:sp>
        <p:nvSpPr>
          <p:cNvPr id="35843" name="Rectangle 9"/>
          <p:cNvSpPr/>
          <p:nvPr/>
        </p:nvSpPr>
        <p:spPr>
          <a:xfrm>
            <a:off x="6516688" y="6308725"/>
            <a:ext cx="24479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见</a:t>
            </a:r>
            <a:r>
              <a:rPr lang="en-US" altLang="zh-CN" sz="1800" b="1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P73</a:t>
            </a:r>
            <a:r>
              <a:rPr lang="zh-CN" altLang="en-US" sz="1800" b="1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图</a:t>
            </a:r>
            <a:r>
              <a:rPr lang="en-US" altLang="zh-CN" sz="1800" b="1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22-5</a:t>
            </a:r>
            <a:endParaRPr lang="en-US" altLang="zh-CN" sz="1800" b="1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pic>
        <p:nvPicPr>
          <p:cNvPr id="35844" name="Picture 11" descr="8883n19_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908050"/>
            <a:ext cx="7991475" cy="5006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5" name="Text Box 12"/>
          <p:cNvSpPr txBox="1"/>
          <p:nvPr/>
        </p:nvSpPr>
        <p:spPr>
          <a:xfrm>
            <a:off x="908050" y="668338"/>
            <a:ext cx="43846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隶书" pitchFamily="49" charset="-122"/>
                <a:ea typeface="隶书" pitchFamily="49" charset="-122"/>
              </a:rPr>
              <a:t>I 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型醛缩酶（动、植物）</a:t>
            </a:r>
            <a:endParaRPr lang="zh-CN" altLang="en-US" sz="2400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5846" name="Text Box 13"/>
          <p:cNvSpPr txBox="1"/>
          <p:nvPr/>
        </p:nvSpPr>
        <p:spPr>
          <a:xfrm>
            <a:off x="971550" y="4548188"/>
            <a:ext cx="56165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隶书" pitchFamily="49" charset="-122"/>
                <a:ea typeface="隶书" pitchFamily="49" charset="-122"/>
              </a:rPr>
              <a:t>II 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型醛缩酶（微生物、真菌及藻类）</a:t>
            </a:r>
            <a:endParaRPr lang="zh-CN" altLang="en-US" sz="2400" b="1" dirty="0"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6866" name="Rectangle 2" descr="70%"/>
          <p:cNvSpPr>
            <a:spLocks noGrp="1"/>
          </p:cNvSpPr>
          <p:nvPr>
            <p:ph type="ctrTitle"/>
          </p:nvPr>
        </p:nvSpPr>
        <p:spPr>
          <a:xfrm>
            <a:off x="395288" y="620713"/>
            <a:ext cx="4537075" cy="593725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⑸ 磷酸丙糖的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互变异构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6867" name="Rectangle 3"/>
          <p:cNvSpPr/>
          <p:nvPr/>
        </p:nvSpPr>
        <p:spPr>
          <a:xfrm>
            <a:off x="5943600" y="228600"/>
            <a:ext cx="3200400" cy="701675"/>
          </a:xfrm>
          <a:prstGeom prst="rect">
            <a:avLst/>
          </a:prstGeom>
          <a:solidFill>
            <a:schemeClr val="folHlink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TopRight">
              <a:rot lat="0" lon="0" rev="0"/>
            </a:camera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FFFF66"/>
                </a:solidFill>
                <a:latin typeface="Times New Roman" panose="02020603050405020304" charset="0"/>
                <a:ea typeface="隶书" pitchFamily="49" charset="-122"/>
              </a:rPr>
              <a:t>糖酵解过程</a:t>
            </a:r>
            <a:r>
              <a:rPr lang="en-US" altLang="zh-CN" sz="4000" b="1" dirty="0">
                <a:solidFill>
                  <a:srgbClr val="FFFF66"/>
                </a:solidFill>
                <a:latin typeface="Times New Roman" panose="02020603050405020304" charset="0"/>
                <a:ea typeface="隶书" pitchFamily="49" charset="-122"/>
              </a:rPr>
              <a:t>1</a:t>
            </a:r>
            <a:endParaRPr lang="en-US" altLang="zh-CN" sz="4000" b="1" dirty="0">
              <a:solidFill>
                <a:srgbClr val="FFFF66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36868" name="Rectangle 5"/>
          <p:cNvSpPr/>
          <p:nvPr/>
        </p:nvSpPr>
        <p:spPr>
          <a:xfrm>
            <a:off x="900113" y="3573463"/>
            <a:ext cx="23272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二羟丙酮磷酸</a:t>
            </a:r>
            <a:endParaRPr lang="en-US" altLang="zh-CN" sz="2800" b="1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36869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1341438"/>
            <a:ext cx="2022475" cy="15970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7"/>
          <p:cNvGrpSpPr/>
          <p:nvPr/>
        </p:nvGrpSpPr>
        <p:grpSpPr>
          <a:xfrm>
            <a:off x="5724525" y="1268413"/>
            <a:ext cx="2338388" cy="2836862"/>
            <a:chOff x="3888" y="1248"/>
            <a:chExt cx="1544" cy="1926"/>
          </a:xfrm>
        </p:grpSpPr>
        <p:pic>
          <p:nvPicPr>
            <p:cNvPr id="36881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84" y="1248"/>
              <a:ext cx="1448" cy="135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882" name="Rectangle 9"/>
            <p:cNvSpPr/>
            <p:nvPr/>
          </p:nvSpPr>
          <p:spPr>
            <a:xfrm>
              <a:off x="3888" y="2821"/>
              <a:ext cx="153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甘油醛</a:t>
              </a:r>
              <a:r>
                <a:rPr lang="en-US" altLang="zh-CN" sz="2800" b="1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3-</a:t>
              </a:r>
              <a:r>
                <a:rPr lang="zh-CN" altLang="en-US" sz="2800" b="1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磷酸</a:t>
              </a:r>
              <a:endPara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endParaRPr>
            </a:p>
          </p:txBody>
        </p:sp>
      </p:grpSp>
      <p:sp>
        <p:nvSpPr>
          <p:cNvPr id="36871" name="Line 11"/>
          <p:cNvSpPr/>
          <p:nvPr/>
        </p:nvSpPr>
        <p:spPr>
          <a:xfrm>
            <a:off x="2771775" y="2278063"/>
            <a:ext cx="2836863" cy="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6872" name="Text Box 12"/>
          <p:cNvSpPr txBox="1"/>
          <p:nvPr/>
        </p:nvSpPr>
        <p:spPr>
          <a:xfrm>
            <a:off x="2841625" y="1641475"/>
            <a:ext cx="28829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charset="0"/>
                <a:ea typeface="隶书" pitchFamily="49" charset="-122"/>
              </a:rPr>
              <a:t>丙糖磷酸异构酶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152592" name="AutoShape 16"/>
          <p:cNvSpPr/>
          <p:nvPr/>
        </p:nvSpPr>
        <p:spPr>
          <a:xfrm>
            <a:off x="7812088" y="2133600"/>
            <a:ext cx="1152525" cy="330200"/>
          </a:xfrm>
          <a:prstGeom prst="chevron">
            <a:avLst>
              <a:gd name="adj" fmla="val 87259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2000" b="1" dirty="0">
              <a:solidFill>
                <a:schemeClr val="tx2"/>
              </a:solidFill>
              <a:latin typeface="Times New Roman" panose="02020603050405020304" charset="0"/>
              <a:ea typeface="宋体" pitchFamily="2" charset="-122"/>
            </a:endParaRPr>
          </a:p>
        </p:txBody>
      </p:sp>
      <p:sp>
        <p:nvSpPr>
          <p:cNvPr id="25610" name="Text Box 17"/>
          <p:cNvSpPr txBox="1"/>
          <p:nvPr/>
        </p:nvSpPr>
        <p:spPr>
          <a:xfrm>
            <a:off x="5219700" y="4886325"/>
            <a:ext cx="30956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Arial" panose="02080604020202020204" pitchFamily="34" charset="0"/>
                <a:ea typeface="隶书" pitchFamily="49" charset="-122"/>
              </a:rPr>
              <a:t>可继续酵解的三碳糖</a:t>
            </a:r>
            <a:endParaRPr lang="en-US" altLang="zh-CN" sz="2400" b="1" dirty="0">
              <a:solidFill>
                <a:schemeClr val="tx2"/>
              </a:solidFill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36875" name="Text Box 18"/>
          <p:cNvSpPr txBox="1"/>
          <p:nvPr/>
        </p:nvSpPr>
        <p:spPr>
          <a:xfrm>
            <a:off x="684213" y="4870450"/>
            <a:ext cx="3384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E60818"/>
                </a:solidFill>
                <a:latin typeface="Arial" panose="02080604020202020204" pitchFamily="34" charset="0"/>
                <a:ea typeface="隶书" pitchFamily="49" charset="-122"/>
              </a:rPr>
              <a:t>不可继续酵解的三碳糖</a:t>
            </a:r>
            <a:endParaRPr lang="en-US" altLang="zh-CN" sz="2400" b="1" dirty="0">
              <a:solidFill>
                <a:srgbClr val="E60818"/>
              </a:solidFill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36876" name="AutoShape 21"/>
          <p:cNvSpPr/>
          <p:nvPr/>
        </p:nvSpPr>
        <p:spPr>
          <a:xfrm>
            <a:off x="1763713" y="4294188"/>
            <a:ext cx="431800" cy="360362"/>
          </a:xfrm>
          <a:custGeom>
            <a:avLst/>
            <a:gdLst>
              <a:gd name="txL" fmla="*/ 3163 w 21600"/>
              <a:gd name="txT" fmla="*/ 3163 h 21600"/>
              <a:gd name="txR" fmla="*/ 18437 w 21600"/>
              <a:gd name="txB" fmla="*/ 18437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rgbClr val="E60818">
              <a:alpha val="100000"/>
            </a:srgbClr>
          </a:solidFill>
          <a:ln w="9525" cap="flat" cmpd="sng">
            <a:solidFill>
              <a:srgbClr val="E60818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6877" name="Line 22"/>
          <p:cNvSpPr/>
          <p:nvPr/>
        </p:nvSpPr>
        <p:spPr>
          <a:xfrm>
            <a:off x="1979613" y="4221163"/>
            <a:ext cx="0" cy="720725"/>
          </a:xfrm>
          <a:prstGeom prst="line">
            <a:avLst/>
          </a:prstGeom>
          <a:ln w="57150" cap="flat" cmpd="sng">
            <a:solidFill>
              <a:srgbClr val="E60818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14" name="Line 23"/>
          <p:cNvSpPr/>
          <p:nvPr/>
        </p:nvSpPr>
        <p:spPr>
          <a:xfrm>
            <a:off x="6732588" y="4221163"/>
            <a:ext cx="0" cy="720725"/>
          </a:xfrm>
          <a:prstGeom prst="line">
            <a:avLst/>
          </a:prstGeom>
          <a:ln w="571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6879" name="Rectangle 24"/>
          <p:cNvSpPr/>
          <p:nvPr/>
        </p:nvSpPr>
        <p:spPr>
          <a:xfrm>
            <a:off x="2700338" y="2492375"/>
            <a:ext cx="2816225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</a:t>
            </a:r>
            <a:r>
              <a:rPr lang="en-US" altLang="zh-CN" sz="2400" baseline="30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’ =  7.6 kJ/mol</a:t>
            </a:r>
            <a:endParaRPr lang="en-US" altLang="zh-CN" sz="24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 = - 2.51 kJ/mol</a:t>
            </a:r>
            <a:endParaRPr lang="zh-CN" altLang="en-US" sz="24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52601" name="Rectangle 25"/>
          <p:cNvSpPr/>
          <p:nvPr/>
        </p:nvSpPr>
        <p:spPr>
          <a:xfrm>
            <a:off x="285750" y="5500688"/>
            <a:ext cx="8715375" cy="114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在</a:t>
            </a:r>
            <a:r>
              <a:rPr lang="zh-CN" altLang="en-US" sz="24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标准状况下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是吸能反应；在</a:t>
            </a:r>
            <a:r>
              <a:rPr lang="zh-CN" altLang="en-US" sz="24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生理条件下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是放能反应。生理状况下</a:t>
            </a:r>
            <a:r>
              <a:rPr lang="en-US" altLang="zh-CN" sz="2400" b="1" dirty="0">
                <a:latin typeface="隶书" pitchFamily="49" charset="-122"/>
                <a:ea typeface="隶书" pitchFamily="49" charset="-122"/>
              </a:rPr>
              <a:t>,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磷酸甘油醛不断被消耗</a:t>
            </a:r>
            <a:r>
              <a:rPr lang="en-US" altLang="zh-CN" sz="2400" b="1" dirty="0">
                <a:latin typeface="隶书" pitchFamily="49" charset="-122"/>
                <a:ea typeface="隶书" pitchFamily="49" charset="-122"/>
              </a:rPr>
              <a:t>, 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磷酸二羟丙酮因此不断异构化，转变成为磷酸甘油醛，进入后续反应</a:t>
            </a:r>
            <a:endParaRPr lang="zh-CN" altLang="en-US" sz="2400" b="1" dirty="0"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15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2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2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92" grpId="0" animBg="1"/>
      <p:bldP spid="25610" grpId="0"/>
      <p:bldP spid="15260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78533" name="Rectangle 5"/>
          <p:cNvSpPr/>
          <p:nvPr/>
        </p:nvSpPr>
        <p:spPr>
          <a:xfrm>
            <a:off x="3779838" y="836613"/>
            <a:ext cx="4895850" cy="7921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8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股</a:t>
            </a:r>
            <a:r>
              <a:rPr lang="en-US" altLang="zh-CN" sz="2400" dirty="0">
                <a:solidFill>
                  <a:srgbClr val="FF0066"/>
                </a:solidFill>
                <a:latin typeface="隶书" pitchFamily="49" charset="-122"/>
                <a:ea typeface="隶书" pitchFamily="49" charset="-122"/>
              </a:rPr>
              <a:t>β</a:t>
            </a:r>
            <a:r>
              <a:rPr lang="zh-CN" altLang="en-US" sz="2400" dirty="0">
                <a:solidFill>
                  <a:srgbClr val="FF0066"/>
                </a:solidFill>
                <a:latin typeface="隶书" pitchFamily="49" charset="-122"/>
                <a:ea typeface="隶书" pitchFamily="49" charset="-122"/>
              </a:rPr>
              <a:t>折叠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链环抱成核心每条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β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折</a:t>
            </a:r>
            <a:endParaRPr lang="zh-CN" altLang="en-US" sz="2400" dirty="0">
              <a:latin typeface="隶书" pitchFamily="49" charset="-122"/>
              <a:ea typeface="隶书" pitchFamily="49" charset="-122"/>
            </a:endParaRPr>
          </a:p>
          <a:p>
            <a:pPr marL="342900" lvl="0" indent="-342900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叠外围有</a:t>
            </a:r>
            <a:r>
              <a:rPr lang="en-US" altLang="zh-CN" sz="2400" dirty="0">
                <a:solidFill>
                  <a:srgbClr val="FF0066"/>
                </a:solidFill>
                <a:latin typeface="隶书" pitchFamily="49" charset="-122"/>
                <a:ea typeface="隶书" pitchFamily="49" charset="-122"/>
              </a:rPr>
              <a:t>α-</a:t>
            </a:r>
            <a:r>
              <a:rPr lang="zh-CN" altLang="en-US" sz="2400" dirty="0">
                <a:solidFill>
                  <a:srgbClr val="FF0066"/>
                </a:solidFill>
                <a:latin typeface="隶书" pitchFamily="49" charset="-122"/>
                <a:ea typeface="隶书" pitchFamily="49" charset="-122"/>
              </a:rPr>
              <a:t>螺旋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由无规卷曲相连</a:t>
            </a:r>
            <a:endParaRPr lang="zh-CN" altLang="en-US" sz="24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8915" name="Text Box 8"/>
          <p:cNvSpPr txBox="1"/>
          <p:nvPr/>
        </p:nvSpPr>
        <p:spPr>
          <a:xfrm>
            <a:off x="684213" y="5791200"/>
            <a:ext cx="777557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通过</a:t>
            </a:r>
            <a:r>
              <a:rPr lang="zh-CN" altLang="en-US" sz="2400" dirty="0">
                <a:latin typeface="Arial" panose="02080604020202020204" pitchFamily="34" charset="0"/>
                <a:ea typeface="隶书" pitchFamily="49" charset="-122"/>
              </a:rPr>
              <a:t>“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烯二醇</a:t>
            </a:r>
            <a:r>
              <a:rPr lang="zh-CN" altLang="en-US" sz="2400" dirty="0">
                <a:latin typeface="Arial" panose="02080604020202020204" pitchFamily="34" charset="0"/>
                <a:ea typeface="隶书" pitchFamily="49" charset="-122"/>
              </a:rPr>
              <a:t>”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式结构进行变构。酶活中心的</a:t>
            </a:r>
            <a:r>
              <a:rPr lang="en-US" altLang="zh-CN" sz="2400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Glu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残基中的游离羧基催化反应。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P74</a:t>
            </a:r>
            <a:endParaRPr lang="en-US" altLang="zh-CN" sz="24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8916" name="Rectangle 9"/>
          <p:cNvSpPr/>
          <p:nvPr/>
        </p:nvSpPr>
        <p:spPr>
          <a:xfrm>
            <a:off x="3706813" y="260350"/>
            <a:ext cx="3025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Arial" panose="02080604020202020204" pitchFamily="34" charset="0"/>
                <a:ea typeface="黑体" pitchFamily="49" charset="-122"/>
              </a:rPr>
              <a:t>丙糖磷酸异构酶</a:t>
            </a:r>
            <a:endParaRPr lang="zh-CN" altLang="en-US" sz="2400" b="1" dirty="0">
              <a:latin typeface="Arial" panose="02080604020202020204" pitchFamily="34" charset="0"/>
              <a:ea typeface="黑体" pitchFamily="49" charset="-122"/>
            </a:endParaRPr>
          </a:p>
        </p:txBody>
      </p:sp>
      <p:pic>
        <p:nvPicPr>
          <p:cNvPr id="38917" name="Picture 12" descr="Triosephosphate_isomera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625" y="341313"/>
            <a:ext cx="2087563" cy="20875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18" name="Picture 14" descr="picren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538" y="2060575"/>
            <a:ext cx="6335712" cy="3617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19" name="Picture 7" descr="glu"/>
          <p:cNvPicPr>
            <a:picLocks noChangeAspect="1"/>
          </p:cNvPicPr>
          <p:nvPr/>
        </p:nvPicPr>
        <p:blipFill>
          <a:blip r:embed="rId3"/>
          <a:srcRect b="9358"/>
          <a:stretch>
            <a:fillRect/>
          </a:stretch>
        </p:blipFill>
        <p:spPr>
          <a:xfrm>
            <a:off x="827088" y="2852738"/>
            <a:ext cx="1219200" cy="14398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20" name="Text Box 15"/>
          <p:cNvSpPr txBox="1"/>
          <p:nvPr/>
        </p:nvSpPr>
        <p:spPr>
          <a:xfrm>
            <a:off x="1116013" y="4365625"/>
            <a:ext cx="14414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</a:rPr>
              <a:t>Glu</a:t>
            </a:r>
            <a:endParaRPr lang="en-US" altLang="zh-CN" sz="2400" dirty="0"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853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>
                                            <p:txEl>
                                              <p:charRg st="16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78533">
                                            <p:txEl>
                                              <p:charRg st="16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39938" name="Picture 2"/>
          <p:cNvPicPr>
            <a:picLocks noChangeAspect="1"/>
          </p:cNvPicPr>
          <p:nvPr/>
        </p:nvPicPr>
        <p:blipFill>
          <a:blip r:embed="rId1"/>
          <a:srcRect l="24652" t="21463" r="13818" b="34010"/>
          <a:stretch>
            <a:fillRect/>
          </a:stretch>
        </p:blipFill>
        <p:spPr>
          <a:xfrm>
            <a:off x="323850" y="188913"/>
            <a:ext cx="8351838" cy="4908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39" name="Text Box 4"/>
          <p:cNvSpPr txBox="1"/>
          <p:nvPr/>
        </p:nvSpPr>
        <p:spPr>
          <a:xfrm>
            <a:off x="395288" y="5516563"/>
            <a:ext cx="8496300" cy="758825"/>
          </a:xfrm>
          <a:prstGeom prst="rect">
            <a:avLst/>
          </a:prstGeom>
          <a:solidFill>
            <a:schemeClr val="bg1"/>
          </a:solidFill>
          <a:ln w="5715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sz="3600" b="1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葡萄糖 </a:t>
            </a:r>
            <a:r>
              <a:rPr lang="en-US" altLang="zh-CN" sz="3600" b="1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+ 2 ATP </a:t>
            </a:r>
            <a:r>
              <a:rPr lang="en-US" altLang="en-US" sz="4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→</a:t>
            </a:r>
            <a:r>
              <a:rPr lang="en-US" altLang="zh-CN" sz="3600" b="1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en-US" altLang="zh-CN" sz="3600" b="1" dirty="0">
                <a:solidFill>
                  <a:srgbClr val="CC3300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lang="en-US" altLang="zh-CN" sz="3600" b="1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×</a:t>
            </a:r>
            <a:r>
              <a:rPr lang="zh-CN" altLang="en-US" sz="3600" b="1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甘油醛</a:t>
            </a:r>
            <a:r>
              <a:rPr lang="en-US" altLang="zh-CN" sz="3600" b="1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-3-</a:t>
            </a:r>
            <a:r>
              <a:rPr lang="zh-CN" altLang="en-US" sz="3600" b="1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磷酸</a:t>
            </a:r>
            <a:endParaRPr lang="zh-CN" altLang="en-US" sz="3600" b="1" dirty="0">
              <a:solidFill>
                <a:srgbClr val="0000FF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9940" name="Rectangle 5"/>
          <p:cNvSpPr/>
          <p:nvPr/>
        </p:nvSpPr>
        <p:spPr>
          <a:xfrm>
            <a:off x="0" y="115888"/>
            <a:ext cx="4356100" cy="701675"/>
          </a:xfrm>
          <a:prstGeom prst="rect">
            <a:avLst/>
          </a:prstGeom>
          <a:solidFill>
            <a:schemeClr val="folHlink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TopRight">
              <a:rot lat="0" lon="0" rev="0"/>
            </a:camera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FFFF00"/>
                </a:solidFill>
                <a:latin typeface="Times New Roman" panose="02020603050405020304" charset="0"/>
                <a:ea typeface="隶书" pitchFamily="49" charset="-122"/>
              </a:rPr>
              <a:t>糖酵解过程</a:t>
            </a:r>
            <a:r>
              <a:rPr lang="en-US" altLang="zh-CN" sz="4000" b="1" dirty="0">
                <a:solidFill>
                  <a:srgbClr val="FFFF00"/>
                </a:solidFill>
                <a:latin typeface="Times New Roman" panose="02020603050405020304" charset="0"/>
                <a:ea typeface="隶书" pitchFamily="49" charset="-122"/>
              </a:rPr>
              <a:t>1 </a:t>
            </a:r>
            <a:r>
              <a:rPr lang="zh-CN" altLang="en-US" sz="4000" b="1" dirty="0">
                <a:solidFill>
                  <a:srgbClr val="FFFF00"/>
                </a:solidFill>
                <a:latin typeface="Times New Roman" panose="02020603050405020304" charset="0"/>
                <a:ea typeface="隶书" pitchFamily="49" charset="-122"/>
              </a:rPr>
              <a:t>总结</a:t>
            </a:r>
            <a:endParaRPr lang="zh-CN" altLang="en-US" sz="4000" b="1" dirty="0">
              <a:solidFill>
                <a:srgbClr val="FFFF00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39941" name="Line 6"/>
          <p:cNvSpPr/>
          <p:nvPr/>
        </p:nvSpPr>
        <p:spPr>
          <a:xfrm flipV="1">
            <a:off x="1889125" y="2646363"/>
            <a:ext cx="196850" cy="9525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9942" name="Line 7"/>
          <p:cNvSpPr/>
          <p:nvPr/>
        </p:nvSpPr>
        <p:spPr>
          <a:xfrm flipV="1">
            <a:off x="1543050" y="2646363"/>
            <a:ext cx="196850" cy="9525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 spd="med">
    <p:pull dir="r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54626" name="Text Box 2"/>
          <p:cNvSpPr txBox="1"/>
          <p:nvPr/>
        </p:nvSpPr>
        <p:spPr>
          <a:xfrm>
            <a:off x="827088" y="836613"/>
            <a:ext cx="7561262" cy="47894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上述第一阶段的</a:t>
            </a:r>
            <a:r>
              <a:rPr lang="en-US" altLang="zh-CN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5</a:t>
            </a: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步反应完成了糖酵解的准备阶段。酵解的准备阶段包括</a:t>
            </a:r>
            <a:r>
              <a:rPr lang="zh-CN" altLang="en-US" sz="28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两个磷酸化步骤</a:t>
            </a: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由六碳糖裂解为两分子三碳糖，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最后都转变为</a:t>
            </a:r>
            <a:r>
              <a:rPr lang="zh-CN" altLang="en-US" sz="28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甘油醛</a:t>
            </a:r>
            <a:r>
              <a:rPr lang="en-US" altLang="zh-CN" sz="28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3-</a:t>
            </a:r>
            <a:r>
              <a:rPr lang="zh-CN" altLang="en-US" sz="28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磷酸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</a:rPr>
              <a:t>,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才能进入后续反应</a:t>
            </a: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。</a:t>
            </a:r>
            <a:endParaRPr lang="zh-CN" altLang="en-US" sz="2800" b="1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在准备阶段中，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消耗了 </a:t>
            </a:r>
            <a:r>
              <a:rPr lang="en-US" altLang="zh-CN" sz="28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ATP 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分子，此两步反应均是酵解途径的关键步骤</a:t>
            </a: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。</a:t>
            </a:r>
            <a:endParaRPr lang="zh-CN" altLang="en-US" sz="2800" b="1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     </a:t>
            </a:r>
            <a:endParaRPr lang="zh-CN" altLang="en-US" sz="2800" b="1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糖酵解的第二阶段</a:t>
            </a:r>
            <a:r>
              <a:rPr lang="en-US" altLang="zh-CN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,</a:t>
            </a: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共有以下的</a:t>
            </a:r>
            <a:r>
              <a:rPr lang="en-US" altLang="zh-CN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5</a:t>
            </a: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步反应</a:t>
            </a:r>
            <a:r>
              <a:rPr lang="en-US" altLang="zh-CN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,</a:t>
            </a: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包括氧化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charset="0"/>
                <a:ea typeface="隶书" pitchFamily="49" charset="-122"/>
              </a:rPr>
              <a:t>—</a:t>
            </a: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还原反应、磷酸化反应。这些反应正是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从</a:t>
            </a:r>
            <a:r>
              <a:rPr lang="zh-CN" altLang="en-US" sz="28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高能磷酸化合物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转移能量形成 </a:t>
            </a:r>
            <a:r>
              <a:rPr lang="en-US" altLang="zh-CN" sz="28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ATP 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分子</a:t>
            </a:r>
            <a:r>
              <a:rPr lang="zh-CN" altLang="en-US" sz="28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。</a:t>
            </a:r>
            <a:endParaRPr lang="zh-CN" altLang="en-US" sz="2800" b="1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>
                                            <p:txEl>
                                              <p:charRg st="0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4626">
                                            <p:txEl>
                                              <p:charRg st="0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4626">
                                            <p:txEl>
                                              <p:charRg st="0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>
                                            <p:txEl>
                                              <p:charRg st="78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4626">
                                            <p:txEl>
                                              <p:charRg st="78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4626">
                                            <p:txEl>
                                              <p:charRg st="78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4626">
                                            <p:txEl>
                                              <p:charRg st="78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>
                                            <p:txEl>
                                              <p:charRg st="122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1000"/>
                                        <p:tgtEl>
                                          <p:spTgt spid="154626">
                                            <p:txEl>
                                              <p:charRg st="122" end="1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02" name="Rectangle 2"/>
          <p:cNvSpPr/>
          <p:nvPr/>
        </p:nvSpPr>
        <p:spPr>
          <a:xfrm>
            <a:off x="1835150" y="2205038"/>
            <a:ext cx="5889625" cy="1219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>
              <a:spcBef>
                <a:spcPct val="0"/>
              </a:spcBef>
              <a:buFontTx/>
              <a:buNone/>
            </a:pPr>
            <a:r>
              <a:rPr lang="zh-CN" altLang="en-US" sz="4000" b="1" dirty="0">
                <a:latin typeface="Arial" panose="02080604020202020204" pitchFamily="34" charset="0"/>
                <a:ea typeface="黑体" pitchFamily="49" charset="-122"/>
              </a:rPr>
              <a:t>糖酵解第二阶段的反应</a:t>
            </a:r>
            <a:endParaRPr lang="zh-CN" altLang="en-US" sz="4000" b="1" dirty="0">
              <a:latin typeface="Arial" panose="02080604020202020204" pitchFamily="34" charset="0"/>
              <a:ea typeface="黑体" pitchFamily="49" charset="-122"/>
            </a:endParaRPr>
          </a:p>
          <a:p>
            <a:pPr marL="342900" lvl="0" indent="-342900"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FF0066"/>
                </a:solidFill>
                <a:latin typeface="Arial" panose="02080604020202020204" pitchFamily="34" charset="0"/>
                <a:ea typeface="楷体_GB2312" pitchFamily="49" charset="-122"/>
              </a:rPr>
              <a:t>               </a:t>
            </a:r>
            <a:r>
              <a:rPr lang="en-US" altLang="zh-CN" sz="4000" b="1" dirty="0">
                <a:solidFill>
                  <a:srgbClr val="E60818"/>
                </a:solidFill>
                <a:latin typeface="Arial" panose="02080604020202020204" pitchFamily="34" charset="0"/>
                <a:ea typeface="楷体_GB2312" pitchFamily="49" charset="-122"/>
              </a:rPr>
              <a:t>——</a:t>
            </a:r>
            <a:r>
              <a:rPr lang="zh-CN" altLang="en-US" sz="4000" b="1" dirty="0">
                <a:solidFill>
                  <a:srgbClr val="E60818"/>
                </a:solidFill>
                <a:latin typeface="Arial" panose="02080604020202020204" pitchFamily="34" charset="0"/>
                <a:ea typeface="楷体_GB2312" pitchFamily="49" charset="-122"/>
              </a:rPr>
              <a:t>放能阶段</a:t>
            </a:r>
            <a:endParaRPr lang="zh-CN" altLang="en-US" sz="4000" b="1" dirty="0">
              <a:solidFill>
                <a:srgbClr val="E60818"/>
              </a:solidFill>
              <a:latin typeface="Arial" panose="0208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2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202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2">
                                            <p:txEl>
                                              <p:charRg st="11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7202">
                                            <p:txEl>
                                              <p:charRg st="11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 descr="70%"/>
          <p:cNvSpPr>
            <a:spLocks noGrp="1"/>
          </p:cNvSpPr>
          <p:nvPr>
            <p:ph type="ctrTitle" idx="4294967295"/>
          </p:nvPr>
        </p:nvSpPr>
        <p:spPr>
          <a:xfrm>
            <a:off x="0" y="333375"/>
            <a:ext cx="3887788" cy="706438"/>
          </a:xfrm>
          <a:ln/>
        </p:spPr>
        <p:txBody>
          <a:bodyPr vert="horz" wrap="square" lIns="91440" tIns="45720" rIns="91440" bIns="45720" anchor="ctr" anchorCtr="0"/>
          <a:lstStyle>
            <a:lvl1pPr lvl="0">
              <a:buClrTx/>
              <a:buSzTx/>
              <a:buFontTx/>
              <a:defRPr/>
            </a:lvl1pPr>
          </a:lstStyle>
          <a:p>
            <a:pPr lvl="0" eaLnBrk="1" hangingPunct="1"/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⑹甘油醛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3-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磷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酸氧化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0822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8263" y="1563688"/>
            <a:ext cx="1985962" cy="20875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228" name="Text Box 4"/>
          <p:cNvSpPr txBox="1"/>
          <p:nvPr/>
        </p:nvSpPr>
        <p:spPr>
          <a:xfrm>
            <a:off x="5767388" y="4114800"/>
            <a:ext cx="30591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1,3-</a:t>
            </a:r>
            <a:r>
              <a:rPr lang="zh-CN" altLang="en-US" sz="24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二磷酸甘油酸</a:t>
            </a:r>
            <a:endParaRPr lang="en-US" altLang="zh-CN" sz="2400" b="1" dirty="0">
              <a:solidFill>
                <a:srgbClr val="080808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3013" name="Rectangle 5"/>
          <p:cNvSpPr/>
          <p:nvPr/>
        </p:nvSpPr>
        <p:spPr>
          <a:xfrm>
            <a:off x="5940425" y="228600"/>
            <a:ext cx="2930525" cy="641350"/>
          </a:xfrm>
          <a:prstGeom prst="rect">
            <a:avLst/>
          </a:prstGeom>
          <a:solidFill>
            <a:schemeClr val="folHlink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TopRight">
              <a:rot lat="0" lon="0" rev="0"/>
            </a:camera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FF66"/>
                </a:solidFill>
                <a:latin typeface="Times New Roman" panose="02020603050405020304" charset="0"/>
                <a:ea typeface="隶书" pitchFamily="49" charset="-122"/>
              </a:rPr>
              <a:t>糖酵解过程</a:t>
            </a:r>
            <a:r>
              <a:rPr lang="en-US" altLang="zh-CN" sz="3600" b="1" dirty="0">
                <a:solidFill>
                  <a:srgbClr val="FFFF66"/>
                </a:solidFill>
                <a:latin typeface="Times New Roman" panose="02020603050405020304" charset="0"/>
                <a:ea typeface="隶书" pitchFamily="49" charset="-122"/>
              </a:rPr>
              <a:t>2</a:t>
            </a:r>
            <a:endParaRPr lang="en-US" altLang="zh-CN" sz="4800" b="1" dirty="0">
              <a:solidFill>
                <a:srgbClr val="FFFF66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grpSp>
        <p:nvGrpSpPr>
          <p:cNvPr id="43014" name="Group 6"/>
          <p:cNvGrpSpPr/>
          <p:nvPr/>
        </p:nvGrpSpPr>
        <p:grpSpPr>
          <a:xfrm>
            <a:off x="582613" y="1787525"/>
            <a:ext cx="2124075" cy="2808288"/>
            <a:chOff x="0" y="1920"/>
            <a:chExt cx="1532" cy="2128"/>
          </a:xfrm>
        </p:grpSpPr>
        <p:sp>
          <p:nvSpPr>
            <p:cNvPr id="43042" name="Rectangle 7"/>
            <p:cNvSpPr/>
            <p:nvPr/>
          </p:nvSpPr>
          <p:spPr>
            <a:xfrm>
              <a:off x="0" y="3702"/>
              <a:ext cx="1452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080808"/>
                  </a:solidFill>
                  <a:latin typeface="隶书" pitchFamily="49" charset="-122"/>
                  <a:ea typeface="隶书" pitchFamily="49" charset="-122"/>
                </a:rPr>
                <a:t>3-</a:t>
              </a:r>
              <a:r>
                <a:rPr lang="zh-CN" altLang="en-US" sz="2400" b="1" dirty="0">
                  <a:solidFill>
                    <a:srgbClr val="080808"/>
                  </a:solidFill>
                  <a:latin typeface="隶书" pitchFamily="49" charset="-122"/>
                  <a:ea typeface="隶书" pitchFamily="49" charset="-122"/>
                </a:rPr>
                <a:t>磷酸甘油醛</a:t>
              </a:r>
              <a:endParaRPr lang="en-US" altLang="zh-CN" sz="2400" b="1" dirty="0">
                <a:solidFill>
                  <a:srgbClr val="996633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pic>
          <p:nvPicPr>
            <p:cNvPr id="43043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" y="1920"/>
              <a:ext cx="1340" cy="150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3015" name="Text Box 9"/>
          <p:cNvSpPr txBox="1"/>
          <p:nvPr/>
        </p:nvSpPr>
        <p:spPr>
          <a:xfrm>
            <a:off x="2743200" y="2890838"/>
            <a:ext cx="34559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甘油醛</a:t>
            </a:r>
            <a:r>
              <a:rPr lang="en-US" altLang="zh-CN" sz="2800" b="1" dirty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3-</a:t>
            </a:r>
            <a:r>
              <a:rPr lang="zh-CN" altLang="en-US" sz="2800" b="1" dirty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磷酸脱氢酶</a:t>
            </a:r>
            <a:endParaRPr lang="zh-CN" altLang="en-US" sz="2800" b="1" dirty="0">
              <a:solidFill>
                <a:schemeClr val="accent2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3016" name="Line 10"/>
          <p:cNvSpPr/>
          <p:nvPr/>
        </p:nvSpPr>
        <p:spPr>
          <a:xfrm>
            <a:off x="2743200" y="2747963"/>
            <a:ext cx="3240088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08235" name="AutoShape 11"/>
          <p:cNvSpPr/>
          <p:nvPr/>
        </p:nvSpPr>
        <p:spPr>
          <a:xfrm>
            <a:off x="3103563" y="3611563"/>
            <a:ext cx="2520950" cy="1008062"/>
          </a:xfrm>
          <a:prstGeom prst="upArrowCallout">
            <a:avLst>
              <a:gd name="adj1" fmla="val 62517"/>
              <a:gd name="adj2" fmla="val 62519"/>
              <a:gd name="adj3" fmla="val 16666"/>
              <a:gd name="adj4" fmla="val 66667"/>
            </a:avLst>
          </a:prstGeom>
          <a:solidFill>
            <a:srgbClr val="CCECFF"/>
          </a:soli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糖酵解中唯一的</a:t>
            </a:r>
            <a:endParaRPr lang="zh-CN" altLang="en-US" sz="2400" b="1" dirty="0">
              <a:solidFill>
                <a:srgbClr val="E60818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脱氢反应，同时</a:t>
            </a:r>
            <a:r>
              <a:rPr lang="en-US" altLang="zh-CN" sz="24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P</a:t>
            </a:r>
            <a:r>
              <a:rPr lang="zh-CN" altLang="en-US" sz="24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化</a:t>
            </a:r>
            <a:endParaRPr lang="zh-CN" altLang="en-US" sz="2400" b="1" dirty="0">
              <a:solidFill>
                <a:srgbClr val="E60818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3018" name="Text Box 12"/>
          <p:cNvSpPr txBox="1"/>
          <p:nvPr/>
        </p:nvSpPr>
        <p:spPr>
          <a:xfrm>
            <a:off x="3103563" y="1595438"/>
            <a:ext cx="3381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+</a:t>
            </a:r>
            <a:endParaRPr lang="en-US" altLang="zh-CN" sz="24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08237" name="Text Box 13"/>
          <p:cNvSpPr txBox="1"/>
          <p:nvPr/>
        </p:nvSpPr>
        <p:spPr>
          <a:xfrm>
            <a:off x="4471988" y="1882775"/>
            <a:ext cx="1682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zh-CN" sz="2800" b="1" dirty="0">
                <a:latin typeface="Abadi MT Condensed Light" pitchFamily="34" charset="0"/>
                <a:ea typeface="宋体" pitchFamily="2" charset="-122"/>
              </a:rPr>
              <a:t> </a:t>
            </a:r>
            <a:r>
              <a:rPr lang="en-US" altLang="zh-CN" sz="2400" b="1" dirty="0">
                <a:latin typeface="Abadi MT Condensed Light" pitchFamily="34" charset="0"/>
                <a:ea typeface="宋体" pitchFamily="2" charset="-122"/>
              </a:rPr>
              <a:t>NAD</a:t>
            </a:r>
            <a:r>
              <a:rPr lang="en-US" altLang="zh-CN" sz="2400" b="1" dirty="0">
                <a:solidFill>
                  <a:srgbClr val="FF3300"/>
                </a:solidFill>
                <a:latin typeface="Abadi MT Condensed Light" pitchFamily="34" charset="0"/>
                <a:ea typeface="宋体" pitchFamily="2" charset="-122"/>
              </a:rPr>
              <a:t>H</a:t>
            </a:r>
            <a:r>
              <a:rPr lang="en-US" altLang="zh-CN" sz="2400" b="1" dirty="0">
                <a:latin typeface="Abadi MT Condensed Light" pitchFamily="34" charset="0"/>
                <a:ea typeface="宋体" pitchFamily="2" charset="-122"/>
              </a:rPr>
              <a:t>+</a:t>
            </a:r>
            <a:r>
              <a:rPr lang="en-US" altLang="zh-CN" sz="2400" b="1" dirty="0">
                <a:solidFill>
                  <a:srgbClr val="CC3300"/>
                </a:solidFill>
                <a:latin typeface="Abadi MT Condensed Light" pitchFamily="34" charset="0"/>
                <a:ea typeface="宋体" pitchFamily="2" charset="-122"/>
              </a:rPr>
              <a:t>H</a:t>
            </a:r>
            <a:r>
              <a:rPr lang="en-US" altLang="zh-CN" sz="2400" b="1" baseline="30000" dirty="0">
                <a:solidFill>
                  <a:srgbClr val="CC3300"/>
                </a:solidFill>
                <a:latin typeface="Abadi MT Condensed Light" pitchFamily="34" charset="0"/>
                <a:ea typeface="宋体" pitchFamily="2" charset="-122"/>
              </a:rPr>
              <a:t>+</a:t>
            </a:r>
            <a:endParaRPr lang="en-US" altLang="zh-CN" sz="2400" dirty="0">
              <a:latin typeface="Abadi MT Condensed Light" pitchFamily="34" charset="0"/>
              <a:ea typeface="宋体" pitchFamily="2" charset="-122"/>
            </a:endParaRPr>
          </a:p>
        </p:txBody>
      </p:sp>
      <p:sp>
        <p:nvSpPr>
          <p:cNvPr id="308238" name="Freeform 14"/>
          <p:cNvSpPr/>
          <p:nvPr/>
        </p:nvSpPr>
        <p:spPr>
          <a:xfrm>
            <a:off x="3751263" y="2387600"/>
            <a:ext cx="1128712" cy="360363"/>
          </a:xfrm>
          <a:custGeom>
            <a:avLst/>
            <a:gdLst>
              <a:gd name="txL" fmla="*/ 0 w 1536"/>
              <a:gd name="txT" fmla="*/ 0 h 288"/>
              <a:gd name="txR" fmla="*/ 1536 w 1536"/>
              <a:gd name="txB" fmla="*/ 288 h 288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1536" h="288">
                <a:moveTo>
                  <a:pt x="0" y="0"/>
                </a:moveTo>
                <a:cubicBezTo>
                  <a:pt x="256" y="144"/>
                  <a:pt x="512" y="288"/>
                  <a:pt x="768" y="288"/>
                </a:cubicBezTo>
                <a:cubicBezTo>
                  <a:pt x="1024" y="288"/>
                  <a:pt x="1280" y="144"/>
                  <a:pt x="1536" y="0"/>
                </a:cubicBez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8239" name="Text Box 15"/>
          <p:cNvSpPr txBox="1"/>
          <p:nvPr/>
        </p:nvSpPr>
        <p:spPr>
          <a:xfrm>
            <a:off x="3016250" y="1912938"/>
            <a:ext cx="11636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Abadi MT Condensed Light" pitchFamily="34" charset="0"/>
                <a:ea typeface="宋体" pitchFamily="2" charset="-122"/>
              </a:rPr>
              <a:t>NAD</a:t>
            </a:r>
            <a:r>
              <a:rPr lang="en-US" altLang="zh-CN" sz="2400" b="1" baseline="30000" dirty="0">
                <a:latin typeface="Abadi MT Condensed Light" pitchFamily="34" charset="0"/>
                <a:ea typeface="宋体" pitchFamily="2" charset="-122"/>
              </a:rPr>
              <a:t>+</a:t>
            </a:r>
            <a:endParaRPr lang="en-US" altLang="zh-CN" sz="2400" b="1" baseline="30000" dirty="0">
              <a:latin typeface="Abadi MT Condensed Light" pitchFamily="34" charset="0"/>
              <a:ea typeface="宋体" pitchFamily="2" charset="-122"/>
            </a:endParaRPr>
          </a:p>
        </p:txBody>
      </p:sp>
      <p:sp>
        <p:nvSpPr>
          <p:cNvPr id="43022" name="Text Box 16"/>
          <p:cNvSpPr txBox="1"/>
          <p:nvPr/>
        </p:nvSpPr>
        <p:spPr>
          <a:xfrm>
            <a:off x="1663700" y="2420938"/>
            <a:ext cx="16510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zh-CN" sz="2000" b="1" dirty="0">
              <a:latin typeface="Times New Roman" panose="02020603050405020304" charset="0"/>
              <a:ea typeface="宋体" pitchFamily="2" charset="-122"/>
            </a:endParaRPr>
          </a:p>
        </p:txBody>
      </p:sp>
      <p:sp>
        <p:nvSpPr>
          <p:cNvPr id="308241" name="Freeform 17"/>
          <p:cNvSpPr/>
          <p:nvPr/>
        </p:nvSpPr>
        <p:spPr>
          <a:xfrm>
            <a:off x="1800225" y="1595438"/>
            <a:ext cx="1223963" cy="835025"/>
          </a:xfrm>
          <a:custGeom>
            <a:avLst/>
            <a:gdLst>
              <a:gd name="txL" fmla="*/ 0 w 2544"/>
              <a:gd name="txT" fmla="*/ 0 h 816"/>
              <a:gd name="txR" fmla="*/ 2544 w 2544"/>
              <a:gd name="txB" fmla="*/ 816 h 816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544" h="816">
                <a:moveTo>
                  <a:pt x="0" y="816"/>
                </a:moveTo>
                <a:cubicBezTo>
                  <a:pt x="244" y="456"/>
                  <a:pt x="488" y="96"/>
                  <a:pt x="912" y="48"/>
                </a:cubicBezTo>
                <a:cubicBezTo>
                  <a:pt x="1336" y="0"/>
                  <a:pt x="2272" y="448"/>
                  <a:pt x="2544" y="528"/>
                </a:cubicBezTo>
              </a:path>
            </a:pathLst>
          </a:custGeom>
          <a:noFill/>
          <a:ln w="38100" cap="flat" cmpd="sng">
            <a:solidFill>
              <a:srgbClr val="CC3300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8242" name="Freeform 18"/>
          <p:cNvSpPr/>
          <p:nvPr/>
        </p:nvSpPr>
        <p:spPr>
          <a:xfrm>
            <a:off x="2800350" y="1855788"/>
            <a:ext cx="407988" cy="261937"/>
          </a:xfrm>
          <a:custGeom>
            <a:avLst/>
            <a:gdLst>
              <a:gd name="txL" fmla="*/ 0 w 320"/>
              <a:gd name="txT" fmla="*/ 0 h 240"/>
              <a:gd name="txR" fmla="*/ 320 w 320"/>
              <a:gd name="txB" fmla="*/ 240 h 24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320" h="240">
                <a:moveTo>
                  <a:pt x="320" y="0"/>
                </a:moveTo>
                <a:cubicBezTo>
                  <a:pt x="192" y="28"/>
                  <a:pt x="64" y="56"/>
                  <a:pt x="32" y="96"/>
                </a:cubicBezTo>
                <a:cubicBezTo>
                  <a:pt x="0" y="136"/>
                  <a:pt x="104" y="216"/>
                  <a:pt x="128" y="240"/>
                </a:cubicBezTo>
              </a:path>
            </a:pathLst>
          </a:custGeom>
          <a:noFill/>
          <a:ln w="38100" cap="flat" cmpd="sng">
            <a:solidFill>
              <a:srgbClr val="CC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3025" name="Text Box 19"/>
          <p:cNvSpPr txBox="1"/>
          <p:nvPr/>
        </p:nvSpPr>
        <p:spPr>
          <a:xfrm>
            <a:off x="4891088" y="2170113"/>
            <a:ext cx="1619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endParaRPr lang="zh-CN" altLang="en-US" sz="2000" b="1" dirty="0">
              <a:solidFill>
                <a:srgbClr val="CC3300"/>
              </a:solidFill>
              <a:latin typeface="Abadi MT Condensed Light" pitchFamily="34" charset="0"/>
              <a:ea typeface="宋体" pitchFamily="2" charset="-122"/>
            </a:endParaRPr>
          </a:p>
        </p:txBody>
      </p:sp>
      <p:sp>
        <p:nvSpPr>
          <p:cNvPr id="308244" name="Text Box 20"/>
          <p:cNvSpPr txBox="1"/>
          <p:nvPr/>
        </p:nvSpPr>
        <p:spPr>
          <a:xfrm>
            <a:off x="3030538" y="1379538"/>
            <a:ext cx="12223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Abadi MT Condensed Light" pitchFamily="34" charset="0"/>
                <a:ea typeface="宋体" pitchFamily="2" charset="-122"/>
              </a:rPr>
              <a:t>HPO</a:t>
            </a:r>
            <a:r>
              <a:rPr lang="en-US" altLang="zh-CN" sz="2400" b="1" baseline="-25000" dirty="0">
                <a:solidFill>
                  <a:srgbClr val="FF3300"/>
                </a:solidFill>
                <a:latin typeface="Abadi MT Condensed Light" pitchFamily="34" charset="0"/>
                <a:ea typeface="宋体" pitchFamily="2" charset="-122"/>
              </a:rPr>
              <a:t>4</a:t>
            </a:r>
            <a:r>
              <a:rPr lang="en-US" altLang="zh-CN" sz="2400" b="1" dirty="0">
                <a:latin typeface="Abadi MT Condensed Light" pitchFamily="34" charset="0"/>
                <a:ea typeface="宋体" pitchFamily="2" charset="-122"/>
              </a:rPr>
              <a:t> </a:t>
            </a:r>
            <a:r>
              <a:rPr lang="en-US" altLang="zh-CN" sz="2400" b="1" baseline="30000" dirty="0">
                <a:solidFill>
                  <a:srgbClr val="CC3300"/>
                </a:solidFill>
                <a:latin typeface="Abadi MT Condensed Light" pitchFamily="34" charset="0"/>
                <a:ea typeface="宋体" pitchFamily="2" charset="-122"/>
              </a:rPr>
              <a:t>2-</a:t>
            </a:r>
            <a:endParaRPr lang="en-US" altLang="zh-CN" sz="2400" b="1" dirty="0">
              <a:latin typeface="Abadi MT Condensed Light" pitchFamily="34" charset="0"/>
              <a:ea typeface="宋体" pitchFamily="2" charset="-122"/>
            </a:endParaRPr>
          </a:p>
        </p:txBody>
      </p:sp>
      <p:sp>
        <p:nvSpPr>
          <p:cNvPr id="308245" name="Freeform 21"/>
          <p:cNvSpPr/>
          <p:nvPr/>
        </p:nvSpPr>
        <p:spPr>
          <a:xfrm rot="-355091">
            <a:off x="4414838" y="954088"/>
            <a:ext cx="2808287" cy="1173162"/>
          </a:xfrm>
          <a:custGeom>
            <a:avLst/>
            <a:gdLst>
              <a:gd name="txL" fmla="*/ 0 w 2344"/>
              <a:gd name="txT" fmla="*/ 0 h 376"/>
              <a:gd name="txR" fmla="*/ 2344 w 2344"/>
              <a:gd name="txB" fmla="*/ 376 h 376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344" h="376">
                <a:moveTo>
                  <a:pt x="0" y="136"/>
                </a:moveTo>
                <a:cubicBezTo>
                  <a:pt x="796" y="68"/>
                  <a:pt x="1592" y="0"/>
                  <a:pt x="1968" y="40"/>
                </a:cubicBezTo>
                <a:cubicBezTo>
                  <a:pt x="2344" y="80"/>
                  <a:pt x="2300" y="228"/>
                  <a:pt x="2256" y="376"/>
                </a:cubicBezTo>
              </a:path>
            </a:pathLst>
          </a:custGeom>
          <a:noFill/>
          <a:ln w="28575" cap="flat" cmpd="sng">
            <a:solidFill>
              <a:srgbClr val="E60818">
                <a:alpha val="100000"/>
              </a:srgbClr>
            </a:solidFill>
            <a:prstDash val="lgDash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" name="Group 22"/>
          <p:cNvGrpSpPr/>
          <p:nvPr/>
        </p:nvGrpSpPr>
        <p:grpSpPr>
          <a:xfrm>
            <a:off x="6775450" y="1927225"/>
            <a:ext cx="1512888" cy="457200"/>
            <a:chOff x="4272" y="1584"/>
            <a:chExt cx="1200" cy="288"/>
          </a:xfrm>
        </p:grpSpPr>
        <p:sp>
          <p:nvSpPr>
            <p:cNvPr id="43037" name="Text Box 23"/>
            <p:cNvSpPr txBox="1"/>
            <p:nvPr/>
          </p:nvSpPr>
          <p:spPr>
            <a:xfrm>
              <a:off x="4512" y="1584"/>
              <a:ext cx="9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FF3300"/>
                  </a:solidFill>
                  <a:latin typeface="黑体" pitchFamily="49" charset="-122"/>
                  <a:ea typeface="黑体" pitchFamily="49" charset="-122"/>
                </a:rPr>
                <a:t>OPO</a:t>
              </a:r>
              <a:r>
                <a:rPr lang="en-US" altLang="zh-CN" sz="2400" b="1" baseline="-25000" dirty="0">
                  <a:solidFill>
                    <a:srgbClr val="FF3300"/>
                  </a:solidFill>
                  <a:latin typeface="黑体" pitchFamily="49" charset="-122"/>
                  <a:ea typeface="黑体" pitchFamily="49" charset="-122"/>
                </a:rPr>
                <a:t>3</a:t>
              </a:r>
              <a:r>
                <a:rPr lang="en-US" altLang="zh-CN" sz="2400" b="1" baseline="30000" dirty="0">
                  <a:solidFill>
                    <a:srgbClr val="FF3300"/>
                  </a:solidFill>
                  <a:latin typeface="黑体" pitchFamily="49" charset="-122"/>
                  <a:ea typeface="黑体" pitchFamily="49" charset="-122"/>
                </a:rPr>
                <a:t>2-</a:t>
              </a:r>
              <a:endParaRPr lang="en-US" altLang="zh-CN" sz="2400" b="1" baseline="300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43038" name="Group 24"/>
            <p:cNvGrpSpPr/>
            <p:nvPr/>
          </p:nvGrpSpPr>
          <p:grpSpPr>
            <a:xfrm>
              <a:off x="4272" y="1680"/>
              <a:ext cx="336" cy="96"/>
              <a:chOff x="2160" y="4032"/>
              <a:chExt cx="336" cy="96"/>
            </a:xfrm>
          </p:grpSpPr>
          <p:sp>
            <p:nvSpPr>
              <p:cNvPr id="43039" name="Line 25"/>
              <p:cNvSpPr/>
              <p:nvPr/>
            </p:nvSpPr>
            <p:spPr>
              <a:xfrm flipV="1">
                <a:off x="2160" y="4032"/>
                <a:ext cx="144" cy="96"/>
              </a:xfrm>
              <a:prstGeom prst="line">
                <a:avLst/>
              </a:prstGeom>
              <a:ln w="5715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40" name="Line 26"/>
              <p:cNvSpPr/>
              <p:nvPr/>
            </p:nvSpPr>
            <p:spPr>
              <a:xfrm>
                <a:off x="2304" y="4032"/>
                <a:ext cx="96" cy="96"/>
              </a:xfrm>
              <a:prstGeom prst="line">
                <a:avLst/>
              </a:prstGeom>
              <a:ln w="5715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41" name="Line 27"/>
              <p:cNvSpPr/>
              <p:nvPr/>
            </p:nvSpPr>
            <p:spPr>
              <a:xfrm flipV="1">
                <a:off x="2400" y="4032"/>
                <a:ext cx="96" cy="96"/>
              </a:xfrm>
              <a:prstGeom prst="line">
                <a:avLst/>
              </a:prstGeom>
              <a:ln w="5715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08252" name="Oval 28"/>
          <p:cNvSpPr/>
          <p:nvPr/>
        </p:nvSpPr>
        <p:spPr>
          <a:xfrm>
            <a:off x="1303338" y="2890838"/>
            <a:ext cx="1655762" cy="93662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rgbClr val="E60818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08253" name="Oval 29"/>
          <p:cNvSpPr/>
          <p:nvPr/>
        </p:nvSpPr>
        <p:spPr>
          <a:xfrm>
            <a:off x="6991350" y="2747963"/>
            <a:ext cx="1655763" cy="93662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rgbClr val="E60818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08254" name="Text Box 30"/>
          <p:cNvSpPr txBox="1"/>
          <p:nvPr/>
        </p:nvSpPr>
        <p:spPr>
          <a:xfrm>
            <a:off x="5191125" y="3611563"/>
            <a:ext cx="22320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>
                <a:latin typeface="Arial" panose="02080604020202020204" pitchFamily="34" charset="0"/>
                <a:ea typeface="隶书" pitchFamily="49" charset="-122"/>
              </a:rPr>
              <a:t>一般的磷酸酯键</a:t>
            </a:r>
            <a:endParaRPr lang="en-US" altLang="zh-CN" sz="2000" dirty="0"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43032" name="Rectangle 31"/>
          <p:cNvSpPr/>
          <p:nvPr/>
        </p:nvSpPr>
        <p:spPr>
          <a:xfrm>
            <a:off x="6775450" y="1328738"/>
            <a:ext cx="1860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高能磷酸键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 </a:t>
            </a:r>
            <a:endParaRPr lang="en-US" altLang="zh-CN" sz="24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3033" name="Freeform 32"/>
          <p:cNvSpPr/>
          <p:nvPr/>
        </p:nvSpPr>
        <p:spPr>
          <a:xfrm>
            <a:off x="7135813" y="3686175"/>
            <a:ext cx="455612" cy="141288"/>
          </a:xfrm>
          <a:custGeom>
            <a:avLst/>
            <a:gdLst>
              <a:gd name="txL" fmla="*/ 0 w 192"/>
              <a:gd name="txT" fmla="*/ 0 h 66"/>
              <a:gd name="txR" fmla="*/ 192 w 192"/>
              <a:gd name="txB" fmla="*/ 66 h 66"/>
            </a:gdLst>
            <a:ahLst/>
            <a:cxnLst>
              <a:cxn ang="0">
                <a:pos x="0" y="2147483646"/>
              </a:cxn>
              <a:cxn ang="0">
                <a:pos x="2147483646" y="0"/>
              </a:cxn>
            </a:cxnLst>
            <a:rect l="txL" t="txT" r="txR" b="txB"/>
            <a:pathLst>
              <a:path w="192" h="66">
                <a:moveTo>
                  <a:pt x="0" y="64"/>
                </a:moveTo>
                <a:cubicBezTo>
                  <a:pt x="113" y="55"/>
                  <a:pt x="126" y="66"/>
                  <a:pt x="192" y="0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dash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8257" name="Freeform 33"/>
          <p:cNvSpPr/>
          <p:nvPr/>
        </p:nvSpPr>
        <p:spPr>
          <a:xfrm>
            <a:off x="2932113" y="3482975"/>
            <a:ext cx="2308225" cy="276225"/>
          </a:xfrm>
          <a:custGeom>
            <a:avLst/>
            <a:gdLst>
              <a:gd name="txL" fmla="*/ 0 w 1454"/>
              <a:gd name="txT" fmla="*/ 0 h 174"/>
              <a:gd name="txR" fmla="*/ 1454 w 1454"/>
              <a:gd name="txB" fmla="*/ 174 h 174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1454" h="174">
                <a:moveTo>
                  <a:pt x="1454" y="174"/>
                </a:moveTo>
                <a:cubicBezTo>
                  <a:pt x="1397" y="89"/>
                  <a:pt x="1401" y="75"/>
                  <a:pt x="1298" y="55"/>
                </a:cubicBezTo>
                <a:cubicBezTo>
                  <a:pt x="1219" y="2"/>
                  <a:pt x="1137" y="6"/>
                  <a:pt x="1042" y="0"/>
                </a:cubicBezTo>
                <a:cubicBezTo>
                  <a:pt x="963" y="3"/>
                  <a:pt x="884" y="1"/>
                  <a:pt x="805" y="9"/>
                </a:cubicBezTo>
                <a:cubicBezTo>
                  <a:pt x="786" y="11"/>
                  <a:pt x="769" y="27"/>
                  <a:pt x="750" y="28"/>
                </a:cubicBezTo>
                <a:cubicBezTo>
                  <a:pt x="707" y="31"/>
                  <a:pt x="665" y="34"/>
                  <a:pt x="622" y="37"/>
                </a:cubicBezTo>
                <a:cubicBezTo>
                  <a:pt x="560" y="52"/>
                  <a:pt x="510" y="80"/>
                  <a:pt x="448" y="92"/>
                </a:cubicBezTo>
                <a:cubicBezTo>
                  <a:pt x="332" y="89"/>
                  <a:pt x="217" y="88"/>
                  <a:pt x="101" y="83"/>
                </a:cubicBezTo>
                <a:cubicBezTo>
                  <a:pt x="82" y="82"/>
                  <a:pt x="63" y="81"/>
                  <a:pt x="46" y="73"/>
                </a:cubicBezTo>
                <a:cubicBezTo>
                  <a:pt x="29" y="64"/>
                  <a:pt x="23" y="41"/>
                  <a:pt x="9" y="28"/>
                </a:cubicBezTo>
                <a:cubicBezTo>
                  <a:pt x="6" y="19"/>
                  <a:pt x="0" y="0"/>
                  <a:pt x="0" y="0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dash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3035" name="Rectangle 34"/>
          <p:cNvSpPr/>
          <p:nvPr/>
        </p:nvSpPr>
        <p:spPr>
          <a:xfrm>
            <a:off x="1763713" y="4811713"/>
            <a:ext cx="5661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</a:t>
            </a:r>
            <a:r>
              <a:rPr lang="en-US" altLang="zh-CN" sz="2400" baseline="30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’ =  6.3 kJ/mol</a:t>
            </a:r>
            <a:r>
              <a:rPr lang="zh-CN" altLang="en-US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， </a:t>
            </a: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 = - 1. 7 kJ/mol</a:t>
            </a:r>
            <a:endParaRPr lang="zh-CN" altLang="en-US" sz="24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08259" name="Rectangle 35"/>
          <p:cNvSpPr/>
          <p:nvPr/>
        </p:nvSpPr>
        <p:spPr>
          <a:xfrm>
            <a:off x="684213" y="5300663"/>
            <a:ext cx="7848600" cy="884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甘油醛</a:t>
            </a:r>
            <a:r>
              <a:rPr lang="en-US" altLang="zh-CN" sz="2800" b="1" dirty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-3-</a:t>
            </a:r>
            <a:r>
              <a:rPr lang="zh-CN" altLang="en-US" sz="2800" b="1" dirty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磷酸脱氢酶</a:t>
            </a:r>
            <a:r>
              <a:rPr lang="zh-CN" altLang="en-US" sz="1800" b="1" dirty="0">
                <a:latin typeface="Arial" panose="02080604020202020204" pitchFamily="34" charset="0"/>
                <a:ea typeface="宋体" pitchFamily="2" charset="-122"/>
              </a:rPr>
              <a:t>：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催化产生高能</a:t>
            </a:r>
            <a:r>
              <a:rPr lang="en-US" altLang="zh-CN" sz="2400" b="1" dirty="0">
                <a:solidFill>
                  <a:srgbClr val="E60818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400" b="1" dirty="0">
                <a:solidFill>
                  <a:srgbClr val="E60818"/>
                </a:solidFill>
                <a:latin typeface="黑体" pitchFamily="49" charset="-122"/>
                <a:ea typeface="黑体" pitchFamily="49" charset="-122"/>
              </a:rPr>
              <a:t>，</a:t>
            </a:r>
            <a:r>
              <a:rPr lang="en-US" altLang="zh-CN" sz="2400" b="1" dirty="0">
                <a:solidFill>
                  <a:srgbClr val="E60818"/>
                </a:solidFill>
                <a:latin typeface="黑体" pitchFamily="49" charset="-122"/>
                <a:ea typeface="黑体" pitchFamily="49" charset="-122"/>
              </a:rPr>
              <a:t>3-BPG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和还原性辅酶</a:t>
            </a: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Ⅰ</a:t>
            </a:r>
            <a:r>
              <a:rPr lang="zh-CN" altLang="en-US" sz="24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（</a:t>
            </a:r>
            <a:r>
              <a:rPr lang="en-US" altLang="zh-CN" sz="2400" b="1" dirty="0">
                <a:solidFill>
                  <a:srgbClr val="E60818"/>
                </a:solidFill>
                <a:latin typeface="黑体" pitchFamily="49" charset="-122"/>
                <a:ea typeface="黑体" pitchFamily="49" charset="-122"/>
              </a:rPr>
              <a:t>NADH + H</a:t>
            </a:r>
            <a:r>
              <a:rPr lang="en-US" altLang="zh-CN" sz="2400" b="1" baseline="30000" dirty="0">
                <a:solidFill>
                  <a:srgbClr val="E60818"/>
                </a:solidFill>
                <a:latin typeface="黑体" pitchFamily="49" charset="-122"/>
                <a:ea typeface="黑体" pitchFamily="49" charset="-122"/>
              </a:rPr>
              <a:t>+</a:t>
            </a:r>
            <a:r>
              <a:rPr lang="zh-CN" altLang="en-US" sz="24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）</a:t>
            </a:r>
            <a:endParaRPr lang="zh-CN" altLang="en-US" sz="2400" b="1" dirty="0">
              <a:solidFill>
                <a:srgbClr val="E60818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8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08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0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0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0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0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0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0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2000" fill="hold"/>
                                        <p:tgtEl>
                                          <p:spTgt spid="308228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30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1000"/>
                                        <p:tgtEl>
                                          <p:spTgt spid="30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30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30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08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08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35" grpId="0" animBg="1"/>
      <p:bldP spid="308237" grpId="0"/>
      <p:bldP spid="308239" grpId="0"/>
      <p:bldP spid="308244" grpId="0"/>
      <p:bldP spid="308252" grpId="0" animBg="1"/>
      <p:bldP spid="308253" grpId="0" animBg="1"/>
      <p:bldP spid="308254" grpId="0"/>
      <p:bldP spid="30825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058" name="Picture 2" descr="410"/>
          <p:cNvPicPr>
            <a:picLocks noChangeAspect="1"/>
          </p:cNvPicPr>
          <p:nvPr/>
        </p:nvPicPr>
        <p:blipFill>
          <a:blip r:embed="rId1"/>
          <a:srcRect t="452" b="24077"/>
          <a:stretch>
            <a:fillRect/>
          </a:stretch>
        </p:blipFill>
        <p:spPr>
          <a:xfrm>
            <a:off x="468313" y="100013"/>
            <a:ext cx="8316912" cy="4959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59" name="Rectangle 3"/>
          <p:cNvSpPr/>
          <p:nvPr/>
        </p:nvSpPr>
        <p:spPr>
          <a:xfrm>
            <a:off x="2484438" y="549275"/>
            <a:ext cx="1871662" cy="455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Times New Roman" panose="02020603050405020304" charset="0"/>
                <a:ea typeface="黑体" pitchFamily="49" charset="-122"/>
              </a:rPr>
              <a:t>反应机理</a:t>
            </a:r>
            <a:endParaRPr lang="en-US" altLang="zh-CN" sz="2800" dirty="0">
              <a:latin typeface="Times New Roman" panose="02020603050405020304" charset="0"/>
              <a:ea typeface="黑体" pitchFamily="49" charset="-122"/>
            </a:endParaRPr>
          </a:p>
        </p:txBody>
      </p:sp>
      <p:sp>
        <p:nvSpPr>
          <p:cNvPr id="310276" name="Rectangle 4"/>
          <p:cNvSpPr/>
          <p:nvPr/>
        </p:nvSpPr>
        <p:spPr>
          <a:xfrm>
            <a:off x="468313" y="4581525"/>
            <a:ext cx="8424862" cy="15525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E60818"/>
                </a:solidFill>
                <a:latin typeface="黑体" pitchFamily="49" charset="-122"/>
                <a:ea typeface="黑体" pitchFamily="49" charset="-122"/>
              </a:rPr>
              <a:t>氧化磷酸化：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甘油醛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3-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磷酸脱氢酶的酶活中心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-SH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介导醛分子底物中羰基碳的氧化，进一步又发生磷酸化，形成高能磷酸酯键，并通过其辅酶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NAD-NADH 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转递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H</a:t>
            </a:r>
            <a:r>
              <a:rPr lang="en-US" altLang="zh-CN" sz="2400" baseline="30000" dirty="0">
                <a:latin typeface="隶书" pitchFamily="49" charset="-122"/>
                <a:ea typeface="隶书" pitchFamily="49" charset="-122"/>
              </a:rPr>
              <a:t>+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。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(</a:t>
            </a:r>
            <a:r>
              <a:rPr lang="zh-CN" altLang="en-US" sz="2400" dirty="0">
                <a:solidFill>
                  <a:srgbClr val="0000CC"/>
                </a:solidFill>
                <a:latin typeface="隶书" pitchFamily="49" charset="-122"/>
                <a:ea typeface="隶书" pitchFamily="49" charset="-122"/>
              </a:rPr>
              <a:t>氧化与磷酸化偶联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）</a:t>
            </a:r>
            <a:endParaRPr lang="en-US" altLang="zh-CN" sz="2400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细胞中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NAD/NADH 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对反应调控很重要</a:t>
            </a:r>
            <a:endParaRPr lang="en-US" altLang="zh-CN" sz="24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5061" name="Rectangle 5"/>
          <p:cNvSpPr/>
          <p:nvPr/>
        </p:nvSpPr>
        <p:spPr>
          <a:xfrm>
            <a:off x="3059113" y="6237288"/>
            <a:ext cx="57213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http://www.wiley.com/college/fob/quiz/quiz14/14-9.html</a:t>
            </a: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5062" name="Text Box 6"/>
          <p:cNvSpPr txBox="1"/>
          <p:nvPr/>
        </p:nvSpPr>
        <p:spPr>
          <a:xfrm>
            <a:off x="4154488" y="276225"/>
            <a:ext cx="2447925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Arial" panose="02080604020202020204" pitchFamily="34" charset="0"/>
                <a:ea typeface="隶书" pitchFamily="49" charset="-122"/>
              </a:rPr>
              <a:t>氧化脱氢</a:t>
            </a:r>
            <a:endParaRPr lang="zh-CN" altLang="en-US" sz="2400" dirty="0">
              <a:latin typeface="Arial" panose="02080604020202020204" pitchFamily="34" charset="0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Arial" panose="02080604020202020204" pitchFamily="34" charset="0"/>
                <a:ea typeface="隶书" pitchFamily="49" charset="-122"/>
              </a:rPr>
              <a:t>磷酸基团转移</a:t>
            </a:r>
            <a:endParaRPr lang="en-US" altLang="zh-CN" sz="2400" dirty="0"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45063" name="Text Box 8"/>
          <p:cNvSpPr txBox="1"/>
          <p:nvPr/>
        </p:nvSpPr>
        <p:spPr>
          <a:xfrm>
            <a:off x="5076825" y="3141663"/>
            <a:ext cx="3565525" cy="4667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E60818"/>
                </a:solidFill>
                <a:latin typeface="Arial" panose="02080604020202020204" pitchFamily="34" charset="0"/>
                <a:ea typeface="隶书" pitchFamily="49" charset="-122"/>
              </a:rPr>
              <a:t>形成高能磷酸酯键中间体</a:t>
            </a:r>
            <a:endParaRPr lang="en-US" altLang="zh-CN" sz="2400" dirty="0">
              <a:solidFill>
                <a:srgbClr val="E60818"/>
              </a:solidFill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45064" name="AutoShape 11"/>
          <p:cNvSpPr/>
          <p:nvPr/>
        </p:nvSpPr>
        <p:spPr>
          <a:xfrm>
            <a:off x="4067175" y="476250"/>
            <a:ext cx="144463" cy="647700"/>
          </a:xfrm>
          <a:prstGeom prst="leftBrace">
            <a:avLst>
              <a:gd name="adj1" fmla="val 37362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/>
          <p:nvPr/>
        </p:nvSpPr>
        <p:spPr>
          <a:xfrm>
            <a:off x="4284663" y="1989138"/>
            <a:ext cx="424815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关于</a:t>
            </a:r>
            <a:r>
              <a:rPr lang="en-US" altLang="zh-CN" sz="2400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GAPDH</a:t>
            </a:r>
            <a:r>
              <a:rPr lang="zh-CN" altLang="en-US" sz="2400" dirty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酶的参考文献：</a:t>
            </a:r>
            <a:endParaRPr lang="zh-CN" altLang="en-US" sz="2400" dirty="0">
              <a:solidFill>
                <a:srgbClr val="0000FF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  <a:hlinkClick r:id="rId1"/>
              </a:rPr>
              <a:t>http://www.biochemsoctrans.org/bst/032/0255/bst0320255.htm——</a:t>
            </a:r>
            <a:endParaRPr lang="en-US" altLang="zh-CN" sz="2400" dirty="0">
              <a:solidFill>
                <a:srgbClr val="0000FF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6083" name="Rectangle 3"/>
          <p:cNvSpPr/>
          <p:nvPr/>
        </p:nvSpPr>
        <p:spPr>
          <a:xfrm>
            <a:off x="2627313" y="280988"/>
            <a:ext cx="44513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甘油醛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3-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磷酸脱氢酶 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GAPDH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6084" name="Rectangle 4"/>
          <p:cNvSpPr/>
          <p:nvPr/>
        </p:nvSpPr>
        <p:spPr>
          <a:xfrm>
            <a:off x="323850" y="4292600"/>
            <a:ext cx="86137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</a:rPr>
              <a:t>3-P</a:t>
            </a:r>
            <a:r>
              <a:rPr lang="zh-CN" altLang="en-US" sz="2400" dirty="0">
                <a:latin typeface="Arial" panose="02080604020202020204" pitchFamily="34" charset="0"/>
                <a:ea typeface="宋体" pitchFamily="2" charset="-122"/>
              </a:rPr>
              <a:t>甘油醛 </a:t>
            </a: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</a:rPr>
              <a:t>+ NAD </a:t>
            </a: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 3-P</a:t>
            </a:r>
            <a:r>
              <a:rPr lang="zh-CN" altLang="en-US" sz="2400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甘油酸 </a:t>
            </a: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+ NADH</a:t>
            </a: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</a:t>
            </a:r>
            <a:r>
              <a:rPr lang="en-US" altLang="zh-CN" sz="2400" baseline="30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’ = -43.09 kJ/mol</a:t>
            </a:r>
            <a:endParaRPr lang="zh-CN" altLang="en-US" sz="24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pic>
        <p:nvPicPr>
          <p:cNvPr id="46085" name="Picture 5" descr="animation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3" y="908050"/>
            <a:ext cx="3024187" cy="3024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6" name="Rectangle 6"/>
          <p:cNvSpPr/>
          <p:nvPr/>
        </p:nvSpPr>
        <p:spPr>
          <a:xfrm>
            <a:off x="3924300" y="3213100"/>
            <a:ext cx="46545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http://www.ccp4.ac.uk/martyn/animation2.gif</a:t>
            </a: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6087" name="Text Box 7"/>
          <p:cNvSpPr txBox="1"/>
          <p:nvPr/>
        </p:nvSpPr>
        <p:spPr>
          <a:xfrm>
            <a:off x="3924300" y="3500438"/>
            <a:ext cx="46799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>
                <a:latin typeface="Arial" panose="02080604020202020204" pitchFamily="34" charset="0"/>
                <a:ea typeface="宋体" pitchFamily="2" charset="-122"/>
              </a:rPr>
              <a:t>组成型酶，常常用做蛋白质定量的内参</a:t>
            </a:r>
            <a:endParaRPr lang="zh-CN" altLang="en-US" sz="20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6088" name="Text Box 8"/>
          <p:cNvSpPr txBox="1"/>
          <p:nvPr/>
        </p:nvSpPr>
        <p:spPr>
          <a:xfrm>
            <a:off x="4284663" y="908050"/>
            <a:ext cx="3529012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偶联脱氢氧化反应与磷酸化反应的酶 </a:t>
            </a:r>
            <a:endParaRPr lang="zh-CN" altLang="en-US" sz="2800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6089" name="Line 9"/>
          <p:cNvSpPr/>
          <p:nvPr/>
        </p:nvSpPr>
        <p:spPr>
          <a:xfrm>
            <a:off x="0" y="5300663"/>
            <a:ext cx="914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90" name="Rectangle 10"/>
          <p:cNvSpPr/>
          <p:nvPr/>
        </p:nvSpPr>
        <p:spPr>
          <a:xfrm>
            <a:off x="298450" y="4824413"/>
            <a:ext cx="84820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</a:rPr>
              <a:t>3-P</a:t>
            </a:r>
            <a:r>
              <a:rPr lang="zh-CN" altLang="en-US" sz="2400" dirty="0">
                <a:latin typeface="Arial" panose="02080604020202020204" pitchFamily="34" charset="0"/>
                <a:ea typeface="宋体" pitchFamily="2" charset="-122"/>
              </a:rPr>
              <a:t>甘油酸 </a:t>
            </a: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</a:rPr>
              <a:t>+ Pi </a:t>
            </a: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 1,3-</a:t>
            </a:r>
            <a:r>
              <a:rPr lang="zh-CN" altLang="en-US" sz="2400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二磷酸甘油酸</a:t>
            </a:r>
            <a:r>
              <a:rPr lang="zh-CN" altLang="en-US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        </a:t>
            </a: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</a:t>
            </a:r>
            <a:r>
              <a:rPr lang="en-US" altLang="zh-CN" sz="2400" baseline="30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’ = 49.37 kJ/mol</a:t>
            </a:r>
            <a:endParaRPr lang="zh-CN" altLang="en-US" sz="24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6091" name="Rectangle 11"/>
          <p:cNvSpPr/>
          <p:nvPr/>
        </p:nvSpPr>
        <p:spPr>
          <a:xfrm>
            <a:off x="309563" y="5300663"/>
            <a:ext cx="84963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</a:rPr>
              <a:t>3-P</a:t>
            </a:r>
            <a:r>
              <a:rPr lang="zh-CN" altLang="en-US" sz="2400" dirty="0">
                <a:latin typeface="Arial" panose="02080604020202020204" pitchFamily="34" charset="0"/>
                <a:ea typeface="宋体" pitchFamily="2" charset="-122"/>
              </a:rPr>
              <a:t>甘油醛 </a:t>
            </a: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</a:rPr>
              <a:t>+ NAD </a:t>
            </a: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+</a:t>
            </a: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</a:rPr>
              <a:t> Pi </a:t>
            </a: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 1</a:t>
            </a:r>
            <a:r>
              <a:rPr lang="zh-CN" altLang="en-US" sz="2400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3-</a:t>
            </a:r>
            <a:r>
              <a:rPr lang="zh-CN" altLang="en-US" sz="2400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二</a:t>
            </a: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P</a:t>
            </a:r>
            <a:r>
              <a:rPr lang="zh-CN" altLang="en-US" sz="2400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甘油酸 </a:t>
            </a: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+ NADH</a:t>
            </a: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  </a:t>
            </a:r>
            <a:endParaRPr lang="en-US" altLang="zh-CN" sz="24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6092" name="Rectangle 12"/>
          <p:cNvSpPr/>
          <p:nvPr/>
        </p:nvSpPr>
        <p:spPr>
          <a:xfrm>
            <a:off x="539750" y="5876925"/>
            <a:ext cx="8207375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        △G0’ = 6.3 kJ/mol</a:t>
            </a:r>
            <a:r>
              <a:rPr lang="zh-CN" altLang="en-US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； </a:t>
            </a: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 = - 1. 7 kJ/mol</a:t>
            </a:r>
            <a:endParaRPr lang="zh-CN" altLang="en-US" sz="24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2322" name="Rectangle 2"/>
          <p:cNvSpPr/>
          <p:nvPr/>
        </p:nvSpPr>
        <p:spPr>
          <a:xfrm>
            <a:off x="755650" y="404813"/>
            <a:ext cx="7920038" cy="13731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Char char="•"/>
            </a:pP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 甘油醛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</a:rPr>
              <a:t>-3-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磷酸脱氢酶活性中心含</a:t>
            </a:r>
            <a:r>
              <a:rPr lang="zh-CN" altLang="en-US" sz="28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游离</a:t>
            </a:r>
            <a:r>
              <a:rPr lang="en-US" altLang="zh-CN" sz="28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-SH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，重金属离子、烷化剂如碘乙酸等会严重抑制该酶的活性</a:t>
            </a:r>
            <a:r>
              <a:rPr lang="en-US" altLang="zh-CN" sz="2800" b="1" dirty="0">
                <a:latin typeface="Arial" panose="02080604020202020204" pitchFamily="34" charset="0"/>
                <a:ea typeface="隶书" pitchFamily="49" charset="-122"/>
              </a:rPr>
              <a:t>——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不可逆，从而可抑制糖酵解途径。</a:t>
            </a:r>
            <a:endParaRPr lang="zh-CN" altLang="en-US" sz="2800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12323" name="Rectangle 3"/>
          <p:cNvSpPr/>
          <p:nvPr/>
        </p:nvSpPr>
        <p:spPr>
          <a:xfrm>
            <a:off x="755650" y="1700213"/>
            <a:ext cx="7656513" cy="3508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Char char="•"/>
            </a:pP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 砷酸盐与磷酸结构相似</a:t>
            </a:r>
            <a:endParaRPr lang="zh-CN" altLang="en-US" sz="2800" b="1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Arial" panose="02080604020202020204" pitchFamily="34" charset="0"/>
                <a:ea typeface="隶书" pitchFamily="49" charset="-122"/>
              </a:rPr>
              <a:t>——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可替代磷酸形成</a:t>
            </a:r>
            <a:r>
              <a:rPr lang="en-US" altLang="zh-CN" sz="28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1-</a:t>
            </a:r>
            <a:r>
              <a:rPr lang="zh-CN" altLang="en-US" sz="28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砷酸</a:t>
            </a:r>
            <a:r>
              <a:rPr lang="en-US" altLang="zh-CN" sz="28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-3-</a:t>
            </a:r>
            <a:r>
              <a:rPr lang="zh-CN" altLang="en-US" sz="28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磷酸甘油酸，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并立即水解为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</a:rPr>
              <a:t>3-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磷酸甘油酸，破坏形成稳定的高能磷酸键化合物，从而影响高能磷酸基团在下一步反应中转移至</a:t>
            </a:r>
            <a:r>
              <a:rPr lang="en-US" altLang="zh-CN" sz="28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ATP</a:t>
            </a:r>
            <a:r>
              <a:rPr lang="zh-CN" altLang="en-US" sz="28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，解除了能量产生与氧化磷酸化反应的偶联。</a:t>
            </a:r>
            <a:endParaRPr lang="zh-CN" altLang="en-US" sz="2800" b="1" dirty="0">
              <a:solidFill>
                <a:srgbClr val="E60818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注意：此过程并不阻断糖酵解途径的碳架结构连续变化过程。</a:t>
            </a:r>
            <a:endParaRPr lang="en-US" altLang="zh-CN" sz="2800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12324" name="Text Box 4"/>
          <p:cNvSpPr txBox="1"/>
          <p:nvPr/>
        </p:nvSpPr>
        <p:spPr>
          <a:xfrm>
            <a:off x="755650" y="5157788"/>
            <a:ext cx="7777163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CC0000"/>
                </a:solidFill>
                <a:latin typeface="Arial" panose="02080604020202020204" pitchFamily="34" charset="0"/>
                <a:ea typeface="隶书" pitchFamily="49" charset="-122"/>
              </a:rPr>
              <a:t>解偶联剂：</a:t>
            </a:r>
            <a:r>
              <a:rPr lang="zh-CN" altLang="en-US" sz="2800" b="1" dirty="0">
                <a:solidFill>
                  <a:srgbClr val="FF0066"/>
                </a:solidFill>
                <a:latin typeface="Arial" panose="02080604020202020204" pitchFamily="34" charset="0"/>
                <a:ea typeface="隶书" pitchFamily="49" charset="-122"/>
              </a:rPr>
              <a:t> </a:t>
            </a:r>
            <a:r>
              <a:rPr lang="zh-CN" altLang="en-US" sz="2800" b="1" dirty="0">
                <a:latin typeface="Arial" panose="02080604020202020204" pitchFamily="34" charset="0"/>
                <a:ea typeface="隶书" pitchFamily="49" charset="-122"/>
              </a:rPr>
              <a:t>能使化学变化（氧化过程）与</a:t>
            </a:r>
            <a:r>
              <a:rPr lang="en-US" altLang="zh-CN" sz="2800" b="1" dirty="0">
                <a:latin typeface="Arial" panose="02080604020202020204" pitchFamily="34" charset="0"/>
                <a:ea typeface="隶书" pitchFamily="49" charset="-122"/>
              </a:rPr>
              <a:t>ATP</a:t>
            </a:r>
            <a:r>
              <a:rPr lang="zh-CN" altLang="en-US" sz="2800" b="1" dirty="0">
                <a:latin typeface="Arial" panose="02080604020202020204" pitchFamily="34" charset="0"/>
                <a:ea typeface="隶书" pitchFamily="49" charset="-122"/>
              </a:rPr>
              <a:t>产生（磷酸基团转移过程）解除偶联的化合物。</a:t>
            </a:r>
            <a:endParaRPr lang="en-US" altLang="zh-CN" sz="2800" b="1" dirty="0"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47109" name="Rectangle 6"/>
          <p:cNvSpPr/>
          <p:nvPr/>
        </p:nvSpPr>
        <p:spPr>
          <a:xfrm>
            <a:off x="0" y="0"/>
            <a:ext cx="152400" cy="384175"/>
          </a:xfrm>
          <a:prstGeom prst="rect">
            <a:avLst/>
          </a:prstGeom>
          <a:noFill/>
          <a:ln w="9525">
            <a:noFill/>
          </a:ln>
        </p:spPr>
        <p:txBody>
          <a:bodyPr wrap="none" lIns="38088" tIns="9522" rIns="38088" bIns="9522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charset="0"/>
                <a:ea typeface="宋体" pitchFamily="2" charset="-122"/>
              </a:rPr>
              <a:t> </a:t>
            </a:r>
            <a:endParaRPr lang="zh-CN" altLang="en-US" sz="2400" dirty="0">
              <a:latin typeface="Times New Roman" panose="0202060305040502030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2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2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2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2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2" grpId="0"/>
      <p:bldP spid="312323" grpId="0"/>
      <p:bldP spid="31232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 descr="70%"/>
          <p:cNvSpPr>
            <a:spLocks noGrp="1"/>
          </p:cNvSpPr>
          <p:nvPr>
            <p:ph type="ctrTitle"/>
          </p:nvPr>
        </p:nvSpPr>
        <p:spPr>
          <a:xfrm>
            <a:off x="250825" y="260350"/>
            <a:ext cx="5964238" cy="596900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⑺ 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1,3-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二磷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酸甘油酸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转移磷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酸基团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8131" name="Rectangle 3"/>
          <p:cNvSpPr/>
          <p:nvPr/>
        </p:nvSpPr>
        <p:spPr>
          <a:xfrm>
            <a:off x="6084888" y="188913"/>
            <a:ext cx="2927350" cy="641350"/>
          </a:xfrm>
          <a:prstGeom prst="rect">
            <a:avLst/>
          </a:prstGeom>
          <a:solidFill>
            <a:schemeClr val="folHlink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TopRight">
              <a:rot lat="0" lon="0" rev="0"/>
            </a:camera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FF66"/>
                </a:solidFill>
                <a:latin typeface="Times New Roman" panose="02020603050405020304" charset="0"/>
                <a:ea typeface="隶书" pitchFamily="49" charset="-122"/>
              </a:rPr>
              <a:t>糖酵解过程</a:t>
            </a:r>
            <a:r>
              <a:rPr lang="en-US" altLang="zh-CN" sz="3600" b="1" dirty="0">
                <a:solidFill>
                  <a:srgbClr val="FFFF66"/>
                </a:solidFill>
                <a:latin typeface="Times New Roman" panose="02020603050405020304" charset="0"/>
                <a:ea typeface="隶书" pitchFamily="49" charset="-122"/>
              </a:rPr>
              <a:t>2</a:t>
            </a:r>
            <a:endParaRPr lang="en-US" altLang="zh-CN" sz="4800" b="1" dirty="0">
              <a:solidFill>
                <a:srgbClr val="FFFF66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48132" name="Text Box 4"/>
          <p:cNvSpPr txBox="1"/>
          <p:nvPr/>
        </p:nvSpPr>
        <p:spPr>
          <a:xfrm>
            <a:off x="3048000" y="1925638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en-US" sz="2400" dirty="0">
              <a:latin typeface="Times New Roman" panose="02020603050405020304" charset="0"/>
              <a:ea typeface="宋体" pitchFamily="2" charset="-122"/>
            </a:endParaRPr>
          </a:p>
        </p:txBody>
      </p:sp>
      <p:sp>
        <p:nvSpPr>
          <p:cNvPr id="313349" name="Text Box 5"/>
          <p:cNvSpPr txBox="1"/>
          <p:nvPr/>
        </p:nvSpPr>
        <p:spPr>
          <a:xfrm>
            <a:off x="3140075" y="3005138"/>
            <a:ext cx="31591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charset="0"/>
                <a:ea typeface="隶书" pitchFamily="49" charset="-122"/>
              </a:rPr>
              <a:t>磷酸甘油酸激酶</a:t>
            </a:r>
            <a:endParaRPr lang="zh-CN" altLang="en-US" sz="2400" dirty="0">
              <a:solidFill>
                <a:schemeClr val="accent2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313350" name="Line 6"/>
          <p:cNvSpPr/>
          <p:nvPr/>
        </p:nvSpPr>
        <p:spPr>
          <a:xfrm>
            <a:off x="3059113" y="2928938"/>
            <a:ext cx="27368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grpSp>
        <p:nvGrpSpPr>
          <p:cNvPr id="2" name="Group 7"/>
          <p:cNvGrpSpPr/>
          <p:nvPr/>
        </p:nvGrpSpPr>
        <p:grpSpPr>
          <a:xfrm>
            <a:off x="5980113" y="1331913"/>
            <a:ext cx="2306637" cy="3186112"/>
            <a:chOff x="3919" y="1824"/>
            <a:chExt cx="1453" cy="2007"/>
          </a:xfrm>
        </p:grpSpPr>
        <p:pic>
          <p:nvPicPr>
            <p:cNvPr id="48161" name="Pictur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032" y="1824"/>
              <a:ext cx="1340" cy="145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62" name="Rectangle 9"/>
            <p:cNvSpPr/>
            <p:nvPr/>
          </p:nvSpPr>
          <p:spPr>
            <a:xfrm>
              <a:off x="3919" y="3504"/>
              <a:ext cx="133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996633"/>
                  </a:solidFill>
                  <a:latin typeface="Times New Roman" panose="02020603050405020304" charset="0"/>
                  <a:ea typeface="宋体" pitchFamily="2" charset="-122"/>
                </a:rPr>
                <a:t> </a:t>
              </a:r>
              <a:r>
                <a:rPr lang="en-US" altLang="zh-CN" sz="2400" b="1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3-</a:t>
              </a:r>
              <a:r>
                <a:rPr lang="zh-CN" altLang="en-US" sz="2400" b="1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磷酸甘油酸</a:t>
              </a:r>
              <a:endParaRPr lang="zh-CN" altLang="en-US" sz="2400" b="1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endParaRPr>
            </a:p>
          </p:txBody>
        </p:sp>
      </p:grpSp>
      <p:sp>
        <p:nvSpPr>
          <p:cNvPr id="313354" name="AutoShape 10"/>
          <p:cNvSpPr/>
          <p:nvPr/>
        </p:nvSpPr>
        <p:spPr>
          <a:xfrm>
            <a:off x="3132138" y="3505200"/>
            <a:ext cx="2879725" cy="1079500"/>
          </a:xfrm>
          <a:prstGeom prst="upArrowCallout">
            <a:avLst>
              <a:gd name="adj1" fmla="val 66688"/>
              <a:gd name="adj2" fmla="val 66617"/>
              <a:gd name="adj3" fmla="val 16666"/>
              <a:gd name="adj4" fmla="val 76796"/>
            </a:avLst>
          </a:prstGeom>
          <a:solidFill>
            <a:srgbClr val="CCECFF"/>
          </a:solidFill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E60818"/>
                </a:solidFill>
                <a:latin typeface="Times New Roman" panose="02020603050405020304" charset="0"/>
                <a:ea typeface="隶书" pitchFamily="49" charset="-122"/>
              </a:rPr>
              <a:t>EMP</a:t>
            </a:r>
            <a:r>
              <a:rPr lang="zh-CN" altLang="en-US" sz="2800" dirty="0">
                <a:solidFill>
                  <a:srgbClr val="E60818"/>
                </a:solidFill>
                <a:latin typeface="Times New Roman" panose="02020603050405020304" charset="0"/>
                <a:ea typeface="隶书" pitchFamily="49" charset="-122"/>
              </a:rPr>
              <a:t>途径中第一</a:t>
            </a:r>
            <a:endParaRPr lang="zh-CN" altLang="en-US" sz="2800" dirty="0">
              <a:solidFill>
                <a:srgbClr val="E60818"/>
              </a:solidFill>
              <a:latin typeface="Times New Roman" panose="02020603050405020304" charset="0"/>
              <a:ea typeface="隶书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E60818"/>
                </a:solidFill>
                <a:latin typeface="Times New Roman" panose="02020603050405020304" charset="0"/>
                <a:ea typeface="隶书" pitchFamily="49" charset="-122"/>
              </a:rPr>
              <a:t>次底物水平磷酸化</a:t>
            </a:r>
            <a:endParaRPr lang="zh-CN" altLang="en-US" sz="2800" b="1" dirty="0">
              <a:solidFill>
                <a:srgbClr val="E60818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grpSp>
        <p:nvGrpSpPr>
          <p:cNvPr id="3" name="Group 11"/>
          <p:cNvGrpSpPr/>
          <p:nvPr/>
        </p:nvGrpSpPr>
        <p:grpSpPr>
          <a:xfrm>
            <a:off x="323850" y="1271588"/>
            <a:ext cx="2743200" cy="3200400"/>
            <a:chOff x="96" y="1344"/>
            <a:chExt cx="1632" cy="2016"/>
          </a:xfrm>
        </p:grpSpPr>
        <p:grpSp>
          <p:nvGrpSpPr>
            <p:cNvPr id="48152" name="Group 12"/>
            <p:cNvGrpSpPr/>
            <p:nvPr/>
          </p:nvGrpSpPr>
          <p:grpSpPr>
            <a:xfrm>
              <a:off x="96" y="1344"/>
              <a:ext cx="1632" cy="2016"/>
              <a:chOff x="96" y="1344"/>
              <a:chExt cx="1632" cy="2016"/>
            </a:xfrm>
          </p:grpSpPr>
          <p:grpSp>
            <p:nvGrpSpPr>
              <p:cNvPr id="48157" name="Group 13"/>
              <p:cNvGrpSpPr/>
              <p:nvPr/>
            </p:nvGrpSpPr>
            <p:grpSpPr>
              <a:xfrm>
                <a:off x="96" y="1344"/>
                <a:ext cx="1632" cy="2016"/>
                <a:chOff x="96" y="1344"/>
                <a:chExt cx="1632" cy="2016"/>
              </a:xfrm>
            </p:grpSpPr>
            <p:pic>
              <p:nvPicPr>
                <p:cNvPr id="48159" name="Picture 14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8" y="1344"/>
                  <a:ext cx="1340" cy="15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48160" name="Text Box 15"/>
                <p:cNvSpPr txBox="1"/>
                <p:nvPr/>
              </p:nvSpPr>
              <p:spPr>
                <a:xfrm>
                  <a:off x="96" y="3072"/>
                  <a:ext cx="163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80604020202020204" pitchFamily="34" charset="0"/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b="1" dirty="0">
                      <a:solidFill>
                        <a:srgbClr val="000000"/>
                      </a:solidFill>
                      <a:latin typeface="隶书" pitchFamily="49" charset="-122"/>
                      <a:ea typeface="隶书" pitchFamily="49" charset="-122"/>
                    </a:rPr>
                    <a:t>1,3-</a:t>
                  </a:r>
                  <a:r>
                    <a:rPr lang="zh-CN" altLang="en-US" sz="2400" b="1" dirty="0">
                      <a:solidFill>
                        <a:srgbClr val="000000"/>
                      </a:solidFill>
                      <a:latin typeface="隶书" pitchFamily="49" charset="-122"/>
                      <a:ea typeface="隶书" pitchFamily="49" charset="-122"/>
                    </a:rPr>
                    <a:t>二磷酸甘油酸</a:t>
                  </a:r>
                  <a:endParaRPr lang="zh-CN" altLang="en-US" sz="2400" b="1" dirty="0">
                    <a:solidFill>
                      <a:srgbClr val="000000"/>
                    </a:solidFill>
                    <a:latin typeface="隶书" pitchFamily="49" charset="-122"/>
                    <a:ea typeface="隶书" pitchFamily="49" charset="-122"/>
                  </a:endParaRPr>
                </a:p>
              </p:txBody>
            </p:sp>
          </p:grpSp>
          <p:sp>
            <p:nvSpPr>
              <p:cNvPr id="48158" name="Rectangle 16"/>
              <p:cNvSpPr/>
              <p:nvPr/>
            </p:nvSpPr>
            <p:spPr>
              <a:xfrm>
                <a:off x="720" y="1632"/>
                <a:ext cx="75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1" dirty="0">
                    <a:solidFill>
                      <a:srgbClr val="FF3300"/>
                    </a:solidFill>
                    <a:latin typeface="Times New Roman" panose="02020603050405020304" charset="0"/>
                    <a:ea typeface="宋体" pitchFamily="2" charset="-122"/>
                  </a:rPr>
                  <a:t>OPO </a:t>
                </a:r>
                <a:r>
                  <a:rPr lang="en-US" altLang="zh-CN" sz="2400" b="1" baseline="-25000" dirty="0">
                    <a:solidFill>
                      <a:srgbClr val="FF3300"/>
                    </a:solidFill>
                    <a:latin typeface="Times New Roman" panose="02020603050405020304" charset="0"/>
                    <a:ea typeface="宋体" pitchFamily="2" charset="-122"/>
                  </a:rPr>
                  <a:t>3</a:t>
                </a:r>
                <a:r>
                  <a:rPr lang="en-US" altLang="zh-CN" sz="2400" b="1" dirty="0">
                    <a:solidFill>
                      <a:srgbClr val="FF3300"/>
                    </a:solidFill>
                    <a:latin typeface="Times New Roman" panose="02020603050405020304" charset="0"/>
                    <a:ea typeface="宋体" pitchFamily="2" charset="-122"/>
                  </a:rPr>
                  <a:t> </a:t>
                </a:r>
                <a:r>
                  <a:rPr lang="en-US" altLang="zh-CN" sz="2400" b="1" baseline="30000" dirty="0">
                    <a:solidFill>
                      <a:srgbClr val="FF3300"/>
                    </a:solidFill>
                    <a:latin typeface="Times New Roman" panose="02020603050405020304" charset="0"/>
                    <a:ea typeface="宋体" pitchFamily="2" charset="-122"/>
                  </a:rPr>
                  <a:t>2-</a:t>
                </a:r>
                <a:endParaRPr lang="en-US" altLang="zh-CN" sz="2400" b="1" baseline="30000" dirty="0">
                  <a:solidFill>
                    <a:srgbClr val="FF3300"/>
                  </a:solidFill>
                  <a:latin typeface="Times New Roman" panose="02020603050405020304" charset="0"/>
                  <a:ea typeface="宋体" pitchFamily="2" charset="-122"/>
                </a:endParaRPr>
              </a:p>
            </p:txBody>
          </p:sp>
        </p:grpSp>
        <p:grpSp>
          <p:nvGrpSpPr>
            <p:cNvPr id="48153" name="Group 17"/>
            <p:cNvGrpSpPr/>
            <p:nvPr/>
          </p:nvGrpSpPr>
          <p:grpSpPr>
            <a:xfrm>
              <a:off x="480" y="1728"/>
              <a:ext cx="336" cy="96"/>
              <a:chOff x="2160" y="4032"/>
              <a:chExt cx="336" cy="96"/>
            </a:xfrm>
          </p:grpSpPr>
          <p:sp>
            <p:nvSpPr>
              <p:cNvPr id="48154" name="Line 18"/>
              <p:cNvSpPr/>
              <p:nvPr/>
            </p:nvSpPr>
            <p:spPr>
              <a:xfrm flipV="1">
                <a:off x="2160" y="4032"/>
                <a:ext cx="144" cy="96"/>
              </a:xfrm>
              <a:prstGeom prst="line">
                <a:avLst/>
              </a:prstGeom>
              <a:ln w="5715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55" name="Line 19"/>
              <p:cNvSpPr/>
              <p:nvPr/>
            </p:nvSpPr>
            <p:spPr>
              <a:xfrm>
                <a:off x="2304" y="4032"/>
                <a:ext cx="96" cy="96"/>
              </a:xfrm>
              <a:prstGeom prst="line">
                <a:avLst/>
              </a:prstGeom>
              <a:ln w="5715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56" name="Line 20"/>
              <p:cNvSpPr/>
              <p:nvPr/>
            </p:nvSpPr>
            <p:spPr>
              <a:xfrm flipV="1">
                <a:off x="2400" y="4032"/>
                <a:ext cx="96" cy="96"/>
              </a:xfrm>
              <a:prstGeom prst="line">
                <a:avLst/>
              </a:prstGeom>
              <a:ln w="5715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7" name="Group 21"/>
          <p:cNvGrpSpPr/>
          <p:nvPr/>
        </p:nvGrpSpPr>
        <p:grpSpPr>
          <a:xfrm>
            <a:off x="2195513" y="1487488"/>
            <a:ext cx="3600450" cy="1492250"/>
            <a:chOff x="1296" y="1372"/>
            <a:chExt cx="2268" cy="940"/>
          </a:xfrm>
        </p:grpSpPr>
        <p:sp>
          <p:nvSpPr>
            <p:cNvPr id="48145" name="Line 22"/>
            <p:cNvSpPr/>
            <p:nvPr/>
          </p:nvSpPr>
          <p:spPr>
            <a:xfrm flipV="1">
              <a:off x="3264" y="1776"/>
              <a:ext cx="48" cy="19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48146" name="Group 23"/>
            <p:cNvGrpSpPr/>
            <p:nvPr/>
          </p:nvGrpSpPr>
          <p:grpSpPr>
            <a:xfrm>
              <a:off x="1296" y="1372"/>
              <a:ext cx="2268" cy="940"/>
              <a:chOff x="1296" y="1372"/>
              <a:chExt cx="2268" cy="940"/>
            </a:xfrm>
          </p:grpSpPr>
          <p:sp>
            <p:nvSpPr>
              <p:cNvPr id="48148" name="Line 24"/>
              <p:cNvSpPr/>
              <p:nvPr/>
            </p:nvSpPr>
            <p:spPr>
              <a:xfrm>
                <a:off x="1296" y="1776"/>
                <a:ext cx="960" cy="48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49" name="Freeform 25"/>
              <p:cNvSpPr/>
              <p:nvPr/>
            </p:nvSpPr>
            <p:spPr>
              <a:xfrm>
                <a:off x="1968" y="1824"/>
                <a:ext cx="1296" cy="488"/>
              </a:xfrm>
              <a:custGeom>
                <a:avLst/>
                <a:gdLst>
                  <a:gd name="txL" fmla="*/ 0 w 1296"/>
                  <a:gd name="txT" fmla="*/ 0 h 488"/>
                  <a:gd name="txR" fmla="*/ 1296 w 1296"/>
                  <a:gd name="txB" fmla="*/ 488 h 488"/>
                </a:gdLst>
                <a:ahLst/>
                <a:cxnLst>
                  <a:cxn ang="0">
                    <a:pos x="0" y="0"/>
                  </a:cxn>
                  <a:cxn ang="0">
                    <a:pos x="48" y="144"/>
                  </a:cxn>
                  <a:cxn ang="0">
                    <a:pos x="288" y="432"/>
                  </a:cxn>
                  <a:cxn ang="0">
                    <a:pos x="720" y="480"/>
                  </a:cxn>
                  <a:cxn ang="0">
                    <a:pos x="1152" y="384"/>
                  </a:cxn>
                  <a:cxn ang="0">
                    <a:pos x="1296" y="144"/>
                  </a:cxn>
                </a:cxnLst>
                <a:rect l="txL" t="txT" r="txR" b="txB"/>
                <a:pathLst>
                  <a:path w="1296" h="488">
                    <a:moveTo>
                      <a:pt x="0" y="0"/>
                    </a:moveTo>
                    <a:cubicBezTo>
                      <a:pt x="0" y="36"/>
                      <a:pt x="0" y="72"/>
                      <a:pt x="48" y="144"/>
                    </a:cubicBezTo>
                    <a:cubicBezTo>
                      <a:pt x="96" y="216"/>
                      <a:pt x="176" y="376"/>
                      <a:pt x="288" y="432"/>
                    </a:cubicBezTo>
                    <a:cubicBezTo>
                      <a:pt x="400" y="488"/>
                      <a:pt x="576" y="488"/>
                      <a:pt x="720" y="480"/>
                    </a:cubicBezTo>
                    <a:cubicBezTo>
                      <a:pt x="864" y="472"/>
                      <a:pt x="1056" y="440"/>
                      <a:pt x="1152" y="384"/>
                    </a:cubicBezTo>
                    <a:cubicBezTo>
                      <a:pt x="1248" y="328"/>
                      <a:pt x="1272" y="184"/>
                      <a:pt x="1296" y="144"/>
                    </a:cubicBezTo>
                  </a:path>
                </a:pathLst>
              </a:custGeom>
              <a:noFill/>
              <a:ln w="38100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50" name="Text Box 26"/>
              <p:cNvSpPr txBox="1"/>
              <p:nvPr/>
            </p:nvSpPr>
            <p:spPr>
              <a:xfrm>
                <a:off x="1740" y="1372"/>
                <a:ext cx="45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 b="1" dirty="0">
                    <a:latin typeface="黑体" pitchFamily="49" charset="-122"/>
                    <a:ea typeface="黑体" pitchFamily="49" charset="-122"/>
                  </a:rPr>
                  <a:t>ADP</a:t>
                </a:r>
                <a:endParaRPr lang="en-US" altLang="zh-CN" sz="2800" b="1" dirty="0">
                  <a:latin typeface="黑体" pitchFamily="49" charset="-122"/>
                  <a:ea typeface="黑体" pitchFamily="49" charset="-122"/>
                </a:endParaRPr>
              </a:p>
            </p:txBody>
          </p:sp>
          <p:sp>
            <p:nvSpPr>
              <p:cNvPr id="48151" name="Text Box 27"/>
              <p:cNvSpPr txBox="1"/>
              <p:nvPr/>
            </p:nvSpPr>
            <p:spPr>
              <a:xfrm>
                <a:off x="3109" y="1373"/>
                <a:ext cx="45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 b="1" dirty="0">
                    <a:latin typeface="黑体" pitchFamily="49" charset="-122"/>
                    <a:ea typeface="黑体" pitchFamily="49" charset="-122"/>
                  </a:rPr>
                  <a:t>ATP</a:t>
                </a:r>
                <a:endParaRPr lang="en-US" altLang="zh-CN" sz="2800" b="1" dirty="0"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sp>
          <p:nvSpPr>
            <p:cNvPr id="48147" name="Text Box 28"/>
            <p:cNvSpPr txBox="1"/>
            <p:nvPr/>
          </p:nvSpPr>
          <p:spPr>
            <a:xfrm>
              <a:off x="2448" y="1968"/>
              <a:ext cx="5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Abadi MT Condensed Light" pitchFamily="34" charset="0"/>
                  <a:ea typeface="宋体" pitchFamily="2" charset="-122"/>
                </a:rPr>
                <a:t>Mg</a:t>
              </a:r>
              <a:r>
                <a:rPr lang="en-US" altLang="zh-CN" sz="2400" b="1" baseline="30000" dirty="0">
                  <a:latin typeface="Abadi MT Condensed Light" pitchFamily="34" charset="0"/>
                  <a:ea typeface="宋体" pitchFamily="2" charset="-122"/>
                </a:rPr>
                <a:t>2</a:t>
              </a:r>
              <a:r>
                <a:rPr lang="en-US" altLang="zh-CN" sz="2400" b="1" baseline="30000" dirty="0">
                  <a:latin typeface="Times New Roman" panose="02020603050405020304" charset="0"/>
                  <a:ea typeface="宋体" pitchFamily="2" charset="-122"/>
                </a:rPr>
                <a:t>+</a:t>
              </a:r>
              <a:endParaRPr lang="en-US" altLang="zh-CN" sz="2400" b="1" dirty="0">
                <a:latin typeface="Times New Roman" panose="02020603050405020304" charset="0"/>
                <a:ea typeface="宋体" pitchFamily="2" charset="-122"/>
              </a:endParaRPr>
            </a:p>
          </p:txBody>
        </p:sp>
      </p:grpSp>
      <p:grpSp>
        <p:nvGrpSpPr>
          <p:cNvPr id="9" name="Group 29"/>
          <p:cNvGrpSpPr/>
          <p:nvPr/>
        </p:nvGrpSpPr>
        <p:grpSpPr>
          <a:xfrm>
            <a:off x="2916238" y="5157788"/>
            <a:ext cx="4392612" cy="1268412"/>
            <a:chOff x="1746" y="3466"/>
            <a:chExt cx="2540" cy="799"/>
          </a:xfrm>
        </p:grpSpPr>
        <p:sp>
          <p:nvSpPr>
            <p:cNvPr id="48142" name="AutoShape 30"/>
            <p:cNvSpPr/>
            <p:nvPr/>
          </p:nvSpPr>
          <p:spPr>
            <a:xfrm>
              <a:off x="1746" y="3466"/>
              <a:ext cx="2540" cy="799"/>
            </a:xfrm>
            <a:prstGeom prst="irregularSeal1">
              <a:avLst/>
            </a:prstGeom>
            <a:solidFill>
              <a:srgbClr val="FFFF00"/>
            </a:solidFill>
            <a:ln w="7620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48143" name="Text Box 31"/>
            <p:cNvSpPr txBox="1"/>
            <p:nvPr/>
          </p:nvSpPr>
          <p:spPr>
            <a:xfrm>
              <a:off x="2336" y="3657"/>
              <a:ext cx="577" cy="3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solidFill>
                    <a:srgbClr val="E60818"/>
                  </a:solidFill>
                  <a:latin typeface="黑体" pitchFamily="49" charset="-122"/>
                  <a:ea typeface="黑体" pitchFamily="49" charset="-122"/>
                </a:rPr>
                <a:t>+</a:t>
              </a:r>
              <a:r>
                <a:rPr lang="en-US" altLang="zh-CN" dirty="0">
                  <a:solidFill>
                    <a:srgbClr val="E60818"/>
                  </a:solidFill>
                  <a:latin typeface="黑体" pitchFamily="49" charset="-122"/>
                  <a:ea typeface="黑体" pitchFamily="49" charset="-122"/>
                </a:rPr>
                <a:t>ATP</a:t>
              </a:r>
              <a:endParaRPr lang="en-US" altLang="zh-CN" dirty="0">
                <a:solidFill>
                  <a:srgbClr val="E60818"/>
                </a:solidFill>
                <a:latin typeface="黑体" pitchFamily="49" charset="-122"/>
                <a:ea typeface="黑体" pitchFamily="49" charset="-122"/>
              </a:endParaRPr>
            </a:p>
          </p:txBody>
        </p:sp>
        <p:sp>
          <p:nvSpPr>
            <p:cNvPr id="48144" name="Rectangle 32"/>
            <p:cNvSpPr/>
            <p:nvPr/>
          </p:nvSpPr>
          <p:spPr>
            <a:xfrm>
              <a:off x="3062" y="3714"/>
              <a:ext cx="43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Arial" panose="02080604020202020204" pitchFamily="34" charset="0"/>
                  <a:ea typeface="黑体" pitchFamily="49" charset="-122"/>
                </a:rPr>
                <a:t>× 2</a:t>
              </a:r>
              <a:endParaRPr lang="zh-CN" altLang="en-US" sz="2400" b="1" dirty="0">
                <a:latin typeface="Arial" panose="02080604020202020204" pitchFamily="34" charset="0"/>
                <a:ea typeface="黑体" pitchFamily="49" charset="-122"/>
              </a:endParaRPr>
            </a:p>
          </p:txBody>
        </p:sp>
      </p:grpSp>
      <p:sp>
        <p:nvSpPr>
          <p:cNvPr id="313377" name="Rectangle 33"/>
          <p:cNvSpPr/>
          <p:nvPr/>
        </p:nvSpPr>
        <p:spPr>
          <a:xfrm>
            <a:off x="1692275" y="4652963"/>
            <a:ext cx="60944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</a:t>
            </a:r>
            <a:r>
              <a:rPr lang="en-US" altLang="zh-CN" sz="2400" baseline="30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’ = -18.8 kJ/mol</a:t>
            </a:r>
            <a:r>
              <a:rPr lang="zh-CN" altLang="en-US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； </a:t>
            </a: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 = + 1. 26 kJ/mol</a:t>
            </a:r>
            <a:endParaRPr lang="zh-CN" altLang="en-US" sz="24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13378" name="Text Box 34"/>
          <p:cNvSpPr txBox="1"/>
          <p:nvPr/>
        </p:nvSpPr>
        <p:spPr>
          <a:xfrm>
            <a:off x="1476375" y="5445125"/>
            <a:ext cx="10795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</a:rPr>
              <a:t>1 G </a:t>
            </a: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</a:rPr>
              <a:t> </a:t>
            </a:r>
            <a:endParaRPr lang="en-US" altLang="zh-CN" sz="2400" dirty="0"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3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3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13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1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9" grpId="0"/>
      <p:bldP spid="313354" grpId="0" animBg="1"/>
      <p:bldP spid="313377" grpId="0"/>
      <p:bldP spid="31337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5394" name="Text Box 2"/>
          <p:cNvSpPr txBox="1"/>
          <p:nvPr/>
        </p:nvSpPr>
        <p:spPr>
          <a:xfrm>
            <a:off x="684213" y="476250"/>
            <a:ext cx="7848600" cy="3629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Arial Black" pitchFamily="34" charset="0"/>
                <a:ea typeface="黑体" pitchFamily="49" charset="-122"/>
              </a:rPr>
              <a:t>底物水平磷酸化</a:t>
            </a:r>
            <a:r>
              <a:rPr lang="zh-CN" altLang="en-US" b="1" dirty="0">
                <a:latin typeface="Arial Black" pitchFamily="34" charset="0"/>
                <a:ea typeface="宋体" pitchFamily="2" charset="-122"/>
              </a:rPr>
              <a:t>：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直接利用代谢中间物氧化释放或转移能量产生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ATP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的磷酸化类型，称为</a:t>
            </a:r>
            <a:r>
              <a:rPr lang="zh-CN" altLang="en-US" sz="28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底物水平磷酸化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。即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ATP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的形成是直接由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</a:rPr>
              <a:t>ADP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接受一个</a:t>
            </a:r>
            <a:r>
              <a:rPr lang="zh-CN" altLang="en-US" sz="2800" b="1" dirty="0">
                <a:solidFill>
                  <a:srgbClr val="3333FF"/>
                </a:solidFill>
                <a:latin typeface="隶书" pitchFamily="49" charset="-122"/>
                <a:ea typeface="隶书" pitchFamily="49" charset="-122"/>
              </a:rPr>
              <a:t>高能中间代谢产物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（此处为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</a:rPr>
              <a:t>1,3-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二磷酸甘油酸）上的高能磷酸基团转移而产生。</a:t>
            </a:r>
            <a:endParaRPr lang="zh-CN" altLang="en-US" sz="2800" b="1" dirty="0"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zh-CN" altLang="en-US" b="1" dirty="0"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CC"/>
                </a:solidFill>
                <a:latin typeface="隶书" pitchFamily="49" charset="-122"/>
                <a:ea typeface="隶书" pitchFamily="49" charset="-122"/>
              </a:rPr>
              <a:t>注意：与通过</a:t>
            </a:r>
            <a:r>
              <a:rPr lang="zh-CN" altLang="en-US" sz="28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氧化呼吸链</a:t>
            </a:r>
            <a:r>
              <a:rPr lang="zh-CN" altLang="en-US" sz="2800" b="1" dirty="0">
                <a:solidFill>
                  <a:srgbClr val="0000CC"/>
                </a:solidFill>
                <a:latin typeface="隶书" pitchFamily="49" charset="-122"/>
                <a:ea typeface="隶书" pitchFamily="49" charset="-122"/>
              </a:rPr>
              <a:t>产生</a:t>
            </a:r>
            <a:r>
              <a:rPr lang="en-US" altLang="zh-CN" sz="2800" b="1" dirty="0">
                <a:solidFill>
                  <a:srgbClr val="0000CC"/>
                </a:solidFill>
                <a:latin typeface="隶书" pitchFamily="49" charset="-122"/>
                <a:ea typeface="隶书" pitchFamily="49" charset="-122"/>
              </a:rPr>
              <a:t>ATP</a:t>
            </a:r>
            <a:r>
              <a:rPr lang="zh-CN" altLang="en-US" sz="2800" b="1" dirty="0">
                <a:solidFill>
                  <a:srgbClr val="0000CC"/>
                </a:solidFill>
                <a:latin typeface="隶书" pitchFamily="49" charset="-122"/>
                <a:ea typeface="隶书" pitchFamily="49" charset="-122"/>
              </a:rPr>
              <a:t>的区别！</a:t>
            </a:r>
            <a:endParaRPr lang="zh-CN" altLang="en-US" sz="2800" b="1" dirty="0">
              <a:solidFill>
                <a:srgbClr val="0000CC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CC"/>
                </a:solidFill>
                <a:latin typeface="隶书" pitchFamily="49" charset="-122"/>
                <a:ea typeface="隶书" pitchFamily="49" charset="-122"/>
              </a:rPr>
              <a:t>      （将在生物氧化一章中学习）</a:t>
            </a:r>
            <a:endParaRPr lang="en-US" altLang="zh-CN" sz="2800" b="1" dirty="0">
              <a:solidFill>
                <a:srgbClr val="0000CC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15395" name="Text Box 3"/>
          <p:cNvSpPr txBox="1"/>
          <p:nvPr/>
        </p:nvSpPr>
        <p:spPr>
          <a:xfrm>
            <a:off x="684213" y="4652963"/>
            <a:ext cx="7920037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糖酵解过程</a:t>
            </a:r>
            <a:r>
              <a:rPr lang="zh-CN" altLang="en-US" sz="28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第</a:t>
            </a:r>
            <a:r>
              <a:rPr lang="en-US" altLang="zh-CN" sz="2800" b="1" dirty="0">
                <a:solidFill>
                  <a:srgbClr val="E60818"/>
                </a:solidFill>
                <a:latin typeface="黑体" pitchFamily="49" charset="-122"/>
                <a:ea typeface="黑体" pitchFamily="49" charset="-122"/>
              </a:rPr>
              <a:t>7</a:t>
            </a:r>
            <a:r>
              <a:rPr lang="zh-CN" altLang="en-US" sz="28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步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反应是该过程开始收获的阶段，在此过程中，一分子三碳糖产生了一个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ATP</a:t>
            </a:r>
            <a:endParaRPr lang="zh-CN" altLang="en-US" sz="2800" b="1" dirty="0"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4" grpId="0"/>
      <p:bldP spid="31539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1202" name="Picture 2" descr="Pub_215_bisubstrate"/>
          <p:cNvPicPr>
            <a:picLocks noChangeAspect="1"/>
          </p:cNvPicPr>
          <p:nvPr/>
        </p:nvPicPr>
        <p:blipFill>
          <a:blip r:embed="rId1"/>
          <a:srcRect b="14728"/>
          <a:stretch>
            <a:fillRect/>
          </a:stretch>
        </p:blipFill>
        <p:spPr>
          <a:xfrm>
            <a:off x="2843213" y="908050"/>
            <a:ext cx="3455987" cy="26654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03" name="Picture 3" descr="411-1"/>
          <p:cNvPicPr>
            <a:picLocks noChangeAspect="1"/>
          </p:cNvPicPr>
          <p:nvPr/>
        </p:nvPicPr>
        <p:blipFill>
          <a:blip r:embed="rId2">
            <a:lum contrast="18000"/>
          </a:blip>
          <a:srcRect b="16884"/>
          <a:stretch>
            <a:fillRect/>
          </a:stretch>
        </p:blipFill>
        <p:spPr>
          <a:xfrm>
            <a:off x="293688" y="3573463"/>
            <a:ext cx="8458200" cy="30400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04" name="Text Box 4"/>
          <p:cNvSpPr txBox="1"/>
          <p:nvPr/>
        </p:nvSpPr>
        <p:spPr>
          <a:xfrm>
            <a:off x="3173413" y="4292600"/>
            <a:ext cx="8636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Mg</a:t>
            </a:r>
            <a:r>
              <a:rPr lang="en-US" altLang="zh-CN" sz="1800" baseline="30000" dirty="0">
                <a:latin typeface="Arial" panose="02080604020202020204" pitchFamily="34" charset="0"/>
                <a:ea typeface="宋体" pitchFamily="2" charset="-122"/>
              </a:rPr>
              <a:t>2+</a:t>
            </a:r>
            <a:endParaRPr lang="en-US" altLang="zh-CN" sz="1800" baseline="300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51205" name="Line 5"/>
          <p:cNvSpPr/>
          <p:nvPr/>
        </p:nvSpPr>
        <p:spPr>
          <a:xfrm>
            <a:off x="2813050" y="4221163"/>
            <a:ext cx="2159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06" name="Line 6"/>
          <p:cNvSpPr/>
          <p:nvPr/>
        </p:nvSpPr>
        <p:spPr>
          <a:xfrm>
            <a:off x="2813050" y="4724400"/>
            <a:ext cx="2159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07" name="Text Box 7"/>
          <p:cNvSpPr txBox="1"/>
          <p:nvPr/>
        </p:nvSpPr>
        <p:spPr>
          <a:xfrm rot="10800000">
            <a:off x="2484438" y="3789363"/>
            <a:ext cx="358775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400" b="1" dirty="0">
                <a:latin typeface="Arial" panose="02080604020202020204" pitchFamily="34" charset="0"/>
                <a:ea typeface="宋体" pitchFamily="2" charset="-122"/>
              </a:rPr>
              <a:t>O</a:t>
            </a:r>
            <a:r>
              <a:rPr lang="zh-CN" altLang="en-US" sz="1400" b="1" dirty="0">
                <a:latin typeface="Arial" panose="02080604020202020204" pitchFamily="34" charset="0"/>
                <a:ea typeface="宋体" pitchFamily="2" charset="-122"/>
              </a:rPr>
              <a:t>：</a:t>
            </a:r>
            <a:endParaRPr lang="zh-CN" altLang="en-US" sz="1400" b="1" baseline="300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51208" name="Text Box 8"/>
          <p:cNvSpPr txBox="1"/>
          <p:nvPr/>
        </p:nvSpPr>
        <p:spPr>
          <a:xfrm>
            <a:off x="2957513" y="4552950"/>
            <a:ext cx="360362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600" dirty="0">
                <a:latin typeface="Arial" panose="02080604020202020204" pitchFamily="34" charset="0"/>
                <a:ea typeface="宋体" pitchFamily="2" charset="-122"/>
              </a:rPr>
              <a:t>O</a:t>
            </a:r>
            <a:endParaRPr lang="en-US" altLang="zh-CN" sz="1600" baseline="300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51209" name="Text Box 9"/>
          <p:cNvSpPr txBox="1"/>
          <p:nvPr/>
        </p:nvSpPr>
        <p:spPr>
          <a:xfrm>
            <a:off x="2943225" y="4048125"/>
            <a:ext cx="36036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600" dirty="0">
                <a:latin typeface="Arial" panose="02080604020202020204" pitchFamily="34" charset="0"/>
                <a:ea typeface="宋体" pitchFamily="2" charset="-122"/>
              </a:rPr>
              <a:t>O</a:t>
            </a:r>
            <a:endParaRPr lang="en-US" altLang="zh-CN" sz="1600" baseline="300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51210" name="Line 10"/>
          <p:cNvSpPr/>
          <p:nvPr/>
        </p:nvSpPr>
        <p:spPr>
          <a:xfrm>
            <a:off x="3173413" y="4292600"/>
            <a:ext cx="73025" cy="730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11" name="Line 11"/>
          <p:cNvSpPr/>
          <p:nvPr/>
        </p:nvSpPr>
        <p:spPr>
          <a:xfrm flipV="1">
            <a:off x="3173413" y="4581525"/>
            <a:ext cx="73025" cy="714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12" name="Text Box 12"/>
          <p:cNvSpPr txBox="1"/>
          <p:nvPr/>
        </p:nvSpPr>
        <p:spPr>
          <a:xfrm>
            <a:off x="2268538" y="260350"/>
            <a:ext cx="47529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Arial" panose="02080604020202020204" pitchFamily="34" charset="0"/>
                <a:ea typeface="隶书" pitchFamily="49" charset="-122"/>
              </a:rPr>
              <a:t>磷酸甘油酸激酶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PGK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催化机理</a:t>
            </a:r>
            <a:endParaRPr lang="en-US" altLang="zh-CN" sz="28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1213" name="Freeform 13"/>
          <p:cNvSpPr/>
          <p:nvPr/>
        </p:nvSpPr>
        <p:spPr>
          <a:xfrm>
            <a:off x="1666875" y="3962400"/>
            <a:ext cx="811213" cy="557213"/>
          </a:xfrm>
          <a:custGeom>
            <a:avLst/>
            <a:gdLst>
              <a:gd name="txL" fmla="*/ 0 w 511"/>
              <a:gd name="txT" fmla="*/ 0 h 351"/>
              <a:gd name="txR" fmla="*/ 511 w 511"/>
              <a:gd name="txB" fmla="*/ 351 h 351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txL" t="txT" r="txR" b="txB"/>
            <a:pathLst>
              <a:path w="511" h="351">
                <a:moveTo>
                  <a:pt x="511" y="21"/>
                </a:moveTo>
                <a:cubicBezTo>
                  <a:pt x="445" y="0"/>
                  <a:pt x="424" y="5"/>
                  <a:pt x="344" y="12"/>
                </a:cubicBezTo>
                <a:cubicBezTo>
                  <a:pt x="325" y="18"/>
                  <a:pt x="294" y="11"/>
                  <a:pt x="288" y="30"/>
                </a:cubicBezTo>
                <a:cubicBezTo>
                  <a:pt x="275" y="70"/>
                  <a:pt x="244" y="110"/>
                  <a:pt x="204" y="123"/>
                </a:cubicBezTo>
                <a:cubicBezTo>
                  <a:pt x="195" y="129"/>
                  <a:pt x="183" y="133"/>
                  <a:pt x="176" y="142"/>
                </a:cubicBezTo>
                <a:cubicBezTo>
                  <a:pt x="161" y="159"/>
                  <a:pt x="139" y="198"/>
                  <a:pt x="139" y="198"/>
                </a:cubicBezTo>
                <a:cubicBezTo>
                  <a:pt x="136" y="222"/>
                  <a:pt x="136" y="307"/>
                  <a:pt x="102" y="328"/>
                </a:cubicBezTo>
                <a:cubicBezTo>
                  <a:pt x="65" y="351"/>
                  <a:pt x="39" y="346"/>
                  <a:pt x="0" y="346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 descr="70%"/>
          <p:cNvSpPr>
            <a:spLocks noGrp="1"/>
          </p:cNvSpPr>
          <p:nvPr>
            <p:ph type="ctrTitle"/>
          </p:nvPr>
        </p:nvSpPr>
        <p:spPr>
          <a:xfrm>
            <a:off x="684213" y="404813"/>
            <a:ext cx="3960812" cy="576262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⑻ 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3-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磷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酸甘油酸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变位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52227" name="Group 3"/>
          <p:cNvGrpSpPr/>
          <p:nvPr/>
        </p:nvGrpSpPr>
        <p:grpSpPr>
          <a:xfrm>
            <a:off x="395288" y="1628775"/>
            <a:ext cx="2971800" cy="3186113"/>
            <a:chOff x="0" y="1728"/>
            <a:chExt cx="1632" cy="2007"/>
          </a:xfrm>
        </p:grpSpPr>
        <p:sp>
          <p:nvSpPr>
            <p:cNvPr id="52237" name="Text Box 4"/>
            <p:cNvSpPr txBox="1"/>
            <p:nvPr/>
          </p:nvSpPr>
          <p:spPr>
            <a:xfrm>
              <a:off x="0" y="3408"/>
              <a:ext cx="16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FontTx/>
                <a:buNone/>
              </a:pPr>
              <a:r>
                <a:rPr lang="en-US" altLang="zh-CN" sz="2800" b="1" dirty="0">
                  <a:solidFill>
                    <a:srgbClr val="080808"/>
                  </a:solidFill>
                  <a:latin typeface="隶书" pitchFamily="49" charset="-122"/>
                  <a:ea typeface="隶书" pitchFamily="49" charset="-122"/>
                </a:rPr>
                <a:t>3-</a:t>
              </a:r>
              <a:r>
                <a:rPr lang="zh-CN" altLang="en-US" sz="2800" b="1" dirty="0">
                  <a:solidFill>
                    <a:srgbClr val="080808"/>
                  </a:solidFill>
                  <a:latin typeface="隶书" pitchFamily="49" charset="-122"/>
                  <a:ea typeface="隶书" pitchFamily="49" charset="-122"/>
                </a:rPr>
                <a:t>磷酸甘油酸</a:t>
              </a:r>
              <a:endParaRPr lang="en-US" altLang="zh-CN" sz="3600" b="1" dirty="0">
                <a:solidFill>
                  <a:srgbClr val="080808"/>
                </a:solidFill>
                <a:latin typeface="Times New Roman" panose="02020603050405020304" charset="0"/>
                <a:ea typeface="宋体" pitchFamily="2" charset="-122"/>
              </a:endParaRPr>
            </a:p>
          </p:txBody>
        </p:sp>
        <p:pic>
          <p:nvPicPr>
            <p:cNvPr id="52238" name="Picture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4" y="1728"/>
              <a:ext cx="1340" cy="145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2228" name="Rectangle 6"/>
          <p:cNvSpPr/>
          <p:nvPr/>
        </p:nvSpPr>
        <p:spPr>
          <a:xfrm>
            <a:off x="6084888" y="304800"/>
            <a:ext cx="2862262" cy="641350"/>
          </a:xfrm>
          <a:prstGeom prst="rect">
            <a:avLst/>
          </a:prstGeom>
          <a:solidFill>
            <a:schemeClr val="folHlink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TopRight">
              <a:rot lat="0" lon="0" rev="0"/>
            </a:camera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FF66"/>
                </a:solidFill>
                <a:latin typeface="Times New Roman" panose="02020603050405020304" charset="0"/>
                <a:ea typeface="隶书" pitchFamily="49" charset="-122"/>
              </a:rPr>
              <a:t>糖酵解过程</a:t>
            </a:r>
            <a:r>
              <a:rPr lang="en-US" altLang="zh-CN" sz="3600" b="1" dirty="0">
                <a:solidFill>
                  <a:srgbClr val="FFFF66"/>
                </a:solidFill>
                <a:latin typeface="Times New Roman" panose="02020603050405020304" charset="0"/>
                <a:ea typeface="隶书" pitchFamily="49" charset="-122"/>
              </a:rPr>
              <a:t>2</a:t>
            </a:r>
            <a:endParaRPr lang="en-US" altLang="zh-CN" sz="4800" b="1" dirty="0">
              <a:solidFill>
                <a:srgbClr val="FFFF66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317447" name="Text Box 7"/>
          <p:cNvSpPr txBox="1"/>
          <p:nvPr/>
        </p:nvSpPr>
        <p:spPr>
          <a:xfrm>
            <a:off x="2843213" y="2060575"/>
            <a:ext cx="31543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Arial" panose="02080604020202020204" pitchFamily="34" charset="0"/>
                <a:ea typeface="黑体" pitchFamily="49" charset="-122"/>
              </a:rPr>
              <a:t>磷酸甘油酸变位酶</a:t>
            </a:r>
            <a:endParaRPr lang="zh-CN" altLang="en-US" sz="2800" b="1" dirty="0">
              <a:solidFill>
                <a:schemeClr val="accent2"/>
              </a:solidFill>
              <a:latin typeface="Arial" panose="02080604020202020204" pitchFamily="34" charset="0"/>
              <a:ea typeface="黑体" pitchFamily="49" charset="-122"/>
            </a:endParaRPr>
          </a:p>
        </p:txBody>
      </p:sp>
      <p:sp>
        <p:nvSpPr>
          <p:cNvPr id="317448" name="Line 8"/>
          <p:cNvSpPr/>
          <p:nvPr/>
        </p:nvSpPr>
        <p:spPr>
          <a:xfrm>
            <a:off x="2627313" y="2636838"/>
            <a:ext cx="3671887" cy="15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52231" name="Rectangle 10"/>
          <p:cNvSpPr/>
          <p:nvPr/>
        </p:nvSpPr>
        <p:spPr>
          <a:xfrm>
            <a:off x="6156325" y="4267200"/>
            <a:ext cx="24177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996633"/>
                </a:solidFill>
                <a:latin typeface="Times New Roman" panose="02020603050405020304" charset="0"/>
                <a:ea typeface="宋体" pitchFamily="2" charset="-122"/>
              </a:rPr>
              <a:t> </a:t>
            </a:r>
            <a:r>
              <a:rPr lang="en-US" altLang="zh-CN" sz="28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2-</a:t>
            </a:r>
            <a:r>
              <a:rPr lang="zh-CN" altLang="en-US" sz="28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磷酸甘油酸</a:t>
            </a:r>
            <a:endParaRPr lang="zh-CN" altLang="en-US" sz="2800" b="1" dirty="0">
              <a:solidFill>
                <a:srgbClr val="080808"/>
              </a:solidFill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5223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825" y="1600200"/>
            <a:ext cx="1370013" cy="19986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3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488" y="2286000"/>
            <a:ext cx="1295400" cy="1042988"/>
          </a:xfrm>
          <a:prstGeom prst="rect">
            <a:avLst/>
          </a:prstGeom>
          <a:noFill/>
          <a:ln w="9525" cap="flat" cmpd="sng">
            <a:solidFill>
              <a:srgbClr val="0AE46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52234" name="Text Box 13"/>
          <p:cNvSpPr txBox="1"/>
          <p:nvPr/>
        </p:nvSpPr>
        <p:spPr>
          <a:xfrm>
            <a:off x="8243888" y="6165850"/>
            <a:ext cx="576262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p77</a:t>
            </a:r>
            <a:endParaRPr lang="en-US" altLang="zh-CN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17454" name="Text Box 14"/>
          <p:cNvSpPr txBox="1"/>
          <p:nvPr/>
        </p:nvSpPr>
        <p:spPr>
          <a:xfrm>
            <a:off x="900113" y="5157788"/>
            <a:ext cx="7561262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Arial" panose="02080604020202020204" pitchFamily="34" charset="0"/>
                <a:ea typeface="隶书" pitchFamily="49" charset="-122"/>
              </a:rPr>
              <a:t>3-</a:t>
            </a:r>
            <a:r>
              <a:rPr lang="zh-CN" altLang="en-US" sz="2400" b="1" dirty="0">
                <a:latin typeface="Arial" panose="02080604020202020204" pitchFamily="34" charset="0"/>
                <a:ea typeface="隶书" pitchFamily="49" charset="-122"/>
              </a:rPr>
              <a:t>磷酸甘油酸分子中的磷酸基团与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80604020202020204" pitchFamily="34" charset="0"/>
                <a:ea typeface="隶书" pitchFamily="49" charset="-122"/>
              </a:rPr>
              <a:t>磷酸甘油酸变位酶</a:t>
            </a:r>
            <a:r>
              <a:rPr lang="zh-CN" altLang="en-US" sz="2400" b="1" dirty="0">
                <a:latin typeface="Arial" panose="02080604020202020204" pitchFamily="34" charset="0"/>
                <a:ea typeface="隶书" pitchFamily="49" charset="-122"/>
              </a:rPr>
              <a:t>中的磷酸基团发生交换，形成过渡中间产物</a:t>
            </a:r>
            <a:r>
              <a:rPr lang="en-US" altLang="zh-CN" sz="2400" b="1" dirty="0">
                <a:solidFill>
                  <a:srgbClr val="CC0000"/>
                </a:solidFill>
                <a:latin typeface="Arial" panose="02080604020202020204" pitchFamily="34" charset="0"/>
                <a:ea typeface="隶书" pitchFamily="49" charset="-122"/>
              </a:rPr>
              <a:t>2,3-2P-</a:t>
            </a:r>
            <a:r>
              <a:rPr lang="zh-CN" altLang="en-US" sz="2400" b="1" dirty="0">
                <a:solidFill>
                  <a:srgbClr val="CC0000"/>
                </a:solidFill>
                <a:latin typeface="Arial" panose="02080604020202020204" pitchFamily="34" charset="0"/>
                <a:ea typeface="隶书" pitchFamily="49" charset="-122"/>
              </a:rPr>
              <a:t>甘油酸（</a:t>
            </a:r>
            <a:r>
              <a:rPr lang="en-US" altLang="zh-CN" sz="2400" b="1" dirty="0">
                <a:solidFill>
                  <a:srgbClr val="CC0000"/>
                </a:solidFill>
                <a:latin typeface="Arial" panose="02080604020202020204" pitchFamily="34" charset="0"/>
                <a:ea typeface="隶书" pitchFamily="49" charset="-122"/>
              </a:rPr>
              <a:t>2,3-BPG</a:t>
            </a:r>
            <a:r>
              <a:rPr lang="zh-CN" altLang="en-US" sz="2400" b="1" dirty="0">
                <a:solidFill>
                  <a:srgbClr val="CC0000"/>
                </a:solidFill>
                <a:latin typeface="Arial" panose="02080604020202020204" pitchFamily="34" charset="0"/>
                <a:ea typeface="隶书" pitchFamily="49" charset="-122"/>
              </a:rPr>
              <a:t>）</a:t>
            </a:r>
            <a:endParaRPr lang="zh-CN" altLang="en-US" sz="2400" b="1" dirty="0">
              <a:solidFill>
                <a:srgbClr val="CC0000"/>
              </a:solidFill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317455" name="Rectangle 15"/>
          <p:cNvSpPr/>
          <p:nvPr/>
        </p:nvSpPr>
        <p:spPr>
          <a:xfrm>
            <a:off x="3132138" y="2852738"/>
            <a:ext cx="2730500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</a:t>
            </a:r>
            <a:r>
              <a:rPr lang="en-US" altLang="zh-CN" sz="2400" baseline="30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’ = 4.4 kJ/mol</a:t>
            </a:r>
            <a:endParaRPr lang="en-US" altLang="zh-CN" sz="24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 = - 0. 8 kJ/mol</a:t>
            </a:r>
            <a:endParaRPr lang="zh-CN" altLang="en-US" sz="24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17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7" grpId="0"/>
      <p:bldP spid="317454" grpId="0"/>
      <p:bldP spid="31745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274" name="Picture 2" descr="8883n19_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0"/>
            <a:ext cx="3800475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75" name="Text Box 3"/>
          <p:cNvSpPr txBox="1"/>
          <p:nvPr/>
        </p:nvSpPr>
        <p:spPr>
          <a:xfrm>
            <a:off x="5003800" y="260350"/>
            <a:ext cx="2376488" cy="587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Clr>
                <a:schemeClr val="bg1"/>
              </a:buClr>
              <a:buSzPct val="65000"/>
              <a:buFontTx/>
              <a:buNone/>
            </a:pP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反应机制</a:t>
            </a:r>
            <a:endParaRPr lang="en-US" altLang="zh-CN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19492" name="Text Box 4"/>
          <p:cNvSpPr txBox="1"/>
          <p:nvPr/>
        </p:nvSpPr>
        <p:spPr>
          <a:xfrm>
            <a:off x="4140200" y="908050"/>
            <a:ext cx="4679950" cy="5219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酶催化中心的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</a:rPr>
              <a:t>His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残基已结合有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</a:rPr>
              <a:t>Pi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基团</a:t>
            </a:r>
            <a:endParaRPr lang="zh-CN" altLang="en-US" sz="2800" b="1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 酶底物结合中心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</a:rPr>
              <a:t>Lys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残基与磷酸苷油酸羧基作用，抓住底物分子</a:t>
            </a:r>
            <a:endParaRPr lang="zh-CN" altLang="en-US" sz="2800" b="1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 底物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  <a:sym typeface="Symbol" pitchFamily="18" charset="2"/>
              </a:rPr>
              <a:t>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  <a:sym typeface="Symbol" pitchFamily="18" charset="2"/>
              </a:rPr>
              <a:t>-OH 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  <a:sym typeface="Symbol" pitchFamily="18" charset="2"/>
              </a:rPr>
              <a:t>与 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  <a:sym typeface="Symbol" pitchFamily="18" charset="2"/>
              </a:rPr>
              <a:t>Pi 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  <a:sym typeface="Symbol" pitchFamily="18" charset="2"/>
              </a:rPr>
              <a:t>结合，形成</a:t>
            </a:r>
            <a:r>
              <a:rPr lang="en-US" altLang="zh-CN" sz="28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  <a:sym typeface="Symbol" pitchFamily="18" charset="2"/>
              </a:rPr>
              <a:t>2</a:t>
            </a:r>
            <a:r>
              <a:rPr lang="zh-CN" altLang="en-US" sz="28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  <a:sym typeface="Symbol" pitchFamily="18" charset="2"/>
              </a:rPr>
              <a:t>，</a:t>
            </a:r>
            <a:r>
              <a:rPr lang="en-US" altLang="zh-CN" sz="28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  <a:sym typeface="Symbol" pitchFamily="18" charset="2"/>
              </a:rPr>
              <a:t>3-BPG</a:t>
            </a:r>
            <a:r>
              <a:rPr lang="zh-CN" altLang="en-US" sz="28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  <a:sym typeface="Symbol" pitchFamily="18" charset="2"/>
              </a:rPr>
              <a:t>中间过渡体</a:t>
            </a:r>
            <a:endParaRPr lang="zh-CN" altLang="en-US" sz="2800" b="1" dirty="0">
              <a:solidFill>
                <a:srgbClr val="CC0000"/>
              </a:solidFill>
              <a:latin typeface="隶书" pitchFamily="49" charset="-122"/>
              <a:ea typeface="隶书" pitchFamily="49" charset="-122"/>
              <a:sym typeface="Symbol" pitchFamily="18" charset="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800" b="1" dirty="0">
                <a:latin typeface="隶书" pitchFamily="49" charset="-122"/>
                <a:ea typeface="隶书" pitchFamily="49" charset="-122"/>
                <a:sym typeface="Symbol" pitchFamily="18" charset="2"/>
              </a:rPr>
              <a:t> 酶活中心的另一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  <a:sym typeface="Symbol" pitchFamily="18" charset="2"/>
              </a:rPr>
              <a:t>His 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  <a:sym typeface="Symbol" pitchFamily="18" charset="2"/>
              </a:rPr>
              <a:t>结合底物原来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  <a:sym typeface="Symbol" pitchFamily="18" charset="2"/>
              </a:rPr>
              <a:t>3-P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  <a:sym typeface="Symbol" pitchFamily="18" charset="2"/>
              </a:rPr>
              <a:t>。</a:t>
            </a:r>
            <a:endParaRPr lang="zh-CN" altLang="en-US" sz="2800" b="1" dirty="0">
              <a:latin typeface="隶书" pitchFamily="49" charset="-122"/>
              <a:ea typeface="隶书" pitchFamily="49" charset="-122"/>
              <a:sym typeface="Symbol" pitchFamily="18" charset="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800" b="1" dirty="0">
                <a:latin typeface="隶书" pitchFamily="49" charset="-122"/>
                <a:ea typeface="隶书" pitchFamily="49" charset="-122"/>
                <a:sym typeface="Symbol" pitchFamily="18" charset="2"/>
              </a:rPr>
              <a:t> 释放反应产物。</a:t>
            </a:r>
            <a:endParaRPr lang="en-US" altLang="zh-CN" sz="28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19493" name="Line 5"/>
          <p:cNvSpPr/>
          <p:nvPr/>
        </p:nvSpPr>
        <p:spPr>
          <a:xfrm flipH="1" flipV="1">
            <a:off x="2411413" y="908050"/>
            <a:ext cx="1728787" cy="4333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9494" name="Line 6"/>
          <p:cNvSpPr/>
          <p:nvPr/>
        </p:nvSpPr>
        <p:spPr>
          <a:xfrm flipV="1">
            <a:off x="684213" y="1268413"/>
            <a:ext cx="647700" cy="7921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9495" name="Line 7"/>
          <p:cNvSpPr/>
          <p:nvPr/>
        </p:nvSpPr>
        <p:spPr>
          <a:xfrm>
            <a:off x="1403350" y="2997200"/>
            <a:ext cx="576263" cy="5762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9496" name="Line 8"/>
          <p:cNvSpPr/>
          <p:nvPr/>
        </p:nvSpPr>
        <p:spPr>
          <a:xfrm flipH="1" flipV="1">
            <a:off x="2987675" y="4292600"/>
            <a:ext cx="504825" cy="5032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>
                                            <p:txEl>
                                              <p:charRg st="2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19492">
                                            <p:txEl>
                                              <p:charRg st="21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>
                                            <p:txEl>
                                              <p:charRg st="52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19492">
                                            <p:txEl>
                                              <p:charRg st="52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>
                                            <p:txEl>
                                              <p:charRg st="83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19492">
                                            <p:txEl>
                                              <p:charRg st="83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>
                                            <p:txEl>
                                              <p:charRg st="106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19492">
                                            <p:txEl>
                                              <p:charRg st="106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/>
          <p:nvPr/>
        </p:nvSpPr>
        <p:spPr>
          <a:xfrm>
            <a:off x="684213" y="1196975"/>
            <a:ext cx="7704137" cy="39354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兔肌细胞和酵母中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, 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该酶需要少量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2,3-BPG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， 磷酸化酶的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His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残基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,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才能启动变位反应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. 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（由 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the Institute for Cancer Research in Philadelphia 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的 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Zelda Rose 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研究小组发现）</a:t>
            </a:r>
            <a:endParaRPr lang="zh-CN" altLang="en-US" sz="2800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800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用极少量</a:t>
            </a:r>
            <a:r>
              <a:rPr lang="en-US" altLang="zh-CN" sz="2800" baseline="30000" dirty="0">
                <a:latin typeface="隶书" pitchFamily="49" charset="-122"/>
                <a:ea typeface="隶书" pitchFamily="49" charset="-122"/>
              </a:rPr>
              <a:t>32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P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标记的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，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3-BPG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与酶同孵育后，酶分子中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His</a:t>
            </a:r>
            <a:r>
              <a:rPr lang="en-US" altLang="zh-CN" sz="2800" baseline="-25000" dirty="0">
                <a:latin typeface="隶书" pitchFamily="49" charset="-122"/>
                <a:ea typeface="隶书" pitchFamily="49" charset="-122"/>
              </a:rPr>
              <a:t>8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残基发现有</a:t>
            </a:r>
            <a:r>
              <a:rPr lang="en-US" altLang="zh-CN" sz="2800" baseline="30000" dirty="0">
                <a:latin typeface="隶书" pitchFamily="49" charset="-122"/>
                <a:ea typeface="隶书" pitchFamily="49" charset="-122"/>
              </a:rPr>
              <a:t>32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P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标记。</a:t>
            </a:r>
            <a:endParaRPr lang="zh-CN" altLang="en-US" sz="2800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800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X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射线观察到酶的活性部位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His</a:t>
            </a:r>
            <a:r>
              <a:rPr lang="en-US" altLang="zh-CN" sz="2800" baseline="-25000" dirty="0">
                <a:latin typeface="隶书" pitchFamily="49" charset="-122"/>
                <a:ea typeface="隶书" pitchFamily="49" charset="-122"/>
              </a:rPr>
              <a:t>8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上有磷酸基团。</a:t>
            </a:r>
            <a:endParaRPr lang="en-US" altLang="zh-CN" sz="28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5299" name="Text Box 3"/>
          <p:cNvSpPr txBox="1"/>
          <p:nvPr/>
        </p:nvSpPr>
        <p:spPr>
          <a:xfrm>
            <a:off x="611188" y="476250"/>
            <a:ext cx="597693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55300" name="Text Box 4"/>
          <p:cNvSpPr txBox="1"/>
          <p:nvPr/>
        </p:nvSpPr>
        <p:spPr>
          <a:xfrm>
            <a:off x="539750" y="333375"/>
            <a:ext cx="525621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latin typeface="Arial" panose="02080604020202020204" pitchFamily="34" charset="0"/>
                <a:ea typeface="黑体" pitchFamily="49" charset="-122"/>
              </a:rPr>
              <a:t>实验证据</a:t>
            </a:r>
            <a:endParaRPr lang="en-US" altLang="zh-CN" dirty="0">
              <a:latin typeface="Arial" panose="02080604020202020204" pitchFamily="34" charset="0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2" descr="70%"/>
          <p:cNvSpPr>
            <a:spLocks noGrp="1"/>
          </p:cNvSpPr>
          <p:nvPr>
            <p:ph type="ctrTitle"/>
          </p:nvPr>
        </p:nvSpPr>
        <p:spPr>
          <a:xfrm>
            <a:off x="92075" y="317500"/>
            <a:ext cx="6264275" cy="576263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⑼ 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2-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磷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酸甘油酸脱水形成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高能化合物</a:t>
            </a:r>
            <a:endParaRPr lang="zh-CN" altLang="en-US" sz="3300" b="1" dirty="0">
              <a:solidFill>
                <a:srgbClr val="FF3300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6516688" y="1412875"/>
            <a:ext cx="2420937" cy="3475038"/>
            <a:chOff x="3865" y="1117"/>
            <a:chExt cx="1709" cy="2281"/>
          </a:xfrm>
        </p:grpSpPr>
        <p:grpSp>
          <p:nvGrpSpPr>
            <p:cNvPr id="56340" name="Group 4"/>
            <p:cNvGrpSpPr/>
            <p:nvPr/>
          </p:nvGrpSpPr>
          <p:grpSpPr>
            <a:xfrm>
              <a:off x="3865" y="1117"/>
              <a:ext cx="1709" cy="2281"/>
              <a:chOff x="3795" y="2064"/>
              <a:chExt cx="1709" cy="2281"/>
            </a:xfrm>
          </p:grpSpPr>
          <p:sp>
            <p:nvSpPr>
              <p:cNvPr id="56345" name="Rectangle 5"/>
              <p:cNvSpPr/>
              <p:nvPr/>
            </p:nvSpPr>
            <p:spPr>
              <a:xfrm>
                <a:off x="3795" y="3504"/>
                <a:ext cx="1709" cy="8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FontTx/>
                  <a:buNone/>
                </a:pPr>
                <a:r>
                  <a:rPr lang="zh-CN" altLang="en-US" sz="2800" b="1" dirty="0">
                    <a:solidFill>
                      <a:srgbClr val="996633"/>
                    </a:solidFill>
                    <a:latin typeface="Times New Roman" panose="02020603050405020304" charset="0"/>
                    <a:ea typeface="宋体" pitchFamily="2" charset="-122"/>
                  </a:rPr>
                  <a:t>    </a:t>
                </a:r>
                <a:r>
                  <a:rPr lang="zh-CN" altLang="en-US" sz="2500" b="1" dirty="0">
                    <a:solidFill>
                      <a:srgbClr val="080808"/>
                    </a:solidFill>
                    <a:latin typeface="隶书" pitchFamily="49" charset="-122"/>
                    <a:ea typeface="隶书" pitchFamily="49" charset="-122"/>
                  </a:rPr>
                  <a:t>磷酸烯醇式</a:t>
                </a:r>
                <a:endParaRPr lang="zh-CN" altLang="en-US" sz="2500" b="1" dirty="0">
                  <a:solidFill>
                    <a:srgbClr val="080808"/>
                  </a:solidFill>
                  <a:latin typeface="隶书" pitchFamily="49" charset="-122"/>
                  <a:ea typeface="隶书" pitchFamily="49" charset="-122"/>
                </a:endParaRPr>
              </a:p>
              <a:p>
                <a:pPr marL="0" lvl="0" indent="0">
                  <a:spcBef>
                    <a:spcPct val="0"/>
                  </a:spcBef>
                  <a:buFontTx/>
                  <a:buNone/>
                </a:pPr>
                <a:r>
                  <a:rPr lang="zh-CN" altLang="en-US" sz="2500" b="1" dirty="0">
                    <a:solidFill>
                      <a:srgbClr val="080808"/>
                    </a:solidFill>
                    <a:latin typeface="隶书" pitchFamily="49" charset="-122"/>
                    <a:ea typeface="隶书" pitchFamily="49" charset="-122"/>
                  </a:rPr>
                  <a:t> 丙酮酸（</a:t>
                </a:r>
                <a:r>
                  <a:rPr lang="en-US" altLang="zh-CN" sz="2500" b="1" dirty="0">
                    <a:solidFill>
                      <a:srgbClr val="080808"/>
                    </a:solidFill>
                    <a:latin typeface="隶书" pitchFamily="49" charset="-122"/>
                    <a:ea typeface="隶书" pitchFamily="49" charset="-122"/>
                  </a:rPr>
                  <a:t>PEP</a:t>
                </a:r>
                <a:r>
                  <a:rPr lang="zh-CN" altLang="en-US" sz="2500" b="1" dirty="0">
                    <a:solidFill>
                      <a:srgbClr val="080808"/>
                    </a:solidFill>
                    <a:latin typeface="隶书" pitchFamily="49" charset="-122"/>
                    <a:ea typeface="隶书" pitchFamily="49" charset="-122"/>
                  </a:rPr>
                  <a:t>）</a:t>
                </a:r>
                <a:endParaRPr lang="zh-CN" altLang="en-US" sz="2500" b="1" dirty="0">
                  <a:solidFill>
                    <a:srgbClr val="080808"/>
                  </a:solidFill>
                  <a:latin typeface="隶书" pitchFamily="49" charset="-122"/>
                  <a:ea typeface="隶书" pitchFamily="49" charset="-122"/>
                </a:endParaRPr>
              </a:p>
              <a:p>
                <a:pPr marL="0" lvl="0" indent="0">
                  <a:spcBef>
                    <a:spcPct val="0"/>
                  </a:spcBef>
                  <a:buFontTx/>
                  <a:buNone/>
                </a:pPr>
                <a:r>
                  <a:rPr lang="zh-CN" altLang="en-US" sz="2500" b="1" dirty="0">
                    <a:solidFill>
                      <a:srgbClr val="080808"/>
                    </a:solidFill>
                    <a:latin typeface="Times New Roman" panose="02020603050405020304" charset="0"/>
                    <a:ea typeface="宋体" pitchFamily="2" charset="-122"/>
                  </a:rPr>
                  <a:t>    </a:t>
                </a:r>
                <a:r>
                  <a:rPr lang="zh-CN" altLang="en-US" sz="2500" b="1" dirty="0">
                    <a:solidFill>
                      <a:srgbClr val="E60818"/>
                    </a:solidFill>
                    <a:latin typeface="Times New Roman" panose="02020603050405020304" charset="0"/>
                    <a:ea typeface="隶书" pitchFamily="49" charset="-122"/>
                  </a:rPr>
                  <a:t>高能磷脂键</a:t>
                </a:r>
                <a:endParaRPr lang="en-US" altLang="zh-CN" sz="2500" b="1" dirty="0">
                  <a:solidFill>
                    <a:srgbClr val="E60818"/>
                  </a:solidFill>
                  <a:latin typeface="Times New Roman" panose="02020603050405020304" charset="0"/>
                  <a:ea typeface="隶书" pitchFamily="49" charset="-122"/>
                </a:endParaRPr>
              </a:p>
            </p:txBody>
          </p:sp>
          <p:pic>
            <p:nvPicPr>
              <p:cNvPr id="56346" name="Picture 6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888" y="2064"/>
                <a:ext cx="559" cy="1259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56347" name="Picture 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656" y="2352"/>
                <a:ext cx="563" cy="904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56341" name="Group 8"/>
            <p:cNvGrpSpPr/>
            <p:nvPr/>
          </p:nvGrpSpPr>
          <p:grpSpPr>
            <a:xfrm>
              <a:off x="4441" y="1789"/>
              <a:ext cx="336" cy="96"/>
              <a:chOff x="2160" y="4032"/>
              <a:chExt cx="336" cy="96"/>
            </a:xfrm>
          </p:grpSpPr>
          <p:sp>
            <p:nvSpPr>
              <p:cNvPr id="56342" name="Line 9"/>
              <p:cNvSpPr/>
              <p:nvPr/>
            </p:nvSpPr>
            <p:spPr>
              <a:xfrm flipV="1">
                <a:off x="2160" y="4032"/>
                <a:ext cx="144" cy="96"/>
              </a:xfrm>
              <a:prstGeom prst="line">
                <a:avLst/>
              </a:prstGeom>
              <a:ln w="5715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43" name="Line 10"/>
              <p:cNvSpPr/>
              <p:nvPr/>
            </p:nvSpPr>
            <p:spPr>
              <a:xfrm>
                <a:off x="2304" y="4032"/>
                <a:ext cx="96" cy="96"/>
              </a:xfrm>
              <a:prstGeom prst="line">
                <a:avLst/>
              </a:prstGeom>
              <a:ln w="5715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44" name="Line 11"/>
              <p:cNvSpPr/>
              <p:nvPr/>
            </p:nvSpPr>
            <p:spPr>
              <a:xfrm flipV="1">
                <a:off x="2400" y="4032"/>
                <a:ext cx="96" cy="96"/>
              </a:xfrm>
              <a:prstGeom prst="line">
                <a:avLst/>
              </a:prstGeom>
              <a:ln w="5715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5" name="Group 12"/>
          <p:cNvGrpSpPr/>
          <p:nvPr/>
        </p:nvGrpSpPr>
        <p:grpSpPr>
          <a:xfrm>
            <a:off x="539750" y="1341438"/>
            <a:ext cx="2376488" cy="3206750"/>
            <a:chOff x="0" y="1872"/>
            <a:chExt cx="1632" cy="2027"/>
          </a:xfrm>
        </p:grpSpPr>
        <p:sp>
          <p:nvSpPr>
            <p:cNvPr id="56338" name="Text Box 13"/>
            <p:cNvSpPr txBox="1"/>
            <p:nvPr/>
          </p:nvSpPr>
          <p:spPr>
            <a:xfrm>
              <a:off x="0" y="3600"/>
              <a:ext cx="1632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FontTx/>
                <a:buNone/>
              </a:pPr>
              <a:r>
                <a:rPr lang="en-US" altLang="zh-CN" sz="2500" b="1" dirty="0">
                  <a:solidFill>
                    <a:srgbClr val="080808"/>
                  </a:solidFill>
                  <a:latin typeface="隶书" pitchFamily="49" charset="-122"/>
                  <a:ea typeface="隶书" pitchFamily="49" charset="-122"/>
                </a:rPr>
                <a:t>2-</a:t>
              </a:r>
              <a:r>
                <a:rPr lang="zh-CN" altLang="en-US" sz="2500" b="1" dirty="0">
                  <a:solidFill>
                    <a:srgbClr val="080808"/>
                  </a:solidFill>
                  <a:latin typeface="隶书" pitchFamily="49" charset="-122"/>
                  <a:ea typeface="隶书" pitchFamily="49" charset="-122"/>
                </a:rPr>
                <a:t>磷酸甘油酸</a:t>
              </a:r>
              <a:endParaRPr lang="zh-CN" altLang="en-US" sz="25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pic>
          <p:nvPicPr>
            <p:cNvPr id="56339" name="Pictur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" y="1872"/>
              <a:ext cx="1406" cy="1259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6325" name="Rectangle 15"/>
          <p:cNvSpPr/>
          <p:nvPr/>
        </p:nvSpPr>
        <p:spPr>
          <a:xfrm>
            <a:off x="6156325" y="115888"/>
            <a:ext cx="2871788" cy="641350"/>
          </a:xfrm>
          <a:prstGeom prst="rect">
            <a:avLst/>
          </a:prstGeom>
          <a:solidFill>
            <a:schemeClr val="folHlink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TopRight">
              <a:rot lat="0" lon="0" rev="0"/>
            </a:camera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FF66"/>
                </a:solidFill>
                <a:latin typeface="Times New Roman" panose="02020603050405020304" charset="0"/>
                <a:ea typeface="隶书" pitchFamily="49" charset="-122"/>
              </a:rPr>
              <a:t>糖酵解过程</a:t>
            </a:r>
            <a:r>
              <a:rPr lang="en-US" altLang="zh-CN" sz="3600" b="1" dirty="0">
                <a:solidFill>
                  <a:srgbClr val="FFFF66"/>
                </a:solidFill>
                <a:latin typeface="Times New Roman" panose="02020603050405020304" charset="0"/>
                <a:ea typeface="隶书" pitchFamily="49" charset="-122"/>
              </a:rPr>
              <a:t>2</a:t>
            </a:r>
            <a:endParaRPr lang="en-US" altLang="zh-CN" sz="4800" b="1" dirty="0">
              <a:solidFill>
                <a:srgbClr val="FFFF66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56326" name="Line 16"/>
          <p:cNvSpPr/>
          <p:nvPr/>
        </p:nvSpPr>
        <p:spPr>
          <a:xfrm flipV="1">
            <a:off x="2987675" y="2565400"/>
            <a:ext cx="3405188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grpSp>
        <p:nvGrpSpPr>
          <p:cNvPr id="56327" name="Group 17"/>
          <p:cNvGrpSpPr/>
          <p:nvPr/>
        </p:nvGrpSpPr>
        <p:grpSpPr>
          <a:xfrm>
            <a:off x="4067175" y="2060575"/>
            <a:ext cx="1871663" cy="1250950"/>
            <a:chOff x="2064" y="2208"/>
            <a:chExt cx="1179" cy="788"/>
          </a:xfrm>
        </p:grpSpPr>
        <p:sp>
          <p:nvSpPr>
            <p:cNvPr id="56336" name="Text Box 18"/>
            <p:cNvSpPr txBox="1"/>
            <p:nvPr/>
          </p:nvSpPr>
          <p:spPr>
            <a:xfrm>
              <a:off x="2064" y="2208"/>
              <a:ext cx="1179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chemeClr val="accent2"/>
                  </a:solidFill>
                  <a:latin typeface="Times New Roman" panose="02020603050405020304" charset="0"/>
                  <a:ea typeface="隶书" pitchFamily="49" charset="-122"/>
                </a:rPr>
                <a:t>烯醇化酶</a:t>
              </a:r>
              <a:endParaRPr lang="zh-CN" altLang="en-US" sz="2800" b="1" dirty="0">
                <a:solidFill>
                  <a:schemeClr val="accent2"/>
                </a:solidFill>
                <a:latin typeface="Times New Roman" panose="02020603050405020304" charset="0"/>
                <a:ea typeface="隶书" pitchFamily="49" charset="-122"/>
              </a:endParaRPr>
            </a:p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en-US" altLang="zh-CN" sz="2800" b="1" dirty="0">
                  <a:solidFill>
                    <a:srgbClr val="3333FF"/>
                  </a:solidFill>
                  <a:latin typeface="Times New Roman" panose="02020603050405020304" charset="0"/>
                  <a:ea typeface="楷体_GB2312" pitchFamily="49" charset="-122"/>
                </a:rPr>
                <a:t>(</a:t>
              </a:r>
              <a:r>
                <a:rPr lang="en-US" altLang="zh-CN" sz="2400" b="1" dirty="0">
                  <a:solidFill>
                    <a:srgbClr val="3333FF"/>
                  </a:solidFill>
                  <a:latin typeface="Times New Roman" panose="02020603050405020304" charset="0"/>
                  <a:ea typeface="宋体" pitchFamily="2" charset="-122"/>
                </a:rPr>
                <a:t>Mg</a:t>
              </a:r>
              <a:r>
                <a:rPr lang="en-US" altLang="zh-CN" sz="2400" b="1" baseline="30000" dirty="0">
                  <a:solidFill>
                    <a:srgbClr val="3333FF"/>
                  </a:solidFill>
                  <a:latin typeface="Times New Roman" panose="02020603050405020304" charset="0"/>
                  <a:ea typeface="宋体" pitchFamily="2" charset="-122"/>
                </a:rPr>
                <a:t>2+</a:t>
              </a:r>
              <a:r>
                <a:rPr lang="en-US" altLang="zh-CN" sz="2400" b="1" dirty="0">
                  <a:solidFill>
                    <a:srgbClr val="3333FF"/>
                  </a:solidFill>
                  <a:latin typeface="Times New Roman" panose="02020603050405020304" charset="0"/>
                  <a:ea typeface="宋体" pitchFamily="2" charset="-122"/>
                </a:rPr>
                <a:t>/Mn</a:t>
              </a:r>
              <a:r>
                <a:rPr lang="en-US" altLang="zh-CN" sz="2400" b="1" baseline="30000" dirty="0">
                  <a:solidFill>
                    <a:srgbClr val="3333FF"/>
                  </a:solidFill>
                  <a:latin typeface="Times New Roman" panose="02020603050405020304" charset="0"/>
                  <a:ea typeface="宋体" pitchFamily="2" charset="-122"/>
                </a:rPr>
                <a:t>2+ </a:t>
              </a:r>
              <a:r>
                <a:rPr lang="en-US" altLang="zh-CN" sz="2400" b="1" dirty="0">
                  <a:solidFill>
                    <a:srgbClr val="3333FF"/>
                  </a:solidFill>
                  <a:latin typeface="Times New Roman" panose="02020603050405020304" charset="0"/>
                  <a:ea typeface="宋体" pitchFamily="2" charset="-122"/>
                </a:rPr>
                <a:t>)</a:t>
              </a:r>
              <a:endParaRPr lang="en-US" altLang="zh-CN" sz="2400" b="1" baseline="30000" dirty="0">
                <a:solidFill>
                  <a:srgbClr val="3333FF"/>
                </a:solidFill>
                <a:latin typeface="Times New Roman" panose="02020603050405020304" charset="0"/>
                <a:ea typeface="宋体" pitchFamily="2" charset="-122"/>
              </a:endParaRPr>
            </a:p>
          </p:txBody>
        </p:sp>
        <p:sp>
          <p:nvSpPr>
            <p:cNvPr id="56337" name="Text Box 19"/>
            <p:cNvSpPr txBox="1"/>
            <p:nvPr/>
          </p:nvSpPr>
          <p:spPr>
            <a:xfrm>
              <a:off x="2112" y="2708"/>
              <a:ext cx="1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endParaRPr lang="zh-CN" altLang="zh-CN" sz="2400" b="1" dirty="0">
                <a:solidFill>
                  <a:srgbClr val="3333FF"/>
                </a:solidFill>
                <a:latin typeface="Times New Roman" panose="02020603050405020304" charset="0"/>
                <a:ea typeface="宋体" pitchFamily="2" charset="-122"/>
              </a:endParaRPr>
            </a:p>
          </p:txBody>
        </p:sp>
      </p:grpSp>
      <p:sp>
        <p:nvSpPr>
          <p:cNvPr id="56328" name="Rectangle 20"/>
          <p:cNvSpPr/>
          <p:nvPr/>
        </p:nvSpPr>
        <p:spPr>
          <a:xfrm>
            <a:off x="1509713" y="3214688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000" b="1" dirty="0">
              <a:solidFill>
                <a:srgbClr val="00FF00"/>
              </a:solidFill>
              <a:latin typeface="Abadi MT Condensed Light" pitchFamily="34" charset="0"/>
              <a:ea typeface="宋体" pitchFamily="2" charset="-122"/>
            </a:endParaRPr>
          </a:p>
        </p:txBody>
      </p:sp>
      <p:sp>
        <p:nvSpPr>
          <p:cNvPr id="56329" name="Text Box 21"/>
          <p:cNvSpPr txBox="1"/>
          <p:nvPr/>
        </p:nvSpPr>
        <p:spPr>
          <a:xfrm>
            <a:off x="427038" y="2605088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zh-CN" sz="2000" b="1" dirty="0">
              <a:solidFill>
                <a:srgbClr val="00FF00"/>
              </a:solidFill>
              <a:latin typeface="Abadi MT Condensed Light" pitchFamily="34" charset="0"/>
              <a:ea typeface="宋体" pitchFamily="2" charset="-122"/>
            </a:endParaRPr>
          </a:p>
        </p:txBody>
      </p:sp>
      <p:grpSp>
        <p:nvGrpSpPr>
          <p:cNvPr id="7" name="Group 22"/>
          <p:cNvGrpSpPr/>
          <p:nvPr/>
        </p:nvGrpSpPr>
        <p:grpSpPr>
          <a:xfrm>
            <a:off x="323850" y="1268413"/>
            <a:ext cx="6111875" cy="2857500"/>
            <a:chOff x="0" y="1200"/>
            <a:chExt cx="3850" cy="1800"/>
          </a:xfrm>
        </p:grpSpPr>
        <p:sp>
          <p:nvSpPr>
            <p:cNvPr id="56333" name="Freeform 23"/>
            <p:cNvSpPr/>
            <p:nvPr/>
          </p:nvSpPr>
          <p:spPr>
            <a:xfrm>
              <a:off x="896" y="1344"/>
              <a:ext cx="2400" cy="1592"/>
            </a:xfrm>
            <a:custGeom>
              <a:avLst/>
              <a:gdLst>
                <a:gd name="txL" fmla="*/ 0 w 2400"/>
                <a:gd name="txT" fmla="*/ 0 h 1592"/>
                <a:gd name="txR" fmla="*/ 2400 w 2400"/>
                <a:gd name="txB" fmla="*/ 1592 h 1592"/>
              </a:gdLst>
              <a:ahLst/>
              <a:cxnLst>
                <a:cxn ang="0">
                  <a:pos x="0" y="1200"/>
                </a:cxn>
                <a:cxn ang="0">
                  <a:pos x="480" y="1488"/>
                </a:cxn>
                <a:cxn ang="0">
                  <a:pos x="1344" y="576"/>
                </a:cxn>
                <a:cxn ang="0">
                  <a:pos x="2400" y="0"/>
                </a:cxn>
              </a:cxnLst>
              <a:rect l="txL" t="txT" r="txR" b="txB"/>
              <a:pathLst>
                <a:path w="2400" h="1592">
                  <a:moveTo>
                    <a:pt x="0" y="1200"/>
                  </a:moveTo>
                  <a:cubicBezTo>
                    <a:pt x="128" y="1396"/>
                    <a:pt x="256" y="1592"/>
                    <a:pt x="480" y="1488"/>
                  </a:cubicBezTo>
                  <a:cubicBezTo>
                    <a:pt x="704" y="1384"/>
                    <a:pt x="1024" y="824"/>
                    <a:pt x="1344" y="576"/>
                  </a:cubicBezTo>
                  <a:cubicBezTo>
                    <a:pt x="1664" y="328"/>
                    <a:pt x="2032" y="164"/>
                    <a:pt x="2400" y="0"/>
                  </a:cubicBez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ysDot"/>
              <a:round/>
              <a:headEnd type="arrow" w="med" len="med"/>
              <a:tailEnd type="arrow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6334" name="Text Box 24"/>
            <p:cNvSpPr txBox="1"/>
            <p:nvPr/>
          </p:nvSpPr>
          <p:spPr>
            <a:xfrm>
              <a:off x="3286" y="1200"/>
              <a:ext cx="564" cy="3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charset="0"/>
                  <a:ea typeface="宋体" pitchFamily="2" charset="-122"/>
                </a:rPr>
                <a:t>H</a:t>
              </a:r>
              <a:r>
                <a:rPr lang="en-US" altLang="zh-CN" sz="2800" b="1" baseline="-25000" dirty="0">
                  <a:solidFill>
                    <a:srgbClr val="0000FF"/>
                  </a:solidFill>
                  <a:latin typeface="Times New Roman" panose="02020603050405020304" charset="0"/>
                  <a:ea typeface="宋体" pitchFamily="2" charset="-122"/>
                </a:rPr>
                <a:t>2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charset="0"/>
                  <a:ea typeface="宋体" pitchFamily="2" charset="-122"/>
                </a:rPr>
                <a:t>O</a:t>
              </a:r>
              <a:endParaRPr lang="en-US" altLang="zh-CN" sz="2400" dirty="0">
                <a:solidFill>
                  <a:srgbClr val="0000FF"/>
                </a:solidFill>
                <a:latin typeface="Times New Roman" panose="02020603050405020304" charset="0"/>
                <a:ea typeface="宋体" pitchFamily="2" charset="-122"/>
              </a:endParaRPr>
            </a:p>
          </p:txBody>
        </p:sp>
        <p:sp>
          <p:nvSpPr>
            <p:cNvPr id="56335" name="Freeform 25"/>
            <p:cNvSpPr/>
            <p:nvPr/>
          </p:nvSpPr>
          <p:spPr>
            <a:xfrm>
              <a:off x="0" y="2208"/>
              <a:ext cx="1232" cy="792"/>
            </a:xfrm>
            <a:custGeom>
              <a:avLst/>
              <a:gdLst>
                <a:gd name="txL" fmla="*/ 0 w 1232"/>
                <a:gd name="txT" fmla="*/ 0 h 792"/>
                <a:gd name="txR" fmla="*/ 1232 w 1232"/>
                <a:gd name="txB" fmla="*/ 792 h 792"/>
              </a:gdLst>
              <a:ahLst/>
              <a:cxnLst>
                <a:cxn ang="0">
                  <a:pos x="128" y="0"/>
                </a:cxn>
                <a:cxn ang="0">
                  <a:pos x="32" y="528"/>
                </a:cxn>
                <a:cxn ang="0">
                  <a:pos x="320" y="768"/>
                </a:cxn>
                <a:cxn ang="0">
                  <a:pos x="1232" y="672"/>
                </a:cxn>
              </a:cxnLst>
              <a:rect l="txL" t="txT" r="txR" b="txB"/>
              <a:pathLst>
                <a:path w="1232" h="792">
                  <a:moveTo>
                    <a:pt x="128" y="0"/>
                  </a:moveTo>
                  <a:cubicBezTo>
                    <a:pt x="64" y="200"/>
                    <a:pt x="0" y="400"/>
                    <a:pt x="32" y="528"/>
                  </a:cubicBezTo>
                  <a:cubicBezTo>
                    <a:pt x="64" y="656"/>
                    <a:pt x="120" y="744"/>
                    <a:pt x="320" y="768"/>
                  </a:cubicBezTo>
                  <a:cubicBezTo>
                    <a:pt x="520" y="792"/>
                    <a:pt x="1072" y="688"/>
                    <a:pt x="1232" y="672"/>
                  </a:cubicBez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ysDot"/>
              <a:round/>
              <a:headEnd type="arrow" w="med" len="med"/>
              <a:tailEnd type="arrow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22586" name="AutoShape 26"/>
          <p:cNvSpPr/>
          <p:nvPr/>
        </p:nvSpPr>
        <p:spPr>
          <a:xfrm>
            <a:off x="2700338" y="4292600"/>
            <a:ext cx="3743325" cy="1368425"/>
          </a:xfrm>
          <a:prstGeom prst="upArrowCallout">
            <a:avLst>
              <a:gd name="adj1" fmla="val 68384"/>
              <a:gd name="adj2" fmla="val 68387"/>
              <a:gd name="adj3" fmla="val 16666"/>
              <a:gd name="adj4" fmla="val 66667"/>
            </a:avLst>
          </a:prstGeom>
          <a:solidFill>
            <a:srgbClr val="CCE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氟化物能与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Mg</a:t>
            </a:r>
            <a:r>
              <a:rPr lang="en-US" altLang="zh-CN" sz="2400" baseline="30000" dirty="0">
                <a:latin typeface="隶书" pitchFamily="49" charset="-122"/>
                <a:ea typeface="隶书" pitchFamily="49" charset="-122"/>
              </a:rPr>
              <a:t>2+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络合而</a:t>
            </a:r>
            <a:endParaRPr lang="zh-CN" altLang="en-US" sz="2400" dirty="0">
              <a:latin typeface="隶书" pitchFamily="49" charset="-122"/>
              <a:ea typeface="隶书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强烈抑制此酶活性</a:t>
            </a:r>
            <a:endParaRPr lang="zh-CN" altLang="en-US" sz="24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22587" name="Rectangle 27"/>
          <p:cNvSpPr/>
          <p:nvPr/>
        </p:nvSpPr>
        <p:spPr>
          <a:xfrm>
            <a:off x="3348038" y="3213100"/>
            <a:ext cx="2816225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</a:t>
            </a:r>
            <a:r>
              <a:rPr lang="en-US" altLang="zh-CN" sz="2400" baseline="30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’ = 1.8 kJ/mol</a:t>
            </a:r>
            <a:endParaRPr lang="en-US" altLang="zh-CN" sz="24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 = - 3.35 kJ/mol</a:t>
            </a:r>
            <a:endParaRPr lang="zh-CN" altLang="en-US" sz="24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2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2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86" grpId="0" animBg="1"/>
      <p:bldP spid="32258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8370" name="Picture 2" descr="Enolase_mechanism2"/>
          <p:cNvPicPr>
            <a:picLocks noChangeAspect="1"/>
          </p:cNvPicPr>
          <p:nvPr/>
        </p:nvPicPr>
        <p:blipFill>
          <a:blip r:embed="rId1"/>
          <a:srcRect r="64503"/>
          <a:stretch>
            <a:fillRect/>
          </a:stretch>
        </p:blipFill>
        <p:spPr>
          <a:xfrm>
            <a:off x="123825" y="908050"/>
            <a:ext cx="3741738" cy="3887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371" name="Text Box 3"/>
          <p:cNvSpPr txBox="1"/>
          <p:nvPr/>
        </p:nvSpPr>
        <p:spPr>
          <a:xfrm>
            <a:off x="611188" y="5516563"/>
            <a:ext cx="7993062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酶活中心的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Mg</a:t>
            </a:r>
            <a:r>
              <a:rPr lang="en-US" altLang="zh-CN" sz="2800" baseline="30000" dirty="0">
                <a:latin typeface="Arial" panose="02080604020202020204" pitchFamily="34" charset="0"/>
                <a:ea typeface="宋体" pitchFamily="2" charset="-122"/>
              </a:rPr>
              <a:t>2+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离子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,Lys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残基和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Glu 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残基参与脱水过程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.</a:t>
            </a:r>
            <a:endParaRPr lang="en-US" altLang="zh-CN" sz="28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8372" name="Text Box 4"/>
          <p:cNvSpPr txBox="1"/>
          <p:nvPr/>
        </p:nvSpPr>
        <p:spPr>
          <a:xfrm>
            <a:off x="395288" y="188913"/>
            <a:ext cx="37449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Mg</a:t>
            </a:r>
            <a:r>
              <a:rPr lang="en-US" altLang="zh-CN" sz="2400" b="1" baseline="30000" dirty="0">
                <a:latin typeface="黑体" pitchFamily="49" charset="-122"/>
                <a:ea typeface="黑体" pitchFamily="49" charset="-122"/>
              </a:rPr>
              <a:t>2+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稳定羧基的作用：</a:t>
            </a:r>
            <a:endParaRPr lang="en-US" altLang="zh-CN" sz="2400" b="1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24613" name="Picture 5" descr="Enolase_mechanism2"/>
          <p:cNvPicPr>
            <a:picLocks noChangeAspect="1"/>
          </p:cNvPicPr>
          <p:nvPr/>
        </p:nvPicPr>
        <p:blipFill>
          <a:blip r:embed="rId1"/>
          <a:srcRect l="33643" r="22578"/>
          <a:stretch>
            <a:fillRect/>
          </a:stretch>
        </p:blipFill>
        <p:spPr>
          <a:xfrm>
            <a:off x="3286125" y="852488"/>
            <a:ext cx="4441825" cy="4076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4614" name="Picture 6" descr="Enolase_mechanism2"/>
          <p:cNvPicPr>
            <a:picLocks noChangeAspect="1"/>
          </p:cNvPicPr>
          <p:nvPr/>
        </p:nvPicPr>
        <p:blipFill>
          <a:blip r:embed="rId1"/>
          <a:srcRect l="74809" b="50507"/>
          <a:stretch>
            <a:fillRect/>
          </a:stretch>
        </p:blipFill>
        <p:spPr>
          <a:xfrm>
            <a:off x="6254750" y="1301750"/>
            <a:ext cx="2555875" cy="20177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4615" name="Oval 7"/>
          <p:cNvSpPr/>
          <p:nvPr/>
        </p:nvSpPr>
        <p:spPr>
          <a:xfrm rot="5098277">
            <a:off x="1047750" y="758825"/>
            <a:ext cx="1793875" cy="2379663"/>
          </a:xfrm>
          <a:prstGeom prst="ellipse">
            <a:avLst/>
          </a:prstGeom>
          <a:noFill/>
          <a:ln w="9525" cap="flat" cmpd="sng">
            <a:solidFill>
              <a:srgbClr val="66CCFF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24616" name="Oval 8"/>
          <p:cNvSpPr/>
          <p:nvPr/>
        </p:nvSpPr>
        <p:spPr>
          <a:xfrm rot="-6900710">
            <a:off x="322263" y="1735138"/>
            <a:ext cx="987425" cy="10795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24617" name="Line 9"/>
          <p:cNvSpPr/>
          <p:nvPr/>
        </p:nvSpPr>
        <p:spPr>
          <a:xfrm flipH="1" flipV="1">
            <a:off x="8027988" y="2420938"/>
            <a:ext cx="358775" cy="215900"/>
          </a:xfrm>
          <a:prstGeom prst="line">
            <a:avLst/>
          </a:prstGeom>
          <a:ln w="38100" cap="flat" cmpd="sng">
            <a:solidFill>
              <a:srgbClr val="E60818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4618" name="Text Box 10"/>
          <p:cNvSpPr txBox="1"/>
          <p:nvPr/>
        </p:nvSpPr>
        <p:spPr>
          <a:xfrm>
            <a:off x="7524750" y="3429000"/>
            <a:ext cx="10810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</a:rPr>
              <a:t>PEP</a:t>
            </a:r>
            <a:endParaRPr lang="en-US" altLang="zh-CN" sz="2400" dirty="0"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5" grpId="0" animBg="1"/>
      <p:bldP spid="324616" grpId="0" animBg="1"/>
      <p:bldP spid="32461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Oval 2"/>
          <p:cNvSpPr/>
          <p:nvPr/>
        </p:nvSpPr>
        <p:spPr>
          <a:xfrm>
            <a:off x="2166938" y="2093913"/>
            <a:ext cx="1143000" cy="1600200"/>
          </a:xfrm>
          <a:prstGeom prst="ellipse">
            <a:avLst/>
          </a:prstGeom>
          <a:solidFill>
            <a:srgbClr val="FFFFFF"/>
          </a:solidFill>
          <a:ln w="38100" cap="flat" cmpd="sng">
            <a:solidFill>
              <a:srgbClr val="DE5E1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25635" name="Text Box 3"/>
          <p:cNvSpPr txBox="1"/>
          <p:nvPr/>
        </p:nvSpPr>
        <p:spPr>
          <a:xfrm>
            <a:off x="3708400" y="2276475"/>
            <a:ext cx="1447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latin typeface="Abadi MT Condensed Light" pitchFamily="34" charset="0"/>
                <a:ea typeface="宋体" pitchFamily="2" charset="-122"/>
              </a:rPr>
              <a:t>ADP</a:t>
            </a:r>
            <a:endParaRPr lang="en-US" altLang="zh-CN" sz="2800" b="1" baseline="30000" dirty="0">
              <a:latin typeface="Times New Roman" panose="02020603050405020304" charset="0"/>
              <a:ea typeface="宋体" pitchFamily="2" charset="-122"/>
            </a:endParaRPr>
          </a:p>
        </p:txBody>
      </p:sp>
      <p:sp>
        <p:nvSpPr>
          <p:cNvPr id="325636" name="Text Box 4"/>
          <p:cNvSpPr txBox="1"/>
          <p:nvPr/>
        </p:nvSpPr>
        <p:spPr>
          <a:xfrm>
            <a:off x="5708650" y="2190750"/>
            <a:ext cx="8953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solidFill>
                  <a:srgbClr val="E60818"/>
                </a:solidFill>
                <a:latin typeface="Abadi MT Condensed Light" pitchFamily="34" charset="0"/>
                <a:ea typeface="宋体" pitchFamily="2" charset="-122"/>
              </a:rPr>
              <a:t>ATP</a:t>
            </a:r>
            <a:endParaRPr lang="en-US" altLang="zh-CN" sz="2800" dirty="0">
              <a:solidFill>
                <a:srgbClr val="E60818"/>
              </a:solidFill>
              <a:latin typeface="Times New Roman" panose="02020603050405020304" charset="0"/>
              <a:ea typeface="宋体" pitchFamily="2" charset="-122"/>
            </a:endParaRPr>
          </a:p>
        </p:txBody>
      </p:sp>
      <p:sp>
        <p:nvSpPr>
          <p:cNvPr id="325637" name="Freeform 5"/>
          <p:cNvSpPr/>
          <p:nvPr/>
        </p:nvSpPr>
        <p:spPr>
          <a:xfrm rot="-579984">
            <a:off x="2762250" y="1743075"/>
            <a:ext cx="1190625" cy="584200"/>
          </a:xfrm>
          <a:custGeom>
            <a:avLst/>
            <a:gdLst>
              <a:gd name="txL" fmla="*/ 0 w 1008"/>
              <a:gd name="txT" fmla="*/ 0 h 368"/>
              <a:gd name="txR" fmla="*/ 1008 w 1008"/>
              <a:gd name="txB" fmla="*/ 368 h 368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08" h="368">
                <a:moveTo>
                  <a:pt x="0" y="176"/>
                </a:moveTo>
                <a:cubicBezTo>
                  <a:pt x="228" y="88"/>
                  <a:pt x="456" y="0"/>
                  <a:pt x="624" y="32"/>
                </a:cubicBezTo>
                <a:cubicBezTo>
                  <a:pt x="792" y="64"/>
                  <a:pt x="944" y="312"/>
                  <a:pt x="1008" y="368"/>
                </a:cubicBez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lgDash"/>
            <a:round/>
            <a:headEnd type="arrow" w="med" len="med"/>
            <a:tailEnd type="arrow" w="med" len="med"/>
          </a:ln>
        </p:spPr>
        <p:txBody>
          <a:bodyPr/>
          <a:p>
            <a:endParaRPr lang="zh-CN" altLang="en-US"/>
          </a:p>
        </p:txBody>
      </p:sp>
      <p:sp>
        <p:nvSpPr>
          <p:cNvPr id="325638" name="Freeform 6"/>
          <p:cNvSpPr/>
          <p:nvPr/>
        </p:nvSpPr>
        <p:spPr>
          <a:xfrm rot="-461614">
            <a:off x="4067175" y="2708275"/>
            <a:ext cx="2160588" cy="528638"/>
          </a:xfrm>
          <a:custGeom>
            <a:avLst/>
            <a:gdLst>
              <a:gd name="txL" fmla="*/ 0 w 960"/>
              <a:gd name="txT" fmla="*/ 0 h 448"/>
              <a:gd name="txR" fmla="*/ 960 w 960"/>
              <a:gd name="txB" fmla="*/ 448 h 448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960" h="448">
                <a:moveTo>
                  <a:pt x="0" y="0"/>
                </a:moveTo>
                <a:cubicBezTo>
                  <a:pt x="112" y="208"/>
                  <a:pt x="224" y="416"/>
                  <a:pt x="384" y="432"/>
                </a:cubicBezTo>
                <a:cubicBezTo>
                  <a:pt x="544" y="448"/>
                  <a:pt x="864" y="152"/>
                  <a:pt x="960" y="96"/>
                </a:cubicBez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25639" name="Rectangle 7"/>
          <p:cNvSpPr/>
          <p:nvPr/>
        </p:nvSpPr>
        <p:spPr>
          <a:xfrm>
            <a:off x="4356100" y="2565400"/>
            <a:ext cx="12636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3333FF"/>
                </a:solidFill>
                <a:latin typeface="黑体" pitchFamily="49" charset="-122"/>
                <a:ea typeface="黑体" pitchFamily="49" charset="-122"/>
              </a:rPr>
              <a:t>Mg</a:t>
            </a:r>
            <a:r>
              <a:rPr lang="en-US" altLang="zh-CN" sz="2400" b="1" baseline="30000" dirty="0">
                <a:solidFill>
                  <a:srgbClr val="3333FF"/>
                </a:solidFill>
                <a:latin typeface="黑体" pitchFamily="49" charset="-122"/>
                <a:ea typeface="黑体" pitchFamily="49" charset="-122"/>
              </a:rPr>
              <a:t>2+</a:t>
            </a:r>
            <a:r>
              <a:rPr lang="en-US" altLang="zh-CN" sz="2400" b="1" dirty="0">
                <a:solidFill>
                  <a:srgbClr val="3333FF"/>
                </a:solidFill>
                <a:latin typeface="黑体" pitchFamily="49" charset="-122"/>
                <a:ea typeface="黑体" pitchFamily="49" charset="-122"/>
              </a:rPr>
              <a:t>, K</a:t>
            </a:r>
            <a:r>
              <a:rPr lang="en-US" altLang="zh-CN" sz="2400" b="1" baseline="30000" dirty="0">
                <a:solidFill>
                  <a:srgbClr val="3333FF"/>
                </a:solidFill>
                <a:latin typeface="黑体" pitchFamily="49" charset="-122"/>
                <a:ea typeface="黑体" pitchFamily="49" charset="-122"/>
              </a:rPr>
              <a:t>+</a:t>
            </a:r>
            <a:endParaRPr lang="en-US" altLang="zh-CN" sz="2400" b="1" baseline="30000" dirty="0">
              <a:solidFill>
                <a:srgbClr val="3333FF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9400" name="Rectangle 8" descr="70%"/>
          <p:cNvSpPr>
            <a:spLocks noGrp="1"/>
          </p:cNvSpPr>
          <p:nvPr>
            <p:ph type="ctrTitle"/>
          </p:nvPr>
        </p:nvSpPr>
        <p:spPr>
          <a:xfrm>
            <a:off x="323850" y="260350"/>
            <a:ext cx="5419725" cy="958850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⑽ 磷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酸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烯醇式丙酮酸转移</a:t>
            </a:r>
            <a:br>
              <a:rPr lang="zh-CN" altLang="en-US" sz="2800" dirty="0">
                <a:latin typeface="黑体" pitchFamily="49" charset="-122"/>
                <a:ea typeface="黑体" pitchFamily="49" charset="-122"/>
              </a:rPr>
            </a:b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   高能磷酸基团产生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ATP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59401" name="Group 9"/>
          <p:cNvGrpSpPr/>
          <p:nvPr/>
        </p:nvGrpSpPr>
        <p:grpSpPr>
          <a:xfrm>
            <a:off x="539750" y="1773238"/>
            <a:ext cx="2759075" cy="2773362"/>
            <a:chOff x="340" y="1117"/>
            <a:chExt cx="1738" cy="1747"/>
          </a:xfrm>
        </p:grpSpPr>
        <p:sp>
          <p:nvSpPr>
            <p:cNvPr id="59412" name="Rectangle 10"/>
            <p:cNvSpPr/>
            <p:nvPr/>
          </p:nvSpPr>
          <p:spPr>
            <a:xfrm>
              <a:off x="340" y="2576"/>
              <a:ext cx="16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80808"/>
                  </a:solidFill>
                  <a:latin typeface="Times New Roman" panose="02020603050405020304" charset="0"/>
                  <a:ea typeface="隶书" pitchFamily="49" charset="-122"/>
                </a:rPr>
                <a:t>磷酸烯醇式丙酮酸</a:t>
              </a:r>
              <a:endParaRPr lang="zh-CN" altLang="en-US" sz="2400" b="1" dirty="0">
                <a:solidFill>
                  <a:srgbClr val="080808"/>
                </a:solidFill>
                <a:latin typeface="Times New Roman" panose="02020603050405020304" charset="0"/>
                <a:ea typeface="隶书" pitchFamily="49" charset="-122"/>
              </a:endParaRPr>
            </a:p>
          </p:txBody>
        </p:sp>
        <p:pic>
          <p:nvPicPr>
            <p:cNvPr id="59413" name="Picture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7" y="1117"/>
              <a:ext cx="559" cy="125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9414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5" y="1405"/>
              <a:ext cx="563" cy="904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59415" name="Group 13"/>
            <p:cNvGrpSpPr/>
            <p:nvPr/>
          </p:nvGrpSpPr>
          <p:grpSpPr>
            <a:xfrm>
              <a:off x="1182" y="1789"/>
              <a:ext cx="336" cy="96"/>
              <a:chOff x="2160" y="4032"/>
              <a:chExt cx="336" cy="96"/>
            </a:xfrm>
          </p:grpSpPr>
          <p:sp>
            <p:nvSpPr>
              <p:cNvPr id="59416" name="Line 14"/>
              <p:cNvSpPr/>
              <p:nvPr/>
            </p:nvSpPr>
            <p:spPr>
              <a:xfrm flipV="1">
                <a:off x="2160" y="4032"/>
                <a:ext cx="144" cy="96"/>
              </a:xfrm>
              <a:prstGeom prst="line">
                <a:avLst/>
              </a:prstGeom>
              <a:ln w="5715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17" name="Line 15"/>
              <p:cNvSpPr/>
              <p:nvPr/>
            </p:nvSpPr>
            <p:spPr>
              <a:xfrm>
                <a:off x="2304" y="4032"/>
                <a:ext cx="96" cy="96"/>
              </a:xfrm>
              <a:prstGeom prst="line">
                <a:avLst/>
              </a:prstGeom>
              <a:ln w="5715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18" name="Line 16"/>
              <p:cNvSpPr/>
              <p:nvPr/>
            </p:nvSpPr>
            <p:spPr>
              <a:xfrm flipV="1">
                <a:off x="2400" y="4032"/>
                <a:ext cx="96" cy="96"/>
              </a:xfrm>
              <a:prstGeom prst="line">
                <a:avLst/>
              </a:prstGeom>
              <a:ln w="5715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59402" name="Group 17"/>
          <p:cNvGrpSpPr/>
          <p:nvPr/>
        </p:nvGrpSpPr>
        <p:grpSpPr>
          <a:xfrm>
            <a:off x="3492500" y="3213100"/>
            <a:ext cx="3167063" cy="884238"/>
            <a:chOff x="2208" y="2160"/>
            <a:chExt cx="2112" cy="557"/>
          </a:xfrm>
        </p:grpSpPr>
        <p:sp>
          <p:nvSpPr>
            <p:cNvPr id="59410" name="Text Box 18"/>
            <p:cNvSpPr txBox="1"/>
            <p:nvPr/>
          </p:nvSpPr>
          <p:spPr>
            <a:xfrm>
              <a:off x="2436" y="2160"/>
              <a:ext cx="1401" cy="5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charset="0"/>
                  <a:ea typeface="隶书" pitchFamily="49" charset="-122"/>
                </a:rPr>
                <a:t>丙酮酸激酶</a:t>
              </a:r>
              <a:endPara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隶书" pitchFamily="49" charset="-122"/>
              </a:endParaRPr>
            </a:p>
            <a:p>
              <a:pPr marL="0" lvl="0" indent="0" algn="ctr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charset="0"/>
                  <a:ea typeface="隶书" pitchFamily="49" charset="-122"/>
                </a:rPr>
                <a:t>(PK</a:t>
              </a:r>
              <a:r>
                <a:rPr lang="en-US" altLang="zh-CN" sz="2400" b="1" baseline="30000" dirty="0">
                  <a:solidFill>
                    <a:srgbClr val="FF0000"/>
                  </a:solidFill>
                  <a:latin typeface="Times New Roman" panose="02020603050405020304" charset="0"/>
                  <a:ea typeface="隶书" pitchFamily="49" charset="-122"/>
                </a:rPr>
                <a:t> 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charset="0"/>
                  <a:ea typeface="隶书" pitchFamily="49" charset="-122"/>
                </a:rPr>
                <a:t>)</a:t>
              </a:r>
              <a:endParaRPr lang="en-US" altLang="zh-CN" sz="2400" dirty="0">
                <a:solidFill>
                  <a:srgbClr val="FF0000"/>
                </a:solidFill>
                <a:latin typeface="Times New Roman" panose="02020603050405020304" charset="0"/>
                <a:ea typeface="隶书" pitchFamily="49" charset="-122"/>
              </a:endParaRPr>
            </a:p>
          </p:txBody>
        </p:sp>
        <p:sp>
          <p:nvSpPr>
            <p:cNvPr id="59411" name="Line 19"/>
            <p:cNvSpPr/>
            <p:nvPr/>
          </p:nvSpPr>
          <p:spPr>
            <a:xfrm>
              <a:off x="2208" y="2207"/>
              <a:ext cx="2112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</p:grpSp>
      <p:sp>
        <p:nvSpPr>
          <p:cNvPr id="325652" name="AutoShape 20"/>
          <p:cNvSpPr/>
          <p:nvPr/>
        </p:nvSpPr>
        <p:spPr>
          <a:xfrm>
            <a:off x="2555875" y="4797425"/>
            <a:ext cx="4464050" cy="1152525"/>
          </a:xfrm>
          <a:prstGeom prst="upArrowCallout">
            <a:avLst>
              <a:gd name="adj1" fmla="val 96828"/>
              <a:gd name="adj2" fmla="val 96831"/>
              <a:gd name="adj3" fmla="val 16666"/>
              <a:gd name="adj4" fmla="val 74130"/>
            </a:avLst>
          </a:prstGeom>
          <a:solidFill>
            <a:srgbClr val="CCE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Times New Roman" panose="02020603050405020304" charset="0"/>
                <a:ea typeface="隶书" pitchFamily="49" charset="-122"/>
              </a:rPr>
              <a:t>糖酵解过程的</a:t>
            </a:r>
            <a:r>
              <a:rPr lang="zh-CN" altLang="en-US" sz="2800" dirty="0">
                <a:solidFill>
                  <a:srgbClr val="E60818"/>
                </a:solidFill>
                <a:latin typeface="Times New Roman" panose="02020603050405020304" charset="0"/>
                <a:ea typeface="隶书" pitchFamily="49" charset="-122"/>
              </a:rPr>
              <a:t>第三个关键酶</a:t>
            </a:r>
            <a:endParaRPr lang="zh-CN" altLang="en-US" sz="2800" dirty="0">
              <a:solidFill>
                <a:srgbClr val="E60818"/>
              </a:solidFill>
              <a:latin typeface="Times New Roman" panose="02020603050405020304" charset="0"/>
              <a:ea typeface="隶书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Times New Roman" panose="02020603050405020304" charset="0"/>
                <a:ea typeface="隶书" pitchFamily="49" charset="-122"/>
              </a:rPr>
              <a:t>第二次底物水平磷酸化反应</a:t>
            </a:r>
            <a:endParaRPr lang="zh-CN" altLang="en-US" sz="2800" dirty="0"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59404" name="Rectangle 21"/>
          <p:cNvSpPr/>
          <p:nvPr/>
        </p:nvSpPr>
        <p:spPr>
          <a:xfrm>
            <a:off x="6011863" y="228600"/>
            <a:ext cx="2859087" cy="641350"/>
          </a:xfrm>
          <a:prstGeom prst="rect">
            <a:avLst/>
          </a:prstGeom>
          <a:solidFill>
            <a:schemeClr val="folHlink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TopRight">
              <a:rot lat="0" lon="0" rev="0"/>
            </a:camera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FF66"/>
                </a:solidFill>
                <a:latin typeface="Times New Roman" panose="02020603050405020304" charset="0"/>
                <a:ea typeface="隶书" pitchFamily="49" charset="-122"/>
              </a:rPr>
              <a:t>糖酵解过程</a:t>
            </a:r>
            <a:r>
              <a:rPr lang="en-US" altLang="zh-CN" sz="3600" b="1" dirty="0">
                <a:solidFill>
                  <a:srgbClr val="FFFF66"/>
                </a:solidFill>
                <a:latin typeface="Times New Roman" panose="02020603050405020304" charset="0"/>
                <a:ea typeface="隶书" pitchFamily="49" charset="-122"/>
              </a:rPr>
              <a:t>2</a:t>
            </a:r>
            <a:endParaRPr lang="en-US" altLang="zh-CN" sz="4800" b="1" dirty="0">
              <a:solidFill>
                <a:srgbClr val="FFFF66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59405" name="Rectangle 23"/>
          <p:cNvSpPr/>
          <p:nvPr/>
        </p:nvSpPr>
        <p:spPr>
          <a:xfrm>
            <a:off x="3276600" y="4005263"/>
            <a:ext cx="3302000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</a:t>
            </a:r>
            <a:r>
              <a:rPr lang="en-US" altLang="zh-CN" sz="2400" baseline="300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0</a:t>
            </a: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’ = -31.4 kJ/mol</a:t>
            </a:r>
            <a:r>
              <a:rPr lang="zh-CN" altLang="en-US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， </a:t>
            </a:r>
            <a:endParaRPr lang="zh-CN" altLang="en-US" sz="24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△G = - 16.7 kJ/mol</a:t>
            </a:r>
            <a:endParaRPr lang="zh-CN" altLang="en-US" sz="2400" dirty="0">
              <a:solidFill>
                <a:srgbClr val="0000FF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59406" name="Text Box 24"/>
          <p:cNvSpPr txBox="1"/>
          <p:nvPr/>
        </p:nvSpPr>
        <p:spPr>
          <a:xfrm>
            <a:off x="539750" y="5949950"/>
            <a:ext cx="62642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除生成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ATP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外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,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还大量放能。</a:t>
            </a:r>
            <a:endParaRPr lang="zh-CN" altLang="en-US" sz="2800" dirty="0"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5" name="Group 25"/>
          <p:cNvGrpSpPr/>
          <p:nvPr/>
        </p:nvGrpSpPr>
        <p:grpSpPr>
          <a:xfrm>
            <a:off x="6804025" y="2060575"/>
            <a:ext cx="1655763" cy="2497138"/>
            <a:chOff x="3983" y="1344"/>
            <a:chExt cx="863" cy="1573"/>
          </a:xfrm>
        </p:grpSpPr>
        <p:sp>
          <p:nvSpPr>
            <p:cNvPr id="59408" name="Rectangle 26"/>
            <p:cNvSpPr/>
            <p:nvPr/>
          </p:nvSpPr>
          <p:spPr>
            <a:xfrm>
              <a:off x="3983" y="2590"/>
              <a:ext cx="8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charset="0"/>
                  <a:ea typeface="楷体_GB2312" pitchFamily="49" charset="-122"/>
                </a:rPr>
                <a:t>   </a:t>
              </a:r>
              <a:r>
                <a:rPr lang="zh-CN" altLang="en-US" sz="2400" b="1" dirty="0">
                  <a:solidFill>
                    <a:srgbClr val="080808"/>
                  </a:solidFill>
                  <a:latin typeface="Times New Roman" panose="02020603050405020304" charset="0"/>
                  <a:ea typeface="隶书" pitchFamily="49" charset="-122"/>
                </a:rPr>
                <a:t>丙酮酸</a:t>
              </a:r>
              <a:endPara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隶书" pitchFamily="49" charset="-122"/>
              </a:endParaRPr>
            </a:p>
          </p:txBody>
        </p:sp>
        <p:pic>
          <p:nvPicPr>
            <p:cNvPr id="59409" name="Picture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0" y="1344"/>
              <a:ext cx="732" cy="1014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2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5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5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5" grpId="0"/>
      <p:bldP spid="325636" grpId="0"/>
      <p:bldP spid="325639" grpId="0"/>
      <p:bldP spid="32565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Text Box 2"/>
          <p:cNvSpPr txBox="1"/>
          <p:nvPr/>
        </p:nvSpPr>
        <p:spPr>
          <a:xfrm>
            <a:off x="900113" y="1052513"/>
            <a:ext cx="7561262" cy="3629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Arial" panose="02080604020202020204" pitchFamily="34" charset="0"/>
                <a:ea typeface="隶书" pitchFamily="49" charset="-122"/>
              </a:rPr>
              <a:t>细胞内条件下不可逆反应。</a:t>
            </a:r>
            <a:r>
              <a:rPr lang="zh-CN" altLang="en-US" sz="2800" dirty="0">
                <a:latin typeface="Arial" panose="02080604020202020204" pitchFamily="34" charset="0"/>
                <a:ea typeface="宋体" pitchFamily="2" charset="-122"/>
              </a:rPr>
              <a:t> </a:t>
            </a:r>
            <a:endParaRPr lang="zh-CN" altLang="en-US" sz="2800" dirty="0"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Arial" panose="02080604020202020204" pitchFamily="34" charset="0"/>
                <a:ea typeface="隶书" pitchFamily="49" charset="-122"/>
              </a:rPr>
              <a:t>丙酮酸激酶为变构调节酶</a:t>
            </a:r>
            <a:r>
              <a:rPr lang="zh-CN" altLang="en-US" sz="2400" dirty="0">
                <a:latin typeface="Arial" panose="02080604020202020204" pitchFamily="34" charset="0"/>
                <a:ea typeface="隶书" pitchFamily="49" charset="-122"/>
              </a:rPr>
              <a:t>：</a:t>
            </a:r>
            <a:endParaRPr lang="zh-CN" altLang="en-US" sz="2400" dirty="0">
              <a:latin typeface="Arial" panose="02080604020202020204" pitchFamily="34" charset="0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Arial" panose="02080604020202020204" pitchFamily="34" charset="0"/>
                <a:ea typeface="宋体" pitchFamily="2" charset="-122"/>
              </a:rPr>
              <a:t>            </a:t>
            </a: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Arial" panose="02080604020202020204" pitchFamily="34" charset="0"/>
                <a:ea typeface="宋体" pitchFamily="2" charset="-122"/>
              </a:rPr>
              <a:t>                </a:t>
            </a:r>
            <a:r>
              <a:rPr lang="zh-CN" altLang="en-US" sz="2400" b="1" dirty="0">
                <a:solidFill>
                  <a:schemeClr val="tx2"/>
                </a:solidFill>
                <a:latin typeface="Arial" panose="02080604020202020204" pitchFamily="34" charset="0"/>
                <a:ea typeface="宋体" pitchFamily="2" charset="-122"/>
              </a:rPr>
              <a:t>变构激活剂： </a:t>
            </a:r>
            <a:r>
              <a:rPr lang="en-US" altLang="zh-CN" sz="2400" b="1" dirty="0">
                <a:solidFill>
                  <a:schemeClr val="tx2"/>
                </a:solidFill>
                <a:latin typeface="Arial" panose="02080604020202020204" pitchFamily="34" charset="0"/>
                <a:ea typeface="宋体" pitchFamily="2" charset="-122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latin typeface="Arial" panose="02080604020202020204" pitchFamily="34" charset="0"/>
                <a:ea typeface="宋体" pitchFamily="2" charset="-122"/>
              </a:rPr>
              <a:t>，</a:t>
            </a:r>
            <a:r>
              <a:rPr lang="en-US" altLang="zh-CN" sz="2400" b="1" dirty="0">
                <a:solidFill>
                  <a:schemeClr val="tx2"/>
                </a:solidFill>
                <a:latin typeface="Arial" panose="02080604020202020204" pitchFamily="34" charset="0"/>
                <a:ea typeface="宋体" pitchFamily="2" charset="-122"/>
              </a:rPr>
              <a:t>6-2P-F</a:t>
            </a:r>
            <a:r>
              <a:rPr lang="zh-CN" altLang="en-US" sz="2400" b="1" dirty="0">
                <a:solidFill>
                  <a:schemeClr val="tx2"/>
                </a:solidFill>
                <a:latin typeface="Arial" panose="02080604020202020204" pitchFamily="34" charset="0"/>
                <a:ea typeface="宋体" pitchFamily="2" charset="-122"/>
              </a:rPr>
              <a:t>，</a:t>
            </a:r>
            <a:r>
              <a:rPr lang="en-US" altLang="zh-CN" sz="2400" b="1" dirty="0">
                <a:solidFill>
                  <a:schemeClr val="tx2"/>
                </a:solidFill>
                <a:latin typeface="Arial" panose="02080604020202020204" pitchFamily="34" charset="0"/>
                <a:ea typeface="宋体" pitchFamily="2" charset="-122"/>
              </a:rPr>
              <a:t>Pi</a:t>
            </a:r>
            <a:endParaRPr lang="en-US" altLang="zh-CN" sz="2400" b="1" dirty="0">
              <a:solidFill>
                <a:schemeClr val="tx2"/>
              </a:solidFill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endParaRPr lang="zh-CN" altLang="en-US" sz="1800" b="1" dirty="0"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Arial" panose="02080604020202020204" pitchFamily="34" charset="0"/>
                <a:ea typeface="宋体" pitchFamily="2" charset="-122"/>
              </a:rPr>
              <a:t>                  </a:t>
            </a:r>
            <a:r>
              <a:rPr lang="zh-CN" altLang="en-US" sz="2400" b="1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rPr>
              <a:t>变构抑制剂： </a:t>
            </a:r>
            <a:r>
              <a:rPr lang="en-US" altLang="zh-CN" sz="2400" b="1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rPr>
              <a:t>ATP</a:t>
            </a:r>
            <a:r>
              <a:rPr lang="zh-CN" altLang="en-US" sz="2400" b="1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rPr>
              <a:t>，长链脂酸，乙酰</a:t>
            </a:r>
            <a:r>
              <a:rPr lang="en-US" altLang="zh-CN" sz="2400" b="1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rPr>
              <a:t>-CoA</a:t>
            </a:r>
            <a:r>
              <a:rPr lang="zh-CN" altLang="en-US" sz="2400" b="1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rPr>
              <a:t>，  </a:t>
            </a:r>
            <a:endParaRPr lang="zh-CN" altLang="en-US" sz="2400" b="1" dirty="0">
              <a:solidFill>
                <a:srgbClr val="E60818"/>
              </a:solidFill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rPr>
              <a:t>                                    丙氨酸</a:t>
            </a:r>
            <a:endParaRPr lang="zh-CN" altLang="en-US" sz="2400" b="1" dirty="0">
              <a:solidFill>
                <a:srgbClr val="E60818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grpSp>
        <p:nvGrpSpPr>
          <p:cNvPr id="61443" name="Group 3"/>
          <p:cNvGrpSpPr/>
          <p:nvPr/>
        </p:nvGrpSpPr>
        <p:grpSpPr>
          <a:xfrm>
            <a:off x="1116013" y="2636838"/>
            <a:ext cx="644525" cy="576262"/>
            <a:chOff x="2064" y="3264"/>
            <a:chExt cx="384" cy="576"/>
          </a:xfrm>
        </p:grpSpPr>
        <p:grpSp>
          <p:nvGrpSpPr>
            <p:cNvPr id="61449" name="Group 4"/>
            <p:cNvGrpSpPr/>
            <p:nvPr/>
          </p:nvGrpSpPr>
          <p:grpSpPr>
            <a:xfrm>
              <a:off x="2064" y="3264"/>
              <a:ext cx="384" cy="576"/>
              <a:chOff x="2064" y="3264"/>
              <a:chExt cx="384" cy="576"/>
            </a:xfrm>
          </p:grpSpPr>
          <p:sp>
            <p:nvSpPr>
              <p:cNvPr id="61451" name="Oval 5"/>
              <p:cNvSpPr/>
              <p:nvPr/>
            </p:nvSpPr>
            <p:spPr>
              <a:xfrm>
                <a:off x="2064" y="3264"/>
                <a:ext cx="384" cy="576"/>
              </a:xfrm>
              <a:prstGeom prst="ellipse">
                <a:avLst/>
              </a:prstGeom>
              <a:solidFill>
                <a:srgbClr val="FFFFFF"/>
              </a:solidFill>
              <a:ln w="381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  <p:sp>
            <p:nvSpPr>
              <p:cNvPr id="61452" name="Oval 6"/>
              <p:cNvSpPr/>
              <p:nvPr/>
            </p:nvSpPr>
            <p:spPr>
              <a:xfrm>
                <a:off x="2304" y="3456"/>
                <a:ext cx="48" cy="48"/>
              </a:xfrm>
              <a:prstGeom prst="ellipse">
                <a:avLst/>
              </a:prstGeom>
              <a:solidFill>
                <a:srgbClr val="FFFFFF"/>
              </a:solidFill>
              <a:ln w="381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  <p:sp>
            <p:nvSpPr>
              <p:cNvPr id="61453" name="Freeform 7"/>
              <p:cNvSpPr/>
              <p:nvPr/>
            </p:nvSpPr>
            <p:spPr>
              <a:xfrm>
                <a:off x="2160" y="3600"/>
                <a:ext cx="192" cy="144"/>
              </a:xfrm>
              <a:custGeom>
                <a:avLst/>
                <a:gdLst>
                  <a:gd name="txL" fmla="*/ 0 w 192"/>
                  <a:gd name="txT" fmla="*/ 0 h 144"/>
                  <a:gd name="txR" fmla="*/ 192 w 192"/>
                  <a:gd name="txB" fmla="*/ 144 h 144"/>
                </a:gdLst>
                <a:ahLst/>
                <a:cxnLst>
                  <a:cxn ang="0">
                    <a:pos x="0" y="0"/>
                  </a:cxn>
                  <a:cxn ang="0">
                    <a:pos x="96" y="144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44">
                    <a:moveTo>
                      <a:pt x="0" y="0"/>
                    </a:moveTo>
                    <a:cubicBezTo>
                      <a:pt x="32" y="72"/>
                      <a:pt x="64" y="144"/>
                      <a:pt x="96" y="144"/>
                    </a:cubicBezTo>
                    <a:cubicBezTo>
                      <a:pt x="128" y="144"/>
                      <a:pt x="160" y="72"/>
                      <a:pt x="192" y="0"/>
                    </a:cubicBezTo>
                  </a:path>
                </a:pathLst>
              </a:custGeom>
              <a:noFill/>
              <a:ln w="38100" cap="flat" cmpd="sng">
                <a:solidFill>
                  <a:srgbClr val="008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1450" name="Oval 8"/>
            <p:cNvSpPr/>
            <p:nvPr/>
          </p:nvSpPr>
          <p:spPr>
            <a:xfrm>
              <a:off x="2160" y="3456"/>
              <a:ext cx="48" cy="48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</p:grpSp>
      <p:grpSp>
        <p:nvGrpSpPr>
          <p:cNvPr id="61444" name="Group 9"/>
          <p:cNvGrpSpPr/>
          <p:nvPr/>
        </p:nvGrpSpPr>
        <p:grpSpPr>
          <a:xfrm>
            <a:off x="1116013" y="3573463"/>
            <a:ext cx="609600" cy="555625"/>
            <a:chOff x="2976" y="3312"/>
            <a:chExt cx="384" cy="576"/>
          </a:xfrm>
        </p:grpSpPr>
        <p:sp>
          <p:nvSpPr>
            <p:cNvPr id="61445" name="Oval 10"/>
            <p:cNvSpPr/>
            <p:nvPr/>
          </p:nvSpPr>
          <p:spPr>
            <a:xfrm>
              <a:off x="2976" y="3312"/>
              <a:ext cx="384" cy="576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FF00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solidFill>
                  <a:srgbClr val="E60818"/>
                </a:solidFill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1446" name="Oval 11"/>
            <p:cNvSpPr/>
            <p:nvPr/>
          </p:nvSpPr>
          <p:spPr>
            <a:xfrm>
              <a:off x="3216" y="3504"/>
              <a:ext cx="48" cy="48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FF00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1447" name="Freeform 12"/>
            <p:cNvSpPr/>
            <p:nvPr/>
          </p:nvSpPr>
          <p:spPr>
            <a:xfrm rot="-10759961">
              <a:off x="3072" y="3648"/>
              <a:ext cx="192" cy="144"/>
            </a:xfrm>
            <a:custGeom>
              <a:avLst/>
              <a:gdLst>
                <a:gd name="txL" fmla="*/ 0 w 192"/>
                <a:gd name="txT" fmla="*/ 0 h 144"/>
                <a:gd name="txR" fmla="*/ 192 w 192"/>
                <a:gd name="txB" fmla="*/ 144 h 144"/>
              </a:gdLst>
              <a:ahLst/>
              <a:cxnLst>
                <a:cxn ang="0">
                  <a:pos x="0" y="0"/>
                </a:cxn>
                <a:cxn ang="0">
                  <a:pos x="96" y="144"/>
                </a:cxn>
                <a:cxn ang="0">
                  <a:pos x="192" y="0"/>
                </a:cxn>
              </a:cxnLst>
              <a:rect l="txL" t="txT" r="txR" b="txB"/>
              <a:pathLst>
                <a:path w="192" h="144">
                  <a:moveTo>
                    <a:pt x="0" y="0"/>
                  </a:moveTo>
                  <a:cubicBezTo>
                    <a:pt x="32" y="72"/>
                    <a:pt x="64" y="144"/>
                    <a:pt x="96" y="144"/>
                  </a:cubicBezTo>
                  <a:cubicBezTo>
                    <a:pt x="128" y="144"/>
                    <a:pt x="160" y="72"/>
                    <a:pt x="192" y="0"/>
                  </a:cubicBezTo>
                </a:path>
              </a:pathLst>
            </a:custGeom>
            <a:noFill/>
            <a:ln w="38100" cap="flat" cmpd="sng">
              <a:solidFill>
                <a:srgbClr val="FF00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448" name="Oval 13"/>
            <p:cNvSpPr/>
            <p:nvPr/>
          </p:nvSpPr>
          <p:spPr>
            <a:xfrm>
              <a:off x="3072" y="3504"/>
              <a:ext cx="48" cy="48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FF00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8706" name="Text Box 2"/>
          <p:cNvSpPr txBox="1"/>
          <p:nvPr/>
        </p:nvSpPr>
        <p:spPr>
          <a:xfrm>
            <a:off x="1163638" y="2012950"/>
            <a:ext cx="20161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，</a:t>
            </a:r>
            <a:r>
              <a:rPr lang="en-US" altLang="zh-CN" sz="2400" b="1" dirty="0">
                <a:latin typeface="隶书" pitchFamily="49" charset="-122"/>
                <a:ea typeface="隶书" pitchFamily="49" charset="-122"/>
              </a:rPr>
              <a:t>6-F-P</a:t>
            </a:r>
            <a:endParaRPr lang="en-US" altLang="zh-CN" sz="2400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28707" name="Text Box 3"/>
          <p:cNvSpPr txBox="1"/>
          <p:nvPr/>
        </p:nvSpPr>
        <p:spPr>
          <a:xfrm>
            <a:off x="6156325" y="1916113"/>
            <a:ext cx="2592388" cy="1609725"/>
          </a:xfrm>
          <a:prstGeom prst="rect">
            <a:avLst/>
          </a:prstGeom>
          <a:solidFill>
            <a:schemeClr val="bg1"/>
          </a:solidFill>
          <a:ln w="5715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隶书" pitchFamily="49" charset="-122"/>
                <a:ea typeface="隶书" pitchFamily="49" charset="-122"/>
                <a:sym typeface="Wingdings" panose="05000000000000000000" pitchFamily="2" charset="2"/>
              </a:rPr>
              <a:t>1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  <a:sym typeface="Wingdings" panose="05000000000000000000" pitchFamily="2" charset="2"/>
              </a:rPr>
              <a:t>分子</a:t>
            </a:r>
            <a:r>
              <a:rPr lang="en-US" altLang="zh-CN" sz="2400" b="1" dirty="0">
                <a:latin typeface="隶书" pitchFamily="49" charset="-122"/>
                <a:ea typeface="隶书" pitchFamily="49" charset="-122"/>
                <a:sym typeface="Wingdings" panose="05000000000000000000" pitchFamily="2" charset="2"/>
              </a:rPr>
              <a:t>6C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  <a:sym typeface="Wingdings" panose="05000000000000000000" pitchFamily="2" charset="2"/>
              </a:rPr>
              <a:t>糖，裂解为</a:t>
            </a:r>
            <a:r>
              <a:rPr lang="en-US" altLang="zh-CN" sz="2400" b="1" dirty="0">
                <a:latin typeface="隶书" pitchFamily="49" charset="-122"/>
                <a:ea typeface="隶书" pitchFamily="49" charset="-122"/>
                <a:sym typeface="Wingdings" panose="05000000000000000000" pitchFamily="2" charset="2"/>
              </a:rPr>
              <a:t>2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  <a:sym typeface="Wingdings" panose="05000000000000000000" pitchFamily="2" charset="2"/>
              </a:rPr>
              <a:t>分子</a:t>
            </a:r>
            <a:r>
              <a:rPr lang="en-US" altLang="zh-CN" sz="2400" b="1" dirty="0">
                <a:latin typeface="隶书" pitchFamily="49" charset="-122"/>
                <a:ea typeface="隶书" pitchFamily="49" charset="-122"/>
                <a:sym typeface="Wingdings" panose="05000000000000000000" pitchFamily="2" charset="2"/>
              </a:rPr>
              <a:t>3C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  <a:sym typeface="Wingdings" panose="05000000000000000000" pitchFamily="2" charset="2"/>
              </a:rPr>
              <a:t>糖； 净产生</a:t>
            </a:r>
            <a:r>
              <a:rPr lang="en-US" altLang="zh-CN" sz="2400" b="1" dirty="0">
                <a:latin typeface="隶书" pitchFamily="49" charset="-122"/>
                <a:ea typeface="隶书" pitchFamily="49" charset="-122"/>
                <a:sym typeface="Wingdings" panose="05000000000000000000" pitchFamily="2" charset="2"/>
              </a:rPr>
              <a:t>2</a:t>
            </a:r>
            <a:r>
              <a:rPr lang="en-US" altLang="zh-CN" sz="1800" b="1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×</a:t>
            </a:r>
            <a:r>
              <a:rPr lang="en-US" altLang="zh-CN" sz="2400" b="1" dirty="0">
                <a:latin typeface="隶书" pitchFamily="49" charset="-122"/>
                <a:ea typeface="隶书" pitchFamily="49" charset="-122"/>
                <a:sym typeface="Wingdings" panose="05000000000000000000" pitchFamily="2" charset="2"/>
              </a:rPr>
              <a:t>ATP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  <a:sym typeface="Wingdings" panose="05000000000000000000" pitchFamily="2" charset="2"/>
              </a:rPr>
              <a:t>；  </a:t>
            </a:r>
            <a:r>
              <a:rPr lang="en-US" altLang="zh-CN" sz="2400" b="1" dirty="0">
                <a:latin typeface="隶书" pitchFamily="49" charset="-122"/>
                <a:ea typeface="隶书" pitchFamily="49" charset="-122"/>
                <a:sym typeface="Wingdings" panose="05000000000000000000" pitchFamily="2" charset="2"/>
              </a:rPr>
              <a:t>2</a:t>
            </a:r>
            <a:r>
              <a:rPr lang="en-US" altLang="zh-CN" sz="1800" b="1" dirty="0">
                <a:latin typeface="Arial" panose="02080604020202020204" pitchFamily="34" charset="0"/>
                <a:ea typeface="宋体" pitchFamily="2" charset="-122"/>
                <a:sym typeface="Wingdings" panose="05000000000000000000" pitchFamily="2" charset="2"/>
              </a:rPr>
              <a:t>×</a:t>
            </a:r>
            <a:r>
              <a:rPr lang="en-US" altLang="zh-CN" sz="2400" b="1" dirty="0">
                <a:latin typeface="隶书" pitchFamily="49" charset="-122"/>
                <a:ea typeface="隶书" pitchFamily="49" charset="-122"/>
              </a:rPr>
              <a:t>NADH+H</a:t>
            </a:r>
            <a:r>
              <a:rPr lang="en-US" altLang="zh-CN" sz="2400" b="1" baseline="30000" dirty="0">
                <a:latin typeface="隶书" pitchFamily="49" charset="-122"/>
                <a:ea typeface="隶书" pitchFamily="49" charset="-122"/>
              </a:rPr>
              <a:t>+</a:t>
            </a:r>
            <a:r>
              <a:rPr lang="en-US" altLang="zh-CN" sz="2400" b="1" dirty="0">
                <a:latin typeface="隶书" pitchFamily="49" charset="-122"/>
                <a:ea typeface="隶书" pitchFamily="49" charset="-122"/>
                <a:sym typeface="Wingdings" panose="05000000000000000000" pitchFamily="2" charset="2"/>
              </a:rPr>
              <a:t> 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  <a:sym typeface="Wingdings" panose="05000000000000000000" pitchFamily="2" charset="2"/>
              </a:rPr>
              <a:t>。</a:t>
            </a:r>
            <a:endParaRPr lang="zh-CN" altLang="en-US" sz="2400" b="1" dirty="0">
              <a:latin typeface="隶书" pitchFamily="49" charset="-122"/>
              <a:ea typeface="隶书" pitchFamily="49" charset="-122"/>
              <a:sym typeface="Wingdings" panose="05000000000000000000" pitchFamily="2" charset="2"/>
            </a:endParaRPr>
          </a:p>
        </p:txBody>
      </p:sp>
      <p:sp>
        <p:nvSpPr>
          <p:cNvPr id="62468" name="Rectangle 4"/>
          <p:cNvSpPr/>
          <p:nvPr/>
        </p:nvSpPr>
        <p:spPr>
          <a:xfrm>
            <a:off x="2555875" y="188913"/>
            <a:ext cx="41036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Arial" panose="02080604020202020204" pitchFamily="34" charset="0"/>
                <a:ea typeface="黑体" pitchFamily="49" charset="-122"/>
              </a:rPr>
              <a:t>糖酵解途径总结示意</a:t>
            </a:r>
            <a:endParaRPr lang="zh-CN" altLang="en-US" sz="2800" b="1" dirty="0">
              <a:latin typeface="Arial" panose="02080604020202020204" pitchFamily="34" charset="0"/>
              <a:ea typeface="黑体" pitchFamily="49" charset="-122"/>
            </a:endParaRPr>
          </a:p>
        </p:txBody>
      </p:sp>
      <p:sp>
        <p:nvSpPr>
          <p:cNvPr id="62469" name="Text Box 5"/>
          <p:cNvSpPr txBox="1"/>
          <p:nvPr/>
        </p:nvSpPr>
        <p:spPr>
          <a:xfrm>
            <a:off x="1692275" y="808038"/>
            <a:ext cx="1295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Arial" panose="02080604020202020204" pitchFamily="34" charset="0"/>
                <a:ea typeface="隶书" pitchFamily="49" charset="-122"/>
              </a:rPr>
              <a:t>葡萄糖</a:t>
            </a:r>
            <a:endParaRPr lang="zh-CN" altLang="en-US" sz="2800" dirty="0"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62470" name="Text Box 6"/>
          <p:cNvSpPr txBox="1"/>
          <p:nvPr/>
        </p:nvSpPr>
        <p:spPr>
          <a:xfrm>
            <a:off x="1806575" y="4438650"/>
            <a:ext cx="1441450" cy="3667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71" name="Oval 7"/>
          <p:cNvSpPr/>
          <p:nvPr/>
        </p:nvSpPr>
        <p:spPr>
          <a:xfrm>
            <a:off x="2987675" y="2133600"/>
            <a:ext cx="287338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72" name="Oval 8"/>
          <p:cNvSpPr/>
          <p:nvPr/>
        </p:nvSpPr>
        <p:spPr>
          <a:xfrm>
            <a:off x="3275013" y="2133600"/>
            <a:ext cx="287337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73" name="Oval 9"/>
          <p:cNvSpPr/>
          <p:nvPr/>
        </p:nvSpPr>
        <p:spPr>
          <a:xfrm>
            <a:off x="3851275" y="2133600"/>
            <a:ext cx="287338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74" name="Oval 10"/>
          <p:cNvSpPr/>
          <p:nvPr/>
        </p:nvSpPr>
        <p:spPr>
          <a:xfrm>
            <a:off x="3563938" y="2133600"/>
            <a:ext cx="287337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75" name="Oval 11"/>
          <p:cNvSpPr/>
          <p:nvPr/>
        </p:nvSpPr>
        <p:spPr>
          <a:xfrm>
            <a:off x="4140200" y="2133600"/>
            <a:ext cx="287338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76" name="Oval 12"/>
          <p:cNvSpPr/>
          <p:nvPr/>
        </p:nvSpPr>
        <p:spPr>
          <a:xfrm>
            <a:off x="4427538" y="2133600"/>
            <a:ext cx="287337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grpSp>
        <p:nvGrpSpPr>
          <p:cNvPr id="2" name="Group 13"/>
          <p:cNvGrpSpPr/>
          <p:nvPr/>
        </p:nvGrpSpPr>
        <p:grpSpPr>
          <a:xfrm flipH="1">
            <a:off x="1908175" y="1557338"/>
            <a:ext cx="1439863" cy="288925"/>
            <a:chOff x="2472" y="3022"/>
            <a:chExt cx="1541" cy="318"/>
          </a:xfrm>
        </p:grpSpPr>
        <p:sp>
          <p:nvSpPr>
            <p:cNvPr id="62590" name="Oval 14"/>
            <p:cNvSpPr/>
            <p:nvPr/>
          </p:nvSpPr>
          <p:spPr>
            <a:xfrm>
              <a:off x="2970" y="3022"/>
              <a:ext cx="1043" cy="318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rgbClr val="5E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91" name="Oval 15"/>
            <p:cNvSpPr/>
            <p:nvPr/>
          </p:nvSpPr>
          <p:spPr>
            <a:xfrm>
              <a:off x="2834" y="3113"/>
              <a:ext cx="136" cy="136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92" name="Oval 16"/>
            <p:cNvSpPr/>
            <p:nvPr/>
          </p:nvSpPr>
          <p:spPr>
            <a:xfrm>
              <a:off x="2653" y="3113"/>
              <a:ext cx="136" cy="136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93" name="Oval 17"/>
            <p:cNvSpPr/>
            <p:nvPr/>
          </p:nvSpPr>
          <p:spPr>
            <a:xfrm>
              <a:off x="2472" y="3113"/>
              <a:ext cx="136" cy="136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94" name="Line 18"/>
            <p:cNvSpPr/>
            <p:nvPr/>
          </p:nvSpPr>
          <p:spPr>
            <a:xfrm>
              <a:off x="2581" y="3185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95" name="Line 19"/>
            <p:cNvSpPr/>
            <p:nvPr/>
          </p:nvSpPr>
          <p:spPr>
            <a:xfrm>
              <a:off x="2762" y="3186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20"/>
          <p:cNvGrpSpPr/>
          <p:nvPr/>
        </p:nvGrpSpPr>
        <p:grpSpPr>
          <a:xfrm>
            <a:off x="4457700" y="1570038"/>
            <a:ext cx="1554163" cy="274637"/>
            <a:chOff x="2472" y="3022"/>
            <a:chExt cx="1541" cy="318"/>
          </a:xfrm>
        </p:grpSpPr>
        <p:sp>
          <p:nvSpPr>
            <p:cNvPr id="62584" name="Oval 21"/>
            <p:cNvSpPr/>
            <p:nvPr/>
          </p:nvSpPr>
          <p:spPr>
            <a:xfrm>
              <a:off x="2970" y="3022"/>
              <a:ext cx="1043" cy="318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rgbClr val="5E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85" name="Oval 22"/>
            <p:cNvSpPr/>
            <p:nvPr/>
          </p:nvSpPr>
          <p:spPr>
            <a:xfrm>
              <a:off x="2834" y="3113"/>
              <a:ext cx="136" cy="136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86" name="Oval 23"/>
            <p:cNvSpPr/>
            <p:nvPr/>
          </p:nvSpPr>
          <p:spPr>
            <a:xfrm>
              <a:off x="2653" y="3113"/>
              <a:ext cx="136" cy="136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87" name="Oval 24"/>
            <p:cNvSpPr/>
            <p:nvPr/>
          </p:nvSpPr>
          <p:spPr>
            <a:xfrm>
              <a:off x="2472" y="3113"/>
              <a:ext cx="136" cy="136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88" name="Line 25"/>
            <p:cNvSpPr/>
            <p:nvPr/>
          </p:nvSpPr>
          <p:spPr>
            <a:xfrm>
              <a:off x="2581" y="3185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89" name="Line 26"/>
            <p:cNvSpPr/>
            <p:nvPr/>
          </p:nvSpPr>
          <p:spPr>
            <a:xfrm>
              <a:off x="2762" y="3186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2479" name="Oval 27"/>
          <p:cNvSpPr/>
          <p:nvPr/>
        </p:nvSpPr>
        <p:spPr>
          <a:xfrm>
            <a:off x="3059113" y="1989138"/>
            <a:ext cx="144462" cy="144462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80" name="Oval 28"/>
          <p:cNvSpPr/>
          <p:nvPr/>
        </p:nvSpPr>
        <p:spPr>
          <a:xfrm>
            <a:off x="4498975" y="1989138"/>
            <a:ext cx="144463" cy="144462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81" name="Oval 29"/>
          <p:cNvSpPr/>
          <p:nvPr/>
        </p:nvSpPr>
        <p:spPr>
          <a:xfrm>
            <a:off x="2454275" y="3070225"/>
            <a:ext cx="287338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82" name="Oval 30"/>
          <p:cNvSpPr/>
          <p:nvPr/>
        </p:nvSpPr>
        <p:spPr>
          <a:xfrm>
            <a:off x="2741613" y="3070225"/>
            <a:ext cx="287337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83" name="Oval 31"/>
          <p:cNvSpPr/>
          <p:nvPr/>
        </p:nvSpPr>
        <p:spPr>
          <a:xfrm>
            <a:off x="3030538" y="3070225"/>
            <a:ext cx="287337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84" name="Oval 32"/>
          <p:cNvSpPr/>
          <p:nvPr/>
        </p:nvSpPr>
        <p:spPr>
          <a:xfrm>
            <a:off x="2525713" y="2925763"/>
            <a:ext cx="144462" cy="144462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85" name="Oval 33"/>
          <p:cNvSpPr/>
          <p:nvPr/>
        </p:nvSpPr>
        <p:spPr>
          <a:xfrm>
            <a:off x="4384675" y="3084513"/>
            <a:ext cx="287338" cy="287337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86" name="Oval 34"/>
          <p:cNvSpPr/>
          <p:nvPr/>
        </p:nvSpPr>
        <p:spPr>
          <a:xfrm>
            <a:off x="4673600" y="3084513"/>
            <a:ext cx="287338" cy="287337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87" name="Oval 35"/>
          <p:cNvSpPr/>
          <p:nvPr/>
        </p:nvSpPr>
        <p:spPr>
          <a:xfrm>
            <a:off x="4960938" y="3084513"/>
            <a:ext cx="287337" cy="287337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88" name="Oval 36"/>
          <p:cNvSpPr/>
          <p:nvPr/>
        </p:nvSpPr>
        <p:spPr>
          <a:xfrm>
            <a:off x="5032375" y="2940050"/>
            <a:ext cx="144463" cy="144463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89" name="Oval 37"/>
          <p:cNvSpPr/>
          <p:nvPr/>
        </p:nvSpPr>
        <p:spPr>
          <a:xfrm>
            <a:off x="2987675" y="981075"/>
            <a:ext cx="287338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90" name="Oval 38"/>
          <p:cNvSpPr/>
          <p:nvPr/>
        </p:nvSpPr>
        <p:spPr>
          <a:xfrm>
            <a:off x="3275013" y="981075"/>
            <a:ext cx="287337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91" name="Oval 39"/>
          <p:cNvSpPr/>
          <p:nvPr/>
        </p:nvSpPr>
        <p:spPr>
          <a:xfrm>
            <a:off x="3851275" y="981075"/>
            <a:ext cx="287338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92" name="Oval 40"/>
          <p:cNvSpPr/>
          <p:nvPr/>
        </p:nvSpPr>
        <p:spPr>
          <a:xfrm>
            <a:off x="3563938" y="981075"/>
            <a:ext cx="287337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93" name="Oval 41"/>
          <p:cNvSpPr/>
          <p:nvPr/>
        </p:nvSpPr>
        <p:spPr>
          <a:xfrm>
            <a:off x="4140200" y="981075"/>
            <a:ext cx="287338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94" name="Oval 42"/>
          <p:cNvSpPr/>
          <p:nvPr/>
        </p:nvSpPr>
        <p:spPr>
          <a:xfrm>
            <a:off x="4427538" y="981075"/>
            <a:ext cx="287337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95" name="Line 43"/>
          <p:cNvSpPr/>
          <p:nvPr/>
        </p:nvSpPr>
        <p:spPr>
          <a:xfrm>
            <a:off x="3851275" y="1381125"/>
            <a:ext cx="0" cy="215900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2496" name="Line 44"/>
          <p:cNvSpPr/>
          <p:nvPr/>
        </p:nvSpPr>
        <p:spPr>
          <a:xfrm flipH="1">
            <a:off x="3276600" y="2492375"/>
            <a:ext cx="503238" cy="503238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2497" name="Line 45"/>
          <p:cNvSpPr/>
          <p:nvPr/>
        </p:nvSpPr>
        <p:spPr>
          <a:xfrm>
            <a:off x="3924300" y="2492375"/>
            <a:ext cx="503238" cy="503238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2498" name="Oval 46"/>
          <p:cNvSpPr/>
          <p:nvPr/>
        </p:nvSpPr>
        <p:spPr>
          <a:xfrm>
            <a:off x="4384675" y="3905250"/>
            <a:ext cx="287338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499" name="Oval 47"/>
          <p:cNvSpPr/>
          <p:nvPr/>
        </p:nvSpPr>
        <p:spPr>
          <a:xfrm>
            <a:off x="4673600" y="3905250"/>
            <a:ext cx="287338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00" name="Oval 48"/>
          <p:cNvSpPr/>
          <p:nvPr/>
        </p:nvSpPr>
        <p:spPr>
          <a:xfrm>
            <a:off x="4960938" y="3905250"/>
            <a:ext cx="287337" cy="287338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01" name="Oval 49"/>
          <p:cNvSpPr/>
          <p:nvPr/>
        </p:nvSpPr>
        <p:spPr>
          <a:xfrm>
            <a:off x="5032375" y="3760788"/>
            <a:ext cx="144463" cy="144462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02" name="Oval 50"/>
          <p:cNvSpPr/>
          <p:nvPr/>
        </p:nvSpPr>
        <p:spPr>
          <a:xfrm>
            <a:off x="5535613" y="3371850"/>
            <a:ext cx="144462" cy="144463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03" name="Oval 51"/>
          <p:cNvSpPr/>
          <p:nvPr/>
        </p:nvSpPr>
        <p:spPr>
          <a:xfrm>
            <a:off x="4456113" y="3760788"/>
            <a:ext cx="144462" cy="144462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04" name="Oval 52"/>
          <p:cNvSpPr/>
          <p:nvPr/>
        </p:nvSpPr>
        <p:spPr>
          <a:xfrm>
            <a:off x="2454275" y="3862388"/>
            <a:ext cx="287338" cy="287337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05" name="Oval 53"/>
          <p:cNvSpPr/>
          <p:nvPr/>
        </p:nvSpPr>
        <p:spPr>
          <a:xfrm>
            <a:off x="2743200" y="3862388"/>
            <a:ext cx="287338" cy="287337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06" name="Oval 54"/>
          <p:cNvSpPr/>
          <p:nvPr/>
        </p:nvSpPr>
        <p:spPr>
          <a:xfrm>
            <a:off x="3030538" y="3862388"/>
            <a:ext cx="287337" cy="287337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07" name="Oval 55"/>
          <p:cNvSpPr/>
          <p:nvPr/>
        </p:nvSpPr>
        <p:spPr>
          <a:xfrm>
            <a:off x="3101975" y="3717925"/>
            <a:ext cx="144463" cy="144463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08" name="Oval 56"/>
          <p:cNvSpPr/>
          <p:nvPr/>
        </p:nvSpPr>
        <p:spPr>
          <a:xfrm>
            <a:off x="2525713" y="3717925"/>
            <a:ext cx="144462" cy="144463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09" name="Oval 57"/>
          <p:cNvSpPr/>
          <p:nvPr/>
        </p:nvSpPr>
        <p:spPr>
          <a:xfrm>
            <a:off x="2022475" y="3357563"/>
            <a:ext cx="144463" cy="144462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10" name="Line 58"/>
          <p:cNvSpPr/>
          <p:nvPr/>
        </p:nvSpPr>
        <p:spPr>
          <a:xfrm>
            <a:off x="2887663" y="3414713"/>
            <a:ext cx="0" cy="431800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2511" name="Line 59"/>
          <p:cNvSpPr/>
          <p:nvPr/>
        </p:nvSpPr>
        <p:spPr>
          <a:xfrm>
            <a:off x="4816475" y="3430588"/>
            <a:ext cx="0" cy="431800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2512" name="Arc 60"/>
          <p:cNvSpPr/>
          <p:nvPr/>
        </p:nvSpPr>
        <p:spPr>
          <a:xfrm>
            <a:off x="2266950" y="3444875"/>
            <a:ext cx="576263" cy="142875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txL" t="txT" r="txR" b="txB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513" name="Arc 61"/>
          <p:cNvSpPr/>
          <p:nvPr/>
        </p:nvSpPr>
        <p:spPr>
          <a:xfrm flipH="1">
            <a:off x="4845050" y="3459163"/>
            <a:ext cx="576263" cy="144462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txL" t="txT" r="txR" b="txB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514" name="AutoShape 62"/>
          <p:cNvSpPr/>
          <p:nvPr/>
        </p:nvSpPr>
        <p:spPr>
          <a:xfrm>
            <a:off x="5464175" y="4019550"/>
            <a:ext cx="503238" cy="288925"/>
          </a:xfrm>
          <a:prstGeom prst="hexagon">
            <a:avLst>
              <a:gd name="adj" fmla="val 43543"/>
              <a:gd name="vf" fmla="val 115470"/>
            </a:avLst>
          </a:prstGeom>
          <a:solidFill>
            <a:schemeClr val="accent1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15" name="AutoShape 63"/>
          <p:cNvSpPr/>
          <p:nvPr/>
        </p:nvSpPr>
        <p:spPr>
          <a:xfrm>
            <a:off x="1735138" y="4005263"/>
            <a:ext cx="431800" cy="288925"/>
          </a:xfrm>
          <a:prstGeom prst="hexagon">
            <a:avLst>
              <a:gd name="adj" fmla="val 37362"/>
              <a:gd name="vf" fmla="val 115470"/>
            </a:avLst>
          </a:prstGeom>
          <a:solidFill>
            <a:schemeClr val="accent1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grpSp>
        <p:nvGrpSpPr>
          <p:cNvPr id="4" name="Group 64"/>
          <p:cNvGrpSpPr/>
          <p:nvPr/>
        </p:nvGrpSpPr>
        <p:grpSpPr>
          <a:xfrm>
            <a:off x="5392738" y="4884738"/>
            <a:ext cx="1512887" cy="287337"/>
            <a:chOff x="2472" y="3022"/>
            <a:chExt cx="1541" cy="318"/>
          </a:xfrm>
        </p:grpSpPr>
        <p:sp>
          <p:nvSpPr>
            <p:cNvPr id="62578" name="Oval 65"/>
            <p:cNvSpPr/>
            <p:nvPr/>
          </p:nvSpPr>
          <p:spPr>
            <a:xfrm>
              <a:off x="2970" y="3022"/>
              <a:ext cx="1043" cy="318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rgbClr val="5E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79" name="Oval 66"/>
            <p:cNvSpPr/>
            <p:nvPr/>
          </p:nvSpPr>
          <p:spPr>
            <a:xfrm>
              <a:off x="2834" y="3113"/>
              <a:ext cx="136" cy="136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80" name="Oval 67"/>
            <p:cNvSpPr/>
            <p:nvPr/>
          </p:nvSpPr>
          <p:spPr>
            <a:xfrm>
              <a:off x="2653" y="3113"/>
              <a:ext cx="136" cy="136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81" name="Oval 68"/>
            <p:cNvSpPr/>
            <p:nvPr/>
          </p:nvSpPr>
          <p:spPr>
            <a:xfrm>
              <a:off x="2472" y="3113"/>
              <a:ext cx="136" cy="136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82" name="Line 69"/>
            <p:cNvSpPr/>
            <p:nvPr/>
          </p:nvSpPr>
          <p:spPr>
            <a:xfrm>
              <a:off x="2581" y="3185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83" name="Line 70"/>
            <p:cNvSpPr/>
            <p:nvPr/>
          </p:nvSpPr>
          <p:spPr>
            <a:xfrm>
              <a:off x="2762" y="3186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2517" name="Oval 71"/>
          <p:cNvSpPr/>
          <p:nvPr/>
        </p:nvSpPr>
        <p:spPr>
          <a:xfrm>
            <a:off x="5753100" y="4379913"/>
            <a:ext cx="952500" cy="288925"/>
          </a:xfrm>
          <a:prstGeom prst="ellipse">
            <a:avLst/>
          </a:prstGeom>
          <a:gradFill rotWithShape="1">
            <a:gsLst>
              <a:gs pos="0">
                <a:srgbClr val="CC0000"/>
              </a:gs>
              <a:gs pos="100000">
                <a:srgbClr val="5E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CC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18" name="Oval 72"/>
          <p:cNvSpPr/>
          <p:nvPr/>
        </p:nvSpPr>
        <p:spPr>
          <a:xfrm>
            <a:off x="5600700" y="4462463"/>
            <a:ext cx="152400" cy="123825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19" name="Oval 73"/>
          <p:cNvSpPr/>
          <p:nvPr/>
        </p:nvSpPr>
        <p:spPr>
          <a:xfrm>
            <a:off x="5397500" y="4462463"/>
            <a:ext cx="152400" cy="123825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20" name="Line 74"/>
          <p:cNvSpPr/>
          <p:nvPr/>
        </p:nvSpPr>
        <p:spPr>
          <a:xfrm>
            <a:off x="5519738" y="4529138"/>
            <a:ext cx="101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2521" name="Group 75"/>
          <p:cNvGrpSpPr/>
          <p:nvPr/>
        </p:nvGrpSpPr>
        <p:grpSpPr>
          <a:xfrm>
            <a:off x="5464175" y="5172075"/>
            <a:ext cx="720725" cy="574675"/>
            <a:chOff x="4422" y="3431"/>
            <a:chExt cx="454" cy="362"/>
          </a:xfrm>
        </p:grpSpPr>
        <p:sp>
          <p:nvSpPr>
            <p:cNvPr id="62576" name="AutoShape 76"/>
            <p:cNvSpPr/>
            <p:nvPr/>
          </p:nvSpPr>
          <p:spPr>
            <a:xfrm>
              <a:off x="4422" y="3566"/>
              <a:ext cx="318" cy="227"/>
            </a:xfrm>
            <a:prstGeom prst="hexagon">
              <a:avLst>
                <a:gd name="adj" fmla="val 35022"/>
                <a:gd name="vf" fmla="val 115470"/>
              </a:avLst>
            </a:prstGeom>
            <a:solidFill>
              <a:srgbClr val="FF9900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77" name="Text Box 77"/>
            <p:cNvSpPr txBox="1"/>
            <p:nvPr/>
          </p:nvSpPr>
          <p:spPr>
            <a:xfrm>
              <a:off x="4604" y="3431"/>
              <a:ext cx="2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>
                  <a:latin typeface="Arial" panose="02080604020202020204" pitchFamily="34" charset="0"/>
                  <a:ea typeface="宋体" pitchFamily="2" charset="-122"/>
                </a:rPr>
                <a:t>H</a:t>
              </a:r>
              <a:endParaRPr lang="en-US" altLang="zh-CN" sz="1800" b="1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</p:grpSp>
      <p:sp>
        <p:nvSpPr>
          <p:cNvPr id="62522" name="Oval 78"/>
          <p:cNvSpPr/>
          <p:nvPr/>
        </p:nvSpPr>
        <p:spPr>
          <a:xfrm>
            <a:off x="4384675" y="5532438"/>
            <a:ext cx="287338" cy="287337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23" name="Oval 79"/>
          <p:cNvSpPr/>
          <p:nvPr/>
        </p:nvSpPr>
        <p:spPr>
          <a:xfrm>
            <a:off x="4673600" y="5532438"/>
            <a:ext cx="287338" cy="287337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24" name="Oval 80"/>
          <p:cNvSpPr/>
          <p:nvPr/>
        </p:nvSpPr>
        <p:spPr>
          <a:xfrm>
            <a:off x="4960938" y="5532438"/>
            <a:ext cx="287337" cy="287337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25" name="Oval 81"/>
          <p:cNvSpPr/>
          <p:nvPr/>
        </p:nvSpPr>
        <p:spPr>
          <a:xfrm>
            <a:off x="2454275" y="5503863"/>
            <a:ext cx="287338" cy="287337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26" name="Oval 82"/>
          <p:cNvSpPr/>
          <p:nvPr/>
        </p:nvSpPr>
        <p:spPr>
          <a:xfrm>
            <a:off x="2743200" y="5503863"/>
            <a:ext cx="287338" cy="287337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27" name="Oval 83"/>
          <p:cNvSpPr/>
          <p:nvPr/>
        </p:nvSpPr>
        <p:spPr>
          <a:xfrm>
            <a:off x="3030538" y="5503863"/>
            <a:ext cx="287337" cy="287337"/>
          </a:xfrm>
          <a:prstGeom prst="ellipse">
            <a:avLst/>
          </a:prstGeom>
          <a:gradFill rotWithShape="1">
            <a:gsLst>
              <a:gs pos="0">
                <a:srgbClr val="6666FF"/>
              </a:gs>
              <a:gs pos="100000">
                <a:srgbClr val="2F2F76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solidFill>
                <a:schemeClr val="accent2"/>
              </a:solidFill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28" name="Line 84"/>
          <p:cNvSpPr/>
          <p:nvPr/>
        </p:nvSpPr>
        <p:spPr>
          <a:xfrm>
            <a:off x="4816475" y="4308475"/>
            <a:ext cx="0" cy="1152525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2529" name="AutoShape 85"/>
          <p:cNvSpPr/>
          <p:nvPr/>
        </p:nvSpPr>
        <p:spPr>
          <a:xfrm>
            <a:off x="4816475" y="4524375"/>
            <a:ext cx="503238" cy="576263"/>
          </a:xfrm>
          <a:prstGeom prst="curvedRightArrow">
            <a:avLst>
              <a:gd name="adj1" fmla="val 11196"/>
              <a:gd name="adj2" fmla="val 34099"/>
              <a:gd name="adj3" fmla="val 33333"/>
            </a:avLst>
          </a:prstGeom>
          <a:solidFill>
            <a:schemeClr val="accent1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30" name="AutoShape 86"/>
          <p:cNvSpPr/>
          <p:nvPr/>
        </p:nvSpPr>
        <p:spPr>
          <a:xfrm>
            <a:off x="4816475" y="4278313"/>
            <a:ext cx="647700" cy="1223962"/>
          </a:xfrm>
          <a:prstGeom prst="curvedRightArrow">
            <a:avLst>
              <a:gd name="adj1" fmla="val 2239"/>
              <a:gd name="adj2" fmla="val 38914"/>
              <a:gd name="adj3" fmla="val 33333"/>
            </a:avLst>
          </a:prstGeom>
          <a:solidFill>
            <a:srgbClr val="FF9900"/>
          </a:soli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grpSp>
        <p:nvGrpSpPr>
          <p:cNvPr id="62531" name="Group 87"/>
          <p:cNvGrpSpPr/>
          <p:nvPr/>
        </p:nvGrpSpPr>
        <p:grpSpPr>
          <a:xfrm>
            <a:off x="6732588" y="5949950"/>
            <a:ext cx="1873250" cy="366713"/>
            <a:chOff x="3714" y="3068"/>
            <a:chExt cx="1415" cy="282"/>
          </a:xfrm>
        </p:grpSpPr>
        <p:grpSp>
          <p:nvGrpSpPr>
            <p:cNvPr id="62568" name="Group 88"/>
            <p:cNvGrpSpPr/>
            <p:nvPr/>
          </p:nvGrpSpPr>
          <p:grpSpPr>
            <a:xfrm>
              <a:off x="4150" y="3113"/>
              <a:ext cx="979" cy="173"/>
              <a:chOff x="2472" y="3022"/>
              <a:chExt cx="1541" cy="318"/>
            </a:xfrm>
          </p:grpSpPr>
          <p:sp>
            <p:nvSpPr>
              <p:cNvPr id="62570" name="Oval 89"/>
              <p:cNvSpPr/>
              <p:nvPr/>
            </p:nvSpPr>
            <p:spPr>
              <a:xfrm>
                <a:off x="2970" y="3022"/>
                <a:ext cx="1043" cy="318"/>
              </a:xfrm>
              <a:prstGeom prst="ellipse">
                <a:avLst/>
              </a:prstGeom>
              <a:gradFill rotWithShape="1">
                <a:gsLst>
                  <a:gs pos="0">
                    <a:srgbClr val="CC0000"/>
                  </a:gs>
                  <a:gs pos="100000">
                    <a:srgbClr val="5E000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  <p:sp>
            <p:nvSpPr>
              <p:cNvPr id="62571" name="Oval 90"/>
              <p:cNvSpPr/>
              <p:nvPr/>
            </p:nvSpPr>
            <p:spPr>
              <a:xfrm>
                <a:off x="2834" y="3113"/>
                <a:ext cx="136" cy="136"/>
              </a:xfrm>
              <a:prstGeom prst="ellipse">
                <a:avLst/>
              </a:prstGeom>
              <a:solidFill>
                <a:srgbClr val="FF9900"/>
              </a:solidFill>
              <a:ln w="9525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  <p:sp>
            <p:nvSpPr>
              <p:cNvPr id="62572" name="Oval 91"/>
              <p:cNvSpPr/>
              <p:nvPr/>
            </p:nvSpPr>
            <p:spPr>
              <a:xfrm>
                <a:off x="2653" y="3113"/>
                <a:ext cx="136" cy="136"/>
              </a:xfrm>
              <a:prstGeom prst="ellipse">
                <a:avLst/>
              </a:prstGeom>
              <a:solidFill>
                <a:srgbClr val="FF9900"/>
              </a:solidFill>
              <a:ln w="9525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  <p:sp>
            <p:nvSpPr>
              <p:cNvPr id="62573" name="Oval 92"/>
              <p:cNvSpPr/>
              <p:nvPr/>
            </p:nvSpPr>
            <p:spPr>
              <a:xfrm>
                <a:off x="2472" y="3113"/>
                <a:ext cx="136" cy="136"/>
              </a:xfrm>
              <a:prstGeom prst="ellipse">
                <a:avLst/>
              </a:prstGeom>
              <a:solidFill>
                <a:srgbClr val="FF9900"/>
              </a:solidFill>
              <a:ln w="9525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  <p:sp>
            <p:nvSpPr>
              <p:cNvPr id="62574" name="Line 93"/>
              <p:cNvSpPr/>
              <p:nvPr/>
            </p:nvSpPr>
            <p:spPr>
              <a:xfrm>
                <a:off x="2581" y="3185"/>
                <a:ext cx="9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575" name="Line 94"/>
              <p:cNvSpPr/>
              <p:nvPr/>
            </p:nvSpPr>
            <p:spPr>
              <a:xfrm>
                <a:off x="2762" y="3186"/>
                <a:ext cx="9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2569" name="Text Box 95"/>
            <p:cNvSpPr txBox="1"/>
            <p:nvPr/>
          </p:nvSpPr>
          <p:spPr>
            <a:xfrm>
              <a:off x="3714" y="3068"/>
              <a:ext cx="499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>
                  <a:latin typeface="Arial" panose="02080604020202020204" pitchFamily="34" charset="0"/>
                  <a:ea typeface="宋体" pitchFamily="2" charset="-122"/>
                </a:rPr>
                <a:t>ATP</a:t>
              </a:r>
              <a:endParaRPr lang="en-US" altLang="zh-CN" sz="1800" b="1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</p:grpSp>
      <p:grpSp>
        <p:nvGrpSpPr>
          <p:cNvPr id="62532" name="Group 96"/>
          <p:cNvGrpSpPr/>
          <p:nvPr/>
        </p:nvGrpSpPr>
        <p:grpSpPr>
          <a:xfrm>
            <a:off x="755650" y="5949950"/>
            <a:ext cx="1281113" cy="396875"/>
            <a:chOff x="4558" y="2976"/>
            <a:chExt cx="807" cy="250"/>
          </a:xfrm>
        </p:grpSpPr>
        <p:sp>
          <p:nvSpPr>
            <p:cNvPr id="62566" name="Text Box 97"/>
            <p:cNvSpPr txBox="1"/>
            <p:nvPr/>
          </p:nvSpPr>
          <p:spPr>
            <a:xfrm>
              <a:off x="4558" y="2976"/>
              <a:ext cx="4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 dirty="0">
                  <a:latin typeface="Arial" panose="02080604020202020204" pitchFamily="34" charset="0"/>
                  <a:ea typeface="宋体" pitchFamily="2" charset="-122"/>
                </a:rPr>
                <a:t>NAD</a:t>
              </a:r>
              <a:endParaRPr lang="en-US" altLang="zh-CN" sz="2000" b="1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67" name="AutoShape 98"/>
            <p:cNvSpPr/>
            <p:nvPr/>
          </p:nvSpPr>
          <p:spPr>
            <a:xfrm>
              <a:off x="5048" y="3003"/>
              <a:ext cx="317" cy="182"/>
            </a:xfrm>
            <a:prstGeom prst="hexagon">
              <a:avLst>
                <a:gd name="adj" fmla="val 43543"/>
                <a:gd name="vf" fmla="val 115470"/>
              </a:avLst>
            </a:prstGeom>
            <a:solidFill>
              <a:schemeClr val="accent1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</p:grpSp>
      <p:grpSp>
        <p:nvGrpSpPr>
          <p:cNvPr id="62533" name="Group 100"/>
          <p:cNvGrpSpPr/>
          <p:nvPr/>
        </p:nvGrpSpPr>
        <p:grpSpPr>
          <a:xfrm>
            <a:off x="3635375" y="5876925"/>
            <a:ext cx="649288" cy="431800"/>
            <a:chOff x="4422" y="3431"/>
            <a:chExt cx="454" cy="362"/>
          </a:xfrm>
        </p:grpSpPr>
        <p:sp>
          <p:nvSpPr>
            <p:cNvPr id="62564" name="AutoShape 101"/>
            <p:cNvSpPr/>
            <p:nvPr/>
          </p:nvSpPr>
          <p:spPr>
            <a:xfrm>
              <a:off x="4422" y="3566"/>
              <a:ext cx="318" cy="227"/>
            </a:xfrm>
            <a:prstGeom prst="hexagon">
              <a:avLst>
                <a:gd name="adj" fmla="val 35022"/>
                <a:gd name="vf" fmla="val 115470"/>
              </a:avLst>
            </a:prstGeom>
            <a:solidFill>
              <a:srgbClr val="FF9900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65" name="Text Box 102"/>
            <p:cNvSpPr txBox="1"/>
            <p:nvPr/>
          </p:nvSpPr>
          <p:spPr>
            <a:xfrm>
              <a:off x="4603" y="3431"/>
              <a:ext cx="273" cy="30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>
                  <a:latin typeface="Arial" panose="02080604020202020204" pitchFamily="34" charset="0"/>
                  <a:ea typeface="宋体" pitchFamily="2" charset="-122"/>
                </a:rPr>
                <a:t>H</a:t>
              </a:r>
              <a:endParaRPr lang="en-US" altLang="zh-CN" sz="1800" b="1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</p:grpSp>
      <p:sp>
        <p:nvSpPr>
          <p:cNvPr id="62534" name="Line 103"/>
          <p:cNvSpPr/>
          <p:nvPr/>
        </p:nvSpPr>
        <p:spPr>
          <a:xfrm>
            <a:off x="2887663" y="4221163"/>
            <a:ext cx="0" cy="1152525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2535" name="AutoShape 104"/>
          <p:cNvSpPr/>
          <p:nvPr/>
        </p:nvSpPr>
        <p:spPr>
          <a:xfrm flipH="1">
            <a:off x="2425700" y="4438650"/>
            <a:ext cx="431800" cy="576263"/>
          </a:xfrm>
          <a:prstGeom prst="curvedRightArrow">
            <a:avLst>
              <a:gd name="adj1" fmla="val 13049"/>
              <a:gd name="adj2" fmla="val 39740"/>
              <a:gd name="adj3" fmla="val 33333"/>
            </a:avLst>
          </a:prstGeom>
          <a:solidFill>
            <a:schemeClr val="accent1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36" name="AutoShape 105"/>
          <p:cNvSpPr/>
          <p:nvPr/>
        </p:nvSpPr>
        <p:spPr>
          <a:xfrm flipH="1">
            <a:off x="2311400" y="4178300"/>
            <a:ext cx="576263" cy="1223963"/>
          </a:xfrm>
          <a:prstGeom prst="curvedRightArrow">
            <a:avLst>
              <a:gd name="adj1" fmla="val 2516"/>
              <a:gd name="adj2" fmla="val 43738"/>
              <a:gd name="adj3" fmla="val 33333"/>
            </a:avLst>
          </a:prstGeom>
          <a:solidFill>
            <a:srgbClr val="FF9900"/>
          </a:soli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grpSp>
        <p:nvGrpSpPr>
          <p:cNvPr id="62537" name="Group 106"/>
          <p:cNvGrpSpPr/>
          <p:nvPr/>
        </p:nvGrpSpPr>
        <p:grpSpPr>
          <a:xfrm>
            <a:off x="1576388" y="5100638"/>
            <a:ext cx="720725" cy="574675"/>
            <a:chOff x="4422" y="3431"/>
            <a:chExt cx="454" cy="362"/>
          </a:xfrm>
        </p:grpSpPr>
        <p:sp>
          <p:nvSpPr>
            <p:cNvPr id="62562" name="AutoShape 107"/>
            <p:cNvSpPr/>
            <p:nvPr/>
          </p:nvSpPr>
          <p:spPr>
            <a:xfrm>
              <a:off x="4422" y="3566"/>
              <a:ext cx="318" cy="227"/>
            </a:xfrm>
            <a:prstGeom prst="hexagon">
              <a:avLst>
                <a:gd name="adj" fmla="val 35022"/>
                <a:gd name="vf" fmla="val 115470"/>
              </a:avLst>
            </a:prstGeom>
            <a:solidFill>
              <a:srgbClr val="FF9900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63" name="Text Box 108"/>
            <p:cNvSpPr txBox="1"/>
            <p:nvPr/>
          </p:nvSpPr>
          <p:spPr>
            <a:xfrm>
              <a:off x="4604" y="3431"/>
              <a:ext cx="2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>
                  <a:latin typeface="Arial" panose="02080604020202020204" pitchFamily="34" charset="0"/>
                  <a:ea typeface="宋体" pitchFamily="2" charset="-122"/>
                </a:rPr>
                <a:t>H</a:t>
              </a:r>
              <a:endParaRPr lang="en-US" altLang="zh-CN" sz="1800" b="1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</p:grpSp>
      <p:grpSp>
        <p:nvGrpSpPr>
          <p:cNvPr id="11" name="Group 109"/>
          <p:cNvGrpSpPr/>
          <p:nvPr/>
        </p:nvGrpSpPr>
        <p:grpSpPr>
          <a:xfrm flipH="1">
            <a:off x="900113" y="4797425"/>
            <a:ext cx="1439862" cy="288925"/>
            <a:chOff x="2472" y="3022"/>
            <a:chExt cx="1541" cy="318"/>
          </a:xfrm>
        </p:grpSpPr>
        <p:sp>
          <p:nvSpPr>
            <p:cNvPr id="62556" name="Oval 110"/>
            <p:cNvSpPr/>
            <p:nvPr/>
          </p:nvSpPr>
          <p:spPr>
            <a:xfrm>
              <a:off x="2970" y="3022"/>
              <a:ext cx="1043" cy="318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rgbClr val="5E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57" name="Oval 111"/>
            <p:cNvSpPr/>
            <p:nvPr/>
          </p:nvSpPr>
          <p:spPr>
            <a:xfrm>
              <a:off x="2834" y="3113"/>
              <a:ext cx="136" cy="136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58" name="Oval 112"/>
            <p:cNvSpPr/>
            <p:nvPr/>
          </p:nvSpPr>
          <p:spPr>
            <a:xfrm>
              <a:off x="2653" y="3113"/>
              <a:ext cx="136" cy="136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59" name="Oval 113"/>
            <p:cNvSpPr/>
            <p:nvPr/>
          </p:nvSpPr>
          <p:spPr>
            <a:xfrm>
              <a:off x="2472" y="3113"/>
              <a:ext cx="136" cy="136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60" name="Line 114"/>
            <p:cNvSpPr/>
            <p:nvPr/>
          </p:nvSpPr>
          <p:spPr>
            <a:xfrm>
              <a:off x="2581" y="3185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61" name="Line 115"/>
            <p:cNvSpPr/>
            <p:nvPr/>
          </p:nvSpPr>
          <p:spPr>
            <a:xfrm>
              <a:off x="2762" y="3186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2539" name="Group 116"/>
          <p:cNvGrpSpPr/>
          <p:nvPr/>
        </p:nvGrpSpPr>
        <p:grpSpPr>
          <a:xfrm>
            <a:off x="1100138" y="4322763"/>
            <a:ext cx="1270000" cy="288925"/>
            <a:chOff x="567" y="2750"/>
            <a:chExt cx="800" cy="182"/>
          </a:xfrm>
        </p:grpSpPr>
        <p:sp>
          <p:nvSpPr>
            <p:cNvPr id="62552" name="Oval 117"/>
            <p:cNvSpPr/>
            <p:nvPr/>
          </p:nvSpPr>
          <p:spPr>
            <a:xfrm flipH="1">
              <a:off x="567" y="2750"/>
              <a:ext cx="614" cy="182"/>
            </a:xfrm>
            <a:prstGeom prst="ellipse">
              <a:avLst/>
            </a:prstGeom>
            <a:gradFill rotWithShape="1">
              <a:gsLst>
                <a:gs pos="0">
                  <a:srgbClr val="CC0000"/>
                </a:gs>
                <a:gs pos="100000">
                  <a:srgbClr val="5E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53" name="Oval 118"/>
            <p:cNvSpPr/>
            <p:nvPr/>
          </p:nvSpPr>
          <p:spPr>
            <a:xfrm flipH="1">
              <a:off x="1181" y="2802"/>
              <a:ext cx="80" cy="7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54" name="Oval 119"/>
            <p:cNvSpPr/>
            <p:nvPr/>
          </p:nvSpPr>
          <p:spPr>
            <a:xfrm flipH="1">
              <a:off x="1287" y="2802"/>
              <a:ext cx="80" cy="7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62555" name="Line 120"/>
            <p:cNvSpPr/>
            <p:nvPr/>
          </p:nvSpPr>
          <p:spPr>
            <a:xfrm flipH="1">
              <a:off x="1250" y="2844"/>
              <a:ext cx="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2540" name="Text Box 121"/>
          <p:cNvSpPr txBox="1"/>
          <p:nvPr/>
        </p:nvSpPr>
        <p:spPr>
          <a:xfrm>
            <a:off x="798513" y="4264025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Arial" panose="02080604020202020204" pitchFamily="34" charset="0"/>
                <a:ea typeface="宋体" pitchFamily="2" charset="-122"/>
              </a:rPr>
              <a:t>2</a:t>
            </a:r>
            <a:endParaRPr lang="en-US" altLang="zh-CN" sz="20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41" name="Text Box 122"/>
          <p:cNvSpPr txBox="1"/>
          <p:nvPr/>
        </p:nvSpPr>
        <p:spPr>
          <a:xfrm>
            <a:off x="611188" y="4738688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Arial" panose="02080604020202020204" pitchFamily="34" charset="0"/>
                <a:ea typeface="宋体" pitchFamily="2" charset="-122"/>
              </a:rPr>
              <a:t>2</a:t>
            </a:r>
            <a:endParaRPr lang="en-US" altLang="zh-CN" sz="20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42" name="Text Box 123"/>
          <p:cNvSpPr txBox="1"/>
          <p:nvPr/>
        </p:nvSpPr>
        <p:spPr>
          <a:xfrm>
            <a:off x="6659563" y="4292600"/>
            <a:ext cx="360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Arial" panose="02080604020202020204" pitchFamily="34" charset="0"/>
                <a:ea typeface="宋体" pitchFamily="2" charset="-122"/>
              </a:rPr>
              <a:t>2</a:t>
            </a:r>
            <a:endParaRPr lang="en-US" altLang="zh-CN" sz="20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43" name="Text Box 124"/>
          <p:cNvSpPr txBox="1"/>
          <p:nvPr/>
        </p:nvSpPr>
        <p:spPr>
          <a:xfrm>
            <a:off x="6877050" y="4797425"/>
            <a:ext cx="3603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Arial" panose="02080604020202020204" pitchFamily="34" charset="0"/>
                <a:ea typeface="宋体" pitchFamily="2" charset="-122"/>
              </a:rPr>
              <a:t>2</a:t>
            </a:r>
            <a:endParaRPr lang="en-US" altLang="zh-CN" sz="20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44" name="AutoShape 125"/>
          <p:cNvSpPr/>
          <p:nvPr/>
        </p:nvSpPr>
        <p:spPr>
          <a:xfrm>
            <a:off x="2987675" y="4437063"/>
            <a:ext cx="1871663" cy="936625"/>
          </a:xfrm>
          <a:prstGeom prst="irregularSeal1">
            <a:avLst/>
          </a:prstGeom>
          <a:gradFill rotWithShape="1">
            <a:gsLst>
              <a:gs pos="0">
                <a:srgbClr val="765E76"/>
              </a:gs>
              <a:gs pos="100000">
                <a:srgbClr val="FFCCFF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latin typeface="Arial" panose="02080604020202020204" pitchFamily="34" charset="0"/>
                <a:ea typeface="宋体" pitchFamily="2" charset="-122"/>
              </a:rPr>
              <a:t>2</a:t>
            </a:r>
            <a:r>
              <a:rPr lang="zh-CN" altLang="en-US" sz="1800" b="1" dirty="0">
                <a:latin typeface="Arial" panose="02080604020202020204" pitchFamily="34" charset="0"/>
                <a:ea typeface="宋体" pitchFamily="2" charset="-122"/>
              </a:rPr>
              <a:t>次底物磷酸化</a:t>
            </a:r>
            <a:endParaRPr lang="en-US" altLang="zh-CN" sz="1800" b="1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45" name="Line 126"/>
          <p:cNvSpPr/>
          <p:nvPr/>
        </p:nvSpPr>
        <p:spPr>
          <a:xfrm>
            <a:off x="0" y="5876925"/>
            <a:ext cx="914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546" name="Text Box 127"/>
          <p:cNvSpPr txBox="1"/>
          <p:nvPr/>
        </p:nvSpPr>
        <p:spPr>
          <a:xfrm>
            <a:off x="3100388" y="6305550"/>
            <a:ext cx="37449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Arial" panose="02080604020202020204" pitchFamily="34" charset="0"/>
                <a:ea typeface="隶书" pitchFamily="49" charset="-122"/>
              </a:rPr>
              <a:t>还原型</a:t>
            </a:r>
            <a:r>
              <a:rPr lang="en-US" altLang="zh-CN" sz="2400" dirty="0">
                <a:latin typeface="Arial" panose="02080604020202020204" pitchFamily="34" charset="0"/>
                <a:ea typeface="隶书" pitchFamily="49" charset="-122"/>
              </a:rPr>
              <a:t>NADH+H</a:t>
            </a:r>
            <a:r>
              <a:rPr lang="en-US" altLang="zh-CN" sz="2400" baseline="30000" dirty="0">
                <a:latin typeface="Arial" panose="02080604020202020204" pitchFamily="34" charset="0"/>
                <a:ea typeface="隶书" pitchFamily="49" charset="-122"/>
              </a:rPr>
              <a:t>+</a:t>
            </a:r>
            <a:r>
              <a:rPr lang="zh-CN" altLang="en-US" sz="2400" dirty="0">
                <a:latin typeface="Arial" panose="02080604020202020204" pitchFamily="34" charset="0"/>
                <a:ea typeface="隶书" pitchFamily="49" charset="-122"/>
              </a:rPr>
              <a:t>（高能）</a:t>
            </a:r>
            <a:endParaRPr lang="zh-CN" altLang="en-US" sz="2400" dirty="0"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62547" name="Text Box 128"/>
          <p:cNvSpPr txBox="1"/>
          <p:nvPr/>
        </p:nvSpPr>
        <p:spPr>
          <a:xfrm>
            <a:off x="3217863" y="5387975"/>
            <a:ext cx="1295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Arial" panose="02080604020202020204" pitchFamily="34" charset="0"/>
                <a:ea typeface="隶书" pitchFamily="49" charset="-122"/>
              </a:rPr>
              <a:t>丙酮酸</a:t>
            </a:r>
            <a:endParaRPr lang="zh-CN" altLang="en-US" sz="2800" b="1" dirty="0"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62548" name="Line 129"/>
          <p:cNvSpPr/>
          <p:nvPr/>
        </p:nvSpPr>
        <p:spPr>
          <a:xfrm>
            <a:off x="3851275" y="1604963"/>
            <a:ext cx="0" cy="215900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2549" name="Line 130"/>
          <p:cNvSpPr/>
          <p:nvPr/>
        </p:nvSpPr>
        <p:spPr>
          <a:xfrm>
            <a:off x="3851275" y="1827213"/>
            <a:ext cx="0" cy="215900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2550" name="Rectangle 131"/>
          <p:cNvSpPr/>
          <p:nvPr/>
        </p:nvSpPr>
        <p:spPr>
          <a:xfrm>
            <a:off x="3348038" y="1484313"/>
            <a:ext cx="1101725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Arial" panose="02080604020202020204" pitchFamily="34" charset="0"/>
                <a:ea typeface="宋体" pitchFamily="2" charset="-122"/>
              </a:rPr>
              <a:t>吸收</a:t>
            </a:r>
            <a:r>
              <a:rPr lang="en-US" altLang="zh-CN" sz="1800" b="1" dirty="0">
                <a:latin typeface="Arial" panose="02080604020202020204" pitchFamily="34" charset="0"/>
                <a:ea typeface="宋体" pitchFamily="2" charset="-122"/>
              </a:rPr>
              <a:t>ATP</a:t>
            </a:r>
            <a:endParaRPr lang="en-US" altLang="zh-CN" sz="1800" b="1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2551" name="Rectangle 132"/>
          <p:cNvSpPr/>
          <p:nvPr/>
        </p:nvSpPr>
        <p:spPr>
          <a:xfrm>
            <a:off x="3348038" y="3789363"/>
            <a:ext cx="10795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Arial" panose="02080604020202020204" pitchFamily="34" charset="0"/>
                <a:ea typeface="宋体" pitchFamily="2" charset="-122"/>
              </a:rPr>
              <a:t>高能中间产物</a:t>
            </a:r>
            <a:endParaRPr lang="en-US" altLang="zh-CN" sz="1800" b="1" dirty="0"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870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0754" name="Rectangle 2"/>
          <p:cNvSpPr/>
          <p:nvPr/>
        </p:nvSpPr>
        <p:spPr>
          <a:xfrm>
            <a:off x="7340600" y="2954338"/>
            <a:ext cx="1204913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charset="0"/>
                <a:ea typeface="宋体" pitchFamily="2" charset="-122"/>
              </a:rPr>
              <a:t>2</a:t>
            </a:r>
            <a:r>
              <a:rPr lang="en-US" altLang="zh-CN" sz="2800" b="1" dirty="0">
                <a:solidFill>
                  <a:srgbClr val="080808"/>
                </a:solidFill>
                <a:latin typeface="Times New Roman" panose="02020603050405020304" charset="0"/>
                <a:ea typeface="宋体" pitchFamily="2" charset="-122"/>
              </a:rPr>
              <a:t>× 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charset="0"/>
                <a:ea typeface="隶书" pitchFamily="49" charset="-122"/>
              </a:rPr>
              <a:t>1</a:t>
            </a:r>
            <a:endParaRPr lang="en-US" altLang="zh-CN" sz="2800" b="1" dirty="0">
              <a:solidFill>
                <a:srgbClr val="CC3300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330755" name="Text Box 3"/>
          <p:cNvSpPr txBox="1"/>
          <p:nvPr/>
        </p:nvSpPr>
        <p:spPr>
          <a:xfrm>
            <a:off x="1116013" y="1628775"/>
            <a:ext cx="548005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葡  萄  糖  →  </a:t>
            </a:r>
            <a:r>
              <a:rPr lang="en-US" altLang="zh-CN" sz="28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6-</a:t>
            </a:r>
            <a:r>
              <a:rPr lang="zh-CN" altLang="en-US" sz="28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磷酸葡萄糖</a:t>
            </a:r>
            <a:endParaRPr lang="zh-CN" altLang="en-US" sz="2800" b="1" dirty="0">
              <a:solidFill>
                <a:srgbClr val="080808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30756" name="Text Box 4"/>
          <p:cNvSpPr txBox="1"/>
          <p:nvPr/>
        </p:nvSpPr>
        <p:spPr>
          <a:xfrm>
            <a:off x="900113" y="2238375"/>
            <a:ext cx="5875337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6-</a:t>
            </a:r>
            <a:r>
              <a:rPr lang="zh-CN" altLang="en-US" sz="28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磷酸果糖  → </a:t>
            </a:r>
            <a:r>
              <a:rPr lang="en-US" altLang="zh-CN" sz="28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1,6-</a:t>
            </a:r>
            <a:r>
              <a:rPr lang="zh-CN" altLang="en-US" sz="28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二磷酸果糖</a:t>
            </a:r>
            <a:endParaRPr lang="zh-CN" altLang="en-US" sz="2800" b="1" dirty="0">
              <a:solidFill>
                <a:srgbClr val="080808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30757" name="Rectangle 5"/>
          <p:cNvSpPr/>
          <p:nvPr/>
        </p:nvSpPr>
        <p:spPr>
          <a:xfrm>
            <a:off x="858838" y="2916238"/>
            <a:ext cx="6161087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1,3-</a:t>
            </a:r>
            <a:r>
              <a:rPr lang="zh-CN" altLang="en-US" sz="28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二磷酸甘油酸 → </a:t>
            </a:r>
            <a:r>
              <a:rPr lang="en-US" altLang="zh-CN" sz="28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3-</a:t>
            </a:r>
            <a:r>
              <a:rPr lang="zh-CN" altLang="en-US" sz="28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磷酸甘油酸</a:t>
            </a:r>
            <a:endParaRPr lang="zh-CN" altLang="en-US" sz="2800" b="1" dirty="0">
              <a:solidFill>
                <a:srgbClr val="080808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30758" name="Rectangle 6"/>
          <p:cNvSpPr/>
          <p:nvPr/>
        </p:nvSpPr>
        <p:spPr>
          <a:xfrm>
            <a:off x="900113" y="3429000"/>
            <a:ext cx="575945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80808"/>
                </a:solidFill>
                <a:latin typeface="隶书" pitchFamily="49" charset="-122"/>
                <a:ea typeface="隶书" pitchFamily="49" charset="-122"/>
              </a:rPr>
              <a:t>磷酸烯醇式丙酮酸 → 丙 酮 酸</a:t>
            </a:r>
            <a:endParaRPr lang="zh-CN" altLang="en-US" sz="2800" b="1" dirty="0">
              <a:solidFill>
                <a:srgbClr val="080808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30759" name="Text Box 7"/>
          <p:cNvSpPr txBox="1"/>
          <p:nvPr/>
        </p:nvSpPr>
        <p:spPr>
          <a:xfrm>
            <a:off x="7451725" y="2276475"/>
            <a:ext cx="8604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charset="0"/>
                <a:ea typeface="宋体" pitchFamily="2" charset="-122"/>
              </a:rPr>
              <a:t>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-</a:t>
            </a: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1 </a:t>
            </a:r>
            <a:endParaRPr lang="en-US" altLang="zh-CN" sz="2800" b="1" dirty="0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4520" name="Text Box 8"/>
          <p:cNvSpPr txBox="1"/>
          <p:nvPr/>
        </p:nvSpPr>
        <p:spPr>
          <a:xfrm>
            <a:off x="971550" y="981075"/>
            <a:ext cx="76327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zh-CN" sz="3600" b="1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化  学  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反  应        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          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ATP数目</a:t>
            </a:r>
            <a:r>
              <a:rPr lang="zh-CN" altLang="zh-CN" sz="2800" b="1" dirty="0">
                <a:solidFill>
                  <a:srgbClr val="008000"/>
                </a:solidFill>
                <a:latin typeface="Times New Roman" panose="02020603050405020304" charset="0"/>
                <a:ea typeface="宋体" pitchFamily="2" charset="-122"/>
              </a:rPr>
              <a:t>   </a:t>
            </a:r>
            <a:endParaRPr lang="en-US" altLang="zh-CN" sz="2800" b="1" dirty="0">
              <a:solidFill>
                <a:srgbClr val="008000"/>
              </a:solidFill>
              <a:latin typeface="Times New Roman" panose="02020603050405020304" charset="0"/>
              <a:ea typeface="宋体" pitchFamily="2" charset="-122"/>
            </a:endParaRPr>
          </a:p>
        </p:txBody>
      </p:sp>
      <p:sp>
        <p:nvSpPr>
          <p:cNvPr id="64521" name="Line 9"/>
          <p:cNvSpPr/>
          <p:nvPr/>
        </p:nvSpPr>
        <p:spPr>
          <a:xfrm>
            <a:off x="827088" y="1052513"/>
            <a:ext cx="7620000" cy="0"/>
          </a:xfrm>
          <a:prstGeom prst="line">
            <a:avLst/>
          </a:prstGeom>
          <a:ln w="57150" cap="flat" cmpd="sng">
            <a:solidFill>
              <a:srgbClr val="080808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2" name="Line 10"/>
          <p:cNvSpPr/>
          <p:nvPr/>
        </p:nvSpPr>
        <p:spPr>
          <a:xfrm>
            <a:off x="827088" y="4078288"/>
            <a:ext cx="7620000" cy="0"/>
          </a:xfrm>
          <a:prstGeom prst="line">
            <a:avLst/>
          </a:prstGeom>
          <a:ln w="57150" cap="flat" cmpd="sng">
            <a:solidFill>
              <a:srgbClr val="080808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3" name="Line 11"/>
          <p:cNvSpPr/>
          <p:nvPr/>
        </p:nvSpPr>
        <p:spPr>
          <a:xfrm>
            <a:off x="827088" y="1628775"/>
            <a:ext cx="7620000" cy="0"/>
          </a:xfrm>
          <a:prstGeom prst="line">
            <a:avLst/>
          </a:prstGeom>
          <a:ln w="38100" cap="flat" cmpd="sng">
            <a:solidFill>
              <a:srgbClr val="080808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0764" name="Rectangle 12"/>
          <p:cNvSpPr/>
          <p:nvPr/>
        </p:nvSpPr>
        <p:spPr>
          <a:xfrm>
            <a:off x="7483475" y="1620838"/>
            <a:ext cx="776288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Arial" panose="02080604020202020204" pitchFamily="34" charset="0"/>
                <a:ea typeface="宋体" pitchFamily="2" charset="-122"/>
              </a:rPr>
              <a:t>-</a:t>
            </a: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1</a:t>
            </a:r>
            <a:endParaRPr lang="en-US" altLang="zh-CN" sz="2800" b="1" dirty="0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0765" name="Rectangle 13"/>
          <p:cNvSpPr/>
          <p:nvPr/>
        </p:nvSpPr>
        <p:spPr>
          <a:xfrm>
            <a:off x="7451725" y="3429000"/>
            <a:ext cx="992188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charset="0"/>
                <a:ea typeface="宋体" pitchFamily="2" charset="-122"/>
              </a:rPr>
              <a:t>2</a:t>
            </a:r>
            <a:r>
              <a:rPr lang="en-US" altLang="zh-CN" sz="2800" b="1" dirty="0">
                <a:solidFill>
                  <a:srgbClr val="080808"/>
                </a:solidFill>
                <a:latin typeface="Times New Roman" panose="02020603050405020304" charset="0"/>
                <a:ea typeface="宋体" pitchFamily="2" charset="-122"/>
              </a:rPr>
              <a:t>× 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charset="0"/>
                <a:ea typeface="隶书" pitchFamily="49" charset="-122"/>
              </a:rPr>
              <a:t>1</a:t>
            </a:r>
            <a:endParaRPr lang="en-US" altLang="zh-CN" sz="2800" b="1" dirty="0">
              <a:solidFill>
                <a:srgbClr val="CC3300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330766" name="Text Box 14"/>
          <p:cNvSpPr txBox="1"/>
          <p:nvPr/>
        </p:nvSpPr>
        <p:spPr>
          <a:xfrm>
            <a:off x="827088" y="4560888"/>
            <a:ext cx="7524750" cy="1063625"/>
          </a:xfrm>
          <a:prstGeom prst="rect">
            <a:avLst/>
          </a:prstGeom>
          <a:noFill/>
          <a:ln w="57150" cap="flat" cmpd="sng">
            <a:solidFill>
              <a:srgbClr val="33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charset="0"/>
                <a:ea typeface="楷体_GB2312" pitchFamily="49" charset="-122"/>
              </a:rPr>
              <a:t>   </a:t>
            </a:r>
            <a:r>
              <a:rPr lang="zh-CN" altLang="en-US" sz="28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葡萄糖 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</a:rPr>
              <a:t>+ 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2Pi+ 2ADP + 2NAD</a:t>
            </a:r>
            <a:r>
              <a:rPr lang="en-US" altLang="zh-CN" sz="2800" b="1" baseline="30000" dirty="0">
                <a:latin typeface="黑体" pitchFamily="49" charset="-122"/>
                <a:ea typeface="黑体" pitchFamily="49" charset="-122"/>
              </a:rPr>
              <a:t>+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</a:rPr>
              <a:t>        </a:t>
            </a:r>
            <a:endParaRPr lang="en-US" altLang="zh-CN" sz="2800" b="1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隶书" pitchFamily="49" charset="-122"/>
                <a:ea typeface="隶书" pitchFamily="49" charset="-122"/>
              </a:rPr>
              <a:t>      </a:t>
            </a:r>
            <a:r>
              <a:rPr lang="en-US" altLang="zh-CN" sz="28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sz="28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丙酮酸 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</a:rPr>
              <a:t>+ </a:t>
            </a:r>
            <a:r>
              <a:rPr lang="en-US" altLang="zh-CN" sz="2800" b="1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2ATP 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</a:rPr>
              <a:t>+ 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2NADH + 2H</a:t>
            </a:r>
            <a:r>
              <a:rPr lang="en-US" altLang="zh-CN" sz="2800" b="1" baseline="30000" dirty="0">
                <a:latin typeface="黑体" pitchFamily="49" charset="-122"/>
                <a:ea typeface="黑体" pitchFamily="49" charset="-122"/>
              </a:rPr>
              <a:t>+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 + 2H</a:t>
            </a:r>
            <a:r>
              <a:rPr lang="en-US" altLang="zh-CN" sz="2800" b="1" baseline="-25000" dirty="0">
                <a:latin typeface="黑体" pitchFamily="49" charset="-122"/>
                <a:ea typeface="黑体" pitchFamily="49" charset="-122"/>
              </a:rPr>
              <a:t>2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O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4527" name="Line 15"/>
          <p:cNvSpPr/>
          <p:nvPr/>
        </p:nvSpPr>
        <p:spPr>
          <a:xfrm>
            <a:off x="6011863" y="4848225"/>
            <a:ext cx="1817687" cy="9525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28" name="Rectangle 16"/>
          <p:cNvSpPr/>
          <p:nvPr/>
        </p:nvSpPr>
        <p:spPr>
          <a:xfrm>
            <a:off x="0" y="333375"/>
            <a:ext cx="5791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Arial" panose="02080604020202020204" pitchFamily="34" charset="0"/>
                <a:ea typeface="黑体" pitchFamily="49" charset="-122"/>
              </a:rPr>
              <a:t>二、糖酵解中产生的能量</a:t>
            </a:r>
            <a:endParaRPr lang="zh-CN" altLang="en-US" sz="2800" b="1" dirty="0">
              <a:latin typeface="Arial" panose="02080604020202020204" pitchFamily="34" charset="0"/>
              <a:ea typeface="黑体" pitchFamily="49" charset="-122"/>
            </a:endParaRPr>
          </a:p>
        </p:txBody>
      </p:sp>
      <p:sp>
        <p:nvSpPr>
          <p:cNvPr id="330769" name="Rectangle 17"/>
          <p:cNvSpPr/>
          <p:nvPr/>
        </p:nvSpPr>
        <p:spPr>
          <a:xfrm>
            <a:off x="755650" y="5784850"/>
            <a:ext cx="76327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△G</a:t>
            </a:r>
            <a:r>
              <a:rPr lang="en-US" altLang="zh-CN" sz="2400" b="1" baseline="3000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0</a:t>
            </a:r>
            <a:r>
              <a:rPr lang="en-US" altLang="zh-CN" sz="2400" b="1" dirty="0">
                <a:solidFill>
                  <a:srgbClr val="0000FF"/>
                </a:solidFill>
                <a:latin typeface="Arial" panose="02080604020202020204" pitchFamily="34" charset="0"/>
                <a:ea typeface="黑体" pitchFamily="49" charset="-122"/>
              </a:rPr>
              <a:t>’</a:t>
            </a:r>
            <a:r>
              <a:rPr lang="en-US" altLang="zh-CN" sz="24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结算及</a:t>
            </a:r>
            <a:r>
              <a:rPr lang="en-US" altLang="zh-CN" sz="24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△G </a:t>
            </a:r>
            <a:r>
              <a:rPr lang="zh-CN" altLang="en-US" sz="24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实测值 见于课件个反应步骤，集中列于</a:t>
            </a:r>
            <a:r>
              <a:rPr lang="en-US" altLang="zh-CN" sz="24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P80 </a:t>
            </a:r>
            <a:r>
              <a:rPr lang="zh-CN" altLang="en-US" sz="24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表</a:t>
            </a:r>
            <a:r>
              <a:rPr lang="en-US" altLang="zh-CN" sz="24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22-2</a:t>
            </a:r>
            <a:endParaRPr lang="en-US" altLang="zh-CN" sz="2400" b="1" dirty="0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3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3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33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3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330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4" grpId="0"/>
      <p:bldP spid="330755" grpId="0"/>
      <p:bldP spid="330756" grpId="0"/>
      <p:bldP spid="330757" grpId="0"/>
      <p:bldP spid="330758" grpId="0"/>
      <p:bldP spid="330759" grpId="0"/>
      <p:bldP spid="330764" grpId="0"/>
      <p:bldP spid="330765" grpId="0"/>
      <p:bldP spid="330766" grpId="0" animBg="1"/>
      <p:bldP spid="33076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2802" name="Text Box 2"/>
          <p:cNvSpPr txBox="1"/>
          <p:nvPr/>
        </p:nvSpPr>
        <p:spPr>
          <a:xfrm>
            <a:off x="468313" y="981075"/>
            <a:ext cx="8208962" cy="53371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76250" lvl="0" indent="-476250" eaLnBrk="1" hangingPunct="1"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原核生物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其电子传递链存在于</a:t>
            </a:r>
            <a:r>
              <a:rPr lang="zh-CN" altLang="en-US" sz="28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质膜上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无需穿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梭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过程，而</a:t>
            </a:r>
            <a:r>
              <a:rPr lang="zh-CN" altLang="en-US" sz="2800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真核生物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NADH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需要两个特殊的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穿梭系统才能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穿过线粒体内膜。</a:t>
            </a:r>
            <a:endParaRPr lang="zh-CN" altLang="en-US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476250" lvl="0" indent="-476250" eaLnBrk="1" hangingPunct="1"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endParaRPr lang="zh-CN" altLang="en-US" b="1" dirty="0">
              <a:latin typeface="Times New Roman" panose="02020603050405020304" charset="0"/>
              <a:ea typeface="楷体_GB2312" pitchFamily="49" charset="-122"/>
            </a:endParaRPr>
          </a:p>
          <a:p>
            <a:pPr marL="476250" lvl="0" indent="-476250" eaLnBrk="1" hangingPunct="1"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charset="0"/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有氧氧化时，</a:t>
            </a:r>
            <a:r>
              <a:rPr lang="en-US" altLang="zh-CN" sz="28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2NADH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进入呼吸链氧化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原核生物可产生</a:t>
            </a:r>
            <a:r>
              <a:rPr lang="en-US" altLang="zh-CN" sz="28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5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分子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ATP;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真核生物因两种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NADH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不同穿梭机制，可产生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5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分子的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ATP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。</a:t>
            </a:r>
            <a:endParaRPr lang="zh-CN" altLang="en-US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476250" lvl="0" indent="-476250" eaLnBrk="1" hangingPunct="1"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endParaRPr lang="en-US" altLang="zh-CN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476250" lvl="0" indent="-476250" eaLnBrk="1" hangingPunct="1"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无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(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缺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氧时，</a:t>
            </a:r>
            <a:r>
              <a:rPr lang="en-US" altLang="zh-CN" sz="2800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2NADH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还原丙酮酸，生成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分子乳酸或在微生物中还原乙醛成乙醇，故净产生</a:t>
            </a:r>
            <a:r>
              <a:rPr lang="en-US" altLang="zh-CN" sz="28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分子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ATP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。</a:t>
            </a:r>
            <a:endParaRPr lang="zh-CN" altLang="en-US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476250" lvl="0" indent="-476250" eaLnBrk="1" hangingPunct="1"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endParaRPr lang="zh-CN" altLang="en-US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6563" name="Rectangle 3"/>
          <p:cNvSpPr/>
          <p:nvPr/>
        </p:nvSpPr>
        <p:spPr>
          <a:xfrm>
            <a:off x="3203575" y="333375"/>
            <a:ext cx="26638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Arial" panose="02080604020202020204" pitchFamily="34" charset="0"/>
                <a:ea typeface="黑体" pitchFamily="49" charset="-122"/>
              </a:rPr>
              <a:t>NADH</a:t>
            </a:r>
            <a:r>
              <a:rPr lang="zh-CN" altLang="en-US" sz="2800" b="1" dirty="0">
                <a:latin typeface="Arial" panose="02080604020202020204" pitchFamily="34" charset="0"/>
                <a:ea typeface="黑体" pitchFamily="49" charset="-122"/>
              </a:rPr>
              <a:t>的去路</a:t>
            </a:r>
            <a:endParaRPr lang="zh-CN" altLang="en-US" sz="2800" b="1" dirty="0">
              <a:latin typeface="Arial" panose="02080604020202020204" pitchFamily="34" charset="0"/>
              <a:ea typeface="黑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2">
                                            <p:txEl>
                                              <p:charRg st="58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32802">
                                            <p:txEl>
                                              <p:charRg st="58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2">
                                            <p:txEl>
                                              <p:charRg st="125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2802">
                                            <p:txEl>
                                              <p:charRg st="125" end="1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2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2802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Text Box 2"/>
          <p:cNvSpPr txBox="1"/>
          <p:nvPr/>
        </p:nvSpPr>
        <p:spPr>
          <a:xfrm>
            <a:off x="755650" y="333375"/>
            <a:ext cx="48958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三  糖酵解生理意义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4851" name="Text Box 3"/>
          <p:cNvSpPr txBox="1"/>
          <p:nvPr/>
        </p:nvSpPr>
        <p:spPr>
          <a:xfrm>
            <a:off x="827088" y="1303338"/>
            <a:ext cx="75755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8612" name="Text Box 4"/>
          <p:cNvSpPr txBox="1"/>
          <p:nvPr/>
        </p:nvSpPr>
        <p:spPr>
          <a:xfrm>
            <a:off x="900113" y="1484313"/>
            <a:ext cx="7292975" cy="595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25000"/>
              </a:spcBef>
              <a:buFontTx/>
              <a:buNone/>
            </a:pPr>
            <a:endParaRPr lang="zh-CN" altLang="en-US" sz="3300" b="1" dirty="0"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68613" name="Text Box 5"/>
          <p:cNvSpPr txBox="1"/>
          <p:nvPr/>
        </p:nvSpPr>
        <p:spPr>
          <a:xfrm>
            <a:off x="611188" y="981075"/>
            <a:ext cx="8156575" cy="4832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1.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是葡萄糖</a:t>
            </a:r>
            <a:r>
              <a:rPr lang="zh-CN" altLang="en-US" sz="28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有氧氧化的前过程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，提供一定能量；亦是</a:t>
            </a:r>
            <a:r>
              <a:rPr lang="zh-CN" altLang="en-US" sz="28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糖异生作用大部分逆过程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非糖物质可以逆着糖酵解的途径异生成糖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但必需绕过不可逆反应。</a:t>
            </a:r>
            <a:endParaRPr lang="zh-CN" altLang="en-US" sz="2800" dirty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2.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糖酵解也是</a:t>
            </a:r>
            <a:r>
              <a:rPr lang="zh-CN" altLang="en-US" sz="28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糖、脂肪和氨基酸代谢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相联系的途径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其中间产物是许多重要物质合成的原料。</a:t>
            </a:r>
            <a:endParaRPr lang="zh-CN" altLang="en-US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3.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可在无氧条件下迅速提供能量以应激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如</a:t>
            </a: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肌肉收缩、人到高原。</a:t>
            </a:r>
            <a:endParaRPr lang="zh-CN" altLang="en-US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4.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是某些细胞在不缺氧条件下的能量来源。</a:t>
            </a:r>
            <a:endParaRPr lang="zh-CN" altLang="en-US" sz="28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8614" name="Text Box 6"/>
          <p:cNvSpPr txBox="1"/>
          <p:nvPr/>
        </p:nvSpPr>
        <p:spPr>
          <a:xfrm>
            <a:off x="2051050" y="6092825"/>
            <a:ext cx="56165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（简记为：供能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前期途径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提供碳架）</a:t>
            </a:r>
            <a:endParaRPr lang="en-US" altLang="zh-CN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34851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Text Box 2"/>
          <p:cNvSpPr txBox="1"/>
          <p:nvPr/>
        </p:nvSpPr>
        <p:spPr>
          <a:xfrm>
            <a:off x="592138" y="195263"/>
            <a:ext cx="700405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endParaRPr lang="zh-CN" altLang="en-US" sz="4000" b="1" dirty="0">
              <a:latin typeface="Times New Roman" panose="02020603050405020304" charset="0"/>
              <a:ea typeface="宋体" pitchFamily="2" charset="-122"/>
            </a:endParaRPr>
          </a:p>
        </p:txBody>
      </p:sp>
      <p:sp>
        <p:nvSpPr>
          <p:cNvPr id="70659" name="Text Box 3"/>
          <p:cNvSpPr txBox="1"/>
          <p:nvPr/>
        </p:nvSpPr>
        <p:spPr>
          <a:xfrm>
            <a:off x="808038" y="411163"/>
            <a:ext cx="700405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endParaRPr lang="zh-CN" altLang="en-US" sz="4000" b="1" dirty="0">
              <a:latin typeface="Times New Roman" panose="02020603050405020304" charset="0"/>
              <a:ea typeface="宋体" pitchFamily="2" charset="-122"/>
            </a:endParaRPr>
          </a:p>
        </p:txBody>
      </p:sp>
      <p:sp>
        <p:nvSpPr>
          <p:cNvPr id="70660" name="Text Box 4"/>
          <p:cNvSpPr txBox="1"/>
          <p:nvPr/>
        </p:nvSpPr>
        <p:spPr>
          <a:xfrm>
            <a:off x="2987675" y="333375"/>
            <a:ext cx="30956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charset="0"/>
                <a:ea typeface="黑体" pitchFamily="49" charset="-122"/>
              </a:rPr>
              <a:t>糖酵解供能</a:t>
            </a:r>
            <a:endParaRPr lang="zh-CN" altLang="en-US" sz="2800" b="1" dirty="0">
              <a:latin typeface="Times New Roman" panose="02020603050405020304" charset="0"/>
              <a:ea typeface="黑体" pitchFamily="49" charset="-122"/>
            </a:endParaRPr>
          </a:p>
        </p:txBody>
      </p:sp>
      <p:sp>
        <p:nvSpPr>
          <p:cNvPr id="336901" name="Text Box 5"/>
          <p:cNvSpPr txBox="1">
            <a:spLocks noChangeArrowheads="1"/>
          </p:cNvSpPr>
          <p:nvPr/>
        </p:nvSpPr>
        <p:spPr bwMode="auto">
          <a:xfrm>
            <a:off x="900113" y="836613"/>
            <a:ext cx="7559675" cy="3141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80604020202020204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80604020202020204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80604020202020204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剧烈运动时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⑴肌肉内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ATP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含量保持动态平衡； 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⑵肌肉中磷酸肌酸储存的能量只能供肌肉收缩所急需的化学能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; 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⑶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肌肉局部血流不足，处于相对缺氧状态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⑷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即使氧不缺乏，葡萄糖进行有氧氧化的过程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,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比糖酵解长得多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,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来不及满足需要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;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</p:txBody>
      </p:sp>
      <p:sp>
        <p:nvSpPr>
          <p:cNvPr id="70662" name="Text Box 6"/>
          <p:cNvSpPr txBox="1"/>
          <p:nvPr/>
        </p:nvSpPr>
        <p:spPr>
          <a:xfrm>
            <a:off x="900113" y="4005263"/>
            <a:ext cx="7704137" cy="2282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1C00EE"/>
                </a:solidFill>
                <a:latin typeface="隶书" pitchFamily="49" charset="-122"/>
                <a:ea typeface="隶书" pitchFamily="49" charset="-122"/>
              </a:rPr>
              <a:t>成熟红细胞，没有线粒体，完全依靠及糖酵解供能。</a:t>
            </a:r>
            <a:endParaRPr lang="zh-CN" altLang="en-US" sz="2400" dirty="0">
              <a:solidFill>
                <a:srgbClr val="1C00EE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1C00EE"/>
                </a:solidFill>
                <a:latin typeface="隶书" pitchFamily="49" charset="-122"/>
                <a:ea typeface="隶书" pitchFamily="49" charset="-122"/>
              </a:rPr>
              <a:t>神经、白细胞、骨髓等代谢极为活跃，即使不缺氧，也常由糖酵解提供能量。</a:t>
            </a:r>
            <a:endParaRPr lang="zh-CN" altLang="en-US" sz="2400" dirty="0">
              <a:solidFill>
                <a:srgbClr val="1C00EE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1C00EE"/>
                </a:solidFill>
                <a:latin typeface="隶书" pitchFamily="49" charset="-122"/>
                <a:ea typeface="隶书" pitchFamily="49" charset="-122"/>
              </a:rPr>
              <a:t>癌细胞生长活跃，不受正常细胞周期调控，糖酵解过程是重要的供能途径。</a:t>
            </a:r>
            <a:endParaRPr lang="zh-CN" altLang="en-US" sz="2400" dirty="0">
              <a:solidFill>
                <a:srgbClr val="1C00EE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22" name="Text Box 2"/>
          <p:cNvSpPr txBox="1"/>
          <p:nvPr/>
        </p:nvSpPr>
        <p:spPr>
          <a:xfrm>
            <a:off x="971550" y="765175"/>
            <a:ext cx="4103688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1C00EE"/>
                </a:solidFill>
                <a:latin typeface="Verdana" pitchFamily="34" charset="0"/>
                <a:ea typeface="隶书" pitchFamily="49" charset="-122"/>
              </a:rPr>
              <a:t>丙酮酸的去路 </a:t>
            </a:r>
            <a:r>
              <a:rPr lang="en-US" altLang="zh-CN" sz="2800" b="1" dirty="0">
                <a:solidFill>
                  <a:srgbClr val="1C00EE"/>
                </a:solidFill>
                <a:latin typeface="Verdana" pitchFamily="34" charset="0"/>
                <a:ea typeface="隶书" pitchFamily="49" charset="-122"/>
              </a:rPr>
              <a:t>1</a:t>
            </a:r>
            <a:endParaRPr lang="en-US" altLang="zh-CN" sz="2800" b="1" dirty="0">
              <a:solidFill>
                <a:srgbClr val="1C00EE"/>
              </a:solidFill>
              <a:latin typeface="Verdana" pitchFamily="34" charset="0"/>
              <a:ea typeface="隶书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187450" y="1341438"/>
            <a:ext cx="2154238" cy="1446212"/>
            <a:chOff x="295" y="1026"/>
            <a:chExt cx="1680" cy="1333"/>
          </a:xfrm>
        </p:grpSpPr>
        <p:sp>
          <p:nvSpPr>
            <p:cNvPr id="71710" name="Text Box 4"/>
            <p:cNvSpPr txBox="1"/>
            <p:nvPr/>
          </p:nvSpPr>
          <p:spPr>
            <a:xfrm>
              <a:off x="295" y="1602"/>
              <a:ext cx="1632" cy="7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charset="0"/>
                  <a:ea typeface="隶书" pitchFamily="49" charset="-122"/>
                </a:rPr>
                <a:t>丙酮酸</a:t>
              </a:r>
              <a:r>
                <a:rPr lang="zh-CN" altLang="zh-CN" sz="2400" b="1" dirty="0">
                  <a:solidFill>
                    <a:srgbClr val="000000"/>
                  </a:solidFill>
                  <a:latin typeface="Abadi MT Condensed Light" pitchFamily="34" charset="0"/>
                  <a:ea typeface="宋体" pitchFamily="2" charset="-122"/>
                </a:rPr>
                <a:t>(</a:t>
              </a:r>
              <a:r>
                <a:rPr lang="en-US" altLang="zh-CN" sz="2400" b="1" dirty="0">
                  <a:solidFill>
                    <a:srgbClr val="000000"/>
                  </a:solidFill>
                  <a:latin typeface="Abadi MT Condensed Light" pitchFamily="34" charset="0"/>
                  <a:ea typeface="宋体" pitchFamily="2" charset="-122"/>
                </a:rPr>
                <a:t>pyruvate)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itchFamily="2" charset="-122"/>
              </a:endParaRPr>
            </a:p>
          </p:txBody>
        </p:sp>
        <p:pic>
          <p:nvPicPr>
            <p:cNvPr id="71711" name="Picture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6" y="1026"/>
              <a:ext cx="1559" cy="574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3" name="Group 6"/>
          <p:cNvGrpSpPr/>
          <p:nvPr/>
        </p:nvGrpSpPr>
        <p:grpSpPr>
          <a:xfrm>
            <a:off x="5783263" y="3114675"/>
            <a:ext cx="2024062" cy="2109788"/>
            <a:chOff x="3936" y="2395"/>
            <a:chExt cx="1579" cy="1944"/>
          </a:xfrm>
        </p:grpSpPr>
        <p:sp>
          <p:nvSpPr>
            <p:cNvPr id="71708" name="Rectangle 7"/>
            <p:cNvSpPr/>
            <p:nvPr/>
          </p:nvSpPr>
          <p:spPr>
            <a:xfrm>
              <a:off x="3936" y="3918"/>
              <a:ext cx="1579" cy="4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3-</a:t>
              </a:r>
              <a:r>
                <a:rPr lang="zh-CN" altLang="en-US" sz="2400" b="1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磷酸甘油醛</a:t>
              </a:r>
              <a:endParaRPr lang="zh-CN" altLang="en-US" sz="2400" b="1" dirty="0">
                <a:solidFill>
                  <a:srgbClr val="996633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pic>
          <p:nvPicPr>
            <p:cNvPr id="7170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84" y="2395"/>
              <a:ext cx="1340" cy="1503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4" name="Group 9"/>
          <p:cNvGrpSpPr/>
          <p:nvPr/>
        </p:nvGrpSpPr>
        <p:grpSpPr>
          <a:xfrm>
            <a:off x="2339975" y="3933825"/>
            <a:ext cx="3384550" cy="506413"/>
            <a:chOff x="1536" y="3163"/>
            <a:chExt cx="2448" cy="499"/>
          </a:xfrm>
        </p:grpSpPr>
        <p:sp>
          <p:nvSpPr>
            <p:cNvPr id="71706" name="Text Box 10"/>
            <p:cNvSpPr txBox="1"/>
            <p:nvPr/>
          </p:nvSpPr>
          <p:spPr>
            <a:xfrm>
              <a:off x="1680" y="3212"/>
              <a:ext cx="2103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solidFill>
                    <a:srgbClr val="3333FF"/>
                  </a:solidFill>
                  <a:latin typeface="隶书" pitchFamily="49" charset="-122"/>
                  <a:ea typeface="隶书" pitchFamily="49" charset="-122"/>
                </a:rPr>
                <a:t>3-</a:t>
              </a:r>
              <a:r>
                <a:rPr lang="zh-CN" altLang="en-US" sz="2400" b="1" dirty="0">
                  <a:solidFill>
                    <a:srgbClr val="3333FF"/>
                  </a:solidFill>
                  <a:latin typeface="隶书" pitchFamily="49" charset="-122"/>
                  <a:ea typeface="隶书" pitchFamily="49" charset="-122"/>
                </a:rPr>
                <a:t>磷酸甘油醛脱氢酶</a:t>
              </a:r>
              <a:endParaRPr lang="zh-CN" altLang="en-US" sz="2400" dirty="0">
                <a:solidFill>
                  <a:srgbClr val="3333FF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71707" name="Line 11"/>
            <p:cNvSpPr/>
            <p:nvPr/>
          </p:nvSpPr>
          <p:spPr>
            <a:xfrm>
              <a:off x="1536" y="3163"/>
              <a:ext cx="2448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</p:grpSp>
      <p:grpSp>
        <p:nvGrpSpPr>
          <p:cNvPr id="5" name="Group 12"/>
          <p:cNvGrpSpPr/>
          <p:nvPr/>
        </p:nvGrpSpPr>
        <p:grpSpPr>
          <a:xfrm>
            <a:off x="3492500" y="2925763"/>
            <a:ext cx="2032000" cy="998537"/>
            <a:chOff x="2352" y="2251"/>
            <a:chExt cx="1585" cy="920"/>
          </a:xfrm>
        </p:grpSpPr>
        <p:sp>
          <p:nvSpPr>
            <p:cNvPr id="71703" name="Text Box 13"/>
            <p:cNvSpPr txBox="1"/>
            <p:nvPr/>
          </p:nvSpPr>
          <p:spPr>
            <a:xfrm>
              <a:off x="3552" y="2579"/>
              <a:ext cx="38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solidFill>
                    <a:srgbClr val="FF3300"/>
                  </a:solidFill>
                  <a:latin typeface="Abadi MT Condensed Light" pitchFamily="34" charset="0"/>
                  <a:ea typeface="宋体" pitchFamily="2" charset="-122"/>
                </a:rPr>
                <a:t>Pi</a:t>
              </a:r>
              <a:r>
                <a:rPr lang="en-US" altLang="zh-CN" sz="2000" b="1" dirty="0">
                  <a:latin typeface="Abadi MT Condensed Light" pitchFamily="34" charset="0"/>
                  <a:ea typeface="宋体" pitchFamily="2" charset="-122"/>
                </a:rPr>
                <a:t> </a:t>
              </a:r>
              <a:endParaRPr lang="en-US" altLang="zh-CN" sz="2000" b="1" dirty="0">
                <a:latin typeface="Abadi MT Condensed Light" pitchFamily="34" charset="0"/>
                <a:ea typeface="宋体" pitchFamily="2" charset="-122"/>
              </a:endParaRPr>
            </a:p>
          </p:txBody>
        </p:sp>
        <p:sp>
          <p:nvSpPr>
            <p:cNvPr id="71704" name="Freeform 14"/>
            <p:cNvSpPr/>
            <p:nvPr/>
          </p:nvSpPr>
          <p:spPr>
            <a:xfrm>
              <a:off x="2352" y="2251"/>
              <a:ext cx="1056" cy="920"/>
            </a:xfrm>
            <a:custGeom>
              <a:avLst/>
              <a:gdLst>
                <a:gd name="txL" fmla="*/ 0 w 1056"/>
                <a:gd name="txT" fmla="*/ 0 h 920"/>
                <a:gd name="txR" fmla="*/ 1056 w 1056"/>
                <a:gd name="txB" fmla="*/ 920 h 920"/>
              </a:gdLst>
              <a:ahLst/>
              <a:cxnLst>
                <a:cxn ang="0">
                  <a:pos x="1056" y="48"/>
                </a:cxn>
                <a:cxn ang="0">
                  <a:pos x="672" y="912"/>
                </a:cxn>
                <a:cxn ang="0">
                  <a:pos x="0" y="0"/>
                </a:cxn>
              </a:cxnLst>
              <a:rect l="txL" t="txT" r="txR" b="txB"/>
              <a:pathLst>
                <a:path w="1056" h="920">
                  <a:moveTo>
                    <a:pt x="1056" y="48"/>
                  </a:moveTo>
                  <a:cubicBezTo>
                    <a:pt x="952" y="484"/>
                    <a:pt x="848" y="920"/>
                    <a:pt x="672" y="912"/>
                  </a:cubicBezTo>
                  <a:cubicBezTo>
                    <a:pt x="496" y="904"/>
                    <a:pt x="112" y="152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705" name="Freeform 15"/>
            <p:cNvSpPr/>
            <p:nvPr/>
          </p:nvSpPr>
          <p:spPr>
            <a:xfrm>
              <a:off x="3072" y="2731"/>
              <a:ext cx="576" cy="432"/>
            </a:xfrm>
            <a:custGeom>
              <a:avLst/>
              <a:gdLst>
                <a:gd name="txL" fmla="*/ 0 w 336"/>
                <a:gd name="txT" fmla="*/ 0 h 432"/>
                <a:gd name="txR" fmla="*/ 336 w 336"/>
                <a:gd name="txB" fmla="*/ 432 h 432"/>
              </a:gdLst>
              <a:ahLst/>
              <a:cxnLst>
                <a:cxn ang="0">
                  <a:pos x="126214" y="0"/>
                </a:cxn>
                <a:cxn ang="0">
                  <a:pos x="54082" y="336"/>
                </a:cxn>
                <a:cxn ang="0">
                  <a:pos x="0" y="432"/>
                </a:cxn>
              </a:cxnLst>
              <a:rect l="txL" t="txT" r="txR" b="txB"/>
              <a:pathLst>
                <a:path w="336" h="432">
                  <a:moveTo>
                    <a:pt x="336" y="0"/>
                  </a:moveTo>
                  <a:cubicBezTo>
                    <a:pt x="268" y="132"/>
                    <a:pt x="200" y="264"/>
                    <a:pt x="144" y="336"/>
                  </a:cubicBezTo>
                  <a:cubicBezTo>
                    <a:pt x="88" y="408"/>
                    <a:pt x="24" y="416"/>
                    <a:pt x="0" y="432"/>
                  </a:cubicBez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6" name="Group 16"/>
          <p:cNvGrpSpPr/>
          <p:nvPr/>
        </p:nvGrpSpPr>
        <p:grpSpPr>
          <a:xfrm>
            <a:off x="6227763" y="1270000"/>
            <a:ext cx="1908175" cy="1795463"/>
            <a:chOff x="3862" y="869"/>
            <a:chExt cx="1488" cy="1655"/>
          </a:xfrm>
        </p:grpSpPr>
        <p:sp>
          <p:nvSpPr>
            <p:cNvPr id="71701" name="Rectangle 17"/>
            <p:cNvSpPr/>
            <p:nvPr/>
          </p:nvSpPr>
          <p:spPr>
            <a:xfrm>
              <a:off x="4282" y="1766"/>
              <a:ext cx="1056" cy="7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charset="0"/>
                  <a:ea typeface="隶书" pitchFamily="49" charset="-122"/>
                </a:rPr>
                <a:t>乳酸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charset="0"/>
                <a:ea typeface="隶书" pitchFamily="49" charset="-122"/>
              </a:endParaRPr>
            </a:p>
            <a:p>
              <a:pPr marL="0" lvl="0" indent="0" algn="ctr">
                <a:spcBef>
                  <a:spcPct val="0"/>
                </a:spcBef>
                <a:buFontTx/>
                <a:buNone/>
              </a:pPr>
              <a:r>
                <a:rPr lang="zh-CN" altLang="zh-CN" sz="2400" b="1" dirty="0">
                  <a:solidFill>
                    <a:srgbClr val="000000"/>
                  </a:solidFill>
                  <a:latin typeface="Abadi MT Condensed Light" pitchFamily="34" charset="0"/>
                  <a:ea typeface="宋体" pitchFamily="2" charset="-122"/>
                </a:rPr>
                <a:t>(</a:t>
              </a:r>
              <a:r>
                <a:rPr lang="en-US" altLang="zh-CN" sz="2400" b="1" dirty="0">
                  <a:solidFill>
                    <a:srgbClr val="000000"/>
                  </a:solidFill>
                  <a:latin typeface="Abadi MT Condensed Light" pitchFamily="34" charset="0"/>
                  <a:ea typeface="宋体" pitchFamily="2" charset="-122"/>
                </a:rPr>
                <a:t>lactate)</a:t>
              </a:r>
              <a:endPara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itchFamily="2" charset="-122"/>
              </a:endParaRPr>
            </a:p>
          </p:txBody>
        </p:sp>
        <p:pic>
          <p:nvPicPr>
            <p:cNvPr id="71702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2" y="869"/>
              <a:ext cx="1488" cy="874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" name="Group 19"/>
          <p:cNvGrpSpPr/>
          <p:nvPr/>
        </p:nvGrpSpPr>
        <p:grpSpPr>
          <a:xfrm>
            <a:off x="3348038" y="1341438"/>
            <a:ext cx="2533650" cy="517525"/>
            <a:chOff x="2038" y="984"/>
            <a:chExt cx="1728" cy="477"/>
          </a:xfrm>
        </p:grpSpPr>
        <p:sp>
          <p:nvSpPr>
            <p:cNvPr id="71699" name="Text Box 20"/>
            <p:cNvSpPr txBox="1"/>
            <p:nvPr/>
          </p:nvSpPr>
          <p:spPr>
            <a:xfrm>
              <a:off x="2216" y="984"/>
              <a:ext cx="1401" cy="4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3333FF"/>
                  </a:solidFill>
                  <a:latin typeface="Times New Roman" panose="02020603050405020304" charset="0"/>
                  <a:ea typeface="隶书" pitchFamily="49" charset="-122"/>
                </a:rPr>
                <a:t>乳酸脱氢酶</a:t>
              </a:r>
              <a:endParaRPr lang="zh-CN" altLang="en-US" sz="2800" dirty="0">
                <a:latin typeface="Times New Roman" panose="02020603050405020304" charset="0"/>
                <a:ea typeface="隶书" pitchFamily="49" charset="-122"/>
              </a:endParaRPr>
            </a:p>
          </p:txBody>
        </p:sp>
        <p:sp>
          <p:nvSpPr>
            <p:cNvPr id="71700" name="Line 21"/>
            <p:cNvSpPr/>
            <p:nvPr/>
          </p:nvSpPr>
          <p:spPr>
            <a:xfrm>
              <a:off x="2038" y="1349"/>
              <a:ext cx="172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arrow" w="med" len="med"/>
              <a:tailEnd type="arrow" w="med" len="med"/>
            </a:ln>
          </p:spPr>
        </p:sp>
      </p:grpSp>
      <p:grpSp>
        <p:nvGrpSpPr>
          <p:cNvPr id="8" name="Group 22"/>
          <p:cNvGrpSpPr/>
          <p:nvPr/>
        </p:nvGrpSpPr>
        <p:grpSpPr>
          <a:xfrm>
            <a:off x="3276600" y="1773238"/>
            <a:ext cx="2393950" cy="1117600"/>
            <a:chOff x="2068" y="1349"/>
            <a:chExt cx="1868" cy="1030"/>
          </a:xfrm>
        </p:grpSpPr>
        <p:sp>
          <p:nvSpPr>
            <p:cNvPr id="71696" name="Text Box 23"/>
            <p:cNvSpPr txBox="1"/>
            <p:nvPr/>
          </p:nvSpPr>
          <p:spPr>
            <a:xfrm>
              <a:off x="2068" y="2035"/>
              <a:ext cx="962" cy="3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 dirty="0">
                  <a:latin typeface="Abadi MT Condensed Light" pitchFamily="34" charset="0"/>
                  <a:ea typeface="宋体" pitchFamily="2" charset="-122"/>
                </a:rPr>
                <a:t>NAD</a:t>
              </a:r>
              <a:r>
                <a:rPr lang="en-US" altLang="zh-CN" sz="1800" b="1" i="1" dirty="0">
                  <a:solidFill>
                    <a:srgbClr val="FF0066"/>
                  </a:solidFill>
                  <a:latin typeface="Abadi MT Condensed Light" pitchFamily="34" charset="0"/>
                  <a:ea typeface="宋体" pitchFamily="2" charset="-122"/>
                </a:rPr>
                <a:t>H</a:t>
              </a:r>
              <a:r>
                <a:rPr lang="en-US" altLang="zh-CN" sz="1800" b="1" i="1" dirty="0">
                  <a:latin typeface="Abadi MT Condensed Light" pitchFamily="34" charset="0"/>
                  <a:ea typeface="宋体" pitchFamily="2" charset="-122"/>
                </a:rPr>
                <a:t>+</a:t>
              </a:r>
              <a:r>
                <a:rPr lang="en-US" altLang="zh-CN" sz="1800" b="1" i="1" dirty="0">
                  <a:solidFill>
                    <a:srgbClr val="FF0066"/>
                  </a:solidFill>
                  <a:latin typeface="Abadi MT Condensed Light" pitchFamily="34" charset="0"/>
                  <a:ea typeface="宋体" pitchFamily="2" charset="-122"/>
                </a:rPr>
                <a:t>H</a:t>
              </a:r>
              <a:r>
                <a:rPr lang="en-US" altLang="zh-CN" sz="1800" b="1" i="1" baseline="30000" dirty="0">
                  <a:solidFill>
                    <a:srgbClr val="FF0066"/>
                  </a:solidFill>
                  <a:latin typeface="Abadi MT Condensed Light" pitchFamily="34" charset="0"/>
                  <a:ea typeface="宋体" pitchFamily="2" charset="-122"/>
                </a:rPr>
                <a:t>+</a:t>
              </a:r>
              <a:endParaRPr lang="en-US" altLang="zh-CN" sz="1800" b="1" dirty="0">
                <a:latin typeface="Abadi MT Condensed Light" pitchFamily="34" charset="0"/>
                <a:ea typeface="宋体" pitchFamily="2" charset="-122"/>
              </a:endParaRPr>
            </a:p>
          </p:txBody>
        </p:sp>
        <p:sp>
          <p:nvSpPr>
            <p:cNvPr id="71697" name="Freeform 24"/>
            <p:cNvSpPr/>
            <p:nvPr/>
          </p:nvSpPr>
          <p:spPr>
            <a:xfrm>
              <a:off x="2374" y="1349"/>
              <a:ext cx="1200" cy="584"/>
            </a:xfrm>
            <a:custGeom>
              <a:avLst/>
              <a:gdLst>
                <a:gd name="txL" fmla="*/ 0 w 1104"/>
                <a:gd name="txT" fmla="*/ 0 h 536"/>
                <a:gd name="txR" fmla="*/ 1104 w 1104"/>
                <a:gd name="txB" fmla="*/ 536 h 536"/>
              </a:gdLst>
              <a:ahLst/>
              <a:cxnLst>
                <a:cxn ang="0">
                  <a:pos x="0" y="1376"/>
                </a:cxn>
                <a:cxn ang="0">
                  <a:pos x="1321" y="21"/>
                </a:cxn>
                <a:cxn ang="0">
                  <a:pos x="2761" y="1256"/>
                </a:cxn>
              </a:cxnLst>
              <a:rect l="txL" t="txT" r="txR" b="txB"/>
              <a:pathLst>
                <a:path w="1104" h="536">
                  <a:moveTo>
                    <a:pt x="0" y="536"/>
                  </a:moveTo>
                  <a:cubicBezTo>
                    <a:pt x="172" y="276"/>
                    <a:pt x="344" y="16"/>
                    <a:pt x="528" y="8"/>
                  </a:cubicBezTo>
                  <a:cubicBezTo>
                    <a:pt x="712" y="0"/>
                    <a:pt x="1008" y="408"/>
                    <a:pt x="1104" y="488"/>
                  </a:cubicBez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698" name="Text Box 25"/>
            <p:cNvSpPr txBox="1"/>
            <p:nvPr/>
          </p:nvSpPr>
          <p:spPr>
            <a:xfrm>
              <a:off x="3287" y="2041"/>
              <a:ext cx="649" cy="3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latin typeface="Abadi MT Condensed Light" pitchFamily="34" charset="0"/>
                  <a:ea typeface="宋体" pitchFamily="2" charset="-122"/>
                </a:rPr>
                <a:t>NAD </a:t>
              </a:r>
              <a:r>
                <a:rPr lang="en-US" altLang="zh-CN" sz="1800" b="1" baseline="30000" dirty="0">
                  <a:latin typeface="Abadi MT Condensed Light" pitchFamily="34" charset="0"/>
                  <a:ea typeface="宋体" pitchFamily="2" charset="-122"/>
                </a:rPr>
                <a:t>+</a:t>
              </a:r>
              <a:endParaRPr lang="en-US" altLang="zh-CN" sz="1800" b="1" baseline="30000" dirty="0">
                <a:latin typeface="Abadi MT Condensed Light" pitchFamily="34" charset="0"/>
                <a:ea typeface="宋体" pitchFamily="2" charset="-122"/>
              </a:endParaRPr>
            </a:p>
          </p:txBody>
        </p:sp>
      </p:grpSp>
      <p:grpSp>
        <p:nvGrpSpPr>
          <p:cNvPr id="9" name="Group 26"/>
          <p:cNvGrpSpPr/>
          <p:nvPr/>
        </p:nvGrpSpPr>
        <p:grpSpPr>
          <a:xfrm>
            <a:off x="539750" y="2925763"/>
            <a:ext cx="2232025" cy="2035175"/>
            <a:chOff x="0" y="2395"/>
            <a:chExt cx="1632" cy="1855"/>
          </a:xfrm>
        </p:grpSpPr>
        <p:pic>
          <p:nvPicPr>
            <p:cNvPr id="71694" name="Picture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4" y="2395"/>
              <a:ext cx="1340" cy="150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695" name="Text Box 28"/>
            <p:cNvSpPr txBox="1"/>
            <p:nvPr/>
          </p:nvSpPr>
          <p:spPr>
            <a:xfrm>
              <a:off x="0" y="3888"/>
              <a:ext cx="1632" cy="36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FontTx/>
                <a:buNone/>
              </a:pPr>
              <a:r>
                <a:rPr lang="en-US" altLang="zh-CN" sz="2000" b="1" dirty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</a:rPr>
                <a:t>1,3-</a:t>
              </a:r>
              <a:r>
                <a:rPr lang="zh-CN" altLang="en-US" sz="2000" b="1" dirty="0">
                  <a:solidFill>
                    <a:srgbClr val="000000"/>
                  </a:solidFill>
                  <a:latin typeface="隶书" pitchFamily="49" charset="-122"/>
                  <a:ea typeface="隶书" pitchFamily="49" charset="-122"/>
                </a:rPr>
                <a:t>二磷酸甘油酸</a:t>
              </a:r>
              <a:endParaRPr lang="zh-CN" altLang="zh-CN" sz="2000" b="1" dirty="0">
                <a:solidFill>
                  <a:srgbClr val="996633"/>
                </a:solidFill>
                <a:latin typeface="隶书" pitchFamily="49" charset="-122"/>
                <a:ea typeface="隶书" pitchFamily="49" charset="-122"/>
              </a:endParaRPr>
            </a:p>
          </p:txBody>
        </p:sp>
      </p:grpSp>
      <p:sp>
        <p:nvSpPr>
          <p:cNvPr id="71691" name="Text Box 29"/>
          <p:cNvSpPr txBox="1"/>
          <p:nvPr/>
        </p:nvSpPr>
        <p:spPr>
          <a:xfrm>
            <a:off x="1173163" y="3227388"/>
            <a:ext cx="12192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FF3300"/>
                </a:solidFill>
                <a:latin typeface="Times New Roman" panose="02020603050405020304" charset="0"/>
                <a:ea typeface="宋体" pitchFamily="2" charset="-122"/>
              </a:rPr>
              <a:t>OPO </a:t>
            </a:r>
            <a:r>
              <a:rPr lang="en-US" altLang="zh-CN" sz="1800" b="1" baseline="-25000" dirty="0">
                <a:solidFill>
                  <a:srgbClr val="FF3300"/>
                </a:solidFill>
                <a:latin typeface="Times New Roman" panose="02020603050405020304" charset="0"/>
                <a:ea typeface="宋体" pitchFamily="2" charset="-122"/>
              </a:rPr>
              <a:t>3</a:t>
            </a:r>
            <a:r>
              <a:rPr lang="en-US" altLang="zh-CN" sz="1800" b="1" dirty="0">
                <a:solidFill>
                  <a:srgbClr val="FF3300"/>
                </a:solidFill>
                <a:latin typeface="Times New Roman" panose="02020603050405020304" charset="0"/>
                <a:ea typeface="宋体" pitchFamily="2" charset="-122"/>
              </a:rPr>
              <a:t> </a:t>
            </a:r>
            <a:r>
              <a:rPr lang="en-US" altLang="zh-CN" sz="1800" b="1" baseline="30000" dirty="0">
                <a:solidFill>
                  <a:srgbClr val="FF3300"/>
                </a:solidFill>
                <a:latin typeface="Times New Roman" panose="02020603050405020304" charset="0"/>
                <a:ea typeface="宋体" pitchFamily="2" charset="-122"/>
              </a:rPr>
              <a:t>2</a:t>
            </a:r>
            <a:endParaRPr lang="en-US" altLang="zh-CN" sz="1800" b="1" baseline="30000" dirty="0">
              <a:solidFill>
                <a:srgbClr val="FF3300"/>
              </a:solidFill>
              <a:latin typeface="Times New Roman" panose="02020603050405020304" charset="0"/>
              <a:ea typeface="宋体" pitchFamily="2" charset="-122"/>
            </a:endParaRPr>
          </a:p>
        </p:txBody>
      </p:sp>
      <p:sp>
        <p:nvSpPr>
          <p:cNvPr id="71692" name="Rectangle 30"/>
          <p:cNvSpPr/>
          <p:nvPr/>
        </p:nvSpPr>
        <p:spPr>
          <a:xfrm>
            <a:off x="2843213" y="260350"/>
            <a:ext cx="41767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四 丙酮酸的去路 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(p80)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7951" name="Text Box 31"/>
          <p:cNvSpPr txBox="1"/>
          <p:nvPr/>
        </p:nvSpPr>
        <p:spPr>
          <a:xfrm>
            <a:off x="755650" y="5527675"/>
            <a:ext cx="7632700" cy="830263"/>
          </a:xfrm>
          <a:prstGeom prst="rect">
            <a:avLst/>
          </a:prstGeom>
          <a:noFill/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0000CC"/>
                </a:solidFill>
                <a:latin typeface="Arial" panose="02080604020202020204" pitchFamily="34" charset="0"/>
                <a:ea typeface="隶书" pitchFamily="49" charset="-122"/>
              </a:rPr>
              <a:t>乳酸循环</a:t>
            </a:r>
            <a:r>
              <a:rPr lang="en-US" altLang="zh-CN" sz="2400" dirty="0">
                <a:latin typeface="Arial" panose="02080604020202020204" pitchFamily="34" charset="0"/>
                <a:ea typeface="隶书" pitchFamily="49" charset="-122"/>
              </a:rPr>
              <a:t>:</a:t>
            </a:r>
            <a:r>
              <a:rPr lang="zh-CN" altLang="en-US" sz="2400" dirty="0">
                <a:latin typeface="Arial" panose="02080604020202020204" pitchFamily="34" charset="0"/>
                <a:ea typeface="隶书" pitchFamily="49" charset="-122"/>
              </a:rPr>
              <a:t>肌肉细胞产生乳酸</a:t>
            </a:r>
            <a:r>
              <a:rPr lang="en-US" altLang="zh-CN" sz="2400" dirty="0">
                <a:latin typeface="Arial" panose="02080604020202020204" pitchFamily="34" charset="0"/>
                <a:ea typeface="隶书" pitchFamily="49" charset="-122"/>
              </a:rPr>
              <a:t>,</a:t>
            </a:r>
            <a:r>
              <a:rPr lang="zh-CN" altLang="en-US" sz="2400" dirty="0">
                <a:latin typeface="Arial" panose="02080604020202020204" pitchFamily="34" charset="0"/>
                <a:ea typeface="隶书" pitchFamily="49" charset="-122"/>
              </a:rPr>
              <a:t>通过血液循环回到肝脏</a:t>
            </a:r>
            <a:r>
              <a:rPr lang="en-US" altLang="zh-CN" sz="2400" dirty="0">
                <a:latin typeface="Arial" panose="02080604020202020204" pitchFamily="34" charset="0"/>
                <a:ea typeface="隶书" pitchFamily="49" charset="-122"/>
              </a:rPr>
              <a:t>, </a:t>
            </a:r>
            <a:r>
              <a:rPr lang="zh-CN" altLang="en-US" sz="2400" dirty="0">
                <a:latin typeface="Arial" panose="02080604020202020204" pitchFamily="34" charset="0"/>
                <a:ea typeface="隶书" pitchFamily="49" charset="-122"/>
              </a:rPr>
              <a:t>在一系列酶的催化下经过糖异生途径重新生成葡萄糖</a:t>
            </a:r>
            <a:r>
              <a:rPr lang="en-US" altLang="zh-CN" sz="2400" dirty="0">
                <a:latin typeface="Arial" panose="02080604020202020204" pitchFamily="34" charset="0"/>
                <a:ea typeface="隶书" pitchFamily="49" charset="-122"/>
              </a:rPr>
              <a:t>.</a:t>
            </a:r>
            <a:endParaRPr lang="en-US" altLang="zh-CN" sz="2400" dirty="0">
              <a:latin typeface="Arial" panose="02080604020202020204" pitchFamily="34" charset="0"/>
              <a:ea typeface="隶书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1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37951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373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5888"/>
            <a:ext cx="7164388" cy="24145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3731" name="文本框 2"/>
          <p:cNvSpPr txBox="1"/>
          <p:nvPr/>
        </p:nvSpPr>
        <p:spPr>
          <a:xfrm>
            <a:off x="0" y="2492375"/>
            <a:ext cx="9036050" cy="4678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None/>
            </a:pPr>
            <a:r>
              <a:rPr lang="en-US" altLang="zh-CN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1921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年，德国科学家 </a:t>
            </a:r>
            <a:r>
              <a:rPr lang="en-US" altLang="zh-CN" sz="2000" b="1" dirty="0">
                <a:solidFill>
                  <a:srgbClr val="0052FF"/>
                </a:solidFill>
                <a:latin typeface="微软雅黑" pitchFamily="34" charset="-122"/>
                <a:ea typeface="微软雅黑" pitchFamily="34" charset="-122"/>
              </a:rPr>
              <a:t>Otto Warburg 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观察到一种奇怪的现象：</a:t>
            </a:r>
            <a:r>
              <a:rPr lang="zh-CN" altLang="en-US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癌细胞的糖酵解异常活跃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，即使在氧气充足的条件下，癌细胞糖酵解一样活跃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。这种癌细胞在有氧状态下的糖酵解方式也被称为“</a:t>
            </a:r>
            <a:r>
              <a:rPr lang="en-US" altLang="zh-CN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Warburg</a:t>
            </a:r>
            <a:r>
              <a:rPr lang="zh-CN" altLang="en-US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效应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”，</a:t>
            </a:r>
            <a:r>
              <a:rPr lang="en-US" altLang="zh-CN" sz="2000" b="1" dirty="0">
                <a:solidFill>
                  <a:srgbClr val="0052FF"/>
                </a:solidFill>
                <a:latin typeface="微软雅黑" pitchFamily="34" charset="-122"/>
                <a:ea typeface="微软雅黑" pitchFamily="34" charset="-122"/>
              </a:rPr>
              <a:t>Otto Warburg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也因为发现细胞呼吸氧化转移酶而获得了</a:t>
            </a:r>
            <a:r>
              <a:rPr lang="en-US" altLang="zh-CN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1931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年的诺贝尔生理或医学奖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癌细胞为何会采用这种低效的糖酵解方式呢？</a:t>
            </a:r>
            <a:endParaRPr lang="en-US" altLang="zh-CN" sz="20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endParaRPr lang="en-US" altLang="zh-CN" sz="20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2021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月</a:t>
            </a:r>
            <a:r>
              <a:rPr lang="en-US" altLang="zh-CN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21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日，美国纪念斯隆凯斯特琳癌症中心</a:t>
            </a:r>
            <a:r>
              <a:rPr lang="zh-CN" altLang="en-US" sz="2000" b="1" dirty="0">
                <a:solidFill>
                  <a:srgbClr val="0052FF"/>
                </a:solidFill>
                <a:latin typeface="微软雅黑" pitchFamily="34" charset="-122"/>
                <a:ea typeface="微软雅黑" pitchFamily="34" charset="-122"/>
              </a:rPr>
              <a:t>李明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团队研究为“</a:t>
            </a:r>
            <a:r>
              <a:rPr lang="en-US" altLang="zh-CN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Warburg</a:t>
            </a:r>
            <a:r>
              <a:rPr lang="zh-CN" altLang="en-US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效应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”提出了一个新的答案。该研究表明，</a:t>
            </a:r>
            <a:r>
              <a:rPr lang="en-US" altLang="zh-CN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Warburg</a:t>
            </a:r>
            <a:r>
              <a:rPr lang="zh-CN" altLang="en-US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代谢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PI3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激酶</a:t>
            </a:r>
            <a:r>
              <a:rPr lang="zh-CN" altLang="en-US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PI3K</a:t>
            </a:r>
            <a:r>
              <a:rPr lang="zh-CN" altLang="en-US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的活性之间有着先前未发现的联系，这种联系通过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乳酸脱氢酶</a:t>
            </a:r>
            <a:r>
              <a:rPr lang="en-US" altLang="zh-CN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LDHA</a:t>
            </a:r>
            <a:r>
              <a:rPr lang="zh-CN" altLang="en-US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实现。</a:t>
            </a:r>
            <a:endParaRPr lang="zh-CN" altLang="en-US" sz="2000" dirty="0">
              <a:solidFill>
                <a:srgbClr val="20202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zh-CN" altLang="en-US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癌细胞可以利用</a:t>
            </a:r>
            <a:r>
              <a:rPr lang="en-US" altLang="zh-CN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Warburg</a:t>
            </a:r>
            <a:r>
              <a:rPr lang="zh-CN" altLang="en-US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代谢来维持</a:t>
            </a:r>
            <a:r>
              <a:rPr lang="en-US" altLang="zh-CN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PI3K</a:t>
            </a:r>
            <a:r>
              <a:rPr lang="zh-CN" altLang="en-US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信号通路的活性，从而确保癌细胞的持续生长和分裂。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这一发现挑战了教科书上长期以来的观点，更重要的是，这项研究提出了一种有前景的癌症治疗方法，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通过抑制乳酸脱氢酶</a:t>
            </a:r>
            <a:r>
              <a:rPr lang="en-US" altLang="zh-CN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LDHA</a:t>
            </a:r>
            <a:r>
              <a:rPr lang="zh-CN" altLang="en-US" sz="2000" b="1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这一</a:t>
            </a:r>
            <a:r>
              <a:rPr lang="en-US" altLang="zh-CN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Warburg“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开关”，可以抑制癌细胞生长，进而用于治疗癌症。</a:t>
            </a:r>
            <a:endParaRPr lang="zh-CN" altLang="en-US" sz="2000" dirty="0">
              <a:solidFill>
                <a:srgbClr val="20202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endParaRPr lang="zh-CN" altLang="en-US" dirty="0">
              <a:latin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文本框 2"/>
          <p:cNvSpPr txBox="1"/>
          <p:nvPr/>
        </p:nvSpPr>
        <p:spPr>
          <a:xfrm>
            <a:off x="323850" y="304800"/>
            <a:ext cx="8640763" cy="6248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None/>
            </a:pP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当免疫系统发现出现感染时，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活化的效应</a:t>
            </a:r>
            <a:r>
              <a:rPr lang="en-US" altLang="zh-CN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T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细胞</a:t>
            </a:r>
            <a:r>
              <a:rPr lang="zh-CN" altLang="en-US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Teff</a:t>
            </a:r>
            <a:r>
              <a:rPr lang="zh-CN" altLang="en-US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会随着数量的增长和抗感染机制加强，从典型的有氧代谢方式转变为</a:t>
            </a:r>
            <a:r>
              <a:rPr lang="en-US" altLang="zh-CN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Warburg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代谢。控制这种转变的关键开关是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乳酸脱氢酶</a:t>
            </a:r>
            <a:r>
              <a:rPr lang="en-US" altLang="zh-CN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LDHA</a:t>
            </a:r>
            <a:r>
              <a:rPr lang="zh-CN" altLang="en-US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，该酶是响应</a:t>
            </a:r>
            <a:r>
              <a:rPr lang="en-US" altLang="zh-CN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PI3K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信号转导而产生。</a:t>
            </a:r>
            <a:endParaRPr lang="zh-CN" altLang="en-US" sz="2000" dirty="0">
              <a:solidFill>
                <a:srgbClr val="20202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这种转换带来的结果是，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葡萄糖仅部分分解后就在细胞质中迅速产生</a:t>
            </a:r>
            <a:r>
              <a:rPr lang="en-US" altLang="zh-CN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ATP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供能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，而不用等待在线粒体中的进一步分解。</a:t>
            </a:r>
            <a:endParaRPr lang="zh-CN" altLang="en-US" sz="2000" dirty="0">
              <a:solidFill>
                <a:srgbClr val="20202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李明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团队发现，在小鼠中，缺乏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乳酸脱氢酶</a:t>
            </a:r>
            <a:r>
              <a:rPr lang="en-US" altLang="zh-CN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LDHA</a:t>
            </a:r>
            <a:r>
              <a:rPr lang="zh-CN" altLang="en-US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T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细胞不能维持其</a:t>
            </a:r>
            <a:r>
              <a:rPr lang="en-US" altLang="zh-CN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PI3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激酶</a:t>
            </a:r>
            <a:r>
              <a:rPr lang="zh-CN" altLang="en-US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PI3K</a:t>
            </a:r>
            <a:r>
              <a:rPr lang="zh-CN" altLang="en-US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活性，因此不能有效抵抗感染。</a:t>
            </a:r>
            <a:endParaRPr lang="zh-CN" altLang="en-US" sz="2000" dirty="0">
              <a:solidFill>
                <a:srgbClr val="20202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而该研究发现，像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乳酸脱氢酶</a:t>
            </a:r>
            <a:r>
              <a:rPr lang="en-US" altLang="zh-CN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LDHA</a:t>
            </a:r>
            <a:r>
              <a:rPr lang="zh-CN" altLang="en-US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这种代谢酶可以通过</a:t>
            </a:r>
            <a:r>
              <a:rPr lang="en-US" altLang="zh-CN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PI3K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影响生长因子信号转导，</a:t>
            </a:r>
            <a:r>
              <a:rPr lang="zh-CN" altLang="en-US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这一发现挑战了教科书上长期以来的观点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dirty="0">
              <a:solidFill>
                <a:srgbClr val="20202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buNone/>
            </a:pPr>
            <a:r>
              <a:rPr lang="en-US" altLang="zh-CN" sz="2000" b="1" dirty="0">
                <a:solidFill>
                  <a:srgbClr val="021EAA"/>
                </a:solidFill>
                <a:latin typeface="微软雅黑" pitchFamily="34" charset="-122"/>
                <a:ea typeface="微软雅黑" pitchFamily="34" charset="-122"/>
              </a:rPr>
              <a:t>T</a:t>
            </a:r>
            <a:r>
              <a:rPr lang="zh-CN" altLang="en-US" sz="2000" b="1" dirty="0">
                <a:solidFill>
                  <a:srgbClr val="021EAA"/>
                </a:solidFill>
                <a:latin typeface="微软雅黑" pitchFamily="34" charset="-122"/>
                <a:ea typeface="微软雅黑" pitchFamily="34" charset="-122"/>
              </a:rPr>
              <a:t>细胞为何采取</a:t>
            </a:r>
            <a:r>
              <a:rPr lang="en-US" altLang="zh-CN" sz="2000" b="1" dirty="0">
                <a:solidFill>
                  <a:srgbClr val="021EAA"/>
                </a:solidFill>
                <a:latin typeface="微软雅黑" pitchFamily="34" charset="-122"/>
                <a:ea typeface="微软雅黑" pitchFamily="34" charset="-122"/>
              </a:rPr>
              <a:t>Warburg</a:t>
            </a:r>
            <a:r>
              <a:rPr lang="zh-CN" altLang="en-US" sz="2000" b="1" dirty="0">
                <a:solidFill>
                  <a:srgbClr val="021EAA"/>
                </a:solidFill>
                <a:latin typeface="微软雅黑" pitchFamily="34" charset="-122"/>
                <a:ea typeface="微软雅黑" pitchFamily="34" charset="-122"/>
              </a:rPr>
              <a:t>代谢</a:t>
            </a:r>
            <a:endParaRPr lang="zh-CN" altLang="en-US" sz="2000" dirty="0">
              <a:solidFill>
                <a:srgbClr val="20202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像其他激酶一样，</a:t>
            </a:r>
            <a:r>
              <a:rPr lang="en-US" altLang="zh-CN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PI3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激酶</a:t>
            </a:r>
            <a:r>
              <a:rPr lang="zh-CN" altLang="en-US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PI3K</a:t>
            </a:r>
            <a:r>
              <a:rPr lang="zh-CN" altLang="en-US" sz="2000" dirty="0">
                <a:solidFill>
                  <a:srgbClr val="888888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依靠消耗</a:t>
            </a:r>
            <a:r>
              <a:rPr lang="en-US" altLang="zh-CN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ATP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来发挥功能，由于</a:t>
            </a:r>
            <a:r>
              <a:rPr lang="en-US" altLang="zh-CN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ATP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en-US" altLang="zh-CN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Warburg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代谢的净产物，因此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Warburg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代谢和</a:t>
            </a:r>
            <a:r>
              <a:rPr lang="en-US" altLang="zh-CN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PI3K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活性之间会建立一个正反馈回路，从而确保</a:t>
            </a:r>
            <a:r>
              <a:rPr lang="en-US" altLang="zh-CN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PI3K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的持续活性，确保细胞分裂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dirty="0">
              <a:solidFill>
                <a:srgbClr val="333333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buNone/>
            </a:pPr>
            <a:r>
              <a:rPr lang="zh-CN" altLang="en-US" sz="2000" b="1" dirty="0">
                <a:solidFill>
                  <a:srgbClr val="021EAA"/>
                </a:solidFill>
                <a:latin typeface="微软雅黑" pitchFamily="34" charset="-122"/>
                <a:ea typeface="微软雅黑" pitchFamily="34" charset="-122"/>
              </a:rPr>
              <a:t>与癌症的联系</a:t>
            </a:r>
            <a:endParaRPr lang="zh-CN" altLang="en-US" sz="2000" dirty="0">
              <a:solidFill>
                <a:srgbClr val="20202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与免疫细胞一样，</a:t>
            </a:r>
            <a:r>
              <a:rPr lang="zh-CN" altLang="en-US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癌细胞可以利用</a:t>
            </a:r>
            <a:r>
              <a:rPr lang="en-US" altLang="zh-CN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Warburg</a:t>
            </a:r>
            <a:r>
              <a:rPr lang="zh-CN" altLang="en-US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代谢来维持</a:t>
            </a:r>
            <a:r>
              <a:rPr lang="en-US" altLang="zh-CN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PI3K</a:t>
            </a:r>
            <a:r>
              <a:rPr lang="zh-CN" altLang="en-US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信号通路的活性，从而确保癌细胞的持续生长和分裂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000" dirty="0">
              <a:solidFill>
                <a:srgbClr val="20202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这项研究为“</a:t>
            </a:r>
            <a:r>
              <a:rPr lang="en-US" altLang="zh-CN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Warburg</a:t>
            </a:r>
            <a:r>
              <a:rPr lang="zh-CN" altLang="en-US" sz="2000" b="1" dirty="0">
                <a:solidFill>
                  <a:srgbClr val="D92142"/>
                </a:solidFill>
                <a:latin typeface="微软雅黑" pitchFamily="34" charset="-122"/>
                <a:ea typeface="微软雅黑" pitchFamily="34" charset="-122"/>
              </a:rPr>
              <a:t>效应</a:t>
            </a:r>
            <a:r>
              <a:rPr lang="zh-CN" altLang="en-US" sz="2000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”提出了一个新的答案。癌细胞之所以选择低效的糖酵解方式，是因为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这种代谢方式能够维持</a:t>
            </a:r>
            <a:r>
              <a:rPr lang="en-US" altLang="zh-CN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PI3K</a:t>
            </a:r>
            <a:r>
              <a:rPr lang="zh-CN" altLang="en-US" sz="2000" b="1" dirty="0">
                <a:solidFill>
                  <a:srgbClr val="333333"/>
                </a:solidFill>
                <a:latin typeface="微软雅黑" pitchFamily="34" charset="-122"/>
                <a:ea typeface="微软雅黑" pitchFamily="34" charset="-122"/>
              </a:rPr>
              <a:t>信号通路的活性，从而确保癌细胞的持续生长和分裂。</a:t>
            </a:r>
            <a:endParaRPr lang="zh-CN" altLang="en-US" sz="2000" dirty="0">
              <a:solidFill>
                <a:srgbClr val="20202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9970" name="Text Box 2"/>
          <p:cNvSpPr txBox="1"/>
          <p:nvPr/>
        </p:nvSpPr>
        <p:spPr>
          <a:xfrm>
            <a:off x="827088" y="1412875"/>
            <a:ext cx="29876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3333FF"/>
                </a:solidFill>
                <a:latin typeface="隶书" pitchFamily="49" charset="-122"/>
                <a:ea typeface="隶书" pitchFamily="49" charset="-122"/>
              </a:rPr>
              <a:t>A </a:t>
            </a:r>
            <a:r>
              <a:rPr lang="zh-CN" altLang="en-US" sz="2800" b="1" dirty="0">
                <a:solidFill>
                  <a:srgbClr val="3333FF"/>
                </a:solidFill>
                <a:latin typeface="隶书" pitchFamily="49" charset="-122"/>
                <a:ea typeface="隶书" pitchFamily="49" charset="-122"/>
              </a:rPr>
              <a:t>丙酮酸脱羧</a:t>
            </a:r>
            <a:endParaRPr lang="zh-CN" altLang="en-US" sz="2800" b="1" dirty="0">
              <a:solidFill>
                <a:srgbClr val="00800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5779" name="Rectangle 3"/>
          <p:cNvSpPr/>
          <p:nvPr/>
        </p:nvSpPr>
        <p:spPr>
          <a:xfrm>
            <a:off x="395288" y="5157788"/>
            <a:ext cx="8497887" cy="884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1C00EE"/>
                </a:solidFill>
                <a:latin typeface="Times New Roman" panose="02020603050405020304" charset="0"/>
                <a:ea typeface="隶书" pitchFamily="49" charset="-122"/>
              </a:rPr>
              <a:t>葡萄糖进行乙醇发酵的总反应式为：</a:t>
            </a:r>
            <a:endParaRPr lang="zh-CN" altLang="en-US" sz="2400" b="1" dirty="0">
              <a:solidFill>
                <a:srgbClr val="1C00EE"/>
              </a:solidFill>
              <a:latin typeface="Times New Roman" panose="02020603050405020304" charset="0"/>
              <a:ea typeface="隶书" pitchFamily="49" charset="-122"/>
            </a:endParaRPr>
          </a:p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charset="0"/>
                <a:ea typeface="隶书" pitchFamily="49" charset="-122"/>
              </a:rPr>
              <a:t>G + 2Pi + 2ADP                          2</a:t>
            </a:r>
            <a:r>
              <a:rPr lang="zh-CN" altLang="en-US" sz="2800" b="1" dirty="0">
                <a:latin typeface="Times New Roman" panose="02020603050405020304" charset="0"/>
                <a:ea typeface="隶书" pitchFamily="49" charset="-122"/>
              </a:rPr>
              <a:t>乙醇 </a:t>
            </a:r>
            <a:r>
              <a:rPr lang="en-US" altLang="zh-CN" sz="2800" b="1" dirty="0">
                <a:latin typeface="Times New Roman" panose="02020603050405020304" charset="0"/>
                <a:ea typeface="隶书" pitchFamily="49" charset="-122"/>
              </a:rPr>
              <a:t>+ 2CO</a:t>
            </a:r>
            <a:r>
              <a:rPr lang="en-US" altLang="zh-CN" sz="2400" b="1" baseline="-25000" dirty="0">
                <a:latin typeface="Times New Roman" panose="02020603050405020304" charset="0"/>
                <a:ea typeface="隶书" pitchFamily="49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隶书" pitchFamily="49" charset="-122"/>
              </a:rPr>
              <a:t> + 2ATP</a:t>
            </a:r>
            <a:endParaRPr lang="en-US" altLang="zh-CN" sz="2800" b="1" dirty="0"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75780" name="Line 4"/>
          <p:cNvSpPr/>
          <p:nvPr/>
        </p:nvSpPr>
        <p:spPr>
          <a:xfrm flipV="1">
            <a:off x="3708400" y="5589588"/>
            <a:ext cx="1295400" cy="0"/>
          </a:xfrm>
          <a:prstGeom prst="line">
            <a:avLst/>
          </a:prstGeom>
          <a:ln w="38100" cap="flat" cmpd="sng">
            <a:solidFill>
              <a:srgbClr val="3333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" name="Group 5"/>
          <p:cNvGrpSpPr/>
          <p:nvPr/>
        </p:nvGrpSpPr>
        <p:grpSpPr>
          <a:xfrm>
            <a:off x="611188" y="1917700"/>
            <a:ext cx="7796212" cy="1182688"/>
            <a:chOff x="385" y="1298"/>
            <a:chExt cx="4911" cy="745"/>
          </a:xfrm>
        </p:grpSpPr>
        <p:sp>
          <p:nvSpPr>
            <p:cNvPr id="75791" name="Text Box 6"/>
            <p:cNvSpPr txBox="1"/>
            <p:nvPr/>
          </p:nvSpPr>
          <p:spPr>
            <a:xfrm>
              <a:off x="385" y="1525"/>
              <a:ext cx="4911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charset="0"/>
                  <a:ea typeface="隶书" pitchFamily="49" charset="-122"/>
                </a:rPr>
                <a:t>CH</a:t>
              </a:r>
              <a:r>
                <a:rPr lang="en-US" altLang="zh-CN" sz="2400" b="1" baseline="-25000" dirty="0">
                  <a:latin typeface="Times New Roman" panose="02020603050405020304" charset="0"/>
                  <a:ea typeface="隶书" pitchFamily="49" charset="-122"/>
                </a:rPr>
                <a:t>3</a:t>
              </a:r>
              <a:r>
                <a:rPr lang="en-US" altLang="zh-CN" sz="2400" b="1" dirty="0">
                  <a:latin typeface="Times New Roman" panose="02020603050405020304" charset="0"/>
                  <a:ea typeface="隶书" pitchFamily="49" charset="-122"/>
                </a:rPr>
                <a:t>COCOOH                                    CH</a:t>
              </a:r>
              <a:r>
                <a:rPr lang="en-US" altLang="zh-CN" sz="2400" b="1" baseline="-25000" dirty="0">
                  <a:latin typeface="Times New Roman" panose="02020603050405020304" charset="0"/>
                  <a:ea typeface="隶书" pitchFamily="49" charset="-122"/>
                </a:rPr>
                <a:t>3</a:t>
              </a:r>
              <a:r>
                <a:rPr lang="en-US" altLang="zh-CN" sz="2400" b="1" dirty="0">
                  <a:latin typeface="Times New Roman" panose="02020603050405020304" charset="0"/>
                  <a:ea typeface="隶书" pitchFamily="49" charset="-122"/>
                </a:rPr>
                <a:t>CHO + CO</a:t>
              </a:r>
              <a:r>
                <a:rPr lang="en-US" altLang="zh-CN" sz="2400" b="1" baseline="-25000" dirty="0">
                  <a:latin typeface="Times New Roman" panose="02020603050405020304" charset="0"/>
                  <a:ea typeface="隶书" pitchFamily="49" charset="-122"/>
                </a:rPr>
                <a:t>2</a:t>
              </a:r>
              <a:endParaRPr lang="en-US" altLang="zh-CN" sz="2400" b="1" baseline="-25000" dirty="0">
                <a:latin typeface="Times New Roman" panose="02020603050405020304" charset="0"/>
                <a:ea typeface="隶书" pitchFamily="49" charset="-122"/>
              </a:endParaRPr>
            </a:p>
            <a:p>
              <a:pPr marL="0" lvl="0" indent="0" algn="ctr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charset="0"/>
                  <a:ea typeface="隶书" pitchFamily="49" charset="-122"/>
                </a:rPr>
                <a:t>丙酮酸                                         乙醛</a:t>
              </a:r>
              <a:endParaRPr lang="zh-CN" altLang="en-US" sz="2400" b="1" dirty="0">
                <a:latin typeface="Times New Roman" panose="02020603050405020304" charset="0"/>
                <a:ea typeface="隶书" pitchFamily="49" charset="-122"/>
              </a:endParaRPr>
            </a:p>
          </p:txBody>
        </p:sp>
        <p:grpSp>
          <p:nvGrpSpPr>
            <p:cNvPr id="75792" name="Group 7"/>
            <p:cNvGrpSpPr/>
            <p:nvPr/>
          </p:nvGrpSpPr>
          <p:grpSpPr>
            <a:xfrm>
              <a:off x="1882" y="1298"/>
              <a:ext cx="1679" cy="651"/>
              <a:chOff x="1882" y="1298"/>
              <a:chExt cx="1679" cy="651"/>
            </a:xfrm>
          </p:grpSpPr>
          <p:sp>
            <p:nvSpPr>
              <p:cNvPr id="75793" name="Line 8"/>
              <p:cNvSpPr/>
              <p:nvPr/>
            </p:nvSpPr>
            <p:spPr>
              <a:xfrm>
                <a:off x="1882" y="1661"/>
                <a:ext cx="1679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5794" name="Text Box 9"/>
              <p:cNvSpPr txBox="1"/>
              <p:nvPr/>
            </p:nvSpPr>
            <p:spPr>
              <a:xfrm>
                <a:off x="2064" y="1298"/>
                <a:ext cx="140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 dirty="0">
                    <a:solidFill>
                      <a:srgbClr val="008000"/>
                    </a:solidFill>
                    <a:latin typeface="Times New Roman" panose="02020603050405020304" charset="0"/>
                    <a:ea typeface="隶书" pitchFamily="49" charset="-122"/>
                  </a:rPr>
                  <a:t>丙酮酸脱羧酶</a:t>
                </a:r>
                <a:endParaRPr lang="zh-CN" altLang="en-US" sz="2400" b="1" dirty="0">
                  <a:solidFill>
                    <a:srgbClr val="008000"/>
                  </a:solidFill>
                  <a:latin typeface="Times New Roman" panose="02020603050405020304" charset="0"/>
                  <a:ea typeface="隶书" pitchFamily="49" charset="-122"/>
                </a:endParaRPr>
              </a:p>
            </p:txBody>
          </p:sp>
          <p:sp>
            <p:nvSpPr>
              <p:cNvPr id="75795" name="Text Box 10"/>
              <p:cNvSpPr txBox="1"/>
              <p:nvPr/>
            </p:nvSpPr>
            <p:spPr>
              <a:xfrm>
                <a:off x="2381" y="1661"/>
                <a:ext cx="68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charset="0"/>
                    <a:ea typeface="楷体_GB2312" pitchFamily="49" charset="-122"/>
                  </a:rPr>
                  <a:t>TPP</a:t>
                </a:r>
                <a:endParaRPr lang="en-US" altLang="zh-CN" sz="2400" b="1" dirty="0">
                  <a:solidFill>
                    <a:srgbClr val="FF0000"/>
                  </a:solidFill>
                  <a:latin typeface="Times New Roman" panose="02020603050405020304" charset="0"/>
                  <a:ea typeface="楷体_GB2312" pitchFamily="49" charset="-122"/>
                </a:endParaRPr>
              </a:p>
            </p:txBody>
          </p:sp>
        </p:grpSp>
      </p:grpSp>
      <p:grpSp>
        <p:nvGrpSpPr>
          <p:cNvPr id="4" name="Group 11"/>
          <p:cNvGrpSpPr/>
          <p:nvPr/>
        </p:nvGrpSpPr>
        <p:grpSpPr>
          <a:xfrm>
            <a:off x="684213" y="3717925"/>
            <a:ext cx="7796212" cy="1393825"/>
            <a:chOff x="431" y="2160"/>
            <a:chExt cx="4911" cy="878"/>
          </a:xfrm>
        </p:grpSpPr>
        <p:sp>
          <p:nvSpPr>
            <p:cNvPr id="75786" name="Text Box 12"/>
            <p:cNvSpPr txBox="1"/>
            <p:nvPr/>
          </p:nvSpPr>
          <p:spPr>
            <a:xfrm>
              <a:off x="431" y="2251"/>
              <a:ext cx="4911" cy="7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charset="0"/>
                  <a:ea typeface="隶书" pitchFamily="49" charset="-122"/>
                </a:rPr>
                <a:t>CH</a:t>
              </a:r>
              <a:r>
                <a:rPr lang="en-US" altLang="zh-CN" sz="2400" b="1" baseline="-25000" dirty="0">
                  <a:latin typeface="Times New Roman" panose="02020603050405020304" charset="0"/>
                  <a:ea typeface="隶书" pitchFamily="49" charset="-122"/>
                </a:rPr>
                <a:t>3</a:t>
              </a:r>
              <a:r>
                <a:rPr lang="en-US" altLang="zh-CN" sz="2400" b="1" dirty="0">
                  <a:latin typeface="Times New Roman" panose="02020603050405020304" charset="0"/>
                  <a:ea typeface="隶书" pitchFamily="49" charset="-122"/>
                </a:rPr>
                <a:t>CHO + NADH + H+                   </a:t>
              </a:r>
              <a:endParaRPr lang="en-US" altLang="zh-CN" sz="2400" b="1" dirty="0">
                <a:latin typeface="Times New Roman" panose="02020603050405020304" charset="0"/>
                <a:ea typeface="隶书" pitchFamily="49" charset="-122"/>
              </a:endParaRPr>
            </a:p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charset="0"/>
                  <a:ea typeface="隶书" pitchFamily="49" charset="-122"/>
                </a:rPr>
                <a:t>乙醛 </a:t>
              </a:r>
              <a:r>
                <a:rPr lang="zh-CN" altLang="en-US" sz="2800" b="1" dirty="0">
                  <a:latin typeface="Times New Roman" panose="02020603050405020304" charset="0"/>
                  <a:ea typeface="隶书" pitchFamily="49" charset="-122"/>
                </a:rPr>
                <a:t>                                             </a:t>
              </a:r>
              <a:r>
                <a:rPr lang="en-US" altLang="zh-CN" sz="2400" b="1" dirty="0">
                  <a:latin typeface="Times New Roman" panose="02020603050405020304" charset="0"/>
                  <a:ea typeface="隶书" pitchFamily="49" charset="-122"/>
                </a:rPr>
                <a:t>CH</a:t>
              </a:r>
              <a:r>
                <a:rPr lang="en-US" altLang="zh-CN" sz="2400" b="1" baseline="-25000" dirty="0">
                  <a:latin typeface="Times New Roman" panose="02020603050405020304" charset="0"/>
                  <a:ea typeface="隶书" pitchFamily="49" charset="-122"/>
                </a:rPr>
                <a:t>3</a:t>
              </a:r>
              <a:r>
                <a:rPr lang="en-US" altLang="zh-CN" sz="2400" b="1" dirty="0">
                  <a:latin typeface="Times New Roman" panose="02020603050405020304" charset="0"/>
                  <a:ea typeface="隶书" pitchFamily="49" charset="-122"/>
                </a:rPr>
                <a:t>CH</a:t>
              </a:r>
              <a:r>
                <a:rPr lang="en-US" altLang="zh-CN" sz="2400" b="1" baseline="-25000" dirty="0">
                  <a:latin typeface="Times New Roman" panose="02020603050405020304" charset="0"/>
                  <a:ea typeface="隶书" pitchFamily="49" charset="-122"/>
                </a:rPr>
                <a:t>2</a:t>
              </a:r>
              <a:r>
                <a:rPr lang="en-US" altLang="zh-CN" sz="2400" b="1" dirty="0">
                  <a:latin typeface="Times New Roman" panose="02020603050405020304" charset="0"/>
                  <a:ea typeface="隶书" pitchFamily="49" charset="-122"/>
                </a:rPr>
                <a:t>OH + NAD</a:t>
              </a:r>
              <a:r>
                <a:rPr lang="en-US" altLang="zh-CN" sz="2400" b="1" baseline="30000" dirty="0">
                  <a:latin typeface="Times New Roman" panose="02020603050405020304" charset="0"/>
                  <a:ea typeface="隶书" pitchFamily="49" charset="-122"/>
                </a:rPr>
                <a:t>+</a:t>
              </a:r>
              <a:endParaRPr lang="en-US" altLang="zh-CN" sz="2400" b="1" baseline="30000" dirty="0">
                <a:latin typeface="Times New Roman" panose="02020603050405020304" charset="0"/>
                <a:ea typeface="隶书" pitchFamily="49" charset="-122"/>
              </a:endParaRPr>
            </a:p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Times New Roman" panose="02020603050405020304" charset="0"/>
                  <a:ea typeface="隶书" pitchFamily="49" charset="-122"/>
                </a:rPr>
                <a:t>                                                                      </a:t>
              </a:r>
              <a:r>
                <a:rPr lang="zh-CN" altLang="en-US" sz="2400" b="1" dirty="0">
                  <a:latin typeface="Times New Roman" panose="02020603050405020304" charset="0"/>
                  <a:ea typeface="隶书" pitchFamily="49" charset="-122"/>
                </a:rPr>
                <a:t>乙醇</a:t>
              </a:r>
              <a:endParaRPr lang="zh-CN" altLang="en-US" sz="2400" b="1" dirty="0">
                <a:latin typeface="Times New Roman" panose="02020603050405020304" charset="0"/>
                <a:ea typeface="隶书" pitchFamily="49" charset="-122"/>
              </a:endParaRPr>
            </a:p>
          </p:txBody>
        </p:sp>
        <p:grpSp>
          <p:nvGrpSpPr>
            <p:cNvPr id="75787" name="Group 13"/>
            <p:cNvGrpSpPr/>
            <p:nvPr/>
          </p:nvGrpSpPr>
          <p:grpSpPr>
            <a:xfrm>
              <a:off x="2744" y="2160"/>
              <a:ext cx="1860" cy="606"/>
              <a:chOff x="2744" y="2160"/>
              <a:chExt cx="1860" cy="606"/>
            </a:xfrm>
          </p:grpSpPr>
          <p:sp>
            <p:nvSpPr>
              <p:cNvPr id="75788" name="Line 14"/>
              <p:cNvSpPr/>
              <p:nvPr/>
            </p:nvSpPr>
            <p:spPr>
              <a:xfrm>
                <a:off x="2744" y="2478"/>
                <a:ext cx="1860" cy="0"/>
              </a:xfrm>
              <a:prstGeom prst="line">
                <a:avLst/>
              </a:prstGeom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5789" name="Text Box 15"/>
              <p:cNvSpPr txBox="1"/>
              <p:nvPr/>
            </p:nvSpPr>
            <p:spPr>
              <a:xfrm>
                <a:off x="3061" y="2160"/>
                <a:ext cx="11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 dirty="0">
                    <a:solidFill>
                      <a:schemeClr val="folHlink"/>
                    </a:solidFill>
                    <a:latin typeface="Times New Roman" panose="02020603050405020304" charset="0"/>
                    <a:ea typeface="楷体_GB2312" pitchFamily="49" charset="-122"/>
                  </a:rPr>
                  <a:t> </a:t>
                </a:r>
                <a:r>
                  <a:rPr lang="zh-CN" altLang="en-US" sz="2400" b="1" dirty="0">
                    <a:solidFill>
                      <a:srgbClr val="008000"/>
                    </a:solidFill>
                    <a:latin typeface="Times New Roman" panose="02020603050405020304" charset="0"/>
                    <a:ea typeface="隶书" pitchFamily="49" charset="-122"/>
                  </a:rPr>
                  <a:t>乙醇脱氢酶</a:t>
                </a:r>
                <a:endParaRPr lang="zh-CN" altLang="en-US" sz="2400" b="1" dirty="0">
                  <a:solidFill>
                    <a:srgbClr val="008000"/>
                  </a:solidFill>
                  <a:latin typeface="Times New Roman" panose="02020603050405020304" charset="0"/>
                  <a:ea typeface="隶书" pitchFamily="49" charset="-122"/>
                </a:endParaRPr>
              </a:p>
            </p:txBody>
          </p:sp>
          <p:sp>
            <p:nvSpPr>
              <p:cNvPr id="75790" name="Text Box 16"/>
              <p:cNvSpPr txBox="1"/>
              <p:nvPr/>
            </p:nvSpPr>
            <p:spPr>
              <a:xfrm>
                <a:off x="2971" y="2478"/>
                <a:ext cx="5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dirty="0">
                    <a:solidFill>
                      <a:srgbClr val="FF0000"/>
                    </a:solidFill>
                    <a:latin typeface="Times New Roman" panose="02020603050405020304" charset="0"/>
                    <a:ea typeface="楷体_GB2312" pitchFamily="49" charset="-122"/>
                  </a:rPr>
                  <a:t>Zn</a:t>
                </a:r>
                <a:r>
                  <a:rPr lang="en-US" altLang="zh-CN" sz="2400" b="1" baseline="30000" dirty="0">
                    <a:solidFill>
                      <a:srgbClr val="FF0000"/>
                    </a:solidFill>
                    <a:latin typeface="Times New Roman" panose="02020603050405020304" charset="0"/>
                    <a:ea typeface="楷体_GB2312" pitchFamily="49" charset="-122"/>
                  </a:rPr>
                  <a:t>+</a:t>
                </a:r>
                <a:endParaRPr lang="en-US" altLang="zh-CN" sz="2400" b="1" baseline="30000" dirty="0">
                  <a:solidFill>
                    <a:srgbClr val="FF0000"/>
                  </a:solidFill>
                  <a:latin typeface="Times New Roman" panose="02020603050405020304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339985" name="Rectangle 17"/>
          <p:cNvSpPr/>
          <p:nvPr/>
        </p:nvSpPr>
        <p:spPr>
          <a:xfrm>
            <a:off x="684213" y="3213100"/>
            <a:ext cx="37449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3333FF"/>
                </a:solidFill>
                <a:latin typeface="隶书" pitchFamily="49" charset="-122"/>
                <a:ea typeface="隶书" pitchFamily="49" charset="-122"/>
              </a:rPr>
              <a:t>B</a:t>
            </a: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charset="0"/>
                <a:ea typeface="隶书" pitchFamily="49" charset="-122"/>
              </a:rPr>
              <a:t> </a:t>
            </a:r>
            <a:r>
              <a:rPr lang="zh-CN" altLang="en-US" sz="2800" b="1" dirty="0">
                <a:solidFill>
                  <a:srgbClr val="3333FF"/>
                </a:solidFill>
                <a:latin typeface="Times New Roman" panose="02020603050405020304" charset="0"/>
                <a:ea typeface="隶书" pitchFamily="49" charset="-122"/>
              </a:rPr>
              <a:t>乙醛被还原为乙醇</a:t>
            </a:r>
            <a:endParaRPr lang="zh-CN" altLang="en-US" sz="2800" b="1" dirty="0">
              <a:solidFill>
                <a:srgbClr val="3333FF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75784" name="Rectangle 18" descr="70%"/>
          <p:cNvSpPr/>
          <p:nvPr/>
        </p:nvSpPr>
        <p:spPr>
          <a:xfrm>
            <a:off x="539750" y="765175"/>
            <a:ext cx="8280400" cy="473075"/>
          </a:xfrm>
          <a:prstGeom prst="rect">
            <a:avLst/>
          </a:prstGeom>
          <a:noFill/>
          <a:ln w="38100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1C00EE"/>
                </a:solidFill>
                <a:latin typeface="隶书" pitchFamily="49" charset="-122"/>
                <a:ea typeface="隶书" pitchFamily="49" charset="-122"/>
              </a:rPr>
              <a:t>丙酮酸生成乙醇</a:t>
            </a:r>
            <a:r>
              <a:rPr lang="zh-CN" altLang="zh-CN" sz="2800" b="1" dirty="0">
                <a:solidFill>
                  <a:srgbClr val="1C00EE"/>
                </a:solidFill>
                <a:latin typeface="隶书" pitchFamily="49" charset="-122"/>
                <a:ea typeface="隶书" pitchFamily="49" charset="-122"/>
              </a:rPr>
              <a:t>（发</a:t>
            </a:r>
            <a:r>
              <a:rPr lang="zh-CN" altLang="en-US" sz="2800" b="1" dirty="0">
                <a:solidFill>
                  <a:srgbClr val="1C00EE"/>
                </a:solidFill>
                <a:latin typeface="隶书" pitchFamily="49" charset="-122"/>
                <a:ea typeface="隶书" pitchFamily="49" charset="-122"/>
              </a:rPr>
              <a:t>酵）</a:t>
            </a:r>
            <a:r>
              <a:rPr lang="en-US" altLang="zh-CN" sz="2800" b="1" dirty="0">
                <a:solidFill>
                  <a:srgbClr val="1C00EE"/>
                </a:solidFill>
                <a:latin typeface="Arial" panose="02080604020202020204" pitchFamily="34" charset="0"/>
                <a:ea typeface="隶书" pitchFamily="49" charset="-122"/>
              </a:rPr>
              <a:t>——</a:t>
            </a:r>
            <a:r>
              <a:rPr lang="zh-CN" altLang="en-US" sz="2800" b="1" dirty="0">
                <a:solidFill>
                  <a:srgbClr val="1C00EE"/>
                </a:solidFill>
                <a:latin typeface="隶书" pitchFamily="49" charset="-122"/>
                <a:ea typeface="隶书" pitchFamily="49" charset="-122"/>
              </a:rPr>
              <a:t>食品工业与生物能源</a:t>
            </a:r>
            <a:endParaRPr lang="zh-CN" altLang="en-US" sz="2800" b="1" dirty="0">
              <a:solidFill>
                <a:srgbClr val="1C00EE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5785" name="Text Box 19"/>
          <p:cNvSpPr txBox="1"/>
          <p:nvPr/>
        </p:nvSpPr>
        <p:spPr>
          <a:xfrm>
            <a:off x="7956550" y="333375"/>
            <a:ext cx="792163" cy="379413"/>
          </a:xfrm>
          <a:prstGeom prst="rect">
            <a:avLst/>
          </a:prstGeom>
          <a:noFill/>
          <a:ln w="12700" cap="flat" cmpd="sng">
            <a:solidFill>
              <a:srgbClr val="CC0000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1800" dirty="0">
                <a:solidFill>
                  <a:srgbClr val="FF00FF"/>
                </a:solidFill>
                <a:latin typeface="Verdana" pitchFamily="34" charset="0"/>
                <a:ea typeface="宋体" pitchFamily="2" charset="-122"/>
              </a:rPr>
              <a:t>了解</a:t>
            </a:r>
            <a:endParaRPr lang="zh-CN" altLang="en-US" sz="1800" dirty="0">
              <a:solidFill>
                <a:srgbClr val="FF00FF"/>
              </a:solidFill>
              <a:latin typeface="Verdana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3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9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9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0" dur="1000"/>
                                        <p:tgtEl>
                                          <p:spTgt spid="339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0" grpId="0"/>
      <p:bldP spid="33998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2"/>
          <p:cNvSpPr/>
          <p:nvPr/>
        </p:nvSpPr>
        <p:spPr>
          <a:xfrm>
            <a:off x="827088" y="1412875"/>
            <a:ext cx="7993062" cy="18716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buFontTx/>
              <a:buNone/>
            </a:pP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在有氧条件下，丙酮酸进入线粒体时生成</a:t>
            </a:r>
            <a:r>
              <a:rPr lang="zh-CN" altLang="en-US" sz="28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乙酰</a:t>
            </a:r>
            <a:endParaRPr lang="zh-CN" altLang="en-US" sz="2800" dirty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CoA</a:t>
            </a:r>
            <a:r>
              <a:rPr lang="zh-CN" altLang="en-US" sz="28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，然后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通过三羧酸循环和氧化呼吸链被彻底氧化成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C</a:t>
            </a:r>
            <a:r>
              <a:rPr lang="en-US" altLang="zh-CN" sz="2800" baseline="-25000" dirty="0">
                <a:latin typeface="隶书" pitchFamily="49" charset="-122"/>
                <a:ea typeface="隶书" pitchFamily="49" charset="-122"/>
              </a:rPr>
              <a:t>2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O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和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H</a:t>
            </a:r>
            <a:r>
              <a:rPr lang="en-US" altLang="zh-CN" sz="2800" baseline="-25000" dirty="0">
                <a:latin typeface="隶书" pitchFamily="49" charset="-122"/>
                <a:ea typeface="隶书" pitchFamily="49" charset="-122"/>
              </a:rPr>
              <a:t>2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O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并产生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ATP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。</a:t>
            </a:r>
            <a:endParaRPr lang="zh-CN" altLang="en-US" sz="2800" dirty="0"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buFontTx/>
              <a:buNone/>
            </a:pPr>
            <a:r>
              <a:rPr lang="en-US" altLang="zh-CN" sz="2800" dirty="0">
                <a:latin typeface="Arial Black" pitchFamily="34" charset="0"/>
                <a:ea typeface="隶书" pitchFamily="49" charset="-122"/>
              </a:rPr>
              <a:t>——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有氧氧化</a:t>
            </a:r>
            <a:endParaRPr lang="zh-CN" altLang="en-US" sz="2800" dirty="0"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buFontTx/>
              <a:buNone/>
            </a:pPr>
            <a:endParaRPr lang="zh-CN" altLang="en-US" sz="20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buFontTx/>
              <a:buNone/>
            </a:pP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丙酮酸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+NAD+ +CoA      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乙酰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CoA+CO</a:t>
            </a:r>
            <a:r>
              <a:rPr lang="en-US" altLang="zh-CN" sz="2000" dirty="0">
                <a:latin typeface="隶书" pitchFamily="49" charset="-122"/>
                <a:ea typeface="隶书" pitchFamily="49" charset="-122"/>
              </a:rPr>
              <a:t>2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+NADH+H</a:t>
            </a:r>
            <a:r>
              <a:rPr lang="en-US" altLang="zh-CN" sz="2800" baseline="30000" dirty="0">
                <a:latin typeface="隶书" pitchFamily="49" charset="-122"/>
                <a:ea typeface="隶书" pitchFamily="49" charset="-122"/>
              </a:rPr>
              <a:t>+</a:t>
            </a:r>
            <a:endParaRPr lang="en-US" altLang="zh-CN" sz="2800" baseline="30000" dirty="0">
              <a:latin typeface="隶书" pitchFamily="49" charset="-122"/>
              <a:ea typeface="隶书" pitchFamily="49" charset="-122"/>
            </a:endParaRPr>
          </a:p>
          <a:p>
            <a:pPr marL="342900" lvl="0" indent="-342900" eaLnBrk="1" hangingPunct="1">
              <a:buFontTx/>
              <a:buNone/>
            </a:pPr>
            <a:endParaRPr lang="zh-CN" altLang="en-US" sz="2800" baseline="300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7827" name="Line 3"/>
          <p:cNvSpPr/>
          <p:nvPr/>
        </p:nvSpPr>
        <p:spPr>
          <a:xfrm>
            <a:off x="3851275" y="4005263"/>
            <a:ext cx="846138" cy="0"/>
          </a:xfrm>
          <a:prstGeom prst="line">
            <a:avLst/>
          </a:prstGeom>
          <a:ln w="28575" cap="flat" cmpd="sng">
            <a:solidFill>
              <a:srgbClr val="3333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7828" name="Text Box 4"/>
          <p:cNvSpPr txBox="1"/>
          <p:nvPr/>
        </p:nvSpPr>
        <p:spPr>
          <a:xfrm>
            <a:off x="1258888" y="692150"/>
            <a:ext cx="4103687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1C00EE"/>
                </a:solidFill>
                <a:latin typeface="Verdana" pitchFamily="34" charset="0"/>
                <a:ea typeface="隶书" pitchFamily="49" charset="-122"/>
              </a:rPr>
              <a:t>丙酮酸的去路 </a:t>
            </a:r>
            <a:r>
              <a:rPr lang="en-US" altLang="zh-CN" sz="2800" b="1" dirty="0">
                <a:solidFill>
                  <a:srgbClr val="1C00EE"/>
                </a:solidFill>
                <a:latin typeface="Verdana" pitchFamily="34" charset="0"/>
                <a:ea typeface="隶书" pitchFamily="49" charset="-122"/>
              </a:rPr>
              <a:t>2</a:t>
            </a:r>
            <a:endParaRPr lang="en-US" altLang="zh-CN" sz="2800" b="1" dirty="0">
              <a:solidFill>
                <a:srgbClr val="1C00EE"/>
              </a:solidFill>
              <a:latin typeface="Verdana" pitchFamily="34" charset="0"/>
              <a:ea typeface="隶书" pitchFamily="49" charset="-122"/>
            </a:endParaRPr>
          </a:p>
        </p:txBody>
      </p:sp>
      <p:sp>
        <p:nvSpPr>
          <p:cNvPr id="342021" name="Line 5"/>
          <p:cNvSpPr/>
          <p:nvPr/>
        </p:nvSpPr>
        <p:spPr>
          <a:xfrm>
            <a:off x="5364163" y="4221163"/>
            <a:ext cx="0" cy="720725"/>
          </a:xfrm>
          <a:prstGeom prst="line">
            <a:avLst/>
          </a:prstGeom>
          <a:ln w="28575" cap="flat" cmpd="sng">
            <a:solidFill>
              <a:srgbClr val="3333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42022" name="Text Box 6"/>
          <p:cNvSpPr txBox="1"/>
          <p:nvPr/>
        </p:nvSpPr>
        <p:spPr>
          <a:xfrm>
            <a:off x="4932363" y="4941888"/>
            <a:ext cx="3455987" cy="1004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Arial" panose="02080604020202020204" pitchFamily="34" charset="0"/>
                <a:ea typeface="隶书" pitchFamily="49" charset="-122"/>
              </a:rPr>
              <a:t>CO</a:t>
            </a:r>
            <a:r>
              <a:rPr lang="en-US" altLang="zh-CN" sz="2000" dirty="0">
                <a:latin typeface="隶书" pitchFamily="49" charset="-122"/>
                <a:ea typeface="隶书" pitchFamily="49" charset="-122"/>
              </a:rPr>
              <a:t>2</a:t>
            </a:r>
            <a:r>
              <a:rPr lang="en-US" altLang="zh-CN" sz="2400" dirty="0">
                <a:latin typeface="Arial" panose="02080604020202020204" pitchFamily="34" charset="0"/>
                <a:ea typeface="隶书" pitchFamily="49" charset="-122"/>
              </a:rPr>
              <a:t> + GTP</a:t>
            </a:r>
            <a:endParaRPr lang="zh-CN" altLang="en-US" sz="2400" dirty="0">
              <a:latin typeface="Arial" panose="02080604020202020204" pitchFamily="34" charset="0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Arial" panose="02080604020202020204" pitchFamily="34" charset="0"/>
                <a:ea typeface="隶书" pitchFamily="49" charset="-122"/>
              </a:rPr>
              <a:t>还原型递氢体</a:t>
            </a:r>
            <a:endParaRPr lang="en-US" altLang="zh-CN" sz="2400" dirty="0"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342023" name="Text Box 7"/>
          <p:cNvSpPr txBox="1"/>
          <p:nvPr/>
        </p:nvSpPr>
        <p:spPr>
          <a:xfrm>
            <a:off x="5435600" y="4292600"/>
            <a:ext cx="17287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CC0000"/>
                </a:solidFill>
                <a:latin typeface="Arial" panose="02080604020202020204" pitchFamily="34" charset="0"/>
                <a:ea typeface="隶书" pitchFamily="49" charset="-122"/>
              </a:rPr>
              <a:t>三羧酸循环</a:t>
            </a:r>
            <a:endParaRPr lang="en-US" altLang="zh-CN" sz="2400" dirty="0">
              <a:solidFill>
                <a:srgbClr val="CC0000"/>
              </a:solidFill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77832" name="AutoShape 8"/>
          <p:cNvSpPr/>
          <p:nvPr/>
        </p:nvSpPr>
        <p:spPr>
          <a:xfrm>
            <a:off x="4930775" y="5229225"/>
            <a:ext cx="73025" cy="576263"/>
          </a:xfrm>
          <a:prstGeom prst="leftBracket">
            <a:avLst>
              <a:gd name="adj" fmla="val 6576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77833" name="Line 9"/>
          <p:cNvSpPr/>
          <p:nvPr/>
        </p:nvSpPr>
        <p:spPr>
          <a:xfrm flipH="1">
            <a:off x="2987675" y="5661025"/>
            <a:ext cx="1871663" cy="0"/>
          </a:xfrm>
          <a:prstGeom prst="line">
            <a:avLst/>
          </a:prstGeom>
          <a:ln w="28575" cap="flat" cmpd="sng">
            <a:solidFill>
              <a:srgbClr val="3333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42026" name="Text Box 10"/>
          <p:cNvSpPr txBox="1"/>
          <p:nvPr/>
        </p:nvSpPr>
        <p:spPr>
          <a:xfrm>
            <a:off x="3059113" y="5229225"/>
            <a:ext cx="1800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CC0000"/>
                </a:solidFill>
                <a:latin typeface="Arial" panose="02080604020202020204" pitchFamily="34" charset="0"/>
                <a:ea typeface="隶书" pitchFamily="49" charset="-122"/>
              </a:rPr>
              <a:t>氧化磷酸化</a:t>
            </a:r>
            <a:endParaRPr lang="en-US" altLang="zh-CN" sz="2400" dirty="0">
              <a:solidFill>
                <a:srgbClr val="CC0000"/>
              </a:solidFill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342027" name="AutoShape 11"/>
          <p:cNvSpPr/>
          <p:nvPr/>
        </p:nvSpPr>
        <p:spPr>
          <a:xfrm>
            <a:off x="1331913" y="5229225"/>
            <a:ext cx="1584325" cy="935038"/>
          </a:xfrm>
          <a:prstGeom prst="irregularSeal1">
            <a:avLst/>
          </a:prstGeom>
          <a:solidFill>
            <a:srgbClr val="FFFF00"/>
          </a:solidFill>
          <a:ln w="57150" cap="flat" cmpd="sng">
            <a:solidFill>
              <a:srgbClr val="DE5E1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ATP</a:t>
            </a:r>
            <a:endParaRPr lang="zh-CN" altLang="en-US" sz="2400" b="1" dirty="0">
              <a:solidFill>
                <a:srgbClr val="FFFF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0" dur="500"/>
                                        <p:tgtEl>
                                          <p:spTgt spid="34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3" dur="500"/>
                                        <p:tgtEl>
                                          <p:spTgt spid="34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6" dur="500"/>
                                        <p:tgtEl>
                                          <p:spTgt spid="34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9" dur="500"/>
                                        <p:tgtEl>
                                          <p:spTgt spid="34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22" grpId="0"/>
      <p:bldP spid="342023" grpId="0"/>
      <p:bldP spid="342026" grpId="0"/>
      <p:bldP spid="34202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3042" name="Rectangle 2"/>
          <p:cNvSpPr/>
          <p:nvPr/>
        </p:nvSpPr>
        <p:spPr>
          <a:xfrm>
            <a:off x="1331913" y="3357563"/>
            <a:ext cx="6624637" cy="1368425"/>
          </a:xfrm>
          <a:prstGeom prst="rect">
            <a:avLst/>
          </a:prstGeom>
          <a:solidFill>
            <a:srgbClr val="CCFF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43043" name="Text Box 3"/>
          <p:cNvSpPr txBox="1"/>
          <p:nvPr/>
        </p:nvSpPr>
        <p:spPr>
          <a:xfrm>
            <a:off x="971550" y="1412875"/>
            <a:ext cx="7488238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FontTx/>
              <a:buNone/>
            </a:pPr>
            <a:r>
              <a:rPr lang="zh-CN" altLang="en-US" sz="2800" dirty="0">
                <a:solidFill>
                  <a:srgbClr val="1C00EE"/>
                </a:solidFill>
                <a:latin typeface="Times New Roman" panose="02020603050405020304" charset="0"/>
                <a:ea typeface="隶书" pitchFamily="49" charset="-122"/>
              </a:rPr>
              <a:t>当细胞</a:t>
            </a:r>
            <a:r>
              <a:rPr lang="en-US" altLang="zh-CN" sz="2800" dirty="0">
                <a:solidFill>
                  <a:srgbClr val="1C00EE"/>
                </a:solidFill>
                <a:latin typeface="Times New Roman" panose="02020603050405020304" charset="0"/>
                <a:ea typeface="隶书" pitchFamily="49" charset="-122"/>
              </a:rPr>
              <a:t>ATP</a:t>
            </a:r>
            <a:r>
              <a:rPr lang="zh-CN" altLang="en-US" sz="2800" dirty="0">
                <a:solidFill>
                  <a:srgbClr val="1C00EE"/>
                </a:solidFill>
                <a:latin typeface="Times New Roman" panose="02020603050405020304" charset="0"/>
                <a:ea typeface="隶书" pitchFamily="49" charset="-122"/>
              </a:rPr>
              <a:t>水平较高时，柠檬酸循环的速率下降，丙酮酸脱羧形成的乙酰</a:t>
            </a:r>
            <a:r>
              <a:rPr lang="en-US" altLang="zh-CN" sz="2800" dirty="0">
                <a:solidFill>
                  <a:srgbClr val="1C00EE"/>
                </a:solidFill>
                <a:latin typeface="Times New Roman" panose="02020603050405020304" charset="0"/>
                <a:ea typeface="隶书" pitchFamily="49" charset="-122"/>
              </a:rPr>
              <a:t>CoA</a:t>
            </a:r>
            <a:r>
              <a:rPr lang="zh-CN" altLang="en-US" sz="2800" dirty="0">
                <a:solidFill>
                  <a:srgbClr val="1C00EE"/>
                </a:solidFill>
                <a:latin typeface="Times New Roman" panose="02020603050405020304" charset="0"/>
                <a:ea typeface="隶书" pitchFamily="49" charset="-122"/>
              </a:rPr>
              <a:t>开始积累，可转运回细胞液用作脂肪的合成或酮体的合成。</a:t>
            </a:r>
            <a:endParaRPr lang="zh-CN" altLang="en-US" sz="2800" b="1" dirty="0">
              <a:solidFill>
                <a:srgbClr val="1C00EE"/>
              </a:solidFill>
              <a:latin typeface="Times New Roman" panose="02020603050405020304" charset="0"/>
              <a:ea typeface="隶书" pitchFamily="49" charset="-122"/>
            </a:endParaRPr>
          </a:p>
        </p:txBody>
      </p:sp>
      <p:sp>
        <p:nvSpPr>
          <p:cNvPr id="78852" name="Text Box 4"/>
          <p:cNvSpPr txBox="1"/>
          <p:nvPr/>
        </p:nvSpPr>
        <p:spPr>
          <a:xfrm>
            <a:off x="827088" y="620713"/>
            <a:ext cx="4103687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1C00EE"/>
                </a:solidFill>
                <a:latin typeface="Verdana" pitchFamily="34" charset="0"/>
                <a:ea typeface="隶书" pitchFamily="49" charset="-122"/>
              </a:rPr>
              <a:t>丙酮酸的去路 </a:t>
            </a:r>
            <a:r>
              <a:rPr lang="en-US" altLang="zh-CN" sz="2800" b="1" dirty="0">
                <a:solidFill>
                  <a:srgbClr val="1C00EE"/>
                </a:solidFill>
                <a:latin typeface="Verdana" pitchFamily="34" charset="0"/>
                <a:ea typeface="隶书" pitchFamily="49" charset="-122"/>
              </a:rPr>
              <a:t>3</a:t>
            </a:r>
            <a:endParaRPr lang="en-US" altLang="zh-CN" sz="2800" b="1" dirty="0">
              <a:solidFill>
                <a:srgbClr val="1C00EE"/>
              </a:solidFill>
              <a:latin typeface="Verdana" pitchFamily="34" charset="0"/>
              <a:ea typeface="隶书" pitchFamily="49" charset="-122"/>
            </a:endParaRPr>
          </a:p>
        </p:txBody>
      </p:sp>
      <p:sp>
        <p:nvSpPr>
          <p:cNvPr id="343045" name="Rectangle 5"/>
          <p:cNvSpPr/>
          <p:nvPr/>
        </p:nvSpPr>
        <p:spPr>
          <a:xfrm>
            <a:off x="1403350" y="3500438"/>
            <a:ext cx="6985000" cy="11874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1C00EE"/>
                </a:solidFill>
                <a:latin typeface="Verdana" pitchFamily="34" charset="0"/>
                <a:ea typeface="宋体" pitchFamily="2" charset="-122"/>
              </a:rPr>
              <a:t>乙酰</a:t>
            </a:r>
            <a:r>
              <a:rPr lang="en-US" altLang="zh-CN" sz="2400" b="1" dirty="0">
                <a:solidFill>
                  <a:srgbClr val="1C00EE"/>
                </a:solidFill>
                <a:latin typeface="Verdana" pitchFamily="34" charset="0"/>
                <a:ea typeface="宋体" pitchFamily="2" charset="-122"/>
              </a:rPr>
              <a:t>CoA                        16 C </a:t>
            </a:r>
            <a:r>
              <a:rPr lang="zh-CN" altLang="en-US" sz="2400" b="1" dirty="0">
                <a:solidFill>
                  <a:srgbClr val="1C00EE"/>
                </a:solidFill>
                <a:latin typeface="Verdana" pitchFamily="34" charset="0"/>
                <a:ea typeface="宋体" pitchFamily="2" charset="-122"/>
              </a:rPr>
              <a:t>长链脂肪酸  </a:t>
            </a:r>
            <a:endParaRPr lang="zh-CN" altLang="en-US" sz="2400" b="1" dirty="0">
              <a:solidFill>
                <a:srgbClr val="1C00EE"/>
              </a:solidFill>
              <a:latin typeface="Verdana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Arial" panose="02080604020202020204" pitchFamily="34" charset="0"/>
                <a:ea typeface="宋体" pitchFamily="2" charset="-122"/>
              </a:rPr>
              <a:t>                                                             </a:t>
            </a:r>
            <a:r>
              <a:rPr lang="zh-CN" altLang="en-US" sz="2400" b="1" dirty="0">
                <a:solidFill>
                  <a:srgbClr val="1C00EE"/>
                </a:solidFill>
                <a:latin typeface="Verdana" pitchFamily="34" charset="0"/>
                <a:ea typeface="宋体" pitchFamily="2" charset="-122"/>
              </a:rPr>
              <a:t>胆固醇</a:t>
            </a:r>
            <a:endParaRPr lang="zh-CN" altLang="en-US" sz="2400" b="1" dirty="0">
              <a:solidFill>
                <a:srgbClr val="1C00EE"/>
              </a:solidFill>
              <a:latin typeface="Verdana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1C00EE"/>
                </a:solidFill>
                <a:latin typeface="Verdana" pitchFamily="34" charset="0"/>
                <a:ea typeface="宋体" pitchFamily="2" charset="-122"/>
              </a:rPr>
              <a:t>                                     </a:t>
            </a:r>
            <a:r>
              <a:rPr lang="zh-CN" altLang="en-US" sz="2400" b="1" dirty="0">
                <a:solidFill>
                  <a:srgbClr val="1C00EE"/>
                </a:solidFill>
                <a:latin typeface="Verdana" pitchFamily="34" charset="0"/>
                <a:ea typeface="宋体" pitchFamily="2" charset="-122"/>
              </a:rPr>
              <a:t>酮体</a:t>
            </a:r>
            <a:endParaRPr lang="zh-CN" altLang="en-US" sz="2400" b="1" dirty="0">
              <a:solidFill>
                <a:srgbClr val="1C00EE"/>
              </a:solidFill>
              <a:latin typeface="Verdana" pitchFamily="34" charset="0"/>
              <a:ea typeface="宋体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3419475" y="4005263"/>
            <a:ext cx="1511300" cy="0"/>
            <a:chOff x="2064" y="2886"/>
            <a:chExt cx="952" cy="0"/>
          </a:xfrm>
        </p:grpSpPr>
        <p:sp>
          <p:nvSpPr>
            <p:cNvPr id="78856" name="Line 7"/>
            <p:cNvSpPr/>
            <p:nvPr/>
          </p:nvSpPr>
          <p:spPr>
            <a:xfrm>
              <a:off x="2064" y="2886"/>
              <a:ext cx="181" cy="0"/>
            </a:xfrm>
            <a:prstGeom prst="line">
              <a:avLst/>
            </a:prstGeom>
            <a:ln w="38100" cap="flat" cmpd="sng">
              <a:solidFill>
                <a:srgbClr val="1C00EE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78857" name="Line 8"/>
            <p:cNvSpPr/>
            <p:nvPr/>
          </p:nvSpPr>
          <p:spPr>
            <a:xfrm>
              <a:off x="2245" y="2886"/>
              <a:ext cx="181" cy="0"/>
            </a:xfrm>
            <a:prstGeom prst="line">
              <a:avLst/>
            </a:prstGeom>
            <a:ln w="38100" cap="flat" cmpd="sng">
              <a:solidFill>
                <a:srgbClr val="1C00EE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78858" name="Line 9"/>
            <p:cNvSpPr/>
            <p:nvPr/>
          </p:nvSpPr>
          <p:spPr>
            <a:xfrm>
              <a:off x="2426" y="2886"/>
              <a:ext cx="181" cy="0"/>
            </a:xfrm>
            <a:prstGeom prst="line">
              <a:avLst/>
            </a:prstGeom>
            <a:ln w="38100" cap="flat" cmpd="sng">
              <a:solidFill>
                <a:srgbClr val="1C00EE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78859" name="Line 10"/>
            <p:cNvSpPr/>
            <p:nvPr/>
          </p:nvSpPr>
          <p:spPr>
            <a:xfrm>
              <a:off x="2608" y="2886"/>
              <a:ext cx="181" cy="0"/>
            </a:xfrm>
            <a:prstGeom prst="line">
              <a:avLst/>
            </a:prstGeom>
            <a:ln w="38100" cap="flat" cmpd="sng">
              <a:solidFill>
                <a:srgbClr val="1C00EE"/>
              </a:solidFill>
              <a:prstDash val="solid"/>
              <a:headEnd type="none" w="sm" len="sm"/>
              <a:tailEnd type="triangle" w="sm" len="sm"/>
            </a:ln>
          </p:spPr>
        </p:sp>
        <p:sp>
          <p:nvSpPr>
            <p:cNvPr id="78860" name="Line 11"/>
            <p:cNvSpPr/>
            <p:nvPr/>
          </p:nvSpPr>
          <p:spPr>
            <a:xfrm>
              <a:off x="2835" y="2886"/>
              <a:ext cx="181" cy="0"/>
            </a:xfrm>
            <a:prstGeom prst="line">
              <a:avLst/>
            </a:prstGeom>
            <a:ln w="38100" cap="flat" cmpd="sng">
              <a:solidFill>
                <a:srgbClr val="1C00EE"/>
              </a:solidFill>
              <a:prstDash val="solid"/>
              <a:headEnd type="none" w="sm" len="sm"/>
              <a:tailEnd type="triangle" w="sm" len="sm"/>
            </a:ln>
          </p:spPr>
        </p:sp>
      </p:grpSp>
      <p:sp>
        <p:nvSpPr>
          <p:cNvPr id="343052" name="Text Box 12"/>
          <p:cNvSpPr txBox="1"/>
          <p:nvPr/>
        </p:nvSpPr>
        <p:spPr>
          <a:xfrm>
            <a:off x="1187450" y="5445125"/>
            <a:ext cx="36718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Arial" panose="02080604020202020204" pitchFamily="34" charset="0"/>
                <a:ea typeface="隶书" pitchFamily="49" charset="-122"/>
              </a:rPr>
              <a:t>糖向脂肪的转化</a:t>
            </a:r>
            <a:endParaRPr lang="en-US" altLang="zh-CN" sz="2800" dirty="0">
              <a:latin typeface="Arial" panose="02080604020202020204" pitchFamily="34" charset="0"/>
              <a:ea typeface="隶书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3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3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4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43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42" grpId="0" animBg="1"/>
      <p:bldP spid="343043" grpId="0"/>
      <p:bldP spid="343045" grpId="0"/>
      <p:bldP spid="34305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4066" name="Text Box 2"/>
          <p:cNvSpPr txBox="1"/>
          <p:nvPr/>
        </p:nvSpPr>
        <p:spPr>
          <a:xfrm>
            <a:off x="827088" y="1268413"/>
            <a:ext cx="7620000" cy="35099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隶书" pitchFamily="49" charset="-122"/>
              </a:rPr>
              <a:t>细胞对酵解速度的调控是为了满足细胞对能量及碳骨架的需求。</a:t>
            </a: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隶书" pitchFamily="49" charset="-122"/>
              </a:rPr>
              <a:t>在代谢途径中，催化</a:t>
            </a:r>
            <a:r>
              <a:rPr lang="zh-CN" altLang="en-US" sz="2800" b="1" dirty="0">
                <a:solidFill>
                  <a:srgbClr val="3333FF"/>
                </a:solidFill>
                <a:latin typeface="隶书" pitchFamily="49" charset="-122"/>
                <a:ea typeface="隶书" pitchFamily="49" charset="-122"/>
              </a:rPr>
              <a:t>不可逆反应的酶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隶书" pitchFamily="49" charset="-122"/>
              </a:rPr>
              <a:t>所处的部位是控制代谢反应的有力部位。</a:t>
            </a: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隶书" pitchFamily="49" charset="-122"/>
              </a:rPr>
              <a:t>糖酵解中有三步反应不可逆，分别由</a:t>
            </a:r>
            <a:r>
              <a:rPr lang="zh-CN" altLang="en-US" sz="2800" b="1" dirty="0">
                <a:solidFill>
                  <a:srgbClr val="FF0000"/>
                </a:solidFill>
                <a:latin typeface="华文新魏" pitchFamily="2" charset="-122"/>
                <a:ea typeface="隶书" pitchFamily="49" charset="-122"/>
              </a:rPr>
              <a:t>己糖激酶、磷酸果糖激酶、丙酮酸激酶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隶书" pitchFamily="49" charset="-122"/>
              </a:rPr>
              <a:t>催化，因此这三种酶对酵解速度起调节作用。</a:t>
            </a: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ea typeface="隶书" pitchFamily="49" charset="-122"/>
            </a:endParaRPr>
          </a:p>
        </p:txBody>
      </p:sp>
      <p:sp>
        <p:nvSpPr>
          <p:cNvPr id="79875" name="Rectangle 3"/>
          <p:cNvSpPr/>
          <p:nvPr/>
        </p:nvSpPr>
        <p:spPr>
          <a:xfrm>
            <a:off x="611188" y="333375"/>
            <a:ext cx="5334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FontTx/>
              <a:buNone/>
            </a:pPr>
            <a:r>
              <a:rPr lang="zh-CN" altLang="en-US" b="1" dirty="0">
                <a:latin typeface="Arial" panose="02080604020202020204" pitchFamily="34" charset="0"/>
                <a:ea typeface="黑体" pitchFamily="49" charset="-122"/>
              </a:rPr>
              <a:t>五、糖酵解的调控</a:t>
            </a:r>
            <a:endParaRPr lang="zh-CN" altLang="en-US" b="1" dirty="0">
              <a:latin typeface="Arial" panose="02080604020202020204" pitchFamily="34" charset="0"/>
              <a:ea typeface="黑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44066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charRg st="29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44066">
                                            <p:txEl>
                                              <p:charRg st="29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charRg st="64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44066">
                                            <p:txEl>
                                              <p:charRg st="64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Text Box 2"/>
          <p:cNvSpPr txBox="1"/>
          <p:nvPr/>
        </p:nvSpPr>
        <p:spPr>
          <a:xfrm>
            <a:off x="2124075" y="333375"/>
            <a:ext cx="60483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Arial" panose="02080604020202020204" pitchFamily="34" charset="0"/>
                <a:ea typeface="黑体" pitchFamily="49" charset="-122"/>
              </a:rPr>
              <a:t>酶的别构调节与共价调节基础</a:t>
            </a:r>
            <a:endParaRPr lang="zh-CN" altLang="en-US" sz="2800" dirty="0">
              <a:latin typeface="Arial" panose="02080604020202020204" pitchFamily="34" charset="0"/>
              <a:ea typeface="黑体" pitchFamily="49" charset="-122"/>
            </a:endParaRPr>
          </a:p>
        </p:txBody>
      </p:sp>
      <p:sp>
        <p:nvSpPr>
          <p:cNvPr id="80899" name="Text Box 3"/>
          <p:cNvSpPr txBox="1"/>
          <p:nvPr/>
        </p:nvSpPr>
        <p:spPr>
          <a:xfrm>
            <a:off x="755650" y="3430588"/>
            <a:ext cx="28797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酶的结构基础  </a:t>
            </a:r>
            <a:endParaRPr lang="zh-CN" altLang="en-US" sz="2800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0900" name="Text Box 4"/>
          <p:cNvSpPr txBox="1"/>
          <p:nvPr/>
        </p:nvSpPr>
        <p:spPr>
          <a:xfrm>
            <a:off x="3132138" y="4508500"/>
            <a:ext cx="35290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催化中心  </a:t>
            </a:r>
            <a:r>
              <a:rPr lang="zh-CN" altLang="en-US" sz="1800" b="1" dirty="0">
                <a:latin typeface="隶书" pitchFamily="49" charset="-122"/>
                <a:ea typeface="隶书" pitchFamily="49" charset="-122"/>
              </a:rPr>
              <a:t>≥ </a:t>
            </a:r>
            <a:r>
              <a:rPr lang="en-US" altLang="zh-CN" sz="1800" b="1" dirty="0">
                <a:latin typeface="隶书" pitchFamily="49" charset="-122"/>
                <a:ea typeface="隶书" pitchFamily="49" charset="-122"/>
              </a:rPr>
              <a:t>1</a:t>
            </a:r>
            <a:endParaRPr lang="en-US" altLang="zh-CN" sz="1800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0901" name="Text Box 5"/>
          <p:cNvSpPr txBox="1"/>
          <p:nvPr/>
        </p:nvSpPr>
        <p:spPr>
          <a:xfrm>
            <a:off x="3132138" y="2349500"/>
            <a:ext cx="31686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结合中心  </a:t>
            </a:r>
            <a:r>
              <a:rPr lang="zh-CN" altLang="en-US" sz="1800" b="1" dirty="0">
                <a:latin typeface="隶书" pitchFamily="49" charset="-122"/>
                <a:ea typeface="隶书" pitchFamily="49" charset="-122"/>
              </a:rPr>
              <a:t>≥ </a:t>
            </a:r>
            <a:r>
              <a:rPr lang="en-US" altLang="zh-CN" sz="1800" b="1" dirty="0">
                <a:latin typeface="隶书" pitchFamily="49" charset="-122"/>
                <a:ea typeface="隶书" pitchFamily="49" charset="-122"/>
              </a:rPr>
              <a:t>1</a:t>
            </a:r>
            <a:endParaRPr lang="zh-CN" altLang="en-US" sz="2800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0902" name="Text Box 6"/>
          <p:cNvSpPr txBox="1"/>
          <p:nvPr/>
        </p:nvSpPr>
        <p:spPr>
          <a:xfrm>
            <a:off x="2771775" y="765175"/>
            <a:ext cx="273526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Arial" panose="02080604020202020204" pitchFamily="34" charset="0"/>
                <a:ea typeface="宋体" pitchFamily="2" charset="-122"/>
              </a:rPr>
              <a:t>（或变构调节）</a:t>
            </a: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80903" name="AutoShape 7"/>
          <p:cNvSpPr/>
          <p:nvPr/>
        </p:nvSpPr>
        <p:spPr>
          <a:xfrm>
            <a:off x="3059113" y="2636838"/>
            <a:ext cx="146050" cy="2160587"/>
          </a:xfrm>
          <a:prstGeom prst="leftBrace">
            <a:avLst>
              <a:gd name="adj1" fmla="val 123278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80904" name="AutoShape 8"/>
          <p:cNvSpPr/>
          <p:nvPr/>
        </p:nvSpPr>
        <p:spPr>
          <a:xfrm>
            <a:off x="5551488" y="1887538"/>
            <a:ext cx="71437" cy="1512887"/>
          </a:xfrm>
          <a:prstGeom prst="leftBrace">
            <a:avLst>
              <a:gd name="adj1" fmla="val 176482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80905" name="Text Box 9"/>
          <p:cNvSpPr txBox="1"/>
          <p:nvPr/>
        </p:nvSpPr>
        <p:spPr>
          <a:xfrm>
            <a:off x="5653088" y="1412875"/>
            <a:ext cx="2881312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含特殊基团的氨基酸残基，可发生化学基团修饰</a:t>
            </a:r>
            <a:r>
              <a:rPr lang="en-US" altLang="zh-CN" sz="2400" b="1" dirty="0">
                <a:latin typeface="隶书" pitchFamily="49" charset="-122"/>
                <a:ea typeface="隶书" pitchFamily="49" charset="-122"/>
              </a:rPr>
              <a:t>/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去修饰</a:t>
            </a:r>
            <a:endParaRPr lang="zh-CN" altLang="en-US" sz="2400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0906" name="Text Box 10"/>
          <p:cNvSpPr txBox="1"/>
          <p:nvPr/>
        </p:nvSpPr>
        <p:spPr>
          <a:xfrm>
            <a:off x="6300788" y="1054100"/>
            <a:ext cx="19431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共价修饰</a:t>
            </a:r>
            <a:endParaRPr lang="zh-CN" altLang="en-US" sz="2400" dirty="0">
              <a:solidFill>
                <a:srgbClr val="CC000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0907" name="Text Box 11"/>
          <p:cNvSpPr txBox="1"/>
          <p:nvPr/>
        </p:nvSpPr>
        <p:spPr>
          <a:xfrm>
            <a:off x="6229350" y="2708275"/>
            <a:ext cx="19431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别构调节</a:t>
            </a:r>
            <a:endParaRPr lang="zh-CN" altLang="en-US" sz="2400" dirty="0">
              <a:solidFill>
                <a:srgbClr val="CC000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0908" name="Text Box 12"/>
          <p:cNvSpPr txBox="1"/>
          <p:nvPr/>
        </p:nvSpPr>
        <p:spPr>
          <a:xfrm>
            <a:off x="5724525" y="2998788"/>
            <a:ext cx="2881313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细胞内小分子化合物发生结合</a:t>
            </a:r>
            <a:r>
              <a:rPr lang="en-US" altLang="zh-CN" sz="2400" b="1" dirty="0">
                <a:latin typeface="隶书" pitchFamily="49" charset="-122"/>
                <a:ea typeface="隶书" pitchFamily="49" charset="-122"/>
              </a:rPr>
              <a:t>/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解离致构象改变。</a:t>
            </a:r>
            <a:endParaRPr lang="zh-CN" altLang="en-US" sz="2400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0909" name="Text Box 13"/>
          <p:cNvSpPr txBox="1"/>
          <p:nvPr/>
        </p:nvSpPr>
        <p:spPr>
          <a:xfrm>
            <a:off x="5580063" y="4292600"/>
            <a:ext cx="3097212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伴随上述机理改变，而发生底物结合力和催化活性的改变</a:t>
            </a:r>
            <a:endParaRPr lang="zh-CN" altLang="en-US" sz="2400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0910" name="Text Box 14"/>
          <p:cNvSpPr txBox="1"/>
          <p:nvPr/>
        </p:nvSpPr>
        <p:spPr>
          <a:xfrm>
            <a:off x="611188" y="5516563"/>
            <a:ext cx="7993062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CC"/>
                </a:solidFill>
                <a:latin typeface="隶书" pitchFamily="49" charset="-122"/>
                <a:ea typeface="隶书" pitchFamily="49" charset="-122"/>
              </a:rPr>
              <a:t>凡具上述调节机制的酶，均具有</a:t>
            </a:r>
            <a:r>
              <a:rPr lang="zh-CN" altLang="en-US" sz="28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无</a:t>
            </a:r>
            <a:r>
              <a:rPr lang="en-US" altLang="zh-CN" sz="28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(</a:t>
            </a:r>
            <a:r>
              <a:rPr lang="zh-CN" altLang="en-US" sz="28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或低）活性</a:t>
            </a:r>
            <a:r>
              <a:rPr lang="zh-CN" altLang="en-US" sz="2800" b="1" dirty="0">
                <a:solidFill>
                  <a:srgbClr val="0000CC"/>
                </a:solidFill>
                <a:latin typeface="隶书" pitchFamily="49" charset="-122"/>
                <a:ea typeface="隶书" pitchFamily="49" charset="-122"/>
              </a:rPr>
              <a:t>与</a:t>
            </a:r>
            <a:r>
              <a:rPr lang="zh-CN" altLang="en-US" sz="2800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高活性</a:t>
            </a:r>
            <a:r>
              <a:rPr lang="zh-CN" altLang="en-US" sz="2800" b="1" dirty="0">
                <a:solidFill>
                  <a:srgbClr val="0000CC"/>
                </a:solidFill>
                <a:latin typeface="隶书" pitchFamily="49" charset="-122"/>
                <a:ea typeface="隶书" pitchFamily="49" charset="-122"/>
              </a:rPr>
              <a:t>两种状态。</a:t>
            </a:r>
            <a:endParaRPr lang="zh-CN" altLang="en-US" sz="2800" b="1" dirty="0">
              <a:solidFill>
                <a:srgbClr val="0000CC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2"/>
          <p:cNvSpPr/>
          <p:nvPr/>
        </p:nvSpPr>
        <p:spPr>
          <a:xfrm>
            <a:off x="468313" y="404813"/>
            <a:ext cx="61198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5.1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磷酸果糖激酶（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PFK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）的调控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46115" name="Text Box 3"/>
          <p:cNvSpPr txBox="1"/>
          <p:nvPr/>
        </p:nvSpPr>
        <p:spPr>
          <a:xfrm>
            <a:off x="1692275" y="4797425"/>
            <a:ext cx="4953000" cy="461963"/>
          </a:xfrm>
          <a:prstGeom prst="rect">
            <a:avLst/>
          </a:prstGeom>
          <a:solidFill>
            <a:srgbClr val="FFFFCC"/>
          </a:solidFill>
          <a:ln w="38100" cap="sq" cmpd="sng">
            <a:solidFill>
              <a:srgbClr val="DE5E10"/>
            </a:solidFill>
            <a:prstDash val="solid"/>
            <a:miter/>
            <a:headEnd type="none" w="sm" len="sm"/>
            <a:tailEnd type="none" w="sm" len="sm"/>
          </a:ln>
        </p:spPr>
        <p:txBody>
          <a:bodyPr lIns="18000" rIns="18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隶书" pitchFamily="49" charset="-122"/>
                <a:ea typeface="隶书" pitchFamily="49" charset="-122"/>
              </a:rPr>
              <a:t>6-</a:t>
            </a:r>
            <a:r>
              <a:rPr lang="zh-CN" altLang="en-US" sz="2400" b="1" dirty="0">
                <a:latin typeface="隶书" pitchFamily="49" charset="-122"/>
                <a:ea typeface="隶书" pitchFamily="49" charset="-122"/>
              </a:rPr>
              <a:t>磷酸果糖激酶</a:t>
            </a:r>
            <a:endParaRPr lang="en-US" altLang="zh-CN" sz="2400" b="1" dirty="0"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81924" name="Group 4"/>
          <p:cNvGrpSpPr/>
          <p:nvPr/>
        </p:nvGrpSpPr>
        <p:grpSpPr>
          <a:xfrm>
            <a:off x="1042988" y="1989138"/>
            <a:ext cx="2305050" cy="2717800"/>
            <a:chOff x="657" y="890"/>
            <a:chExt cx="1452" cy="1712"/>
          </a:xfrm>
        </p:grpSpPr>
        <p:sp>
          <p:nvSpPr>
            <p:cNvPr id="81934" name="Freeform 5"/>
            <p:cNvSpPr/>
            <p:nvPr/>
          </p:nvSpPr>
          <p:spPr>
            <a:xfrm>
              <a:off x="1461" y="1890"/>
              <a:ext cx="474" cy="712"/>
            </a:xfrm>
            <a:custGeom>
              <a:avLst/>
              <a:gdLst>
                <a:gd name="txL" fmla="*/ 0 w 474"/>
                <a:gd name="txT" fmla="*/ 0 h 712"/>
                <a:gd name="txR" fmla="*/ 474 w 474"/>
                <a:gd name="txB" fmla="*/ 712 h 712"/>
              </a:gdLst>
              <a:ahLst/>
              <a:cxnLst>
                <a:cxn ang="0">
                  <a:pos x="474" y="712"/>
                </a:cxn>
                <a:cxn ang="0">
                  <a:pos x="0" y="0"/>
                </a:cxn>
              </a:cxnLst>
              <a:rect l="txL" t="txT" r="txR" b="txB"/>
              <a:pathLst>
                <a:path w="474" h="712">
                  <a:moveTo>
                    <a:pt x="474" y="712"/>
                  </a:moveTo>
                  <a:lnTo>
                    <a:pt x="0" y="0"/>
                  </a:lnTo>
                </a:path>
              </a:pathLst>
            </a:custGeom>
            <a:noFill/>
            <a:ln w="38100" cap="sq" cmpd="sng">
              <a:solidFill>
                <a:srgbClr val="FF0000">
                  <a:alpha val="100000"/>
                </a:srgbClr>
              </a:solidFill>
              <a:prstDash val="solid"/>
              <a:round/>
              <a:headEnd type="triangle" w="med" len="lg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1935" name="Text Box 6"/>
            <p:cNvSpPr txBox="1"/>
            <p:nvPr/>
          </p:nvSpPr>
          <p:spPr>
            <a:xfrm>
              <a:off x="657" y="890"/>
              <a:ext cx="1315" cy="989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ATP</a:t>
              </a:r>
              <a:endParaRPr lang="en-US" altLang="zh-CN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隶书" pitchFamily="49" charset="-122"/>
                  <a:ea typeface="隶书" pitchFamily="49" charset="-122"/>
                </a:rPr>
                <a:t>柠檬酸</a:t>
              </a:r>
              <a:endParaRPr lang="zh-CN" altLang="en-US" sz="24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隶书" pitchFamily="49" charset="-122"/>
                  <a:ea typeface="隶书" pitchFamily="49" charset="-122"/>
                </a:rPr>
                <a:t>长链脂肪酸    </a:t>
              </a:r>
              <a:r>
                <a:rPr lang="en-US" altLang="zh-CN" sz="2400" b="1" dirty="0">
                  <a:solidFill>
                    <a:srgbClr val="FF0000"/>
                  </a:solidFill>
                  <a:latin typeface="隶书" pitchFamily="49" charset="-122"/>
                  <a:ea typeface="隶书" pitchFamily="49" charset="-122"/>
                </a:rPr>
                <a:t>[H</a:t>
              </a:r>
              <a:r>
                <a:rPr lang="en-US" altLang="zh-CN" sz="2400" b="1" baseline="30000" dirty="0">
                  <a:solidFill>
                    <a:srgbClr val="FF0000"/>
                  </a:solidFill>
                  <a:latin typeface="隶书" pitchFamily="49" charset="-122"/>
                  <a:ea typeface="隶书" pitchFamily="49" charset="-122"/>
                </a:rPr>
                <a:t>+</a:t>
              </a:r>
              <a:r>
                <a:rPr lang="en-US" altLang="zh-CN" sz="2400" b="1" dirty="0">
                  <a:solidFill>
                    <a:srgbClr val="FF0000"/>
                  </a:solidFill>
                  <a:latin typeface="隶书" pitchFamily="49" charset="-122"/>
                  <a:ea typeface="隶书" pitchFamily="49" charset="-122"/>
                </a:rPr>
                <a:t>]</a:t>
              </a:r>
              <a:endParaRPr lang="zh-CN" altLang="en-US" sz="24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81936" name="Text Box 7"/>
            <p:cNvSpPr txBox="1"/>
            <p:nvPr/>
          </p:nvSpPr>
          <p:spPr>
            <a:xfrm>
              <a:off x="1677" y="1944"/>
              <a:ext cx="432" cy="404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3600" b="1" dirty="0">
                  <a:solidFill>
                    <a:srgbClr val="CC0000"/>
                  </a:solidFill>
                  <a:latin typeface="Times New Roman" panose="02020603050405020304" charset="0"/>
                  <a:ea typeface="宋体" pitchFamily="2" charset="-122"/>
                </a:rPr>
                <a:t>-</a:t>
              </a:r>
              <a:endParaRPr lang="en-US" altLang="zh-CN" sz="3600" b="1" dirty="0">
                <a:solidFill>
                  <a:srgbClr val="CC0000"/>
                </a:solidFill>
                <a:latin typeface="Times New Roman" panose="02020603050405020304" charset="0"/>
                <a:ea typeface="宋体" pitchFamily="2" charset="-122"/>
              </a:endParaRPr>
            </a:p>
          </p:txBody>
        </p:sp>
        <p:sp>
          <p:nvSpPr>
            <p:cNvPr id="81937" name="Oval 8"/>
            <p:cNvSpPr/>
            <p:nvPr/>
          </p:nvSpPr>
          <p:spPr>
            <a:xfrm>
              <a:off x="1773" y="2053"/>
              <a:ext cx="240" cy="240"/>
            </a:xfrm>
            <a:prstGeom prst="ellipse">
              <a:avLst/>
            </a:prstGeom>
            <a:noFill/>
            <a:ln w="25400" cap="sq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endParaRPr lang="zh-CN" altLang="en-US" sz="3600" b="1" dirty="0">
                <a:solidFill>
                  <a:srgbClr val="CC00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4284663" y="2349500"/>
            <a:ext cx="3505200" cy="2389188"/>
            <a:chOff x="3016" y="1794"/>
            <a:chExt cx="2208" cy="1505"/>
          </a:xfrm>
        </p:grpSpPr>
        <p:sp>
          <p:nvSpPr>
            <p:cNvPr id="81929" name="Freeform 10"/>
            <p:cNvSpPr/>
            <p:nvPr/>
          </p:nvSpPr>
          <p:spPr>
            <a:xfrm>
              <a:off x="3668" y="2723"/>
              <a:ext cx="415" cy="576"/>
            </a:xfrm>
            <a:custGeom>
              <a:avLst/>
              <a:gdLst>
                <a:gd name="txL" fmla="*/ 0 w 415"/>
                <a:gd name="txT" fmla="*/ 0 h 576"/>
                <a:gd name="txR" fmla="*/ 415 w 415"/>
                <a:gd name="txB" fmla="*/ 576 h 576"/>
              </a:gdLst>
              <a:ahLst/>
              <a:cxnLst>
                <a:cxn ang="0">
                  <a:pos x="0" y="576"/>
                </a:cxn>
                <a:cxn ang="0">
                  <a:pos x="415" y="0"/>
                </a:cxn>
              </a:cxnLst>
              <a:rect l="txL" t="txT" r="txR" b="txB"/>
              <a:pathLst>
                <a:path w="415" h="576">
                  <a:moveTo>
                    <a:pt x="0" y="576"/>
                  </a:moveTo>
                  <a:lnTo>
                    <a:pt x="415" y="0"/>
                  </a:lnTo>
                </a:path>
              </a:pathLst>
            </a:custGeom>
            <a:noFill/>
            <a:ln w="38100" cap="sq" cmpd="sng">
              <a:solidFill>
                <a:srgbClr val="00B050">
                  <a:alpha val="100000"/>
                </a:srgbClr>
              </a:solidFill>
              <a:prstDash val="solid"/>
              <a:round/>
              <a:headEnd type="triangle" w="med" len="lg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1930" name="Text Box 11"/>
            <p:cNvSpPr txBox="1"/>
            <p:nvPr/>
          </p:nvSpPr>
          <p:spPr>
            <a:xfrm>
              <a:off x="3016" y="1794"/>
              <a:ext cx="2208" cy="756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00B050"/>
                  </a:solidFill>
                  <a:latin typeface="Times New Roman" panose="02020603050405020304" charset="0"/>
                  <a:ea typeface="楷体_GB2312" pitchFamily="49" charset="-122"/>
                </a:rPr>
                <a:t>ADP</a:t>
              </a:r>
              <a:r>
                <a:rPr lang="zh-CN" altLang="en-US" sz="2400" b="1" dirty="0">
                  <a:solidFill>
                    <a:srgbClr val="00B050"/>
                  </a:solidFill>
                  <a:latin typeface="Times New Roman" panose="02020603050405020304" charset="0"/>
                  <a:ea typeface="楷体_GB2312" pitchFamily="49" charset="-122"/>
                </a:rPr>
                <a:t>、</a:t>
              </a:r>
              <a:r>
                <a:rPr lang="en-US" altLang="zh-CN" sz="2400" b="1" dirty="0">
                  <a:solidFill>
                    <a:srgbClr val="00B050"/>
                  </a:solidFill>
                  <a:latin typeface="Times New Roman" panose="02020603050405020304" charset="0"/>
                  <a:ea typeface="楷体_GB2312" pitchFamily="49" charset="-122"/>
                </a:rPr>
                <a:t>AMP</a:t>
              </a:r>
              <a:endParaRPr lang="en-US" altLang="zh-CN" sz="2400" b="1" dirty="0">
                <a:solidFill>
                  <a:srgbClr val="00B050"/>
                </a:solidFill>
                <a:latin typeface="Times New Roman" panose="02020603050405020304" charset="0"/>
                <a:ea typeface="楷体_GB2312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00B050"/>
                  </a:solidFill>
                  <a:latin typeface="楷体_GB2312" pitchFamily="49" charset="-122"/>
                  <a:ea typeface="楷体_GB2312" pitchFamily="49" charset="-122"/>
                </a:rPr>
                <a:t>1,6-</a:t>
              </a:r>
              <a:r>
                <a:rPr lang="zh-CN" altLang="en-US" sz="2400" b="1" dirty="0">
                  <a:solidFill>
                    <a:srgbClr val="00B050"/>
                  </a:solidFill>
                  <a:latin typeface="楷体_GB2312" pitchFamily="49" charset="-122"/>
                  <a:ea typeface="楷体_GB2312" pitchFamily="49" charset="-122"/>
                </a:rPr>
                <a:t>二磷酸果糖</a:t>
              </a:r>
              <a:endParaRPr lang="zh-CN" altLang="en-US" sz="24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u="sng" dirty="0">
                  <a:solidFill>
                    <a:srgbClr val="00B050"/>
                  </a:solidFill>
                  <a:latin typeface="楷体_GB2312" pitchFamily="49" charset="-122"/>
                  <a:ea typeface="楷体_GB2312" pitchFamily="49" charset="-122"/>
                </a:rPr>
                <a:t>2,6-</a:t>
              </a:r>
              <a:r>
                <a:rPr lang="zh-CN" altLang="en-US" sz="2400" b="1" u="sng" dirty="0">
                  <a:solidFill>
                    <a:srgbClr val="00B050"/>
                  </a:solidFill>
                  <a:latin typeface="楷体_GB2312" pitchFamily="49" charset="-122"/>
                  <a:ea typeface="楷体_GB2312" pitchFamily="49" charset="-122"/>
                </a:rPr>
                <a:t>二磷酸果糖</a:t>
              </a:r>
              <a:endParaRPr lang="zh-CN" altLang="en-US" sz="2400" b="1" u="sng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pSp>
          <p:nvGrpSpPr>
            <p:cNvPr id="81931" name="Group 12"/>
            <p:cNvGrpSpPr/>
            <p:nvPr/>
          </p:nvGrpSpPr>
          <p:grpSpPr>
            <a:xfrm>
              <a:off x="3512" y="2672"/>
              <a:ext cx="432" cy="404"/>
              <a:chOff x="1688" y="1920"/>
              <a:chExt cx="432" cy="404"/>
            </a:xfrm>
          </p:grpSpPr>
          <p:sp>
            <p:nvSpPr>
              <p:cNvPr id="81932" name="Text Box 13"/>
              <p:cNvSpPr txBox="1"/>
              <p:nvPr/>
            </p:nvSpPr>
            <p:spPr>
              <a:xfrm>
                <a:off x="1688" y="1920"/>
                <a:ext cx="432" cy="40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3600" b="1" dirty="0">
                    <a:solidFill>
                      <a:srgbClr val="00B050"/>
                    </a:solidFill>
                    <a:latin typeface="Times New Roman" panose="02020603050405020304" charset="0"/>
                    <a:ea typeface="宋体" pitchFamily="2" charset="-122"/>
                  </a:rPr>
                  <a:t>+</a:t>
                </a:r>
                <a:endParaRPr lang="en-US" altLang="zh-CN" sz="3600" b="1" dirty="0">
                  <a:solidFill>
                    <a:srgbClr val="00B050"/>
                  </a:solidFill>
                  <a:latin typeface="Times New Roman" panose="02020603050405020304" charset="0"/>
                  <a:ea typeface="宋体" pitchFamily="2" charset="-122"/>
                </a:endParaRPr>
              </a:p>
            </p:txBody>
          </p:sp>
          <p:sp>
            <p:nvSpPr>
              <p:cNvPr id="81933" name="Oval 14"/>
              <p:cNvSpPr/>
              <p:nvPr/>
            </p:nvSpPr>
            <p:spPr>
              <a:xfrm>
                <a:off x="1768" y="2016"/>
                <a:ext cx="240" cy="240"/>
              </a:xfrm>
              <a:prstGeom prst="ellipse">
                <a:avLst/>
              </a:prstGeom>
              <a:noFill/>
              <a:ln w="25400" cap="sq" cmpd="sng">
                <a:solidFill>
                  <a:schemeClr val="tx2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</p:grpSp>
      </p:grpSp>
      <p:sp>
        <p:nvSpPr>
          <p:cNvPr id="346127" name="Text Box 15"/>
          <p:cNvSpPr txBox="1"/>
          <p:nvPr/>
        </p:nvSpPr>
        <p:spPr>
          <a:xfrm>
            <a:off x="1258888" y="5734050"/>
            <a:ext cx="69119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能量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物质和</a:t>
            </a:r>
            <a:r>
              <a:rPr lang="zh-CN" altLang="en-US" sz="2800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碳架</a:t>
            </a:r>
            <a:r>
              <a:rPr lang="zh-CN" altLang="en-US" sz="2800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物质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对</a:t>
            </a:r>
            <a:r>
              <a:rPr lang="en-US" altLang="zh-CN" sz="2800" dirty="0">
                <a:latin typeface="隶书" pitchFamily="49" charset="-122"/>
                <a:ea typeface="隶书" pitchFamily="49" charset="-122"/>
              </a:rPr>
              <a:t>PFK</a:t>
            </a:r>
            <a:r>
              <a:rPr lang="zh-CN" altLang="en-US" sz="2800" dirty="0">
                <a:latin typeface="隶书" pitchFamily="49" charset="-122"/>
                <a:ea typeface="隶书" pitchFamily="49" charset="-122"/>
              </a:rPr>
              <a:t>均有调节作用</a:t>
            </a:r>
            <a:endParaRPr lang="en-US" altLang="zh-CN" sz="28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1927" name="Text Box 16"/>
          <p:cNvSpPr txBox="1"/>
          <p:nvPr/>
        </p:nvSpPr>
        <p:spPr>
          <a:xfrm>
            <a:off x="611188" y="981075"/>
            <a:ext cx="80645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</a:rPr>
              <a:t>变构调节酶（别构酶）</a:t>
            </a:r>
            <a:r>
              <a:rPr lang="en-US" altLang="zh-CN" sz="2400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:</a:t>
            </a: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 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酶分子中有别构中心和酶活中心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, 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前者接受调节分子调节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,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通过引起构象变化而改变酶的活性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.</a:t>
            </a: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 </a:t>
            </a:r>
            <a:endParaRPr lang="en-US" altLang="zh-CN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81928" name="Rectangle 17"/>
          <p:cNvSpPr/>
          <p:nvPr/>
        </p:nvSpPr>
        <p:spPr>
          <a:xfrm>
            <a:off x="2555875" y="5300663"/>
            <a:ext cx="374491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 dirty="0">
                <a:latin typeface="Arial" panose="02080604020202020204" pitchFamily="34" charset="0"/>
                <a:ea typeface="宋体" pitchFamily="2" charset="-122"/>
              </a:rPr>
              <a:t>（</a:t>
            </a:r>
            <a:r>
              <a:rPr lang="en-US" altLang="zh-CN" sz="1800" b="1" dirty="0">
                <a:latin typeface="Arial" panose="02080604020202020204" pitchFamily="34" charset="0"/>
                <a:ea typeface="宋体" pitchFamily="2" charset="-122"/>
              </a:rPr>
              <a:t>6-phosphofructokinase</a:t>
            </a:r>
            <a:r>
              <a:rPr lang="zh-CN" altLang="en-US" sz="1800" b="1" dirty="0">
                <a:latin typeface="Arial" panose="02080604020202020204" pitchFamily="34" charset="0"/>
                <a:ea typeface="宋体" pitchFamily="2" charset="-122"/>
              </a:rPr>
              <a:t>）</a:t>
            </a:r>
            <a:endParaRPr lang="zh-CN" altLang="en-US" sz="1800" b="1" dirty="0"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4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5" grpId="0" animBg="1"/>
      <p:bldP spid="34612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3348038" y="876300"/>
            <a:ext cx="2376487" cy="2814638"/>
            <a:chOff x="3742" y="1434"/>
            <a:chExt cx="1497" cy="1773"/>
          </a:xfrm>
        </p:grpSpPr>
        <p:grpSp>
          <p:nvGrpSpPr>
            <p:cNvPr id="83976" name="Group 3"/>
            <p:cNvGrpSpPr/>
            <p:nvPr/>
          </p:nvGrpSpPr>
          <p:grpSpPr>
            <a:xfrm>
              <a:off x="3742" y="1434"/>
              <a:ext cx="1497" cy="1497"/>
              <a:chOff x="4105" y="1446"/>
              <a:chExt cx="1315" cy="1497"/>
            </a:xfrm>
          </p:grpSpPr>
          <p:sp>
            <p:nvSpPr>
              <p:cNvPr id="83982" name="Line 4"/>
              <p:cNvSpPr/>
              <p:nvPr/>
            </p:nvSpPr>
            <p:spPr>
              <a:xfrm>
                <a:off x="4105" y="1446"/>
                <a:ext cx="0" cy="149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3983" name="Line 5"/>
              <p:cNvSpPr/>
              <p:nvPr/>
            </p:nvSpPr>
            <p:spPr>
              <a:xfrm>
                <a:off x="4105" y="2931"/>
                <a:ext cx="131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83977" name="Freeform 6"/>
            <p:cNvSpPr/>
            <p:nvPr/>
          </p:nvSpPr>
          <p:spPr>
            <a:xfrm>
              <a:off x="3742" y="1525"/>
              <a:ext cx="1406" cy="1361"/>
            </a:xfrm>
            <a:custGeom>
              <a:avLst/>
              <a:gdLst>
                <a:gd name="txL" fmla="*/ 0 w 1406"/>
                <a:gd name="txT" fmla="*/ 0 h 1361"/>
                <a:gd name="txR" fmla="*/ 1406 w 1406"/>
                <a:gd name="txB" fmla="*/ 1361 h 1361"/>
              </a:gdLst>
              <a:ahLst/>
              <a:cxnLst>
                <a:cxn ang="0">
                  <a:pos x="0" y="1361"/>
                </a:cxn>
                <a:cxn ang="0">
                  <a:pos x="227" y="680"/>
                </a:cxn>
                <a:cxn ang="0">
                  <a:pos x="635" y="227"/>
                </a:cxn>
                <a:cxn ang="0">
                  <a:pos x="1406" y="0"/>
                </a:cxn>
              </a:cxnLst>
              <a:rect l="txL" t="txT" r="txR" b="txB"/>
              <a:pathLst>
                <a:path w="1406" h="1361">
                  <a:moveTo>
                    <a:pt x="0" y="1361"/>
                  </a:moveTo>
                  <a:cubicBezTo>
                    <a:pt x="60" y="1115"/>
                    <a:pt x="121" y="869"/>
                    <a:pt x="227" y="680"/>
                  </a:cubicBezTo>
                  <a:cubicBezTo>
                    <a:pt x="333" y="491"/>
                    <a:pt x="438" y="340"/>
                    <a:pt x="635" y="227"/>
                  </a:cubicBezTo>
                  <a:cubicBezTo>
                    <a:pt x="832" y="114"/>
                    <a:pt x="1278" y="38"/>
                    <a:pt x="1406" y="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3978" name="Freeform 7"/>
            <p:cNvSpPr/>
            <p:nvPr/>
          </p:nvSpPr>
          <p:spPr>
            <a:xfrm>
              <a:off x="3742" y="1616"/>
              <a:ext cx="1270" cy="1315"/>
            </a:xfrm>
            <a:custGeom>
              <a:avLst/>
              <a:gdLst>
                <a:gd name="txL" fmla="*/ 0 w 1270"/>
                <a:gd name="txT" fmla="*/ 0 h 1315"/>
                <a:gd name="txR" fmla="*/ 1270 w 1270"/>
                <a:gd name="txB" fmla="*/ 1315 h 1315"/>
              </a:gdLst>
              <a:ahLst/>
              <a:cxnLst>
                <a:cxn ang="0">
                  <a:pos x="0" y="1315"/>
                </a:cxn>
                <a:cxn ang="0">
                  <a:pos x="317" y="1043"/>
                </a:cxn>
                <a:cxn ang="0">
                  <a:pos x="544" y="725"/>
                </a:cxn>
                <a:cxn ang="0">
                  <a:pos x="635" y="453"/>
                </a:cxn>
                <a:cxn ang="0">
                  <a:pos x="771" y="226"/>
                </a:cxn>
                <a:cxn ang="0">
                  <a:pos x="1088" y="45"/>
                </a:cxn>
                <a:cxn ang="0">
                  <a:pos x="1270" y="0"/>
                </a:cxn>
              </a:cxnLst>
              <a:rect l="txL" t="txT" r="txR" b="txB"/>
              <a:pathLst>
                <a:path w="1270" h="1315">
                  <a:moveTo>
                    <a:pt x="0" y="1315"/>
                  </a:moveTo>
                  <a:cubicBezTo>
                    <a:pt x="113" y="1228"/>
                    <a:pt x="226" y="1141"/>
                    <a:pt x="317" y="1043"/>
                  </a:cubicBezTo>
                  <a:cubicBezTo>
                    <a:pt x="408" y="945"/>
                    <a:pt x="491" y="823"/>
                    <a:pt x="544" y="725"/>
                  </a:cubicBezTo>
                  <a:cubicBezTo>
                    <a:pt x="597" y="627"/>
                    <a:pt x="597" y="536"/>
                    <a:pt x="635" y="453"/>
                  </a:cubicBezTo>
                  <a:cubicBezTo>
                    <a:pt x="673" y="370"/>
                    <a:pt x="696" y="294"/>
                    <a:pt x="771" y="226"/>
                  </a:cubicBezTo>
                  <a:cubicBezTo>
                    <a:pt x="846" y="158"/>
                    <a:pt x="1005" y="83"/>
                    <a:pt x="1088" y="45"/>
                  </a:cubicBezTo>
                  <a:cubicBezTo>
                    <a:pt x="1171" y="7"/>
                    <a:pt x="1240" y="7"/>
                    <a:pt x="1270" y="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3979" name="Text Box 8"/>
            <p:cNvSpPr txBox="1"/>
            <p:nvPr/>
          </p:nvSpPr>
          <p:spPr>
            <a:xfrm>
              <a:off x="4468" y="1888"/>
              <a:ext cx="63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800" dirty="0">
                  <a:latin typeface="Arial" panose="02080604020202020204" pitchFamily="34" charset="0"/>
                  <a:ea typeface="宋体" pitchFamily="2" charset="-122"/>
                </a:rPr>
                <a:t>高</a:t>
              </a:r>
              <a:r>
                <a:rPr lang="en-US" altLang="zh-CN" sz="1800" dirty="0">
                  <a:latin typeface="Arial" panose="02080604020202020204" pitchFamily="34" charset="0"/>
                  <a:ea typeface="宋体" pitchFamily="2" charset="-122"/>
                </a:rPr>
                <a:t>ATP</a:t>
              </a:r>
              <a:endParaRPr lang="en-US" altLang="zh-CN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83980" name="Text Box 9"/>
            <p:cNvSpPr txBox="1"/>
            <p:nvPr/>
          </p:nvSpPr>
          <p:spPr>
            <a:xfrm>
              <a:off x="3969" y="1525"/>
              <a:ext cx="63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1800" dirty="0">
                  <a:latin typeface="Arial" panose="02080604020202020204" pitchFamily="34" charset="0"/>
                  <a:ea typeface="宋体" pitchFamily="2" charset="-122"/>
                </a:rPr>
                <a:t>低</a:t>
              </a:r>
              <a:r>
                <a:rPr lang="en-US" altLang="zh-CN" sz="1800" dirty="0">
                  <a:latin typeface="Arial" panose="02080604020202020204" pitchFamily="34" charset="0"/>
                  <a:ea typeface="宋体" pitchFamily="2" charset="-122"/>
                </a:rPr>
                <a:t>ATP</a:t>
              </a:r>
              <a:endParaRPr lang="en-US" altLang="zh-CN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83981" name="Text Box 10"/>
            <p:cNvSpPr txBox="1"/>
            <p:nvPr/>
          </p:nvSpPr>
          <p:spPr>
            <a:xfrm>
              <a:off x="4286" y="2976"/>
              <a:ext cx="90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>
                  <a:latin typeface="Arial" panose="02080604020202020204" pitchFamily="34" charset="0"/>
                  <a:ea typeface="宋体" pitchFamily="2" charset="-122"/>
                </a:rPr>
                <a:t>6-P-F [</a:t>
              </a:r>
              <a:r>
                <a:rPr lang="en-US" altLang="zh-CN" sz="1800" b="1" dirty="0">
                  <a:latin typeface="Arial" panose="02080604020202020204" pitchFamily="34" charset="0"/>
                  <a:ea typeface="宋体" pitchFamily="2" charset="-122"/>
                  <a:sym typeface="Symbol" pitchFamily="18" charset="2"/>
                </a:rPr>
                <a:t></a:t>
              </a:r>
              <a:r>
                <a:rPr lang="en-US" altLang="zh-CN" sz="1800" b="1" dirty="0">
                  <a:latin typeface="Arial" panose="02080604020202020204" pitchFamily="34" charset="0"/>
                  <a:ea typeface="宋体" pitchFamily="2" charset="-122"/>
                </a:rPr>
                <a:t>M]</a:t>
              </a:r>
              <a:endParaRPr lang="zh-CN" altLang="en-US" sz="1800" b="1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</p:grpSp>
      <p:sp>
        <p:nvSpPr>
          <p:cNvPr id="83971" name="Text Box 11"/>
          <p:cNvSpPr txBox="1"/>
          <p:nvPr/>
        </p:nvSpPr>
        <p:spPr>
          <a:xfrm rot="10800000">
            <a:off x="2843213" y="1484313"/>
            <a:ext cx="458787" cy="874712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latin typeface="Arial" panose="02080604020202020204" pitchFamily="34" charset="0"/>
                <a:ea typeface="宋体" pitchFamily="2" charset="-122"/>
              </a:rPr>
              <a:t>PFK </a:t>
            </a:r>
            <a:r>
              <a:rPr lang="en-US" altLang="zh-CN" sz="1800" b="1" dirty="0">
                <a:latin typeface="Arial" panose="02080604020202020204" pitchFamily="34" charset="0"/>
                <a:ea typeface="宋体" pitchFamily="2" charset="-122"/>
                <a:sym typeface="Symbol" pitchFamily="18" charset="2"/>
              </a:rPr>
              <a:t></a:t>
            </a:r>
            <a:endParaRPr lang="en-US" altLang="zh-CN" sz="1800" b="1" dirty="0">
              <a:latin typeface="Arial" panose="02080604020202020204" pitchFamily="34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348172" name="Text Box 12"/>
          <p:cNvSpPr txBox="1"/>
          <p:nvPr/>
        </p:nvSpPr>
        <p:spPr>
          <a:xfrm>
            <a:off x="684213" y="3644900"/>
            <a:ext cx="7991475" cy="301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 反应物浓度增加促使反应速度加快，但高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ATP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浓度抑制反应速度的增加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.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 这种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ATP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的抑制作用可被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AMP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解除。</a:t>
            </a:r>
            <a:endParaRPr lang="zh-CN" altLang="en-US" sz="2400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 柠檬酸、脂肪酸抑制该酶活性。细胞内柠檬酸含量高，意味着有丰富的碳骨架存在（有丰富的生物合成前体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),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无须葡萄糖为提供碳骨架而降解。柠檬酸则是通过增加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ATP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对该酶起抑制作用。</a:t>
            </a:r>
            <a:endParaRPr lang="zh-CN" altLang="en-US" sz="2400" dirty="0"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Char char="•"/>
            </a:pP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 当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pH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下降时，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H</a:t>
            </a:r>
            <a:r>
              <a:rPr lang="en-US" altLang="zh-CN" sz="2400" baseline="30000" dirty="0">
                <a:latin typeface="隶书" pitchFamily="49" charset="-122"/>
                <a:ea typeface="隶书" pitchFamily="49" charset="-122"/>
              </a:rPr>
              <a:t>+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对该酶有抑制作用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,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以防止缺氧时有过量的乳酸形成。</a:t>
            </a:r>
            <a:endParaRPr lang="en-US" altLang="zh-CN" sz="24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3973" name="Text Box 13"/>
          <p:cNvSpPr txBox="1"/>
          <p:nvPr/>
        </p:nvSpPr>
        <p:spPr>
          <a:xfrm>
            <a:off x="2484438" y="188913"/>
            <a:ext cx="48958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</a:rPr>
              <a:t>ATP </a:t>
            </a:r>
            <a:r>
              <a:rPr lang="zh-CN" altLang="en-US" sz="2800" b="1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</a:rPr>
              <a:t>对</a:t>
            </a:r>
            <a:r>
              <a:rPr lang="en-US" altLang="zh-CN" sz="2800" b="1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</a:rPr>
              <a:t>PFK</a:t>
            </a:r>
            <a:r>
              <a:rPr lang="zh-CN" altLang="en-US" sz="2800" b="1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</a:rPr>
              <a:t>有变构抑制作用</a:t>
            </a:r>
            <a:endParaRPr lang="en-US" altLang="zh-CN" sz="2800" b="1" dirty="0">
              <a:solidFill>
                <a:srgbClr val="CC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3974" name="Text Box 14"/>
          <p:cNvSpPr txBox="1"/>
          <p:nvPr/>
        </p:nvSpPr>
        <p:spPr>
          <a:xfrm>
            <a:off x="2411413" y="1019175"/>
            <a:ext cx="549275" cy="23749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Arial" panose="02080604020202020204" pitchFamily="34" charset="0"/>
                <a:ea typeface="宋体" pitchFamily="2" charset="-122"/>
              </a:rPr>
              <a:t>酶催化反应速度</a:t>
            </a:r>
            <a:endParaRPr lang="en-US" altLang="zh-CN" sz="2400" b="1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83975" name="Text Box 16"/>
          <p:cNvSpPr txBox="1"/>
          <p:nvPr/>
        </p:nvSpPr>
        <p:spPr>
          <a:xfrm>
            <a:off x="7092950" y="404813"/>
            <a:ext cx="1728788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P83 </a:t>
            </a:r>
            <a:r>
              <a:rPr lang="zh-CN" altLang="en-US" sz="1800" dirty="0">
                <a:latin typeface="Arial" panose="02080604020202020204" pitchFamily="34" charset="0"/>
                <a:ea typeface="宋体" pitchFamily="2" charset="-122"/>
              </a:rPr>
              <a:t>图</a:t>
            </a: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22-15</a:t>
            </a:r>
            <a:endParaRPr lang="en-US" altLang="zh-CN" sz="1800" dirty="0"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48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7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AutoShape 2"/>
          <p:cNvSpPr/>
          <p:nvPr/>
        </p:nvSpPr>
        <p:spPr>
          <a:xfrm>
            <a:off x="900113" y="908050"/>
            <a:ext cx="3816350" cy="38163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grpSp>
        <p:nvGrpSpPr>
          <p:cNvPr id="84995" name="Group 3"/>
          <p:cNvGrpSpPr/>
          <p:nvPr/>
        </p:nvGrpSpPr>
        <p:grpSpPr>
          <a:xfrm>
            <a:off x="1189038" y="1052513"/>
            <a:ext cx="3402012" cy="3606800"/>
            <a:chOff x="839" y="346"/>
            <a:chExt cx="2143" cy="2272"/>
          </a:xfrm>
        </p:grpSpPr>
        <p:grpSp>
          <p:nvGrpSpPr>
            <p:cNvPr id="85015" name="Group 4"/>
            <p:cNvGrpSpPr/>
            <p:nvPr/>
          </p:nvGrpSpPr>
          <p:grpSpPr>
            <a:xfrm>
              <a:off x="839" y="845"/>
              <a:ext cx="1497" cy="1497"/>
              <a:chOff x="4105" y="1446"/>
              <a:chExt cx="1315" cy="1497"/>
            </a:xfrm>
          </p:grpSpPr>
          <p:sp>
            <p:nvSpPr>
              <p:cNvPr id="85024" name="Line 5"/>
              <p:cNvSpPr/>
              <p:nvPr/>
            </p:nvSpPr>
            <p:spPr>
              <a:xfrm>
                <a:off x="4105" y="1446"/>
                <a:ext cx="0" cy="149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25" name="Line 6"/>
              <p:cNvSpPr/>
              <p:nvPr/>
            </p:nvSpPr>
            <p:spPr>
              <a:xfrm>
                <a:off x="4105" y="2931"/>
                <a:ext cx="131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85016" name="Text Box 7"/>
            <p:cNvSpPr txBox="1"/>
            <p:nvPr/>
          </p:nvSpPr>
          <p:spPr>
            <a:xfrm>
              <a:off x="1247" y="2387"/>
              <a:ext cx="86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>
                  <a:latin typeface="Arial" panose="02080604020202020204" pitchFamily="34" charset="0"/>
                  <a:ea typeface="宋体" pitchFamily="2" charset="-122"/>
                </a:rPr>
                <a:t>F-6-P [</a:t>
              </a:r>
              <a:r>
                <a:rPr lang="en-US" altLang="zh-CN" sz="1800" b="1" dirty="0">
                  <a:latin typeface="Arial" panose="02080604020202020204" pitchFamily="34" charset="0"/>
                  <a:ea typeface="宋体" pitchFamily="2" charset="-122"/>
                  <a:sym typeface="Symbol" pitchFamily="18" charset="2"/>
                </a:rPr>
                <a:t></a:t>
              </a:r>
              <a:r>
                <a:rPr lang="en-US" altLang="zh-CN" sz="1800" b="1" dirty="0">
                  <a:latin typeface="Arial" panose="02080604020202020204" pitchFamily="34" charset="0"/>
                  <a:ea typeface="宋体" pitchFamily="2" charset="-122"/>
                </a:rPr>
                <a:t>M]</a:t>
              </a:r>
              <a:endParaRPr lang="zh-CN" altLang="en-US" sz="1800" b="1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85017" name="Freeform 8"/>
            <p:cNvSpPr/>
            <p:nvPr/>
          </p:nvSpPr>
          <p:spPr>
            <a:xfrm>
              <a:off x="839" y="890"/>
              <a:ext cx="1315" cy="1451"/>
            </a:xfrm>
            <a:custGeom>
              <a:avLst/>
              <a:gdLst>
                <a:gd name="txL" fmla="*/ 0 w 1315"/>
                <a:gd name="txT" fmla="*/ 0 h 1451"/>
                <a:gd name="txR" fmla="*/ 1315 w 1315"/>
                <a:gd name="txB" fmla="*/ 1451 h 1451"/>
              </a:gdLst>
              <a:ahLst/>
              <a:cxnLst>
                <a:cxn ang="0">
                  <a:pos x="0" y="1451"/>
                </a:cxn>
                <a:cxn ang="0">
                  <a:pos x="91" y="1179"/>
                </a:cxn>
                <a:cxn ang="0">
                  <a:pos x="227" y="862"/>
                </a:cxn>
                <a:cxn ang="0">
                  <a:pos x="363" y="635"/>
                </a:cxn>
                <a:cxn ang="0">
                  <a:pos x="590" y="363"/>
                </a:cxn>
                <a:cxn ang="0">
                  <a:pos x="907" y="136"/>
                </a:cxn>
                <a:cxn ang="0">
                  <a:pos x="1315" y="0"/>
                </a:cxn>
              </a:cxnLst>
              <a:rect l="txL" t="txT" r="txR" b="txB"/>
              <a:pathLst>
                <a:path w="1315" h="1451">
                  <a:moveTo>
                    <a:pt x="0" y="1451"/>
                  </a:moveTo>
                  <a:cubicBezTo>
                    <a:pt x="26" y="1364"/>
                    <a:pt x="53" y="1277"/>
                    <a:pt x="91" y="1179"/>
                  </a:cubicBezTo>
                  <a:cubicBezTo>
                    <a:pt x="129" y="1081"/>
                    <a:pt x="182" y="953"/>
                    <a:pt x="227" y="862"/>
                  </a:cubicBezTo>
                  <a:cubicBezTo>
                    <a:pt x="272" y="771"/>
                    <a:pt x="303" y="718"/>
                    <a:pt x="363" y="635"/>
                  </a:cubicBezTo>
                  <a:cubicBezTo>
                    <a:pt x="423" y="552"/>
                    <a:pt x="499" y="446"/>
                    <a:pt x="590" y="363"/>
                  </a:cubicBezTo>
                  <a:cubicBezTo>
                    <a:pt x="681" y="280"/>
                    <a:pt x="786" y="196"/>
                    <a:pt x="907" y="136"/>
                  </a:cubicBezTo>
                  <a:cubicBezTo>
                    <a:pt x="1028" y="76"/>
                    <a:pt x="1247" y="23"/>
                    <a:pt x="1315" y="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5018" name="Freeform 9"/>
            <p:cNvSpPr/>
            <p:nvPr/>
          </p:nvSpPr>
          <p:spPr>
            <a:xfrm>
              <a:off x="839" y="746"/>
              <a:ext cx="1315" cy="1550"/>
            </a:xfrm>
            <a:custGeom>
              <a:avLst/>
              <a:gdLst>
                <a:gd name="txL" fmla="*/ 0 w 1315"/>
                <a:gd name="txT" fmla="*/ 0 h 1550"/>
                <a:gd name="txR" fmla="*/ 1315 w 1315"/>
                <a:gd name="txB" fmla="*/ 1550 h 1550"/>
              </a:gdLst>
              <a:ahLst/>
              <a:cxnLst>
                <a:cxn ang="0">
                  <a:pos x="0" y="1550"/>
                </a:cxn>
                <a:cxn ang="0">
                  <a:pos x="91" y="1187"/>
                </a:cxn>
                <a:cxn ang="0">
                  <a:pos x="227" y="779"/>
                </a:cxn>
                <a:cxn ang="0">
                  <a:pos x="408" y="416"/>
                </a:cxn>
                <a:cxn ang="0">
                  <a:pos x="635" y="189"/>
                </a:cxn>
                <a:cxn ang="0">
                  <a:pos x="952" y="53"/>
                </a:cxn>
                <a:cxn ang="0">
                  <a:pos x="1179" y="8"/>
                </a:cxn>
                <a:cxn ang="0">
                  <a:pos x="1315" y="8"/>
                </a:cxn>
              </a:cxnLst>
              <a:rect l="txL" t="txT" r="txR" b="txB"/>
              <a:pathLst>
                <a:path w="1315" h="1550">
                  <a:moveTo>
                    <a:pt x="0" y="1550"/>
                  </a:moveTo>
                  <a:cubicBezTo>
                    <a:pt x="26" y="1432"/>
                    <a:pt x="53" y="1315"/>
                    <a:pt x="91" y="1187"/>
                  </a:cubicBezTo>
                  <a:cubicBezTo>
                    <a:pt x="129" y="1059"/>
                    <a:pt x="174" y="907"/>
                    <a:pt x="227" y="779"/>
                  </a:cubicBezTo>
                  <a:cubicBezTo>
                    <a:pt x="280" y="651"/>
                    <a:pt x="340" y="514"/>
                    <a:pt x="408" y="416"/>
                  </a:cubicBezTo>
                  <a:cubicBezTo>
                    <a:pt x="476" y="318"/>
                    <a:pt x="544" y="249"/>
                    <a:pt x="635" y="189"/>
                  </a:cubicBezTo>
                  <a:cubicBezTo>
                    <a:pt x="726" y="129"/>
                    <a:pt x="861" y="83"/>
                    <a:pt x="952" y="53"/>
                  </a:cubicBezTo>
                  <a:cubicBezTo>
                    <a:pt x="1043" y="23"/>
                    <a:pt x="1119" y="16"/>
                    <a:pt x="1179" y="8"/>
                  </a:cubicBezTo>
                  <a:cubicBezTo>
                    <a:pt x="1239" y="0"/>
                    <a:pt x="1292" y="8"/>
                    <a:pt x="1315" y="8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5019" name="Freeform 10"/>
            <p:cNvSpPr/>
            <p:nvPr/>
          </p:nvSpPr>
          <p:spPr>
            <a:xfrm>
              <a:off x="839" y="1117"/>
              <a:ext cx="1315" cy="1224"/>
            </a:xfrm>
            <a:custGeom>
              <a:avLst/>
              <a:gdLst>
                <a:gd name="txL" fmla="*/ 0 w 1315"/>
                <a:gd name="txT" fmla="*/ 0 h 1224"/>
                <a:gd name="txR" fmla="*/ 1315 w 1315"/>
                <a:gd name="txB" fmla="*/ 1224 h 1224"/>
              </a:gdLst>
              <a:ahLst/>
              <a:cxnLst>
                <a:cxn ang="0">
                  <a:pos x="0" y="1224"/>
                </a:cxn>
                <a:cxn ang="0">
                  <a:pos x="317" y="1088"/>
                </a:cxn>
                <a:cxn ang="0">
                  <a:pos x="590" y="816"/>
                </a:cxn>
                <a:cxn ang="0">
                  <a:pos x="771" y="544"/>
                </a:cxn>
                <a:cxn ang="0">
                  <a:pos x="952" y="272"/>
                </a:cxn>
                <a:cxn ang="0">
                  <a:pos x="1179" y="45"/>
                </a:cxn>
                <a:cxn ang="0">
                  <a:pos x="1315" y="0"/>
                </a:cxn>
              </a:cxnLst>
              <a:rect l="txL" t="txT" r="txR" b="txB"/>
              <a:pathLst>
                <a:path w="1315" h="1224">
                  <a:moveTo>
                    <a:pt x="0" y="1224"/>
                  </a:moveTo>
                  <a:cubicBezTo>
                    <a:pt x="109" y="1190"/>
                    <a:pt x="219" y="1156"/>
                    <a:pt x="317" y="1088"/>
                  </a:cubicBezTo>
                  <a:cubicBezTo>
                    <a:pt x="415" y="1020"/>
                    <a:pt x="514" y="907"/>
                    <a:pt x="590" y="816"/>
                  </a:cubicBezTo>
                  <a:cubicBezTo>
                    <a:pt x="666" y="725"/>
                    <a:pt x="711" y="635"/>
                    <a:pt x="771" y="544"/>
                  </a:cubicBezTo>
                  <a:cubicBezTo>
                    <a:pt x="831" y="453"/>
                    <a:pt x="884" y="355"/>
                    <a:pt x="952" y="272"/>
                  </a:cubicBezTo>
                  <a:cubicBezTo>
                    <a:pt x="1020" y="189"/>
                    <a:pt x="1119" y="90"/>
                    <a:pt x="1179" y="45"/>
                  </a:cubicBezTo>
                  <a:cubicBezTo>
                    <a:pt x="1239" y="0"/>
                    <a:pt x="1292" y="7"/>
                    <a:pt x="1315" y="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5020" name="Text Box 11"/>
            <p:cNvSpPr txBox="1"/>
            <p:nvPr/>
          </p:nvSpPr>
          <p:spPr>
            <a:xfrm>
              <a:off x="2248" y="996"/>
              <a:ext cx="64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dirty="0">
                  <a:latin typeface="Arial" panose="02080604020202020204" pitchFamily="34" charset="0"/>
                  <a:ea typeface="宋体" pitchFamily="2" charset="-122"/>
                </a:rPr>
                <a:t>0.0 [</a:t>
              </a:r>
              <a:r>
                <a:rPr lang="en-US" altLang="zh-CN" sz="1800" dirty="0">
                  <a:latin typeface="Arial" panose="02080604020202020204" pitchFamily="34" charset="0"/>
                  <a:ea typeface="宋体" pitchFamily="2" charset="-122"/>
                  <a:sym typeface="Symbol" pitchFamily="18" charset="2"/>
                </a:rPr>
                <a:t></a:t>
              </a:r>
              <a:r>
                <a:rPr lang="en-US" altLang="zh-CN" sz="1800" dirty="0">
                  <a:latin typeface="Arial" panose="02080604020202020204" pitchFamily="34" charset="0"/>
                  <a:ea typeface="宋体" pitchFamily="2" charset="-122"/>
                </a:rPr>
                <a:t>M]</a:t>
              </a:r>
              <a:endParaRPr lang="en-US" altLang="zh-CN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85021" name="Rectangle 12"/>
            <p:cNvSpPr/>
            <p:nvPr/>
          </p:nvSpPr>
          <p:spPr>
            <a:xfrm>
              <a:off x="2290" y="346"/>
              <a:ext cx="6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dirty="0">
                  <a:latin typeface="Arial" panose="02080604020202020204" pitchFamily="34" charset="0"/>
                  <a:ea typeface="宋体" pitchFamily="2" charset="-122"/>
                </a:rPr>
                <a:t>F-2,6-BP</a:t>
              </a: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85022" name="Text Box 13"/>
            <p:cNvSpPr txBox="1"/>
            <p:nvPr/>
          </p:nvSpPr>
          <p:spPr>
            <a:xfrm>
              <a:off x="2251" y="793"/>
              <a:ext cx="63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dirty="0">
                  <a:latin typeface="Arial" panose="02080604020202020204" pitchFamily="34" charset="0"/>
                  <a:ea typeface="宋体" pitchFamily="2" charset="-122"/>
                </a:rPr>
                <a:t>0.1 [</a:t>
              </a:r>
              <a:r>
                <a:rPr lang="en-US" altLang="zh-CN" sz="1800" dirty="0">
                  <a:latin typeface="Arial" panose="02080604020202020204" pitchFamily="34" charset="0"/>
                  <a:ea typeface="宋体" pitchFamily="2" charset="-122"/>
                  <a:sym typeface="Symbol" pitchFamily="18" charset="2"/>
                </a:rPr>
                <a:t></a:t>
              </a:r>
              <a:r>
                <a:rPr lang="en-US" altLang="zh-CN" sz="1800" dirty="0">
                  <a:latin typeface="Arial" panose="02080604020202020204" pitchFamily="34" charset="0"/>
                  <a:ea typeface="宋体" pitchFamily="2" charset="-122"/>
                </a:rPr>
                <a:t>M]</a:t>
              </a:r>
              <a:endParaRPr lang="en-US" altLang="zh-CN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sp>
          <p:nvSpPr>
            <p:cNvPr id="85023" name="Text Box 14"/>
            <p:cNvSpPr txBox="1"/>
            <p:nvPr/>
          </p:nvSpPr>
          <p:spPr>
            <a:xfrm>
              <a:off x="2242" y="578"/>
              <a:ext cx="63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dirty="0">
                  <a:latin typeface="Arial" panose="02080604020202020204" pitchFamily="34" charset="0"/>
                  <a:ea typeface="宋体" pitchFamily="2" charset="-122"/>
                </a:rPr>
                <a:t>1.0 [</a:t>
              </a:r>
              <a:r>
                <a:rPr lang="en-US" altLang="zh-CN" sz="1800" dirty="0">
                  <a:latin typeface="Arial" panose="02080604020202020204" pitchFamily="34" charset="0"/>
                  <a:ea typeface="宋体" pitchFamily="2" charset="-122"/>
                  <a:sym typeface="Symbol" pitchFamily="18" charset="2"/>
                </a:rPr>
                <a:t></a:t>
              </a:r>
              <a:r>
                <a:rPr lang="en-US" altLang="zh-CN" sz="1800" dirty="0">
                  <a:latin typeface="Arial" panose="02080604020202020204" pitchFamily="34" charset="0"/>
                  <a:ea typeface="宋体" pitchFamily="2" charset="-122"/>
                </a:rPr>
                <a:t>M]</a:t>
              </a:r>
              <a:endParaRPr lang="en-US" altLang="zh-CN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</p:grpSp>
      <p:sp>
        <p:nvSpPr>
          <p:cNvPr id="349199" name="Text Box 15"/>
          <p:cNvSpPr txBox="1"/>
          <p:nvPr/>
        </p:nvSpPr>
        <p:spPr>
          <a:xfrm>
            <a:off x="5292725" y="4724400"/>
            <a:ext cx="3313113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在底物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F-6-P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一定浓度时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,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反应速度受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ATP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抑制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, F-2,6-BP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解除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ATP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对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FPK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活性的抑制</a:t>
            </a:r>
            <a:endParaRPr lang="en-US" altLang="zh-CN" sz="24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4997" name="Text Box 16"/>
          <p:cNvSpPr txBox="1"/>
          <p:nvPr/>
        </p:nvSpPr>
        <p:spPr>
          <a:xfrm rot="10800000">
            <a:off x="828675" y="2347913"/>
            <a:ext cx="458788" cy="874712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latin typeface="Arial" panose="02080604020202020204" pitchFamily="34" charset="0"/>
                <a:ea typeface="宋体" pitchFamily="2" charset="-122"/>
              </a:rPr>
              <a:t>PFK </a:t>
            </a:r>
            <a:r>
              <a:rPr lang="en-US" altLang="zh-CN" sz="1800" b="1" dirty="0">
                <a:latin typeface="Arial" panose="02080604020202020204" pitchFamily="34" charset="0"/>
                <a:ea typeface="宋体" pitchFamily="2" charset="-122"/>
                <a:sym typeface="Symbol" pitchFamily="18" charset="2"/>
              </a:rPr>
              <a:t></a:t>
            </a:r>
            <a:endParaRPr lang="en-US" altLang="zh-CN" sz="1800" b="1" dirty="0">
              <a:latin typeface="Arial" panose="02080604020202020204" pitchFamily="34" charset="0"/>
              <a:ea typeface="宋体" pitchFamily="2" charset="-122"/>
              <a:sym typeface="Symbol" pitchFamily="18" charset="2"/>
            </a:endParaRPr>
          </a:p>
        </p:txBody>
      </p:sp>
      <p:grpSp>
        <p:nvGrpSpPr>
          <p:cNvPr id="4" name="Group 17"/>
          <p:cNvGrpSpPr/>
          <p:nvPr/>
        </p:nvGrpSpPr>
        <p:grpSpPr>
          <a:xfrm>
            <a:off x="5148263" y="908050"/>
            <a:ext cx="3600450" cy="3816350"/>
            <a:chOff x="3243" y="572"/>
            <a:chExt cx="2268" cy="2404"/>
          </a:xfrm>
        </p:grpSpPr>
        <p:sp>
          <p:nvSpPr>
            <p:cNvPr id="85001" name="AutoShape 18"/>
            <p:cNvSpPr/>
            <p:nvPr/>
          </p:nvSpPr>
          <p:spPr>
            <a:xfrm>
              <a:off x="3243" y="572"/>
              <a:ext cx="2268" cy="240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  <p:grpSp>
          <p:nvGrpSpPr>
            <p:cNvPr id="85002" name="Group 19"/>
            <p:cNvGrpSpPr/>
            <p:nvPr/>
          </p:nvGrpSpPr>
          <p:grpSpPr>
            <a:xfrm>
              <a:off x="3515" y="663"/>
              <a:ext cx="1988" cy="2272"/>
              <a:chOff x="3515" y="981"/>
              <a:chExt cx="1988" cy="2272"/>
            </a:xfrm>
          </p:grpSpPr>
          <p:grpSp>
            <p:nvGrpSpPr>
              <p:cNvPr id="85004" name="Group 20"/>
              <p:cNvGrpSpPr/>
              <p:nvPr/>
            </p:nvGrpSpPr>
            <p:grpSpPr>
              <a:xfrm>
                <a:off x="3560" y="1389"/>
                <a:ext cx="1497" cy="1497"/>
                <a:chOff x="4105" y="1446"/>
                <a:chExt cx="1315" cy="1497"/>
              </a:xfrm>
            </p:grpSpPr>
            <p:sp>
              <p:nvSpPr>
                <p:cNvPr id="85013" name="Line 21"/>
                <p:cNvSpPr/>
                <p:nvPr/>
              </p:nvSpPr>
              <p:spPr>
                <a:xfrm>
                  <a:off x="4105" y="1446"/>
                  <a:ext cx="0" cy="1497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85014" name="Line 22"/>
                <p:cNvSpPr/>
                <p:nvPr/>
              </p:nvSpPr>
              <p:spPr>
                <a:xfrm>
                  <a:off x="4105" y="2931"/>
                  <a:ext cx="1315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5005" name="Text Box 23"/>
              <p:cNvSpPr txBox="1"/>
              <p:nvPr/>
            </p:nvSpPr>
            <p:spPr>
              <a:xfrm>
                <a:off x="3923" y="981"/>
                <a:ext cx="635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1800" dirty="0">
                    <a:latin typeface="Arial" panose="02080604020202020204" pitchFamily="34" charset="0"/>
                    <a:ea typeface="宋体" pitchFamily="2" charset="-122"/>
                  </a:rPr>
                  <a:t>加入</a:t>
                </a:r>
                <a:r>
                  <a:rPr lang="en-US" altLang="zh-CN" sz="1800" dirty="0">
                    <a:latin typeface="Arial" panose="02080604020202020204" pitchFamily="34" charset="0"/>
                    <a:ea typeface="宋体" pitchFamily="2" charset="-122"/>
                  </a:rPr>
                  <a:t>F-2,6-BP</a:t>
                </a:r>
                <a:endParaRPr lang="zh-CN" altLang="en-US" sz="1800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  <p:sp>
            <p:nvSpPr>
              <p:cNvPr id="85006" name="Text Box 24"/>
              <p:cNvSpPr txBox="1"/>
              <p:nvPr/>
            </p:nvSpPr>
            <p:spPr>
              <a:xfrm>
                <a:off x="4014" y="3022"/>
                <a:ext cx="907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1" dirty="0">
                    <a:latin typeface="Arial" panose="02080604020202020204" pitchFamily="34" charset="0"/>
                    <a:ea typeface="宋体" pitchFamily="2" charset="-122"/>
                  </a:rPr>
                  <a:t>ATP [uM]</a:t>
                </a:r>
                <a:endParaRPr lang="zh-CN" altLang="en-US" sz="1800" b="1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  <p:sp>
            <p:nvSpPr>
              <p:cNvPr id="85007" name="Freeform 25"/>
              <p:cNvSpPr/>
              <p:nvPr/>
            </p:nvSpPr>
            <p:spPr>
              <a:xfrm>
                <a:off x="3560" y="1812"/>
                <a:ext cx="772" cy="1028"/>
              </a:xfrm>
              <a:custGeom>
                <a:avLst/>
                <a:gdLst>
                  <a:gd name="txL" fmla="*/ 0 w 772"/>
                  <a:gd name="txT" fmla="*/ 0 h 1028"/>
                  <a:gd name="txR" fmla="*/ 772 w 772"/>
                  <a:gd name="txB" fmla="*/ 1028 h 1028"/>
                </a:gdLst>
                <a:ahLst/>
                <a:cxnLst>
                  <a:cxn ang="0">
                    <a:pos x="0" y="303"/>
                  </a:cxn>
                  <a:cxn ang="0">
                    <a:pos x="46" y="212"/>
                  </a:cxn>
                  <a:cxn ang="0">
                    <a:pos x="136" y="30"/>
                  </a:cxn>
                  <a:cxn ang="0">
                    <a:pos x="227" y="30"/>
                  </a:cxn>
                  <a:cxn ang="0">
                    <a:pos x="273" y="121"/>
                  </a:cxn>
                  <a:cxn ang="0">
                    <a:pos x="363" y="439"/>
                  </a:cxn>
                  <a:cxn ang="0">
                    <a:pos x="409" y="711"/>
                  </a:cxn>
                  <a:cxn ang="0">
                    <a:pos x="499" y="892"/>
                  </a:cxn>
                  <a:cxn ang="0">
                    <a:pos x="635" y="983"/>
                  </a:cxn>
                  <a:cxn ang="0">
                    <a:pos x="772" y="1028"/>
                  </a:cxn>
                </a:cxnLst>
                <a:rect l="txL" t="txT" r="txR" b="txB"/>
                <a:pathLst>
                  <a:path w="772" h="1028">
                    <a:moveTo>
                      <a:pt x="0" y="303"/>
                    </a:moveTo>
                    <a:cubicBezTo>
                      <a:pt x="11" y="280"/>
                      <a:pt x="23" y="258"/>
                      <a:pt x="46" y="212"/>
                    </a:cubicBezTo>
                    <a:cubicBezTo>
                      <a:pt x="69" y="166"/>
                      <a:pt x="106" y="60"/>
                      <a:pt x="136" y="30"/>
                    </a:cubicBezTo>
                    <a:cubicBezTo>
                      <a:pt x="166" y="0"/>
                      <a:pt x="204" y="15"/>
                      <a:pt x="227" y="30"/>
                    </a:cubicBezTo>
                    <a:cubicBezTo>
                      <a:pt x="250" y="45"/>
                      <a:pt x="250" y="53"/>
                      <a:pt x="273" y="121"/>
                    </a:cubicBezTo>
                    <a:cubicBezTo>
                      <a:pt x="296" y="189"/>
                      <a:pt x="340" y="341"/>
                      <a:pt x="363" y="439"/>
                    </a:cubicBezTo>
                    <a:cubicBezTo>
                      <a:pt x="386" y="537"/>
                      <a:pt x="386" y="636"/>
                      <a:pt x="409" y="711"/>
                    </a:cubicBezTo>
                    <a:cubicBezTo>
                      <a:pt x="432" y="786"/>
                      <a:pt x="461" y="847"/>
                      <a:pt x="499" y="892"/>
                    </a:cubicBezTo>
                    <a:cubicBezTo>
                      <a:pt x="537" y="937"/>
                      <a:pt x="590" y="960"/>
                      <a:pt x="635" y="983"/>
                    </a:cubicBezTo>
                    <a:cubicBezTo>
                      <a:pt x="680" y="1006"/>
                      <a:pt x="749" y="1021"/>
                      <a:pt x="772" y="1028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08" name="Freeform 26"/>
              <p:cNvSpPr/>
              <p:nvPr/>
            </p:nvSpPr>
            <p:spPr>
              <a:xfrm>
                <a:off x="3606" y="1616"/>
                <a:ext cx="1224" cy="1142"/>
              </a:xfrm>
              <a:custGeom>
                <a:avLst/>
                <a:gdLst>
                  <a:gd name="txL" fmla="*/ 0 w 1224"/>
                  <a:gd name="txT" fmla="*/ 0 h 1142"/>
                  <a:gd name="txR" fmla="*/ 1224 w 1224"/>
                  <a:gd name="txB" fmla="*/ 1142 h 1142"/>
                </a:gdLst>
                <a:ahLst/>
                <a:cxnLst>
                  <a:cxn ang="0">
                    <a:pos x="0" y="317"/>
                  </a:cxn>
                  <a:cxn ang="0">
                    <a:pos x="90" y="90"/>
                  </a:cxn>
                  <a:cxn ang="0">
                    <a:pos x="181" y="0"/>
                  </a:cxn>
                  <a:cxn ang="0">
                    <a:pos x="272" y="90"/>
                  </a:cxn>
                  <a:cxn ang="0">
                    <a:pos x="317" y="181"/>
                  </a:cxn>
                  <a:cxn ang="0">
                    <a:pos x="408" y="499"/>
                  </a:cxn>
                  <a:cxn ang="0">
                    <a:pos x="499" y="725"/>
                  </a:cxn>
                  <a:cxn ang="0">
                    <a:pos x="680" y="907"/>
                  </a:cxn>
                  <a:cxn ang="0">
                    <a:pos x="952" y="1088"/>
                  </a:cxn>
                  <a:cxn ang="0">
                    <a:pos x="1134" y="1134"/>
                  </a:cxn>
                  <a:cxn ang="0">
                    <a:pos x="1224" y="1134"/>
                  </a:cxn>
                </a:cxnLst>
                <a:rect l="txL" t="txT" r="txR" b="txB"/>
                <a:pathLst>
                  <a:path w="1224" h="1142">
                    <a:moveTo>
                      <a:pt x="0" y="317"/>
                    </a:moveTo>
                    <a:cubicBezTo>
                      <a:pt x="30" y="230"/>
                      <a:pt x="60" y="143"/>
                      <a:pt x="90" y="90"/>
                    </a:cubicBezTo>
                    <a:cubicBezTo>
                      <a:pt x="120" y="37"/>
                      <a:pt x="151" y="0"/>
                      <a:pt x="181" y="0"/>
                    </a:cubicBezTo>
                    <a:cubicBezTo>
                      <a:pt x="211" y="0"/>
                      <a:pt x="249" y="60"/>
                      <a:pt x="272" y="90"/>
                    </a:cubicBezTo>
                    <a:cubicBezTo>
                      <a:pt x="295" y="120"/>
                      <a:pt x="294" y="113"/>
                      <a:pt x="317" y="181"/>
                    </a:cubicBezTo>
                    <a:cubicBezTo>
                      <a:pt x="340" y="249"/>
                      <a:pt x="378" y="408"/>
                      <a:pt x="408" y="499"/>
                    </a:cubicBezTo>
                    <a:cubicBezTo>
                      <a:pt x="438" y="590"/>
                      <a:pt x="454" y="657"/>
                      <a:pt x="499" y="725"/>
                    </a:cubicBezTo>
                    <a:cubicBezTo>
                      <a:pt x="544" y="793"/>
                      <a:pt x="605" y="847"/>
                      <a:pt x="680" y="907"/>
                    </a:cubicBezTo>
                    <a:cubicBezTo>
                      <a:pt x="755" y="967"/>
                      <a:pt x="877" y="1050"/>
                      <a:pt x="952" y="1088"/>
                    </a:cubicBezTo>
                    <a:cubicBezTo>
                      <a:pt x="1027" y="1126"/>
                      <a:pt x="1089" y="1126"/>
                      <a:pt x="1134" y="1134"/>
                    </a:cubicBezTo>
                    <a:cubicBezTo>
                      <a:pt x="1179" y="1142"/>
                      <a:pt x="1209" y="1134"/>
                      <a:pt x="1224" y="1134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09" name="Freeform 27"/>
              <p:cNvSpPr/>
              <p:nvPr/>
            </p:nvSpPr>
            <p:spPr>
              <a:xfrm>
                <a:off x="3651" y="1389"/>
                <a:ext cx="1270" cy="1043"/>
              </a:xfrm>
              <a:custGeom>
                <a:avLst/>
                <a:gdLst>
                  <a:gd name="txL" fmla="*/ 0 w 1270"/>
                  <a:gd name="txT" fmla="*/ 0 h 1043"/>
                  <a:gd name="txR" fmla="*/ 1270 w 1270"/>
                  <a:gd name="txB" fmla="*/ 1043 h 1043"/>
                </a:gdLst>
                <a:ahLst/>
                <a:cxnLst>
                  <a:cxn ang="0">
                    <a:pos x="0" y="317"/>
                  </a:cxn>
                  <a:cxn ang="0">
                    <a:pos x="91" y="91"/>
                  </a:cxn>
                  <a:cxn ang="0">
                    <a:pos x="182" y="0"/>
                  </a:cxn>
                  <a:cxn ang="0">
                    <a:pos x="363" y="91"/>
                  </a:cxn>
                  <a:cxn ang="0">
                    <a:pos x="635" y="499"/>
                  </a:cxn>
                  <a:cxn ang="0">
                    <a:pos x="771" y="680"/>
                  </a:cxn>
                  <a:cxn ang="0">
                    <a:pos x="1043" y="907"/>
                  </a:cxn>
                  <a:cxn ang="0">
                    <a:pos x="1270" y="1043"/>
                  </a:cxn>
                </a:cxnLst>
                <a:rect l="txL" t="txT" r="txR" b="txB"/>
                <a:pathLst>
                  <a:path w="1270" h="1043">
                    <a:moveTo>
                      <a:pt x="0" y="317"/>
                    </a:moveTo>
                    <a:cubicBezTo>
                      <a:pt x="30" y="230"/>
                      <a:pt x="61" y="144"/>
                      <a:pt x="91" y="91"/>
                    </a:cubicBezTo>
                    <a:cubicBezTo>
                      <a:pt x="121" y="38"/>
                      <a:pt x="137" y="0"/>
                      <a:pt x="182" y="0"/>
                    </a:cubicBezTo>
                    <a:cubicBezTo>
                      <a:pt x="227" y="0"/>
                      <a:pt x="287" y="8"/>
                      <a:pt x="363" y="91"/>
                    </a:cubicBezTo>
                    <a:cubicBezTo>
                      <a:pt x="439" y="174"/>
                      <a:pt x="567" y="401"/>
                      <a:pt x="635" y="499"/>
                    </a:cubicBezTo>
                    <a:cubicBezTo>
                      <a:pt x="703" y="597"/>
                      <a:pt x="703" y="612"/>
                      <a:pt x="771" y="680"/>
                    </a:cubicBezTo>
                    <a:cubicBezTo>
                      <a:pt x="839" y="748"/>
                      <a:pt x="960" y="847"/>
                      <a:pt x="1043" y="907"/>
                    </a:cubicBezTo>
                    <a:cubicBezTo>
                      <a:pt x="1126" y="967"/>
                      <a:pt x="1232" y="1020"/>
                      <a:pt x="1270" y="1043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10" name="Text Box 28"/>
              <p:cNvSpPr txBox="1"/>
              <p:nvPr/>
            </p:nvSpPr>
            <p:spPr>
              <a:xfrm>
                <a:off x="3515" y="2640"/>
                <a:ext cx="64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800" dirty="0">
                    <a:latin typeface="Arial" panose="02080604020202020204" pitchFamily="34" charset="0"/>
                    <a:ea typeface="宋体" pitchFamily="2" charset="-122"/>
                  </a:rPr>
                  <a:t>0.0 [</a:t>
                </a:r>
                <a:r>
                  <a:rPr lang="en-US" altLang="zh-CN" sz="1800" dirty="0">
                    <a:latin typeface="Arial" panose="02080604020202020204" pitchFamily="34" charset="0"/>
                    <a:ea typeface="宋体" pitchFamily="2" charset="-122"/>
                    <a:sym typeface="Symbol" pitchFamily="18" charset="2"/>
                  </a:rPr>
                  <a:t></a:t>
                </a:r>
                <a:r>
                  <a:rPr lang="en-US" altLang="zh-CN" sz="1800" dirty="0">
                    <a:latin typeface="Arial" panose="02080604020202020204" pitchFamily="34" charset="0"/>
                    <a:ea typeface="宋体" pitchFamily="2" charset="-122"/>
                  </a:rPr>
                  <a:t>M]</a:t>
                </a:r>
                <a:endParaRPr lang="en-US" altLang="zh-CN" sz="1800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  <p:sp>
            <p:nvSpPr>
              <p:cNvPr id="85011" name="Text Box 29"/>
              <p:cNvSpPr txBox="1"/>
              <p:nvPr/>
            </p:nvSpPr>
            <p:spPr>
              <a:xfrm>
                <a:off x="4826" y="2630"/>
                <a:ext cx="635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800" dirty="0">
                    <a:latin typeface="Arial" panose="02080604020202020204" pitchFamily="34" charset="0"/>
                    <a:ea typeface="宋体" pitchFamily="2" charset="-122"/>
                  </a:rPr>
                  <a:t>0.1 [</a:t>
                </a:r>
                <a:r>
                  <a:rPr lang="en-US" altLang="zh-CN" sz="1800" dirty="0">
                    <a:latin typeface="Arial" panose="02080604020202020204" pitchFamily="34" charset="0"/>
                    <a:ea typeface="宋体" pitchFamily="2" charset="-122"/>
                    <a:sym typeface="Symbol" pitchFamily="18" charset="2"/>
                  </a:rPr>
                  <a:t></a:t>
                </a:r>
                <a:r>
                  <a:rPr lang="en-US" altLang="zh-CN" sz="1800" dirty="0">
                    <a:latin typeface="Arial" panose="02080604020202020204" pitchFamily="34" charset="0"/>
                    <a:ea typeface="宋体" pitchFamily="2" charset="-122"/>
                  </a:rPr>
                  <a:t>M]</a:t>
                </a:r>
                <a:endParaRPr lang="en-US" altLang="zh-CN" sz="1800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  <p:sp>
            <p:nvSpPr>
              <p:cNvPr id="85012" name="Text Box 30"/>
              <p:cNvSpPr txBox="1"/>
              <p:nvPr/>
            </p:nvSpPr>
            <p:spPr>
              <a:xfrm>
                <a:off x="4868" y="2223"/>
                <a:ext cx="635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8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800" dirty="0">
                    <a:latin typeface="Arial" panose="02080604020202020204" pitchFamily="34" charset="0"/>
                    <a:ea typeface="宋体" pitchFamily="2" charset="-122"/>
                  </a:rPr>
                  <a:t>1.0 [</a:t>
                </a:r>
                <a:r>
                  <a:rPr lang="en-US" altLang="zh-CN" sz="1800" dirty="0">
                    <a:latin typeface="Arial" panose="02080604020202020204" pitchFamily="34" charset="0"/>
                    <a:ea typeface="宋体" pitchFamily="2" charset="-122"/>
                    <a:sym typeface="Symbol" pitchFamily="18" charset="2"/>
                  </a:rPr>
                  <a:t></a:t>
                </a:r>
                <a:r>
                  <a:rPr lang="en-US" altLang="zh-CN" sz="1800" dirty="0">
                    <a:latin typeface="Arial" panose="02080604020202020204" pitchFamily="34" charset="0"/>
                    <a:ea typeface="宋体" pitchFamily="2" charset="-122"/>
                  </a:rPr>
                  <a:t>M]</a:t>
                </a:r>
                <a:endParaRPr lang="en-US" altLang="zh-CN" sz="1800" dirty="0">
                  <a:latin typeface="Arial" panose="02080604020202020204" pitchFamily="34" charset="0"/>
                  <a:ea typeface="宋体" pitchFamily="2" charset="-122"/>
                </a:endParaRPr>
              </a:p>
            </p:txBody>
          </p:sp>
        </p:grpSp>
        <p:sp>
          <p:nvSpPr>
            <p:cNvPr id="85003" name="Text Box 31"/>
            <p:cNvSpPr txBox="1"/>
            <p:nvPr/>
          </p:nvSpPr>
          <p:spPr>
            <a:xfrm rot="10800000">
              <a:off x="3288" y="1570"/>
              <a:ext cx="289" cy="551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1800" b="1" dirty="0">
                  <a:latin typeface="Arial" panose="02080604020202020204" pitchFamily="34" charset="0"/>
                  <a:ea typeface="宋体" pitchFamily="2" charset="-122"/>
                </a:rPr>
                <a:t>PFK </a:t>
              </a:r>
              <a:r>
                <a:rPr lang="en-US" altLang="zh-CN" sz="1800" b="1" dirty="0">
                  <a:latin typeface="Arial" panose="02080604020202020204" pitchFamily="34" charset="0"/>
                  <a:ea typeface="宋体" pitchFamily="2" charset="-122"/>
                  <a:sym typeface="Symbol" pitchFamily="18" charset="2"/>
                </a:rPr>
                <a:t></a:t>
              </a:r>
              <a:endParaRPr lang="en-US" altLang="zh-CN" sz="1800" b="1" dirty="0">
                <a:latin typeface="Arial" panose="02080604020202020204" pitchFamily="34" charset="0"/>
                <a:ea typeface="宋体" pitchFamily="2" charset="-122"/>
                <a:sym typeface="Symbol" pitchFamily="18" charset="2"/>
              </a:endParaRPr>
            </a:p>
          </p:txBody>
        </p:sp>
      </p:grpSp>
      <p:sp>
        <p:nvSpPr>
          <p:cNvPr id="84999" name="Text Box 32"/>
          <p:cNvSpPr txBox="1"/>
          <p:nvPr/>
        </p:nvSpPr>
        <p:spPr>
          <a:xfrm>
            <a:off x="684213" y="4797425"/>
            <a:ext cx="4032250" cy="15525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PFK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催化的反应速度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, 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随底物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F-6-P 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浓度增加而上升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, 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同时受到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F-2,6-BP 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浓度的影响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. F-2,6-BP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刺激</a:t>
            </a: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FPK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活性上升</a:t>
            </a:r>
            <a:endParaRPr lang="en-US" altLang="zh-CN" sz="24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5000" name="Rectangle 33"/>
          <p:cNvSpPr/>
          <p:nvPr/>
        </p:nvSpPr>
        <p:spPr>
          <a:xfrm>
            <a:off x="900113" y="260350"/>
            <a:ext cx="768508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800" b="1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800" b="1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lang="en-US" altLang="zh-CN" sz="2800" b="1" dirty="0">
                <a:solidFill>
                  <a:srgbClr val="CC0000"/>
                </a:solidFill>
                <a:latin typeface="Arial" panose="02080604020202020204" pitchFamily="34" charset="0"/>
                <a:ea typeface="黑体" pitchFamily="49" charset="-122"/>
              </a:rPr>
              <a:t>—</a:t>
            </a:r>
            <a:r>
              <a:rPr lang="zh-CN" altLang="en-US" sz="2800" b="1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</a:rPr>
              <a:t>二磷酸果糖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是磷酸果糖激酶的变构激活剂</a:t>
            </a:r>
            <a:endParaRPr lang="zh-CN" altLang="en-US" sz="2800" b="1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49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9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0210" name="Picture 2" descr="fi16p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08050"/>
            <a:ext cx="5027613" cy="5473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0211" name="Text Box 3"/>
          <p:cNvSpPr txBox="1"/>
          <p:nvPr/>
        </p:nvSpPr>
        <p:spPr>
          <a:xfrm>
            <a:off x="4894263" y="5661025"/>
            <a:ext cx="42497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F2,6BP</a:t>
            </a: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的</a:t>
            </a:r>
            <a:r>
              <a:rPr lang="zh-CN" altLang="en-US" sz="2400" dirty="0">
                <a:solidFill>
                  <a:srgbClr val="E60818"/>
                </a:solidFill>
                <a:latin typeface="隶书" pitchFamily="49" charset="-122"/>
                <a:ea typeface="隶书" pitchFamily="49" charset="-122"/>
              </a:rPr>
              <a:t>前馈刺激作用</a:t>
            </a:r>
            <a:r>
              <a:rPr lang="zh-CN" altLang="en-US" sz="2400" dirty="0">
                <a:latin typeface="Arial" panose="02080604020202020204" pitchFamily="34" charset="0"/>
                <a:ea typeface="宋体" pitchFamily="2" charset="-122"/>
              </a:rPr>
              <a:t>：</a:t>
            </a:r>
            <a:r>
              <a:rPr lang="en-US" altLang="zh-CN" sz="2400" dirty="0">
                <a:latin typeface="Arial" panose="02080604020202020204" pitchFamily="34" charset="0"/>
                <a:ea typeface="宋体" pitchFamily="2" charset="-122"/>
              </a:rPr>
              <a:t>p 84</a:t>
            </a:r>
            <a:endParaRPr lang="en-US" altLang="zh-CN" sz="24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86020" name="Rectangle 4"/>
          <p:cNvSpPr/>
          <p:nvPr/>
        </p:nvSpPr>
        <p:spPr>
          <a:xfrm>
            <a:off x="900113" y="260350"/>
            <a:ext cx="768508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800" b="1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800" b="1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lang="en-US" altLang="zh-CN" sz="2800" b="1" dirty="0">
                <a:solidFill>
                  <a:srgbClr val="CC0000"/>
                </a:solidFill>
                <a:latin typeface="Arial" panose="02080604020202020204" pitchFamily="34" charset="0"/>
                <a:ea typeface="黑体" pitchFamily="49" charset="-122"/>
              </a:rPr>
              <a:t>—</a:t>
            </a:r>
            <a:r>
              <a:rPr lang="zh-CN" altLang="en-US" sz="2800" b="1" dirty="0">
                <a:solidFill>
                  <a:srgbClr val="CC0000"/>
                </a:solidFill>
                <a:latin typeface="黑体" pitchFamily="49" charset="-122"/>
                <a:ea typeface="黑体" pitchFamily="49" charset="-122"/>
              </a:rPr>
              <a:t>二磷酸果糖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是磷酸果糖激酶的变构激活剂</a:t>
            </a:r>
            <a:endParaRPr lang="zh-CN" altLang="en-US" sz="2800" b="1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6021" name="Rectangle 5"/>
          <p:cNvSpPr/>
          <p:nvPr/>
        </p:nvSpPr>
        <p:spPr>
          <a:xfrm>
            <a:off x="5651500" y="3644900"/>
            <a:ext cx="2952750" cy="191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隶书" pitchFamily="49" charset="-122"/>
                <a:ea typeface="隶书" pitchFamily="49" charset="-122"/>
              </a:rPr>
              <a:t>F2,6BP</a:t>
            </a:r>
            <a:r>
              <a:rPr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增加</a:t>
            </a:r>
            <a:r>
              <a:rPr lang="en-US" altLang="zh-CN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PFK-1</a:t>
            </a:r>
            <a:r>
              <a:rPr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酶与其底物的亲和力</a:t>
            </a:r>
            <a:r>
              <a:rPr lang="en-US" altLang="zh-CN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; </a:t>
            </a:r>
            <a:r>
              <a:rPr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降低</a:t>
            </a:r>
            <a:r>
              <a:rPr lang="en-US" altLang="zh-CN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ATP</a:t>
            </a:r>
            <a:r>
              <a:rPr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对</a:t>
            </a:r>
            <a:r>
              <a:rPr lang="en-US" altLang="zh-CN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PFK-1</a:t>
            </a:r>
            <a:r>
              <a:rPr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的抑制作用</a:t>
            </a:r>
            <a:r>
              <a:rPr lang="en-US" altLang="zh-CN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; </a:t>
            </a:r>
            <a:r>
              <a:rPr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抑制</a:t>
            </a:r>
            <a:r>
              <a:rPr lang="en-US" altLang="zh-CN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1,6-FBP </a:t>
            </a:r>
            <a:r>
              <a:rPr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水解酶活性</a:t>
            </a:r>
            <a:endParaRPr lang="en-US" altLang="zh-CN" sz="24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6022" name="Text Box 6"/>
          <p:cNvSpPr txBox="1"/>
          <p:nvPr/>
        </p:nvSpPr>
        <p:spPr>
          <a:xfrm>
            <a:off x="4716463" y="908050"/>
            <a:ext cx="4176712" cy="2465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细胞中发现有两种磷酸果糖激酶，分别称</a:t>
            </a:r>
            <a:r>
              <a:rPr lang="en-US" altLang="zh-CN" sz="2400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PFK-1</a:t>
            </a:r>
            <a:r>
              <a:rPr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和</a:t>
            </a:r>
            <a:r>
              <a:rPr lang="en-US" altLang="zh-CN" sz="2400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PFK-2</a:t>
            </a:r>
            <a:r>
              <a:rPr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。催化同一底物</a:t>
            </a:r>
            <a:r>
              <a:rPr lang="en-US" altLang="zh-CN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F-6P</a:t>
            </a:r>
            <a:r>
              <a:rPr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分别产生</a:t>
            </a:r>
            <a:r>
              <a:rPr lang="en-US" altLang="zh-CN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F1</a:t>
            </a:r>
            <a:r>
              <a:rPr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6-BP</a:t>
            </a:r>
            <a:r>
              <a:rPr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F2</a:t>
            </a:r>
            <a:r>
              <a:rPr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6-BP</a:t>
            </a:r>
            <a:r>
              <a:rPr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也存在两种二磷酸果糖对应的水解酶水解上述两种产物。</a:t>
            </a:r>
            <a:endParaRPr lang="en-US" altLang="zh-CN" sz="2400" dirty="0">
              <a:solidFill>
                <a:srgbClr val="000000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5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2"/>
          <p:cNvSpPr/>
          <p:nvPr/>
        </p:nvSpPr>
        <p:spPr>
          <a:xfrm>
            <a:off x="827088" y="476250"/>
            <a:ext cx="42481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5.2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己糖激酶的调控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7043" name="Text Box 3"/>
          <p:cNvSpPr txBox="1"/>
          <p:nvPr/>
        </p:nvSpPr>
        <p:spPr>
          <a:xfrm>
            <a:off x="2260600" y="3527425"/>
            <a:ext cx="2362200" cy="1289050"/>
          </a:xfrm>
          <a:prstGeom prst="rect">
            <a:avLst/>
          </a:prstGeom>
          <a:solidFill>
            <a:srgbClr val="993300"/>
          </a:solidFill>
          <a:ln w="38100" cap="sq" cmpd="sng">
            <a:solidFill>
              <a:schemeClr val="tx2"/>
            </a:solidFill>
            <a:prstDash val="solid"/>
            <a:miter/>
            <a:headEnd type="none" w="sm" len="sm"/>
            <a:tailEnd type="none" w="sm" len="sm"/>
          </a:ln>
        </p:spPr>
        <p:txBody>
          <a:bodyPr lIns="18000" rIns="18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9F9F9"/>
                </a:solidFill>
                <a:latin typeface="Times New Roman" panose="02020603050405020304" charset="0"/>
                <a:ea typeface="楷体_GB2312" pitchFamily="49" charset="-122"/>
              </a:rPr>
              <a:t>己糖激酶</a:t>
            </a:r>
            <a:endParaRPr lang="zh-CN" altLang="en-US" sz="2800" b="1" dirty="0">
              <a:solidFill>
                <a:srgbClr val="F9F9F9"/>
              </a:solidFill>
              <a:latin typeface="Times New Roman" panose="02020603050405020304" charset="0"/>
              <a:ea typeface="楷体_GB2312" pitchFamily="49" charset="-122"/>
            </a:endParaRPr>
          </a:p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9F9F9"/>
                </a:solidFill>
                <a:latin typeface="Times New Roman" panose="02020603050405020304" charset="0"/>
                <a:ea typeface="楷体_GB2312" pitchFamily="49" charset="-122"/>
              </a:rPr>
              <a:t>hexokinase</a:t>
            </a:r>
            <a:endParaRPr lang="en-US" altLang="zh-CN" b="1" dirty="0">
              <a:solidFill>
                <a:srgbClr val="F9F9F9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sp>
        <p:nvSpPr>
          <p:cNvPr id="87044" name="Text Box 4"/>
          <p:cNvSpPr txBox="1"/>
          <p:nvPr/>
        </p:nvSpPr>
        <p:spPr>
          <a:xfrm>
            <a:off x="1468438" y="1366838"/>
            <a:ext cx="1447800" cy="116046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G-6-P</a:t>
            </a:r>
            <a:endParaRPr lang="en-US" altLang="zh-CN" sz="2800" b="1" dirty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ADP</a:t>
            </a:r>
            <a:endParaRPr lang="en-US" altLang="zh-CN" sz="2800" b="1" dirty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7045" name="Freeform 5"/>
          <p:cNvSpPr/>
          <p:nvPr/>
        </p:nvSpPr>
        <p:spPr>
          <a:xfrm rot="-1498233">
            <a:off x="2476500" y="2447925"/>
            <a:ext cx="360363" cy="1081088"/>
          </a:xfrm>
          <a:custGeom>
            <a:avLst/>
            <a:gdLst>
              <a:gd name="txL" fmla="*/ 0 w 1"/>
              <a:gd name="txT" fmla="*/ 0 h 906"/>
              <a:gd name="txR" fmla="*/ 1 w 1"/>
              <a:gd name="txB" fmla="*/ 906 h 906"/>
            </a:gdLst>
            <a:ahLst/>
            <a:cxnLst>
              <a:cxn ang="0">
                <a:pos x="0" y="2147483646"/>
              </a:cxn>
              <a:cxn ang="0">
                <a:pos x="0" y="0"/>
              </a:cxn>
            </a:cxnLst>
            <a:rect l="txL" t="txT" r="txR" b="txB"/>
            <a:pathLst>
              <a:path w="1" h="906">
                <a:moveTo>
                  <a:pt x="0" y="906"/>
                </a:moveTo>
                <a:lnTo>
                  <a:pt x="0" y="0"/>
                </a:lnTo>
              </a:path>
            </a:pathLst>
          </a:custGeom>
          <a:noFill/>
          <a:ln w="38100" cap="sq" cmpd="sng">
            <a:solidFill>
              <a:srgbClr val="FF0000">
                <a:alpha val="100000"/>
              </a:srgbClr>
            </a:solidFill>
            <a:prstDash val="solid"/>
            <a:round/>
            <a:headEnd type="triangle" w="med" len="lg"/>
            <a:tailEnd type="none" w="med" len="lg"/>
          </a:ln>
        </p:spPr>
        <p:txBody>
          <a:bodyPr/>
          <a:p>
            <a:endParaRPr lang="zh-CN" altLang="en-US"/>
          </a:p>
        </p:txBody>
      </p:sp>
      <p:grpSp>
        <p:nvGrpSpPr>
          <p:cNvPr id="87046" name="Group 6"/>
          <p:cNvGrpSpPr/>
          <p:nvPr/>
        </p:nvGrpSpPr>
        <p:grpSpPr>
          <a:xfrm>
            <a:off x="2476500" y="2519363"/>
            <a:ext cx="685800" cy="579437"/>
            <a:chOff x="1680" y="1920"/>
            <a:chExt cx="432" cy="365"/>
          </a:xfrm>
        </p:grpSpPr>
        <p:sp>
          <p:nvSpPr>
            <p:cNvPr id="87055" name="Text Box 7"/>
            <p:cNvSpPr txBox="1"/>
            <p:nvPr/>
          </p:nvSpPr>
          <p:spPr>
            <a:xfrm>
              <a:off x="1680" y="1920"/>
              <a:ext cx="432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 dirty="0">
                  <a:solidFill>
                    <a:srgbClr val="CC0000"/>
                  </a:solidFill>
                  <a:latin typeface="Times New Roman" panose="02020603050405020304" charset="0"/>
                  <a:ea typeface="宋体" pitchFamily="2" charset="-122"/>
                </a:rPr>
                <a:t>-</a:t>
              </a:r>
              <a:endParaRPr lang="en-US" altLang="zh-CN" b="1" dirty="0">
                <a:solidFill>
                  <a:srgbClr val="CC0000"/>
                </a:solidFill>
                <a:latin typeface="Times New Roman" panose="02020603050405020304" charset="0"/>
                <a:ea typeface="宋体" pitchFamily="2" charset="-122"/>
              </a:endParaRPr>
            </a:p>
          </p:txBody>
        </p:sp>
        <p:sp>
          <p:nvSpPr>
            <p:cNvPr id="87056" name="Oval 8"/>
            <p:cNvSpPr/>
            <p:nvPr/>
          </p:nvSpPr>
          <p:spPr>
            <a:xfrm>
              <a:off x="1768" y="2016"/>
              <a:ext cx="240" cy="240"/>
            </a:xfrm>
            <a:prstGeom prst="ellipse">
              <a:avLst/>
            </a:prstGeom>
            <a:noFill/>
            <a:ln w="25400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</p:grpSp>
      <p:sp>
        <p:nvSpPr>
          <p:cNvPr id="87047" name="Text Box 9"/>
          <p:cNvSpPr txBox="1"/>
          <p:nvPr/>
        </p:nvSpPr>
        <p:spPr>
          <a:xfrm>
            <a:off x="287338" y="5300663"/>
            <a:ext cx="8856662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葡萄糖激酶作用时，表明细胞葡萄糖浓度高，细胞中酵解水平下调，而糖原合成等代谢途径水平相应增高。</a:t>
            </a:r>
            <a:endParaRPr lang="zh-CN" altLang="en-US" sz="2800" b="1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7048" name="Text Box 10"/>
          <p:cNvSpPr txBox="1"/>
          <p:nvPr/>
        </p:nvSpPr>
        <p:spPr>
          <a:xfrm>
            <a:off x="4637088" y="1800225"/>
            <a:ext cx="1439862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87049" name="Text Box 11"/>
          <p:cNvSpPr txBox="1"/>
          <p:nvPr/>
        </p:nvSpPr>
        <p:spPr>
          <a:xfrm>
            <a:off x="4421188" y="1295400"/>
            <a:ext cx="1447800" cy="10160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隶书" pitchFamily="49" charset="-122"/>
                <a:ea typeface="隶书" pitchFamily="49" charset="-122"/>
              </a:rPr>
              <a:t>Pi</a:t>
            </a:r>
            <a:endParaRPr lang="en-US" altLang="zh-CN" sz="2400" b="1" dirty="0">
              <a:solidFill>
                <a:srgbClr val="00B05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00B050"/>
                </a:solidFill>
                <a:latin typeface="隶书" pitchFamily="49" charset="-122"/>
                <a:ea typeface="隶书" pitchFamily="49" charset="-122"/>
              </a:rPr>
              <a:t>柠檬酸</a:t>
            </a:r>
            <a:endParaRPr lang="zh-CN" altLang="en-US" sz="2400" b="1" dirty="0">
              <a:solidFill>
                <a:srgbClr val="00B05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7050" name="Freeform 12"/>
          <p:cNvSpPr/>
          <p:nvPr/>
        </p:nvSpPr>
        <p:spPr>
          <a:xfrm rot="1923611" flipH="1">
            <a:off x="3360738" y="2095500"/>
            <a:ext cx="1371600" cy="1176338"/>
          </a:xfrm>
          <a:custGeom>
            <a:avLst/>
            <a:gdLst>
              <a:gd name="txL" fmla="*/ 0 w 1"/>
              <a:gd name="txT" fmla="*/ 0 h 906"/>
              <a:gd name="txR" fmla="*/ 1 w 1"/>
              <a:gd name="txB" fmla="*/ 906 h 906"/>
            </a:gdLst>
            <a:ahLst/>
            <a:cxnLst>
              <a:cxn ang="0">
                <a:pos x="0" y="2147483646"/>
              </a:cxn>
              <a:cxn ang="0">
                <a:pos x="0" y="0"/>
              </a:cxn>
            </a:cxnLst>
            <a:rect l="txL" t="txT" r="txR" b="txB"/>
            <a:pathLst>
              <a:path w="1" h="906">
                <a:moveTo>
                  <a:pt x="0" y="906"/>
                </a:moveTo>
                <a:lnTo>
                  <a:pt x="0" y="0"/>
                </a:lnTo>
              </a:path>
            </a:pathLst>
          </a:custGeom>
          <a:noFill/>
          <a:ln w="38100" cap="sq" cmpd="sng">
            <a:solidFill>
              <a:srgbClr val="00B050">
                <a:alpha val="100000"/>
              </a:srgbClr>
            </a:solidFill>
            <a:prstDash val="solid"/>
            <a:round/>
            <a:headEnd type="triangle" w="med" len="lg"/>
            <a:tailEnd type="none" w="med" len="lg"/>
          </a:ln>
        </p:spPr>
        <p:txBody>
          <a:bodyPr/>
          <a:p>
            <a:endParaRPr lang="zh-CN" altLang="en-US"/>
          </a:p>
        </p:txBody>
      </p:sp>
      <p:grpSp>
        <p:nvGrpSpPr>
          <p:cNvPr id="87051" name="Group 13"/>
          <p:cNvGrpSpPr/>
          <p:nvPr/>
        </p:nvGrpSpPr>
        <p:grpSpPr>
          <a:xfrm>
            <a:off x="4005263" y="2527300"/>
            <a:ext cx="685800" cy="579438"/>
            <a:chOff x="1680" y="1920"/>
            <a:chExt cx="432" cy="365"/>
          </a:xfrm>
        </p:grpSpPr>
        <p:sp>
          <p:nvSpPr>
            <p:cNvPr id="87053" name="Text Box 14"/>
            <p:cNvSpPr txBox="1"/>
            <p:nvPr/>
          </p:nvSpPr>
          <p:spPr>
            <a:xfrm>
              <a:off x="1680" y="1920"/>
              <a:ext cx="432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b="1" dirty="0">
                  <a:solidFill>
                    <a:srgbClr val="00B050"/>
                  </a:solidFill>
                  <a:latin typeface="Times New Roman" panose="02020603050405020304" charset="0"/>
                  <a:ea typeface="宋体" pitchFamily="2" charset="-122"/>
                </a:rPr>
                <a:t>+</a:t>
              </a:r>
              <a:endParaRPr lang="en-US" altLang="zh-CN" b="1" dirty="0">
                <a:solidFill>
                  <a:srgbClr val="00B050"/>
                </a:solidFill>
                <a:latin typeface="Times New Roman" panose="02020603050405020304" charset="0"/>
                <a:ea typeface="宋体" pitchFamily="2" charset="-122"/>
              </a:endParaRPr>
            </a:p>
          </p:txBody>
        </p:sp>
        <p:sp>
          <p:nvSpPr>
            <p:cNvPr id="87054" name="Oval 15"/>
            <p:cNvSpPr/>
            <p:nvPr/>
          </p:nvSpPr>
          <p:spPr>
            <a:xfrm>
              <a:off x="1768" y="2016"/>
              <a:ext cx="240" cy="240"/>
            </a:xfrm>
            <a:prstGeom prst="ellipse">
              <a:avLst/>
            </a:prstGeom>
            <a:noFill/>
            <a:ln w="25400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</p:grpSp>
      <p:sp>
        <p:nvSpPr>
          <p:cNvPr id="87052" name="Text Box 16"/>
          <p:cNvSpPr txBox="1"/>
          <p:nvPr/>
        </p:nvSpPr>
        <p:spPr>
          <a:xfrm>
            <a:off x="5716588" y="2808288"/>
            <a:ext cx="2484437" cy="2017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Arial" panose="02080604020202020204" pitchFamily="34" charset="0"/>
                <a:ea typeface="宋体" pitchFamily="2" charset="-122"/>
              </a:rPr>
              <a:t>参考阅读</a:t>
            </a: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P69</a:t>
            </a:r>
            <a:endParaRPr lang="en-US" altLang="zh-CN" sz="1800" dirty="0"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I</a:t>
            </a:r>
            <a:r>
              <a:rPr lang="zh-CN" altLang="en-US" sz="1800" dirty="0">
                <a:latin typeface="Arial" panose="02080604020202020204" pitchFamily="34" charset="0"/>
                <a:ea typeface="宋体" pitchFamily="2" charset="-122"/>
              </a:rPr>
              <a:t>型：脑、肾</a:t>
            </a: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II</a:t>
            </a:r>
            <a:r>
              <a:rPr lang="zh-CN" altLang="en-US" sz="1800" dirty="0">
                <a:latin typeface="Arial" panose="02080604020202020204" pitchFamily="34" charset="0"/>
                <a:ea typeface="宋体" pitchFamily="2" charset="-122"/>
              </a:rPr>
              <a:t>型：骨骼肌、心肌</a:t>
            </a: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III</a:t>
            </a:r>
            <a:r>
              <a:rPr lang="zh-CN" altLang="en-US" sz="1800" dirty="0">
                <a:latin typeface="Arial" panose="02080604020202020204" pitchFamily="34" charset="0"/>
                <a:ea typeface="宋体" pitchFamily="2" charset="-122"/>
              </a:rPr>
              <a:t>型：肝、肺</a:t>
            </a: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IV</a:t>
            </a:r>
            <a:r>
              <a:rPr lang="zh-CN" altLang="en-US" sz="1800" dirty="0">
                <a:latin typeface="Arial" panose="02080604020202020204" pitchFamily="34" charset="0"/>
                <a:ea typeface="宋体" pitchFamily="2" charset="-122"/>
              </a:rPr>
              <a:t>型</a:t>
            </a: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=</a:t>
            </a:r>
            <a:r>
              <a:rPr lang="zh-CN" altLang="en-US" sz="1800" dirty="0">
                <a:latin typeface="Arial" panose="02080604020202020204" pitchFamily="34" charset="0"/>
                <a:ea typeface="宋体" pitchFamily="2" charset="-122"/>
              </a:rPr>
              <a:t>葡萄糖激酶：肝</a:t>
            </a: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3282" name="Text Box 2"/>
          <p:cNvSpPr txBox="1"/>
          <p:nvPr/>
        </p:nvSpPr>
        <p:spPr>
          <a:xfrm>
            <a:off x="2700338" y="4073525"/>
            <a:ext cx="3048000" cy="1198563"/>
          </a:xfrm>
          <a:prstGeom prst="rect">
            <a:avLst/>
          </a:prstGeom>
          <a:solidFill>
            <a:srgbClr val="993300"/>
          </a:solidFill>
          <a:ln w="38100" cap="sq" cmpd="sng">
            <a:solidFill>
              <a:schemeClr val="tx2"/>
            </a:solidFill>
            <a:prstDash val="solid"/>
            <a:miter/>
            <a:headEnd type="none" w="sm" len="sm"/>
            <a:tailEnd type="none" w="sm" len="sm"/>
          </a:ln>
        </p:spPr>
        <p:txBody>
          <a:bodyPr lIns="18000" rIns="18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9F9F9"/>
                </a:solidFill>
                <a:latin typeface="Times New Roman" panose="02020603050405020304" charset="0"/>
                <a:ea typeface="楷体_GB2312" pitchFamily="49" charset="-122"/>
              </a:rPr>
              <a:t>丙酮酸激酶</a:t>
            </a:r>
            <a:endParaRPr lang="zh-CN" altLang="en-US" sz="2800" b="1" dirty="0">
              <a:solidFill>
                <a:srgbClr val="F9F9F9"/>
              </a:solidFill>
              <a:latin typeface="Times New Roman" panose="02020603050405020304" charset="0"/>
              <a:ea typeface="楷体_GB2312" pitchFamily="49" charset="-122"/>
            </a:endParaRPr>
          </a:p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9F9F9"/>
                </a:solidFill>
                <a:latin typeface="Times New Roman" panose="02020603050405020304" charset="0"/>
                <a:ea typeface="楷体_GB2312" pitchFamily="49" charset="-122"/>
              </a:rPr>
              <a:t>pyruvate kinase</a:t>
            </a:r>
            <a:endParaRPr lang="en-US" altLang="zh-CN" sz="2800" b="1" dirty="0">
              <a:solidFill>
                <a:srgbClr val="F9F9F9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403350" y="1666875"/>
            <a:ext cx="2362200" cy="2349500"/>
            <a:chOff x="975" y="1597"/>
            <a:chExt cx="1488" cy="1480"/>
          </a:xfrm>
        </p:grpSpPr>
        <p:sp>
          <p:nvSpPr>
            <p:cNvPr id="88078" name="Text Box 4"/>
            <p:cNvSpPr txBox="1"/>
            <p:nvPr/>
          </p:nvSpPr>
          <p:spPr>
            <a:xfrm>
              <a:off x="975" y="1597"/>
              <a:ext cx="1344" cy="756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charset="0"/>
                  <a:ea typeface="楷体_GB2312" pitchFamily="49" charset="-122"/>
                </a:rPr>
                <a:t>ATP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楷体_GB2312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隶书" pitchFamily="49" charset="-122"/>
                  <a:ea typeface="隶书" pitchFamily="49" charset="-122"/>
                </a:rPr>
                <a:t>丙氨酸</a:t>
              </a:r>
              <a:r>
                <a:rPr lang="en-US" altLang="zh-CN" sz="2400" b="1" dirty="0">
                  <a:solidFill>
                    <a:srgbClr val="FF0000"/>
                  </a:solidFill>
                  <a:latin typeface="隶书" pitchFamily="49" charset="-122"/>
                  <a:ea typeface="隶书" pitchFamily="49" charset="-122"/>
                </a:rPr>
                <a:t>(</a:t>
              </a:r>
              <a:r>
                <a:rPr lang="zh-CN" altLang="en-US" sz="2400" b="1" dirty="0">
                  <a:solidFill>
                    <a:srgbClr val="FF0000"/>
                  </a:solidFill>
                  <a:latin typeface="隶书" pitchFamily="49" charset="-122"/>
                  <a:ea typeface="隶书" pitchFamily="49" charset="-122"/>
                </a:rPr>
                <a:t>肝</a:t>
              </a:r>
              <a:r>
                <a:rPr lang="en-US" altLang="zh-CN" sz="2400" b="1" dirty="0">
                  <a:solidFill>
                    <a:srgbClr val="FF0000"/>
                  </a:solidFill>
                  <a:latin typeface="隶书" pitchFamily="49" charset="-122"/>
                  <a:ea typeface="隶书" pitchFamily="49" charset="-122"/>
                </a:rPr>
                <a:t>)</a:t>
              </a:r>
              <a:endParaRPr lang="en-US" altLang="zh-CN" sz="24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隶书" pitchFamily="49" charset="-122"/>
                  <a:ea typeface="隶书" pitchFamily="49" charset="-122"/>
                </a:rPr>
                <a:t>乙酰</a:t>
              </a:r>
              <a:r>
                <a:rPr lang="en-US" altLang="zh-CN" sz="2400" b="1" dirty="0">
                  <a:solidFill>
                    <a:srgbClr val="FF0000"/>
                  </a:solidFill>
                  <a:latin typeface="隶书" pitchFamily="49" charset="-122"/>
                  <a:ea typeface="隶书" pitchFamily="49" charset="-122"/>
                </a:rPr>
                <a:t>CoA</a:t>
              </a:r>
              <a:endParaRPr lang="en-US" altLang="zh-CN" sz="24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endParaRPr>
            </a:p>
          </p:txBody>
        </p:sp>
        <p:sp>
          <p:nvSpPr>
            <p:cNvPr id="88079" name="Freeform 5"/>
            <p:cNvSpPr/>
            <p:nvPr/>
          </p:nvSpPr>
          <p:spPr>
            <a:xfrm>
              <a:off x="1842" y="2258"/>
              <a:ext cx="471" cy="819"/>
            </a:xfrm>
            <a:custGeom>
              <a:avLst/>
              <a:gdLst>
                <a:gd name="txL" fmla="*/ 0 w 471"/>
                <a:gd name="txT" fmla="*/ 0 h 819"/>
                <a:gd name="txR" fmla="*/ 471 w 471"/>
                <a:gd name="txB" fmla="*/ 819 h 819"/>
              </a:gdLst>
              <a:ahLst/>
              <a:cxnLst>
                <a:cxn ang="0">
                  <a:pos x="471" y="819"/>
                </a:cxn>
                <a:cxn ang="0">
                  <a:pos x="0" y="0"/>
                </a:cxn>
              </a:cxnLst>
              <a:rect l="txL" t="txT" r="txR" b="txB"/>
              <a:pathLst>
                <a:path w="471" h="819">
                  <a:moveTo>
                    <a:pt x="471" y="819"/>
                  </a:moveTo>
                  <a:lnTo>
                    <a:pt x="0" y="0"/>
                  </a:lnTo>
                </a:path>
              </a:pathLst>
            </a:custGeom>
            <a:noFill/>
            <a:ln w="38100" cap="sq" cmpd="sng">
              <a:solidFill>
                <a:srgbClr val="FF0000">
                  <a:alpha val="100000"/>
                </a:srgbClr>
              </a:solidFill>
              <a:prstDash val="solid"/>
              <a:round/>
              <a:headEnd type="triangle" w="med" len="lg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8080" name="Text Box 6"/>
            <p:cNvSpPr txBox="1"/>
            <p:nvPr/>
          </p:nvSpPr>
          <p:spPr>
            <a:xfrm>
              <a:off x="2031" y="2317"/>
              <a:ext cx="432" cy="404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3600" b="1" dirty="0">
                  <a:solidFill>
                    <a:srgbClr val="FF0000"/>
                  </a:solidFill>
                  <a:latin typeface="Times New Roman" panose="02020603050405020304" charset="0"/>
                  <a:ea typeface="宋体" pitchFamily="2" charset="-122"/>
                </a:rPr>
                <a:t>-</a:t>
              </a:r>
              <a:endParaRPr lang="en-US" altLang="zh-CN" sz="3600" b="1" dirty="0">
                <a:solidFill>
                  <a:srgbClr val="FF0000"/>
                </a:solidFill>
                <a:latin typeface="Times New Roman" panose="02020603050405020304" charset="0"/>
                <a:ea typeface="宋体" pitchFamily="2" charset="-122"/>
              </a:endParaRPr>
            </a:p>
          </p:txBody>
        </p:sp>
        <p:sp>
          <p:nvSpPr>
            <p:cNvPr id="88081" name="Oval 7"/>
            <p:cNvSpPr/>
            <p:nvPr/>
          </p:nvSpPr>
          <p:spPr>
            <a:xfrm>
              <a:off x="2127" y="2426"/>
              <a:ext cx="240" cy="240"/>
            </a:xfrm>
            <a:prstGeom prst="ellipse">
              <a:avLst/>
            </a:prstGeom>
            <a:noFill/>
            <a:ln w="25400" cap="sq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</p:grpSp>
      <p:sp>
        <p:nvSpPr>
          <p:cNvPr id="88068" name="Text Box 8"/>
          <p:cNvSpPr txBox="1"/>
          <p:nvPr/>
        </p:nvSpPr>
        <p:spPr>
          <a:xfrm>
            <a:off x="5003800" y="1697038"/>
            <a:ext cx="3048000" cy="10160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隶书" pitchFamily="49" charset="-122"/>
                <a:ea typeface="隶书" pitchFamily="49" charset="-122"/>
              </a:rPr>
              <a:t>PEP</a:t>
            </a:r>
            <a:endParaRPr lang="en-US" altLang="zh-CN" sz="2400" b="1" dirty="0">
              <a:solidFill>
                <a:srgbClr val="00B050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隶书" pitchFamily="49" charset="-122"/>
                <a:ea typeface="隶书" pitchFamily="49" charset="-122"/>
              </a:rPr>
              <a:t>1,6-</a:t>
            </a:r>
            <a:r>
              <a:rPr lang="zh-CN" altLang="en-US" sz="2400" b="1" dirty="0">
                <a:solidFill>
                  <a:srgbClr val="00B050"/>
                </a:solidFill>
                <a:latin typeface="隶书" pitchFamily="49" charset="-122"/>
                <a:ea typeface="隶书" pitchFamily="49" charset="-122"/>
              </a:rPr>
              <a:t>二磷酸果糖</a:t>
            </a:r>
            <a:endParaRPr lang="zh-CN" altLang="en-US" sz="2400" b="1" dirty="0">
              <a:solidFill>
                <a:srgbClr val="00B05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8069" name="Freeform 9"/>
          <p:cNvSpPr/>
          <p:nvPr/>
        </p:nvSpPr>
        <p:spPr>
          <a:xfrm>
            <a:off x="5421313" y="2776538"/>
            <a:ext cx="663575" cy="1243012"/>
          </a:xfrm>
          <a:custGeom>
            <a:avLst/>
            <a:gdLst>
              <a:gd name="txL" fmla="*/ 0 w 525"/>
              <a:gd name="txT" fmla="*/ 0 h 923"/>
              <a:gd name="txR" fmla="*/ 525 w 525"/>
              <a:gd name="txB" fmla="*/ 923 h 923"/>
            </a:gdLst>
            <a:ahLst/>
            <a:cxnLst>
              <a:cxn ang="0">
                <a:pos x="0" y="2147483646"/>
              </a:cxn>
              <a:cxn ang="0">
                <a:pos x="2147483646" y="0"/>
              </a:cxn>
            </a:cxnLst>
            <a:rect l="txL" t="txT" r="txR" b="txB"/>
            <a:pathLst>
              <a:path w="525" h="923">
                <a:moveTo>
                  <a:pt x="0" y="923"/>
                </a:moveTo>
                <a:lnTo>
                  <a:pt x="525" y="0"/>
                </a:lnTo>
              </a:path>
            </a:pathLst>
          </a:custGeom>
          <a:noFill/>
          <a:ln w="38100" cap="sq" cmpd="sng">
            <a:solidFill>
              <a:srgbClr val="00B050">
                <a:alpha val="100000"/>
              </a:srgbClr>
            </a:solidFill>
            <a:prstDash val="solid"/>
            <a:round/>
            <a:headEnd type="triangle" w="med" len="lg"/>
            <a:tailEnd type="none" w="med" len="lg"/>
          </a:ln>
        </p:spPr>
        <p:txBody>
          <a:bodyPr/>
          <a:p>
            <a:endParaRPr lang="zh-CN" altLang="en-US"/>
          </a:p>
        </p:txBody>
      </p:sp>
      <p:grpSp>
        <p:nvGrpSpPr>
          <p:cNvPr id="88070" name="Group 10"/>
          <p:cNvGrpSpPr/>
          <p:nvPr/>
        </p:nvGrpSpPr>
        <p:grpSpPr>
          <a:xfrm>
            <a:off x="5156200" y="2755900"/>
            <a:ext cx="685800" cy="641350"/>
            <a:chOff x="1680" y="1920"/>
            <a:chExt cx="432" cy="404"/>
          </a:xfrm>
        </p:grpSpPr>
        <p:sp>
          <p:nvSpPr>
            <p:cNvPr id="88076" name="Text Box 11"/>
            <p:cNvSpPr txBox="1"/>
            <p:nvPr/>
          </p:nvSpPr>
          <p:spPr>
            <a:xfrm>
              <a:off x="1680" y="1920"/>
              <a:ext cx="432" cy="404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3600" b="1" dirty="0">
                  <a:solidFill>
                    <a:srgbClr val="00B050"/>
                  </a:solidFill>
                  <a:latin typeface="Times New Roman" panose="02020603050405020304" charset="0"/>
                  <a:ea typeface="宋体" pitchFamily="2" charset="-122"/>
                </a:rPr>
                <a:t>+</a:t>
              </a:r>
              <a:endParaRPr lang="en-US" altLang="zh-CN" sz="3600" b="1" dirty="0">
                <a:solidFill>
                  <a:srgbClr val="00B050"/>
                </a:solidFill>
                <a:latin typeface="Times New Roman" panose="02020603050405020304" charset="0"/>
                <a:ea typeface="宋体" pitchFamily="2" charset="-122"/>
              </a:endParaRPr>
            </a:p>
          </p:txBody>
        </p:sp>
        <p:sp>
          <p:nvSpPr>
            <p:cNvPr id="88077" name="Oval 12"/>
            <p:cNvSpPr/>
            <p:nvPr/>
          </p:nvSpPr>
          <p:spPr>
            <a:xfrm>
              <a:off x="1768" y="2016"/>
              <a:ext cx="240" cy="240"/>
            </a:xfrm>
            <a:prstGeom prst="ellipse">
              <a:avLst/>
            </a:prstGeom>
            <a:noFill/>
            <a:ln w="25400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8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1800" dirty="0">
                <a:latin typeface="Arial" panose="02080604020202020204" pitchFamily="34" charset="0"/>
                <a:ea typeface="宋体" pitchFamily="2" charset="-122"/>
              </a:endParaRPr>
            </a:p>
          </p:txBody>
        </p:sp>
      </p:grpSp>
      <p:sp>
        <p:nvSpPr>
          <p:cNvPr id="88071" name="Rectangle 13"/>
          <p:cNvSpPr/>
          <p:nvPr/>
        </p:nvSpPr>
        <p:spPr>
          <a:xfrm>
            <a:off x="1187450" y="549275"/>
            <a:ext cx="37592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35000"/>
              </a:spcBef>
              <a:buFontTx/>
              <a:buNone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5.3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丙酮酸激酶的调控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8072" name="Text Box 14"/>
          <p:cNvSpPr txBox="1"/>
          <p:nvPr/>
        </p:nvSpPr>
        <p:spPr>
          <a:xfrm>
            <a:off x="5076825" y="301625"/>
            <a:ext cx="3671888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Arial" panose="02080604020202020204" pitchFamily="34" charset="0"/>
                <a:ea typeface="隶书" pitchFamily="49" charset="-122"/>
              </a:rPr>
              <a:t>变构调节</a:t>
            </a:r>
            <a:endParaRPr lang="zh-CN" altLang="en-US" sz="2800" b="1" dirty="0">
              <a:latin typeface="Arial" panose="02080604020202020204" pitchFamily="34" charset="0"/>
              <a:ea typeface="隶书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Arial" panose="02080604020202020204" pitchFamily="34" charset="0"/>
                <a:ea typeface="隶书" pitchFamily="49" charset="-122"/>
              </a:rPr>
              <a:t>共价修饰（肝脏）</a:t>
            </a:r>
            <a:endParaRPr lang="zh-CN" altLang="en-US" sz="2800" b="1" dirty="0"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353295" name="Rectangle 15"/>
          <p:cNvSpPr/>
          <p:nvPr/>
        </p:nvSpPr>
        <p:spPr>
          <a:xfrm>
            <a:off x="539750" y="5561013"/>
            <a:ext cx="8389938" cy="946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蛋白激酶</a:t>
            </a:r>
            <a:r>
              <a:rPr lang="en-US" altLang="zh-CN" sz="2800" b="1" dirty="0">
                <a:latin typeface="隶书" pitchFamily="49" charset="-122"/>
                <a:ea typeface="隶书" pitchFamily="49" charset="-122"/>
              </a:rPr>
              <a:t>A</a:t>
            </a:r>
            <a:r>
              <a:rPr lang="zh-CN" altLang="en-US" sz="2800" b="1" dirty="0">
                <a:latin typeface="隶书" pitchFamily="49" charset="-122"/>
                <a:ea typeface="隶书" pitchFamily="49" charset="-122"/>
              </a:rPr>
              <a:t>可使肝脏丙酮酸激酶磷酸化失活。但肌肉中不会。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8074" name="Text Box 16"/>
          <p:cNvSpPr txBox="1"/>
          <p:nvPr/>
        </p:nvSpPr>
        <p:spPr>
          <a:xfrm>
            <a:off x="6443663" y="4505325"/>
            <a:ext cx="2016125" cy="779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P85</a:t>
            </a:r>
            <a:r>
              <a:rPr lang="zh-CN" altLang="en-US" sz="1800" dirty="0">
                <a:latin typeface="Arial" panose="02080604020202020204" pitchFamily="34" charset="0"/>
                <a:ea typeface="宋体" pitchFamily="2" charset="-122"/>
              </a:rPr>
              <a:t>图</a:t>
            </a:r>
            <a:r>
              <a:rPr lang="en-US" altLang="zh-CN" sz="1800" dirty="0">
                <a:latin typeface="Arial" panose="02080604020202020204" pitchFamily="34" charset="0"/>
                <a:ea typeface="宋体" pitchFamily="2" charset="-122"/>
              </a:rPr>
              <a:t>22-17</a:t>
            </a:r>
            <a:endParaRPr lang="en-US" altLang="zh-CN" sz="18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88075" name="AutoShape 17"/>
          <p:cNvSpPr/>
          <p:nvPr/>
        </p:nvSpPr>
        <p:spPr>
          <a:xfrm>
            <a:off x="5003800" y="620713"/>
            <a:ext cx="73025" cy="576262"/>
          </a:xfrm>
          <a:prstGeom prst="leftBrace">
            <a:avLst>
              <a:gd name="adj1" fmla="val 6576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53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2" grpId="0" animBg="1"/>
      <p:bldP spid="35329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Text Box 2"/>
          <p:cNvSpPr txBox="1"/>
          <p:nvPr/>
        </p:nvSpPr>
        <p:spPr>
          <a:xfrm>
            <a:off x="444500" y="908050"/>
            <a:ext cx="671513" cy="489267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vert="eaVert"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charset="0"/>
                <a:ea typeface="宋体" pitchFamily="2" charset="-122"/>
              </a:rPr>
              <a:t>糖酵解的主要调控步骤一览</a:t>
            </a:r>
            <a:endParaRPr lang="zh-CN" altLang="en-US" b="1" dirty="0">
              <a:latin typeface="Times New Roman" panose="02020603050405020304" charset="0"/>
              <a:ea typeface="宋体" pitchFamily="2" charset="-122"/>
            </a:endParaRPr>
          </a:p>
        </p:txBody>
      </p:sp>
      <p:pic>
        <p:nvPicPr>
          <p:cNvPr id="89091" name="Picture 3" descr="未标题-1 拷贝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8838" y="88900"/>
            <a:ext cx="5322887" cy="6724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rd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2"/>
          <p:cNvSpPr/>
          <p:nvPr/>
        </p:nvSpPr>
        <p:spPr>
          <a:xfrm>
            <a:off x="539750" y="1412875"/>
            <a:ext cx="8281988" cy="41544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F2,6BP</a:t>
            </a:r>
            <a:r>
              <a:rPr lang="en-US" altLang="zh-CN" sz="1800" b="1" dirty="0">
                <a:latin typeface="Arial" panose="02080604020202020204" pitchFamily="34" charset="0"/>
                <a:ea typeface="宋体" pitchFamily="2" charset="-122"/>
              </a:rPr>
              <a:t> – 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PFK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激活剂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开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酵解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F1,6BP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Arial" panose="02080604020202020204" pitchFamily="34" charset="0"/>
                <a:ea typeface="楷体_GB2312" pitchFamily="49" charset="-122"/>
              </a:rPr>
              <a:t>–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PFK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激活剂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开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酵解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柠檬酸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-TCA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产生，细胞高能荷指示剂，抑制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PFK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和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PFK-2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      (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关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酵解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) 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ATP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Arial" panose="02080604020202020204" pitchFamily="34" charset="0"/>
                <a:ea typeface="楷体_GB2312" pitchFamily="49" charset="-122"/>
              </a:rPr>
              <a:t>–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糖酵解产生，细胞高能荷指示剂，抑制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PFK(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关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酵解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).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AMP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Arial" panose="02080604020202020204" pitchFamily="34" charset="0"/>
                <a:ea typeface="楷体_GB2312" pitchFamily="49" charset="-122"/>
              </a:rPr>
              <a:t>–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由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2ADP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制造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ATP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时产生，细胞低能荷指示剂，激活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PFK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PFK-2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，抑制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FBPase,(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开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酵解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).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乙酰</a:t>
            </a:r>
            <a:r>
              <a:rPr lang="en-US" altLang="zh-CN" sz="24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CoA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-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高能荷指示剂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Arial" panose="02080604020202020204" pitchFamily="34" charset="0"/>
                <a:ea typeface="宋体" pitchFamily="2" charset="-122"/>
              </a:rPr>
              <a:t>丙酮酸羧化酶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激活剂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开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糖原合成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F-6-P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- PFK-2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激活剂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抑制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FBPase-2 (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开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酵解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关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糖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     原合成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).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丙氨酸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Arial" panose="02080604020202020204" pitchFamily="34" charset="0"/>
                <a:ea typeface="楷体_GB2312" pitchFamily="49" charset="-122"/>
              </a:rPr>
              <a:t>–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蛋白质分解产生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dirty="0">
                <a:latin typeface="Arial" panose="02080604020202020204" pitchFamily="34" charset="0"/>
                <a:ea typeface="楷体_GB2312" pitchFamily="49" charset="-122"/>
              </a:rPr>
              <a:t>–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抑制丙酮酸激酶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(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关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酵解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0115" name="Rectangle 3"/>
          <p:cNvSpPr/>
          <p:nvPr/>
        </p:nvSpPr>
        <p:spPr>
          <a:xfrm>
            <a:off x="539750" y="6165850"/>
            <a:ext cx="8261350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latin typeface="Arial" panose="02080604020202020204" pitchFamily="34" charset="0"/>
                <a:ea typeface="宋体" pitchFamily="2" charset="-122"/>
              </a:rPr>
              <a:t>http://oregonstate.edu/dept/biochem/hhmi/hhmiclasses/biochem/lectnoteskga/2kjan05lecturenotes.html</a:t>
            </a:r>
            <a:endParaRPr lang="zh-CN" altLang="en-US" sz="1400" dirty="0"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90116" name="Text Box 4"/>
          <p:cNvSpPr txBox="1"/>
          <p:nvPr/>
        </p:nvSpPr>
        <p:spPr>
          <a:xfrm>
            <a:off x="971550" y="260350"/>
            <a:ext cx="73453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参与调节糖酵解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/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糖原合成途径的别构效应物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Text Box 2"/>
          <p:cNvSpPr txBox="1"/>
          <p:nvPr/>
        </p:nvSpPr>
        <p:spPr>
          <a:xfrm>
            <a:off x="827088" y="1125538"/>
            <a:ext cx="7705725" cy="356076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Arial" panose="02080604020202020204" pitchFamily="34" charset="0"/>
                <a:ea typeface="黑体" pitchFamily="49" charset="-122"/>
              </a:rPr>
              <a:t>1. </a:t>
            </a:r>
            <a:r>
              <a:rPr lang="zh-CN" altLang="en-US" sz="2400" dirty="0">
                <a:latin typeface="Arial" panose="02080604020202020204" pitchFamily="34" charset="0"/>
                <a:ea typeface="黑体" pitchFamily="49" charset="-122"/>
              </a:rPr>
              <a:t>从糖酵解过程中己糖激酶的催化特性，可以认识到酶的那些基本功能？</a:t>
            </a:r>
            <a:endParaRPr lang="zh-CN" altLang="en-US" sz="2000" dirty="0">
              <a:latin typeface="楷体_GB2312" pitchFamily="49" charset="-122"/>
              <a:ea typeface="楷体_GB2312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Arial" panose="02080604020202020204" pitchFamily="34" charset="0"/>
                <a:ea typeface="黑体" pitchFamily="49" charset="-122"/>
              </a:rPr>
              <a:t>2. </a:t>
            </a:r>
            <a:r>
              <a:rPr lang="zh-CN" altLang="en-US" sz="2400" dirty="0">
                <a:latin typeface="Arial" panose="02080604020202020204" pitchFamily="34" charset="0"/>
                <a:ea typeface="黑体" pitchFamily="49" charset="-122"/>
              </a:rPr>
              <a:t>糖酵解途径有哪些关键步骤？其调节如何？</a:t>
            </a:r>
            <a:endParaRPr lang="zh-CN" altLang="en-US" sz="2400" dirty="0">
              <a:latin typeface="Arial" panose="02080604020202020204" pitchFamily="34" charset="0"/>
              <a:ea typeface="黑体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Arial" panose="02080604020202020204" pitchFamily="34" charset="0"/>
                <a:ea typeface="黑体" pitchFamily="49" charset="-122"/>
              </a:rPr>
              <a:t>3. </a:t>
            </a:r>
            <a:r>
              <a:rPr lang="zh-CN" altLang="en-US" sz="2400" dirty="0">
                <a:latin typeface="Arial" panose="02080604020202020204" pitchFamily="34" charset="0"/>
                <a:ea typeface="黑体" pitchFamily="49" charset="-122"/>
              </a:rPr>
              <a:t>底物水平磷酸化的概念</a:t>
            </a:r>
            <a:r>
              <a:rPr lang="en-US" altLang="zh-CN" sz="2400" dirty="0">
                <a:latin typeface="Arial" panose="02080604020202020204" pitchFamily="34" charset="0"/>
                <a:ea typeface="黑体" pitchFamily="49" charset="-122"/>
              </a:rPr>
              <a:t>?</a:t>
            </a:r>
            <a:endParaRPr lang="zh-CN" altLang="en-US" sz="2400" dirty="0">
              <a:latin typeface="Arial" panose="02080604020202020204" pitchFamily="34" charset="0"/>
              <a:ea typeface="黑体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Arial" panose="02080604020202020204" pitchFamily="34" charset="0"/>
                <a:ea typeface="黑体" pitchFamily="49" charset="-122"/>
              </a:rPr>
              <a:t>4. </a:t>
            </a:r>
            <a:r>
              <a:rPr lang="zh-CN" altLang="en-US" sz="2400" dirty="0">
                <a:latin typeface="Arial" panose="02080604020202020204" pitchFamily="34" charset="0"/>
                <a:ea typeface="黑体" pitchFamily="49" charset="-122"/>
              </a:rPr>
              <a:t>氧化磷酸化偶联</a:t>
            </a:r>
            <a:r>
              <a:rPr lang="en-US" altLang="zh-CN" sz="2400" dirty="0">
                <a:latin typeface="Arial" panose="02080604020202020204" pitchFamily="34" charset="0"/>
                <a:ea typeface="黑体" pitchFamily="49" charset="-122"/>
              </a:rPr>
              <a:t>/</a:t>
            </a:r>
            <a:r>
              <a:rPr lang="zh-CN" altLang="en-US" sz="2400" dirty="0">
                <a:latin typeface="Arial" panose="02080604020202020204" pitchFamily="34" charset="0"/>
                <a:ea typeface="黑体" pitchFamily="49" charset="-122"/>
              </a:rPr>
              <a:t>解偶联？</a:t>
            </a:r>
            <a:endParaRPr lang="en-US" altLang="zh-CN" sz="2400" dirty="0">
              <a:latin typeface="Arial" panose="02080604020202020204" pitchFamily="34" charset="0"/>
              <a:ea typeface="黑体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Arial" panose="02080604020202020204" pitchFamily="34" charset="0"/>
                <a:ea typeface="黑体" pitchFamily="49" charset="-122"/>
              </a:rPr>
              <a:t>4. </a:t>
            </a:r>
            <a:r>
              <a:rPr lang="zh-CN" altLang="en-US" sz="2400" dirty="0">
                <a:latin typeface="Arial" panose="02080604020202020204" pitchFamily="34" charset="0"/>
                <a:ea typeface="黑体" pitchFamily="49" charset="-122"/>
              </a:rPr>
              <a:t>酶的诱导契合学说与酶的别构调节与共价修饰调节？</a:t>
            </a:r>
            <a:endParaRPr lang="zh-CN" altLang="en-US" sz="2400" dirty="0">
              <a:latin typeface="Arial" panose="02080604020202020204" pitchFamily="34" charset="0"/>
              <a:ea typeface="黑体" pitchFamily="49" charset="-122"/>
            </a:endParaRPr>
          </a:p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latin typeface="Arial" panose="02080604020202020204" pitchFamily="34" charset="0"/>
                <a:ea typeface="黑体" pitchFamily="49" charset="-122"/>
              </a:rPr>
              <a:t>5. </a:t>
            </a:r>
            <a:r>
              <a:rPr lang="zh-CN" altLang="en-US" sz="2400" dirty="0">
                <a:latin typeface="Arial" panose="02080604020202020204" pitchFamily="34" charset="0"/>
                <a:ea typeface="黑体" pitchFamily="49" charset="-122"/>
              </a:rPr>
              <a:t>反应自发方向判断的判据？</a:t>
            </a:r>
            <a:endParaRPr lang="zh-CN" altLang="en-US" sz="2400" dirty="0">
              <a:latin typeface="Arial" panose="02080604020202020204" pitchFamily="34" charset="0"/>
              <a:ea typeface="黑体" pitchFamily="49" charset="-122"/>
            </a:endParaRPr>
          </a:p>
        </p:txBody>
      </p:sp>
      <p:sp>
        <p:nvSpPr>
          <p:cNvPr id="91139" name="Text Box 3"/>
          <p:cNvSpPr txBox="1"/>
          <p:nvPr/>
        </p:nvSpPr>
        <p:spPr>
          <a:xfrm>
            <a:off x="3708400" y="260350"/>
            <a:ext cx="20891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latin typeface="Arial" panose="02080604020202020204" pitchFamily="34" charset="0"/>
                <a:ea typeface="黑体" pitchFamily="49" charset="-122"/>
              </a:rPr>
              <a:t>问题思考</a:t>
            </a:r>
            <a:endParaRPr lang="en-US" altLang="zh-CN" dirty="0">
              <a:latin typeface="Arial" panose="02080604020202020204" pitchFamily="34" charset="0"/>
              <a:ea typeface="黑体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11636</Words>
  <Application>WPS 演示</Application>
  <PresentationFormat>全屏显示(4:3)</PresentationFormat>
  <Paragraphs>922</Paragraphs>
  <Slides>64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93" baseType="lpstr">
      <vt:lpstr>Arial</vt:lpstr>
      <vt:lpstr>宋体</vt:lpstr>
      <vt:lpstr>Wingdings</vt:lpstr>
      <vt:lpstr>Times New Roman</vt:lpstr>
      <vt:lpstr>书宋-简</vt:lpstr>
      <vt:lpstr>Calibri</vt:lpstr>
      <vt:lpstr>隶书</vt:lpstr>
      <vt:lpstr>黑体</vt:lpstr>
      <vt:lpstr>黑体-简</vt:lpstr>
      <vt:lpstr>Symbol</vt:lpstr>
      <vt:lpstr>Kingsoft Sign</vt:lpstr>
      <vt:lpstr>楷体_GB2312</vt:lpstr>
      <vt:lpstr>楷体-简</vt:lpstr>
      <vt:lpstr>FTToken</vt:lpstr>
      <vt:lpstr>华文行楷</vt:lpstr>
      <vt:lpstr>方正中行楷-简</vt:lpstr>
      <vt:lpstr>Gulim</vt:lpstr>
      <vt:lpstr>Noto Sans CJK KR</vt:lpstr>
      <vt:lpstr>Abadi MT Condensed Light</vt:lpstr>
      <vt:lpstr>鸿蒙黑体</vt:lpstr>
      <vt:lpstr>Arial Black</vt:lpstr>
      <vt:lpstr>Verdana</vt:lpstr>
      <vt:lpstr>微软雅黑</vt:lpstr>
      <vt:lpstr>方正雅意黑 GB18030L2 R</vt:lpstr>
      <vt:lpstr>华文新魏</vt:lpstr>
      <vt:lpstr>方正新魏-简</vt:lpstr>
      <vt:lpstr>宋体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黎达宏</cp:lastModifiedBy>
  <cp:revision>375</cp:revision>
  <dcterms:created xsi:type="dcterms:W3CDTF">2026-04-03T02:24:25Z</dcterms:created>
  <dcterms:modified xsi:type="dcterms:W3CDTF">2026-04-03T02:24:25Z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6D11A6DFE684172AD824CF69C0C1F21F_43</vt:lpwstr>
  </property>
  <property fmtid="{D5CDD505-2E9C-101B-9397-08002B2CF9AE}" pid="3" name="KSOProductBuildVer">
    <vt:lpwstr>2052-12.1.3.25858</vt:lpwstr>
  </property>
</Properties>
</file>