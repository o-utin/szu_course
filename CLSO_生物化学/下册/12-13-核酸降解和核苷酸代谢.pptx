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55"/>
  </p:notesMasterIdLst>
  <p:sldIdLst>
    <p:sldId id="310" r:id="rId3"/>
    <p:sldId id="359" r:id="rId4"/>
    <p:sldId id="349" r:id="rId5"/>
    <p:sldId id="350" r:id="rId6"/>
    <p:sldId id="257" r:id="rId7"/>
    <p:sldId id="260" r:id="rId8"/>
    <p:sldId id="331" r:id="rId9"/>
    <p:sldId id="262" r:id="rId10"/>
    <p:sldId id="360" r:id="rId11"/>
    <p:sldId id="351" r:id="rId12"/>
    <p:sldId id="266" r:id="rId13"/>
    <p:sldId id="355" r:id="rId14"/>
    <p:sldId id="265" r:id="rId15"/>
    <p:sldId id="342" r:id="rId16"/>
    <p:sldId id="332" r:id="rId17"/>
    <p:sldId id="335" r:id="rId18"/>
    <p:sldId id="336" r:id="rId19"/>
    <p:sldId id="337" r:id="rId20"/>
    <p:sldId id="278" r:id="rId21"/>
    <p:sldId id="279" r:id="rId22"/>
    <p:sldId id="311" r:id="rId23"/>
    <p:sldId id="312" r:id="rId24"/>
    <p:sldId id="313" r:id="rId25"/>
    <p:sldId id="314" r:id="rId26"/>
    <p:sldId id="315" r:id="rId27"/>
    <p:sldId id="317" r:id="rId28"/>
    <p:sldId id="318" r:id="rId29"/>
    <p:sldId id="319" r:id="rId30"/>
    <p:sldId id="320" r:id="rId31"/>
    <p:sldId id="321" r:id="rId32"/>
    <p:sldId id="356" r:id="rId33"/>
    <p:sldId id="322" r:id="rId34"/>
    <p:sldId id="324" r:id="rId35"/>
    <p:sldId id="340" r:id="rId36"/>
    <p:sldId id="325" r:id="rId37"/>
    <p:sldId id="343" r:id="rId38"/>
    <p:sldId id="361" r:id="rId39"/>
    <p:sldId id="338" r:id="rId40"/>
    <p:sldId id="297" r:id="rId41"/>
    <p:sldId id="339" r:id="rId42"/>
    <p:sldId id="326" r:id="rId43"/>
    <p:sldId id="344" r:id="rId44"/>
    <p:sldId id="345" r:id="rId45"/>
    <p:sldId id="346" r:id="rId46"/>
    <p:sldId id="302" r:id="rId47"/>
    <p:sldId id="347" r:id="rId48"/>
    <p:sldId id="358" r:id="rId49"/>
    <p:sldId id="348" r:id="rId50"/>
    <p:sldId id="341" r:id="rId51"/>
    <p:sldId id="353" r:id="rId52"/>
    <p:sldId id="354" r:id="rId53"/>
    <p:sldId id="328" r:id="rId5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83905" autoAdjust="0"/>
  </p:normalViewPr>
  <p:slideViewPr>
    <p:cSldViewPr>
      <p:cViewPr varScale="1">
        <p:scale>
          <a:sx n="83" d="100"/>
          <a:sy n="83" d="100"/>
        </p:scale>
        <p:origin x="1204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18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E6163A3F-6F9D-4152-93D2-70E82AD552E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39788A-F54F-4CD3-AD25-E8283FE68788}" type="slidenum">
              <a:rPr lang="zh-CN" altLang="en-US">
                <a:latin typeface="Times New Roman" panose="02020603050405020304" pitchFamily="18" charset="0"/>
              </a:rPr>
              <a:pPr/>
              <a:t>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mbo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92"/>
          <a:stretch>
            <a:fillRect/>
          </a:stretch>
        </p:blipFill>
        <p:spPr bwMode="ltGray">
          <a:xfrm>
            <a:off x="6292850" y="-1588"/>
            <a:ext cx="285750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" y="1158875"/>
            <a:ext cx="6248400" cy="14319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800" y="3429000"/>
            <a:ext cx="6019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257175" y="6248400"/>
            <a:ext cx="1622425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108200" y="6248400"/>
            <a:ext cx="299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486400" y="62484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F1AE049C-AC9F-45B4-B211-1B530FD6402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3268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843340-A9D6-4EA8-8377-5B64CECFAC7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2857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BA1E13-B91E-4FC9-A891-7AAC981F903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8474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767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8D40DE-74D4-4275-AFFD-9177F9AAA72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174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66A046-B56C-485E-8C89-B9B2E9E147D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589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94C5D5-CFD4-4DA7-BFF5-58A609E2C06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70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06DF1A-79E7-4E5E-9FE7-3C1EE820B3C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397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592CE9-DA75-43B0-95E6-CE4E48E065F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126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C1AC7E-D785-4DB5-BC34-8C9B80EFCDD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509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EFCB5-3989-4E97-BDEE-A821898458B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04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86450" y="320675"/>
            <a:ext cx="1885950" cy="5775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320675"/>
            <a:ext cx="5505450" cy="5775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8A4B96-5C30-49A5-9333-D1D82116077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3253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AFBD42-A4AE-4FB9-9B2E-39F3CFD6654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4654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03E57D-714A-4648-B990-974D84F8E7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5181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36E2D8-E12B-484E-8422-071CB89574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0376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2BD015-CA91-4F61-9998-DE8D01CEB09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7584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2D880A-1578-40CD-A653-EAACBB71973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7349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8A3879-3581-4564-BA8D-422448323F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6718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6EA87B-E787-4950-A3DE-939DE9EE585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4638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F8151E-DF67-4BF3-AC4C-008FAC10AC1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2603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0D1578-49B8-46B0-BF28-6CE93C85AE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0271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85A834-F0BB-431F-B60E-4FAAFE7B2C0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6463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CB712F-8CC9-4686-B20A-B839927687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4094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ambo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976"/>
          <a:stretch>
            <a:fillRect/>
          </a:stretch>
        </p:blipFill>
        <p:spPr bwMode="ltGray">
          <a:xfrm>
            <a:off x="7353300" y="0"/>
            <a:ext cx="1790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20675"/>
            <a:ext cx="74676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981200"/>
            <a:ext cx="7543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2484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48400" y="62484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fld id="{F908B28A-E60E-4E80-8BD7-EBC0468BB3A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091" r:id="rId2"/>
    <p:sldLayoutId id="2147484092" r:id="rId3"/>
    <p:sldLayoutId id="2147484093" r:id="rId4"/>
    <p:sldLayoutId id="2147484094" r:id="rId5"/>
    <p:sldLayoutId id="2147484095" r:id="rId6"/>
    <p:sldLayoutId id="2147484096" r:id="rId7"/>
    <p:sldLayoutId id="2147484097" r:id="rId8"/>
    <p:sldLayoutId id="2147484098" r:id="rId9"/>
    <p:sldLayoutId id="2147484099" r:id="rId10"/>
    <p:sldLayoutId id="214748410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­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­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1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665464A-1062-4045-9658-41AEF07789B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3" r:id="rId3"/>
    <p:sldLayoutId id="2147484104" r:id="rId4"/>
    <p:sldLayoutId id="2147484105" r:id="rId5"/>
    <p:sldLayoutId id="2147484106" r:id="rId6"/>
    <p:sldLayoutId id="2147484107" r:id="rId7"/>
    <p:sldLayoutId id="2147484108" r:id="rId8"/>
    <p:sldLayoutId id="2147484109" r:id="rId9"/>
    <p:sldLayoutId id="2147484110" r:id="rId10"/>
    <p:sldLayoutId id="214748411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179388" y="1783934"/>
            <a:ext cx="7532687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kumimoji="1" lang="zh-CN" altLang="en-US" sz="5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核酸降解和核苷酸代谢</a:t>
            </a:r>
          </a:p>
          <a:p>
            <a:pPr algn="ctr" eaLnBrk="1" hangingPunct="1">
              <a:defRPr/>
            </a:pPr>
            <a:endParaRPr kumimoji="1" lang="zh-CN" altLang="en-US" sz="4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algn="ctr" eaLnBrk="1" hangingPunct="1">
              <a:defRPr/>
            </a:pPr>
            <a:r>
              <a:rPr kumimoji="1" lang="en-US" altLang="zh-CN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Metabolism of Nucleotides and Nucleic Acids</a:t>
            </a:r>
            <a:r>
              <a:rPr kumimoji="1" lang="en-US" altLang="zh-CN" sz="48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 spd="med">
    <p:pull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4375" y="2143125"/>
            <a:ext cx="6019800" cy="2500313"/>
          </a:xfrm>
        </p:spPr>
        <p:txBody>
          <a:bodyPr/>
          <a:lstStyle/>
          <a:p>
            <a:pPr>
              <a:defRPr/>
            </a:pPr>
            <a:r>
              <a:rPr lang="zh-CN" altLang="en-US" sz="4000" b="1" dirty="0"/>
              <a:t>四大</a:t>
            </a:r>
            <a:r>
              <a:rPr lang="zh-CN" altLang="en-US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生物大分子</a:t>
            </a:r>
            <a:endParaRPr lang="en-US" altLang="zh-CN" sz="40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defRPr/>
            </a:pPr>
            <a:endParaRPr lang="en-US" altLang="zh-CN" sz="4000" b="1" dirty="0"/>
          </a:p>
          <a:p>
            <a:pPr>
              <a:defRPr/>
            </a:pPr>
            <a:r>
              <a:rPr lang="zh-CN" altLang="en-US" sz="4000" b="1" dirty="0"/>
              <a:t>三大</a:t>
            </a:r>
            <a:r>
              <a:rPr lang="zh-CN" altLang="en-US" sz="4000" b="1" dirty="0">
                <a:solidFill>
                  <a:srgbClr val="FF6600"/>
                </a:solidFill>
              </a:rPr>
              <a:t>营养物质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92275" y="981075"/>
            <a:ext cx="64087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 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828675" y="1125538"/>
            <a:ext cx="72723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核酸大分子的构件分子是核苷酸。核苷酸是由磷酸、核糖和碱基三种小分子化合物化合形成。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1979613" y="404813"/>
            <a:ext cx="5616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核苷酸与核酸的分子结构</a:t>
            </a:r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 flipH="1">
            <a:off x="5075238" y="3789363"/>
            <a:ext cx="5762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5075238" y="4005263"/>
            <a:ext cx="360362" cy="574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5435600" y="4579938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 flipV="1">
            <a:off x="6227763" y="4076700"/>
            <a:ext cx="288925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 flipH="1" flipV="1">
            <a:off x="6011863" y="3789363"/>
            <a:ext cx="504825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5651500" y="3571875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O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6156325" y="3932238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1’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5940425" y="4221163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2’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5364163" y="4221163"/>
            <a:ext cx="503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3’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5148263" y="3860800"/>
            <a:ext cx="503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4’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5003800" y="3284538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5’</a:t>
            </a:r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4932363" y="3500438"/>
            <a:ext cx="142875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 flipV="1">
            <a:off x="6516688" y="3429000"/>
            <a:ext cx="503237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6" name="AutoShape 18"/>
          <p:cNvSpPr>
            <a:spLocks noChangeArrowheads="1"/>
          </p:cNvSpPr>
          <p:nvPr/>
        </p:nvSpPr>
        <p:spPr bwMode="auto">
          <a:xfrm>
            <a:off x="6948488" y="2924175"/>
            <a:ext cx="1150937" cy="57626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/>
              <a:t>碱基</a:t>
            </a:r>
          </a:p>
        </p:txBody>
      </p:sp>
      <p:sp>
        <p:nvSpPr>
          <p:cNvPr id="7187" name="Oval 19"/>
          <p:cNvSpPr>
            <a:spLocks noChangeArrowheads="1"/>
          </p:cNvSpPr>
          <p:nvPr/>
        </p:nvSpPr>
        <p:spPr bwMode="auto">
          <a:xfrm>
            <a:off x="4283075" y="2997200"/>
            <a:ext cx="792163" cy="72072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/>
              <a:t>磷酸</a:t>
            </a: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5507038" y="3946525"/>
            <a:ext cx="792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核 糖</a:t>
            </a:r>
          </a:p>
        </p:txBody>
      </p:sp>
      <p:sp>
        <p:nvSpPr>
          <p:cNvPr id="7189" name="AutoShape 21"/>
          <p:cNvSpPr>
            <a:spLocks noChangeArrowheads="1"/>
          </p:cNvSpPr>
          <p:nvPr/>
        </p:nvSpPr>
        <p:spPr bwMode="auto">
          <a:xfrm flipH="1">
            <a:off x="3924300" y="2925763"/>
            <a:ext cx="503238" cy="6477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17694720 60000 65536"/>
              <a:gd name="T11" fmla="*/ 5898240 60000 65536"/>
              <a:gd name="T12" fmla="*/ 5898240 60000 65536"/>
              <a:gd name="T13" fmla="*/ 5898240 60000 65536"/>
              <a:gd name="T14" fmla="*/ 0 60000 65536"/>
              <a:gd name="T15" fmla="*/ 0 w 21600"/>
              <a:gd name="T16" fmla="*/ 8310 h 21600"/>
              <a:gd name="T17" fmla="*/ 611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5662" y="14285"/>
                </a:moveTo>
                <a:lnTo>
                  <a:pt x="21600" y="8310"/>
                </a:lnTo>
                <a:lnTo>
                  <a:pt x="18630" y="8310"/>
                </a:lnTo>
                <a:cubicBezTo>
                  <a:pt x="18630" y="3721"/>
                  <a:pt x="14430" y="0"/>
                  <a:pt x="9250" y="0"/>
                </a:cubicBezTo>
                <a:cubicBezTo>
                  <a:pt x="4141" y="0"/>
                  <a:pt x="0" y="3799"/>
                  <a:pt x="0" y="8485"/>
                </a:cubicBezTo>
                <a:lnTo>
                  <a:pt x="0" y="21600"/>
                </a:lnTo>
                <a:lnTo>
                  <a:pt x="6110" y="21600"/>
                </a:lnTo>
                <a:lnTo>
                  <a:pt x="6110" y="8310"/>
                </a:lnTo>
                <a:cubicBezTo>
                  <a:pt x="6110" y="6947"/>
                  <a:pt x="7362" y="5842"/>
                  <a:pt x="8907" y="5842"/>
                </a:cubicBezTo>
                <a:lnTo>
                  <a:pt x="9725" y="5842"/>
                </a:lnTo>
                <a:cubicBezTo>
                  <a:pt x="11269" y="5842"/>
                  <a:pt x="12520" y="6947"/>
                  <a:pt x="12520" y="8310"/>
                </a:cubicBezTo>
                <a:lnTo>
                  <a:pt x="9725" y="8310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7782" name="AutoShape 22"/>
          <p:cNvSpPr>
            <a:spLocks noChangeArrowheads="1"/>
          </p:cNvSpPr>
          <p:nvPr/>
        </p:nvSpPr>
        <p:spPr bwMode="auto">
          <a:xfrm rot="10800000" flipH="1">
            <a:off x="5395913" y="4565650"/>
            <a:ext cx="503237" cy="6477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17694720 60000 65536"/>
              <a:gd name="T11" fmla="*/ 5898240 60000 65536"/>
              <a:gd name="T12" fmla="*/ 5898240 60000 65536"/>
              <a:gd name="T13" fmla="*/ 5898240 60000 65536"/>
              <a:gd name="T14" fmla="*/ 0 60000 65536"/>
              <a:gd name="T15" fmla="*/ 0 w 21600"/>
              <a:gd name="T16" fmla="*/ 8310 h 21600"/>
              <a:gd name="T17" fmla="*/ 611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5662" y="14285"/>
                </a:moveTo>
                <a:lnTo>
                  <a:pt x="21600" y="8310"/>
                </a:lnTo>
                <a:lnTo>
                  <a:pt x="18630" y="8310"/>
                </a:lnTo>
                <a:cubicBezTo>
                  <a:pt x="18630" y="3721"/>
                  <a:pt x="14430" y="0"/>
                  <a:pt x="9250" y="0"/>
                </a:cubicBezTo>
                <a:cubicBezTo>
                  <a:pt x="4141" y="0"/>
                  <a:pt x="0" y="3799"/>
                  <a:pt x="0" y="8485"/>
                </a:cubicBezTo>
                <a:lnTo>
                  <a:pt x="0" y="21600"/>
                </a:lnTo>
                <a:lnTo>
                  <a:pt x="6110" y="21600"/>
                </a:lnTo>
                <a:lnTo>
                  <a:pt x="6110" y="8310"/>
                </a:lnTo>
                <a:cubicBezTo>
                  <a:pt x="6110" y="6947"/>
                  <a:pt x="7362" y="5842"/>
                  <a:pt x="8907" y="5842"/>
                </a:cubicBezTo>
                <a:lnTo>
                  <a:pt x="9725" y="5842"/>
                </a:lnTo>
                <a:cubicBezTo>
                  <a:pt x="11269" y="5842"/>
                  <a:pt x="12520" y="6947"/>
                  <a:pt x="12520" y="8310"/>
                </a:cubicBezTo>
                <a:lnTo>
                  <a:pt x="9725" y="8310"/>
                </a:lnTo>
                <a:close/>
              </a:path>
            </a:pathLst>
          </a:custGeom>
          <a:solidFill>
            <a:srgbClr val="9FCDB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7783" name="AutoShape 23"/>
          <p:cNvSpPr>
            <a:spLocks noChangeArrowheads="1"/>
          </p:cNvSpPr>
          <p:nvPr/>
        </p:nvSpPr>
        <p:spPr bwMode="auto">
          <a:xfrm flipH="1">
            <a:off x="5435600" y="4725988"/>
            <a:ext cx="503238" cy="6477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17694720 60000 65536"/>
              <a:gd name="T11" fmla="*/ 5898240 60000 65536"/>
              <a:gd name="T12" fmla="*/ 5898240 60000 65536"/>
              <a:gd name="T13" fmla="*/ 5898240 60000 65536"/>
              <a:gd name="T14" fmla="*/ 0 60000 65536"/>
              <a:gd name="T15" fmla="*/ 0 w 21600"/>
              <a:gd name="T16" fmla="*/ 8310 h 21600"/>
              <a:gd name="T17" fmla="*/ 611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5662" y="14285"/>
                </a:moveTo>
                <a:lnTo>
                  <a:pt x="21600" y="8310"/>
                </a:lnTo>
                <a:lnTo>
                  <a:pt x="18630" y="8310"/>
                </a:lnTo>
                <a:cubicBezTo>
                  <a:pt x="18630" y="3721"/>
                  <a:pt x="14430" y="0"/>
                  <a:pt x="9250" y="0"/>
                </a:cubicBezTo>
                <a:cubicBezTo>
                  <a:pt x="4141" y="0"/>
                  <a:pt x="0" y="3799"/>
                  <a:pt x="0" y="8485"/>
                </a:cubicBezTo>
                <a:lnTo>
                  <a:pt x="0" y="21600"/>
                </a:lnTo>
                <a:lnTo>
                  <a:pt x="6110" y="21600"/>
                </a:lnTo>
                <a:lnTo>
                  <a:pt x="6110" y="8310"/>
                </a:lnTo>
                <a:cubicBezTo>
                  <a:pt x="6110" y="6947"/>
                  <a:pt x="7362" y="5842"/>
                  <a:pt x="8907" y="5842"/>
                </a:cubicBezTo>
                <a:lnTo>
                  <a:pt x="9725" y="5842"/>
                </a:lnTo>
                <a:cubicBezTo>
                  <a:pt x="11269" y="5842"/>
                  <a:pt x="12520" y="6947"/>
                  <a:pt x="12520" y="8310"/>
                </a:cubicBezTo>
                <a:lnTo>
                  <a:pt x="9725" y="8310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7784" name="Text Box 24"/>
          <p:cNvSpPr txBox="1">
            <a:spLocks noChangeArrowheads="1"/>
          </p:cNvSpPr>
          <p:nvPr/>
        </p:nvSpPr>
        <p:spPr bwMode="auto">
          <a:xfrm>
            <a:off x="7524750" y="4078288"/>
            <a:ext cx="1008063" cy="37623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B050"/>
                </a:solidFill>
              </a:rPr>
              <a:t>糖苷键</a:t>
            </a:r>
          </a:p>
        </p:txBody>
      </p:sp>
      <p:sp>
        <p:nvSpPr>
          <p:cNvPr id="117785" name="Line 25"/>
          <p:cNvSpPr>
            <a:spLocks noChangeShapeType="1"/>
          </p:cNvSpPr>
          <p:nvPr/>
        </p:nvSpPr>
        <p:spPr bwMode="auto">
          <a:xfrm flipH="1" flipV="1">
            <a:off x="6875463" y="3789363"/>
            <a:ext cx="649287" cy="28892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6" name="Text Box 26"/>
          <p:cNvSpPr txBox="1">
            <a:spLocks noChangeArrowheads="1"/>
          </p:cNvSpPr>
          <p:nvPr/>
        </p:nvSpPr>
        <p:spPr bwMode="auto">
          <a:xfrm>
            <a:off x="3571875" y="4143375"/>
            <a:ext cx="1643063" cy="3698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B050"/>
                </a:solidFill>
              </a:rPr>
              <a:t>磷酸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单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酯键</a:t>
            </a:r>
          </a:p>
        </p:txBody>
      </p:sp>
      <p:sp>
        <p:nvSpPr>
          <p:cNvPr id="7195" name="Text Box 27"/>
          <p:cNvSpPr txBox="1">
            <a:spLocks noChangeArrowheads="1"/>
          </p:cNvSpPr>
          <p:nvPr/>
        </p:nvSpPr>
        <p:spPr bwMode="auto">
          <a:xfrm>
            <a:off x="1403350" y="5445125"/>
            <a:ext cx="67691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核苷：核糖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碱基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核苷酸：核苷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磷酸</a:t>
            </a:r>
          </a:p>
        </p:txBody>
      </p:sp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6443663" y="4868863"/>
            <a:ext cx="1511300" cy="836612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H</a:t>
            </a:r>
            <a:r>
              <a:rPr lang="zh-CN" altLang="en-US"/>
              <a:t>：</a:t>
            </a:r>
            <a:r>
              <a:rPr lang="en-US" altLang="zh-CN"/>
              <a:t>DNA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/>
              <a:t>OH</a:t>
            </a:r>
            <a:r>
              <a:rPr lang="zh-CN" altLang="en-US"/>
              <a:t>：</a:t>
            </a:r>
            <a:r>
              <a:rPr lang="en-US" altLang="zh-CN"/>
              <a:t>RNA</a:t>
            </a:r>
          </a:p>
        </p:txBody>
      </p:sp>
      <p:sp>
        <p:nvSpPr>
          <p:cNvPr id="117789" name="Line 29"/>
          <p:cNvSpPr>
            <a:spLocks noChangeShapeType="1"/>
          </p:cNvSpPr>
          <p:nvPr/>
        </p:nvSpPr>
        <p:spPr bwMode="auto">
          <a:xfrm flipH="1" flipV="1">
            <a:off x="6227763" y="4581525"/>
            <a:ext cx="215900" cy="287338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98" name="Picture 30" descr="NucleicAcidComponent_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0" t="19122" r="46858" b="41493"/>
          <a:stretch>
            <a:fillRect/>
          </a:stretch>
        </p:blipFill>
        <p:spPr bwMode="auto">
          <a:xfrm>
            <a:off x="827088" y="2636838"/>
            <a:ext cx="2881312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4305300" y="5221288"/>
            <a:ext cx="1643063" cy="36988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B050"/>
                </a:solidFill>
              </a:rPr>
              <a:t>磷酸二酯键</a:t>
            </a:r>
          </a:p>
        </p:txBody>
      </p:sp>
      <p:sp>
        <p:nvSpPr>
          <p:cNvPr id="32" name="Line 25"/>
          <p:cNvSpPr>
            <a:spLocks noChangeShapeType="1"/>
          </p:cNvSpPr>
          <p:nvPr/>
        </p:nvSpPr>
        <p:spPr bwMode="auto">
          <a:xfrm flipV="1">
            <a:off x="4286250" y="3786188"/>
            <a:ext cx="714375" cy="3571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1177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19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82" grpId="0" animBg="1"/>
      <p:bldP spid="117783" grpId="0" animBg="1"/>
      <p:bldP spid="117784" grpId="0" animBg="1"/>
      <p:bldP spid="117786" grpId="0" animBg="1"/>
      <p:bldP spid="7196" grpId="0" build="allAtOnce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ChangeArrowheads="1"/>
          </p:cNvSpPr>
          <p:nvPr/>
        </p:nvSpPr>
        <p:spPr bwMode="auto">
          <a:xfrm>
            <a:off x="255588" y="1122363"/>
            <a:ext cx="7772400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kumimoji="1"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</a:t>
            </a:r>
            <a:r>
              <a:rPr kumimoji="1" lang="zh-CN" altLang="en-US" sz="3200" b="1">
                <a:latin typeface="Times New Roman" pitchFamily="18" charset="0"/>
                <a:ea typeface="黑体" pitchFamily="2" charset="-122"/>
              </a:rPr>
              <a:t>两类核酸的基本成分</a:t>
            </a:r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827088" y="1943100"/>
          <a:ext cx="699135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007760" imgH="4191120" progId="Word.Document.8">
                  <p:embed/>
                </p:oleObj>
              </mc:Choice>
              <mc:Fallback>
                <p:oleObj name="文档" r:id="rId2" imgW="7007760" imgH="41911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43100"/>
                        <a:ext cx="6991350" cy="4191000"/>
                      </a:xfrm>
                      <a:prstGeom prst="rect">
                        <a:avLst/>
                      </a:prstGeom>
                      <a:solidFill>
                        <a:srgbClr val="0033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539750" y="1341438"/>
            <a:ext cx="6408738" cy="4175125"/>
          </a:xfrm>
        </p:spPr>
        <p:txBody>
          <a:bodyPr/>
          <a:lstStyle/>
          <a:p>
            <a:pPr algn="l" eaLnBrk="1" hangingPunct="1">
              <a:lnSpc>
                <a:spcPct val="135000"/>
              </a:lnSpc>
            </a:pPr>
            <a:r>
              <a:rPr lang="zh-CN" altLang="en-US" sz="3600" b="1"/>
              <a:t>一、核酸和核苷酸的分解代谢</a:t>
            </a:r>
          </a:p>
          <a:p>
            <a:pPr algn="l" eaLnBrk="1" hangingPunct="1">
              <a:lnSpc>
                <a:spcPct val="135000"/>
              </a:lnSpc>
            </a:pPr>
            <a:r>
              <a:rPr lang="zh-CN" altLang="en-US" b="1"/>
              <a:t>（</a:t>
            </a:r>
            <a:r>
              <a:rPr lang="zh-CN" altLang="en-US" b="1" u="sng">
                <a:solidFill>
                  <a:schemeClr val="hlink"/>
                </a:solidFill>
              </a:rPr>
              <a:t>嘌呤和嘧啶的分解</a:t>
            </a:r>
            <a:r>
              <a:rPr lang="zh-CN" altLang="en-US" b="1"/>
              <a:t>）</a:t>
            </a:r>
          </a:p>
          <a:p>
            <a:pPr algn="l" eaLnBrk="1" hangingPunct="1">
              <a:lnSpc>
                <a:spcPct val="135000"/>
              </a:lnSpc>
            </a:pPr>
            <a:r>
              <a:rPr lang="zh-CN" altLang="en-US" sz="3600" b="1"/>
              <a:t>二、核苷酸的生物合成</a:t>
            </a:r>
          </a:p>
          <a:p>
            <a:pPr algn="l" eaLnBrk="1" hangingPunct="1">
              <a:lnSpc>
                <a:spcPct val="135000"/>
              </a:lnSpc>
            </a:pPr>
            <a:r>
              <a:rPr lang="zh-CN" altLang="en-US" b="1"/>
              <a:t>（</a:t>
            </a:r>
            <a:r>
              <a:rPr lang="zh-CN" altLang="en-US" b="1" u="sng">
                <a:solidFill>
                  <a:schemeClr val="hlink"/>
                </a:solidFill>
              </a:rPr>
              <a:t>嘌呤环和嘧啶环的合成</a:t>
            </a:r>
            <a:r>
              <a:rPr lang="zh-CN" altLang="en-US" b="1"/>
              <a:t>）</a:t>
            </a:r>
          </a:p>
          <a:p>
            <a:pPr algn="l" eaLnBrk="1" hangingPunct="1">
              <a:lnSpc>
                <a:spcPct val="135000"/>
              </a:lnSpc>
            </a:pPr>
            <a:r>
              <a:rPr lang="zh-CN" altLang="en-US" sz="3600" b="1"/>
              <a:t>三、辅酶核苷酸的生物合成</a:t>
            </a:r>
          </a:p>
        </p:txBody>
      </p:sp>
    </p:spTree>
  </p:cSld>
  <p:clrMapOvr>
    <a:masterClrMapping/>
  </p:clrMapOvr>
  <p:transition spd="med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12775" y="2349500"/>
            <a:ext cx="6911975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1.1 </a:t>
            </a: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核酸的消化与吸收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1.</a:t>
            </a:r>
            <a:r>
              <a:rPr kumimoji="1"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2 </a:t>
            </a: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嘌呤碱的分解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1.</a:t>
            </a:r>
            <a:r>
              <a:rPr kumimoji="1"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3 </a:t>
            </a: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嘧啶碱的分解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612775" y="1268413"/>
            <a:ext cx="64801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>
                <a:latin typeface="Times New Roman" panose="02020603050405020304" pitchFamily="18" charset="0"/>
              </a:rPr>
              <a:t>一、核酸和核苷酸的分解代谢</a:t>
            </a:r>
          </a:p>
        </p:txBody>
      </p:sp>
    </p:spTree>
  </p:cSld>
  <p:clrMapOvr>
    <a:masterClrMapping/>
  </p:clrMapOvr>
  <p:transition spd="med"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74675"/>
            <a:ext cx="6910387" cy="579438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1.1 核酸的消化与吸收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12875"/>
            <a:ext cx="7232650" cy="48244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宋体" panose="02010600030101010101" pitchFamily="2" charset="-122"/>
              </a:rPr>
              <a:t>人体内核苷酸可来自食物中核酸消化产物的吸收，但主要由机体细胞自身合成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宋体" panose="02010600030101010101" pitchFamily="2" charset="-122"/>
              </a:rPr>
              <a:t>食物中的核酸以</a:t>
            </a:r>
            <a:r>
              <a:rPr lang="zh-CN" altLang="en-US" sz="2400" b="1">
                <a:solidFill>
                  <a:schemeClr val="accent1"/>
                </a:solidFill>
                <a:latin typeface="宋体" panose="02010600030101010101" pitchFamily="2" charset="-122"/>
              </a:rPr>
              <a:t>核蛋白</a:t>
            </a:r>
            <a:r>
              <a:rPr lang="zh-CN" altLang="en-US" sz="2400" b="1">
                <a:latin typeface="宋体" panose="02010600030101010101" pitchFamily="2" charset="-122"/>
              </a:rPr>
              <a:t>形式存在</a:t>
            </a:r>
            <a:endParaRPr lang="zh-CN" altLang="en-US" sz="24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核蛋白在</a:t>
            </a:r>
            <a:r>
              <a:rPr kumimoji="0" lang="zh-CN" altLang="en-US" sz="2400" b="1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胃</a:t>
            </a:r>
            <a:r>
              <a:rPr kumimoji="0"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中受胃酸分解成核酸与蛋白质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核酸在</a:t>
            </a:r>
            <a:r>
              <a:rPr lang="zh-CN" altLang="en-US" sz="2400" b="1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小肠</a:t>
            </a: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中进一步分解，其产物去向：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000" b="1">
                <a:latin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zh-CN" altLang="en-US" sz="2000" b="1">
                <a:solidFill>
                  <a:schemeClr val="accent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戊糖</a:t>
            </a:r>
            <a:r>
              <a:rPr lang="zh-CN" altLang="en-US" sz="2000" b="1">
                <a:latin typeface="宋体" panose="02010600030101010101" pitchFamily="2" charset="-122"/>
                <a:sym typeface="Symbol" panose="05050102010706020507" pitchFamily="18" charset="2"/>
              </a:rPr>
              <a:t>吸收参与体内的戊糖代谢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000" b="1">
                <a:latin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zh-CN" altLang="en-US" sz="2000" b="1">
                <a:latin typeface="宋体" panose="02010600030101010101" pitchFamily="2" charset="-122"/>
                <a:sym typeface="Symbol" panose="05050102010706020507" pitchFamily="18" charset="2"/>
              </a:rPr>
              <a:t>嘌呤与嘧啶</a:t>
            </a:r>
            <a:r>
              <a:rPr lang="zh-CN" altLang="en-US" sz="2000" b="1">
                <a:solidFill>
                  <a:schemeClr val="accent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碱基</a:t>
            </a:r>
            <a:r>
              <a:rPr lang="zh-CN" altLang="en-US" sz="2000" b="1">
                <a:latin typeface="宋体" panose="02010600030101010101" pitchFamily="2" charset="-122"/>
                <a:sym typeface="Symbol" panose="05050102010706020507" pitchFamily="18" charset="2"/>
              </a:rPr>
              <a:t>则被分解排出体外</a:t>
            </a:r>
            <a:endParaRPr lang="en-US" altLang="zh-CN" sz="20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宋体" panose="02010600030101010101" pitchFamily="2" charset="-122"/>
                <a:sym typeface="Symbol" panose="05050102010706020507" pitchFamily="18" charset="2"/>
              </a:rPr>
              <a:t>核酸的水解或磷酸解由酶催化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000" b="1">
                <a:latin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zh-CN" altLang="en-US" sz="2000" b="1">
                <a:latin typeface="宋体" panose="02010600030101010101" pitchFamily="2" charset="-122"/>
                <a:sym typeface="Symbol" panose="05050102010706020507" pitchFamily="18" charset="2"/>
              </a:rPr>
              <a:t>核酸酶是</a:t>
            </a:r>
            <a:r>
              <a:rPr lang="zh-CN" altLang="en-US" sz="2000" b="1">
                <a:solidFill>
                  <a:schemeClr val="accent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磷酸二酯酶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000" b="1">
                <a:latin typeface="宋体" panose="02010600030101010101" pitchFamily="2" charset="-122"/>
                <a:sym typeface="Symbol" panose="05050102010706020507" pitchFamily="18" charset="2"/>
              </a:rPr>
              <a:t>  -</a:t>
            </a:r>
            <a:r>
              <a:rPr lang="zh-CN" altLang="en-US" sz="2000" b="1">
                <a:latin typeface="宋体" panose="02010600030101010101" pitchFamily="2" charset="-122"/>
                <a:sym typeface="Symbol" panose="05050102010706020507" pitchFamily="18" charset="2"/>
              </a:rPr>
              <a:t>核苷酸酶是</a:t>
            </a:r>
            <a:r>
              <a:rPr lang="zh-CN" altLang="en-US" sz="2000" b="1">
                <a:solidFill>
                  <a:schemeClr val="accent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磷酸单酯酶</a:t>
            </a:r>
            <a:endParaRPr lang="en-US" altLang="zh-CN" sz="2000" b="1">
              <a:solidFill>
                <a:schemeClr val="accent1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4" name="Picture 5" descr="digestion">
            <a:extLst>
              <a:ext uri="{FF2B5EF4-FFF2-40B4-BE49-F238E27FC236}">
                <a16:creationId xmlns:a16="http://schemas.microsoft.com/office/drawing/2014/main" id="{F7C11208-92DC-CDDC-0894-343D1EAF18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1" r="2476"/>
          <a:stretch/>
        </p:blipFill>
        <p:spPr bwMode="auto">
          <a:xfrm>
            <a:off x="4865635" y="4077071"/>
            <a:ext cx="4280448" cy="2780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574675"/>
            <a:ext cx="6910388" cy="579438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1.</a:t>
            </a:r>
            <a:r>
              <a:rPr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2 </a:t>
            </a:r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嘌呤碱的分解</a:t>
            </a: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539750" y="1412875"/>
            <a:ext cx="723265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3200" b="1" dirty="0">
                <a:latin typeface="宋体" panose="02010600030101010101" pitchFamily="2" charset="-122"/>
              </a:rPr>
              <a:t>1.</a:t>
            </a:r>
            <a:r>
              <a:rPr kumimoji="1" lang="en-US" altLang="zh-CN" sz="3200" b="1" dirty="0">
                <a:latin typeface="宋体" panose="02010600030101010101" pitchFamily="2" charset="-122"/>
              </a:rPr>
              <a:t>2.1 </a:t>
            </a:r>
            <a:r>
              <a:rPr kumimoji="1" lang="zh-CN" altLang="en-US" sz="3200" b="1" dirty="0">
                <a:latin typeface="宋体" panose="02010600030101010101" pitchFamily="2" charset="-122"/>
              </a:rPr>
              <a:t>嘌呤碱</a:t>
            </a:r>
            <a:r>
              <a:rPr kumimoji="1" lang="zh-CN" altLang="en-US" sz="3200" b="1" dirty="0">
                <a:latin typeface="宋体" panose="02010600030101010101" pitchFamily="2" charset="-122"/>
                <a:sym typeface="Symbol" panose="05050102010706020507" pitchFamily="18" charset="2"/>
              </a:rPr>
              <a:t>尿酸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3200" b="1" dirty="0">
                <a:latin typeface="宋体" panose="02010600030101010101" pitchFamily="2" charset="-122"/>
                <a:sym typeface="Symbol" panose="05050102010706020507" pitchFamily="18" charset="2"/>
              </a:rPr>
              <a:t>1.</a:t>
            </a:r>
            <a:r>
              <a:rPr kumimoji="1" lang="en-US" altLang="zh-CN" sz="3200" b="1" dirty="0">
                <a:latin typeface="宋体" panose="02010600030101010101" pitchFamily="2" charset="-122"/>
                <a:sym typeface="Symbol" panose="05050102010706020507" pitchFamily="18" charset="2"/>
              </a:rPr>
              <a:t>2.2 </a:t>
            </a:r>
            <a:r>
              <a:rPr kumimoji="1" lang="zh-CN" altLang="en-US" sz="3200" b="1" dirty="0">
                <a:latin typeface="宋体" panose="02010600030101010101" pitchFamily="2" charset="-122"/>
                <a:sym typeface="Symbol" panose="05050102010706020507" pitchFamily="18" charset="2"/>
              </a:rPr>
              <a:t>自杀作用物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3200" b="1" dirty="0">
                <a:latin typeface="宋体" panose="02010600030101010101" pitchFamily="2" charset="-122"/>
                <a:sym typeface="Symbol" panose="05050102010706020507" pitchFamily="18" charset="2"/>
              </a:rPr>
              <a:t>1.</a:t>
            </a:r>
            <a:r>
              <a:rPr kumimoji="1" lang="en-US" altLang="zh-CN" sz="3200" b="1" dirty="0">
                <a:latin typeface="宋体" panose="02010600030101010101" pitchFamily="2" charset="-122"/>
                <a:sym typeface="Symbol" panose="05050102010706020507" pitchFamily="18" charset="2"/>
              </a:rPr>
              <a:t>2.3 </a:t>
            </a:r>
            <a:r>
              <a:rPr kumimoji="1" lang="zh-CN" altLang="en-US" sz="3200" b="1" dirty="0">
                <a:latin typeface="宋体" panose="02010600030101010101" pitchFamily="2" charset="-122"/>
                <a:sym typeface="Symbol" panose="05050102010706020507" pitchFamily="18" charset="2"/>
              </a:rPr>
              <a:t>尿酸的命运</a:t>
            </a:r>
          </a:p>
        </p:txBody>
      </p:sp>
    </p:spTree>
  </p:cSld>
  <p:clrMapOvr>
    <a:masterClrMapping/>
  </p:clrMapOvr>
  <p:transition spd="med">
    <p:pull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395288" y="199554"/>
            <a:ext cx="4176712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嘌呤碱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尿酸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07A3DE8-4741-3DE6-A63E-EB20AC236E08}"/>
              </a:ext>
            </a:extLst>
          </p:cNvPr>
          <p:cNvGrpSpPr/>
          <p:nvPr/>
        </p:nvGrpSpPr>
        <p:grpSpPr>
          <a:xfrm>
            <a:off x="2157290" y="836712"/>
            <a:ext cx="4829420" cy="5933456"/>
            <a:chOff x="3732956" y="912018"/>
            <a:chExt cx="4829420" cy="5933456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80849432-E654-7CF4-5105-80AF469DD2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-18000" contras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0" t="8667" r="8000" b="8667"/>
            <a:stretch>
              <a:fillRect/>
            </a:stretch>
          </p:blipFill>
          <p:spPr bwMode="auto">
            <a:xfrm>
              <a:off x="3732956" y="912018"/>
              <a:ext cx="4829420" cy="3600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E0B8A42F-15E1-DB64-9CF6-30A4535ADC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-18000" contrast="4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1" t="33669" r="11000" b="10001"/>
            <a:stretch/>
          </p:blipFill>
          <p:spPr bwMode="auto">
            <a:xfrm>
              <a:off x="3984524" y="4509120"/>
              <a:ext cx="4570771" cy="2336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F7265810-1EC0-F9FC-2051-D06AB77AD5C1}"/>
              </a:ext>
            </a:extLst>
          </p:cNvPr>
          <p:cNvSpPr txBox="1"/>
          <p:nvPr/>
        </p:nvSpPr>
        <p:spPr>
          <a:xfrm>
            <a:off x="611560" y="3429000"/>
            <a:ext cx="2592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50"/>
                </a:solidFill>
              </a:rPr>
              <a:t>核苷酸水平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50"/>
                </a:solidFill>
              </a:rPr>
              <a:t>核苷水平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50"/>
                </a:solidFill>
              </a:rPr>
              <a:t>碱基水平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BE724FD-7C99-08EB-F411-3CC40DD5604D}"/>
              </a:ext>
            </a:extLst>
          </p:cNvPr>
          <p:cNvSpPr/>
          <p:nvPr/>
        </p:nvSpPr>
        <p:spPr bwMode="auto">
          <a:xfrm>
            <a:off x="3917981" y="764704"/>
            <a:ext cx="28803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62EE794-B7DB-8AF1-6D49-ECC4E930B935}"/>
              </a:ext>
            </a:extLst>
          </p:cNvPr>
          <p:cNvSpPr/>
          <p:nvPr/>
        </p:nvSpPr>
        <p:spPr bwMode="auto">
          <a:xfrm>
            <a:off x="6212859" y="764704"/>
            <a:ext cx="28803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99FC5C5-0FC0-E62D-FDD5-74638538D058}"/>
              </a:ext>
            </a:extLst>
          </p:cNvPr>
          <p:cNvSpPr/>
          <p:nvPr/>
        </p:nvSpPr>
        <p:spPr bwMode="auto">
          <a:xfrm>
            <a:off x="5899775" y="1234901"/>
            <a:ext cx="28803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138F7B6-0465-DD5D-1678-068A0EAD356F}"/>
              </a:ext>
            </a:extLst>
          </p:cNvPr>
          <p:cNvCxnSpPr/>
          <p:nvPr/>
        </p:nvCxnSpPr>
        <p:spPr bwMode="auto">
          <a:xfrm>
            <a:off x="3275856" y="1128763"/>
            <a:ext cx="360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82A5E39-F82A-6619-7D5D-2DC498249D19}"/>
              </a:ext>
            </a:extLst>
          </p:cNvPr>
          <p:cNvCxnSpPr/>
          <p:nvPr/>
        </p:nvCxnSpPr>
        <p:spPr bwMode="auto">
          <a:xfrm>
            <a:off x="3340574" y="2518519"/>
            <a:ext cx="360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3089EFD-DC96-5285-8CCF-4906CD7AB02F}"/>
              </a:ext>
            </a:extLst>
          </p:cNvPr>
          <p:cNvCxnSpPr/>
          <p:nvPr/>
        </p:nvCxnSpPr>
        <p:spPr bwMode="auto">
          <a:xfrm>
            <a:off x="6128365" y="4941739"/>
            <a:ext cx="360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DA906E2B-BD82-7BFA-5C14-63621A05F37C}"/>
              </a:ext>
            </a:extLst>
          </p:cNvPr>
          <p:cNvSpPr/>
          <p:nvPr/>
        </p:nvSpPr>
        <p:spPr bwMode="auto">
          <a:xfrm>
            <a:off x="4866611" y="5013747"/>
            <a:ext cx="28803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C1B609E-BCED-7495-93E7-94BCC1C50F03}"/>
              </a:ext>
            </a:extLst>
          </p:cNvPr>
          <p:cNvSpPr/>
          <p:nvPr/>
        </p:nvSpPr>
        <p:spPr bwMode="auto">
          <a:xfrm>
            <a:off x="5129591" y="4562943"/>
            <a:ext cx="28803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3083338"/>
      </p:ext>
    </p:extLst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95288" y="1412875"/>
            <a:ext cx="74168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latin typeface="宋体" panose="02010600030101010101" pitchFamily="2" charset="-122"/>
              </a:rPr>
              <a:t>尿酸呈酸性，常以钾盐或钠盐形式从肾脏排出。正常人血尿酸含量为</a:t>
            </a:r>
            <a:r>
              <a:rPr kumimoji="1" lang="en-US" altLang="zh-CN" sz="2400" b="1">
                <a:latin typeface="宋体" panose="02010600030101010101" pitchFamily="2" charset="-122"/>
              </a:rPr>
              <a:t>2-6mg/dl</a:t>
            </a:r>
            <a:r>
              <a:rPr kumimoji="1" lang="zh-CN" altLang="en-US" sz="2400" b="1">
                <a:latin typeface="宋体" panose="02010600030101010101" pitchFamily="2" charset="-122"/>
              </a:rPr>
              <a:t>。当血尿酸超过</a:t>
            </a:r>
            <a:r>
              <a:rPr kumimoji="1" lang="en-US" altLang="zh-CN" sz="2400" b="1">
                <a:latin typeface="宋体" panose="02010600030101010101" pitchFamily="2" charset="-122"/>
              </a:rPr>
              <a:t>8mg/dl</a:t>
            </a:r>
            <a:r>
              <a:rPr kumimoji="1" lang="zh-CN" altLang="en-US" sz="2400" b="1">
                <a:latin typeface="宋体" panose="02010600030101010101" pitchFamily="2" charset="-122"/>
              </a:rPr>
              <a:t>时，尿酸盐结晶沉积于软组织、软骨及关节等处，形成痛风性关节炎；在肾脏中沉积形成肾结石。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Ø"/>
            </a:pPr>
            <a:r>
              <a:rPr kumimoji="1" lang="zh-CN" altLang="en-US" sz="2800" b="1" i="1">
                <a:solidFill>
                  <a:schemeClr val="accent1"/>
                </a:solidFill>
                <a:latin typeface="宋体" panose="02010600030101010101" pitchFamily="2" charset="-122"/>
              </a:rPr>
              <a:t>原发性痛风：</a:t>
            </a:r>
            <a:r>
              <a:rPr kumimoji="1" lang="zh-CN" altLang="en-US" sz="2400" b="1">
                <a:latin typeface="宋体" panose="02010600030101010101" pitchFamily="2" charset="-122"/>
              </a:rPr>
              <a:t>先天性代谢缺陷性疾病，由于患者体内参与嘌呤代谢的某些酶活性异常而引起血尿酸增高。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Ø"/>
            </a:pPr>
            <a:r>
              <a:rPr kumimoji="1" lang="zh-CN" altLang="en-US" sz="2800" b="1" i="1">
                <a:solidFill>
                  <a:schemeClr val="accent1"/>
                </a:solidFill>
                <a:latin typeface="宋体" panose="02010600030101010101" pitchFamily="2" charset="-122"/>
              </a:rPr>
              <a:t>继发性痛风：</a:t>
            </a:r>
            <a:r>
              <a:rPr kumimoji="1" lang="zh-CN" altLang="en-US" sz="2400" b="1">
                <a:latin typeface="宋体" panose="02010600030101010101" pitchFamily="2" charset="-122"/>
              </a:rPr>
              <a:t>某些疾病（如白血病、恶性肿瘤等）时体内核酸大量分解，引起血尿酸升高。肾功能障碍使尿酸排出受阻，也可使血尿酸升高。</a:t>
            </a:r>
            <a:endParaRPr kumimoji="1" lang="zh-CN" altLang="en-US" sz="2400" b="1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611188" y="692150"/>
            <a:ext cx="2160587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尿酸与痛风</a:t>
            </a:r>
          </a:p>
        </p:txBody>
      </p:sp>
    </p:spTree>
  </p:cSld>
  <p:clrMapOvr>
    <a:masterClrMapping/>
  </p:clrMapOvr>
  <p:transition spd="med">
    <p:pull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027"/>
          <p:cNvSpPr txBox="1">
            <a:spLocks noChangeArrowheads="1"/>
          </p:cNvSpPr>
          <p:nvPr/>
        </p:nvSpPr>
        <p:spPr bwMode="auto">
          <a:xfrm>
            <a:off x="3779838" y="4875213"/>
            <a:ext cx="3024187" cy="641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chemeClr val="bg1"/>
                </a:solidFill>
                <a:latin typeface="Times New Roman" panose="02020603050405020304" pitchFamily="18" charset="0"/>
              </a:rPr>
              <a:t>痛风与治疗！</a:t>
            </a:r>
          </a:p>
        </p:txBody>
      </p:sp>
      <p:grpSp>
        <p:nvGrpSpPr>
          <p:cNvPr id="18435" name="Group 1028"/>
          <p:cNvGrpSpPr>
            <a:grpSpLocks/>
          </p:cNvGrpSpPr>
          <p:nvPr/>
        </p:nvGrpSpPr>
        <p:grpSpPr bwMode="auto">
          <a:xfrm>
            <a:off x="36513" y="1125538"/>
            <a:ext cx="9144000" cy="2519362"/>
            <a:chOff x="0" y="1344"/>
            <a:chExt cx="5760" cy="1587"/>
          </a:xfrm>
        </p:grpSpPr>
        <p:pic>
          <p:nvPicPr>
            <p:cNvPr id="18439" name="Picture 1029"/>
            <p:cNvPicPr>
              <a:picLocks noChangeAspect="1" noChangeArrowheads="1"/>
            </p:cNvPicPr>
            <p:nvPr/>
          </p:nvPicPr>
          <p:blipFill>
            <a:blip r:embed="rId2">
              <a:lum bright="-12000" contras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00" t="43333" r="13000" b="35727"/>
            <a:stretch>
              <a:fillRect/>
            </a:stretch>
          </p:blipFill>
          <p:spPr bwMode="auto">
            <a:xfrm>
              <a:off x="0" y="1344"/>
              <a:ext cx="5760" cy="1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0" name="Text Box 1030"/>
            <p:cNvSpPr txBox="1">
              <a:spLocks noChangeArrowheads="1"/>
            </p:cNvSpPr>
            <p:nvPr/>
          </p:nvSpPr>
          <p:spPr bwMode="auto">
            <a:xfrm>
              <a:off x="4604" y="2568"/>
              <a:ext cx="88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别黄嘌呤</a:t>
              </a:r>
            </a:p>
          </p:txBody>
        </p:sp>
        <p:sp>
          <p:nvSpPr>
            <p:cNvPr id="18441" name="Text Box 1031"/>
            <p:cNvSpPr txBox="1">
              <a:spLocks noChangeArrowheads="1"/>
            </p:cNvSpPr>
            <p:nvPr/>
          </p:nvSpPr>
          <p:spPr bwMode="auto">
            <a:xfrm>
              <a:off x="1655" y="2568"/>
              <a:ext cx="88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别嘌呤醇</a:t>
              </a:r>
            </a:p>
          </p:txBody>
        </p:sp>
        <p:sp>
          <p:nvSpPr>
            <p:cNvPr id="18442" name="Text Box 1032"/>
            <p:cNvSpPr txBox="1">
              <a:spLocks noChangeArrowheads="1"/>
            </p:cNvSpPr>
            <p:nvPr/>
          </p:nvSpPr>
          <p:spPr bwMode="auto">
            <a:xfrm>
              <a:off x="204" y="2568"/>
              <a:ext cx="88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次黄嘌呤</a:t>
              </a:r>
            </a:p>
          </p:txBody>
        </p:sp>
      </p:grpSp>
      <p:pic>
        <p:nvPicPr>
          <p:cNvPr id="18436" name="Picture 1033"/>
          <p:cNvPicPr>
            <a:picLocks noChangeAspect="1" noChangeArrowheads="1"/>
          </p:cNvPicPr>
          <p:nvPr/>
        </p:nvPicPr>
        <p:blipFill>
          <a:blip r:embed="rId3">
            <a:lum bright="-18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14" t="70102" r="28102" b="10001"/>
          <a:stretch>
            <a:fillRect/>
          </a:stretch>
        </p:blipFill>
        <p:spPr bwMode="auto">
          <a:xfrm>
            <a:off x="36513" y="4149725"/>
            <a:ext cx="2735262" cy="211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Line 1034"/>
          <p:cNvSpPr>
            <a:spLocks noChangeShapeType="1"/>
          </p:cNvSpPr>
          <p:nvPr/>
        </p:nvSpPr>
        <p:spPr bwMode="auto">
          <a:xfrm>
            <a:off x="1042988" y="3573463"/>
            <a:ext cx="0" cy="503237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438" name="Rectangle 1035"/>
          <p:cNvSpPr>
            <a:spLocks noChangeArrowheads="1"/>
          </p:cNvSpPr>
          <p:nvPr/>
        </p:nvSpPr>
        <p:spPr bwMode="auto">
          <a:xfrm>
            <a:off x="395536" y="199554"/>
            <a:ext cx="4176712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自杀作用物</a:t>
            </a:r>
            <a:endParaRPr kumimoji="1" lang="zh-CN" altLang="en-US" sz="31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95288" y="1412875"/>
            <a:ext cx="74168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Ø"/>
            </a:pPr>
            <a:r>
              <a:rPr lang="zh-CN" altLang="en-US" sz="2800" b="1" i="1">
                <a:solidFill>
                  <a:schemeClr val="accent1"/>
                </a:solidFill>
                <a:latin typeface="宋体" panose="02010600030101010101" pitchFamily="2" charset="-122"/>
              </a:rPr>
              <a:t>药物治疗：</a:t>
            </a:r>
            <a:r>
              <a:rPr lang="zh-CN" altLang="en-US" b="1">
                <a:latin typeface="宋体" panose="02010600030101010101" pitchFamily="2" charset="-122"/>
              </a:rPr>
              <a:t>服用排尿酸药物（如水杨酸、辛可芬等）和使用别嘌呤醇治疗。</a:t>
            </a:r>
          </a:p>
          <a:p>
            <a:pPr>
              <a:lnSpc>
                <a:spcPct val="110000"/>
              </a:lnSpc>
              <a:spcBef>
                <a:spcPct val="3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Ø"/>
            </a:pPr>
            <a:r>
              <a:rPr lang="zh-CN" altLang="en-US" sz="2800" b="1" i="1">
                <a:solidFill>
                  <a:schemeClr val="accent1"/>
                </a:solidFill>
                <a:latin typeface="宋体" panose="02010600030101010101" pitchFamily="2" charset="-122"/>
              </a:rPr>
              <a:t>营养治疗：</a:t>
            </a:r>
            <a:r>
              <a:rPr lang="zh-CN" altLang="en-US" b="1">
                <a:latin typeface="宋体" panose="02010600030101010101" pitchFamily="2" charset="-122"/>
              </a:rPr>
              <a:t>主要是通过限制饮食中嘌呤的摄入，达到减少尿酸生成、降低血尿酸浓度的目的。痛风的发生与营养过剩密切相关，科学的饮食结构可消除这一诱发因素。</a:t>
            </a:r>
          </a:p>
          <a:p>
            <a:pPr>
              <a:lnSpc>
                <a:spcPct val="110000"/>
              </a:lnSpc>
              <a:spcBef>
                <a:spcPct val="3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b="1">
                <a:latin typeface="宋体" panose="02010600030101010101" pitchFamily="2" charset="-122"/>
              </a:rPr>
              <a:t>   </a:t>
            </a:r>
            <a:endParaRPr lang="en-US" altLang="zh-CN" b="1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3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1">
                <a:latin typeface="宋体" panose="02010600030101010101" pitchFamily="2" charset="-122"/>
              </a:rPr>
              <a:t>   </a:t>
            </a:r>
            <a:r>
              <a:rPr lang="zh-CN" altLang="en-US" sz="2000" b="1">
                <a:latin typeface="宋体" panose="02010600030101010101" pitchFamily="2" charset="-122"/>
              </a:rPr>
              <a:t>碳水化合物可促进尿酸排出，可食用富含碳水化合物的米饭、馒头、面食等；大量喝水，也可促进尿酸排除；酒精容易使体内乳酸堆积，对尿酸排出有抑制作用，应禁酒；动物性食品中嘌呤含量较多，禁食内脏、骨髓、海味、发酵食物、豆类等。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611188" y="692150"/>
            <a:ext cx="5103812" cy="5699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痛风与治疗</a:t>
            </a:r>
            <a:r>
              <a:rPr lang="en-US" altLang="zh-CN" sz="3100">
                <a:solidFill>
                  <a:schemeClr val="bg1"/>
                </a:solidFill>
                <a:ea typeface="黑体" panose="02010609060101010101" pitchFamily="49" charset="-122"/>
              </a:rPr>
              <a:t>——“</a:t>
            </a:r>
            <a:r>
              <a:rPr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开流节源</a:t>
            </a:r>
            <a:r>
              <a:rPr lang="en-US" altLang="zh-CN" sz="3100">
                <a:solidFill>
                  <a:schemeClr val="bg1"/>
                </a:solidFill>
                <a:ea typeface="黑体" panose="02010609060101010101" pitchFamily="49" charset="-122"/>
              </a:rPr>
              <a:t>”</a:t>
            </a:r>
            <a:endParaRPr lang="zh-CN" altLang="en-US" sz="310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ChangeArrowheads="1"/>
          </p:cNvSpPr>
          <p:nvPr/>
        </p:nvSpPr>
        <p:spPr bwMode="auto">
          <a:xfrm>
            <a:off x="395288" y="199554"/>
            <a:ext cx="4176712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尿酸的命运</a:t>
            </a:r>
            <a:endParaRPr kumimoji="1" lang="zh-CN" altLang="en-US" sz="31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2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19" t="25926" r="28432" b="13763"/>
          <a:stretch>
            <a:fillRect/>
          </a:stretch>
        </p:blipFill>
        <p:spPr bwMode="auto">
          <a:xfrm>
            <a:off x="323850" y="1008063"/>
            <a:ext cx="3576638" cy="537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6"/>
          <p:cNvPicPr>
            <a:picLocks noChangeAspect="1" noChangeArrowheads="1"/>
          </p:cNvPicPr>
          <p:nvPr/>
        </p:nvPicPr>
        <p:blipFill>
          <a:blip r:embed="rId3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99" t="26001" r="23001" b="17999"/>
          <a:stretch>
            <a:fillRect/>
          </a:stretch>
        </p:blipFill>
        <p:spPr bwMode="auto">
          <a:xfrm>
            <a:off x="3935413" y="1052513"/>
            <a:ext cx="4524375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971550" y="1147763"/>
            <a:ext cx="4994275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不同动物的排泄情况：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latin typeface="Times New Roman" panose="02020603050405020304" pitchFamily="18" charset="0"/>
              </a:rPr>
              <a:t>人类、猿类（尿酸）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latin typeface="Times New Roman" panose="02020603050405020304" pitchFamily="18" charset="0"/>
              </a:rPr>
              <a:t>其它哺乳类（尿囊素）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latin typeface="Times New Roman" panose="02020603050405020304" pitchFamily="18" charset="0"/>
              </a:rPr>
              <a:t>鸟类、爬行类（尿酸）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latin typeface="Times New Roman" panose="02020603050405020304" pitchFamily="18" charset="0"/>
              </a:rPr>
              <a:t>两栖类（尿囊酸、尿素）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3200" b="1">
                <a:latin typeface="Times New Roman" panose="02020603050405020304" pitchFamily="18" charset="0"/>
              </a:rPr>
              <a:t>鱼类（尿囊酸、尿素）</a:t>
            </a:r>
          </a:p>
        </p:txBody>
      </p:sp>
    </p:spTree>
  </p:cSld>
  <p:clrMapOvr>
    <a:masterClrMapping/>
  </p:clrMapOvr>
  <p:transition spd="med">
    <p:pull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574675"/>
            <a:ext cx="6910388" cy="579438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1.</a:t>
            </a:r>
            <a:r>
              <a:rPr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3 </a:t>
            </a:r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嘧啶碱的分解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66A8C64-9BB2-0915-AF6D-2FC89BB4FA0E}"/>
              </a:ext>
            </a:extLst>
          </p:cNvPr>
          <p:cNvGrpSpPr/>
          <p:nvPr/>
        </p:nvGrpSpPr>
        <p:grpSpPr>
          <a:xfrm>
            <a:off x="611560" y="1582808"/>
            <a:ext cx="4152588" cy="5183612"/>
            <a:chOff x="4211960" y="836713"/>
            <a:chExt cx="4152588" cy="5183612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6842DE83-6B77-80C0-2872-A8FE659C5A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-12000"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11" t="25468" r="13725" b="18182"/>
            <a:stretch>
              <a:fillRect/>
            </a:stretch>
          </p:blipFill>
          <p:spPr bwMode="auto">
            <a:xfrm>
              <a:off x="4211960" y="836713"/>
              <a:ext cx="3878722" cy="2484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D39AE0C-A87F-562F-E751-8738E19EF5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8104" y="3321519"/>
              <a:ext cx="2582578" cy="1237257"/>
              <a:chOff x="1020" y="1616"/>
              <a:chExt cx="4036" cy="2390"/>
            </a:xfrm>
          </p:grpSpPr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76190468-F128-8E30-23DC-E995BA9740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lum bright="-18000" contrast="42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844" t="31334" r="36336" b="35983"/>
              <a:stretch>
                <a:fillRect/>
              </a:stretch>
            </p:blipFill>
            <p:spPr bwMode="auto">
              <a:xfrm>
                <a:off x="1020" y="1616"/>
                <a:ext cx="1542" cy="2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5">
                <a:extLst>
                  <a:ext uri="{FF2B5EF4-FFF2-40B4-BE49-F238E27FC236}">
                    <a16:creationId xmlns:a16="http://schemas.microsoft.com/office/drawing/2014/main" id="{D36F5AE9-D1EA-4995-1DD4-0913C1208B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lum bright="-18000" contrast="42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860" t="31334" r="14000" b="35983"/>
              <a:stretch>
                <a:fillRect/>
              </a:stretch>
            </p:blipFill>
            <p:spPr bwMode="auto">
              <a:xfrm>
                <a:off x="3288" y="1616"/>
                <a:ext cx="1768" cy="2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CC5663E2-FA38-FC17-0656-C4F77DF1B9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lum bright="-12000" contras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99" t="48124" r="13000" b="16667"/>
            <a:stretch/>
          </p:blipFill>
          <p:spPr bwMode="auto">
            <a:xfrm>
              <a:off x="5248272" y="4521198"/>
              <a:ext cx="3116276" cy="1499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B767691E-8C3A-1592-9EF7-84C2D9A26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0" t="23334" r="10001" b="12666"/>
          <a:stretch>
            <a:fillRect/>
          </a:stretch>
        </p:blipFill>
        <p:spPr bwMode="auto">
          <a:xfrm>
            <a:off x="4750114" y="2035433"/>
            <a:ext cx="3495535" cy="2833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6F1BA89C-E8A1-13BA-36A6-808BD0FE1721}"/>
              </a:ext>
            </a:extLst>
          </p:cNvPr>
          <p:cNvSpPr/>
          <p:nvPr/>
        </p:nvSpPr>
        <p:spPr bwMode="auto">
          <a:xfrm>
            <a:off x="912118" y="1497310"/>
            <a:ext cx="28803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3DDDC77-CCF4-67DF-CEEA-740AEE1DABAB}"/>
              </a:ext>
            </a:extLst>
          </p:cNvPr>
          <p:cNvSpPr/>
          <p:nvPr/>
        </p:nvSpPr>
        <p:spPr bwMode="auto">
          <a:xfrm>
            <a:off x="4152478" y="1662236"/>
            <a:ext cx="28803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CF57B54-51A7-6004-36EC-0CA846B781F7}"/>
              </a:ext>
            </a:extLst>
          </p:cNvPr>
          <p:cNvSpPr/>
          <p:nvPr/>
        </p:nvSpPr>
        <p:spPr bwMode="auto">
          <a:xfrm>
            <a:off x="1679154" y="3501008"/>
            <a:ext cx="288032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Oval 2"/>
          <p:cNvSpPr>
            <a:spLocks noChangeArrowheads="1"/>
          </p:cNvSpPr>
          <p:nvPr/>
        </p:nvSpPr>
        <p:spPr bwMode="auto">
          <a:xfrm>
            <a:off x="4356100" y="4941888"/>
            <a:ext cx="2879725" cy="1628775"/>
          </a:xfrm>
          <a:prstGeom prst="ellipse">
            <a:avLst/>
          </a:prstGeom>
          <a:noFill/>
          <a:ln w="31750">
            <a:solidFill>
              <a:schemeClr val="bg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13F599E-230E-24C9-1A6F-D2EB1A4D8B27}"/>
              </a:ext>
            </a:extLst>
          </p:cNvPr>
          <p:cNvGrpSpPr/>
          <p:nvPr/>
        </p:nvGrpSpPr>
        <p:grpSpPr>
          <a:xfrm>
            <a:off x="1979712" y="1340768"/>
            <a:ext cx="4513134" cy="4248472"/>
            <a:chOff x="3405242" y="3214686"/>
            <a:chExt cx="2928958" cy="2880000"/>
          </a:xfrm>
        </p:grpSpPr>
        <p:sp>
          <p:nvSpPr>
            <p:cNvPr id="6" name="TextBox 14">
              <a:extLst>
                <a:ext uri="{FF2B5EF4-FFF2-40B4-BE49-F238E27FC236}">
                  <a16:creationId xmlns:a16="http://schemas.microsoft.com/office/drawing/2014/main" id="{BA6ADB3D-3E37-EF85-A1E0-121E201A0D2B}"/>
                </a:ext>
              </a:extLst>
            </p:cNvPr>
            <p:cNvSpPr txBox="1"/>
            <p:nvPr/>
          </p:nvSpPr>
          <p:spPr>
            <a:xfrm>
              <a:off x="3405242" y="3214686"/>
              <a:ext cx="2928958" cy="2880000"/>
            </a:xfrm>
            <a:prstGeom prst="rect">
              <a:avLst/>
            </a:prstGeom>
            <a:solidFill>
              <a:srgbClr val="CCCCFF"/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pic>
          <p:nvPicPr>
            <p:cNvPr id="7" name="Picture 1">
              <a:extLst>
                <a:ext uri="{FF2B5EF4-FFF2-40B4-BE49-F238E27FC236}">
                  <a16:creationId xmlns:a16="http://schemas.microsoft.com/office/drawing/2014/main" id="{F1E053FC-F11A-EF78-C199-BF7E3D4C62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477519" y="3286124"/>
              <a:ext cx="1808993" cy="1297844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ADC79FE-DD41-8B1B-B81E-54F2EC81E2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428992" y="3609689"/>
              <a:ext cx="948964" cy="744777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61BEE977-2005-F360-4070-56285D839C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444190" y="4989771"/>
              <a:ext cx="953206" cy="629220"/>
            </a:xfrm>
            <a:prstGeom prst="rect">
              <a:avLst/>
            </a:prstGeom>
            <a:solidFill>
              <a:srgbClr val="CC99FF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4C5589E7-3F96-FCBB-E9B9-D7364D4806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458986" y="4567671"/>
              <a:ext cx="1819542" cy="1504529"/>
            </a:xfrm>
            <a:prstGeom prst="rect">
              <a:avLst/>
            </a:prstGeom>
            <a:solidFill>
              <a:srgbClr val="CC99FF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612775" y="2349500"/>
            <a:ext cx="6911975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2.1 </a:t>
            </a: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嘌呤核糖核苷酸的合成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2.2 </a:t>
            </a: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嘧啶核糖核苷酸的合成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脱氧核糖核苷酸的合成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2.4 AA</a:t>
            </a: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与</a:t>
            </a:r>
            <a:r>
              <a:rPr kumimoji="1"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NT</a:t>
            </a:r>
            <a:r>
              <a:rPr kumimoji="1"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生物合成的相互联系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612775" y="1268413"/>
            <a:ext cx="64801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>
                <a:latin typeface="Times New Roman" panose="02020603050405020304" pitchFamily="18" charset="0"/>
              </a:rPr>
              <a:t>二、核苷酸的生物合成</a:t>
            </a:r>
          </a:p>
        </p:txBody>
      </p:sp>
    </p:spTree>
  </p:cSld>
  <p:clrMapOvr>
    <a:masterClrMapping/>
  </p:clrMapOvr>
  <p:transition spd="med">
    <p:pull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574675"/>
            <a:ext cx="6910388" cy="579438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2.1 </a:t>
            </a:r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嘌呤核糖核苷酸的合成</a:t>
            </a:r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500063" y="1643063"/>
            <a:ext cx="727233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2800" b="1" i="1">
                <a:solidFill>
                  <a:schemeClr val="accent1"/>
                </a:solidFill>
                <a:latin typeface="宋体" panose="02010600030101010101" pitchFamily="2" charset="-122"/>
              </a:rPr>
              <a:t>从头合成途径：</a:t>
            </a:r>
            <a:r>
              <a:rPr kumimoji="1" lang="zh-CN" altLang="en-US" sz="2400" b="1">
                <a:latin typeface="宋体" panose="02010600030101010101" pitchFamily="2" charset="-122"/>
              </a:rPr>
              <a:t>利用磷酸核糖、一些氨基酸、一碳单位及</a:t>
            </a:r>
            <a:r>
              <a:rPr kumimoji="1" lang="en-US" altLang="zh-CN" sz="2400" b="1">
                <a:latin typeface="宋体" panose="02010600030101010101" pitchFamily="2" charset="-122"/>
              </a:rPr>
              <a:t>CO2</a:t>
            </a:r>
            <a:r>
              <a:rPr kumimoji="1" lang="zh-CN" altLang="en-US" sz="2400" b="1">
                <a:latin typeface="宋体" panose="02010600030101010101" pitchFamily="2" charset="-122"/>
              </a:rPr>
              <a:t>等简单物质为原料，经过一系列酶促反应，合成嘌呤核苷酸。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2800" b="1" i="1">
                <a:solidFill>
                  <a:schemeClr val="accent1"/>
                </a:solidFill>
                <a:latin typeface="宋体" panose="02010600030101010101" pitchFamily="2" charset="-122"/>
              </a:rPr>
              <a:t>补救合成途径：</a:t>
            </a:r>
            <a:r>
              <a:rPr kumimoji="1" lang="zh-CN" altLang="en-US" sz="2400" b="1">
                <a:latin typeface="宋体" panose="02010600030101010101" pitchFamily="2" charset="-122"/>
              </a:rPr>
              <a:t>利用体内游离的嘌呤碱或嘌呤核苷，经过比较简单的反应过程合成嘌呤核苷酸。</a:t>
            </a:r>
            <a:endParaRPr kumimoji="1" lang="en-US" altLang="zh-CN" sz="2400" b="1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-1588" y="3221038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395288" y="996950"/>
            <a:ext cx="7391400" cy="5816600"/>
            <a:chOff x="816" y="656"/>
            <a:chExt cx="4656" cy="3664"/>
          </a:xfrm>
        </p:grpSpPr>
        <p:pic>
          <p:nvPicPr>
            <p:cNvPr id="29701" name="Picture 4"/>
            <p:cNvPicPr>
              <a:picLocks noChangeAspect="1" noChangeArrowheads="1"/>
            </p:cNvPicPr>
            <p:nvPr/>
          </p:nvPicPr>
          <p:blipFill>
            <a:blip r:embed="rId2">
              <a:lum bright="-18000"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00" t="23334" r="12000" b="12666"/>
            <a:stretch>
              <a:fillRect/>
            </a:stretch>
          </p:blipFill>
          <p:spPr bwMode="auto">
            <a:xfrm>
              <a:off x="816" y="656"/>
              <a:ext cx="4656" cy="3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702" name="Group 5"/>
            <p:cNvGrpSpPr>
              <a:grpSpLocks/>
            </p:cNvGrpSpPr>
            <p:nvPr/>
          </p:nvGrpSpPr>
          <p:grpSpPr bwMode="auto">
            <a:xfrm>
              <a:off x="816" y="720"/>
              <a:ext cx="2400" cy="336"/>
              <a:chOff x="-3" y="256"/>
              <a:chExt cx="5763" cy="262"/>
            </a:xfrm>
          </p:grpSpPr>
          <p:sp>
            <p:nvSpPr>
              <p:cNvPr id="29703" name="Rectangle 6"/>
              <p:cNvSpPr>
                <a:spLocks noChangeArrowheads="1"/>
              </p:cNvSpPr>
              <p:nvPr/>
            </p:nvSpPr>
            <p:spPr bwMode="auto">
              <a:xfrm>
                <a:off x="0" y="259"/>
                <a:ext cx="5760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9704" name="Group 7"/>
              <p:cNvGrpSpPr>
                <a:grpSpLocks/>
              </p:cNvGrpSpPr>
              <p:nvPr/>
            </p:nvGrpSpPr>
            <p:grpSpPr bwMode="auto">
              <a:xfrm>
                <a:off x="-3" y="256"/>
                <a:ext cx="5708" cy="258"/>
                <a:chOff x="-3" y="256"/>
                <a:chExt cx="5708" cy="258"/>
              </a:xfrm>
            </p:grpSpPr>
            <p:grpSp>
              <p:nvGrpSpPr>
                <p:cNvPr id="29705" name="Group 8"/>
                <p:cNvGrpSpPr>
                  <a:grpSpLocks/>
                </p:cNvGrpSpPr>
                <p:nvPr/>
              </p:nvGrpSpPr>
              <p:grpSpPr bwMode="auto">
                <a:xfrm>
                  <a:off x="-1" y="259"/>
                  <a:ext cx="5703" cy="255"/>
                  <a:chOff x="-1" y="259"/>
                  <a:chExt cx="5703" cy="255"/>
                </a:xfrm>
              </p:grpSpPr>
              <p:grpSp>
                <p:nvGrpSpPr>
                  <p:cNvPr id="29707" name="Group 9"/>
                  <p:cNvGrpSpPr>
                    <a:grpSpLocks/>
                  </p:cNvGrpSpPr>
                  <p:nvPr/>
                </p:nvGrpSpPr>
                <p:grpSpPr bwMode="auto">
                  <a:xfrm>
                    <a:off x="-1" y="259"/>
                    <a:ext cx="5703" cy="255"/>
                    <a:chOff x="-1" y="475"/>
                    <a:chExt cx="5703" cy="255"/>
                  </a:xfrm>
                </p:grpSpPr>
                <p:sp>
                  <p:nvSpPr>
                    <p:cNvPr id="29709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475"/>
                      <a:ext cx="5702" cy="21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29710" name="Rectangle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-1" y="475"/>
                      <a:ext cx="5703" cy="25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kumimoji="1" lang="zh-CN" altLang="en-US" sz="2800" b="1">
                          <a:latin typeface="Times New Roman" panose="02020603050405020304" pitchFamily="18" charset="0"/>
                          <a:ea typeface=""/>
                          <a:cs typeface=""/>
                        </a:rPr>
                        <a:t>磷酸核糖焦磷酸合成</a:t>
                      </a:r>
                      <a:r>
                        <a:rPr kumimoji="1" lang="zh-CN" altLang="en-US" sz="28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"/>
                          <a:cs typeface=""/>
                        </a:rPr>
                        <a:t> </a:t>
                      </a:r>
                      <a:endParaRPr kumimoji="1" lang="zh-CN" altLang="en-US" sz="2800">
                        <a:solidFill>
                          <a:schemeClr val="bg1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9708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59"/>
                    <a:ext cx="5702" cy="21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29706" name="Rectangle 13"/>
                <p:cNvSpPr>
                  <a:spLocks noChangeArrowheads="1"/>
                </p:cNvSpPr>
                <p:nvPr/>
              </p:nvSpPr>
              <p:spPr bwMode="auto">
                <a:xfrm>
                  <a:off x="-3" y="256"/>
                  <a:ext cx="5708" cy="222"/>
                </a:xfrm>
                <a:prstGeom prst="rect">
                  <a:avLst/>
                </a:prstGeom>
                <a:noFill/>
                <a:ln w="11112">
                  <a:solidFill>
                    <a:srgbClr val="00666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</p:grpSp>
      <p:sp>
        <p:nvSpPr>
          <p:cNvPr id="29700" name="Rectangle 15"/>
          <p:cNvSpPr>
            <a:spLocks noChangeArrowheads="1"/>
          </p:cNvSpPr>
          <p:nvPr/>
        </p:nvSpPr>
        <p:spPr bwMode="auto">
          <a:xfrm>
            <a:off x="395288" y="342900"/>
            <a:ext cx="6697662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2.1.1 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次黄嘌呤核苷酸的合成</a:t>
            </a:r>
            <a:endParaRPr kumimoji="1" lang="en-US" altLang="zh-CN" sz="31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755650" y="541338"/>
            <a:ext cx="6229350" cy="56483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①谷氨酰胺-</a:t>
            </a:r>
            <a:r>
              <a:rPr kumimoji="1" lang="en-US" altLang="zh-CN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PRPP</a:t>
            </a: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转酰胺酶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②甘氨酰胺核苷酸合成酶</a:t>
            </a:r>
            <a:b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③甘氨酰胺核苷酸转甲酰基酶　　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④甲酰甘氨脒核苷酸合成酶</a:t>
            </a:r>
            <a:b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⑤氨基咪唑核苷酸合成酶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⑥氨基咪唑核苷酸羧化酶</a:t>
            </a:r>
            <a:b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⑦氨基咪唑琥珀基氨甲酰核苷酸合成酶</a:t>
            </a:r>
            <a:b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⑧腺苷琥珀酸裂解酶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⑨氨基咪唑氨甲酰核苷酸转甲酰基酶</a:t>
            </a:r>
            <a:b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⑩</a:t>
            </a:r>
            <a:r>
              <a:rPr kumimoji="1" lang="en-US" altLang="zh-CN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IMP</a:t>
            </a: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合酶</a:t>
            </a:r>
            <a:r>
              <a:rPr kumimoji="1" lang="en-US" altLang="zh-CN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环化水解酶</a:t>
            </a:r>
            <a:r>
              <a:rPr kumimoji="1" lang="en-US" altLang="zh-CN" sz="28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</p:spTree>
  </p:cSld>
  <p:clrMapOvr>
    <a:masterClrMapping/>
  </p:clrMapOvr>
  <p:transition spd="med">
    <p:pull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719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" r="62901" b="73711"/>
          <a:stretch>
            <a:fillRect/>
          </a:stretch>
        </p:blipFill>
        <p:spPr bwMode="auto">
          <a:xfrm>
            <a:off x="457200" y="50800"/>
            <a:ext cx="8218488" cy="676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6019800" y="32766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5724525" y="2722563"/>
            <a:ext cx="28082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>
                <a:solidFill>
                  <a:schemeClr val="accent1"/>
                </a:solidFill>
                <a:latin typeface="宋体" panose="02010600030101010101" pitchFamily="2" charset="-122"/>
              </a:rPr>
              <a:t>谷氨酰胺-</a:t>
            </a:r>
            <a:r>
              <a:rPr kumimoji="1" lang="en-US" altLang="zh-CN" sz="3200">
                <a:solidFill>
                  <a:schemeClr val="accent1"/>
                </a:solidFill>
                <a:latin typeface="宋体" panose="02010600030101010101" pitchFamily="2" charset="-122"/>
              </a:rPr>
              <a:t>PRPP</a:t>
            </a:r>
            <a:r>
              <a:rPr kumimoji="1" lang="zh-CN" altLang="en-US" sz="3200">
                <a:solidFill>
                  <a:schemeClr val="accent1"/>
                </a:solidFill>
                <a:latin typeface="宋体" panose="02010600030101010101" pitchFamily="2" charset="-122"/>
              </a:rPr>
              <a:t>转酰胺酶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5076825" y="333375"/>
            <a:ext cx="3240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第一阶段反应</a:t>
            </a:r>
          </a:p>
        </p:txBody>
      </p:sp>
    </p:spTree>
  </p:cSld>
  <p:clrMapOvr>
    <a:masterClrMapping/>
  </p:clrMapOvr>
  <p:transition spd="med">
    <p:pull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719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" t="17285" r="62901" b="54637"/>
          <a:stretch>
            <a:fillRect/>
          </a:stretch>
        </p:blipFill>
        <p:spPr bwMode="auto">
          <a:xfrm>
            <a:off x="971550" y="503238"/>
            <a:ext cx="6607175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5486400" y="25146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5029200" y="2506663"/>
            <a:ext cx="2667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甘氨酰胺核苷酸合成酶</a:t>
            </a:r>
          </a:p>
        </p:txBody>
      </p:sp>
      <p:sp>
        <p:nvSpPr>
          <p:cNvPr id="32773" name="Text Box 6"/>
          <p:cNvSpPr txBox="1">
            <a:spLocks noChangeArrowheads="1"/>
          </p:cNvSpPr>
          <p:nvPr/>
        </p:nvSpPr>
        <p:spPr bwMode="auto">
          <a:xfrm>
            <a:off x="5076825" y="333375"/>
            <a:ext cx="3240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第一阶段反应</a:t>
            </a:r>
          </a:p>
        </p:txBody>
      </p:sp>
    </p:spTree>
  </p:cSld>
  <p:clrMapOvr>
    <a:masterClrMapping/>
  </p:clrMapOvr>
  <p:transition spd="med">
    <p:pull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719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" t="34756" r="62901" b="49547"/>
          <a:stretch>
            <a:fillRect/>
          </a:stretch>
        </p:blipFill>
        <p:spPr bwMode="auto">
          <a:xfrm>
            <a:off x="1042988" y="188913"/>
            <a:ext cx="6697662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3" descr="719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9" t="50298" r="59937" b="38945"/>
          <a:stretch>
            <a:fillRect/>
          </a:stretch>
        </p:blipFill>
        <p:spPr bwMode="auto">
          <a:xfrm>
            <a:off x="1116013" y="3933825"/>
            <a:ext cx="69119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79388" y="2205038"/>
            <a:ext cx="269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甘氨酰胺核苷酸转甲酰基酶</a:t>
            </a:r>
          </a:p>
        </p:txBody>
      </p:sp>
      <p:sp>
        <p:nvSpPr>
          <p:cNvPr id="33797" name="Text Box 6"/>
          <p:cNvSpPr txBox="1">
            <a:spLocks noChangeArrowheads="1"/>
          </p:cNvSpPr>
          <p:nvPr/>
        </p:nvSpPr>
        <p:spPr bwMode="auto">
          <a:xfrm>
            <a:off x="5076825" y="333375"/>
            <a:ext cx="3240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第一阶段反应</a:t>
            </a:r>
          </a:p>
        </p:txBody>
      </p:sp>
    </p:spTree>
  </p:cSld>
  <p:clrMapOvr>
    <a:masterClrMapping/>
  </p:clrMapOvr>
  <p:transition spd="med">
    <p:pull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 descr="719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9" t="50298" r="59937" b="17085"/>
          <a:stretch>
            <a:fillRect/>
          </a:stretch>
        </p:blipFill>
        <p:spPr bwMode="auto">
          <a:xfrm>
            <a:off x="1071563" y="357188"/>
            <a:ext cx="5786437" cy="621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4429125" y="3000375"/>
            <a:ext cx="267176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甲酰甘氨脒核苷酸合成酶</a:t>
            </a:r>
          </a:p>
        </p:txBody>
      </p:sp>
      <p:sp>
        <p:nvSpPr>
          <p:cNvPr id="34820" name="Text Box 9"/>
          <p:cNvSpPr txBox="1">
            <a:spLocks noChangeArrowheads="1"/>
          </p:cNvSpPr>
          <p:nvPr/>
        </p:nvSpPr>
        <p:spPr bwMode="auto">
          <a:xfrm>
            <a:off x="5076825" y="333375"/>
            <a:ext cx="3240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第一阶段反应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719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9" t="71696" r="59937"/>
          <a:stretch>
            <a:fillRect/>
          </a:stretch>
        </p:blipFill>
        <p:spPr bwMode="auto">
          <a:xfrm>
            <a:off x="1143000" y="214313"/>
            <a:ext cx="6913563" cy="644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5148263" y="2938463"/>
            <a:ext cx="25193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氨基咪唑核苷酸合成酶</a:t>
            </a:r>
          </a:p>
        </p:txBody>
      </p:sp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5076825" y="333375"/>
            <a:ext cx="3240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第一阶段反应</a:t>
            </a:r>
          </a:p>
        </p:txBody>
      </p:sp>
    </p:spTree>
  </p:cSld>
  <p:clrMapOvr>
    <a:masterClrMapping/>
  </p:clrMapOvr>
  <p:transition spd="med">
    <p:pull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/>
          <p:cNvGrpSpPr>
            <a:grpSpLocks/>
          </p:cNvGrpSpPr>
          <p:nvPr/>
        </p:nvGrpSpPr>
        <p:grpSpPr bwMode="auto">
          <a:xfrm>
            <a:off x="827088" y="468313"/>
            <a:ext cx="6913562" cy="5913437"/>
            <a:chOff x="521" y="459"/>
            <a:chExt cx="4355" cy="3725"/>
          </a:xfrm>
        </p:grpSpPr>
        <p:pic>
          <p:nvPicPr>
            <p:cNvPr id="36869" name="Picture 3" descr="719"/>
            <p:cNvPicPr>
              <a:picLocks noChangeAspect="1" noChangeArrowheads="1"/>
            </p:cNvPicPr>
            <p:nvPr/>
          </p:nvPicPr>
          <p:blipFill>
            <a:blip r:embed="rId2">
              <a:lum bright="-12000"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r="13420" b="84019"/>
            <a:stretch>
              <a:fillRect/>
            </a:stretch>
          </p:blipFill>
          <p:spPr bwMode="auto">
            <a:xfrm>
              <a:off x="521" y="1706"/>
              <a:ext cx="4355" cy="2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0" name="Picture 4" descr="719"/>
            <p:cNvPicPr>
              <a:picLocks noChangeAspect="1" noChangeArrowheads="1"/>
            </p:cNvPicPr>
            <p:nvPr/>
          </p:nvPicPr>
          <p:blipFill>
            <a:blip r:embed="rId2">
              <a:lum bright="-12000"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39" t="90356" r="59937"/>
            <a:stretch>
              <a:fillRect/>
            </a:stretch>
          </p:blipFill>
          <p:spPr bwMode="auto">
            <a:xfrm>
              <a:off x="521" y="459"/>
              <a:ext cx="4355" cy="1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867" name="Text Box 5"/>
          <p:cNvSpPr txBox="1">
            <a:spLocks noChangeArrowheads="1"/>
          </p:cNvSpPr>
          <p:nvPr/>
        </p:nvSpPr>
        <p:spPr bwMode="auto">
          <a:xfrm>
            <a:off x="5181600" y="2708275"/>
            <a:ext cx="24145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氨基咪唑核苷酸羧化酶</a:t>
            </a:r>
          </a:p>
        </p:txBody>
      </p:sp>
      <p:sp>
        <p:nvSpPr>
          <p:cNvPr id="36868" name="Text Box 6"/>
          <p:cNvSpPr txBox="1">
            <a:spLocks noChangeArrowheads="1"/>
          </p:cNvSpPr>
          <p:nvPr/>
        </p:nvSpPr>
        <p:spPr bwMode="auto">
          <a:xfrm>
            <a:off x="4787900" y="188913"/>
            <a:ext cx="3240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第二阶段反应</a:t>
            </a:r>
          </a:p>
        </p:txBody>
      </p:sp>
    </p:spTree>
  </p:cSld>
  <p:clrMapOvr>
    <a:masterClrMapping/>
  </p:clrMapOvr>
  <p:transition spd="med">
    <p:pull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1577975" y="117475"/>
            <a:ext cx="5081588" cy="6480175"/>
            <a:chOff x="677" y="28"/>
            <a:chExt cx="2767" cy="3796"/>
          </a:xfrm>
        </p:grpSpPr>
        <p:pic>
          <p:nvPicPr>
            <p:cNvPr id="37893" name="Picture 3" descr="719"/>
            <p:cNvPicPr>
              <a:picLocks noChangeAspect="1" noChangeArrowheads="1"/>
            </p:cNvPicPr>
            <p:nvPr/>
          </p:nvPicPr>
          <p:blipFill>
            <a:blip r:embed="rId2">
              <a:lum bright="-12000" contras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4983" r="19125" b="61969"/>
            <a:stretch>
              <a:fillRect/>
            </a:stretch>
          </p:blipFill>
          <p:spPr bwMode="auto">
            <a:xfrm>
              <a:off x="677" y="2251"/>
              <a:ext cx="2767" cy="1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4" name="Picture 4" descr="719"/>
            <p:cNvPicPr>
              <a:picLocks noChangeAspect="1" noChangeArrowheads="1"/>
            </p:cNvPicPr>
            <p:nvPr/>
          </p:nvPicPr>
          <p:blipFill>
            <a:blip r:embed="rId2">
              <a:lum bright="-12000"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5997" r="18948" b="74461"/>
            <a:stretch>
              <a:fillRect/>
            </a:stretch>
          </p:blipFill>
          <p:spPr bwMode="auto">
            <a:xfrm>
              <a:off x="677" y="28"/>
              <a:ext cx="2747" cy="2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7891" name="Text Box 5"/>
          <p:cNvSpPr txBox="1">
            <a:spLocks noChangeArrowheads="1"/>
          </p:cNvSpPr>
          <p:nvPr/>
        </p:nvSpPr>
        <p:spPr bwMode="auto">
          <a:xfrm>
            <a:off x="5004048" y="2160798"/>
            <a:ext cx="266471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</a:rPr>
              <a:t>氨基咪唑琥珀基氨甲酰核苷酸合成酶</a:t>
            </a:r>
          </a:p>
        </p:txBody>
      </p:sp>
      <p:sp>
        <p:nvSpPr>
          <p:cNvPr id="37892" name="Text Box 6"/>
          <p:cNvSpPr txBox="1">
            <a:spLocks noChangeArrowheads="1"/>
          </p:cNvSpPr>
          <p:nvPr/>
        </p:nvSpPr>
        <p:spPr bwMode="auto">
          <a:xfrm>
            <a:off x="4787900" y="188913"/>
            <a:ext cx="3240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第二阶段反应</a:t>
            </a:r>
          </a:p>
        </p:txBody>
      </p:sp>
    </p:spTree>
  </p:cSld>
  <p:clrMapOvr>
    <a:masterClrMapping/>
  </p:clrMapOvr>
  <p:transition spd="med">
    <p:pull dir="r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388938" y="149225"/>
            <a:ext cx="7783512" cy="6372225"/>
            <a:chOff x="245" y="94"/>
            <a:chExt cx="4903" cy="4014"/>
          </a:xfrm>
        </p:grpSpPr>
        <p:pic>
          <p:nvPicPr>
            <p:cNvPr id="38917" name="Picture 3" descr="719"/>
            <p:cNvPicPr>
              <a:picLocks noChangeAspect="1" noChangeArrowheads="1"/>
            </p:cNvPicPr>
            <p:nvPr/>
          </p:nvPicPr>
          <p:blipFill>
            <a:blip r:embed="rId2">
              <a:lum bright="-12000" contras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4983" r="3934" b="57805"/>
            <a:stretch>
              <a:fillRect/>
            </a:stretch>
          </p:blipFill>
          <p:spPr bwMode="auto">
            <a:xfrm>
              <a:off x="245" y="94"/>
              <a:ext cx="4898" cy="2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18" name="Picture 4" descr="719"/>
            <p:cNvPicPr>
              <a:picLocks noChangeAspect="1" noChangeArrowheads="1"/>
            </p:cNvPicPr>
            <p:nvPr/>
          </p:nvPicPr>
          <p:blipFill>
            <a:blip r:embed="rId2">
              <a:lum bright="-12000" contras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032" t="42039" r="2710" b="47026"/>
            <a:stretch>
              <a:fillRect/>
            </a:stretch>
          </p:blipFill>
          <p:spPr bwMode="auto">
            <a:xfrm>
              <a:off x="249" y="2523"/>
              <a:ext cx="4899" cy="1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8915" name="Text Box 5"/>
          <p:cNvSpPr txBox="1">
            <a:spLocks noChangeArrowheads="1"/>
          </p:cNvSpPr>
          <p:nvPr/>
        </p:nvSpPr>
        <p:spPr bwMode="auto">
          <a:xfrm>
            <a:off x="4267200" y="2997200"/>
            <a:ext cx="24653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腺苷琥珀酸裂解酶</a:t>
            </a:r>
          </a:p>
        </p:txBody>
      </p:sp>
      <p:sp>
        <p:nvSpPr>
          <p:cNvPr id="38916" name="Text Box 6"/>
          <p:cNvSpPr txBox="1">
            <a:spLocks noChangeArrowheads="1"/>
          </p:cNvSpPr>
          <p:nvPr/>
        </p:nvSpPr>
        <p:spPr bwMode="auto">
          <a:xfrm>
            <a:off x="4787900" y="188913"/>
            <a:ext cx="3240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第二阶段反应</a:t>
            </a:r>
          </a:p>
        </p:txBody>
      </p:sp>
    </p:spTree>
  </p:cSld>
  <p:clrMapOvr>
    <a:masterClrMapping/>
  </p:clrMapOvr>
  <p:transition spd="med">
    <p:pull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719"/>
          <p:cNvPicPr>
            <a:picLocks noChangeAspect="1" noChangeArrowheads="1"/>
          </p:cNvPicPr>
          <p:nvPr/>
        </p:nvPicPr>
        <p:blipFill>
          <a:blip r:embed="rId2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2" t="42039" r="2710" b="30382"/>
          <a:stretch>
            <a:fillRect/>
          </a:stretch>
        </p:blipFill>
        <p:spPr bwMode="auto">
          <a:xfrm>
            <a:off x="539750" y="44450"/>
            <a:ext cx="8316913" cy="678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4716463" y="3441700"/>
            <a:ext cx="35115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>
                <a:solidFill>
                  <a:schemeClr val="accent1"/>
                </a:solidFill>
                <a:latin typeface="Times New Roman" panose="02020603050405020304" pitchFamily="18" charset="0"/>
              </a:rPr>
              <a:t>氨基咪唑氨甲酰核苷酸转甲酰基酶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4787900" y="188913"/>
            <a:ext cx="3240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第二阶段反应</a:t>
            </a:r>
          </a:p>
        </p:txBody>
      </p:sp>
    </p:spTree>
  </p:cSld>
  <p:clrMapOvr>
    <a:masterClrMapping/>
  </p:clrMapOvr>
  <p:transition spd="med">
    <p:pull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719"/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07" t="73337" r="28691" b="6006"/>
          <a:stretch>
            <a:fillRect/>
          </a:stretch>
        </p:blipFill>
        <p:spPr bwMode="auto">
          <a:xfrm>
            <a:off x="4419600" y="1981200"/>
            <a:ext cx="393065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3" name="Picture 3" descr="719"/>
          <p:cNvPicPr>
            <a:picLocks noChangeAspect="1" noChangeArrowheads="1"/>
          </p:cNvPicPr>
          <p:nvPr/>
        </p:nvPicPr>
        <p:blipFill>
          <a:blip r:embed="rId2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2" t="58147" r="30933" b="26663"/>
          <a:stretch>
            <a:fillRect/>
          </a:stretch>
        </p:blipFill>
        <p:spPr bwMode="auto">
          <a:xfrm>
            <a:off x="838200" y="333375"/>
            <a:ext cx="3341688" cy="398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600200" y="4572000"/>
            <a:ext cx="2971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>
                <a:solidFill>
                  <a:schemeClr val="accent1"/>
                </a:solidFill>
                <a:latin typeface="宋体" panose="02010600030101010101" pitchFamily="2" charset="-122"/>
              </a:rPr>
              <a:t>IMP</a:t>
            </a:r>
            <a:r>
              <a:rPr kumimoji="1" lang="zh-CN" altLang="en-US" sz="3200">
                <a:solidFill>
                  <a:schemeClr val="accent1"/>
                </a:solidFill>
                <a:latin typeface="宋体" panose="02010600030101010101" pitchFamily="2" charset="-122"/>
              </a:rPr>
              <a:t>环化水解酶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4787900" y="188913"/>
            <a:ext cx="3240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第二阶段反应</a:t>
            </a:r>
          </a:p>
        </p:txBody>
      </p:sp>
    </p:spTree>
  </p:cSld>
  <p:clrMapOvr>
    <a:masterClrMapping/>
  </p:clrMapOvr>
  <p:transition spd="med">
    <p:pull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719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" r="62901" b="49547"/>
          <a:stretch>
            <a:fillRect/>
          </a:stretch>
        </p:blipFill>
        <p:spPr bwMode="auto">
          <a:xfrm>
            <a:off x="457200" y="0"/>
            <a:ext cx="4343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Picture 3" descr="719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9" t="50298" r="59937"/>
          <a:stretch>
            <a:fillRect/>
          </a:stretch>
        </p:blipFill>
        <p:spPr bwMode="auto">
          <a:xfrm>
            <a:off x="4953000" y="0"/>
            <a:ext cx="4191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2922588" y="3113088"/>
            <a:ext cx="184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2971800" y="3810000"/>
            <a:ext cx="1600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甘氨酰胺核苷酸合成酶</a:t>
            </a: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3352800" y="1447800"/>
            <a:ext cx="1828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谷氨酰胺-</a:t>
            </a:r>
            <a:r>
              <a:rPr kumimoji="1" lang="en-US" altLang="zh-CN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PRPP</a:t>
            </a:r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转酰胺酶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2362200" y="5715000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甘氨酰胺核苷酸转甲酰基酶</a:t>
            </a: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7235825" y="1790700"/>
            <a:ext cx="1800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甲酰甘氨脒核苷酸合成酶</a:t>
            </a: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7165975" y="4672013"/>
            <a:ext cx="15827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氨基咪唑核苷酸合成酶</a:t>
            </a:r>
          </a:p>
        </p:txBody>
      </p:sp>
    </p:spTree>
  </p:cSld>
  <p:clrMapOvr>
    <a:masterClrMapping/>
  </p:clrMapOvr>
  <p:transition spd="med">
    <p:pull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719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13420" b="74461"/>
          <a:stretch>
            <a:fillRect/>
          </a:stretch>
        </p:blipFill>
        <p:spPr bwMode="auto">
          <a:xfrm>
            <a:off x="0" y="0"/>
            <a:ext cx="457200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1" name="Picture 3" descr="719"/>
          <p:cNvPicPr>
            <a:picLocks noChangeAspect="1" noChangeArrowheads="1"/>
          </p:cNvPicPr>
          <p:nvPr/>
        </p:nvPicPr>
        <p:blipFill>
          <a:blip r:embed="rId2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2" t="42039" r="2710" b="26663"/>
          <a:stretch>
            <a:fillRect/>
          </a:stretch>
        </p:blipFill>
        <p:spPr bwMode="auto">
          <a:xfrm>
            <a:off x="4648200" y="0"/>
            <a:ext cx="4495800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4" descr="719"/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07" t="73337" r="28691" b="6006"/>
          <a:stretch>
            <a:fillRect/>
          </a:stretch>
        </p:blipFill>
        <p:spPr bwMode="auto">
          <a:xfrm>
            <a:off x="6229350" y="3581400"/>
            <a:ext cx="291465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5" descr="719"/>
          <p:cNvPicPr>
            <a:picLocks noChangeAspect="1" noChangeArrowheads="1"/>
          </p:cNvPicPr>
          <p:nvPr/>
        </p:nvPicPr>
        <p:blipFill>
          <a:blip r:embed="rId2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4983" r="3934" b="57805"/>
          <a:stretch>
            <a:fillRect/>
          </a:stretch>
        </p:blipFill>
        <p:spPr bwMode="auto">
          <a:xfrm>
            <a:off x="0" y="4292600"/>
            <a:ext cx="5105400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2895600" y="533400"/>
            <a:ext cx="1752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氨基咪唑核苷酸羧化酶</a:t>
            </a:r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2484438" y="3284538"/>
            <a:ext cx="23780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氨基咪唑琥珀基氨甲酰核苷酸合成酶</a:t>
            </a: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2819400" y="6172200"/>
            <a:ext cx="2286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腺苷琥珀酸裂解酶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6477000" y="1828800"/>
            <a:ext cx="236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氨基咪唑氨甲酰核苷酸转甲酰基酶</a:t>
            </a:r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6172200" y="32766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IMP</a:t>
            </a:r>
            <a:r>
              <a:rPr kumimoji="1"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环化水解酶</a:t>
            </a:r>
          </a:p>
        </p:txBody>
      </p:sp>
    </p:spTree>
  </p:cSld>
  <p:clrMapOvr>
    <a:masterClrMapping/>
  </p:clrMapOvr>
  <p:transition spd="med">
    <p:pull dir="r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 descr="720"/>
          <p:cNvPicPr>
            <a:picLocks noChangeAspect="1" noChangeArrowheads="1"/>
          </p:cNvPicPr>
          <p:nvPr/>
        </p:nvPicPr>
        <p:blipFill>
          <a:blip r:embed="rId2">
            <a:lum bright="-12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" t="4752" r="2005" b="4982"/>
          <a:stretch>
            <a:fillRect/>
          </a:stretch>
        </p:blipFill>
        <p:spPr bwMode="auto">
          <a:xfrm>
            <a:off x="0" y="1627188"/>
            <a:ext cx="9144000" cy="48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4"/>
          <p:cNvSpPr txBox="1">
            <a:spLocks noChangeArrowheads="1"/>
          </p:cNvSpPr>
          <p:nvPr/>
        </p:nvSpPr>
        <p:spPr bwMode="auto">
          <a:xfrm>
            <a:off x="1143000" y="33528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腺苷酸琥珀酸合成酶</a:t>
            </a:r>
          </a:p>
        </p:txBody>
      </p:sp>
      <p:sp>
        <p:nvSpPr>
          <p:cNvPr id="44036" name="Text Box 5"/>
          <p:cNvSpPr txBox="1">
            <a:spLocks noChangeArrowheads="1"/>
          </p:cNvSpPr>
          <p:nvPr/>
        </p:nvSpPr>
        <p:spPr bwMode="auto">
          <a:xfrm>
            <a:off x="4724400" y="3048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裂解酶</a:t>
            </a:r>
          </a:p>
        </p:txBody>
      </p:sp>
      <p:sp>
        <p:nvSpPr>
          <p:cNvPr id="44037" name="Text Box 6"/>
          <p:cNvSpPr txBox="1">
            <a:spLocks noChangeArrowheads="1"/>
          </p:cNvSpPr>
          <p:nvPr/>
        </p:nvSpPr>
        <p:spPr bwMode="auto">
          <a:xfrm>
            <a:off x="228600" y="5257800"/>
            <a:ext cx="281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次黄嘌呤核苷酸脱氢酶</a:t>
            </a:r>
          </a:p>
        </p:txBody>
      </p:sp>
      <p:sp>
        <p:nvSpPr>
          <p:cNvPr id="44038" name="Text Box 7"/>
          <p:cNvSpPr txBox="1">
            <a:spLocks noChangeArrowheads="1"/>
          </p:cNvSpPr>
          <p:nvPr/>
        </p:nvSpPr>
        <p:spPr bwMode="auto">
          <a:xfrm>
            <a:off x="5029200" y="5867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鸟嘌呤核苷酸合成酶</a:t>
            </a:r>
          </a:p>
        </p:txBody>
      </p:sp>
      <p:sp>
        <p:nvSpPr>
          <p:cNvPr id="44039" name="Rectangle 8"/>
          <p:cNvSpPr>
            <a:spLocks noChangeArrowheads="1"/>
          </p:cNvSpPr>
          <p:nvPr/>
        </p:nvSpPr>
        <p:spPr bwMode="auto">
          <a:xfrm>
            <a:off x="395288" y="342900"/>
            <a:ext cx="6697662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2.1.2 AMP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GMP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的合成</a:t>
            </a:r>
            <a:endParaRPr kumimoji="1" lang="en-US" altLang="zh-CN" sz="31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5" descr="AIG interchan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84313"/>
            <a:ext cx="78232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000125"/>
            <a:ext cx="3889375" cy="571500"/>
          </a:xfrm>
        </p:spPr>
        <p:txBody>
          <a:bodyPr/>
          <a:lstStyle/>
          <a:p>
            <a:pPr eaLnBrk="1" hangingPunct="1"/>
            <a:r>
              <a:rPr lang="zh-CN" altLang="en-US" sz="2800"/>
              <a:t>三个主要控制点</a:t>
            </a:r>
            <a:endParaRPr lang="zh-CN" altLang="en-US" sz="2400" b="1">
              <a:solidFill>
                <a:schemeClr val="accent1"/>
              </a:solidFill>
            </a:endParaRPr>
          </a:p>
        </p:txBody>
      </p:sp>
      <p:sp>
        <p:nvSpPr>
          <p:cNvPr id="49155" name="Rectangle 4"/>
          <p:cNvSpPr>
            <a:spLocks noChangeArrowheads="1"/>
          </p:cNvSpPr>
          <p:nvPr/>
        </p:nvSpPr>
        <p:spPr bwMode="auto">
          <a:xfrm>
            <a:off x="395288" y="342900"/>
            <a:ext cx="6697662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2.1.3 </a:t>
            </a:r>
            <a:r>
              <a:rPr kumimoji="1" lang="zh-CN" altLang="en-US" sz="3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嘌呤核苷酸生物合成的调节</a:t>
            </a:r>
            <a:endParaRPr kumimoji="1" lang="zh-CN" altLang="en-US" sz="31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49156" name="图片 3" descr="16500871017037327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3" t="12500" r="5556" b="12500"/>
          <a:stretch>
            <a:fillRect/>
          </a:stretch>
        </p:blipFill>
        <p:spPr bwMode="auto">
          <a:xfrm>
            <a:off x="2500313" y="1571625"/>
            <a:ext cx="3500437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矩形 4"/>
          <p:cNvSpPr>
            <a:spLocks noChangeArrowheads="1"/>
          </p:cNvSpPr>
          <p:nvPr/>
        </p:nvSpPr>
        <p:spPr bwMode="auto">
          <a:xfrm>
            <a:off x="285750" y="2000250"/>
            <a:ext cx="2570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chemeClr val="accent1"/>
                </a:solidFill>
              </a:rPr>
              <a:t>PRPP</a:t>
            </a:r>
            <a:r>
              <a:rPr lang="zh-CN" altLang="en-US" sz="2400" b="1">
                <a:solidFill>
                  <a:schemeClr val="accent1"/>
                </a:solidFill>
              </a:rPr>
              <a:t>转酰胺基酶</a:t>
            </a:r>
            <a:endParaRPr lang="zh-CN" altLang="en-US" sz="2400"/>
          </a:p>
        </p:txBody>
      </p:sp>
      <p:sp>
        <p:nvSpPr>
          <p:cNvPr id="49158" name="矩形 5"/>
          <p:cNvSpPr>
            <a:spLocks noChangeArrowheads="1"/>
          </p:cNvSpPr>
          <p:nvPr/>
        </p:nvSpPr>
        <p:spPr bwMode="auto">
          <a:xfrm>
            <a:off x="428625" y="5143500"/>
            <a:ext cx="20923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chemeClr val="accent1"/>
                </a:solidFill>
              </a:rPr>
              <a:t>腺苷酸琥珀酸合成酶</a:t>
            </a:r>
            <a:endParaRPr lang="zh-CN" altLang="en-US" sz="2400"/>
          </a:p>
        </p:txBody>
      </p:sp>
      <p:sp>
        <p:nvSpPr>
          <p:cNvPr id="49159" name="矩形 7"/>
          <p:cNvSpPr>
            <a:spLocks noChangeArrowheads="1"/>
          </p:cNvSpPr>
          <p:nvPr/>
        </p:nvSpPr>
        <p:spPr bwMode="auto">
          <a:xfrm>
            <a:off x="5643563" y="5143500"/>
            <a:ext cx="25003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chemeClr val="accent1"/>
                </a:solidFill>
              </a:rPr>
              <a:t>次黄嘌呤核苷酸脱氢酶</a:t>
            </a:r>
            <a:endParaRPr lang="zh-CN" altLang="en-US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2" t="54091" r="38945" b="18654"/>
          <a:stretch>
            <a:fillRect/>
          </a:stretch>
        </p:blipFill>
        <p:spPr>
          <a:xfrm>
            <a:off x="401638" y="623888"/>
            <a:ext cx="7405687" cy="5554662"/>
          </a:xfrm>
          <a:noFill/>
        </p:spPr>
      </p:pic>
    </p:spTree>
  </p:cSld>
  <p:clrMapOvr>
    <a:masterClrMapping/>
  </p:clrMapOvr>
  <p:transition spd="med">
    <p:pull dir="r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4" descr="arrowr"/>
          <p:cNvSpPr>
            <a:spLocks noChangeAspect="1" noChangeArrowheads="1"/>
          </p:cNvSpPr>
          <p:nvPr/>
        </p:nvSpPr>
        <p:spPr bwMode="auto">
          <a:xfrm>
            <a:off x="4368800" y="3063875"/>
            <a:ext cx="296863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505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68560" y="2276872"/>
            <a:ext cx="7543800" cy="115289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①  </a:t>
            </a:r>
            <a:r>
              <a:rPr lang="zh-CN" altLang="en-US" dirty="0"/>
              <a:t> </a:t>
            </a:r>
            <a:r>
              <a:rPr lang="zh-CN" altLang="en-US" b="1" dirty="0"/>
              <a:t>碱基+1-磷酸核糖           核苷+</a:t>
            </a:r>
            <a:r>
              <a:rPr lang="en-US" altLang="zh-CN" b="1" dirty="0"/>
              <a:t>Pi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          </a:t>
            </a:r>
            <a:r>
              <a:rPr lang="zh-CN" altLang="en-US" b="1" dirty="0"/>
              <a:t>核苷+</a:t>
            </a:r>
            <a:r>
              <a:rPr lang="en-US" altLang="zh-CN" b="1" dirty="0"/>
              <a:t>ATP           </a:t>
            </a:r>
            <a:r>
              <a:rPr lang="zh-CN" altLang="en-US" b="1" dirty="0"/>
              <a:t>核苷酸+</a:t>
            </a:r>
            <a:r>
              <a:rPr lang="en-US" altLang="zh-CN" b="1" dirty="0"/>
              <a:t>ADP</a:t>
            </a:r>
          </a:p>
        </p:txBody>
      </p:sp>
      <p:sp>
        <p:nvSpPr>
          <p:cNvPr id="45060" name="Line 6"/>
          <p:cNvSpPr>
            <a:spLocks noChangeShapeType="1"/>
          </p:cNvSpPr>
          <p:nvPr/>
        </p:nvSpPr>
        <p:spPr bwMode="auto">
          <a:xfrm>
            <a:off x="4688160" y="2581672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61" name="Line 7"/>
          <p:cNvSpPr>
            <a:spLocks noChangeShapeType="1"/>
          </p:cNvSpPr>
          <p:nvPr/>
        </p:nvSpPr>
        <p:spPr bwMode="auto">
          <a:xfrm>
            <a:off x="3494024" y="3179315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5063" name="Rectangle 11"/>
          <p:cNvSpPr>
            <a:spLocks noChangeArrowheads="1"/>
          </p:cNvSpPr>
          <p:nvPr/>
        </p:nvSpPr>
        <p:spPr bwMode="auto">
          <a:xfrm>
            <a:off x="323850" y="908720"/>
            <a:ext cx="7272338" cy="119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Aft>
                <a:spcPct val="600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在低浓度的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PRPP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条件下，补救途径反应比从头合成途径反应优先发生。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608212" y="3895910"/>
            <a:ext cx="91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dirty="0">
                <a:latin typeface="Times New Roman" panose="02020603050405020304" pitchFamily="18" charset="0"/>
              </a:rPr>
              <a:t>②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lum bright="-24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2" t="53703" r="50905" b="20767"/>
          <a:stretch>
            <a:fillRect/>
          </a:stretch>
        </p:blipFill>
        <p:spPr bwMode="auto">
          <a:xfrm>
            <a:off x="1091952" y="3851085"/>
            <a:ext cx="2535935" cy="2449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lum bright="-24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81" t="53703" r="9804" b="19850"/>
          <a:stretch>
            <a:fillRect/>
          </a:stretch>
        </p:blipFill>
        <p:spPr bwMode="auto">
          <a:xfrm>
            <a:off x="3559387" y="3851085"/>
            <a:ext cx="4494049" cy="2530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629FCC53-4915-4CE6-66ED-AEFAC497C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42900"/>
            <a:ext cx="6697662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2.1.4 </a:t>
            </a:r>
            <a:r>
              <a:rPr kumimoji="1" lang="zh-CN" altLang="en-US" sz="3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嘌呤核苷酸合成的补救途径</a:t>
            </a:r>
            <a:endParaRPr kumimoji="1" lang="zh-CN" altLang="en-US" sz="31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uiExpand="1" build="p"/>
      <p:bldP spid="45060" grpId="0" animBg="1"/>
      <p:bldP spid="45061" grpId="0" animBg="1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574675"/>
            <a:ext cx="6910388" cy="579438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2.2 </a:t>
            </a:r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嘧啶核糖核苷酸的合成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539750" y="1412875"/>
            <a:ext cx="7232650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3200" b="1" dirty="0">
                <a:latin typeface="宋体" panose="02010600030101010101" pitchFamily="2" charset="-122"/>
              </a:rPr>
              <a:t>2.2.1 </a:t>
            </a:r>
            <a:r>
              <a:rPr kumimoji="1" lang="zh-CN" altLang="en-US" sz="3200" b="1" dirty="0">
                <a:latin typeface="宋体" panose="02010600030101010101" pitchFamily="2" charset="-122"/>
              </a:rPr>
              <a:t>尿嘧啶核苷酸</a:t>
            </a:r>
            <a:r>
              <a:rPr kumimoji="1" lang="zh-CN" altLang="en-US" sz="3200" b="1" dirty="0">
                <a:latin typeface="宋体" panose="02010600030101010101" pitchFamily="2" charset="-122"/>
                <a:sym typeface="Symbol" panose="05050102010706020507" pitchFamily="18" charset="2"/>
              </a:rPr>
              <a:t>的从头合成</a:t>
            </a:r>
            <a:endParaRPr kumimoji="1" lang="en-US" altLang="zh-CN" sz="3200" b="1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3200" b="1" dirty="0">
                <a:latin typeface="宋体" panose="02010600030101010101" pitchFamily="2" charset="-122"/>
                <a:sym typeface="Symbol" panose="05050102010706020507" pitchFamily="18" charset="2"/>
              </a:rPr>
              <a:t>2.2.2 </a:t>
            </a:r>
            <a:r>
              <a:rPr kumimoji="1" lang="zh-CN" altLang="en-US" sz="3200" b="1" dirty="0">
                <a:latin typeface="宋体" panose="02010600030101010101" pitchFamily="2" charset="-122"/>
                <a:sym typeface="Symbol" panose="05050102010706020507" pitchFamily="18" charset="2"/>
              </a:rPr>
              <a:t>胞嘧啶核苷酸的合成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3200" b="1" dirty="0">
                <a:latin typeface="宋体" panose="02010600030101010101" pitchFamily="2" charset="-122"/>
                <a:sym typeface="Symbol" panose="05050102010706020507" pitchFamily="18" charset="2"/>
              </a:rPr>
              <a:t>2.2.3 </a:t>
            </a:r>
            <a:r>
              <a:rPr kumimoji="1" lang="zh-CN" altLang="en-US" sz="3200" b="1" dirty="0">
                <a:latin typeface="宋体" panose="02010600030101010101" pitchFamily="2" charset="-122"/>
                <a:sym typeface="Symbol" panose="05050102010706020507" pitchFamily="18" charset="2"/>
              </a:rPr>
              <a:t>嘧啶核苷酸生物合成的调节</a:t>
            </a:r>
          </a:p>
          <a:p>
            <a:pPr eaLnBrk="1" hangingPunct="1">
              <a:spcBef>
                <a:spcPct val="5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3200" b="1" dirty="0">
                <a:latin typeface="宋体" panose="02010600030101010101" pitchFamily="2" charset="-122"/>
                <a:sym typeface="Symbol" panose="05050102010706020507" pitchFamily="18" charset="2"/>
              </a:rPr>
              <a:t>2.2.4 </a:t>
            </a:r>
            <a:r>
              <a:rPr kumimoji="1" lang="zh-CN" altLang="en-US" sz="3200" b="1" dirty="0">
                <a:latin typeface="宋体" panose="02010600030101010101" pitchFamily="2" charset="-122"/>
                <a:sym typeface="Symbol" panose="05050102010706020507" pitchFamily="18" charset="2"/>
              </a:rPr>
              <a:t>嘧啶核苷酸合成的补救途径</a:t>
            </a:r>
          </a:p>
        </p:txBody>
      </p:sp>
    </p:spTree>
  </p:cSld>
  <p:clrMapOvr>
    <a:masterClrMapping/>
  </p:clrMapOvr>
  <p:transition spd="med">
    <p:pull dir="r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3" descr="嘧啶合成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350" y="609600"/>
            <a:ext cx="560705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Rectangle 4"/>
          <p:cNvSpPr>
            <a:spLocks noChangeArrowheads="1"/>
          </p:cNvSpPr>
          <p:nvPr/>
        </p:nvSpPr>
        <p:spPr bwMode="auto">
          <a:xfrm>
            <a:off x="395288" y="44450"/>
            <a:ext cx="6192837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2.2.1 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尿嘧啶核苷酸的从头合成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7B1598-CB76-8E6C-FB9F-58334076CBBC}"/>
              </a:ext>
            </a:extLst>
          </p:cNvPr>
          <p:cNvSpPr txBox="1"/>
          <p:nvPr/>
        </p:nvSpPr>
        <p:spPr>
          <a:xfrm>
            <a:off x="87694" y="3021669"/>
            <a:ext cx="259228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50"/>
                </a:solidFill>
              </a:rPr>
              <a:t>CPSI vs CPSII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71D6BD-A6BD-3C71-FC4B-4D3453BC6F16}"/>
              </a:ext>
            </a:extLst>
          </p:cNvPr>
          <p:cNvSpPr txBox="1"/>
          <p:nvPr/>
        </p:nvSpPr>
        <p:spPr>
          <a:xfrm>
            <a:off x="107504" y="4149080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50"/>
                </a:solidFill>
              </a:rPr>
              <a:t>嘌呤 </a:t>
            </a:r>
            <a:r>
              <a:rPr lang="en-US" altLang="zh-CN" sz="2400" b="1" dirty="0">
                <a:solidFill>
                  <a:srgbClr val="00B050"/>
                </a:solidFill>
              </a:rPr>
              <a:t>vs </a:t>
            </a:r>
            <a:r>
              <a:rPr lang="zh-CN" altLang="en-US" sz="2400" b="1" dirty="0">
                <a:solidFill>
                  <a:srgbClr val="00B050"/>
                </a:solidFill>
              </a:rPr>
              <a:t>嘧啶</a:t>
            </a:r>
            <a:r>
              <a:rPr lang="en-US" altLang="zh-CN" sz="2400" b="1" dirty="0">
                <a:solidFill>
                  <a:srgbClr val="00B050"/>
                </a:solidFill>
              </a:rPr>
              <a:t>——</a:t>
            </a:r>
            <a:r>
              <a:rPr lang="zh-CN" altLang="en-US" sz="2400" b="1" dirty="0">
                <a:solidFill>
                  <a:srgbClr val="00B050"/>
                </a:solidFill>
              </a:rPr>
              <a:t>引入</a:t>
            </a:r>
            <a:r>
              <a:rPr lang="en-US" altLang="zh-CN" sz="2400" b="1" dirty="0">
                <a:solidFill>
                  <a:srgbClr val="00B050"/>
                </a:solidFill>
              </a:rPr>
              <a:t>PRPP</a:t>
            </a:r>
            <a:r>
              <a:rPr lang="zh-CN" altLang="en-US" sz="2400" b="1" dirty="0">
                <a:solidFill>
                  <a:srgbClr val="00B050"/>
                </a:solidFill>
              </a:rPr>
              <a:t>的区别</a:t>
            </a: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ChangeArrowheads="1"/>
          </p:cNvSpPr>
          <p:nvPr/>
        </p:nvSpPr>
        <p:spPr bwMode="auto">
          <a:xfrm>
            <a:off x="395288" y="692150"/>
            <a:ext cx="5329237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2.2.2 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胞嘧啶核苷酸的合成</a:t>
            </a:r>
            <a:endParaRPr kumimoji="1" lang="zh-CN" altLang="en-US" sz="31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auto">
          <a:xfrm>
            <a:off x="611188" y="5149850"/>
            <a:ext cx="67691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3200" b="1">
                <a:solidFill>
                  <a:schemeClr val="accent1"/>
                </a:solidFill>
              </a:rPr>
              <a:t>UTP+</a:t>
            </a:r>
            <a:r>
              <a:rPr kumimoji="1" lang="zh-CN" altLang="en-US" sz="3200" b="1">
                <a:solidFill>
                  <a:schemeClr val="accent1"/>
                </a:solidFill>
              </a:rPr>
              <a:t>谷氨酰胺</a:t>
            </a:r>
            <a:r>
              <a:rPr kumimoji="1" lang="en-US" altLang="zh-CN" sz="3200" b="1">
                <a:solidFill>
                  <a:schemeClr val="accent1"/>
                </a:solidFill>
              </a:rPr>
              <a:t>+ATP</a:t>
            </a:r>
            <a:r>
              <a:rPr kumimoji="1" lang="zh-CN" altLang="en-US" sz="3200" b="1">
                <a:solidFill>
                  <a:schemeClr val="accent1"/>
                </a:solidFill>
              </a:rPr>
              <a:t>+</a:t>
            </a:r>
            <a:r>
              <a:rPr kumimoji="1" lang="en-US" altLang="zh-CN" sz="3200" b="1">
                <a:solidFill>
                  <a:schemeClr val="accent1"/>
                </a:solidFill>
              </a:rPr>
              <a:t>H</a:t>
            </a:r>
            <a:r>
              <a:rPr kumimoji="1" lang="en-US" altLang="zh-CN" sz="2000" b="1">
                <a:solidFill>
                  <a:schemeClr val="accent1"/>
                </a:solidFill>
              </a:rPr>
              <a:t>2</a:t>
            </a:r>
            <a:r>
              <a:rPr kumimoji="1" lang="en-US" altLang="zh-CN" sz="3200" b="1">
                <a:solidFill>
                  <a:schemeClr val="accent1"/>
                </a:solidFill>
              </a:rPr>
              <a:t>O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3200" b="1">
                <a:solidFill>
                  <a:schemeClr val="accent1"/>
                </a:solidFill>
              </a:rPr>
              <a:t>                CTP+</a:t>
            </a:r>
            <a:r>
              <a:rPr kumimoji="1" lang="zh-CN" altLang="en-US" sz="3200" b="1">
                <a:solidFill>
                  <a:schemeClr val="accent1"/>
                </a:solidFill>
              </a:rPr>
              <a:t>谷氨酸</a:t>
            </a:r>
            <a:r>
              <a:rPr kumimoji="1" lang="en-US" altLang="zh-CN" sz="3200" b="1">
                <a:solidFill>
                  <a:schemeClr val="accent1"/>
                </a:solidFill>
              </a:rPr>
              <a:t>+ADP</a:t>
            </a:r>
            <a:r>
              <a:rPr kumimoji="1" lang="zh-CN" altLang="en-US" sz="3200" b="1">
                <a:solidFill>
                  <a:schemeClr val="accent1"/>
                </a:solidFill>
              </a:rPr>
              <a:t>+</a:t>
            </a:r>
            <a:r>
              <a:rPr kumimoji="1" lang="en-US" altLang="zh-CN" sz="3200" b="1">
                <a:solidFill>
                  <a:schemeClr val="accent1"/>
                </a:solidFill>
              </a:rPr>
              <a:t>Pi</a:t>
            </a:r>
          </a:p>
        </p:txBody>
      </p:sp>
      <p:sp>
        <p:nvSpPr>
          <p:cNvPr id="54276" name="Line 5"/>
          <p:cNvSpPr>
            <a:spLocks noChangeShapeType="1"/>
          </p:cNvSpPr>
          <p:nvPr/>
        </p:nvSpPr>
        <p:spPr bwMode="auto">
          <a:xfrm>
            <a:off x="1349375" y="6021388"/>
            <a:ext cx="9906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77" name="Rectangle 6"/>
          <p:cNvSpPr>
            <a:spLocks noChangeArrowheads="1"/>
          </p:cNvSpPr>
          <p:nvPr/>
        </p:nvSpPr>
        <p:spPr bwMode="auto">
          <a:xfrm>
            <a:off x="331788" y="1412875"/>
            <a:ext cx="7480300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spcAft>
                <a:spcPct val="80000"/>
              </a:spcAft>
            </a:pPr>
            <a:r>
              <a:rPr kumimoji="1" lang="zh-CN" altLang="en-US" sz="2800" b="1">
                <a:latin typeface="宋体" panose="02010600030101010101" pitchFamily="2" charset="-122"/>
              </a:rPr>
              <a:t>1）尿苷酸激酶催化</a:t>
            </a:r>
            <a:r>
              <a:rPr kumimoji="1" lang="en-US" altLang="zh-CN" sz="2800" b="1">
                <a:latin typeface="宋体" panose="02010600030101010101" pitchFamily="2" charset="-122"/>
              </a:rPr>
              <a:t>ATP</a:t>
            </a:r>
            <a:r>
              <a:rPr kumimoji="1" lang="zh-CN" altLang="en-US" sz="2800" b="1">
                <a:latin typeface="宋体" panose="02010600030101010101" pitchFamily="2" charset="-122"/>
              </a:rPr>
              <a:t>的</a:t>
            </a:r>
            <a:r>
              <a:rPr kumimoji="1" lang="en-US" altLang="zh-CN" sz="2800" b="1">
                <a:latin typeface="宋体" panose="02010600030101010101" pitchFamily="2" charset="-122"/>
              </a:rPr>
              <a:t>γ-</a:t>
            </a:r>
            <a:r>
              <a:rPr kumimoji="1" lang="zh-CN" altLang="en-US" sz="2800" b="1">
                <a:latin typeface="宋体" panose="02010600030101010101" pitchFamily="2" charset="-122"/>
              </a:rPr>
              <a:t>磷酸转移给</a:t>
            </a:r>
            <a:r>
              <a:rPr kumimoji="1" lang="en-US" altLang="zh-CN" sz="2800" b="1">
                <a:latin typeface="宋体" panose="02010600030101010101" pitchFamily="2" charset="-122"/>
              </a:rPr>
              <a:t>UMP，</a:t>
            </a:r>
            <a:r>
              <a:rPr kumimoji="1" lang="zh-CN" altLang="en-US" sz="2800" b="1">
                <a:latin typeface="宋体" panose="02010600030101010101" pitchFamily="2" charset="-122"/>
              </a:rPr>
              <a:t>形成</a:t>
            </a:r>
            <a:r>
              <a:rPr kumimoji="1" lang="en-US" altLang="zh-CN" sz="2800" b="1">
                <a:latin typeface="宋体" panose="02010600030101010101" pitchFamily="2" charset="-122"/>
              </a:rPr>
              <a:t>UDP；</a:t>
            </a:r>
            <a:br>
              <a:rPr kumimoji="1" lang="en-US" altLang="zh-CN" sz="2800" b="1">
                <a:latin typeface="宋体" panose="02010600030101010101" pitchFamily="2" charset="-122"/>
              </a:rPr>
            </a:br>
            <a:r>
              <a:rPr kumimoji="1" lang="en-US" altLang="zh-CN" sz="2800" b="1">
                <a:latin typeface="宋体" panose="02010600030101010101" pitchFamily="2" charset="-122"/>
              </a:rPr>
              <a:t>2）</a:t>
            </a:r>
            <a:r>
              <a:rPr kumimoji="1" lang="zh-CN" altLang="en-US" sz="2800" b="1">
                <a:latin typeface="宋体" panose="02010600030101010101" pitchFamily="2" charset="-122"/>
              </a:rPr>
              <a:t>核苷二磷酸激酶催化第二个</a:t>
            </a:r>
            <a:r>
              <a:rPr kumimoji="1" lang="en-US" altLang="zh-CN" sz="2800" b="1">
                <a:latin typeface="宋体" panose="02010600030101010101" pitchFamily="2" charset="-122"/>
              </a:rPr>
              <a:t>ATP</a:t>
            </a:r>
            <a:r>
              <a:rPr kumimoji="1" lang="zh-CN" altLang="en-US" sz="2800" b="1">
                <a:latin typeface="宋体" panose="02010600030101010101" pitchFamily="2" charset="-122"/>
              </a:rPr>
              <a:t>的</a:t>
            </a:r>
            <a:r>
              <a:rPr kumimoji="1" lang="en-US" altLang="zh-CN" sz="2800" b="1">
                <a:latin typeface="宋体" panose="02010600030101010101" pitchFamily="2" charset="-122"/>
              </a:rPr>
              <a:t>γ-</a:t>
            </a:r>
            <a:r>
              <a:rPr kumimoji="1" lang="zh-CN" altLang="en-US" sz="2800" b="1">
                <a:latin typeface="宋体" panose="02010600030101010101" pitchFamily="2" charset="-122"/>
              </a:rPr>
              <a:t>磷酸转移给</a:t>
            </a:r>
            <a:r>
              <a:rPr kumimoji="1" lang="en-US" altLang="zh-CN" sz="2800" b="1">
                <a:latin typeface="宋体" panose="02010600030101010101" pitchFamily="2" charset="-122"/>
              </a:rPr>
              <a:t>UDP，</a:t>
            </a:r>
            <a:r>
              <a:rPr kumimoji="1" lang="zh-CN" altLang="en-US" sz="2800" b="1">
                <a:latin typeface="宋体" panose="02010600030101010101" pitchFamily="2" charset="-122"/>
              </a:rPr>
              <a:t>形成</a:t>
            </a:r>
            <a:r>
              <a:rPr kumimoji="1" lang="en-US" altLang="zh-CN" sz="2800" b="1">
                <a:latin typeface="宋体" panose="02010600030101010101" pitchFamily="2" charset="-122"/>
              </a:rPr>
              <a:t>UTP；</a:t>
            </a:r>
            <a:br>
              <a:rPr kumimoji="1" lang="en-US" altLang="zh-CN" sz="2800" b="1">
                <a:latin typeface="宋体" panose="02010600030101010101" pitchFamily="2" charset="-122"/>
              </a:rPr>
            </a:br>
            <a:r>
              <a:rPr kumimoji="1" lang="en-US" altLang="zh-CN" sz="2800" b="1">
                <a:latin typeface="宋体" panose="02010600030101010101" pitchFamily="2" charset="-122"/>
              </a:rPr>
              <a:t>3）CTP</a:t>
            </a:r>
            <a:r>
              <a:rPr kumimoji="1" lang="zh-CN" altLang="en-US" sz="2800" b="1">
                <a:latin typeface="宋体" panose="02010600030101010101" pitchFamily="2" charset="-122"/>
              </a:rPr>
              <a:t>合成酶催化来自谷氨酰胺的酰胺氮转移至</a:t>
            </a:r>
            <a:r>
              <a:rPr kumimoji="1" lang="en-US" altLang="zh-CN" sz="2800" b="1">
                <a:latin typeface="宋体" panose="02010600030101010101" pitchFamily="2" charset="-122"/>
              </a:rPr>
              <a:t>UTP</a:t>
            </a:r>
            <a:r>
              <a:rPr kumimoji="1" lang="zh-CN" altLang="en-US" sz="2800" b="1">
                <a:latin typeface="宋体" panose="02010600030101010101" pitchFamily="2" charset="-122"/>
              </a:rPr>
              <a:t>的</a:t>
            </a:r>
            <a:r>
              <a:rPr kumimoji="1" lang="en-US" altLang="zh-CN" sz="2800" b="1">
                <a:latin typeface="宋体" panose="02010600030101010101" pitchFamily="2" charset="-122"/>
              </a:rPr>
              <a:t>C-4，</a:t>
            </a:r>
            <a:r>
              <a:rPr kumimoji="1" lang="zh-CN" altLang="en-US" sz="2800" b="1">
                <a:latin typeface="宋体" panose="02010600030101010101" pitchFamily="2" charset="-122"/>
              </a:rPr>
              <a:t>形成</a:t>
            </a:r>
            <a:r>
              <a:rPr kumimoji="1" lang="en-US" altLang="zh-CN" sz="2800" b="1">
                <a:latin typeface="宋体" panose="02010600030101010101" pitchFamily="2" charset="-122"/>
              </a:rPr>
              <a:t>CTP。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1341438"/>
            <a:ext cx="3027363" cy="527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1087438" y="1643063"/>
            <a:ext cx="3048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氨甲酰磷酸合成酶Ⅱ</a:t>
            </a:r>
          </a:p>
        </p:txBody>
      </p:sp>
      <p:sp>
        <p:nvSpPr>
          <p:cNvPr id="56324" name="Text Box 5"/>
          <p:cNvSpPr txBox="1">
            <a:spLocks noChangeArrowheads="1"/>
          </p:cNvSpPr>
          <p:nvPr/>
        </p:nvSpPr>
        <p:spPr bwMode="auto">
          <a:xfrm>
            <a:off x="1071563" y="2554288"/>
            <a:ext cx="3048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天冬氨酸转氨甲酰酶</a:t>
            </a:r>
          </a:p>
        </p:txBody>
      </p:sp>
      <p:sp>
        <p:nvSpPr>
          <p:cNvPr id="56325" name="Text Box 6"/>
          <p:cNvSpPr txBox="1">
            <a:spLocks noChangeArrowheads="1"/>
          </p:cNvSpPr>
          <p:nvPr/>
        </p:nvSpPr>
        <p:spPr bwMode="auto">
          <a:xfrm>
            <a:off x="2357438" y="5811838"/>
            <a:ext cx="1905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CTP</a:t>
            </a:r>
            <a:r>
              <a:rPr kumimoji="1" lang="zh-CN" altLang="en-US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合成酶</a:t>
            </a:r>
          </a:p>
        </p:txBody>
      </p:sp>
      <p:sp>
        <p:nvSpPr>
          <p:cNvPr id="56326" name="Rectangle 7"/>
          <p:cNvSpPr>
            <a:spLocks noChangeArrowheads="1"/>
          </p:cNvSpPr>
          <p:nvPr/>
        </p:nvSpPr>
        <p:spPr bwMode="auto">
          <a:xfrm>
            <a:off x="395288" y="342900"/>
            <a:ext cx="6408737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2.2.3 </a:t>
            </a:r>
            <a:r>
              <a:rPr kumimoji="1" lang="zh-CN" altLang="en-US" sz="3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嘧啶核苷酸生物合成的调节</a:t>
            </a:r>
            <a:endParaRPr kumimoji="1" lang="en-US" altLang="zh-CN" sz="31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lum bright="-42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99" t="55333" r="8000" b="23334"/>
          <a:stretch>
            <a:fillRect/>
          </a:stretch>
        </p:blipFill>
        <p:spPr>
          <a:xfrm>
            <a:off x="333375" y="1484313"/>
            <a:ext cx="7262813" cy="4302125"/>
          </a:xfrm>
          <a:noFill/>
        </p:spPr>
      </p:pic>
    </p:spTree>
  </p:cSld>
  <p:clrMapOvr>
    <a:masterClrMapping/>
  </p:clrMapOvr>
  <p:transition spd="med">
    <p:pull dir="r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/>
          <p:cNvSpPr>
            <a:spLocks noChangeArrowheads="1"/>
          </p:cNvSpPr>
          <p:nvPr/>
        </p:nvSpPr>
        <p:spPr bwMode="auto">
          <a:xfrm>
            <a:off x="395288" y="703263"/>
            <a:ext cx="6408737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2.2.4 </a:t>
            </a:r>
            <a:r>
              <a:rPr kumimoji="1" lang="zh-CN" altLang="en-US" sz="3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嘧啶核苷酸合成的补救途径</a:t>
            </a:r>
            <a:endParaRPr kumimoji="1" lang="en-US" altLang="zh-CN" sz="31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55299" name="Rectangle 7"/>
          <p:cNvSpPr>
            <a:spLocks noChangeArrowheads="1"/>
          </p:cNvSpPr>
          <p:nvPr/>
        </p:nvSpPr>
        <p:spPr bwMode="auto">
          <a:xfrm>
            <a:off x="431800" y="1412875"/>
            <a:ext cx="6948488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1）尿嘧啶+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PRPP</a:t>
            </a:r>
            <a:r>
              <a:rPr kumimoji="1"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</a:t>
            </a:r>
            <a:r>
              <a:rPr kumimoji="1" lang="zh-CN" altLang="en-US" sz="2800" b="1">
                <a:latin typeface="宋体" panose="02010600030101010101" pitchFamily="2" charset="-122"/>
              </a:rPr>
              <a:t>尿嘧啶核苷酸+</a:t>
            </a:r>
            <a:r>
              <a:rPr kumimoji="1" lang="en-US" altLang="zh-CN" sz="2800" b="1" dirty="0" err="1">
                <a:latin typeface="宋体" panose="02010600030101010101" pitchFamily="2" charset="-122"/>
              </a:rPr>
              <a:t>PPi</a:t>
            </a:r>
            <a:endParaRPr kumimoji="1"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(UMP</a:t>
            </a:r>
            <a:r>
              <a:rPr kumimoji="1"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磷酸核糖转移酶</a:t>
            </a: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2）尿嘧啶+1-磷酸核糖</a:t>
            </a:r>
            <a:r>
              <a:rPr kumimoji="1" lang="zh-CN" altLang="en-US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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尿嘧啶核苷+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Pi</a:t>
            </a: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尿苷磷酸化酶</a:t>
            </a: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尿嘧啶核苷+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ATP </a:t>
            </a:r>
            <a:r>
              <a:rPr kumimoji="1"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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尿嘧啶核苷酸+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Pi</a:t>
            </a: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尿苷激酶，</a:t>
            </a: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Mg</a:t>
            </a:r>
            <a:r>
              <a:rPr kumimoji="1" lang="en-US" altLang="zh-CN" sz="2400" b="1" baseline="30000" dirty="0">
                <a:solidFill>
                  <a:schemeClr val="accent1"/>
                </a:solidFill>
                <a:latin typeface="宋体" panose="02010600030101010101" pitchFamily="2" charset="-122"/>
              </a:rPr>
              <a:t>2+</a:t>
            </a: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2800" b="1" dirty="0">
                <a:latin typeface="宋体" panose="02010600030101010101" pitchFamily="2" charset="-122"/>
              </a:rPr>
              <a:t>3）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胞嘧啶核苷+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ATP </a:t>
            </a:r>
            <a:r>
              <a:rPr kumimoji="1"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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胞嘧啶核苷酸+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ADP</a:t>
            </a: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尿苷激酶，</a:t>
            </a: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Mg</a:t>
            </a:r>
            <a:r>
              <a:rPr kumimoji="1" lang="en-US" altLang="zh-CN" sz="2400" b="1" baseline="30000" dirty="0">
                <a:solidFill>
                  <a:schemeClr val="accent1"/>
                </a:solidFill>
                <a:latin typeface="宋体" panose="02010600030101010101" pitchFamily="2" charset="-122"/>
              </a:rPr>
              <a:t>2+</a:t>
            </a:r>
            <a:r>
              <a:rPr kumimoji="1"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4421188" y="3094038"/>
            <a:ext cx="30321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000">
                <a:latin typeface="Times New Roman" panose="02020603050405020304" pitchFamily="18" charset="0"/>
              </a:rPr>
              <a:t>).</a:t>
            </a:r>
            <a:r>
              <a:rPr kumimoji="1" lang="zh-CN" altLang="en-US" sz="1400">
                <a:latin typeface="Times New Roman" panose="02020603050405020304" pitchFamily="18" charset="0"/>
              </a:rPr>
              <a:t> 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421188" y="3094038"/>
            <a:ext cx="30321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000">
                <a:latin typeface="Times New Roman" panose="02020603050405020304" pitchFamily="18" charset="0"/>
              </a:rPr>
              <a:t>).</a:t>
            </a:r>
            <a:r>
              <a:rPr kumimoji="1" lang="zh-CN" altLang="en-US" sz="1400">
                <a:latin typeface="Times New Roman" panose="02020603050405020304" pitchFamily="18" charset="0"/>
              </a:rPr>
              <a:t> 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4421188" y="3094038"/>
            <a:ext cx="30321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000">
                <a:latin typeface="Times New Roman" panose="02020603050405020304" pitchFamily="18" charset="0"/>
              </a:rPr>
              <a:t>).</a:t>
            </a:r>
            <a:r>
              <a:rPr kumimoji="1" lang="zh-CN" altLang="en-US" sz="1400">
                <a:latin typeface="Times New Roman" panose="02020603050405020304" pitchFamily="18" charset="0"/>
              </a:rPr>
              <a:t> 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8373" name="Rectangle 8"/>
          <p:cNvSpPr>
            <a:spLocks noChangeArrowheads="1"/>
          </p:cNvSpPr>
          <p:nvPr/>
        </p:nvSpPr>
        <p:spPr bwMode="auto">
          <a:xfrm>
            <a:off x="466725" y="260350"/>
            <a:ext cx="69103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2.3 </a:t>
            </a:r>
            <a:r>
              <a:rPr kumimoji="1"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脱氧核糖核苷酸的合成</a:t>
            </a:r>
          </a:p>
        </p:txBody>
      </p:sp>
      <p:pic>
        <p:nvPicPr>
          <p:cNvPr id="58374" name="Picture 10"/>
          <p:cNvPicPr>
            <a:picLocks noChangeAspect="1" noChangeArrowheads="1"/>
          </p:cNvPicPr>
          <p:nvPr/>
        </p:nvPicPr>
        <p:blipFill>
          <a:blip r:embed="rId2">
            <a:lum bright="-24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" t="7333" b="42000"/>
          <a:stretch>
            <a:fillRect/>
          </a:stretch>
        </p:blipFill>
        <p:spPr bwMode="auto">
          <a:xfrm>
            <a:off x="0" y="2133600"/>
            <a:ext cx="9144000" cy="417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5" name="Rectangle 11"/>
          <p:cNvSpPr>
            <a:spLocks noChangeArrowheads="1"/>
          </p:cNvSpPr>
          <p:nvPr/>
        </p:nvSpPr>
        <p:spPr bwMode="auto">
          <a:xfrm>
            <a:off x="395288" y="1208088"/>
            <a:ext cx="5329237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2.3.1 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核糖核苷二磷酸的还原</a:t>
            </a:r>
            <a:endParaRPr kumimoji="1" lang="zh-CN" altLang="en-US" sz="31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4421188" y="3094038"/>
            <a:ext cx="30321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000">
                <a:latin typeface="Times New Roman" panose="02020603050405020304" pitchFamily="18" charset="0"/>
              </a:rPr>
              <a:t>).</a:t>
            </a:r>
            <a:r>
              <a:rPr kumimoji="1" lang="zh-CN" altLang="en-US" sz="1400">
                <a:latin typeface="Times New Roman" panose="02020603050405020304" pitchFamily="18" charset="0"/>
              </a:rPr>
              <a:t> 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4421188" y="3094038"/>
            <a:ext cx="30321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000">
                <a:latin typeface="Times New Roman" panose="02020603050405020304" pitchFamily="18" charset="0"/>
              </a:rPr>
              <a:t>).</a:t>
            </a:r>
            <a:r>
              <a:rPr kumimoji="1" lang="zh-CN" altLang="en-US" sz="1400">
                <a:latin typeface="Times New Roman" panose="02020603050405020304" pitchFamily="18" charset="0"/>
              </a:rPr>
              <a:t> 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4421188" y="3094038"/>
            <a:ext cx="30321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000">
                <a:latin typeface="Times New Roman" panose="02020603050405020304" pitchFamily="18" charset="0"/>
              </a:rPr>
              <a:t>).</a:t>
            </a:r>
            <a:r>
              <a:rPr kumimoji="1" lang="zh-CN" altLang="en-US" sz="1400">
                <a:latin typeface="Times New Roman" panose="02020603050405020304" pitchFamily="18" charset="0"/>
              </a:rPr>
              <a:t> 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59397" name="Picture 5" descr="724-1"/>
          <p:cNvPicPr>
            <a:picLocks noChangeAspect="1" noChangeArrowheads="1"/>
          </p:cNvPicPr>
          <p:nvPr/>
        </p:nvPicPr>
        <p:blipFill>
          <a:blip r:embed="rId2">
            <a:lum bright="-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4" t="4445" r="4318" b="8888"/>
          <a:stretch>
            <a:fillRect/>
          </a:stretch>
        </p:blipFill>
        <p:spPr bwMode="auto">
          <a:xfrm>
            <a:off x="1371600" y="260350"/>
            <a:ext cx="6418263" cy="659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7777163" y="3141663"/>
            <a:ext cx="1331912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000" b="1">
                <a:solidFill>
                  <a:schemeClr val="bg1"/>
                </a:solidFill>
                <a:latin typeface="Times New Roman" panose="02020603050405020304" pitchFamily="18" charset="0"/>
              </a:rPr>
              <a:t>硫氧还</a:t>
            </a:r>
          </a:p>
          <a:p>
            <a:pPr eaLnBrk="1" hangingPunct="1"/>
            <a:r>
              <a:rPr kumimoji="1" lang="zh-CN" altLang="en-US" sz="3000" b="1">
                <a:solidFill>
                  <a:schemeClr val="bg1"/>
                </a:solidFill>
                <a:latin typeface="Times New Roman" panose="02020603050405020304" pitchFamily="18" charset="0"/>
              </a:rPr>
              <a:t>蛋白</a:t>
            </a:r>
          </a:p>
        </p:txBody>
      </p:sp>
      <p:sp>
        <p:nvSpPr>
          <p:cNvPr id="59399" name="Rectangle 8"/>
          <p:cNvSpPr>
            <a:spLocks noChangeArrowheads="1"/>
          </p:cNvSpPr>
          <p:nvPr/>
        </p:nvSpPr>
        <p:spPr bwMode="auto">
          <a:xfrm>
            <a:off x="34925" y="3141663"/>
            <a:ext cx="1331913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000" b="1">
                <a:solidFill>
                  <a:schemeClr val="bg1"/>
                </a:solidFill>
                <a:latin typeface="Times New Roman" panose="02020603050405020304" pitchFamily="18" charset="0"/>
              </a:rPr>
              <a:t>谷氧还</a:t>
            </a:r>
          </a:p>
          <a:p>
            <a:pPr eaLnBrk="1" hangingPunct="1"/>
            <a:r>
              <a:rPr kumimoji="1" lang="zh-CN" altLang="en-US" sz="3000" b="1">
                <a:solidFill>
                  <a:schemeClr val="bg1"/>
                </a:solidFill>
                <a:latin typeface="Times New Roman" panose="02020603050405020304" pitchFamily="18" charset="0"/>
              </a:rPr>
              <a:t>蛋白</a:t>
            </a:r>
          </a:p>
        </p:txBody>
      </p:sp>
    </p:spTree>
  </p:cSld>
  <p:clrMapOvr>
    <a:masterClrMapping/>
  </p:clrMapOvr>
  <p:transition spd="med">
    <p:pull dir="r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3" descr="726-2"/>
          <p:cNvPicPr>
            <a:picLocks noChangeAspect="1" noChangeArrowheads="1"/>
          </p:cNvPicPr>
          <p:nvPr/>
        </p:nvPicPr>
        <p:blipFill>
          <a:blip r:embed="rId2">
            <a:lum bright="-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10088" r="2499" b="6334"/>
          <a:stretch>
            <a:fillRect/>
          </a:stretch>
        </p:blipFill>
        <p:spPr bwMode="auto">
          <a:xfrm>
            <a:off x="36513" y="1341438"/>
            <a:ext cx="91440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4"/>
          <p:cNvSpPr>
            <a:spLocks noChangeArrowheads="1"/>
          </p:cNvSpPr>
          <p:nvPr/>
        </p:nvSpPr>
        <p:spPr bwMode="auto">
          <a:xfrm>
            <a:off x="395288" y="692150"/>
            <a:ext cx="5329237" cy="565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None/>
            </a:pPr>
            <a:r>
              <a:rPr kumimoji="1" lang="en-US" altLang="zh-CN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2.3.2 </a:t>
            </a:r>
            <a:r>
              <a:rPr kumimoji="1" lang="zh-CN" altLang="en-US" sz="31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胸腺嘧啶核苷酸的合成</a:t>
            </a:r>
            <a:endParaRPr kumimoji="1" lang="zh-CN" altLang="en-US" sz="31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15718" name="Line 6"/>
          <p:cNvSpPr>
            <a:spLocks noChangeShapeType="1"/>
          </p:cNvSpPr>
          <p:nvPr/>
        </p:nvSpPr>
        <p:spPr bwMode="auto">
          <a:xfrm>
            <a:off x="5881688" y="5084763"/>
            <a:ext cx="129698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2195513" y="4843463"/>
            <a:ext cx="36004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N5,N10-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亚甲基四氢叶酸</a:t>
            </a:r>
          </a:p>
        </p:txBody>
      </p:sp>
      <p:sp>
        <p:nvSpPr>
          <p:cNvPr id="115720" name="Rectangle 8"/>
          <p:cNvSpPr>
            <a:spLocks noChangeArrowheads="1"/>
          </p:cNvSpPr>
          <p:nvPr/>
        </p:nvSpPr>
        <p:spPr bwMode="auto">
          <a:xfrm>
            <a:off x="2484438" y="5995988"/>
            <a:ext cx="3024187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氨基蝶呤，氨甲蝶呤</a:t>
            </a:r>
          </a:p>
        </p:txBody>
      </p:sp>
      <p:sp>
        <p:nvSpPr>
          <p:cNvPr id="115722" name="Text Box 10"/>
          <p:cNvSpPr txBox="1">
            <a:spLocks noChangeArrowheads="1"/>
          </p:cNvSpPr>
          <p:nvPr/>
        </p:nvSpPr>
        <p:spPr bwMode="auto">
          <a:xfrm>
            <a:off x="3721100" y="5300663"/>
            <a:ext cx="288925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4000" b="1">
                <a:solidFill>
                  <a:schemeClr val="accent1"/>
                </a:solidFill>
                <a:latin typeface="Times New Roman" panose="02020603050405020304" pitchFamily="18" charset="0"/>
                <a:ea typeface="仿宋_GB2312" pitchFamily="49" charset="-122"/>
              </a:rPr>
              <a:t>¤</a:t>
            </a:r>
            <a:endParaRPr kumimoji="1" lang="en-US" altLang="zh-CN" sz="4000" b="1">
              <a:solidFill>
                <a:schemeClr val="accent1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15721" name="Line 9"/>
          <p:cNvSpPr>
            <a:spLocks noChangeShapeType="1"/>
          </p:cNvSpPr>
          <p:nvPr/>
        </p:nvSpPr>
        <p:spPr bwMode="auto">
          <a:xfrm rot="5400000" flipH="1">
            <a:off x="3526631" y="5625307"/>
            <a:ext cx="64928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9" grpId="0" animBg="1"/>
      <p:bldP spid="115720" grpId="0" animBg="1"/>
      <p:bldP spid="11572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8613" y="1628775"/>
            <a:ext cx="7556500" cy="44196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1）都是含</a:t>
            </a:r>
            <a:r>
              <a:rPr lang="en-US" altLang="zh-CN" sz="2800" b="1">
                <a:latin typeface="宋体" panose="02010600030101010101" pitchFamily="2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</a:rPr>
              <a:t>分子，分别是蛋白质和核酸的前体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2）两种代谢通路在很多方面广泛联系：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a.</a:t>
            </a:r>
            <a:r>
              <a:rPr lang="zh-CN" altLang="en-US" sz="2800" b="1">
                <a:latin typeface="宋体" panose="02010600030101010101" pitchFamily="2" charset="-122"/>
              </a:rPr>
              <a:t>共享一些关键的中间代谢物；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&gt; 某些</a:t>
            </a:r>
            <a:r>
              <a:rPr lang="en-US" altLang="zh-CN" sz="2400">
                <a:latin typeface="宋体" panose="02010600030101010101" pitchFamily="2" charset="-122"/>
              </a:rPr>
              <a:t>aa</a:t>
            </a:r>
            <a:r>
              <a:rPr lang="zh-CN" altLang="en-US" sz="2400">
                <a:latin typeface="宋体" panose="02010600030101010101" pitchFamily="2" charset="-122"/>
              </a:rPr>
              <a:t>或</a:t>
            </a:r>
            <a:r>
              <a:rPr lang="en-US" altLang="zh-CN" sz="2400">
                <a:latin typeface="宋体" panose="02010600030101010101" pitchFamily="2" charset="-122"/>
              </a:rPr>
              <a:t>aa</a:t>
            </a:r>
            <a:r>
              <a:rPr lang="zh-CN" altLang="en-US" sz="2400">
                <a:latin typeface="宋体" panose="02010600030101010101" pitchFamily="2" charset="-122"/>
              </a:rPr>
              <a:t>的一部分整合入嘌呤和嘧啶的结构中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&gt; 嘌呤环的一部分又整合入组氨酸结构中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b.</a:t>
            </a:r>
            <a:r>
              <a:rPr lang="zh-CN" altLang="en-US" sz="2800" b="1">
                <a:latin typeface="宋体" panose="02010600030101010101" pitchFamily="2" charset="-122"/>
              </a:rPr>
              <a:t>两种代谢通路的化学过程有许多共同点，特别是绝大部分反应包括</a:t>
            </a:r>
            <a:r>
              <a:rPr lang="en-US" altLang="zh-CN" sz="2800" b="1">
                <a:latin typeface="宋体" panose="02010600030101010101" pitchFamily="2" charset="-122"/>
              </a:rPr>
              <a:t>N</a:t>
            </a:r>
            <a:r>
              <a:rPr lang="zh-CN" altLang="en-US" sz="2800" b="1">
                <a:latin typeface="宋体" panose="02010600030101010101" pitchFamily="2" charset="-122"/>
              </a:rPr>
              <a:t>和一</a:t>
            </a:r>
            <a:r>
              <a:rPr lang="en-US" altLang="zh-CN" sz="2800" b="1">
                <a:latin typeface="宋体" panose="02010600030101010101" pitchFamily="2" charset="-122"/>
              </a:rPr>
              <a:t>C</a:t>
            </a:r>
            <a:r>
              <a:rPr lang="zh-CN" altLang="en-US" sz="2800" b="1">
                <a:latin typeface="宋体" panose="02010600030101010101" pitchFamily="2" charset="-122"/>
              </a:rPr>
              <a:t>单位的转移。</a:t>
            </a: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466725" y="574675"/>
            <a:ext cx="69103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2.4 AA</a:t>
            </a:r>
            <a:r>
              <a:rPr kumimoji="1"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和</a:t>
            </a:r>
            <a:r>
              <a:rPr kumimoji="1"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NT</a:t>
            </a:r>
            <a:r>
              <a:rPr kumimoji="1"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生物合成的相互关系</a:t>
            </a:r>
          </a:p>
        </p:txBody>
      </p:sp>
    </p:spTree>
  </p:cSld>
  <p:clrMapOvr>
    <a:masterClrMapping/>
  </p:clrMapOvr>
  <p:transition spd="med">
    <p:pull dir="r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612775" y="2349500"/>
            <a:ext cx="6911975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A) NAD</a:t>
            </a:r>
            <a:r>
              <a:rPr kumimoji="1" lang="zh-CN" altLang="en-US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NADP</a:t>
            </a:r>
            <a:r>
              <a:rPr kumimoji="1" lang="zh-CN" altLang="en-US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（烟酸）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B) FMN</a:t>
            </a:r>
            <a:r>
              <a:rPr kumimoji="1" lang="zh-CN" altLang="en-US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FAD</a:t>
            </a:r>
            <a:r>
              <a:rPr kumimoji="1" lang="zh-CN" altLang="en-US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（核黄素）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C) CoA</a:t>
            </a:r>
            <a:r>
              <a:rPr kumimoji="1" lang="zh-CN" altLang="en-US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（泛酸）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分子结构中均含有腺苷酸部分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612775" y="1268413"/>
            <a:ext cx="64801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>
                <a:latin typeface="Times New Roman" panose="02020603050405020304" pitchFamily="18" charset="0"/>
              </a:rPr>
              <a:t>三、辅酶核苷酸的生物合成</a:t>
            </a:r>
          </a:p>
        </p:txBody>
      </p:sp>
    </p:spTree>
  </p:cSld>
  <p:clrMapOvr>
    <a:masterClrMapping/>
  </p:clrMapOvr>
  <p:transition spd="med">
    <p:pull dir="r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50925"/>
            <a:ext cx="7467600" cy="701675"/>
          </a:xfrm>
        </p:spPr>
        <p:txBody>
          <a:bodyPr/>
          <a:lstStyle/>
          <a:p>
            <a:pPr eaLnBrk="1" hangingPunct="1"/>
            <a:r>
              <a:rPr lang="zh-CN" altLang="en-US" sz="4000" b="1"/>
              <a:t>核苷酸的重要意义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125663"/>
            <a:ext cx="7416800" cy="3608387"/>
          </a:xfrm>
          <a:solidFill>
            <a:schemeClr val="accent1"/>
          </a:solidFill>
        </p:spPr>
        <p:txBody>
          <a:bodyPr/>
          <a:lstStyle/>
          <a:p>
            <a:pPr eaLnBrk="1" hangingPunct="1">
              <a:spcAft>
                <a:spcPct val="50000"/>
              </a:spcAft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1）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DNA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RNA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的前体；</a:t>
            </a:r>
          </a:p>
          <a:p>
            <a:pPr eaLnBrk="1" hangingPunct="1">
              <a:spcAft>
                <a:spcPct val="50000"/>
              </a:spcAft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2）化学能量携带体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ATP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GTP；</a:t>
            </a:r>
          </a:p>
          <a:p>
            <a:pPr eaLnBrk="1" hangingPunct="1">
              <a:spcAft>
                <a:spcPct val="50000"/>
              </a:spcAft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3）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辅酶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NAD, FAD, CoA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的组分；</a:t>
            </a:r>
          </a:p>
          <a:p>
            <a:pPr eaLnBrk="1" hangingPunct="1">
              <a:spcAft>
                <a:spcPct val="50000"/>
              </a:spcAft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4）生物合成的重要中间物，如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UDP-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葡萄糖；</a:t>
            </a:r>
          </a:p>
          <a:p>
            <a:pPr eaLnBrk="1" hangingPunct="1">
              <a:spcAft>
                <a:spcPct val="50000"/>
              </a:spcAft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5）第二信使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cAMP、cGMP。</a:t>
            </a:r>
          </a:p>
        </p:txBody>
      </p:sp>
    </p:spTree>
  </p:cSld>
  <p:clrMapOvr>
    <a:masterClrMapping/>
  </p:clrMapOvr>
  <p:transition spd="med">
    <p:pull dir="r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1313" y="1401763"/>
            <a:ext cx="7110412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   某些药物是嘌呤、嘧啶、叶酸及某些氨基酸的</a:t>
            </a:r>
            <a:r>
              <a:rPr lang="zh-CN" altLang="en-US" sz="2800" b="1">
                <a:solidFill>
                  <a:schemeClr val="accent1"/>
                </a:solidFill>
              </a:rPr>
              <a:t>类似物</a:t>
            </a:r>
            <a:r>
              <a:rPr lang="zh-CN" altLang="en-US" sz="2800"/>
              <a:t>，它们可作为核苷酸的抗代谢物，通过竞争性抑制或</a:t>
            </a:r>
            <a:r>
              <a:rPr lang="zh-CN" altLang="en-US" sz="2800">
                <a:latin typeface="Times New Roman" panose="02020603050405020304" pitchFamily="18" charset="0"/>
              </a:rPr>
              <a:t>“</a:t>
            </a:r>
            <a:r>
              <a:rPr lang="zh-CN" altLang="en-US" sz="2800"/>
              <a:t>以假乱真</a:t>
            </a:r>
            <a:r>
              <a:rPr lang="zh-CN" altLang="en-US" sz="2800">
                <a:latin typeface="Times New Roman" panose="02020603050405020304" pitchFamily="18" charset="0"/>
              </a:rPr>
              <a:t>”</a:t>
            </a:r>
            <a:r>
              <a:rPr lang="zh-CN" altLang="en-US" sz="2800"/>
              <a:t>等方式干扰或阻断核苷酸的正常合成代谢，从而进一步抑制核酸、蛋白合成及细胞增殖。临床常用它们作为抗肿瘤药和免疫抑制剂。</a:t>
            </a:r>
            <a:endParaRPr lang="en-US" altLang="zh-CN" sz="2800"/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468313" y="512763"/>
            <a:ext cx="69103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600" b="1">
                <a:latin typeface="Times New Roman" panose="02020603050405020304" pitchFamily="18" charset="0"/>
              </a:rPr>
              <a:t>四、核苷酸抗代谢物及临床应用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12750" y="622300"/>
            <a:ext cx="7183438" cy="5759450"/>
          </a:xfrm>
        </p:spPr>
        <p:txBody>
          <a:bodyPr/>
          <a:lstStyle/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accent1"/>
                </a:solidFill>
              </a:rPr>
              <a:t>（一）</a:t>
            </a:r>
            <a:r>
              <a:rPr lang="en-US" altLang="zh-CN" sz="2800" b="1">
                <a:solidFill>
                  <a:schemeClr val="accent1"/>
                </a:solidFill>
              </a:rPr>
              <a:t>5-</a:t>
            </a:r>
            <a:r>
              <a:rPr lang="zh-CN" altLang="en-US" sz="2800" b="1">
                <a:solidFill>
                  <a:schemeClr val="accent1"/>
                </a:solidFill>
              </a:rPr>
              <a:t>氟尿嘧啶（</a:t>
            </a:r>
            <a:r>
              <a:rPr lang="en-US" altLang="zh-CN" sz="2800" b="1">
                <a:solidFill>
                  <a:schemeClr val="accent1"/>
                </a:solidFill>
              </a:rPr>
              <a:t>5-FU</a:t>
            </a:r>
            <a:r>
              <a:rPr lang="zh-CN" altLang="en-US" sz="2800" b="1">
                <a:solidFill>
                  <a:schemeClr val="accent1"/>
                </a:solidFill>
              </a:rPr>
              <a:t>）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/>
              <a:t>    最常用的嘧啶类似物，其结构与胸腺嘧啶类似，在体内可转变成</a:t>
            </a:r>
            <a:r>
              <a:rPr lang="en-US" altLang="zh-CN" sz="2400"/>
              <a:t>5-</a:t>
            </a:r>
            <a:r>
              <a:rPr lang="zh-CN" altLang="en-US" sz="2400"/>
              <a:t>氟尿嘧啶核苷酸，可抑制胸腺嘧啶核苷酸合成酶，从而干扰胸腺核苷酸合成。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accent1"/>
                </a:solidFill>
              </a:rPr>
              <a:t>（二）</a:t>
            </a:r>
            <a:r>
              <a:rPr lang="en-US" altLang="zh-CN" sz="2800" b="1">
                <a:solidFill>
                  <a:schemeClr val="accent1"/>
                </a:solidFill>
              </a:rPr>
              <a:t>6-</a:t>
            </a:r>
            <a:r>
              <a:rPr lang="zh-CN" altLang="en-US" sz="2800" b="1">
                <a:solidFill>
                  <a:schemeClr val="accent1"/>
                </a:solidFill>
              </a:rPr>
              <a:t>巯基嘌呤（</a:t>
            </a:r>
            <a:r>
              <a:rPr lang="en-US" altLang="zh-CN" sz="2800" b="1">
                <a:solidFill>
                  <a:schemeClr val="accent1"/>
                </a:solidFill>
              </a:rPr>
              <a:t>6-MP</a:t>
            </a:r>
            <a:r>
              <a:rPr lang="zh-CN" altLang="en-US" sz="2800" b="1">
                <a:solidFill>
                  <a:schemeClr val="accent1"/>
                </a:solidFill>
              </a:rPr>
              <a:t>）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400"/>
              <a:t>    最常用的嘌呤类似物，其结构与次黄嘌呤类似，在体内可转变成</a:t>
            </a:r>
            <a:r>
              <a:rPr lang="en-US" altLang="zh-CN" sz="2400"/>
              <a:t>6-</a:t>
            </a:r>
            <a:r>
              <a:rPr lang="zh-CN" altLang="en-US" sz="2400"/>
              <a:t>巯基嘌呤核苷酸，从而抑制</a:t>
            </a:r>
            <a:r>
              <a:rPr lang="en-US" altLang="zh-CN" sz="2400"/>
              <a:t>IMP</a:t>
            </a:r>
            <a:r>
              <a:rPr lang="zh-CN" altLang="en-US" sz="2400"/>
              <a:t>转变成</a:t>
            </a:r>
            <a:r>
              <a:rPr lang="en-US" altLang="zh-CN" sz="2400"/>
              <a:t>AMP</a:t>
            </a:r>
            <a:r>
              <a:rPr lang="zh-CN" altLang="en-US" sz="2400"/>
              <a:t>和</a:t>
            </a:r>
            <a:r>
              <a:rPr lang="en-US" altLang="zh-CN" sz="2400"/>
              <a:t>GMP</a:t>
            </a:r>
            <a:r>
              <a:rPr lang="zh-CN" altLang="en-US" sz="2400"/>
              <a:t>的反应。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accent1"/>
                </a:solidFill>
              </a:rPr>
              <a:t>（三）阿糖胞苷</a:t>
            </a:r>
            <a:r>
              <a:rPr lang="zh-CN" altLang="en-US" sz="2800">
                <a:solidFill>
                  <a:schemeClr val="accent1"/>
                </a:solidFill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en-US" altLang="zh-CN" sz="2400"/>
              <a:t> </a:t>
            </a:r>
            <a:r>
              <a:rPr lang="zh-CN" altLang="en-US" sz="2400"/>
              <a:t>阿拉伯糖代替核糖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accent1"/>
                </a:solidFill>
              </a:rPr>
              <a:t>（四）氨甲喋呤（</a:t>
            </a:r>
            <a:r>
              <a:rPr lang="en-US" altLang="zh-CN" sz="2800" b="1">
                <a:solidFill>
                  <a:schemeClr val="accent1"/>
                </a:solidFill>
              </a:rPr>
              <a:t>MTX</a:t>
            </a:r>
            <a:r>
              <a:rPr lang="zh-CN" altLang="en-US" sz="2800" b="1">
                <a:solidFill>
                  <a:schemeClr val="accent1"/>
                </a:solidFill>
              </a:rPr>
              <a:t>）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en-US" altLang="zh-CN" sz="2400"/>
              <a:t> </a:t>
            </a:r>
            <a:r>
              <a:rPr lang="zh-CN" altLang="en-US" sz="2400"/>
              <a:t>叶酸类似物，干扰一碳单位代谢</a:t>
            </a:r>
          </a:p>
          <a:p>
            <a:pPr eaLnBrk="1" hangingPunct="1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accent1"/>
                </a:solidFill>
              </a:rPr>
              <a:t>（五）氮杂丝氨酸</a:t>
            </a:r>
            <a:r>
              <a:rPr lang="zh-CN" altLang="en-US" sz="2800">
                <a:solidFill>
                  <a:schemeClr val="accent1"/>
                </a:solidFill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en-US" altLang="zh-CN" sz="2400"/>
              <a:t> </a:t>
            </a:r>
            <a:r>
              <a:rPr lang="zh-CN" altLang="en-US" sz="2400"/>
              <a:t>谷氨酰胺类似物，干扰谷氨酰胺在嘌呤和嘧啶核苷酸合成中的作用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38163"/>
            <a:ext cx="7467600" cy="700087"/>
          </a:xfrm>
        </p:spPr>
        <p:txBody>
          <a:bodyPr/>
          <a:lstStyle/>
          <a:p>
            <a:pPr eaLnBrk="1" hangingPunct="1"/>
            <a:r>
              <a:rPr lang="zh-CN" altLang="en-US" sz="4000" b="1"/>
              <a:t>本章小结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93044"/>
            <a:ext cx="7777163" cy="38719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3000" b="1" dirty="0">
                <a:solidFill>
                  <a:schemeClr val="accent1"/>
                </a:solidFill>
              </a:rPr>
              <a:t>嘌呤环和嘧啶环元素的来源？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3000" b="1" dirty="0">
                <a:solidFill>
                  <a:schemeClr val="accent1"/>
                </a:solidFill>
              </a:rPr>
              <a:t>嘌呤核苷酸合成的第一个核苷酸产物？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3000" b="1" dirty="0">
                <a:solidFill>
                  <a:schemeClr val="accent1"/>
                </a:solidFill>
              </a:rPr>
              <a:t>嘌呤和嘧啶核苷酸的从头合成途径和补救途径？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3000" b="1" dirty="0">
                <a:solidFill>
                  <a:schemeClr val="accent1"/>
                </a:solidFill>
              </a:rPr>
              <a:t>别嘌呤醇治疗痛风病机理？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3000" b="1" dirty="0">
                <a:solidFill>
                  <a:schemeClr val="accent1"/>
                </a:solidFill>
              </a:rPr>
              <a:t>嘌呤环和嘧啶环代谢终产物？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mboo">
  <a:themeElements>
    <a:clrScheme name="Bamboo 2">
      <a:dk1>
        <a:srgbClr val="000000"/>
      </a:dk1>
      <a:lt1>
        <a:srgbClr val="FFFFFF"/>
      </a:lt1>
      <a:dk2>
        <a:srgbClr val="003300"/>
      </a:dk2>
      <a:lt2>
        <a:srgbClr val="5F5F5F"/>
      </a:lt2>
      <a:accent1>
        <a:srgbClr val="0099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B98A00"/>
      </a:accent6>
      <a:hlink>
        <a:srgbClr val="FF3300"/>
      </a:hlink>
      <a:folHlink>
        <a:srgbClr val="663300"/>
      </a:folHlink>
    </a:clrScheme>
    <a:fontScheme name="Bambo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Bamboo 1">
        <a:dk1>
          <a:srgbClr val="000000"/>
        </a:dk1>
        <a:lt1>
          <a:srgbClr val="FFFFFF"/>
        </a:lt1>
        <a:dk2>
          <a:srgbClr val="396F39"/>
        </a:dk2>
        <a:lt2>
          <a:srgbClr val="FFCC00"/>
        </a:lt2>
        <a:accent1>
          <a:srgbClr val="009900"/>
        </a:accent1>
        <a:accent2>
          <a:srgbClr val="CC9900"/>
        </a:accent2>
        <a:accent3>
          <a:srgbClr val="AEBBAE"/>
        </a:accent3>
        <a:accent4>
          <a:srgbClr val="DADADA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mboo 2">
        <a:dk1>
          <a:srgbClr val="000000"/>
        </a:dk1>
        <a:lt1>
          <a:srgbClr val="FFFFFF"/>
        </a:lt1>
        <a:dk2>
          <a:srgbClr val="003300"/>
        </a:dk2>
        <a:lt2>
          <a:srgbClr val="5F5F5F"/>
        </a:lt2>
        <a:accent1>
          <a:srgbClr val="0099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mbo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mboo 4">
        <a:dk1>
          <a:srgbClr val="000000"/>
        </a:dk1>
        <a:lt1>
          <a:srgbClr val="FFFFFF"/>
        </a:lt1>
        <a:dk2>
          <a:srgbClr val="FF0000"/>
        </a:dk2>
        <a:lt2>
          <a:srgbClr val="800000"/>
        </a:lt2>
        <a:accent1>
          <a:srgbClr val="0080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E78A00"/>
        </a:accent6>
        <a:hlink>
          <a:srgbClr val="CC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1256</TotalTime>
  <Words>1679</Words>
  <Application>Microsoft Office PowerPoint</Application>
  <PresentationFormat>全屏显示(4:3)</PresentationFormat>
  <Paragraphs>210</Paragraphs>
  <Slides>52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2" baseType="lpstr">
      <vt:lpstr>仿宋_GB2312</vt:lpstr>
      <vt:lpstr>黑体</vt:lpstr>
      <vt:lpstr>宋体</vt:lpstr>
      <vt:lpstr>Arial</vt:lpstr>
      <vt:lpstr>Arial Black</vt:lpstr>
      <vt:lpstr>Times New Roman</vt:lpstr>
      <vt:lpstr>Wingdings</vt:lpstr>
      <vt:lpstr>Bamboo</vt:lpstr>
      <vt:lpstr>默认设计模板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1.1 核酸的消化与吸收</vt:lpstr>
      <vt:lpstr>1.2 嘌呤碱的分解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1.3 嘧啶碱的分解</vt:lpstr>
      <vt:lpstr>PowerPoint 演示文稿</vt:lpstr>
      <vt:lpstr>PowerPoint 演示文稿</vt:lpstr>
      <vt:lpstr>2.1 嘌呤核糖核苷酸的合成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嘧啶核糖核苷酸的合成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核苷酸的重要意义</vt:lpstr>
      <vt:lpstr>PowerPoint 演示文稿</vt:lpstr>
      <vt:lpstr>PowerPoint 演示文稿</vt:lpstr>
      <vt:lpstr>本章小结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HKThome</dc:creator>
  <cp:lastModifiedBy>HUANG KEN</cp:lastModifiedBy>
  <cp:revision>209</cp:revision>
  <dcterms:created xsi:type="dcterms:W3CDTF">1601-01-01T00:00:00Z</dcterms:created>
  <dcterms:modified xsi:type="dcterms:W3CDTF">2022-06-06T16:17:40Z</dcterms:modified>
</cp:coreProperties>
</file>