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5"/>
  </p:notesMasterIdLst>
  <p:sldIdLst>
    <p:sldId id="257" r:id="rId2"/>
    <p:sldId id="293" r:id="rId3"/>
    <p:sldId id="295" r:id="rId4"/>
    <p:sldId id="294" r:id="rId5"/>
    <p:sldId id="343" r:id="rId6"/>
    <p:sldId id="281" r:id="rId7"/>
    <p:sldId id="282" r:id="rId8"/>
    <p:sldId id="290" r:id="rId9"/>
    <p:sldId id="291" r:id="rId10"/>
    <p:sldId id="287" r:id="rId11"/>
    <p:sldId id="262" r:id="rId12"/>
    <p:sldId id="286" r:id="rId13"/>
    <p:sldId id="347" r:id="rId14"/>
    <p:sldId id="298" r:id="rId15"/>
    <p:sldId id="303" r:id="rId16"/>
    <p:sldId id="348" r:id="rId17"/>
    <p:sldId id="351" r:id="rId18"/>
    <p:sldId id="350" r:id="rId19"/>
    <p:sldId id="349" r:id="rId20"/>
    <p:sldId id="314" r:id="rId21"/>
    <p:sldId id="352" r:id="rId22"/>
    <p:sldId id="283" r:id="rId23"/>
    <p:sldId id="329" r:id="rId24"/>
    <p:sldId id="279" r:id="rId25"/>
    <p:sldId id="288" r:id="rId26"/>
    <p:sldId id="335" r:id="rId27"/>
    <p:sldId id="333" r:id="rId28"/>
    <p:sldId id="338" r:id="rId29"/>
    <p:sldId id="334" r:id="rId30"/>
    <p:sldId id="336" r:id="rId31"/>
    <p:sldId id="340" r:id="rId32"/>
    <p:sldId id="337" r:id="rId33"/>
    <p:sldId id="341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4" autoAdjust="0"/>
    <p:restoredTop sz="94683" autoAdjust="0"/>
  </p:normalViewPr>
  <p:slideViewPr>
    <p:cSldViewPr>
      <p:cViewPr varScale="1">
        <p:scale>
          <a:sx n="91" d="100"/>
          <a:sy n="91" d="100"/>
        </p:scale>
        <p:origin x="71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3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958CB8-EE1A-4D0B-825B-944F456EF19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mbo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92"/>
          <a:stretch>
            <a:fillRect/>
          </a:stretch>
        </p:blipFill>
        <p:spPr bwMode="ltGray">
          <a:xfrm>
            <a:off x="6292850" y="-1588"/>
            <a:ext cx="28575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1158875"/>
            <a:ext cx="6248400" cy="14319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429000"/>
            <a:ext cx="6019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257175" y="6248400"/>
            <a:ext cx="162242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108200" y="6248400"/>
            <a:ext cx="299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4864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D16FE0EF-92DC-4BBE-8E35-FD453F5947E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7755472"/>
      </p:ext>
    </p:extLst>
  </p:cSld>
  <p:clrMapOvr>
    <a:masterClrMapping/>
  </p:clrMapOvr>
  <p:transition spd="med"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0873C6-87FB-4EB9-980E-D9FA107896D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02184"/>
      </p:ext>
    </p:extLst>
  </p:cSld>
  <p:clrMapOvr>
    <a:masterClrMapping/>
  </p:clrMapOvr>
  <p:transition spd="med"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F4A38F-F06E-4139-8402-71220F24E32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91793"/>
      </p:ext>
    </p:extLst>
  </p:cSld>
  <p:clrMapOvr>
    <a:masterClrMapping/>
  </p:clrMapOvr>
  <p:transition spd="med"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767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97126F-4737-4426-8C83-5425F666069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8532842"/>
      </p:ext>
    </p:extLst>
  </p:cSld>
  <p:clrMapOvr>
    <a:masterClrMapping/>
  </p:clrMapOvr>
  <p:transition spd="med"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886AF0-4D18-4697-9791-904D97B01F1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6032052"/>
      </p:ext>
    </p:extLst>
  </p:cSld>
  <p:clrMapOvr>
    <a:masterClrMapping/>
  </p:clrMapOvr>
  <p:transition spd="med"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750041-E47F-46C5-A1A7-6541BC65090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051433"/>
      </p:ext>
    </p:extLst>
  </p:cSld>
  <p:clrMapOvr>
    <a:masterClrMapping/>
  </p:clrMapOvr>
  <p:transition spd="med"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FFCA95-96F7-4A32-8F28-86D4547462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190183"/>
      </p:ext>
    </p:extLst>
  </p:cSld>
  <p:clrMapOvr>
    <a:masterClrMapping/>
  </p:clrMapOvr>
  <p:transition spd="med"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E87C8B-FF1B-483B-B166-D28B9D65119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9129415"/>
      </p:ext>
    </p:extLst>
  </p:cSld>
  <p:clrMapOvr>
    <a:masterClrMapping/>
  </p:clrMapOvr>
  <p:transition spd="med"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6F2266-81E5-4ED8-9A20-30F9A0D6FDD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351137"/>
      </p:ext>
    </p:extLst>
  </p:cSld>
  <p:clrMapOvr>
    <a:masterClrMapping/>
  </p:clrMapOvr>
  <p:transition spd="med"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C1FDFA-47AA-4E95-9C00-D2DA40ECB51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532494"/>
      </p:ext>
    </p:extLst>
  </p:cSld>
  <p:clrMapOvr>
    <a:masterClrMapping/>
  </p:clrMapOvr>
  <p:transition spd="med"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6450" y="320675"/>
            <a:ext cx="1885950" cy="5775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320675"/>
            <a:ext cx="5505450" cy="5775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0061A9-34B0-4131-8EA7-FA5520EA075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195541"/>
      </p:ext>
    </p:extLst>
  </p:cSld>
  <p:clrMapOvr>
    <a:masterClrMapping/>
  </p:clrMapOvr>
  <p:transition spd="med"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320675"/>
            <a:ext cx="7467600" cy="1431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28600" y="1981200"/>
            <a:ext cx="36957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76700" y="1981200"/>
            <a:ext cx="36957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CE525-BF87-4499-9F04-4308886E4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877287"/>
      </p:ext>
    </p:extLst>
  </p:cSld>
  <p:clrMapOvr>
    <a:masterClrMapping/>
  </p:clrMapOvr>
  <p:transition spd="med"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28600" y="320675"/>
            <a:ext cx="7543800" cy="57753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628B4-70C9-4C16-93C4-AF8AD98DC6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2442398"/>
      </p:ext>
    </p:extLst>
  </p:cSld>
  <p:clrMapOvr>
    <a:masterClrMapping/>
  </p:clrMapOvr>
  <p:transition spd="med"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amboo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76"/>
          <a:stretch>
            <a:fillRect/>
          </a:stretch>
        </p:blipFill>
        <p:spPr bwMode="ltGray">
          <a:xfrm>
            <a:off x="7353300" y="0"/>
            <a:ext cx="1790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20675"/>
            <a:ext cx="74676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81200"/>
            <a:ext cx="7543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84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95084CB2-1D01-404E-B797-E0DE09CAE69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</p:sldLayoutIdLst>
  <p:transition spd="med">
    <p:pull dir="r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highered.mcgraw-hill.com/sites/dl/free/0072437316/120060/ravenanimation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23850" y="2133600"/>
            <a:ext cx="74168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4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DNA</a:t>
            </a:r>
            <a:r>
              <a:rPr lang="zh-CN" alt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的复制和修复</a:t>
            </a:r>
          </a:p>
          <a:p>
            <a:pPr algn="ctr">
              <a:defRPr/>
            </a:pPr>
            <a:endParaRPr lang="en-US" altLang="zh-CN" sz="4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defRPr/>
            </a:pPr>
            <a:r>
              <a:rPr lang="en-US" altLang="zh-CN" sz="4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DNA Replication and Repair</a:t>
            </a: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04800" y="893763"/>
            <a:ext cx="7507288" cy="519112"/>
          </a:xfrm>
          <a:prstGeom prst="rect">
            <a:avLst/>
          </a:prstGeom>
          <a:solidFill>
            <a:schemeClr val="bg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* </a:t>
            </a:r>
            <a:r>
              <a:rPr lang="en-US" altLang="zh-CN" sz="2800">
                <a:latin typeface="宋体" panose="02010600030101010101" pitchFamily="2" charset="-122"/>
              </a:rPr>
              <a:t>Watson</a:t>
            </a:r>
            <a:r>
              <a:rPr lang="zh-CN" altLang="en-US" sz="2800">
                <a:latin typeface="宋体" panose="02010600030101010101" pitchFamily="2" charset="-122"/>
              </a:rPr>
              <a:t>和</a:t>
            </a:r>
            <a:r>
              <a:rPr lang="en-US" altLang="zh-CN" sz="2800">
                <a:latin typeface="宋体" panose="02010600030101010101" pitchFamily="2" charset="-122"/>
              </a:rPr>
              <a:t>Crick</a:t>
            </a:r>
            <a:r>
              <a:rPr lang="zh-CN" altLang="en-US" sz="2800">
                <a:latin typeface="宋体" panose="02010600030101010101" pitchFamily="2" charset="-122"/>
              </a:rPr>
              <a:t>为现代分子生物学奠定了基础.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00038" y="2362200"/>
            <a:ext cx="765651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1953年，</a:t>
            </a:r>
            <a:r>
              <a:rPr lang="en-US" altLang="zh-CN" sz="2800" b="1">
                <a:latin typeface="宋体" panose="02010600030101010101" pitchFamily="2" charset="-122"/>
              </a:rPr>
              <a:t>Watson</a:t>
            </a:r>
            <a:r>
              <a:rPr lang="zh-CN" altLang="en-US" sz="2800" b="1">
                <a:latin typeface="宋体" panose="02010600030101010101" pitchFamily="2" charset="-122"/>
              </a:rPr>
              <a:t>和</a:t>
            </a:r>
            <a:r>
              <a:rPr lang="en-US" altLang="zh-CN" sz="2800" b="1">
                <a:latin typeface="宋体" panose="02010600030101010101" pitchFamily="2" charset="-122"/>
              </a:rPr>
              <a:t>Crick</a:t>
            </a:r>
            <a:r>
              <a:rPr lang="zh-CN" altLang="en-US" sz="2800" b="1">
                <a:latin typeface="宋体" panose="02010600030101010101" pitchFamily="2" charset="-122"/>
              </a:rPr>
              <a:t>建立了</a:t>
            </a:r>
            <a:r>
              <a:rPr lang="en-US" altLang="zh-CN" sz="2800" b="1">
                <a:latin typeface="宋体" panose="02010600030101010101" pitchFamily="2" charset="-122"/>
              </a:rPr>
              <a:t>DNA</a:t>
            </a:r>
            <a:r>
              <a:rPr lang="zh-CN" altLang="en-US" sz="2800" b="1">
                <a:latin typeface="宋体" panose="02010600030101010101" pitchFamily="2" charset="-122"/>
              </a:rPr>
              <a:t>双螺旋结构模型，被誉为</a:t>
            </a:r>
            <a:r>
              <a:rPr lang="zh-CN" altLang="en-US" sz="2800" b="1">
                <a:solidFill>
                  <a:schemeClr val="hlink"/>
                </a:solidFill>
                <a:latin typeface="宋体" panose="02010600030101010101" pitchFamily="2" charset="-122"/>
              </a:rPr>
              <a:t>20世纪自然科学发展中最伟大的成就之一</a:t>
            </a:r>
            <a:r>
              <a:rPr lang="zh-CN" altLang="en-US" sz="2800" b="1"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334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r="3194"/>
          <a:stretch>
            <a:fillRect/>
          </a:stretch>
        </p:blipFill>
        <p:spPr bwMode="auto">
          <a:xfrm>
            <a:off x="0" y="68263"/>
            <a:ext cx="9144000" cy="656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1"/>
          <p:cNvGraphicFramePr>
            <a:graphicFrameLocks noGrp="1"/>
          </p:cNvGraphicFramePr>
          <p:nvPr/>
        </p:nvGraphicFramePr>
        <p:xfrm>
          <a:off x="1593850" y="3983038"/>
          <a:ext cx="5545137" cy="2474912"/>
        </p:xfrm>
        <a:graphic>
          <a:graphicData uri="http://schemas.openxmlformats.org/drawingml/2006/table">
            <a:tbl>
              <a:tblPr/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Francis Harry Compton Crick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James Dewey Watson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Maurice Hugh Frederick Wilkins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 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 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 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Great Britain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USA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Great Britain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5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Institute of Molecular Biology </a:t>
                      </a:r>
                      <a:b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Cambridge, Great Britain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Harvard University </a:t>
                      </a:r>
                      <a:b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Cambridge, MA, USA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University of London </a:t>
                      </a:r>
                      <a:b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London, Great Britain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1916 - 2004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1928 - 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1916 - 2004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58" name="Picture 22" descr="thi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4870450"/>
            <a:ext cx="9525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9" name="Picture 23" descr="thi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4943475"/>
            <a:ext cx="9525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0" name="Picture 24" descr="thi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4943475"/>
            <a:ext cx="95250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1" name="Picture 25" descr="wats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538" y="2327275"/>
            <a:ext cx="11557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2" name="Picture 26" descr="cr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301875"/>
            <a:ext cx="1104900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3" name="Picture 27" descr="wilki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8" y="2327275"/>
            <a:ext cx="1157287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4" name="Rectangle 28"/>
          <p:cNvSpPr>
            <a:spLocks noChangeArrowheads="1"/>
          </p:cNvSpPr>
          <p:nvPr/>
        </p:nvSpPr>
        <p:spPr bwMode="auto">
          <a:xfrm>
            <a:off x="1738313" y="1149350"/>
            <a:ext cx="59769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/>
              <a:t>"for their discoveries concerning the molecular structure of nucleic acids and its significance for information transfer in living material" </a:t>
            </a:r>
          </a:p>
        </p:txBody>
      </p:sp>
      <p:sp>
        <p:nvSpPr>
          <p:cNvPr id="10265" name="Rectangle 29"/>
          <p:cNvSpPr>
            <a:spLocks noChangeArrowheads="1"/>
          </p:cNvSpPr>
          <p:nvPr/>
        </p:nvSpPr>
        <p:spPr bwMode="auto">
          <a:xfrm>
            <a:off x="1595438" y="285750"/>
            <a:ext cx="5400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The Nobel Prize in Physiology or Medicine 1962</a:t>
            </a:r>
            <a:endParaRPr lang="en-US" altLang="zh-CN"/>
          </a:p>
        </p:txBody>
      </p:sp>
      <p:pic>
        <p:nvPicPr>
          <p:cNvPr id="10266" name="Picture 30" descr="medic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573088"/>
            <a:ext cx="115252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Anatomy of Photo 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836613"/>
            <a:ext cx="33845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5" descr="Franklin cover sh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836613"/>
            <a:ext cx="2771775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6" descr="DN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8" y="3789363"/>
            <a:ext cx="42481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4802188" y="404813"/>
            <a:ext cx="210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Rosalind Franklin</a:t>
            </a:r>
          </a:p>
        </p:txBody>
      </p: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755650" y="1196975"/>
            <a:ext cx="6911975" cy="348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一、遗传信息的转移</a:t>
            </a:r>
            <a:r>
              <a:rPr lang="en-US" altLang="zh-CN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/>
              </a:rPr>
              <a:t>——</a:t>
            </a: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中心法则</a:t>
            </a:r>
          </a:p>
          <a:p>
            <a:pPr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二、复制的方式</a:t>
            </a:r>
            <a:r>
              <a:rPr lang="en-US" altLang="zh-CN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/>
              </a:rPr>
              <a:t>——</a:t>
            </a: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半保留复制</a:t>
            </a:r>
          </a:p>
          <a:p>
            <a:pPr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三、复制的反应基础</a:t>
            </a:r>
          </a:p>
          <a:p>
            <a:pPr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四、复制的过程</a:t>
            </a:r>
          </a:p>
          <a:p>
            <a:pPr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五、</a:t>
            </a:r>
            <a:r>
              <a:rPr lang="en-US" altLang="zh-CN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DNA</a:t>
            </a:r>
            <a:r>
              <a:rPr lang="zh-CN" altLang="en-US" sz="33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的损伤修复</a:t>
            </a:r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647700" y="620713"/>
            <a:ext cx="63007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一、遗传信息的转移</a:t>
            </a:r>
            <a:r>
              <a:rPr lang="en-US" altLang="zh-CN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——</a:t>
            </a: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中心法则</a:t>
            </a:r>
          </a:p>
        </p:txBody>
      </p:sp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755650" y="1258888"/>
            <a:ext cx="72009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8000"/>
                </a:solidFill>
              </a:rPr>
              <a:t>遗传信息：</a:t>
            </a:r>
            <a:r>
              <a:rPr lang="zh-CN" altLang="en-US" b="1"/>
              <a:t>包含在</a:t>
            </a:r>
            <a:r>
              <a:rPr lang="en-US" altLang="zh-CN" b="1"/>
              <a:t>DNA</a:t>
            </a:r>
            <a:r>
              <a:rPr lang="zh-CN" altLang="en-US" b="1"/>
              <a:t>或</a:t>
            </a:r>
            <a:r>
              <a:rPr lang="en-US" altLang="zh-CN" b="1"/>
              <a:t>RNA</a:t>
            </a:r>
            <a:r>
              <a:rPr lang="zh-CN" altLang="en-US" b="1"/>
              <a:t>分子中的具有功能意义的核苷酸顺序。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8000"/>
                </a:solidFill>
              </a:rPr>
              <a:t>复制</a:t>
            </a:r>
            <a:r>
              <a:rPr lang="zh-CN" altLang="en-US" sz="2800" b="1"/>
              <a:t>（</a:t>
            </a:r>
            <a:r>
              <a:rPr lang="en-US" altLang="zh-CN" sz="2800" b="1"/>
              <a:t>DNA</a:t>
            </a:r>
            <a:r>
              <a:rPr lang="zh-CN" altLang="en-US" sz="2800" b="1"/>
              <a:t>的生物合成）：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遗传信息从亲代</a:t>
            </a:r>
            <a:r>
              <a:rPr lang="en-US" altLang="zh-CN" b="1"/>
              <a:t>DNA</a:t>
            </a:r>
            <a:r>
              <a:rPr lang="zh-CN" altLang="en-US" b="1"/>
              <a:t>传递到子代</a:t>
            </a:r>
            <a:r>
              <a:rPr lang="en-US" altLang="zh-CN" b="1"/>
              <a:t>DNA</a:t>
            </a:r>
            <a:r>
              <a:rPr lang="zh-CN" altLang="en-US" b="1"/>
              <a:t>分子的过程。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8000"/>
                </a:solidFill>
              </a:rPr>
              <a:t>转录</a:t>
            </a:r>
            <a:r>
              <a:rPr lang="zh-CN" altLang="en-US" sz="2800" b="1"/>
              <a:t>（</a:t>
            </a:r>
            <a:r>
              <a:rPr lang="en-US" altLang="zh-CN" sz="2800" b="1"/>
              <a:t>RNA</a:t>
            </a:r>
            <a:r>
              <a:rPr lang="zh-CN" altLang="en-US" sz="2800" b="1"/>
              <a:t>的生物合成）：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以</a:t>
            </a:r>
            <a:r>
              <a:rPr lang="en-US" altLang="zh-CN" b="1"/>
              <a:t>DNA</a:t>
            </a:r>
            <a:r>
              <a:rPr lang="zh-CN" altLang="en-US" b="1"/>
              <a:t>为模板合成与某段碱基序列互补的</a:t>
            </a:r>
            <a:r>
              <a:rPr lang="en-US" altLang="zh-CN" b="1"/>
              <a:t>RNA</a:t>
            </a:r>
            <a:r>
              <a:rPr lang="zh-CN" altLang="en-US" b="1"/>
              <a:t>分子的过程。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8000"/>
                </a:solidFill>
              </a:rPr>
              <a:t>翻译</a:t>
            </a:r>
            <a:r>
              <a:rPr lang="zh-CN" altLang="en-US" sz="2800" b="1"/>
              <a:t>（蛋白质的生物合成）：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以</a:t>
            </a:r>
            <a:r>
              <a:rPr lang="en-US" altLang="zh-CN" b="1"/>
              <a:t>mRNA</a:t>
            </a:r>
            <a:r>
              <a:rPr lang="zh-CN" altLang="en-US" b="1"/>
              <a:t>为模板，将其中的碱基顺序（密码）转变为蛋白质中氨基酸排列顺序的过程。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755650" y="981075"/>
            <a:ext cx="7345363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8000"/>
                </a:solidFill>
              </a:rPr>
              <a:t>中心法则：</a:t>
            </a:r>
            <a:r>
              <a:rPr lang="zh-CN" altLang="en-US" sz="2800" b="1"/>
              <a:t>遗传信息在细胞内的生物大分子间转移的基本法则（包括核酸分子间的转移、核酸和蛋白质分子间的转移）。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8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800" b="1"/>
              <a:t>1957</a:t>
            </a:r>
            <a:r>
              <a:rPr lang="zh-CN" altLang="en-US" sz="2800" b="1"/>
              <a:t>年提出的中心法则：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DNA -&gt; RNA -&gt; </a:t>
            </a:r>
            <a:r>
              <a:rPr lang="zh-CN" altLang="en-US" sz="2800" b="1"/>
              <a:t>蛋白质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800" b="1"/>
              <a:t>1970</a:t>
            </a:r>
            <a:r>
              <a:rPr lang="zh-CN" altLang="en-US" sz="2800" b="1"/>
              <a:t>年发现反向转录（逆转录），对原中心法则进行补充</a:t>
            </a:r>
            <a:r>
              <a:rPr lang="zh-CN" altLang="en-US" b="1"/>
              <a:t>（</a:t>
            </a:r>
            <a:r>
              <a:rPr lang="en-US" altLang="zh-CN" b="1"/>
              <a:t>RNA</a:t>
            </a:r>
            <a:r>
              <a:rPr lang="zh-CN" altLang="en-US" b="1"/>
              <a:t>致癌病毒）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/>
              <a:t>还存在</a:t>
            </a:r>
            <a:r>
              <a:rPr lang="en-US" altLang="zh-CN" sz="2800" b="1"/>
              <a:t>RNA -&gt; RNA</a:t>
            </a:r>
            <a:r>
              <a:rPr lang="zh-CN" altLang="en-US" sz="2800" b="1"/>
              <a:t>复制</a:t>
            </a:r>
            <a:r>
              <a:rPr lang="zh-CN" altLang="en-US" b="1"/>
              <a:t>（只在</a:t>
            </a:r>
            <a:r>
              <a:rPr lang="en-US" altLang="zh-CN" b="1"/>
              <a:t>RNA</a:t>
            </a:r>
            <a:r>
              <a:rPr lang="zh-CN" altLang="en-US" b="1"/>
              <a:t>病毒）。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88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5" t="5795" r="4225" b="4416"/>
          <a:stretch>
            <a:fillRect/>
          </a:stretch>
        </p:blipFill>
        <p:spPr bwMode="auto">
          <a:xfrm>
            <a:off x="2124075" y="44599"/>
            <a:ext cx="5951538" cy="640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23850" y="2565400"/>
            <a:ext cx="1733550" cy="14636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000" b="1">
                <a:solidFill>
                  <a:schemeClr val="bg1"/>
                </a:solidFill>
              </a:rPr>
              <a:t>Central dogma</a:t>
            </a:r>
          </a:p>
          <a:p>
            <a:pPr eaLnBrk="1" hangingPunct="1"/>
            <a:r>
              <a:rPr lang="zh-CN" altLang="en-US" sz="3000" b="1">
                <a:solidFill>
                  <a:schemeClr val="bg1"/>
                </a:solidFill>
              </a:rPr>
              <a:t>中心法则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20979F-6971-4DDF-D8DF-A675289AB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5" y="4564099"/>
            <a:ext cx="3107611" cy="2249277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647700" y="620713"/>
            <a:ext cx="5892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二、复制的方式</a:t>
            </a:r>
            <a:r>
              <a:rPr lang="en-US" altLang="zh-CN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——</a:t>
            </a: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半保留复制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755650" y="1258888"/>
            <a:ext cx="720090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8000"/>
                </a:solidFill>
              </a:rPr>
              <a:t>半保留复制：</a:t>
            </a:r>
            <a:r>
              <a:rPr lang="zh-CN" altLang="en-US" b="1"/>
              <a:t>亲代</a:t>
            </a:r>
            <a:r>
              <a:rPr lang="en-US" altLang="zh-CN" b="1"/>
              <a:t>DNA</a:t>
            </a:r>
            <a:r>
              <a:rPr lang="zh-CN" altLang="en-US" b="1"/>
              <a:t>的两条链可分别作为模板，各合成一条新生</a:t>
            </a:r>
            <a:r>
              <a:rPr lang="en-US" altLang="zh-CN" b="1"/>
              <a:t>DNA</a:t>
            </a:r>
            <a:r>
              <a:rPr lang="zh-CN" altLang="en-US" b="1"/>
              <a:t>链；子代</a:t>
            </a:r>
            <a:r>
              <a:rPr lang="en-US" altLang="zh-CN" b="1"/>
              <a:t>DNA</a:t>
            </a:r>
            <a:r>
              <a:rPr lang="zh-CN" altLang="en-US" b="1"/>
              <a:t>中一条链来自亲代，另一条链是新合成的。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——</a:t>
            </a:r>
            <a:r>
              <a:rPr lang="zh-CN" altLang="en-US" b="1"/>
              <a:t>基于</a:t>
            </a:r>
            <a:r>
              <a:rPr lang="zh-CN" altLang="en-US" b="1">
                <a:solidFill>
                  <a:srgbClr val="0033CC"/>
                </a:solidFill>
              </a:rPr>
              <a:t>碱基互补</a:t>
            </a:r>
            <a:r>
              <a:rPr lang="zh-CN" altLang="en-US" b="1"/>
              <a:t>原则，两个子代</a:t>
            </a:r>
            <a:r>
              <a:rPr lang="en-US" altLang="zh-CN" b="1"/>
              <a:t>DNA</a:t>
            </a:r>
            <a:r>
              <a:rPr lang="zh-CN" altLang="en-US" b="1"/>
              <a:t>分子同亲代</a:t>
            </a:r>
            <a:r>
              <a:rPr lang="en-US" altLang="zh-CN" b="1"/>
              <a:t>DNA</a:t>
            </a:r>
            <a:r>
              <a:rPr lang="zh-CN" altLang="en-US" b="1"/>
              <a:t>分子的碱基顺序完全一样。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8000"/>
                </a:solidFill>
              </a:rPr>
              <a:t>半保留复制的意义</a:t>
            </a:r>
            <a:r>
              <a:rPr lang="zh-CN" altLang="en-US" sz="2800" b="1"/>
              <a:t>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代与代</a:t>
            </a:r>
            <a:r>
              <a:rPr lang="en-US" altLang="zh-CN" b="1"/>
              <a:t>DNA</a:t>
            </a:r>
            <a:r>
              <a:rPr lang="zh-CN" altLang="en-US" b="1"/>
              <a:t>碱基序列一致，子代保留了亲代</a:t>
            </a:r>
            <a:r>
              <a:rPr lang="en-US" altLang="zh-CN" b="1"/>
              <a:t>DNA</a:t>
            </a:r>
            <a:r>
              <a:rPr lang="zh-CN" altLang="en-US" b="1"/>
              <a:t>的全部遗传信息。</a:t>
            </a:r>
            <a:endParaRPr lang="en-US" altLang="zh-CN" b="1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2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lum bright="-18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1" t="24667" r="8000" b="15334"/>
          <a:stretch>
            <a:fillRect/>
          </a:stretch>
        </p:blipFill>
        <p:spPr bwMode="auto">
          <a:xfrm>
            <a:off x="0" y="0"/>
            <a:ext cx="53228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 descr="double str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r="4155"/>
          <a:stretch>
            <a:fillRect/>
          </a:stretch>
        </p:blipFill>
        <p:spPr bwMode="auto">
          <a:xfrm>
            <a:off x="5291138" y="0"/>
            <a:ext cx="38528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647700" y="617538"/>
            <a:ext cx="38560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三、复制的反应基础</a:t>
            </a: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539750" y="1258888"/>
            <a:ext cx="72009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3.1 </a:t>
            </a:r>
            <a:r>
              <a:rPr lang="zh-CN" altLang="en-US" sz="2800" b="1">
                <a:solidFill>
                  <a:srgbClr val="008000"/>
                </a:solidFill>
              </a:rPr>
              <a:t>复制的化学反应：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	(dNMP)</a:t>
            </a:r>
            <a:r>
              <a:rPr lang="en-US" altLang="zh-CN" sz="1600" b="1"/>
              <a:t>n</a:t>
            </a:r>
            <a:r>
              <a:rPr lang="en-US" altLang="zh-CN" b="1"/>
              <a:t> + dNTP --&gt; (dNMP)</a:t>
            </a:r>
            <a:r>
              <a:rPr lang="en-US" altLang="zh-CN" sz="1600" b="1"/>
              <a:t>n+1</a:t>
            </a:r>
            <a:r>
              <a:rPr lang="en-US" altLang="zh-CN" b="1"/>
              <a:t> + PPi</a:t>
            </a:r>
            <a:endParaRPr lang="zh-CN" altLang="en-US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solidFill>
                  <a:schemeClr val="hlink"/>
                </a:solidFill>
              </a:rPr>
              <a:t>模板：</a:t>
            </a:r>
            <a:r>
              <a:rPr lang="zh-CN" altLang="en-US" b="1"/>
              <a:t>亲代</a:t>
            </a:r>
            <a:r>
              <a:rPr lang="en-US" altLang="zh-CN" b="1"/>
              <a:t>DNA</a:t>
            </a:r>
            <a:r>
              <a:rPr lang="zh-CN" altLang="en-US" b="1"/>
              <a:t>链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底物：</a:t>
            </a:r>
            <a:r>
              <a:rPr lang="en-US" altLang="zh-CN" b="1">
                <a:solidFill>
                  <a:srgbClr val="008000"/>
                </a:solidFill>
              </a:rPr>
              <a:t>dNTP</a:t>
            </a:r>
            <a:r>
              <a:rPr lang="zh-CN" altLang="en-US" b="1"/>
              <a:t>（</a:t>
            </a:r>
            <a:r>
              <a:rPr lang="en-US" altLang="zh-CN" b="1"/>
              <a:t>A</a:t>
            </a:r>
            <a:r>
              <a:rPr lang="zh-CN" altLang="en-US" b="1"/>
              <a:t>、</a:t>
            </a:r>
            <a:r>
              <a:rPr lang="en-US" altLang="zh-CN" b="1"/>
              <a:t>T</a:t>
            </a:r>
            <a:r>
              <a:rPr lang="zh-CN" altLang="en-US" b="1"/>
              <a:t>、</a:t>
            </a:r>
            <a:r>
              <a:rPr lang="en-US" altLang="zh-CN" b="1"/>
              <a:t>C</a:t>
            </a:r>
            <a:r>
              <a:rPr lang="zh-CN" altLang="en-US" b="1"/>
              <a:t>、</a:t>
            </a:r>
            <a:r>
              <a:rPr lang="en-US" altLang="zh-CN" b="1"/>
              <a:t>G</a:t>
            </a:r>
            <a:r>
              <a:rPr lang="zh-CN" altLang="en-US" b="1"/>
              <a:t>任一种）而非</a:t>
            </a:r>
            <a:r>
              <a:rPr lang="en-US" altLang="zh-CN" b="1"/>
              <a:t>dNMP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引物：</a:t>
            </a:r>
            <a:r>
              <a:rPr lang="zh-CN" altLang="en-US" b="1"/>
              <a:t>底物的</a:t>
            </a:r>
            <a:r>
              <a:rPr lang="en-US" altLang="zh-CN" b="1"/>
              <a:t>5</a:t>
            </a:r>
            <a:r>
              <a:rPr lang="en-US" altLang="zh-CN" b="1">
                <a:latin typeface="宋体" panose="02010600030101010101" pitchFamily="2" charset="-122"/>
              </a:rPr>
              <a:t>’</a:t>
            </a:r>
            <a:r>
              <a:rPr lang="en-US" altLang="zh-CN" b="1"/>
              <a:t>-P</a:t>
            </a:r>
            <a:r>
              <a:rPr lang="zh-CN" altLang="en-US" b="1"/>
              <a:t>加合到</a:t>
            </a:r>
            <a:r>
              <a:rPr lang="zh-CN" altLang="en-US" b="1">
                <a:solidFill>
                  <a:srgbClr val="008000"/>
                </a:solidFill>
              </a:rPr>
              <a:t>原有链</a:t>
            </a:r>
            <a:r>
              <a:rPr lang="en-US" altLang="zh-CN" b="1"/>
              <a:t>3</a:t>
            </a:r>
            <a:r>
              <a:rPr lang="en-US" altLang="zh-CN" b="1">
                <a:latin typeface="宋体" panose="02010600030101010101" pitchFamily="2" charset="-122"/>
              </a:rPr>
              <a:t>’</a:t>
            </a:r>
            <a:r>
              <a:rPr lang="en-US" altLang="zh-CN" b="1"/>
              <a:t>-OH</a:t>
            </a:r>
            <a:r>
              <a:rPr lang="zh-CN" altLang="en-US" b="1"/>
              <a:t>上形成磷酸二酯键新链只能从</a:t>
            </a:r>
            <a:r>
              <a:rPr lang="en-US" altLang="zh-CN" b="1"/>
              <a:t>5</a:t>
            </a:r>
            <a:r>
              <a:rPr lang="en-US" altLang="zh-CN" b="1">
                <a:latin typeface="宋体" panose="02010600030101010101" pitchFamily="2" charset="-122"/>
              </a:rPr>
              <a:t>’</a:t>
            </a:r>
            <a:r>
              <a:rPr lang="zh-CN" altLang="en-US" b="1"/>
              <a:t>端到</a:t>
            </a:r>
            <a:r>
              <a:rPr lang="en-US" altLang="zh-CN" b="1"/>
              <a:t>3</a:t>
            </a:r>
            <a:r>
              <a:rPr lang="en-US" altLang="zh-CN" b="1">
                <a:latin typeface="宋体" panose="02010600030101010101" pitchFamily="2" charset="-122"/>
              </a:rPr>
              <a:t>’</a:t>
            </a:r>
            <a:r>
              <a:rPr lang="zh-CN" altLang="en-US" b="1"/>
              <a:t>端延长</a:t>
            </a:r>
            <a:endParaRPr lang="zh-CN" altLang="en-US" b="1">
              <a:solidFill>
                <a:schemeClr val="hlink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</a:rPr>
              <a:t>DNA</a:t>
            </a:r>
            <a:r>
              <a:rPr lang="zh-CN" altLang="en-US" b="1">
                <a:solidFill>
                  <a:schemeClr val="hlink"/>
                </a:solidFill>
              </a:rPr>
              <a:t>聚合酶：</a:t>
            </a:r>
            <a:r>
              <a:rPr lang="zh-CN" altLang="en-US" b="1"/>
              <a:t>需要</a:t>
            </a:r>
            <a:r>
              <a:rPr lang="en-US" altLang="zh-CN" b="1">
                <a:solidFill>
                  <a:srgbClr val="008000"/>
                </a:solidFill>
              </a:rPr>
              <a:t>Mg</a:t>
            </a:r>
            <a:r>
              <a:rPr lang="en-US" altLang="zh-CN" b="1" baseline="30000">
                <a:solidFill>
                  <a:srgbClr val="008000"/>
                </a:solidFill>
              </a:rPr>
              <a:t>2+</a:t>
            </a:r>
            <a:r>
              <a:rPr lang="zh-CN" altLang="en-US" b="1"/>
              <a:t>存在才能发挥活性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0" y="1892300"/>
          <a:ext cx="7956550" cy="412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132408" imgH="2663732" progId="Photoshop.Image.6">
                  <p:embed/>
                </p:oleObj>
              </mc:Choice>
              <mc:Fallback>
                <p:oleObj name="Image" r:id="rId2" imgW="5132408" imgH="2663732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92300"/>
                        <a:ext cx="7956550" cy="412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50975" y="765175"/>
            <a:ext cx="4992688" cy="627063"/>
          </a:xfrm>
          <a:prstGeom prst="rect">
            <a:avLst/>
          </a:prstGeom>
          <a:solidFill>
            <a:schemeClr val="accent1"/>
          </a:solidFill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en-US" altLang="zh-CN" sz="3200" b="1" kern="0">
                <a:solidFill>
                  <a:schemeClr val="bg1"/>
                </a:solidFill>
                <a:latin typeface="宋体" pitchFamily="2" charset="-122"/>
                <a:ea typeface="+mj-ea"/>
                <a:cs typeface="+mj-cs"/>
              </a:rPr>
              <a:t>DNA</a:t>
            </a:r>
            <a:r>
              <a:rPr lang="zh-CN" altLang="en-US" sz="3200" b="1" kern="0">
                <a:solidFill>
                  <a:schemeClr val="bg1"/>
                </a:solidFill>
                <a:latin typeface="宋体" pitchFamily="2" charset="-122"/>
                <a:ea typeface="+mj-ea"/>
                <a:cs typeface="+mj-cs"/>
              </a:rPr>
              <a:t>聚合酶作用机理</a:t>
            </a:r>
            <a:endParaRPr lang="en-US" altLang="zh-CN" sz="3200" b="1" kern="0" dirty="0">
              <a:solidFill>
                <a:schemeClr val="bg1"/>
              </a:solidFill>
              <a:latin typeface="宋体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 descr="DNAre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150"/>
            <a:ext cx="7885113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539750" y="1311275"/>
            <a:ext cx="7200900" cy="518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DNA</a:t>
            </a:r>
            <a:r>
              <a:rPr lang="zh-CN" altLang="en-US" sz="2800" b="1">
                <a:solidFill>
                  <a:srgbClr val="008000"/>
                </a:solidFill>
              </a:rPr>
              <a:t>聚合酶（</a:t>
            </a:r>
            <a:r>
              <a:rPr lang="en-US" altLang="zh-CN" sz="2800" b="1">
                <a:solidFill>
                  <a:srgbClr val="008000"/>
                </a:solidFill>
              </a:rPr>
              <a:t>DNA pol</a:t>
            </a:r>
            <a:r>
              <a:rPr lang="zh-CN" altLang="en-US" sz="2800" b="1">
                <a:solidFill>
                  <a:srgbClr val="008000"/>
                </a:solidFill>
              </a:rPr>
              <a:t>）</a:t>
            </a:r>
            <a:endParaRPr lang="en-US" altLang="zh-CN" sz="2800" b="1">
              <a:solidFill>
                <a:srgbClr val="008000"/>
              </a:solidFill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主要作用：聚合</a:t>
            </a:r>
            <a:r>
              <a:rPr lang="en-US" altLang="zh-CN" b="1"/>
              <a:t>(</a:t>
            </a:r>
            <a:r>
              <a:rPr lang="zh-CN" altLang="en-US" b="1"/>
              <a:t>以</a:t>
            </a:r>
            <a:r>
              <a:rPr lang="en-US" altLang="zh-CN" b="1"/>
              <a:t>DNA</a:t>
            </a:r>
            <a:r>
              <a:rPr lang="zh-CN" altLang="en-US" b="1"/>
              <a:t>为模板催化</a:t>
            </a:r>
            <a:r>
              <a:rPr lang="en-US" altLang="zh-CN" b="1"/>
              <a:t>dNTP</a:t>
            </a:r>
            <a:r>
              <a:rPr lang="zh-CN" altLang="en-US" b="1"/>
              <a:t>合成新链</a:t>
            </a:r>
            <a:r>
              <a:rPr lang="en-US" altLang="zh-CN" b="1"/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            外切</a:t>
            </a:r>
            <a:r>
              <a:rPr lang="en-US" altLang="zh-CN" b="1"/>
              <a:t>(</a:t>
            </a:r>
            <a:r>
              <a:rPr lang="zh-CN" altLang="en-US" b="1"/>
              <a:t>起校读和损伤修复的作用</a:t>
            </a:r>
            <a:r>
              <a:rPr lang="en-US" altLang="zh-CN" b="1"/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种类：原核生物含三种，真核生物含五种。</a:t>
            </a:r>
            <a:endParaRPr lang="en-US" altLang="zh-CN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（表</a:t>
            </a:r>
            <a:r>
              <a:rPr lang="en-US" altLang="zh-CN" sz="2800" b="1"/>
              <a:t>34-2</a:t>
            </a:r>
            <a:r>
              <a:rPr lang="zh-CN" altLang="en-US" sz="2800" b="1"/>
              <a:t>，表</a:t>
            </a:r>
            <a:r>
              <a:rPr lang="en-US" altLang="zh-CN" sz="2800" b="1"/>
              <a:t>34-5</a:t>
            </a:r>
            <a:r>
              <a:rPr lang="zh-CN" altLang="en-US" sz="2800" b="1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作用特点：</a:t>
            </a:r>
          </a:p>
          <a:p>
            <a:pPr eaLnBrk="1" hangingPunct="1"/>
            <a:r>
              <a:rPr lang="zh-CN" altLang="en-US"/>
              <a:t>①底物：</a:t>
            </a:r>
            <a:r>
              <a:rPr lang="en-US" altLang="zh-CN"/>
              <a:t>dATP、dCTP、dGTP、dTTP</a:t>
            </a:r>
          </a:p>
          <a:p>
            <a:pPr eaLnBrk="1" hangingPunct="1"/>
            <a:r>
              <a:rPr lang="en-US" altLang="zh-CN"/>
              <a:t>②</a:t>
            </a:r>
            <a:r>
              <a:rPr lang="zh-CN" altLang="en-US"/>
              <a:t>模板指导的反应</a:t>
            </a:r>
          </a:p>
          <a:p>
            <a:pPr eaLnBrk="1" hangingPunct="1"/>
            <a:r>
              <a:rPr lang="zh-CN" altLang="en-US"/>
              <a:t>③引物 </a:t>
            </a:r>
          </a:p>
          <a:p>
            <a:pPr eaLnBrk="1" hangingPunct="1"/>
            <a:r>
              <a:rPr lang="zh-CN" altLang="en-US"/>
              <a:t>④</a:t>
            </a:r>
            <a:r>
              <a:rPr lang="en-US" altLang="zh-CN"/>
              <a:t>DNA</a:t>
            </a:r>
            <a:r>
              <a:rPr lang="zh-CN" altLang="en-US"/>
              <a:t>链的生长方向：5</a:t>
            </a:r>
            <a:r>
              <a:rPr lang="en-US" altLang="zh-CN"/>
              <a:t>’-3’</a:t>
            </a:r>
          </a:p>
          <a:p>
            <a:pPr eaLnBrk="1" hangingPunct="1"/>
            <a:r>
              <a:rPr lang="zh-CN" altLang="en-US"/>
              <a:t>⑤产物</a:t>
            </a:r>
            <a:r>
              <a:rPr lang="en-US" altLang="zh-CN"/>
              <a:t>DNA</a:t>
            </a:r>
            <a:r>
              <a:rPr lang="zh-CN" altLang="en-US"/>
              <a:t>性质与模板相同</a:t>
            </a:r>
            <a:endParaRPr lang="zh-CN" altLang="en-US" b="1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539750" y="741363"/>
            <a:ext cx="72009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3.2 </a:t>
            </a:r>
            <a:r>
              <a:rPr lang="zh-CN" altLang="en-US" sz="2800" b="1">
                <a:solidFill>
                  <a:srgbClr val="008000"/>
                </a:solidFill>
              </a:rPr>
              <a:t>复制过程中需要的酶：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03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03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03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03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8"/>
          <p:cNvSpPr txBox="1">
            <a:spLocks noChangeArrowheads="1"/>
          </p:cNvSpPr>
          <p:nvPr/>
        </p:nvSpPr>
        <p:spPr bwMode="auto">
          <a:xfrm>
            <a:off x="611188" y="908050"/>
            <a:ext cx="6408737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聚合酶</a:t>
            </a:r>
            <a:r>
              <a:rPr lang="en-US" altLang="zh-CN" b="1">
                <a:ea typeface="黑体" panose="02010609060101010101" pitchFamily="49" charset="-122"/>
              </a:rPr>
              <a:t>I</a:t>
            </a:r>
            <a:r>
              <a:rPr lang="zh-CN" altLang="en-US" b="1">
                <a:ea typeface="黑体" panose="02010609060101010101" pitchFamily="49" charset="-122"/>
              </a:rPr>
              <a:t> </a:t>
            </a:r>
            <a:r>
              <a:rPr lang="en-US" altLang="zh-CN" b="1">
                <a:ea typeface="黑体" panose="02010609060101010101" pitchFamily="49" charset="-122"/>
              </a:rPr>
              <a:t>(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 pol</a:t>
            </a:r>
            <a:r>
              <a:rPr lang="en-US" altLang="zh-CN" b="1">
                <a:ea typeface="黑体" panose="02010609060101010101" pitchFamily="49" charset="-122"/>
              </a:rPr>
              <a:t> I)</a:t>
            </a:r>
            <a:r>
              <a:rPr lang="zh-CN" altLang="en-US" b="1">
                <a:ea typeface="黑体" panose="02010609060101010101" pitchFamily="49" charset="-122"/>
              </a:rPr>
              <a:t>：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1956</a:t>
            </a:r>
            <a:r>
              <a:rPr lang="zh-CN" altLang="en-US" b="1">
                <a:ea typeface="黑体" panose="02010609060101010101" pitchFamily="49" charset="-122"/>
              </a:rPr>
              <a:t>年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Kornberg</a:t>
            </a:r>
            <a:r>
              <a:rPr lang="zh-CN" altLang="en-US" b="1">
                <a:ea typeface="黑体" panose="02010609060101010101" pitchFamily="49" charset="-122"/>
              </a:rPr>
              <a:t>等在</a:t>
            </a:r>
            <a:r>
              <a:rPr lang="en-US" altLang="zh-CN" b="1" i="1">
                <a:ea typeface="黑体" panose="02010609060101010101" pitchFamily="49" charset="-122"/>
              </a:rPr>
              <a:t>E. coli</a:t>
            </a:r>
            <a:r>
              <a:rPr lang="zh-CN" altLang="en-US" b="1">
                <a:ea typeface="黑体" panose="02010609060101010101" pitchFamily="49" charset="-122"/>
              </a:rPr>
              <a:t>中发现的第一个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聚合酶，是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复制研究中的重要里程碑， 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Kornberg</a:t>
            </a:r>
            <a:r>
              <a:rPr lang="zh-CN" altLang="en-US" b="1">
                <a:ea typeface="黑体" panose="02010609060101010101" pitchFamily="49" charset="-122"/>
              </a:rPr>
              <a:t>因此于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1959</a:t>
            </a:r>
            <a:r>
              <a:rPr lang="zh-CN" altLang="en-US" b="1">
                <a:ea typeface="黑体" panose="02010609060101010101" pitchFamily="49" charset="-122"/>
              </a:rPr>
              <a:t>年获得诺贝尔化学奖。</a:t>
            </a:r>
            <a:r>
              <a:rPr lang="zh-CN" altLang="en-US"/>
              <a:t> </a:t>
            </a:r>
          </a:p>
          <a:p>
            <a:pPr eaLnBrk="1" hangingPunct="1"/>
            <a:endParaRPr lang="zh-CN" altLang="en-US" sz="1800" b="1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b="1">
                <a:latin typeface="Arial" panose="020B0604020202020204" pitchFamily="34" charset="0"/>
              </a:rPr>
              <a:t>1</a:t>
            </a:r>
            <a:r>
              <a:rPr lang="zh-CN" altLang="en-US" sz="1800" b="1">
                <a:latin typeface="Arial" panose="020B0604020202020204" pitchFamily="34" charset="0"/>
              </a:rPr>
              <a:t>）</a:t>
            </a:r>
            <a:r>
              <a:rPr lang="en-US" altLang="zh-CN" sz="1800" b="1">
                <a:latin typeface="Arial" panose="020B0604020202020204" pitchFamily="34" charset="0"/>
              </a:rPr>
              <a:t>5′→3′</a:t>
            </a:r>
            <a:r>
              <a:rPr lang="zh-CN" altLang="en-US" sz="1800" b="1">
                <a:latin typeface="Arial" panose="020B0604020202020204" pitchFamily="34" charset="0"/>
              </a:rPr>
              <a:t>聚合作用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1800" b="1">
                <a:latin typeface="Arial" panose="020B0604020202020204" pitchFamily="34" charset="0"/>
              </a:rPr>
              <a:t>2</a:t>
            </a:r>
            <a:r>
              <a:rPr lang="zh-CN" altLang="en-US" sz="1800" b="1">
                <a:latin typeface="Arial" panose="020B0604020202020204" pitchFamily="34" charset="0"/>
              </a:rPr>
              <a:t>）</a:t>
            </a:r>
            <a:r>
              <a:rPr lang="en-US" altLang="zh-CN" sz="1800" b="1">
                <a:latin typeface="Arial" panose="020B0604020202020204" pitchFamily="34" charset="0"/>
              </a:rPr>
              <a:t>3′→5′</a:t>
            </a:r>
            <a:r>
              <a:rPr lang="zh-CN" altLang="en-US" sz="1800" b="1">
                <a:latin typeface="Arial" panose="020B0604020202020204" pitchFamily="34" charset="0"/>
              </a:rPr>
              <a:t>核酸外切酶的活性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1800" b="1">
                <a:latin typeface="Arial" panose="020B0604020202020204" pitchFamily="34" charset="0"/>
              </a:rPr>
              <a:t>3</a:t>
            </a:r>
            <a:r>
              <a:rPr lang="zh-CN" altLang="en-US" sz="1800" b="1">
                <a:latin typeface="Arial" panose="020B0604020202020204" pitchFamily="34" charset="0"/>
              </a:rPr>
              <a:t>）</a:t>
            </a:r>
            <a:r>
              <a:rPr lang="en-US" altLang="zh-CN" sz="1800" b="1">
                <a:latin typeface="Arial" panose="020B0604020202020204" pitchFamily="34" charset="0"/>
              </a:rPr>
              <a:t>5′→3′</a:t>
            </a:r>
            <a:r>
              <a:rPr lang="zh-CN" altLang="en-US" sz="1800" b="1">
                <a:latin typeface="Arial" panose="020B0604020202020204" pitchFamily="34" charset="0"/>
              </a:rPr>
              <a:t>核酸外切酶的活性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800" b="1">
                <a:latin typeface="Arial" panose="020B0604020202020204" pitchFamily="34" charset="0"/>
              </a:rPr>
              <a:t>因此它属于一种多功能酶。</a:t>
            </a:r>
          </a:p>
        </p:txBody>
      </p:sp>
      <p:graphicFrame>
        <p:nvGraphicFramePr>
          <p:cNvPr id="109577" name="Object 9"/>
          <p:cNvGraphicFramePr>
            <a:graphicFrameLocks noChangeAspect="1"/>
          </p:cNvGraphicFramePr>
          <p:nvPr/>
        </p:nvGraphicFramePr>
        <p:xfrm>
          <a:off x="4932363" y="2636838"/>
          <a:ext cx="2052637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249577" imgH="2322384" progId="Photoshop.Image.6">
                  <p:embed/>
                </p:oleObj>
              </mc:Choice>
              <mc:Fallback>
                <p:oleObj name="Image" r:id="rId2" imgW="1249577" imgH="2322384" progId="Photoshop.Image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636838"/>
                        <a:ext cx="2052637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900113" y="620713"/>
            <a:ext cx="6119812" cy="987425"/>
          </a:xfrm>
          <a:prstGeom prst="rect">
            <a:avLst/>
          </a:prstGeom>
          <a:solidFill>
            <a:schemeClr val="accent1"/>
          </a:solidFill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en-US" altLang="zh-CN" sz="32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</a:t>
            </a:r>
            <a:r>
              <a:rPr lang="en-US" altLang="zh-CN" sz="3200" b="1" kern="0">
                <a:solidFill>
                  <a:schemeClr val="bg1"/>
                </a:solidFill>
                <a:ea typeface="+mj-ea"/>
                <a:cs typeface="+mj-cs"/>
              </a:rPr>
              <a:t>’</a:t>
            </a:r>
            <a:r>
              <a:rPr lang="en-US" altLang="zh-CN" sz="32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→5</a:t>
            </a:r>
            <a:r>
              <a:rPr lang="en-US" altLang="zh-CN" sz="3200" b="1" kern="0">
                <a:solidFill>
                  <a:schemeClr val="bg1"/>
                </a:solidFill>
                <a:ea typeface="+mj-ea"/>
                <a:cs typeface="+mj-cs"/>
              </a:rPr>
              <a:t>’</a:t>
            </a:r>
            <a:r>
              <a:rPr lang="zh-CN" altLang="en-US" sz="32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核酸外切酶校对功能</a:t>
            </a:r>
            <a:endParaRPr lang="en-US" altLang="zh-CN" sz="3200" b="1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074" name="Object 8"/>
          <p:cNvGraphicFramePr>
            <a:graphicFrameLocks noChangeAspect="1"/>
          </p:cNvGraphicFramePr>
          <p:nvPr/>
        </p:nvGraphicFramePr>
        <p:xfrm>
          <a:off x="755650" y="1719263"/>
          <a:ext cx="6811963" cy="423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285472" imgH="2041991" progId="Photoshop.Image.6">
                  <p:embed/>
                </p:oleObj>
              </mc:Choice>
              <mc:Fallback>
                <p:oleObj name="Image" r:id="rId2" imgW="3285472" imgH="2041991" progId="Photoshop.Image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719263"/>
                        <a:ext cx="6811963" cy="423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 txBox="1">
            <a:spLocks noChangeArrowheads="1"/>
          </p:cNvSpPr>
          <p:nvPr/>
        </p:nvSpPr>
        <p:spPr>
          <a:xfrm>
            <a:off x="900113" y="620713"/>
            <a:ext cx="6480175" cy="987425"/>
          </a:xfrm>
          <a:prstGeom prst="rect">
            <a:avLst/>
          </a:prstGeom>
          <a:solidFill>
            <a:schemeClr val="accent1"/>
          </a:solidFill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en-US" altLang="zh-CN" sz="28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</a:t>
            </a:r>
            <a:r>
              <a:rPr lang="en-US" altLang="zh-CN" sz="2800" b="1" kern="0">
                <a:solidFill>
                  <a:schemeClr val="bg1"/>
                </a:solidFill>
                <a:ea typeface="+mj-ea"/>
                <a:cs typeface="+mj-cs"/>
              </a:rPr>
              <a:t>’</a:t>
            </a:r>
            <a:r>
              <a:rPr lang="en-US" altLang="zh-CN" sz="28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→3</a:t>
            </a:r>
            <a:r>
              <a:rPr lang="en-US" altLang="zh-CN" sz="2800" b="1" kern="0">
                <a:solidFill>
                  <a:schemeClr val="bg1"/>
                </a:solidFill>
                <a:ea typeface="+mj-ea"/>
                <a:cs typeface="+mj-cs"/>
              </a:rPr>
              <a:t>’</a:t>
            </a:r>
            <a:r>
              <a:rPr lang="zh-CN" altLang="en-US" sz="2800" b="1" ker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核酸外切酶修复和切除引物功能</a:t>
            </a:r>
            <a:endParaRPr lang="en-US" altLang="zh-CN" sz="2800" b="1" kern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/>
        </p:nvGraphicFramePr>
        <p:xfrm>
          <a:off x="900113" y="2133600"/>
          <a:ext cx="6592887" cy="339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138649" imgH="1615033" progId="Photoshop.Image.6">
                  <p:embed/>
                </p:oleObj>
              </mc:Choice>
              <mc:Fallback>
                <p:oleObj name="Image" r:id="rId2" imgW="3138649" imgH="1615033" progId="Photoshop.Image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133600"/>
                        <a:ext cx="6592887" cy="339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1188" y="908050"/>
            <a:ext cx="6769100" cy="469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聚合酶</a:t>
            </a:r>
            <a:r>
              <a:rPr lang="en-US" altLang="zh-CN" b="1">
                <a:ea typeface="黑体" panose="02010609060101010101" pitchFamily="49" charset="-122"/>
              </a:rPr>
              <a:t>II (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 pol</a:t>
            </a:r>
            <a:r>
              <a:rPr lang="en-US" altLang="zh-CN" b="1">
                <a:ea typeface="黑体" panose="02010609060101010101" pitchFamily="49" charset="-122"/>
              </a:rPr>
              <a:t> II)</a:t>
            </a:r>
            <a:r>
              <a:rPr lang="zh-CN" altLang="en-US" b="1">
                <a:ea typeface="黑体" panose="02010609060101010101" pitchFamily="49" charset="-122"/>
              </a:rPr>
              <a:t>：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1970</a:t>
            </a:r>
            <a:r>
              <a:rPr lang="zh-CN" altLang="en-US" b="1">
                <a:ea typeface="黑体" panose="02010609060101010101" pitchFamily="49" charset="-122"/>
              </a:rPr>
              <a:t>年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分离到</a:t>
            </a:r>
            <a:r>
              <a:rPr lang="zh-CN" altLang="en-US" b="1">
                <a:ea typeface="黑体" panose="02010609060101010101" pitchFamily="49" charset="-122"/>
              </a:rPr>
              <a:t>，主要用于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的修复。</a:t>
            </a:r>
          </a:p>
          <a:p>
            <a:pPr eaLnBrk="1" hangingPunct="1">
              <a:lnSpc>
                <a:spcPct val="140000"/>
              </a:lnSpc>
            </a:pPr>
            <a:endParaRPr lang="zh-CN" altLang="en-US" b="1"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ea typeface="黑体" panose="02010609060101010101" pitchFamily="49" charset="-122"/>
              </a:rPr>
              <a:t>聚合酶</a:t>
            </a:r>
            <a:r>
              <a:rPr lang="en-US" altLang="zh-CN" b="1">
                <a:ea typeface="黑体" panose="02010609060101010101" pitchFamily="49" charset="-122"/>
              </a:rPr>
              <a:t>III</a:t>
            </a:r>
            <a:r>
              <a:rPr lang="zh-CN" altLang="en-US" b="1">
                <a:ea typeface="黑体" panose="02010609060101010101" pitchFamily="49" charset="-122"/>
              </a:rPr>
              <a:t> </a:t>
            </a:r>
            <a:r>
              <a:rPr lang="en-US" altLang="zh-CN" b="1">
                <a:ea typeface="黑体" panose="02010609060101010101" pitchFamily="49" charset="-122"/>
              </a:rPr>
              <a:t>(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 pol</a:t>
            </a:r>
            <a:r>
              <a:rPr lang="en-US" altLang="zh-CN" b="1">
                <a:ea typeface="黑体" panose="02010609060101010101" pitchFamily="49" charset="-122"/>
              </a:rPr>
              <a:t> III)</a:t>
            </a:r>
            <a:r>
              <a:rPr lang="zh-CN" altLang="en-US" b="1">
                <a:ea typeface="黑体" panose="02010609060101010101" pitchFamily="49" charset="-122"/>
              </a:rPr>
              <a:t>：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1971</a:t>
            </a:r>
            <a:r>
              <a:rPr lang="zh-CN" altLang="en-US" b="1">
                <a:ea typeface="黑体" panose="02010609060101010101" pitchFamily="49" charset="-122"/>
              </a:rPr>
              <a:t>年分离到，每个</a:t>
            </a:r>
            <a:r>
              <a:rPr lang="en-US" altLang="zh-CN" b="1" i="1">
                <a:ea typeface="黑体" panose="02010609060101010101" pitchFamily="49" charset="-122"/>
              </a:rPr>
              <a:t>E. coli</a:t>
            </a:r>
            <a:r>
              <a:rPr lang="zh-CN" altLang="en-US" b="1">
                <a:ea typeface="黑体" panose="02010609060101010101" pitchFamily="49" charset="-122"/>
              </a:rPr>
              <a:t>约含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分子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 pol </a:t>
            </a:r>
            <a:r>
              <a:rPr lang="en-US" altLang="zh-CN" b="1">
                <a:ea typeface="黑体" panose="02010609060101010101" pitchFamily="49" charset="-122"/>
              </a:rPr>
              <a:t>III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，虽然量很少，但活性很强，为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pol </a:t>
            </a:r>
            <a:r>
              <a:rPr lang="en-US" altLang="zh-CN" b="1">
                <a:ea typeface="黑体" panose="02010609060101010101" pitchFamily="49" charset="-122"/>
              </a:rPr>
              <a:t>I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倍，除聚合酶活性外，还具有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>
                <a:ea typeface="黑体" panose="02010609060101010101" pitchFamily="49" charset="-122"/>
              </a:rPr>
              <a:t>’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→5</a:t>
            </a:r>
            <a:r>
              <a:rPr lang="en-US" altLang="zh-CN" b="1">
                <a:ea typeface="黑体" panose="02010609060101010101" pitchFamily="49" charset="-122"/>
              </a:rPr>
              <a:t>’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核酸外切酶的活性，但无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b="1">
                <a:ea typeface="黑体" panose="02010609060101010101" pitchFamily="49" charset="-122"/>
              </a:rPr>
              <a:t>’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→3</a:t>
            </a:r>
            <a:r>
              <a:rPr lang="en-US" altLang="zh-CN" b="1">
                <a:ea typeface="黑体" panose="02010609060101010101" pitchFamily="49" charset="-122"/>
              </a:rPr>
              <a:t>’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核酸外切酶的活性。 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pol </a:t>
            </a:r>
            <a:r>
              <a:rPr lang="en-US" altLang="zh-CN" b="1">
                <a:ea typeface="黑体" panose="02010609060101010101" pitchFamily="49" charset="-122"/>
              </a:rPr>
              <a:t>III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是原核细胞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复制的</a:t>
            </a:r>
            <a:r>
              <a:rPr lang="zh-CN" altLang="en-US" b="1">
                <a:ea typeface="黑体" panose="02010609060101010101" pitchFamily="49" charset="-122"/>
              </a:rPr>
              <a:t>主要酶。此酶的缺陷株往往是致死的。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11188" y="533400"/>
            <a:ext cx="6553200" cy="5794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latin typeface="宋体" panose="02010600030101010101" pitchFamily="2" charset="-122"/>
              </a:rPr>
              <a:t>大肠杆菌三种主要</a:t>
            </a:r>
            <a:r>
              <a:rPr lang="en-US" altLang="zh-CN" sz="3200" b="1">
                <a:solidFill>
                  <a:schemeClr val="bg1"/>
                </a:solidFill>
                <a:latin typeface="宋体" panose="02010600030101010101" pitchFamily="2" charset="-122"/>
              </a:rPr>
              <a:t>DNA</a:t>
            </a:r>
            <a:r>
              <a:rPr lang="zh-CN" altLang="en-US" sz="3200" b="1">
                <a:solidFill>
                  <a:schemeClr val="bg1"/>
                </a:solidFill>
                <a:latin typeface="宋体" panose="02010600030101010101" pitchFamily="2" charset="-122"/>
              </a:rPr>
              <a:t>聚合酶的比较</a:t>
            </a:r>
          </a:p>
        </p:txBody>
      </p:sp>
      <p:graphicFrame>
        <p:nvGraphicFramePr>
          <p:cNvPr id="113720" name="Group 56"/>
          <p:cNvGraphicFramePr>
            <a:graphicFrameLocks noGrp="1"/>
          </p:cNvGraphicFramePr>
          <p:nvPr/>
        </p:nvGraphicFramePr>
        <p:xfrm>
          <a:off x="188913" y="1323975"/>
          <a:ext cx="7696200" cy="4985385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331166292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49162278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804917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976842118"/>
                    </a:ext>
                  </a:extLst>
                </a:gridCol>
              </a:tblGrid>
              <a:tr h="477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pol 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pol II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pol III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367625"/>
                  </a:ext>
                </a:extLst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分子量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103Kd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88Kd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900Kd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194372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不同种类亚基数目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≥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≥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95583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每个细胞的分子数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911214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生物学活性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184708"/>
                  </a:ext>
                </a:extLst>
              </a:tr>
              <a:tr h="542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5'→3'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聚合酶活性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92428"/>
                  </a:ext>
                </a:extLst>
              </a:tr>
              <a:tr h="542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3'→5'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外切酶活性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400512"/>
                  </a:ext>
                </a:extLst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5'→3'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外切酶活性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43769"/>
                  </a:ext>
                </a:extLst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修复，去除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RNA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引物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修复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复制（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5'→3'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聚合作用）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67118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539750" y="741363"/>
            <a:ext cx="72009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3.2 </a:t>
            </a:r>
            <a:r>
              <a:rPr lang="zh-CN" altLang="en-US" sz="2800" b="1">
                <a:solidFill>
                  <a:srgbClr val="008000"/>
                </a:solidFill>
              </a:rPr>
              <a:t>复制过程中需要的酶：</a:t>
            </a: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152400" y="1436688"/>
            <a:ext cx="815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）解螺旋酶    使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双螺旋解开形成单链，作为模板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74625" y="3092450"/>
            <a:ext cx="724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引物酶      催化合成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引物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10-50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个核苷酸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174625" y="3884613"/>
            <a:ext cx="7848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聚合酶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III     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引物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端逐个添加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dNTP,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催化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聚合，并检查和切除错配的碱基（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校对功能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2058988" y="1349375"/>
            <a:ext cx="360362" cy="647700"/>
          </a:xfrm>
          <a:prstGeom prst="ellipse">
            <a:avLst/>
          </a:prstGeom>
          <a:gradFill rotWithShape="1">
            <a:gsLst>
              <a:gs pos="0">
                <a:srgbClr val="9966FF"/>
              </a:gs>
              <a:gs pos="100000">
                <a:srgbClr val="472F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174625" y="2228850"/>
            <a:ext cx="785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）单链结合蛋白    结合在解链的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单链上，使其稳定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2701925" y="2300288"/>
            <a:ext cx="360363" cy="358775"/>
          </a:xfrm>
          <a:prstGeom prst="ellipse">
            <a:avLst/>
          </a:prstGeom>
          <a:gradFill rotWithShape="1">
            <a:gsLst>
              <a:gs pos="0">
                <a:srgbClr val="F0E8AE"/>
              </a:gs>
              <a:gs pos="100000">
                <a:srgbClr val="6F6B5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4585" name="Group 9"/>
          <p:cNvGrpSpPr>
            <a:grpSpLocks/>
          </p:cNvGrpSpPr>
          <p:nvPr/>
        </p:nvGrpSpPr>
        <p:grpSpPr bwMode="auto">
          <a:xfrm>
            <a:off x="2271713" y="3035300"/>
            <a:ext cx="504825" cy="531813"/>
            <a:chOff x="2381" y="2478"/>
            <a:chExt cx="318" cy="335"/>
          </a:xfrm>
        </p:grpSpPr>
        <p:sp>
          <p:nvSpPr>
            <p:cNvPr id="24598" name="AutoShape 10"/>
            <p:cNvSpPr>
              <a:spLocks noChangeArrowheads="1"/>
            </p:cNvSpPr>
            <p:nvPr/>
          </p:nvSpPr>
          <p:spPr bwMode="auto">
            <a:xfrm>
              <a:off x="2381" y="2478"/>
              <a:ext cx="318" cy="317"/>
            </a:xfrm>
            <a:prstGeom prst="flowChartExtract">
              <a:avLst/>
            </a:prstGeom>
            <a:gradFill rotWithShape="1">
              <a:gsLst>
                <a:gs pos="0">
                  <a:srgbClr val="9966FF"/>
                </a:gs>
                <a:gs pos="100000">
                  <a:srgbClr val="472F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9" name="Oval 11"/>
            <p:cNvSpPr>
              <a:spLocks noChangeArrowheads="1"/>
            </p:cNvSpPr>
            <p:nvPr/>
          </p:nvSpPr>
          <p:spPr bwMode="auto">
            <a:xfrm>
              <a:off x="2399" y="2550"/>
              <a:ext cx="272" cy="263"/>
            </a:xfrm>
            <a:prstGeom prst="ellipse">
              <a:avLst/>
            </a:prstGeom>
            <a:gradFill rotWithShape="1">
              <a:gsLst>
                <a:gs pos="0">
                  <a:srgbClr val="9966FF"/>
                </a:gs>
                <a:gs pos="100000">
                  <a:srgbClr val="472F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586" name="Group 12"/>
          <p:cNvGrpSpPr>
            <a:grpSpLocks/>
          </p:cNvGrpSpPr>
          <p:nvPr/>
        </p:nvGrpSpPr>
        <p:grpSpPr bwMode="auto">
          <a:xfrm>
            <a:off x="2770188" y="3840163"/>
            <a:ext cx="863600" cy="501650"/>
            <a:chOff x="1519" y="2659"/>
            <a:chExt cx="908" cy="544"/>
          </a:xfrm>
        </p:grpSpPr>
        <p:sp>
          <p:nvSpPr>
            <p:cNvPr id="24595" name="AutoShape 13"/>
            <p:cNvSpPr>
              <a:spLocks noChangeArrowheads="1"/>
            </p:cNvSpPr>
            <p:nvPr/>
          </p:nvSpPr>
          <p:spPr bwMode="auto">
            <a:xfrm rot="-5400000">
              <a:off x="1482" y="2778"/>
              <a:ext cx="363" cy="2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6" name="Oval 14"/>
            <p:cNvSpPr>
              <a:spLocks noChangeArrowheads="1"/>
            </p:cNvSpPr>
            <p:nvPr/>
          </p:nvSpPr>
          <p:spPr bwMode="auto">
            <a:xfrm>
              <a:off x="1610" y="2659"/>
              <a:ext cx="771" cy="544"/>
            </a:xfrm>
            <a:prstGeom prst="ellipse">
              <a:avLst/>
            </a:prstGeom>
            <a:gradFill rotWithShape="1">
              <a:gsLst>
                <a:gs pos="0">
                  <a:srgbClr val="734C69"/>
                </a:gs>
                <a:gs pos="50000">
                  <a:srgbClr val="F9A5E3"/>
                </a:gs>
                <a:gs pos="100000">
                  <a:srgbClr val="734C6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7" name="Oval 15"/>
            <p:cNvSpPr>
              <a:spLocks noChangeArrowheads="1"/>
            </p:cNvSpPr>
            <p:nvPr/>
          </p:nvSpPr>
          <p:spPr bwMode="auto">
            <a:xfrm>
              <a:off x="2109" y="2840"/>
              <a:ext cx="318" cy="3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4587" name="Rectangle 16"/>
          <p:cNvSpPr>
            <a:spLocks noChangeArrowheads="1"/>
          </p:cNvSpPr>
          <p:nvPr/>
        </p:nvSpPr>
        <p:spPr bwMode="auto">
          <a:xfrm>
            <a:off x="158750" y="4892675"/>
            <a:ext cx="7699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引物水解酶（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聚合酶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     水解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引物，并填补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空缺 </a:t>
            </a:r>
          </a:p>
        </p:txBody>
      </p:sp>
      <p:sp>
        <p:nvSpPr>
          <p:cNvPr id="24588" name="Rectangle 17"/>
          <p:cNvSpPr>
            <a:spLocks noChangeArrowheads="1"/>
          </p:cNvSpPr>
          <p:nvPr/>
        </p:nvSpPr>
        <p:spPr bwMode="auto">
          <a:xfrm>
            <a:off x="142875" y="5900738"/>
            <a:ext cx="815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连接酶    催化两个岗崎片断的缺口形成磷酸二脂键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9" name="Oval 18"/>
          <p:cNvSpPr>
            <a:spLocks noChangeArrowheads="1"/>
          </p:cNvSpPr>
          <p:nvPr/>
        </p:nvSpPr>
        <p:spPr bwMode="auto">
          <a:xfrm>
            <a:off x="2203450" y="5988050"/>
            <a:ext cx="287338" cy="287338"/>
          </a:xfrm>
          <a:prstGeom prst="ellipse">
            <a:avLst/>
          </a:prstGeom>
          <a:gradFill rotWithShape="1">
            <a:gsLst>
              <a:gs pos="0">
                <a:srgbClr val="9999FF"/>
              </a:gs>
              <a:gs pos="100000">
                <a:srgbClr val="47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4590" name="Group 19"/>
          <p:cNvGrpSpPr>
            <a:grpSpLocks/>
          </p:cNvGrpSpPr>
          <p:nvPr/>
        </p:nvGrpSpPr>
        <p:grpSpPr bwMode="auto">
          <a:xfrm>
            <a:off x="5059363" y="4835525"/>
            <a:ext cx="503237" cy="576263"/>
            <a:chOff x="3833" y="3339"/>
            <a:chExt cx="453" cy="409"/>
          </a:xfrm>
        </p:grpSpPr>
        <p:sp>
          <p:nvSpPr>
            <p:cNvPr id="24591" name="Oval 20"/>
            <p:cNvSpPr>
              <a:spLocks noChangeArrowheads="1"/>
            </p:cNvSpPr>
            <p:nvPr/>
          </p:nvSpPr>
          <p:spPr bwMode="auto">
            <a:xfrm>
              <a:off x="3833" y="3339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9999FF"/>
                </a:gs>
                <a:gs pos="100000">
                  <a:srgbClr val="4747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2" name="Oval 21"/>
            <p:cNvSpPr>
              <a:spLocks noChangeArrowheads="1"/>
            </p:cNvSpPr>
            <p:nvPr/>
          </p:nvSpPr>
          <p:spPr bwMode="auto">
            <a:xfrm>
              <a:off x="3969" y="3339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9999FF"/>
                </a:gs>
                <a:gs pos="100000">
                  <a:srgbClr val="4747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3" name="Oval 22"/>
            <p:cNvSpPr>
              <a:spLocks noChangeArrowheads="1"/>
            </p:cNvSpPr>
            <p:nvPr/>
          </p:nvSpPr>
          <p:spPr bwMode="auto">
            <a:xfrm>
              <a:off x="4105" y="3385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9999FF"/>
                </a:gs>
                <a:gs pos="100000">
                  <a:srgbClr val="4747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594" name="Oval 23"/>
            <p:cNvSpPr>
              <a:spLocks noChangeArrowheads="1"/>
            </p:cNvSpPr>
            <p:nvPr/>
          </p:nvSpPr>
          <p:spPr bwMode="auto">
            <a:xfrm>
              <a:off x="3833" y="3475"/>
              <a:ext cx="362" cy="273"/>
            </a:xfrm>
            <a:prstGeom prst="ellipse">
              <a:avLst/>
            </a:prstGeom>
            <a:gradFill rotWithShape="1">
              <a:gsLst>
                <a:gs pos="0">
                  <a:srgbClr val="9999FF"/>
                </a:gs>
                <a:gs pos="100000">
                  <a:srgbClr val="4747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med"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647700" y="617538"/>
            <a:ext cx="4495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四、复制的过程（动画）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827088" y="1258888"/>
            <a:ext cx="70580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/>
              <a:t>在体外，以</a:t>
            </a:r>
            <a:r>
              <a:rPr lang="en-US" altLang="zh-CN" sz="2800" b="1"/>
              <a:t>DNA</a:t>
            </a:r>
            <a:r>
              <a:rPr lang="zh-CN" altLang="en-US" sz="2800" b="1"/>
              <a:t>为模板、四种</a:t>
            </a:r>
            <a:r>
              <a:rPr lang="en-US" altLang="zh-CN" sz="2800" b="1"/>
              <a:t>dNTP</a:t>
            </a:r>
            <a:r>
              <a:rPr lang="zh-CN" altLang="en-US" sz="2800" b="1"/>
              <a:t>为底物，用</a:t>
            </a:r>
            <a:r>
              <a:rPr lang="en-US" altLang="zh-CN" sz="2800" b="1"/>
              <a:t>DNA</a:t>
            </a:r>
            <a:r>
              <a:rPr lang="zh-CN" altLang="en-US" sz="2800" b="1"/>
              <a:t>聚合酶可以合成新生的</a:t>
            </a:r>
            <a:r>
              <a:rPr lang="en-US" altLang="zh-CN" sz="2800" b="1"/>
              <a:t>DNA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8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/>
              <a:t>在细胞内，</a:t>
            </a:r>
            <a:r>
              <a:rPr lang="en-US" altLang="zh-CN" sz="2800" b="1"/>
              <a:t>DNA</a:t>
            </a:r>
            <a:r>
              <a:rPr lang="zh-CN" altLang="en-US" sz="2800" b="1"/>
              <a:t>的复制是一个由多种酶协同作用的复杂过程，包括起始、延伸和终止三个阶段。</a:t>
            </a:r>
            <a:endParaRPr lang="en-US" altLang="zh-CN" sz="28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800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/>
              <a:t>半不连续复制与冈崎片段。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4" name="Picture 4" descr="GA30_06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5" t="17972" r="13362" b="7349"/>
          <a:stretch>
            <a:fillRect/>
          </a:stretch>
        </p:blipFill>
        <p:spPr bwMode="auto">
          <a:xfrm>
            <a:off x="466725" y="1917700"/>
            <a:ext cx="7129463" cy="493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323850" y="476250"/>
            <a:ext cx="763270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b="1">
                <a:latin typeface="宋体" panose="02010600030101010101" pitchFamily="2" charset="-122"/>
              </a:rPr>
              <a:t>滞后链的合成比较复杂，由于</a:t>
            </a:r>
            <a:r>
              <a:rPr lang="en-US" altLang="zh-CN" b="1">
                <a:latin typeface="宋体" panose="02010600030101010101" pitchFamily="2" charset="-122"/>
              </a:rPr>
              <a:t>DNA</a:t>
            </a:r>
            <a:r>
              <a:rPr lang="zh-CN" altLang="en-US" b="1">
                <a:latin typeface="宋体" panose="02010600030101010101" pitchFamily="2" charset="-122"/>
              </a:rPr>
              <a:t>的两条互补链方向相反，为使后随链能与前导链被同一个</a:t>
            </a:r>
            <a:r>
              <a:rPr lang="en-US" altLang="zh-CN" b="1">
                <a:latin typeface="宋体" panose="02010600030101010101" pitchFamily="2" charset="-122"/>
              </a:rPr>
              <a:t>DNA pol III</a:t>
            </a:r>
            <a:r>
              <a:rPr lang="zh-CN" altLang="en-US" b="1">
                <a:latin typeface="宋体" panose="02010600030101010101" pitchFamily="2" charset="-122"/>
              </a:rPr>
              <a:t>不对称二聚体所合成，后随链必须绕成一个环状（</a:t>
            </a:r>
            <a:r>
              <a:rPr lang="en-US" altLang="zh-CN" b="1">
                <a:latin typeface="宋体" panose="02010600030101010101" pitchFamily="2" charset="-122"/>
              </a:rPr>
              <a:t>loop</a:t>
            </a:r>
            <a:r>
              <a:rPr lang="zh-CN" altLang="en-US" b="1">
                <a:latin typeface="宋体" panose="02010600030101010101" pitchFamily="2" charset="-122"/>
              </a:rPr>
              <a:t>）。</a:t>
            </a:r>
            <a:r>
              <a:rPr lang="zh-CN" altLang="en-US"/>
              <a:t> </a:t>
            </a:r>
          </a:p>
        </p:txBody>
      </p:sp>
      <p:sp>
        <p:nvSpPr>
          <p:cNvPr id="26628" name="矩形 3"/>
          <p:cNvSpPr>
            <a:spLocks noChangeArrowheads="1"/>
          </p:cNvSpPr>
          <p:nvPr/>
        </p:nvSpPr>
        <p:spPr bwMode="auto">
          <a:xfrm>
            <a:off x="1143000" y="61737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冈崎片段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341438"/>
            <a:ext cx="7092950" cy="29464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1）</a:t>
            </a:r>
            <a:r>
              <a:rPr lang="en-US" altLang="zh-CN" sz="2000" b="1">
                <a:latin typeface="宋体" panose="02010600030101010101" pitchFamily="2" charset="-122"/>
              </a:rPr>
              <a:t>DNA</a:t>
            </a:r>
            <a:r>
              <a:rPr lang="zh-CN" altLang="en-US" sz="2000" b="1">
                <a:latin typeface="宋体" panose="02010600030101010101" pitchFamily="2" charset="-122"/>
              </a:rPr>
              <a:t>复制的生化机制与原核生物基本类似；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2）真核生物所含的</a:t>
            </a:r>
            <a:r>
              <a:rPr lang="en-US" altLang="zh-CN" sz="2000" b="1">
                <a:latin typeface="宋体" panose="02010600030101010101" pitchFamily="2" charset="-122"/>
              </a:rPr>
              <a:t>DNA</a:t>
            </a:r>
            <a:r>
              <a:rPr lang="zh-CN" altLang="en-US" sz="2000" b="1">
                <a:latin typeface="宋体" panose="02010600030101010101" pitchFamily="2" charset="-122"/>
              </a:rPr>
              <a:t>聚合酶种类更多，复制叉处需要的辅助蛋白不同，复制叉的移动速度远低于原核生物；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3）真核生物染色体存在着多个复制起点，即具有多个复制子，可弥补复制叉移动速度低对整个</a:t>
            </a:r>
            <a:r>
              <a:rPr lang="en-US" altLang="zh-CN" sz="2000" b="1">
                <a:latin typeface="宋体" panose="02010600030101010101" pitchFamily="2" charset="-122"/>
              </a:rPr>
              <a:t>DNA</a:t>
            </a:r>
            <a:r>
              <a:rPr lang="zh-CN" altLang="en-US" sz="2000" b="1">
                <a:latin typeface="宋体" panose="02010600030101010101" pitchFamily="2" charset="-122"/>
              </a:rPr>
              <a:t>复制速度的制约；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4）冈崎片段的长度小于原核细胞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5</a:t>
            </a:r>
            <a:r>
              <a:rPr lang="zh-CN" altLang="en-US" sz="2000" b="1">
                <a:latin typeface="宋体" panose="02010600030101010101" pitchFamily="2" charset="-122"/>
              </a:rPr>
              <a:t>）调控更加复杂（细胞周期与染色体复制），</a:t>
            </a:r>
            <a:r>
              <a:rPr lang="en-US" altLang="zh-CN" sz="2000" b="1">
                <a:latin typeface="宋体" panose="02010600030101010101" pitchFamily="2" charset="-122"/>
              </a:rPr>
              <a:t>5</a:t>
            </a:r>
            <a:r>
              <a:rPr lang="zh-CN" altLang="en-US" sz="2000" b="1">
                <a:latin typeface="宋体" panose="02010600030101010101" pitchFamily="2" charset="-122"/>
              </a:rPr>
              <a:t>种</a:t>
            </a:r>
            <a:r>
              <a:rPr lang="en-US" altLang="zh-CN" sz="2000" b="1">
                <a:latin typeface="宋体" panose="02010600030101010101" pitchFamily="2" charset="-122"/>
              </a:rPr>
              <a:t>DNA pol</a:t>
            </a:r>
            <a:r>
              <a:rPr lang="zh-CN" altLang="en-US" sz="20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539750" y="755650"/>
            <a:ext cx="5903913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8000"/>
                </a:solidFill>
              </a:rPr>
              <a:t>真核细胞</a:t>
            </a:r>
            <a:r>
              <a:rPr lang="en-US" altLang="zh-CN" sz="2800" b="1">
                <a:solidFill>
                  <a:srgbClr val="008000"/>
                </a:solidFill>
              </a:rPr>
              <a:t>DNA</a:t>
            </a:r>
            <a:r>
              <a:rPr lang="zh-CN" altLang="en-US" sz="2800" b="1">
                <a:solidFill>
                  <a:srgbClr val="008000"/>
                </a:solidFill>
              </a:rPr>
              <a:t>的复制</a:t>
            </a:r>
          </a:p>
        </p:txBody>
      </p:sp>
      <p:pic>
        <p:nvPicPr>
          <p:cNvPr id="27652" name="Picture 6" descr="589-1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2" r="6683"/>
          <a:stretch>
            <a:fillRect/>
          </a:stretch>
        </p:blipFill>
        <p:spPr bwMode="auto">
          <a:xfrm>
            <a:off x="323850" y="4100513"/>
            <a:ext cx="82804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647700" y="620713"/>
            <a:ext cx="39211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五、</a:t>
            </a:r>
            <a:r>
              <a:rPr lang="en-US" altLang="zh-CN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DNA</a:t>
            </a:r>
            <a:r>
              <a:rPr lang="zh-CN" altLang="en-US" sz="32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的损伤修复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539750" y="1258888"/>
            <a:ext cx="7200900" cy="448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5.1 </a:t>
            </a:r>
            <a:r>
              <a:rPr lang="zh-CN" altLang="en-US" sz="2800" b="1">
                <a:solidFill>
                  <a:srgbClr val="008000"/>
                </a:solidFill>
              </a:rPr>
              <a:t>突变（</a:t>
            </a:r>
            <a:r>
              <a:rPr lang="en-US" altLang="zh-CN" sz="2800" b="1">
                <a:solidFill>
                  <a:srgbClr val="008000"/>
                </a:solidFill>
              </a:rPr>
              <a:t>mutation</a:t>
            </a:r>
            <a:r>
              <a:rPr lang="zh-CN" altLang="en-US" sz="2800" b="1">
                <a:solidFill>
                  <a:srgbClr val="008000"/>
                </a:solidFill>
              </a:rPr>
              <a:t>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是指一个或多个脱氧核苷酸的构成的异常变化，又称</a:t>
            </a:r>
            <a:r>
              <a:rPr lang="en-US" altLang="zh-CN" b="1"/>
              <a:t>DNA</a:t>
            </a:r>
            <a:r>
              <a:rPr lang="zh-CN" altLang="en-US" b="1"/>
              <a:t>损伤（</a:t>
            </a:r>
            <a:r>
              <a:rPr lang="en-US" altLang="zh-CN" b="1"/>
              <a:t>DNA damage</a:t>
            </a:r>
            <a:r>
              <a:rPr lang="zh-CN" altLang="en-US" b="1"/>
              <a:t>）。因遗传物质结构的改变引起遗传信息的改变。</a:t>
            </a:r>
            <a:endParaRPr lang="en-US" altLang="zh-CN" b="1"/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solidFill>
                  <a:srgbClr val="0033CC"/>
                </a:solidFill>
              </a:rPr>
              <a:t>突变发生在复制过程中</a:t>
            </a:r>
            <a:r>
              <a:rPr lang="zh-CN" altLang="en-US" b="1"/>
              <a:t>，引起细胞间、个体间差异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solidFill>
                  <a:srgbClr val="008000"/>
                </a:solidFill>
              </a:rPr>
              <a:t>突变是某些疾病的发病基础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突变就其后果而言并非都是危害生命的，也有积极意义，在生物界普遍存在</a:t>
            </a:r>
            <a:r>
              <a:rPr lang="en-US" altLang="zh-CN" b="1">
                <a:latin typeface="宋体" panose="02010600030101010101" pitchFamily="2" charset="-122"/>
              </a:rPr>
              <a:t>——</a:t>
            </a:r>
            <a:r>
              <a:rPr lang="en-US" altLang="zh-CN" b="1"/>
              <a:t>DNA</a:t>
            </a:r>
            <a:r>
              <a:rPr lang="zh-CN" altLang="en-US" b="1"/>
              <a:t>多态性。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428625" y="709613"/>
            <a:ext cx="6143625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5.2 </a:t>
            </a:r>
            <a:r>
              <a:rPr lang="zh-CN" altLang="en-US" sz="2800" b="1">
                <a:solidFill>
                  <a:srgbClr val="008000"/>
                </a:solidFill>
              </a:rPr>
              <a:t>突变的类型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b="1"/>
              <a:t>1</a:t>
            </a:r>
            <a:r>
              <a:rPr lang="zh-CN" altLang="en-US" b="1"/>
              <a:t>）错配</a:t>
            </a:r>
            <a:r>
              <a:rPr lang="en-US" altLang="zh-CN" b="1"/>
              <a:t>(mismatch)</a:t>
            </a:r>
            <a:r>
              <a:rPr lang="zh-CN" altLang="en-US" b="1"/>
              <a:t>，或点突变</a:t>
            </a:r>
            <a:r>
              <a:rPr lang="en-US" altLang="zh-CN" b="1"/>
              <a:t>(point mutation)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发生在氨基酸编码区的碱基替换。</a:t>
            </a:r>
            <a:endParaRPr lang="en-US" altLang="zh-CN" sz="2000" b="1"/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b="1"/>
              <a:t>2</a:t>
            </a:r>
            <a:r>
              <a:rPr lang="zh-CN" altLang="en-US" b="1"/>
              <a:t>）插入</a:t>
            </a:r>
            <a:r>
              <a:rPr lang="en-US" altLang="zh-CN" b="1"/>
              <a:t>/</a:t>
            </a:r>
            <a:r>
              <a:rPr lang="zh-CN" altLang="en-US" b="1"/>
              <a:t>缺失</a:t>
            </a:r>
            <a:r>
              <a:rPr lang="en-US" altLang="zh-CN" b="1"/>
              <a:t>(insertion/deletion, indel)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导致读码框位移，翻译出完全不一样的蛋白质。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endParaRPr lang="en-US" altLang="zh-CN" sz="2000" b="1"/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b="1"/>
              <a:t>3</a:t>
            </a:r>
            <a:r>
              <a:rPr lang="zh-CN" altLang="en-US" b="1"/>
              <a:t>）重排</a:t>
            </a:r>
            <a:r>
              <a:rPr lang="en-US" altLang="zh-CN" b="1"/>
              <a:t>(rearrangement)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DNA</a:t>
            </a:r>
            <a:r>
              <a:rPr lang="zh-CN" altLang="en-US" sz="2000" b="1"/>
              <a:t>分子内大片段的交换。</a:t>
            </a:r>
            <a:endParaRPr lang="en-US" altLang="zh-CN" sz="2000" b="1"/>
          </a:p>
        </p:txBody>
      </p:sp>
      <p:pic>
        <p:nvPicPr>
          <p:cNvPr id="3" name="Picture 5" descr="246cca2acd626dda033bf6b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0"/>
            <a:ext cx="3419475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image0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2"/>
          <a:stretch>
            <a:fillRect/>
          </a:stretch>
        </p:blipFill>
        <p:spPr bwMode="auto">
          <a:xfrm>
            <a:off x="4419600" y="3924300"/>
            <a:ext cx="4714875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9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9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9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9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539750" y="1258888"/>
            <a:ext cx="72009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5.3 </a:t>
            </a:r>
            <a:r>
              <a:rPr lang="zh-CN" altLang="en-US" sz="2800" b="1">
                <a:solidFill>
                  <a:srgbClr val="008000"/>
                </a:solidFill>
              </a:rPr>
              <a:t>引发突变的因素</a:t>
            </a:r>
            <a:endParaRPr lang="en-US" altLang="zh-CN" sz="2800" b="1">
              <a:solidFill>
                <a:srgbClr val="008000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/>
              <a:t>自发突变的频率极低，在</a:t>
            </a:r>
            <a:r>
              <a:rPr lang="en-US" altLang="zh-CN" b="1"/>
              <a:t>10</a:t>
            </a:r>
            <a:r>
              <a:rPr lang="en-US" altLang="zh-CN" b="1" baseline="30000"/>
              <a:t>-9</a:t>
            </a:r>
            <a:r>
              <a:rPr lang="zh-CN" altLang="en-US" b="1"/>
              <a:t>左右。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/>
              <a:t>实验室用生活环境中导致突变的因素可以诱发突变，包括物理因素和化学因素两大类。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A. </a:t>
            </a:r>
            <a:r>
              <a:rPr lang="zh-CN" altLang="en-US" b="1"/>
              <a:t>物理因素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b="1"/>
              <a:t>环境中的各种射线（如</a:t>
            </a:r>
            <a:r>
              <a:rPr kumimoji="0" lang="en-US" altLang="zh-CN" b="1"/>
              <a:t>UV</a:t>
            </a:r>
            <a:r>
              <a:rPr kumimoji="0" lang="zh-CN" altLang="en-US" b="1"/>
              <a:t>可导致</a:t>
            </a:r>
            <a:r>
              <a:rPr kumimoji="0" lang="en-US" altLang="zh-CN" b="1"/>
              <a:t>DNA</a:t>
            </a:r>
            <a:r>
              <a:rPr kumimoji="0" lang="zh-CN" altLang="en-US" b="1"/>
              <a:t>分子上相邻的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b="1"/>
              <a:t>两个嘧啶碱基发生共价交联，生产嘧啶二聚体）。</a:t>
            </a:r>
            <a:endParaRPr kumimoji="0" lang="en-US" altLang="zh-CN" b="1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3" descr="2pyrimid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1196975"/>
            <a:ext cx="8229600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539750" y="908050"/>
            <a:ext cx="7345363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B. </a:t>
            </a:r>
            <a:r>
              <a:rPr lang="zh-CN" altLang="en-US" b="1"/>
              <a:t>化学因素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b="1"/>
              <a:t>许多化学诱变剂同时就是致癌剂。如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rabicParenR"/>
            </a:pPr>
            <a:r>
              <a:rPr kumimoji="0" lang="zh-CN" altLang="en-US" b="1"/>
              <a:t>碱基类似物：</a:t>
            </a:r>
            <a:r>
              <a:rPr kumimoji="0" lang="en-US" altLang="zh-CN" b="1"/>
              <a:t>5-</a:t>
            </a:r>
            <a:r>
              <a:rPr kumimoji="0" lang="zh-CN" altLang="en-US" b="1"/>
              <a:t>溴尿嘧啶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AutoNum type="arabicParenR"/>
            </a:pPr>
            <a:r>
              <a:rPr kumimoji="0" lang="zh-CN" altLang="en-US" b="1"/>
              <a:t>亚硝酸盐类：</a:t>
            </a:r>
            <a:r>
              <a:rPr kumimoji="0" lang="en-US" altLang="zh-CN" b="1"/>
              <a:t>NO</a:t>
            </a:r>
            <a:r>
              <a:rPr kumimoji="0" lang="en-US" altLang="zh-CN" sz="1600" b="1"/>
              <a:t>2</a:t>
            </a:r>
            <a:r>
              <a:rPr kumimoji="0" lang="en-US" altLang="zh-CN" b="1" baseline="30000"/>
              <a:t>-</a:t>
            </a:r>
            <a:r>
              <a:rPr kumimoji="0" lang="en-US" altLang="zh-CN" b="1"/>
              <a:t> (</a:t>
            </a:r>
            <a:r>
              <a:rPr kumimoji="0" lang="zh-CN" altLang="en-US" b="1">
                <a:solidFill>
                  <a:schemeClr val="accent2"/>
                </a:solidFill>
              </a:rPr>
              <a:t>腌制食品、隔夜菜、火锅汤</a:t>
            </a:r>
            <a:r>
              <a:rPr kumimoji="0" lang="en-US" altLang="zh-CN" b="1"/>
              <a:t>)</a:t>
            </a:r>
            <a:endParaRPr kumimoji="0" lang="en-US" altLang="zh-CN" b="1" baseline="300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en-US" altLang="zh-CN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0" lang="en-US" altLang="zh-CN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b="1"/>
              <a:t>来源：化工原料、化工产品、工业排放物、汽车尾气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b="1"/>
              <a:t>农药、食品防腐剂或添加剂，物质代谢过程中产生的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b="1"/>
              <a:t>自由基等。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8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8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8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539750" y="1258888"/>
            <a:ext cx="7345363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8000"/>
                </a:solidFill>
              </a:rPr>
              <a:t>5.4 DNA</a:t>
            </a:r>
            <a:r>
              <a:rPr lang="zh-CN" altLang="en-US" sz="2800" b="1">
                <a:solidFill>
                  <a:srgbClr val="008000"/>
                </a:solidFill>
              </a:rPr>
              <a:t>损伤的修复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1</a:t>
            </a:r>
            <a:r>
              <a:rPr lang="zh-CN" altLang="en-US" b="1"/>
              <a:t>）光修复</a:t>
            </a:r>
            <a:endParaRPr lang="zh-CN" altLang="en-US" sz="2000" b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光修复酶</a:t>
            </a:r>
            <a:r>
              <a:rPr lang="en-US" altLang="zh-CN" sz="2000" b="1"/>
              <a:t>--</a:t>
            </a:r>
            <a:r>
              <a:rPr lang="zh-CN" altLang="en-US" sz="2000" b="1"/>
              <a:t>可分解紫外线损伤形成的嘧啶二聚体，需可见光。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2</a:t>
            </a:r>
            <a:r>
              <a:rPr lang="zh-CN" altLang="en-US" b="1"/>
              <a:t>）切除修复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先将接近损伤部位</a:t>
            </a:r>
            <a:r>
              <a:rPr lang="en-US" altLang="zh-CN" sz="2000" b="1"/>
              <a:t>5</a:t>
            </a:r>
            <a:r>
              <a:rPr lang="en-US" altLang="zh-CN" sz="2000" b="1">
                <a:latin typeface="宋体" panose="02010600030101010101" pitchFamily="2" charset="-122"/>
              </a:rPr>
              <a:t>’</a:t>
            </a:r>
            <a:r>
              <a:rPr lang="zh-CN" altLang="en-US" sz="2000" b="1"/>
              <a:t>端的磷酸二酯键切断，切除损伤部位及邻近核苷酸，再利用未受损的互补链作模板合成正确新链并连接。</a:t>
            </a:r>
            <a:endParaRPr lang="en-US" altLang="zh-CN" sz="2000" b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000" b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3</a:t>
            </a:r>
            <a:r>
              <a:rPr lang="zh-CN" altLang="en-US" b="1"/>
              <a:t>）重组修复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当</a:t>
            </a:r>
            <a:r>
              <a:rPr lang="en-US" altLang="zh-CN" sz="2000" b="1"/>
              <a:t>DNA</a:t>
            </a:r>
            <a:r>
              <a:rPr lang="zh-CN" altLang="en-US" sz="2000" b="1"/>
              <a:t>分子损伤面积较大时，复制出的子链会出现缺口，需在重组蛋白帮助下与健康母链发生交换。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0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0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0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0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"/>
          <p:cNvSpPr>
            <a:spLocks noChangeArrowheads="1"/>
          </p:cNvSpPr>
          <p:nvPr/>
        </p:nvSpPr>
        <p:spPr bwMode="auto">
          <a:xfrm>
            <a:off x="7667625" y="739775"/>
            <a:ext cx="468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3' </a:t>
            </a:r>
          </a:p>
        </p:txBody>
      </p:sp>
      <p:sp>
        <p:nvSpPr>
          <p:cNvPr id="34819" name="Rectangle 11"/>
          <p:cNvSpPr>
            <a:spLocks noChangeArrowheads="1"/>
          </p:cNvSpPr>
          <p:nvPr/>
        </p:nvSpPr>
        <p:spPr bwMode="auto">
          <a:xfrm>
            <a:off x="7681913" y="1168400"/>
            <a:ext cx="468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5' </a:t>
            </a:r>
          </a:p>
        </p:txBody>
      </p:sp>
      <p:sp>
        <p:nvSpPr>
          <p:cNvPr id="34820" name="Freeform 2" descr="5%"/>
          <p:cNvSpPr>
            <a:spLocks/>
          </p:cNvSpPr>
          <p:nvPr/>
        </p:nvSpPr>
        <p:spPr bwMode="auto">
          <a:xfrm>
            <a:off x="4702175" y="1687513"/>
            <a:ext cx="1752600" cy="1282700"/>
          </a:xfrm>
          <a:custGeom>
            <a:avLst/>
            <a:gdLst>
              <a:gd name="T0" fmla="*/ 2147483647 w 1044"/>
              <a:gd name="T1" fmla="*/ 2147483647 h 808"/>
              <a:gd name="T2" fmla="*/ 2147483647 w 1044"/>
              <a:gd name="T3" fmla="*/ 2147483647 h 808"/>
              <a:gd name="T4" fmla="*/ 2147483647 w 1044"/>
              <a:gd name="T5" fmla="*/ 2147483647 h 808"/>
              <a:gd name="T6" fmla="*/ 2147483647 w 1044"/>
              <a:gd name="T7" fmla="*/ 2147483647 h 808"/>
              <a:gd name="T8" fmla="*/ 2147483647 w 1044"/>
              <a:gd name="T9" fmla="*/ 2147483647 h 808"/>
              <a:gd name="T10" fmla="*/ 2147483647 w 1044"/>
              <a:gd name="T11" fmla="*/ 2147483647 h 808"/>
              <a:gd name="T12" fmla="*/ 2147483647 w 1044"/>
              <a:gd name="T13" fmla="*/ 2147483647 h 808"/>
              <a:gd name="T14" fmla="*/ 2147483647 w 1044"/>
              <a:gd name="T15" fmla="*/ 2147483647 h 808"/>
              <a:gd name="T16" fmla="*/ 2147483647 w 1044"/>
              <a:gd name="T17" fmla="*/ 2147483647 h 808"/>
              <a:gd name="T18" fmla="*/ 2147483647 w 1044"/>
              <a:gd name="T19" fmla="*/ 2147483647 h 808"/>
              <a:gd name="T20" fmla="*/ 2147483647 w 1044"/>
              <a:gd name="T21" fmla="*/ 2147483647 h 808"/>
              <a:gd name="T22" fmla="*/ 2147483647 w 1044"/>
              <a:gd name="T23" fmla="*/ 2147483647 h 808"/>
              <a:gd name="T24" fmla="*/ 2147483647 w 1044"/>
              <a:gd name="T25" fmla="*/ 2147483647 h 808"/>
              <a:gd name="T26" fmla="*/ 2147483647 w 1044"/>
              <a:gd name="T27" fmla="*/ 2147483647 h 808"/>
              <a:gd name="T28" fmla="*/ 2147483647 w 1044"/>
              <a:gd name="T29" fmla="*/ 2147483647 h 808"/>
              <a:gd name="T30" fmla="*/ 2147483647 w 1044"/>
              <a:gd name="T31" fmla="*/ 2147483647 h 808"/>
              <a:gd name="T32" fmla="*/ 2147483647 w 1044"/>
              <a:gd name="T33" fmla="*/ 2147483647 h 808"/>
              <a:gd name="T34" fmla="*/ 2147483647 w 1044"/>
              <a:gd name="T35" fmla="*/ 2147483647 h 808"/>
              <a:gd name="T36" fmla="*/ 2147483647 w 1044"/>
              <a:gd name="T37" fmla="*/ 2147483647 h 808"/>
              <a:gd name="T38" fmla="*/ 2147483647 w 1044"/>
              <a:gd name="T39" fmla="*/ 2147483647 h 808"/>
              <a:gd name="T40" fmla="*/ 2147483647 w 1044"/>
              <a:gd name="T41" fmla="*/ 2147483647 h 808"/>
              <a:gd name="T42" fmla="*/ 2147483647 w 1044"/>
              <a:gd name="T43" fmla="*/ 2147483647 h 808"/>
              <a:gd name="T44" fmla="*/ 2147483647 w 1044"/>
              <a:gd name="T45" fmla="*/ 2147483647 h 808"/>
              <a:gd name="T46" fmla="*/ 2147483647 w 1044"/>
              <a:gd name="T47" fmla="*/ 2147483647 h 808"/>
              <a:gd name="T48" fmla="*/ 2147483647 w 1044"/>
              <a:gd name="T49" fmla="*/ 2147483647 h 808"/>
              <a:gd name="T50" fmla="*/ 2147483647 w 1044"/>
              <a:gd name="T51" fmla="*/ 2147483647 h 808"/>
              <a:gd name="T52" fmla="*/ 2147483647 w 1044"/>
              <a:gd name="T53" fmla="*/ 2147483647 h 808"/>
              <a:gd name="T54" fmla="*/ 2147483647 w 1044"/>
              <a:gd name="T55" fmla="*/ 2147483647 h 80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044"/>
              <a:gd name="T85" fmla="*/ 0 h 808"/>
              <a:gd name="T86" fmla="*/ 1044 w 1044"/>
              <a:gd name="T87" fmla="*/ 808 h 80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044" h="808">
                <a:moveTo>
                  <a:pt x="46" y="355"/>
                </a:moveTo>
                <a:cubicBezTo>
                  <a:pt x="39" y="376"/>
                  <a:pt x="32" y="396"/>
                  <a:pt x="25" y="417"/>
                </a:cubicBezTo>
                <a:cubicBezTo>
                  <a:pt x="22" y="427"/>
                  <a:pt x="15" y="448"/>
                  <a:pt x="15" y="448"/>
                </a:cubicBezTo>
                <a:cubicBezTo>
                  <a:pt x="22" y="529"/>
                  <a:pt x="0" y="587"/>
                  <a:pt x="77" y="612"/>
                </a:cubicBezTo>
                <a:cubicBezTo>
                  <a:pt x="150" y="588"/>
                  <a:pt x="120" y="604"/>
                  <a:pt x="169" y="571"/>
                </a:cubicBezTo>
                <a:cubicBezTo>
                  <a:pt x="200" y="525"/>
                  <a:pt x="214" y="470"/>
                  <a:pt x="231" y="417"/>
                </a:cubicBezTo>
                <a:cubicBezTo>
                  <a:pt x="232" y="413"/>
                  <a:pt x="249" y="359"/>
                  <a:pt x="252" y="355"/>
                </a:cubicBezTo>
                <a:cubicBezTo>
                  <a:pt x="300" y="283"/>
                  <a:pt x="279" y="314"/>
                  <a:pt x="313" y="263"/>
                </a:cubicBezTo>
                <a:cubicBezTo>
                  <a:pt x="319" y="254"/>
                  <a:pt x="334" y="257"/>
                  <a:pt x="344" y="252"/>
                </a:cubicBezTo>
                <a:cubicBezTo>
                  <a:pt x="386" y="231"/>
                  <a:pt x="428" y="216"/>
                  <a:pt x="468" y="191"/>
                </a:cubicBezTo>
                <a:cubicBezTo>
                  <a:pt x="582" y="198"/>
                  <a:pt x="626" y="179"/>
                  <a:pt x="704" y="232"/>
                </a:cubicBezTo>
                <a:cubicBezTo>
                  <a:pt x="746" y="294"/>
                  <a:pt x="803" y="346"/>
                  <a:pt x="828" y="417"/>
                </a:cubicBezTo>
                <a:cubicBezTo>
                  <a:pt x="841" y="526"/>
                  <a:pt x="839" y="508"/>
                  <a:pt x="858" y="643"/>
                </a:cubicBezTo>
                <a:cubicBezTo>
                  <a:pt x="870" y="729"/>
                  <a:pt x="883" y="776"/>
                  <a:pt x="972" y="808"/>
                </a:cubicBezTo>
                <a:cubicBezTo>
                  <a:pt x="1004" y="796"/>
                  <a:pt x="1007" y="802"/>
                  <a:pt x="1023" y="767"/>
                </a:cubicBezTo>
                <a:cubicBezTo>
                  <a:pt x="1032" y="747"/>
                  <a:pt x="1044" y="705"/>
                  <a:pt x="1044" y="705"/>
                </a:cubicBezTo>
                <a:cubicBezTo>
                  <a:pt x="1032" y="563"/>
                  <a:pt x="1037" y="390"/>
                  <a:pt x="930" y="283"/>
                </a:cubicBezTo>
                <a:cubicBezTo>
                  <a:pt x="905" y="205"/>
                  <a:pt x="942" y="298"/>
                  <a:pt x="889" y="232"/>
                </a:cubicBezTo>
                <a:cubicBezTo>
                  <a:pt x="882" y="224"/>
                  <a:pt x="884" y="211"/>
                  <a:pt x="879" y="201"/>
                </a:cubicBezTo>
                <a:cubicBezTo>
                  <a:pt x="873" y="190"/>
                  <a:pt x="867" y="179"/>
                  <a:pt x="858" y="170"/>
                </a:cubicBezTo>
                <a:cubicBezTo>
                  <a:pt x="804" y="115"/>
                  <a:pt x="745" y="90"/>
                  <a:pt x="673" y="67"/>
                </a:cubicBezTo>
                <a:cubicBezTo>
                  <a:pt x="642" y="57"/>
                  <a:pt x="612" y="46"/>
                  <a:pt x="581" y="36"/>
                </a:cubicBezTo>
                <a:cubicBezTo>
                  <a:pt x="571" y="33"/>
                  <a:pt x="560" y="29"/>
                  <a:pt x="550" y="26"/>
                </a:cubicBezTo>
                <a:cubicBezTo>
                  <a:pt x="540" y="23"/>
                  <a:pt x="519" y="16"/>
                  <a:pt x="519" y="16"/>
                </a:cubicBezTo>
                <a:cubicBezTo>
                  <a:pt x="396" y="22"/>
                  <a:pt x="346" y="0"/>
                  <a:pt x="262" y="57"/>
                </a:cubicBezTo>
                <a:cubicBezTo>
                  <a:pt x="243" y="116"/>
                  <a:pt x="175" y="143"/>
                  <a:pt x="138" y="191"/>
                </a:cubicBezTo>
                <a:cubicBezTo>
                  <a:pt x="115" y="220"/>
                  <a:pt x="89" y="248"/>
                  <a:pt x="77" y="283"/>
                </a:cubicBezTo>
                <a:cubicBezTo>
                  <a:pt x="54" y="349"/>
                  <a:pt x="71" y="330"/>
                  <a:pt x="46" y="355"/>
                </a:cubicBez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1" name="Text Box 3"/>
          <p:cNvSpPr txBox="1">
            <a:spLocks noChangeArrowheads="1"/>
          </p:cNvSpPr>
          <p:nvPr/>
        </p:nvSpPr>
        <p:spPr bwMode="auto">
          <a:xfrm>
            <a:off x="422275" y="792163"/>
            <a:ext cx="162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损伤</a:t>
            </a:r>
          </a:p>
        </p:txBody>
      </p:sp>
      <p:sp>
        <p:nvSpPr>
          <p:cNvPr id="34822" name="Text Box 4"/>
          <p:cNvSpPr txBox="1">
            <a:spLocks noChangeArrowheads="1"/>
          </p:cNvSpPr>
          <p:nvPr/>
        </p:nvSpPr>
        <p:spPr bwMode="auto">
          <a:xfrm>
            <a:off x="442913" y="1238250"/>
            <a:ext cx="232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黑体" panose="02010609060101010101" pitchFamily="49" charset="-122"/>
              </a:rPr>
              <a:t>形成嘧啶二聚体</a:t>
            </a:r>
          </a:p>
        </p:txBody>
      </p:sp>
      <p:sp>
        <p:nvSpPr>
          <p:cNvPr id="34823" name="Text Box 5"/>
          <p:cNvSpPr txBox="1">
            <a:spLocks noChangeArrowheads="1"/>
          </p:cNvSpPr>
          <p:nvPr/>
        </p:nvSpPr>
        <p:spPr bwMode="auto">
          <a:xfrm>
            <a:off x="404813" y="2100263"/>
            <a:ext cx="261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形成酶－</a:t>
            </a:r>
            <a:r>
              <a:rPr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复合物</a:t>
            </a:r>
          </a:p>
        </p:txBody>
      </p:sp>
      <p:sp>
        <p:nvSpPr>
          <p:cNvPr id="34824" name="Text Box 6"/>
          <p:cNvSpPr txBox="1">
            <a:spLocks noChangeArrowheads="1"/>
          </p:cNvSpPr>
          <p:nvPr/>
        </p:nvSpPr>
        <p:spPr bwMode="auto">
          <a:xfrm>
            <a:off x="179388" y="2932113"/>
            <a:ext cx="355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黑体" panose="02010609060101010101" pitchFamily="49" charset="-122"/>
              </a:rPr>
              <a:t>光复合酶结合于损伤部位</a:t>
            </a:r>
          </a:p>
        </p:txBody>
      </p:sp>
      <p:sp>
        <p:nvSpPr>
          <p:cNvPr id="34825" name="Text Box 7"/>
          <p:cNvSpPr txBox="1">
            <a:spLocks noChangeArrowheads="1"/>
          </p:cNvSpPr>
          <p:nvPr/>
        </p:nvSpPr>
        <p:spPr bwMode="auto">
          <a:xfrm>
            <a:off x="430213" y="3821113"/>
            <a:ext cx="2486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酶被可见光所激活</a:t>
            </a:r>
          </a:p>
        </p:txBody>
      </p:sp>
      <p:sp>
        <p:nvSpPr>
          <p:cNvPr id="34826" name="Text Box 8"/>
          <p:cNvSpPr txBox="1">
            <a:spLocks noChangeArrowheads="1"/>
          </p:cNvSpPr>
          <p:nvPr/>
        </p:nvSpPr>
        <p:spPr bwMode="auto">
          <a:xfrm>
            <a:off x="436563" y="5264150"/>
            <a:ext cx="1974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修复后释放酶</a:t>
            </a:r>
          </a:p>
        </p:txBody>
      </p:sp>
      <p:sp>
        <p:nvSpPr>
          <p:cNvPr id="34827" name="Rectangle 9"/>
          <p:cNvSpPr>
            <a:spLocks noChangeArrowheads="1"/>
          </p:cNvSpPr>
          <p:nvPr/>
        </p:nvSpPr>
        <p:spPr bwMode="auto">
          <a:xfrm>
            <a:off x="3178175" y="735013"/>
            <a:ext cx="39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5'</a:t>
            </a:r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3178175" y="1192213"/>
            <a:ext cx="39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3'</a:t>
            </a:r>
          </a:p>
        </p:txBody>
      </p:sp>
      <p:sp>
        <p:nvSpPr>
          <p:cNvPr id="34829" name="Freeform 13" descr="5%"/>
          <p:cNvSpPr>
            <a:spLocks/>
          </p:cNvSpPr>
          <p:nvPr/>
        </p:nvSpPr>
        <p:spPr bwMode="auto">
          <a:xfrm>
            <a:off x="4702175" y="3300413"/>
            <a:ext cx="1752600" cy="1282700"/>
          </a:xfrm>
          <a:custGeom>
            <a:avLst/>
            <a:gdLst>
              <a:gd name="T0" fmla="*/ 2147483647 w 1044"/>
              <a:gd name="T1" fmla="*/ 2147483647 h 808"/>
              <a:gd name="T2" fmla="*/ 2147483647 w 1044"/>
              <a:gd name="T3" fmla="*/ 2147483647 h 808"/>
              <a:gd name="T4" fmla="*/ 2147483647 w 1044"/>
              <a:gd name="T5" fmla="*/ 2147483647 h 808"/>
              <a:gd name="T6" fmla="*/ 2147483647 w 1044"/>
              <a:gd name="T7" fmla="*/ 2147483647 h 808"/>
              <a:gd name="T8" fmla="*/ 2147483647 w 1044"/>
              <a:gd name="T9" fmla="*/ 2147483647 h 808"/>
              <a:gd name="T10" fmla="*/ 2147483647 w 1044"/>
              <a:gd name="T11" fmla="*/ 2147483647 h 808"/>
              <a:gd name="T12" fmla="*/ 2147483647 w 1044"/>
              <a:gd name="T13" fmla="*/ 2147483647 h 808"/>
              <a:gd name="T14" fmla="*/ 2147483647 w 1044"/>
              <a:gd name="T15" fmla="*/ 2147483647 h 808"/>
              <a:gd name="T16" fmla="*/ 2147483647 w 1044"/>
              <a:gd name="T17" fmla="*/ 2147483647 h 808"/>
              <a:gd name="T18" fmla="*/ 2147483647 w 1044"/>
              <a:gd name="T19" fmla="*/ 2147483647 h 808"/>
              <a:gd name="T20" fmla="*/ 2147483647 w 1044"/>
              <a:gd name="T21" fmla="*/ 2147483647 h 808"/>
              <a:gd name="T22" fmla="*/ 2147483647 w 1044"/>
              <a:gd name="T23" fmla="*/ 2147483647 h 808"/>
              <a:gd name="T24" fmla="*/ 2147483647 w 1044"/>
              <a:gd name="T25" fmla="*/ 2147483647 h 808"/>
              <a:gd name="T26" fmla="*/ 2147483647 w 1044"/>
              <a:gd name="T27" fmla="*/ 2147483647 h 808"/>
              <a:gd name="T28" fmla="*/ 2147483647 w 1044"/>
              <a:gd name="T29" fmla="*/ 2147483647 h 808"/>
              <a:gd name="T30" fmla="*/ 2147483647 w 1044"/>
              <a:gd name="T31" fmla="*/ 2147483647 h 808"/>
              <a:gd name="T32" fmla="*/ 2147483647 w 1044"/>
              <a:gd name="T33" fmla="*/ 2147483647 h 808"/>
              <a:gd name="T34" fmla="*/ 2147483647 w 1044"/>
              <a:gd name="T35" fmla="*/ 2147483647 h 808"/>
              <a:gd name="T36" fmla="*/ 2147483647 w 1044"/>
              <a:gd name="T37" fmla="*/ 2147483647 h 808"/>
              <a:gd name="T38" fmla="*/ 2147483647 w 1044"/>
              <a:gd name="T39" fmla="*/ 2147483647 h 808"/>
              <a:gd name="T40" fmla="*/ 2147483647 w 1044"/>
              <a:gd name="T41" fmla="*/ 2147483647 h 808"/>
              <a:gd name="T42" fmla="*/ 2147483647 w 1044"/>
              <a:gd name="T43" fmla="*/ 2147483647 h 808"/>
              <a:gd name="T44" fmla="*/ 2147483647 w 1044"/>
              <a:gd name="T45" fmla="*/ 2147483647 h 808"/>
              <a:gd name="T46" fmla="*/ 2147483647 w 1044"/>
              <a:gd name="T47" fmla="*/ 2147483647 h 808"/>
              <a:gd name="T48" fmla="*/ 2147483647 w 1044"/>
              <a:gd name="T49" fmla="*/ 2147483647 h 808"/>
              <a:gd name="T50" fmla="*/ 2147483647 w 1044"/>
              <a:gd name="T51" fmla="*/ 2147483647 h 808"/>
              <a:gd name="T52" fmla="*/ 2147483647 w 1044"/>
              <a:gd name="T53" fmla="*/ 2147483647 h 808"/>
              <a:gd name="T54" fmla="*/ 2147483647 w 1044"/>
              <a:gd name="T55" fmla="*/ 2147483647 h 80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044"/>
              <a:gd name="T85" fmla="*/ 0 h 808"/>
              <a:gd name="T86" fmla="*/ 1044 w 1044"/>
              <a:gd name="T87" fmla="*/ 808 h 80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044" h="808">
                <a:moveTo>
                  <a:pt x="46" y="355"/>
                </a:moveTo>
                <a:cubicBezTo>
                  <a:pt x="39" y="376"/>
                  <a:pt x="32" y="396"/>
                  <a:pt x="25" y="417"/>
                </a:cubicBezTo>
                <a:cubicBezTo>
                  <a:pt x="22" y="427"/>
                  <a:pt x="15" y="448"/>
                  <a:pt x="15" y="448"/>
                </a:cubicBezTo>
                <a:cubicBezTo>
                  <a:pt x="22" y="529"/>
                  <a:pt x="0" y="587"/>
                  <a:pt x="77" y="612"/>
                </a:cubicBezTo>
                <a:cubicBezTo>
                  <a:pt x="150" y="588"/>
                  <a:pt x="120" y="604"/>
                  <a:pt x="169" y="571"/>
                </a:cubicBezTo>
                <a:cubicBezTo>
                  <a:pt x="200" y="525"/>
                  <a:pt x="214" y="470"/>
                  <a:pt x="231" y="417"/>
                </a:cubicBezTo>
                <a:cubicBezTo>
                  <a:pt x="232" y="413"/>
                  <a:pt x="249" y="359"/>
                  <a:pt x="252" y="355"/>
                </a:cubicBezTo>
                <a:cubicBezTo>
                  <a:pt x="300" y="283"/>
                  <a:pt x="279" y="314"/>
                  <a:pt x="313" y="263"/>
                </a:cubicBezTo>
                <a:cubicBezTo>
                  <a:pt x="319" y="254"/>
                  <a:pt x="334" y="257"/>
                  <a:pt x="344" y="252"/>
                </a:cubicBezTo>
                <a:cubicBezTo>
                  <a:pt x="386" y="231"/>
                  <a:pt x="428" y="216"/>
                  <a:pt x="468" y="191"/>
                </a:cubicBezTo>
                <a:cubicBezTo>
                  <a:pt x="582" y="198"/>
                  <a:pt x="626" y="179"/>
                  <a:pt x="704" y="232"/>
                </a:cubicBezTo>
                <a:cubicBezTo>
                  <a:pt x="746" y="294"/>
                  <a:pt x="803" y="346"/>
                  <a:pt x="828" y="417"/>
                </a:cubicBezTo>
                <a:cubicBezTo>
                  <a:pt x="841" y="526"/>
                  <a:pt x="839" y="508"/>
                  <a:pt x="858" y="643"/>
                </a:cubicBezTo>
                <a:cubicBezTo>
                  <a:pt x="870" y="729"/>
                  <a:pt x="883" y="776"/>
                  <a:pt x="972" y="808"/>
                </a:cubicBezTo>
                <a:cubicBezTo>
                  <a:pt x="1004" y="796"/>
                  <a:pt x="1007" y="802"/>
                  <a:pt x="1023" y="767"/>
                </a:cubicBezTo>
                <a:cubicBezTo>
                  <a:pt x="1032" y="747"/>
                  <a:pt x="1044" y="705"/>
                  <a:pt x="1044" y="705"/>
                </a:cubicBezTo>
                <a:cubicBezTo>
                  <a:pt x="1032" y="563"/>
                  <a:pt x="1037" y="390"/>
                  <a:pt x="930" y="283"/>
                </a:cubicBezTo>
                <a:cubicBezTo>
                  <a:pt x="905" y="205"/>
                  <a:pt x="942" y="298"/>
                  <a:pt x="889" y="232"/>
                </a:cubicBezTo>
                <a:cubicBezTo>
                  <a:pt x="882" y="224"/>
                  <a:pt x="884" y="211"/>
                  <a:pt x="879" y="201"/>
                </a:cubicBezTo>
                <a:cubicBezTo>
                  <a:pt x="873" y="190"/>
                  <a:pt x="867" y="179"/>
                  <a:pt x="858" y="170"/>
                </a:cubicBezTo>
                <a:cubicBezTo>
                  <a:pt x="804" y="115"/>
                  <a:pt x="745" y="90"/>
                  <a:pt x="673" y="67"/>
                </a:cubicBezTo>
                <a:cubicBezTo>
                  <a:pt x="642" y="57"/>
                  <a:pt x="612" y="46"/>
                  <a:pt x="581" y="36"/>
                </a:cubicBezTo>
                <a:cubicBezTo>
                  <a:pt x="571" y="33"/>
                  <a:pt x="560" y="29"/>
                  <a:pt x="550" y="26"/>
                </a:cubicBezTo>
                <a:cubicBezTo>
                  <a:pt x="540" y="23"/>
                  <a:pt x="519" y="16"/>
                  <a:pt x="519" y="16"/>
                </a:cubicBezTo>
                <a:cubicBezTo>
                  <a:pt x="396" y="22"/>
                  <a:pt x="346" y="0"/>
                  <a:pt x="262" y="57"/>
                </a:cubicBezTo>
                <a:cubicBezTo>
                  <a:pt x="243" y="116"/>
                  <a:pt x="175" y="143"/>
                  <a:pt x="138" y="191"/>
                </a:cubicBezTo>
                <a:cubicBezTo>
                  <a:pt x="115" y="220"/>
                  <a:pt x="89" y="248"/>
                  <a:pt x="77" y="283"/>
                </a:cubicBezTo>
                <a:cubicBezTo>
                  <a:pt x="54" y="349"/>
                  <a:pt x="71" y="330"/>
                  <a:pt x="46" y="355"/>
                </a:cubicBez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>
            <a:off x="4321175" y="3452813"/>
            <a:ext cx="533400" cy="228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3736975" y="3224213"/>
            <a:ext cx="746125" cy="4667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ea typeface="黑体" panose="02010609060101010101" pitchFamily="49" charset="-122"/>
              </a:rPr>
              <a:t>hυ </a:t>
            </a:r>
          </a:p>
        </p:txBody>
      </p:sp>
      <p:sp>
        <p:nvSpPr>
          <p:cNvPr id="34832" name="Freeform 16" descr="5%"/>
          <p:cNvSpPr>
            <a:spLocks/>
          </p:cNvSpPr>
          <p:nvPr/>
        </p:nvSpPr>
        <p:spPr bwMode="auto">
          <a:xfrm>
            <a:off x="4625975" y="4811713"/>
            <a:ext cx="1752600" cy="1282700"/>
          </a:xfrm>
          <a:custGeom>
            <a:avLst/>
            <a:gdLst>
              <a:gd name="T0" fmla="*/ 2147483647 w 1044"/>
              <a:gd name="T1" fmla="*/ 2147483647 h 808"/>
              <a:gd name="T2" fmla="*/ 2147483647 w 1044"/>
              <a:gd name="T3" fmla="*/ 2147483647 h 808"/>
              <a:gd name="T4" fmla="*/ 2147483647 w 1044"/>
              <a:gd name="T5" fmla="*/ 2147483647 h 808"/>
              <a:gd name="T6" fmla="*/ 2147483647 w 1044"/>
              <a:gd name="T7" fmla="*/ 2147483647 h 808"/>
              <a:gd name="T8" fmla="*/ 2147483647 w 1044"/>
              <a:gd name="T9" fmla="*/ 2147483647 h 808"/>
              <a:gd name="T10" fmla="*/ 2147483647 w 1044"/>
              <a:gd name="T11" fmla="*/ 2147483647 h 808"/>
              <a:gd name="T12" fmla="*/ 2147483647 w 1044"/>
              <a:gd name="T13" fmla="*/ 2147483647 h 808"/>
              <a:gd name="T14" fmla="*/ 2147483647 w 1044"/>
              <a:gd name="T15" fmla="*/ 2147483647 h 808"/>
              <a:gd name="T16" fmla="*/ 2147483647 w 1044"/>
              <a:gd name="T17" fmla="*/ 2147483647 h 808"/>
              <a:gd name="T18" fmla="*/ 2147483647 w 1044"/>
              <a:gd name="T19" fmla="*/ 2147483647 h 808"/>
              <a:gd name="T20" fmla="*/ 2147483647 w 1044"/>
              <a:gd name="T21" fmla="*/ 2147483647 h 808"/>
              <a:gd name="T22" fmla="*/ 2147483647 w 1044"/>
              <a:gd name="T23" fmla="*/ 2147483647 h 808"/>
              <a:gd name="T24" fmla="*/ 2147483647 w 1044"/>
              <a:gd name="T25" fmla="*/ 2147483647 h 808"/>
              <a:gd name="T26" fmla="*/ 2147483647 w 1044"/>
              <a:gd name="T27" fmla="*/ 2147483647 h 808"/>
              <a:gd name="T28" fmla="*/ 2147483647 w 1044"/>
              <a:gd name="T29" fmla="*/ 2147483647 h 808"/>
              <a:gd name="T30" fmla="*/ 2147483647 w 1044"/>
              <a:gd name="T31" fmla="*/ 2147483647 h 808"/>
              <a:gd name="T32" fmla="*/ 2147483647 w 1044"/>
              <a:gd name="T33" fmla="*/ 2147483647 h 808"/>
              <a:gd name="T34" fmla="*/ 2147483647 w 1044"/>
              <a:gd name="T35" fmla="*/ 2147483647 h 808"/>
              <a:gd name="T36" fmla="*/ 2147483647 w 1044"/>
              <a:gd name="T37" fmla="*/ 2147483647 h 808"/>
              <a:gd name="T38" fmla="*/ 2147483647 w 1044"/>
              <a:gd name="T39" fmla="*/ 2147483647 h 808"/>
              <a:gd name="T40" fmla="*/ 2147483647 w 1044"/>
              <a:gd name="T41" fmla="*/ 2147483647 h 808"/>
              <a:gd name="T42" fmla="*/ 2147483647 w 1044"/>
              <a:gd name="T43" fmla="*/ 2147483647 h 808"/>
              <a:gd name="T44" fmla="*/ 2147483647 w 1044"/>
              <a:gd name="T45" fmla="*/ 2147483647 h 808"/>
              <a:gd name="T46" fmla="*/ 2147483647 w 1044"/>
              <a:gd name="T47" fmla="*/ 2147483647 h 808"/>
              <a:gd name="T48" fmla="*/ 2147483647 w 1044"/>
              <a:gd name="T49" fmla="*/ 2147483647 h 808"/>
              <a:gd name="T50" fmla="*/ 2147483647 w 1044"/>
              <a:gd name="T51" fmla="*/ 2147483647 h 808"/>
              <a:gd name="T52" fmla="*/ 2147483647 w 1044"/>
              <a:gd name="T53" fmla="*/ 2147483647 h 808"/>
              <a:gd name="T54" fmla="*/ 2147483647 w 1044"/>
              <a:gd name="T55" fmla="*/ 2147483647 h 80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044"/>
              <a:gd name="T85" fmla="*/ 0 h 808"/>
              <a:gd name="T86" fmla="*/ 1044 w 1044"/>
              <a:gd name="T87" fmla="*/ 808 h 80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044" h="808">
                <a:moveTo>
                  <a:pt x="46" y="355"/>
                </a:moveTo>
                <a:cubicBezTo>
                  <a:pt x="39" y="376"/>
                  <a:pt x="32" y="396"/>
                  <a:pt x="25" y="417"/>
                </a:cubicBezTo>
                <a:cubicBezTo>
                  <a:pt x="22" y="427"/>
                  <a:pt x="15" y="448"/>
                  <a:pt x="15" y="448"/>
                </a:cubicBezTo>
                <a:cubicBezTo>
                  <a:pt x="22" y="529"/>
                  <a:pt x="0" y="587"/>
                  <a:pt x="77" y="612"/>
                </a:cubicBezTo>
                <a:cubicBezTo>
                  <a:pt x="150" y="588"/>
                  <a:pt x="120" y="604"/>
                  <a:pt x="169" y="571"/>
                </a:cubicBezTo>
                <a:cubicBezTo>
                  <a:pt x="200" y="525"/>
                  <a:pt x="214" y="470"/>
                  <a:pt x="231" y="417"/>
                </a:cubicBezTo>
                <a:cubicBezTo>
                  <a:pt x="232" y="413"/>
                  <a:pt x="249" y="359"/>
                  <a:pt x="252" y="355"/>
                </a:cubicBezTo>
                <a:cubicBezTo>
                  <a:pt x="300" y="283"/>
                  <a:pt x="279" y="314"/>
                  <a:pt x="313" y="263"/>
                </a:cubicBezTo>
                <a:cubicBezTo>
                  <a:pt x="319" y="254"/>
                  <a:pt x="334" y="257"/>
                  <a:pt x="344" y="252"/>
                </a:cubicBezTo>
                <a:cubicBezTo>
                  <a:pt x="386" y="231"/>
                  <a:pt x="428" y="216"/>
                  <a:pt x="468" y="191"/>
                </a:cubicBezTo>
                <a:cubicBezTo>
                  <a:pt x="582" y="198"/>
                  <a:pt x="626" y="179"/>
                  <a:pt x="704" y="232"/>
                </a:cubicBezTo>
                <a:cubicBezTo>
                  <a:pt x="746" y="294"/>
                  <a:pt x="803" y="346"/>
                  <a:pt x="828" y="417"/>
                </a:cubicBezTo>
                <a:cubicBezTo>
                  <a:pt x="841" y="526"/>
                  <a:pt x="839" y="508"/>
                  <a:pt x="858" y="643"/>
                </a:cubicBezTo>
                <a:cubicBezTo>
                  <a:pt x="870" y="729"/>
                  <a:pt x="883" y="776"/>
                  <a:pt x="972" y="808"/>
                </a:cubicBezTo>
                <a:cubicBezTo>
                  <a:pt x="1004" y="796"/>
                  <a:pt x="1007" y="802"/>
                  <a:pt x="1023" y="767"/>
                </a:cubicBezTo>
                <a:cubicBezTo>
                  <a:pt x="1032" y="747"/>
                  <a:pt x="1044" y="705"/>
                  <a:pt x="1044" y="705"/>
                </a:cubicBezTo>
                <a:cubicBezTo>
                  <a:pt x="1032" y="563"/>
                  <a:pt x="1037" y="390"/>
                  <a:pt x="930" y="283"/>
                </a:cubicBezTo>
                <a:cubicBezTo>
                  <a:pt x="905" y="205"/>
                  <a:pt x="942" y="298"/>
                  <a:pt x="889" y="232"/>
                </a:cubicBezTo>
                <a:cubicBezTo>
                  <a:pt x="882" y="224"/>
                  <a:pt x="884" y="211"/>
                  <a:pt x="879" y="201"/>
                </a:cubicBezTo>
                <a:cubicBezTo>
                  <a:pt x="873" y="190"/>
                  <a:pt x="867" y="179"/>
                  <a:pt x="858" y="170"/>
                </a:cubicBezTo>
                <a:cubicBezTo>
                  <a:pt x="804" y="115"/>
                  <a:pt x="745" y="90"/>
                  <a:pt x="673" y="67"/>
                </a:cubicBezTo>
                <a:cubicBezTo>
                  <a:pt x="642" y="57"/>
                  <a:pt x="612" y="46"/>
                  <a:pt x="581" y="36"/>
                </a:cubicBezTo>
                <a:cubicBezTo>
                  <a:pt x="571" y="33"/>
                  <a:pt x="560" y="29"/>
                  <a:pt x="550" y="26"/>
                </a:cubicBezTo>
                <a:cubicBezTo>
                  <a:pt x="540" y="23"/>
                  <a:pt x="519" y="16"/>
                  <a:pt x="519" y="16"/>
                </a:cubicBezTo>
                <a:cubicBezTo>
                  <a:pt x="396" y="22"/>
                  <a:pt x="346" y="0"/>
                  <a:pt x="262" y="57"/>
                </a:cubicBezTo>
                <a:cubicBezTo>
                  <a:pt x="243" y="116"/>
                  <a:pt x="175" y="143"/>
                  <a:pt x="138" y="191"/>
                </a:cubicBezTo>
                <a:cubicBezTo>
                  <a:pt x="115" y="220"/>
                  <a:pt x="89" y="248"/>
                  <a:pt x="77" y="283"/>
                </a:cubicBezTo>
                <a:cubicBezTo>
                  <a:pt x="54" y="349"/>
                  <a:pt x="71" y="330"/>
                  <a:pt x="46" y="355"/>
                </a:cubicBez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3406775" y="61071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>
            <a:off x="5083175" y="6107113"/>
            <a:ext cx="2514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59975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61499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>
            <a:off x="63023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64547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>
            <a:off x="6607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>
            <a:off x="67595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69119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>
            <a:off x="70643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72167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7369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75215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3482975" y="40116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3482975" y="4468813"/>
            <a:ext cx="4191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5997575" y="40116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9" name="AutoShape 33"/>
          <p:cNvSpPr>
            <a:spLocks noChangeArrowheads="1"/>
          </p:cNvSpPr>
          <p:nvPr/>
        </p:nvSpPr>
        <p:spPr bwMode="auto">
          <a:xfrm rot="5400000">
            <a:off x="5407025" y="3421063"/>
            <a:ext cx="342900" cy="838200"/>
          </a:xfrm>
          <a:prstGeom prst="moon">
            <a:avLst>
              <a:gd name="adj" fmla="val 0"/>
            </a:avLst>
          </a:prstGeom>
          <a:solidFill>
            <a:schemeClr val="accent1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37115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>
            <a:off x="37115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>
            <a:off x="38639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>
            <a:off x="38639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4" name="Line 38"/>
          <p:cNvSpPr>
            <a:spLocks noChangeShapeType="1"/>
          </p:cNvSpPr>
          <p:nvPr/>
        </p:nvSpPr>
        <p:spPr bwMode="auto">
          <a:xfrm>
            <a:off x="40163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>
            <a:off x="40163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>
            <a:off x="41687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41687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8" name="Line 42"/>
          <p:cNvSpPr>
            <a:spLocks noChangeShapeType="1"/>
          </p:cNvSpPr>
          <p:nvPr/>
        </p:nvSpPr>
        <p:spPr bwMode="auto">
          <a:xfrm>
            <a:off x="43211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9" name="Line 43"/>
          <p:cNvSpPr>
            <a:spLocks noChangeShapeType="1"/>
          </p:cNvSpPr>
          <p:nvPr/>
        </p:nvSpPr>
        <p:spPr bwMode="auto">
          <a:xfrm>
            <a:off x="43211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0" name="Line 44"/>
          <p:cNvSpPr>
            <a:spLocks noChangeShapeType="1"/>
          </p:cNvSpPr>
          <p:nvPr/>
        </p:nvSpPr>
        <p:spPr bwMode="auto">
          <a:xfrm>
            <a:off x="44735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1" name="Line 45"/>
          <p:cNvSpPr>
            <a:spLocks noChangeShapeType="1"/>
          </p:cNvSpPr>
          <p:nvPr/>
        </p:nvSpPr>
        <p:spPr bwMode="auto">
          <a:xfrm>
            <a:off x="44735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2" name="Line 46"/>
          <p:cNvSpPr>
            <a:spLocks noChangeShapeType="1"/>
          </p:cNvSpPr>
          <p:nvPr/>
        </p:nvSpPr>
        <p:spPr bwMode="auto">
          <a:xfrm>
            <a:off x="46259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3" name="Line 47"/>
          <p:cNvSpPr>
            <a:spLocks noChangeShapeType="1"/>
          </p:cNvSpPr>
          <p:nvPr/>
        </p:nvSpPr>
        <p:spPr bwMode="auto">
          <a:xfrm>
            <a:off x="46259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4" name="Line 48"/>
          <p:cNvSpPr>
            <a:spLocks noChangeShapeType="1"/>
          </p:cNvSpPr>
          <p:nvPr/>
        </p:nvSpPr>
        <p:spPr bwMode="auto">
          <a:xfrm>
            <a:off x="47783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5" name="Line 49"/>
          <p:cNvSpPr>
            <a:spLocks noChangeShapeType="1"/>
          </p:cNvSpPr>
          <p:nvPr/>
        </p:nvSpPr>
        <p:spPr bwMode="auto">
          <a:xfrm>
            <a:off x="47783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6" name="Line 50"/>
          <p:cNvSpPr>
            <a:spLocks noChangeShapeType="1"/>
          </p:cNvSpPr>
          <p:nvPr/>
        </p:nvSpPr>
        <p:spPr bwMode="auto">
          <a:xfrm>
            <a:off x="49307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7" name="Line 51"/>
          <p:cNvSpPr>
            <a:spLocks noChangeShapeType="1"/>
          </p:cNvSpPr>
          <p:nvPr/>
        </p:nvSpPr>
        <p:spPr bwMode="auto">
          <a:xfrm>
            <a:off x="49307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8" name="Line 52"/>
          <p:cNvSpPr>
            <a:spLocks noChangeShapeType="1"/>
          </p:cNvSpPr>
          <p:nvPr/>
        </p:nvSpPr>
        <p:spPr bwMode="auto">
          <a:xfrm>
            <a:off x="50831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9" name="Line 53"/>
          <p:cNvSpPr>
            <a:spLocks noChangeShapeType="1"/>
          </p:cNvSpPr>
          <p:nvPr/>
        </p:nvSpPr>
        <p:spPr bwMode="auto">
          <a:xfrm>
            <a:off x="50831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0" name="Line 54"/>
          <p:cNvSpPr>
            <a:spLocks noChangeShapeType="1"/>
          </p:cNvSpPr>
          <p:nvPr/>
        </p:nvSpPr>
        <p:spPr bwMode="auto">
          <a:xfrm>
            <a:off x="60737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1" name="Line 55"/>
          <p:cNvSpPr>
            <a:spLocks noChangeShapeType="1"/>
          </p:cNvSpPr>
          <p:nvPr/>
        </p:nvSpPr>
        <p:spPr bwMode="auto">
          <a:xfrm>
            <a:off x="60737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2" name="Line 56"/>
          <p:cNvSpPr>
            <a:spLocks noChangeShapeType="1"/>
          </p:cNvSpPr>
          <p:nvPr/>
        </p:nvSpPr>
        <p:spPr bwMode="auto">
          <a:xfrm>
            <a:off x="62261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3" name="Line 57"/>
          <p:cNvSpPr>
            <a:spLocks noChangeShapeType="1"/>
          </p:cNvSpPr>
          <p:nvPr/>
        </p:nvSpPr>
        <p:spPr bwMode="auto">
          <a:xfrm>
            <a:off x="62261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63785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5" name="Line 59"/>
          <p:cNvSpPr>
            <a:spLocks noChangeShapeType="1"/>
          </p:cNvSpPr>
          <p:nvPr/>
        </p:nvSpPr>
        <p:spPr bwMode="auto">
          <a:xfrm>
            <a:off x="63785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6" name="Line 60"/>
          <p:cNvSpPr>
            <a:spLocks noChangeShapeType="1"/>
          </p:cNvSpPr>
          <p:nvPr/>
        </p:nvSpPr>
        <p:spPr bwMode="auto">
          <a:xfrm>
            <a:off x="65309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7" name="Line 61"/>
          <p:cNvSpPr>
            <a:spLocks noChangeShapeType="1"/>
          </p:cNvSpPr>
          <p:nvPr/>
        </p:nvSpPr>
        <p:spPr bwMode="auto">
          <a:xfrm>
            <a:off x="65309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8" name="Line 62"/>
          <p:cNvSpPr>
            <a:spLocks noChangeShapeType="1"/>
          </p:cNvSpPr>
          <p:nvPr/>
        </p:nvSpPr>
        <p:spPr bwMode="auto">
          <a:xfrm>
            <a:off x="66833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9" name="Line 63"/>
          <p:cNvSpPr>
            <a:spLocks noChangeShapeType="1"/>
          </p:cNvSpPr>
          <p:nvPr/>
        </p:nvSpPr>
        <p:spPr bwMode="auto">
          <a:xfrm>
            <a:off x="66833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0" name="Line 64"/>
          <p:cNvSpPr>
            <a:spLocks noChangeShapeType="1"/>
          </p:cNvSpPr>
          <p:nvPr/>
        </p:nvSpPr>
        <p:spPr bwMode="auto">
          <a:xfrm>
            <a:off x="68357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1" name="Line 65"/>
          <p:cNvSpPr>
            <a:spLocks noChangeShapeType="1"/>
          </p:cNvSpPr>
          <p:nvPr/>
        </p:nvSpPr>
        <p:spPr bwMode="auto">
          <a:xfrm>
            <a:off x="68357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2" name="Line 66"/>
          <p:cNvSpPr>
            <a:spLocks noChangeShapeType="1"/>
          </p:cNvSpPr>
          <p:nvPr/>
        </p:nvSpPr>
        <p:spPr bwMode="auto">
          <a:xfrm>
            <a:off x="69881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3" name="Line 67"/>
          <p:cNvSpPr>
            <a:spLocks noChangeShapeType="1"/>
          </p:cNvSpPr>
          <p:nvPr/>
        </p:nvSpPr>
        <p:spPr bwMode="auto">
          <a:xfrm>
            <a:off x="69881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>
            <a:off x="71405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5" name="Line 69"/>
          <p:cNvSpPr>
            <a:spLocks noChangeShapeType="1"/>
          </p:cNvSpPr>
          <p:nvPr/>
        </p:nvSpPr>
        <p:spPr bwMode="auto">
          <a:xfrm>
            <a:off x="71405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6" name="Line 70"/>
          <p:cNvSpPr>
            <a:spLocks noChangeShapeType="1"/>
          </p:cNvSpPr>
          <p:nvPr/>
        </p:nvSpPr>
        <p:spPr bwMode="auto">
          <a:xfrm>
            <a:off x="72929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7" name="Line 71"/>
          <p:cNvSpPr>
            <a:spLocks noChangeShapeType="1"/>
          </p:cNvSpPr>
          <p:nvPr/>
        </p:nvSpPr>
        <p:spPr bwMode="auto">
          <a:xfrm>
            <a:off x="72929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8" name="Line 72"/>
          <p:cNvSpPr>
            <a:spLocks noChangeShapeType="1"/>
          </p:cNvSpPr>
          <p:nvPr/>
        </p:nvSpPr>
        <p:spPr bwMode="auto">
          <a:xfrm>
            <a:off x="74453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9" name="Line 73"/>
          <p:cNvSpPr>
            <a:spLocks noChangeShapeType="1"/>
          </p:cNvSpPr>
          <p:nvPr/>
        </p:nvSpPr>
        <p:spPr bwMode="auto">
          <a:xfrm>
            <a:off x="74453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>
            <a:off x="7597775" y="4011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1" name="Line 75"/>
          <p:cNvSpPr>
            <a:spLocks noChangeShapeType="1"/>
          </p:cNvSpPr>
          <p:nvPr/>
        </p:nvSpPr>
        <p:spPr bwMode="auto">
          <a:xfrm>
            <a:off x="7597775" y="4324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2" name="Line 76"/>
          <p:cNvSpPr>
            <a:spLocks noChangeShapeType="1"/>
          </p:cNvSpPr>
          <p:nvPr/>
        </p:nvSpPr>
        <p:spPr bwMode="auto">
          <a:xfrm>
            <a:off x="5921375" y="4316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3" name="Line 77"/>
          <p:cNvSpPr>
            <a:spLocks noChangeShapeType="1"/>
          </p:cNvSpPr>
          <p:nvPr/>
        </p:nvSpPr>
        <p:spPr bwMode="auto">
          <a:xfrm>
            <a:off x="5768975" y="4316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4" name="Line 78"/>
          <p:cNvSpPr>
            <a:spLocks noChangeShapeType="1"/>
          </p:cNvSpPr>
          <p:nvPr/>
        </p:nvSpPr>
        <p:spPr bwMode="auto">
          <a:xfrm>
            <a:off x="5616575" y="4316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5" name="Line 79"/>
          <p:cNvSpPr>
            <a:spLocks noChangeShapeType="1"/>
          </p:cNvSpPr>
          <p:nvPr/>
        </p:nvSpPr>
        <p:spPr bwMode="auto">
          <a:xfrm>
            <a:off x="5464175" y="4316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6" name="Line 80"/>
          <p:cNvSpPr>
            <a:spLocks noChangeShapeType="1"/>
          </p:cNvSpPr>
          <p:nvPr/>
        </p:nvSpPr>
        <p:spPr bwMode="auto">
          <a:xfrm>
            <a:off x="5311775" y="4316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7" name="Line 81"/>
          <p:cNvSpPr>
            <a:spLocks noChangeShapeType="1"/>
          </p:cNvSpPr>
          <p:nvPr/>
        </p:nvSpPr>
        <p:spPr bwMode="auto">
          <a:xfrm>
            <a:off x="5387975" y="3706813"/>
            <a:ext cx="179388" cy="1793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8" name="Line 82"/>
          <p:cNvSpPr>
            <a:spLocks noChangeShapeType="1"/>
          </p:cNvSpPr>
          <p:nvPr/>
        </p:nvSpPr>
        <p:spPr bwMode="auto">
          <a:xfrm flipV="1">
            <a:off x="5548313" y="3706813"/>
            <a:ext cx="179387" cy="1793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9" name="Line 83"/>
          <p:cNvSpPr>
            <a:spLocks noChangeShapeType="1"/>
          </p:cNvSpPr>
          <p:nvPr/>
        </p:nvSpPr>
        <p:spPr bwMode="auto">
          <a:xfrm>
            <a:off x="5235575" y="3832225"/>
            <a:ext cx="179388" cy="179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0" name="Line 84"/>
          <p:cNvSpPr>
            <a:spLocks noChangeShapeType="1"/>
          </p:cNvSpPr>
          <p:nvPr/>
        </p:nvSpPr>
        <p:spPr bwMode="auto">
          <a:xfrm flipV="1">
            <a:off x="5768975" y="3832225"/>
            <a:ext cx="179388" cy="179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1" name="Line 85"/>
          <p:cNvSpPr>
            <a:spLocks noChangeShapeType="1"/>
          </p:cNvSpPr>
          <p:nvPr/>
        </p:nvSpPr>
        <p:spPr bwMode="auto">
          <a:xfrm>
            <a:off x="3482975" y="24114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2" name="Line 86"/>
          <p:cNvSpPr>
            <a:spLocks noChangeShapeType="1"/>
          </p:cNvSpPr>
          <p:nvPr/>
        </p:nvSpPr>
        <p:spPr bwMode="auto">
          <a:xfrm>
            <a:off x="3482975" y="2868613"/>
            <a:ext cx="4191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3" name="Line 87"/>
          <p:cNvSpPr>
            <a:spLocks noChangeShapeType="1"/>
          </p:cNvSpPr>
          <p:nvPr/>
        </p:nvSpPr>
        <p:spPr bwMode="auto">
          <a:xfrm>
            <a:off x="5997575" y="24114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4" name="AutoShape 88"/>
          <p:cNvSpPr>
            <a:spLocks noChangeArrowheads="1"/>
          </p:cNvSpPr>
          <p:nvPr/>
        </p:nvSpPr>
        <p:spPr bwMode="auto">
          <a:xfrm rot="5400000">
            <a:off x="5407025" y="1820863"/>
            <a:ext cx="342900" cy="838200"/>
          </a:xfrm>
          <a:prstGeom prst="moon">
            <a:avLst>
              <a:gd name="adj" fmla="val 0"/>
            </a:avLst>
          </a:prstGeom>
          <a:solidFill>
            <a:schemeClr val="accent1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905" name="Line 89"/>
          <p:cNvSpPr>
            <a:spLocks noChangeShapeType="1"/>
          </p:cNvSpPr>
          <p:nvPr/>
        </p:nvSpPr>
        <p:spPr bwMode="auto">
          <a:xfrm>
            <a:off x="37115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6" name="Line 90"/>
          <p:cNvSpPr>
            <a:spLocks noChangeShapeType="1"/>
          </p:cNvSpPr>
          <p:nvPr/>
        </p:nvSpPr>
        <p:spPr bwMode="auto">
          <a:xfrm>
            <a:off x="37115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7" name="Line 91"/>
          <p:cNvSpPr>
            <a:spLocks noChangeShapeType="1"/>
          </p:cNvSpPr>
          <p:nvPr/>
        </p:nvSpPr>
        <p:spPr bwMode="auto">
          <a:xfrm>
            <a:off x="38639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8" name="Line 92"/>
          <p:cNvSpPr>
            <a:spLocks noChangeShapeType="1"/>
          </p:cNvSpPr>
          <p:nvPr/>
        </p:nvSpPr>
        <p:spPr bwMode="auto">
          <a:xfrm>
            <a:off x="38639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09" name="Line 93"/>
          <p:cNvSpPr>
            <a:spLocks noChangeShapeType="1"/>
          </p:cNvSpPr>
          <p:nvPr/>
        </p:nvSpPr>
        <p:spPr bwMode="auto">
          <a:xfrm>
            <a:off x="40163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0" name="Line 94"/>
          <p:cNvSpPr>
            <a:spLocks noChangeShapeType="1"/>
          </p:cNvSpPr>
          <p:nvPr/>
        </p:nvSpPr>
        <p:spPr bwMode="auto">
          <a:xfrm>
            <a:off x="40163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1" name="Line 95"/>
          <p:cNvSpPr>
            <a:spLocks noChangeShapeType="1"/>
          </p:cNvSpPr>
          <p:nvPr/>
        </p:nvSpPr>
        <p:spPr bwMode="auto">
          <a:xfrm>
            <a:off x="41687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2" name="Line 96"/>
          <p:cNvSpPr>
            <a:spLocks noChangeShapeType="1"/>
          </p:cNvSpPr>
          <p:nvPr/>
        </p:nvSpPr>
        <p:spPr bwMode="auto">
          <a:xfrm>
            <a:off x="41687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3" name="Line 97"/>
          <p:cNvSpPr>
            <a:spLocks noChangeShapeType="1"/>
          </p:cNvSpPr>
          <p:nvPr/>
        </p:nvSpPr>
        <p:spPr bwMode="auto">
          <a:xfrm>
            <a:off x="43211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4" name="Line 98"/>
          <p:cNvSpPr>
            <a:spLocks noChangeShapeType="1"/>
          </p:cNvSpPr>
          <p:nvPr/>
        </p:nvSpPr>
        <p:spPr bwMode="auto">
          <a:xfrm>
            <a:off x="43211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5" name="Line 99"/>
          <p:cNvSpPr>
            <a:spLocks noChangeShapeType="1"/>
          </p:cNvSpPr>
          <p:nvPr/>
        </p:nvSpPr>
        <p:spPr bwMode="auto">
          <a:xfrm>
            <a:off x="44735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6" name="Line 100"/>
          <p:cNvSpPr>
            <a:spLocks noChangeShapeType="1"/>
          </p:cNvSpPr>
          <p:nvPr/>
        </p:nvSpPr>
        <p:spPr bwMode="auto">
          <a:xfrm>
            <a:off x="44735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7" name="Line 101"/>
          <p:cNvSpPr>
            <a:spLocks noChangeShapeType="1"/>
          </p:cNvSpPr>
          <p:nvPr/>
        </p:nvSpPr>
        <p:spPr bwMode="auto">
          <a:xfrm>
            <a:off x="46259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8" name="Line 102"/>
          <p:cNvSpPr>
            <a:spLocks noChangeShapeType="1"/>
          </p:cNvSpPr>
          <p:nvPr/>
        </p:nvSpPr>
        <p:spPr bwMode="auto">
          <a:xfrm>
            <a:off x="46259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19" name="Line 103"/>
          <p:cNvSpPr>
            <a:spLocks noChangeShapeType="1"/>
          </p:cNvSpPr>
          <p:nvPr/>
        </p:nvSpPr>
        <p:spPr bwMode="auto">
          <a:xfrm>
            <a:off x="47783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0" name="Line 104"/>
          <p:cNvSpPr>
            <a:spLocks noChangeShapeType="1"/>
          </p:cNvSpPr>
          <p:nvPr/>
        </p:nvSpPr>
        <p:spPr bwMode="auto">
          <a:xfrm>
            <a:off x="47783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1" name="Line 105"/>
          <p:cNvSpPr>
            <a:spLocks noChangeShapeType="1"/>
          </p:cNvSpPr>
          <p:nvPr/>
        </p:nvSpPr>
        <p:spPr bwMode="auto">
          <a:xfrm>
            <a:off x="49307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2" name="Line 106"/>
          <p:cNvSpPr>
            <a:spLocks noChangeShapeType="1"/>
          </p:cNvSpPr>
          <p:nvPr/>
        </p:nvSpPr>
        <p:spPr bwMode="auto">
          <a:xfrm>
            <a:off x="49307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3" name="Line 107"/>
          <p:cNvSpPr>
            <a:spLocks noChangeShapeType="1"/>
          </p:cNvSpPr>
          <p:nvPr/>
        </p:nvSpPr>
        <p:spPr bwMode="auto">
          <a:xfrm>
            <a:off x="50831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4" name="Line 108"/>
          <p:cNvSpPr>
            <a:spLocks noChangeShapeType="1"/>
          </p:cNvSpPr>
          <p:nvPr/>
        </p:nvSpPr>
        <p:spPr bwMode="auto">
          <a:xfrm>
            <a:off x="50831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5" name="Line 109"/>
          <p:cNvSpPr>
            <a:spLocks noChangeShapeType="1"/>
          </p:cNvSpPr>
          <p:nvPr/>
        </p:nvSpPr>
        <p:spPr bwMode="auto">
          <a:xfrm>
            <a:off x="60737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6" name="Line 110"/>
          <p:cNvSpPr>
            <a:spLocks noChangeShapeType="1"/>
          </p:cNvSpPr>
          <p:nvPr/>
        </p:nvSpPr>
        <p:spPr bwMode="auto">
          <a:xfrm>
            <a:off x="60737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7" name="Line 111"/>
          <p:cNvSpPr>
            <a:spLocks noChangeShapeType="1"/>
          </p:cNvSpPr>
          <p:nvPr/>
        </p:nvSpPr>
        <p:spPr bwMode="auto">
          <a:xfrm>
            <a:off x="62261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8" name="Line 112"/>
          <p:cNvSpPr>
            <a:spLocks noChangeShapeType="1"/>
          </p:cNvSpPr>
          <p:nvPr/>
        </p:nvSpPr>
        <p:spPr bwMode="auto">
          <a:xfrm>
            <a:off x="62261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29" name="Line 113"/>
          <p:cNvSpPr>
            <a:spLocks noChangeShapeType="1"/>
          </p:cNvSpPr>
          <p:nvPr/>
        </p:nvSpPr>
        <p:spPr bwMode="auto">
          <a:xfrm>
            <a:off x="63785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0" name="Line 114"/>
          <p:cNvSpPr>
            <a:spLocks noChangeShapeType="1"/>
          </p:cNvSpPr>
          <p:nvPr/>
        </p:nvSpPr>
        <p:spPr bwMode="auto">
          <a:xfrm>
            <a:off x="63785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1" name="Line 115"/>
          <p:cNvSpPr>
            <a:spLocks noChangeShapeType="1"/>
          </p:cNvSpPr>
          <p:nvPr/>
        </p:nvSpPr>
        <p:spPr bwMode="auto">
          <a:xfrm>
            <a:off x="65309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2" name="Line 116"/>
          <p:cNvSpPr>
            <a:spLocks noChangeShapeType="1"/>
          </p:cNvSpPr>
          <p:nvPr/>
        </p:nvSpPr>
        <p:spPr bwMode="auto">
          <a:xfrm>
            <a:off x="65309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3" name="Line 117"/>
          <p:cNvSpPr>
            <a:spLocks noChangeShapeType="1"/>
          </p:cNvSpPr>
          <p:nvPr/>
        </p:nvSpPr>
        <p:spPr bwMode="auto">
          <a:xfrm>
            <a:off x="66833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4" name="Line 118"/>
          <p:cNvSpPr>
            <a:spLocks noChangeShapeType="1"/>
          </p:cNvSpPr>
          <p:nvPr/>
        </p:nvSpPr>
        <p:spPr bwMode="auto">
          <a:xfrm>
            <a:off x="66833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5" name="Line 119"/>
          <p:cNvSpPr>
            <a:spLocks noChangeShapeType="1"/>
          </p:cNvSpPr>
          <p:nvPr/>
        </p:nvSpPr>
        <p:spPr bwMode="auto">
          <a:xfrm>
            <a:off x="68357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6" name="Line 120"/>
          <p:cNvSpPr>
            <a:spLocks noChangeShapeType="1"/>
          </p:cNvSpPr>
          <p:nvPr/>
        </p:nvSpPr>
        <p:spPr bwMode="auto">
          <a:xfrm>
            <a:off x="68357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7" name="Line 121"/>
          <p:cNvSpPr>
            <a:spLocks noChangeShapeType="1"/>
          </p:cNvSpPr>
          <p:nvPr/>
        </p:nvSpPr>
        <p:spPr bwMode="auto">
          <a:xfrm>
            <a:off x="69881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8" name="Line 122"/>
          <p:cNvSpPr>
            <a:spLocks noChangeShapeType="1"/>
          </p:cNvSpPr>
          <p:nvPr/>
        </p:nvSpPr>
        <p:spPr bwMode="auto">
          <a:xfrm>
            <a:off x="69881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39" name="Line 123"/>
          <p:cNvSpPr>
            <a:spLocks noChangeShapeType="1"/>
          </p:cNvSpPr>
          <p:nvPr/>
        </p:nvSpPr>
        <p:spPr bwMode="auto">
          <a:xfrm>
            <a:off x="71405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0" name="Line 124"/>
          <p:cNvSpPr>
            <a:spLocks noChangeShapeType="1"/>
          </p:cNvSpPr>
          <p:nvPr/>
        </p:nvSpPr>
        <p:spPr bwMode="auto">
          <a:xfrm>
            <a:off x="71405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1" name="Line 125"/>
          <p:cNvSpPr>
            <a:spLocks noChangeShapeType="1"/>
          </p:cNvSpPr>
          <p:nvPr/>
        </p:nvSpPr>
        <p:spPr bwMode="auto">
          <a:xfrm>
            <a:off x="72929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2" name="Line 126"/>
          <p:cNvSpPr>
            <a:spLocks noChangeShapeType="1"/>
          </p:cNvSpPr>
          <p:nvPr/>
        </p:nvSpPr>
        <p:spPr bwMode="auto">
          <a:xfrm>
            <a:off x="72929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3" name="Line 127"/>
          <p:cNvSpPr>
            <a:spLocks noChangeShapeType="1"/>
          </p:cNvSpPr>
          <p:nvPr/>
        </p:nvSpPr>
        <p:spPr bwMode="auto">
          <a:xfrm>
            <a:off x="74453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4" name="Line 128"/>
          <p:cNvSpPr>
            <a:spLocks noChangeShapeType="1"/>
          </p:cNvSpPr>
          <p:nvPr/>
        </p:nvSpPr>
        <p:spPr bwMode="auto">
          <a:xfrm>
            <a:off x="74453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5" name="Line 129"/>
          <p:cNvSpPr>
            <a:spLocks noChangeShapeType="1"/>
          </p:cNvSpPr>
          <p:nvPr/>
        </p:nvSpPr>
        <p:spPr bwMode="auto">
          <a:xfrm>
            <a:off x="7597775" y="2411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6" name="Line 130"/>
          <p:cNvSpPr>
            <a:spLocks noChangeShapeType="1"/>
          </p:cNvSpPr>
          <p:nvPr/>
        </p:nvSpPr>
        <p:spPr bwMode="auto">
          <a:xfrm>
            <a:off x="7597775" y="27241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7" name="Line 131"/>
          <p:cNvSpPr>
            <a:spLocks noChangeShapeType="1"/>
          </p:cNvSpPr>
          <p:nvPr/>
        </p:nvSpPr>
        <p:spPr bwMode="auto">
          <a:xfrm>
            <a:off x="5921375" y="27162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8" name="Line 132"/>
          <p:cNvSpPr>
            <a:spLocks noChangeShapeType="1"/>
          </p:cNvSpPr>
          <p:nvPr/>
        </p:nvSpPr>
        <p:spPr bwMode="auto">
          <a:xfrm>
            <a:off x="5768975" y="27162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49" name="Line 133"/>
          <p:cNvSpPr>
            <a:spLocks noChangeShapeType="1"/>
          </p:cNvSpPr>
          <p:nvPr/>
        </p:nvSpPr>
        <p:spPr bwMode="auto">
          <a:xfrm>
            <a:off x="5616575" y="27162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0" name="Line 134"/>
          <p:cNvSpPr>
            <a:spLocks noChangeShapeType="1"/>
          </p:cNvSpPr>
          <p:nvPr/>
        </p:nvSpPr>
        <p:spPr bwMode="auto">
          <a:xfrm>
            <a:off x="5464175" y="27162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1" name="Line 135"/>
          <p:cNvSpPr>
            <a:spLocks noChangeShapeType="1"/>
          </p:cNvSpPr>
          <p:nvPr/>
        </p:nvSpPr>
        <p:spPr bwMode="auto">
          <a:xfrm>
            <a:off x="5311775" y="27162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2" name="Line 136"/>
          <p:cNvSpPr>
            <a:spLocks noChangeShapeType="1"/>
          </p:cNvSpPr>
          <p:nvPr/>
        </p:nvSpPr>
        <p:spPr bwMode="auto">
          <a:xfrm>
            <a:off x="5387975" y="2106613"/>
            <a:ext cx="179388" cy="1793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3" name="Line 137"/>
          <p:cNvSpPr>
            <a:spLocks noChangeShapeType="1"/>
          </p:cNvSpPr>
          <p:nvPr/>
        </p:nvSpPr>
        <p:spPr bwMode="auto">
          <a:xfrm flipV="1">
            <a:off x="5548313" y="2106613"/>
            <a:ext cx="179387" cy="1793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4" name="Line 138"/>
          <p:cNvSpPr>
            <a:spLocks noChangeShapeType="1"/>
          </p:cNvSpPr>
          <p:nvPr/>
        </p:nvSpPr>
        <p:spPr bwMode="auto">
          <a:xfrm>
            <a:off x="5235575" y="2232025"/>
            <a:ext cx="179388" cy="179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5" name="Line 139"/>
          <p:cNvSpPr>
            <a:spLocks noChangeShapeType="1"/>
          </p:cNvSpPr>
          <p:nvPr/>
        </p:nvSpPr>
        <p:spPr bwMode="auto">
          <a:xfrm flipV="1">
            <a:off x="5768975" y="2232025"/>
            <a:ext cx="179388" cy="179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6" name="Line 140"/>
          <p:cNvSpPr>
            <a:spLocks noChangeShapeType="1"/>
          </p:cNvSpPr>
          <p:nvPr/>
        </p:nvSpPr>
        <p:spPr bwMode="auto">
          <a:xfrm>
            <a:off x="3559175" y="9636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7" name="Line 141"/>
          <p:cNvSpPr>
            <a:spLocks noChangeShapeType="1"/>
          </p:cNvSpPr>
          <p:nvPr/>
        </p:nvSpPr>
        <p:spPr bwMode="auto">
          <a:xfrm>
            <a:off x="3559175" y="1420813"/>
            <a:ext cx="4191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8" name="Line 142"/>
          <p:cNvSpPr>
            <a:spLocks noChangeShapeType="1"/>
          </p:cNvSpPr>
          <p:nvPr/>
        </p:nvSpPr>
        <p:spPr bwMode="auto">
          <a:xfrm>
            <a:off x="6073775" y="9636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59" name="AutoShape 143"/>
          <p:cNvSpPr>
            <a:spLocks noChangeArrowheads="1"/>
          </p:cNvSpPr>
          <p:nvPr/>
        </p:nvSpPr>
        <p:spPr bwMode="auto">
          <a:xfrm rot="5400000">
            <a:off x="5483225" y="373063"/>
            <a:ext cx="342900" cy="838200"/>
          </a:xfrm>
          <a:prstGeom prst="moon">
            <a:avLst>
              <a:gd name="adj" fmla="val 0"/>
            </a:avLst>
          </a:prstGeom>
          <a:solidFill>
            <a:schemeClr val="accent1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960" name="Line 144"/>
          <p:cNvSpPr>
            <a:spLocks noChangeShapeType="1"/>
          </p:cNvSpPr>
          <p:nvPr/>
        </p:nvSpPr>
        <p:spPr bwMode="auto">
          <a:xfrm>
            <a:off x="37877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1" name="Line 145"/>
          <p:cNvSpPr>
            <a:spLocks noChangeShapeType="1"/>
          </p:cNvSpPr>
          <p:nvPr/>
        </p:nvSpPr>
        <p:spPr bwMode="auto">
          <a:xfrm>
            <a:off x="37877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2" name="Line 146"/>
          <p:cNvSpPr>
            <a:spLocks noChangeShapeType="1"/>
          </p:cNvSpPr>
          <p:nvPr/>
        </p:nvSpPr>
        <p:spPr bwMode="auto">
          <a:xfrm>
            <a:off x="39401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3" name="Line 147"/>
          <p:cNvSpPr>
            <a:spLocks noChangeShapeType="1"/>
          </p:cNvSpPr>
          <p:nvPr/>
        </p:nvSpPr>
        <p:spPr bwMode="auto">
          <a:xfrm>
            <a:off x="39401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4" name="Line 148"/>
          <p:cNvSpPr>
            <a:spLocks noChangeShapeType="1"/>
          </p:cNvSpPr>
          <p:nvPr/>
        </p:nvSpPr>
        <p:spPr bwMode="auto">
          <a:xfrm>
            <a:off x="40925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5" name="Line 149"/>
          <p:cNvSpPr>
            <a:spLocks noChangeShapeType="1"/>
          </p:cNvSpPr>
          <p:nvPr/>
        </p:nvSpPr>
        <p:spPr bwMode="auto">
          <a:xfrm>
            <a:off x="40925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6" name="Line 150"/>
          <p:cNvSpPr>
            <a:spLocks noChangeShapeType="1"/>
          </p:cNvSpPr>
          <p:nvPr/>
        </p:nvSpPr>
        <p:spPr bwMode="auto">
          <a:xfrm>
            <a:off x="42449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7" name="Line 151"/>
          <p:cNvSpPr>
            <a:spLocks noChangeShapeType="1"/>
          </p:cNvSpPr>
          <p:nvPr/>
        </p:nvSpPr>
        <p:spPr bwMode="auto">
          <a:xfrm>
            <a:off x="42449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8" name="Line 152"/>
          <p:cNvSpPr>
            <a:spLocks noChangeShapeType="1"/>
          </p:cNvSpPr>
          <p:nvPr/>
        </p:nvSpPr>
        <p:spPr bwMode="auto">
          <a:xfrm>
            <a:off x="43973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69" name="Line 153"/>
          <p:cNvSpPr>
            <a:spLocks noChangeShapeType="1"/>
          </p:cNvSpPr>
          <p:nvPr/>
        </p:nvSpPr>
        <p:spPr bwMode="auto">
          <a:xfrm>
            <a:off x="43973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0" name="Line 154"/>
          <p:cNvSpPr>
            <a:spLocks noChangeShapeType="1"/>
          </p:cNvSpPr>
          <p:nvPr/>
        </p:nvSpPr>
        <p:spPr bwMode="auto">
          <a:xfrm>
            <a:off x="45497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1" name="Line 155"/>
          <p:cNvSpPr>
            <a:spLocks noChangeShapeType="1"/>
          </p:cNvSpPr>
          <p:nvPr/>
        </p:nvSpPr>
        <p:spPr bwMode="auto">
          <a:xfrm>
            <a:off x="45497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2" name="Line 156"/>
          <p:cNvSpPr>
            <a:spLocks noChangeShapeType="1"/>
          </p:cNvSpPr>
          <p:nvPr/>
        </p:nvSpPr>
        <p:spPr bwMode="auto">
          <a:xfrm>
            <a:off x="47021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3" name="Line 157"/>
          <p:cNvSpPr>
            <a:spLocks noChangeShapeType="1"/>
          </p:cNvSpPr>
          <p:nvPr/>
        </p:nvSpPr>
        <p:spPr bwMode="auto">
          <a:xfrm>
            <a:off x="47021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4" name="Line 158"/>
          <p:cNvSpPr>
            <a:spLocks noChangeShapeType="1"/>
          </p:cNvSpPr>
          <p:nvPr/>
        </p:nvSpPr>
        <p:spPr bwMode="auto">
          <a:xfrm>
            <a:off x="48545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5" name="Line 159"/>
          <p:cNvSpPr>
            <a:spLocks noChangeShapeType="1"/>
          </p:cNvSpPr>
          <p:nvPr/>
        </p:nvSpPr>
        <p:spPr bwMode="auto">
          <a:xfrm>
            <a:off x="48545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6" name="Line 160"/>
          <p:cNvSpPr>
            <a:spLocks noChangeShapeType="1"/>
          </p:cNvSpPr>
          <p:nvPr/>
        </p:nvSpPr>
        <p:spPr bwMode="auto">
          <a:xfrm>
            <a:off x="50069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7" name="Line 161"/>
          <p:cNvSpPr>
            <a:spLocks noChangeShapeType="1"/>
          </p:cNvSpPr>
          <p:nvPr/>
        </p:nvSpPr>
        <p:spPr bwMode="auto">
          <a:xfrm>
            <a:off x="50069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8" name="Line 162"/>
          <p:cNvSpPr>
            <a:spLocks noChangeShapeType="1"/>
          </p:cNvSpPr>
          <p:nvPr/>
        </p:nvSpPr>
        <p:spPr bwMode="auto">
          <a:xfrm>
            <a:off x="51593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79" name="Line 163"/>
          <p:cNvSpPr>
            <a:spLocks noChangeShapeType="1"/>
          </p:cNvSpPr>
          <p:nvPr/>
        </p:nvSpPr>
        <p:spPr bwMode="auto">
          <a:xfrm>
            <a:off x="51593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0" name="Line 164"/>
          <p:cNvSpPr>
            <a:spLocks noChangeShapeType="1"/>
          </p:cNvSpPr>
          <p:nvPr/>
        </p:nvSpPr>
        <p:spPr bwMode="auto">
          <a:xfrm>
            <a:off x="61499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1" name="Line 165"/>
          <p:cNvSpPr>
            <a:spLocks noChangeShapeType="1"/>
          </p:cNvSpPr>
          <p:nvPr/>
        </p:nvSpPr>
        <p:spPr bwMode="auto">
          <a:xfrm>
            <a:off x="61499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2" name="Line 166"/>
          <p:cNvSpPr>
            <a:spLocks noChangeShapeType="1"/>
          </p:cNvSpPr>
          <p:nvPr/>
        </p:nvSpPr>
        <p:spPr bwMode="auto">
          <a:xfrm>
            <a:off x="63023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3" name="Line 167"/>
          <p:cNvSpPr>
            <a:spLocks noChangeShapeType="1"/>
          </p:cNvSpPr>
          <p:nvPr/>
        </p:nvSpPr>
        <p:spPr bwMode="auto">
          <a:xfrm>
            <a:off x="63023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4" name="Line 168"/>
          <p:cNvSpPr>
            <a:spLocks noChangeShapeType="1"/>
          </p:cNvSpPr>
          <p:nvPr/>
        </p:nvSpPr>
        <p:spPr bwMode="auto">
          <a:xfrm>
            <a:off x="64547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5" name="Line 169"/>
          <p:cNvSpPr>
            <a:spLocks noChangeShapeType="1"/>
          </p:cNvSpPr>
          <p:nvPr/>
        </p:nvSpPr>
        <p:spPr bwMode="auto">
          <a:xfrm>
            <a:off x="64547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6" name="Line 170"/>
          <p:cNvSpPr>
            <a:spLocks noChangeShapeType="1"/>
          </p:cNvSpPr>
          <p:nvPr/>
        </p:nvSpPr>
        <p:spPr bwMode="auto">
          <a:xfrm>
            <a:off x="66071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7" name="Line 171"/>
          <p:cNvSpPr>
            <a:spLocks noChangeShapeType="1"/>
          </p:cNvSpPr>
          <p:nvPr/>
        </p:nvSpPr>
        <p:spPr bwMode="auto">
          <a:xfrm>
            <a:off x="66071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8" name="Line 172"/>
          <p:cNvSpPr>
            <a:spLocks noChangeShapeType="1"/>
          </p:cNvSpPr>
          <p:nvPr/>
        </p:nvSpPr>
        <p:spPr bwMode="auto">
          <a:xfrm>
            <a:off x="67595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89" name="Line 173"/>
          <p:cNvSpPr>
            <a:spLocks noChangeShapeType="1"/>
          </p:cNvSpPr>
          <p:nvPr/>
        </p:nvSpPr>
        <p:spPr bwMode="auto">
          <a:xfrm>
            <a:off x="67595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0" name="Line 174"/>
          <p:cNvSpPr>
            <a:spLocks noChangeShapeType="1"/>
          </p:cNvSpPr>
          <p:nvPr/>
        </p:nvSpPr>
        <p:spPr bwMode="auto">
          <a:xfrm>
            <a:off x="69119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1" name="Line 175"/>
          <p:cNvSpPr>
            <a:spLocks noChangeShapeType="1"/>
          </p:cNvSpPr>
          <p:nvPr/>
        </p:nvSpPr>
        <p:spPr bwMode="auto">
          <a:xfrm>
            <a:off x="69119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2" name="Line 176"/>
          <p:cNvSpPr>
            <a:spLocks noChangeShapeType="1"/>
          </p:cNvSpPr>
          <p:nvPr/>
        </p:nvSpPr>
        <p:spPr bwMode="auto">
          <a:xfrm>
            <a:off x="70643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3" name="Line 177"/>
          <p:cNvSpPr>
            <a:spLocks noChangeShapeType="1"/>
          </p:cNvSpPr>
          <p:nvPr/>
        </p:nvSpPr>
        <p:spPr bwMode="auto">
          <a:xfrm>
            <a:off x="70643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4" name="Line 178"/>
          <p:cNvSpPr>
            <a:spLocks noChangeShapeType="1"/>
          </p:cNvSpPr>
          <p:nvPr/>
        </p:nvSpPr>
        <p:spPr bwMode="auto">
          <a:xfrm>
            <a:off x="72167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5" name="Line 179"/>
          <p:cNvSpPr>
            <a:spLocks noChangeShapeType="1"/>
          </p:cNvSpPr>
          <p:nvPr/>
        </p:nvSpPr>
        <p:spPr bwMode="auto">
          <a:xfrm>
            <a:off x="72167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6" name="Line 180"/>
          <p:cNvSpPr>
            <a:spLocks noChangeShapeType="1"/>
          </p:cNvSpPr>
          <p:nvPr/>
        </p:nvSpPr>
        <p:spPr bwMode="auto">
          <a:xfrm>
            <a:off x="73691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7" name="Line 181"/>
          <p:cNvSpPr>
            <a:spLocks noChangeShapeType="1"/>
          </p:cNvSpPr>
          <p:nvPr/>
        </p:nvSpPr>
        <p:spPr bwMode="auto">
          <a:xfrm>
            <a:off x="73691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8" name="Line 182"/>
          <p:cNvSpPr>
            <a:spLocks noChangeShapeType="1"/>
          </p:cNvSpPr>
          <p:nvPr/>
        </p:nvSpPr>
        <p:spPr bwMode="auto">
          <a:xfrm>
            <a:off x="75215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999" name="Line 183"/>
          <p:cNvSpPr>
            <a:spLocks noChangeShapeType="1"/>
          </p:cNvSpPr>
          <p:nvPr/>
        </p:nvSpPr>
        <p:spPr bwMode="auto">
          <a:xfrm>
            <a:off x="75215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0" name="Line 184"/>
          <p:cNvSpPr>
            <a:spLocks noChangeShapeType="1"/>
          </p:cNvSpPr>
          <p:nvPr/>
        </p:nvSpPr>
        <p:spPr bwMode="auto">
          <a:xfrm>
            <a:off x="7673975" y="9636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1" name="Line 185"/>
          <p:cNvSpPr>
            <a:spLocks noChangeShapeType="1"/>
          </p:cNvSpPr>
          <p:nvPr/>
        </p:nvSpPr>
        <p:spPr bwMode="auto">
          <a:xfrm>
            <a:off x="7673975" y="1276350"/>
            <a:ext cx="0" cy="14446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2" name="Line 186"/>
          <p:cNvSpPr>
            <a:spLocks noChangeShapeType="1"/>
          </p:cNvSpPr>
          <p:nvPr/>
        </p:nvSpPr>
        <p:spPr bwMode="auto">
          <a:xfrm>
            <a:off x="5997575" y="1268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3" name="Line 187"/>
          <p:cNvSpPr>
            <a:spLocks noChangeShapeType="1"/>
          </p:cNvSpPr>
          <p:nvPr/>
        </p:nvSpPr>
        <p:spPr bwMode="auto">
          <a:xfrm>
            <a:off x="5845175" y="1268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4" name="Line 188"/>
          <p:cNvSpPr>
            <a:spLocks noChangeShapeType="1"/>
          </p:cNvSpPr>
          <p:nvPr/>
        </p:nvSpPr>
        <p:spPr bwMode="auto">
          <a:xfrm>
            <a:off x="5692775" y="1268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5" name="Line 189"/>
          <p:cNvSpPr>
            <a:spLocks noChangeShapeType="1"/>
          </p:cNvSpPr>
          <p:nvPr/>
        </p:nvSpPr>
        <p:spPr bwMode="auto">
          <a:xfrm>
            <a:off x="5540375" y="1268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6" name="Line 190"/>
          <p:cNvSpPr>
            <a:spLocks noChangeShapeType="1"/>
          </p:cNvSpPr>
          <p:nvPr/>
        </p:nvSpPr>
        <p:spPr bwMode="auto">
          <a:xfrm>
            <a:off x="5387975" y="12684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7" name="Line 191"/>
          <p:cNvSpPr>
            <a:spLocks noChangeShapeType="1"/>
          </p:cNvSpPr>
          <p:nvPr/>
        </p:nvSpPr>
        <p:spPr bwMode="auto">
          <a:xfrm>
            <a:off x="5464175" y="658813"/>
            <a:ext cx="179388" cy="1793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8" name="Line 192"/>
          <p:cNvSpPr>
            <a:spLocks noChangeShapeType="1"/>
          </p:cNvSpPr>
          <p:nvPr/>
        </p:nvSpPr>
        <p:spPr bwMode="auto">
          <a:xfrm flipV="1">
            <a:off x="5624513" y="658813"/>
            <a:ext cx="179387" cy="1793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09" name="Line 193"/>
          <p:cNvSpPr>
            <a:spLocks noChangeShapeType="1"/>
          </p:cNvSpPr>
          <p:nvPr/>
        </p:nvSpPr>
        <p:spPr bwMode="auto">
          <a:xfrm>
            <a:off x="5311775" y="784225"/>
            <a:ext cx="179388" cy="179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0" name="Line 194"/>
          <p:cNvSpPr>
            <a:spLocks noChangeShapeType="1"/>
          </p:cNvSpPr>
          <p:nvPr/>
        </p:nvSpPr>
        <p:spPr bwMode="auto">
          <a:xfrm flipV="1">
            <a:off x="5845175" y="784225"/>
            <a:ext cx="179388" cy="1793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1" name="Line 195"/>
          <p:cNvSpPr>
            <a:spLocks noChangeShapeType="1"/>
          </p:cNvSpPr>
          <p:nvPr/>
        </p:nvSpPr>
        <p:spPr bwMode="auto">
          <a:xfrm>
            <a:off x="5083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2" name="Line 196"/>
          <p:cNvSpPr>
            <a:spLocks noChangeShapeType="1"/>
          </p:cNvSpPr>
          <p:nvPr/>
        </p:nvSpPr>
        <p:spPr bwMode="auto">
          <a:xfrm>
            <a:off x="52355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3" name="Line 197"/>
          <p:cNvSpPr>
            <a:spLocks noChangeShapeType="1"/>
          </p:cNvSpPr>
          <p:nvPr/>
        </p:nvSpPr>
        <p:spPr bwMode="auto">
          <a:xfrm>
            <a:off x="53879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4" name="Line 198"/>
          <p:cNvSpPr>
            <a:spLocks noChangeShapeType="1"/>
          </p:cNvSpPr>
          <p:nvPr/>
        </p:nvSpPr>
        <p:spPr bwMode="auto">
          <a:xfrm>
            <a:off x="55403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5" name="Line 199"/>
          <p:cNvSpPr>
            <a:spLocks noChangeShapeType="1"/>
          </p:cNvSpPr>
          <p:nvPr/>
        </p:nvSpPr>
        <p:spPr bwMode="auto">
          <a:xfrm>
            <a:off x="56927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6" name="Line 200"/>
          <p:cNvSpPr>
            <a:spLocks noChangeShapeType="1"/>
          </p:cNvSpPr>
          <p:nvPr/>
        </p:nvSpPr>
        <p:spPr bwMode="auto">
          <a:xfrm>
            <a:off x="5845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7" name="Line 201"/>
          <p:cNvSpPr>
            <a:spLocks noChangeShapeType="1"/>
          </p:cNvSpPr>
          <p:nvPr/>
        </p:nvSpPr>
        <p:spPr bwMode="auto">
          <a:xfrm>
            <a:off x="44735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8" name="Line 202"/>
          <p:cNvSpPr>
            <a:spLocks noChangeShapeType="1"/>
          </p:cNvSpPr>
          <p:nvPr/>
        </p:nvSpPr>
        <p:spPr bwMode="auto">
          <a:xfrm>
            <a:off x="46259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19" name="Line 203"/>
          <p:cNvSpPr>
            <a:spLocks noChangeShapeType="1"/>
          </p:cNvSpPr>
          <p:nvPr/>
        </p:nvSpPr>
        <p:spPr bwMode="auto">
          <a:xfrm>
            <a:off x="47783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0" name="Line 204"/>
          <p:cNvSpPr>
            <a:spLocks noChangeShapeType="1"/>
          </p:cNvSpPr>
          <p:nvPr/>
        </p:nvSpPr>
        <p:spPr bwMode="auto">
          <a:xfrm>
            <a:off x="49307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1" name="Line 205"/>
          <p:cNvSpPr>
            <a:spLocks noChangeShapeType="1"/>
          </p:cNvSpPr>
          <p:nvPr/>
        </p:nvSpPr>
        <p:spPr bwMode="auto">
          <a:xfrm>
            <a:off x="5083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2" name="Line 206"/>
          <p:cNvSpPr>
            <a:spLocks noChangeShapeType="1"/>
          </p:cNvSpPr>
          <p:nvPr/>
        </p:nvSpPr>
        <p:spPr bwMode="auto">
          <a:xfrm>
            <a:off x="3559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3" name="Line 207"/>
          <p:cNvSpPr>
            <a:spLocks noChangeShapeType="1"/>
          </p:cNvSpPr>
          <p:nvPr/>
        </p:nvSpPr>
        <p:spPr bwMode="auto">
          <a:xfrm>
            <a:off x="37115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4" name="Line 208"/>
          <p:cNvSpPr>
            <a:spLocks noChangeShapeType="1"/>
          </p:cNvSpPr>
          <p:nvPr/>
        </p:nvSpPr>
        <p:spPr bwMode="auto">
          <a:xfrm>
            <a:off x="38639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5" name="Line 209"/>
          <p:cNvSpPr>
            <a:spLocks noChangeShapeType="1"/>
          </p:cNvSpPr>
          <p:nvPr/>
        </p:nvSpPr>
        <p:spPr bwMode="auto">
          <a:xfrm>
            <a:off x="40163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6" name="Line 210"/>
          <p:cNvSpPr>
            <a:spLocks noChangeShapeType="1"/>
          </p:cNvSpPr>
          <p:nvPr/>
        </p:nvSpPr>
        <p:spPr bwMode="auto">
          <a:xfrm>
            <a:off x="41687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7" name="Line 211"/>
          <p:cNvSpPr>
            <a:spLocks noChangeShapeType="1"/>
          </p:cNvSpPr>
          <p:nvPr/>
        </p:nvSpPr>
        <p:spPr bwMode="auto">
          <a:xfrm>
            <a:off x="4321175" y="61071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8" name="Line 212"/>
          <p:cNvSpPr>
            <a:spLocks noChangeShapeType="1"/>
          </p:cNvSpPr>
          <p:nvPr/>
        </p:nvSpPr>
        <p:spPr bwMode="auto">
          <a:xfrm>
            <a:off x="3406775" y="6564313"/>
            <a:ext cx="1676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9" name="Line 213"/>
          <p:cNvSpPr>
            <a:spLocks noChangeShapeType="1"/>
          </p:cNvSpPr>
          <p:nvPr/>
        </p:nvSpPr>
        <p:spPr bwMode="auto">
          <a:xfrm>
            <a:off x="5083175" y="6564313"/>
            <a:ext cx="2514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0" name="Line 214"/>
          <p:cNvSpPr>
            <a:spLocks noChangeShapeType="1"/>
          </p:cNvSpPr>
          <p:nvPr/>
        </p:nvSpPr>
        <p:spPr bwMode="auto">
          <a:xfrm>
            <a:off x="59975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1" name="Line 215"/>
          <p:cNvSpPr>
            <a:spLocks noChangeShapeType="1"/>
          </p:cNvSpPr>
          <p:nvPr/>
        </p:nvSpPr>
        <p:spPr bwMode="auto">
          <a:xfrm>
            <a:off x="61499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2" name="Line 216"/>
          <p:cNvSpPr>
            <a:spLocks noChangeShapeType="1"/>
          </p:cNvSpPr>
          <p:nvPr/>
        </p:nvSpPr>
        <p:spPr bwMode="auto">
          <a:xfrm>
            <a:off x="63023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3" name="Line 217"/>
          <p:cNvSpPr>
            <a:spLocks noChangeShapeType="1"/>
          </p:cNvSpPr>
          <p:nvPr/>
        </p:nvSpPr>
        <p:spPr bwMode="auto">
          <a:xfrm>
            <a:off x="64547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4" name="Line 218"/>
          <p:cNvSpPr>
            <a:spLocks noChangeShapeType="1"/>
          </p:cNvSpPr>
          <p:nvPr/>
        </p:nvSpPr>
        <p:spPr bwMode="auto">
          <a:xfrm>
            <a:off x="6607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5" name="Line 219"/>
          <p:cNvSpPr>
            <a:spLocks noChangeShapeType="1"/>
          </p:cNvSpPr>
          <p:nvPr/>
        </p:nvSpPr>
        <p:spPr bwMode="auto">
          <a:xfrm>
            <a:off x="67595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6" name="Line 220"/>
          <p:cNvSpPr>
            <a:spLocks noChangeShapeType="1"/>
          </p:cNvSpPr>
          <p:nvPr/>
        </p:nvSpPr>
        <p:spPr bwMode="auto">
          <a:xfrm>
            <a:off x="69119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7" name="Line 221"/>
          <p:cNvSpPr>
            <a:spLocks noChangeShapeType="1"/>
          </p:cNvSpPr>
          <p:nvPr/>
        </p:nvSpPr>
        <p:spPr bwMode="auto">
          <a:xfrm>
            <a:off x="70643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8" name="Line 222"/>
          <p:cNvSpPr>
            <a:spLocks noChangeShapeType="1"/>
          </p:cNvSpPr>
          <p:nvPr/>
        </p:nvSpPr>
        <p:spPr bwMode="auto">
          <a:xfrm>
            <a:off x="72167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39" name="Line 223"/>
          <p:cNvSpPr>
            <a:spLocks noChangeShapeType="1"/>
          </p:cNvSpPr>
          <p:nvPr/>
        </p:nvSpPr>
        <p:spPr bwMode="auto">
          <a:xfrm>
            <a:off x="7369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0" name="Line 224"/>
          <p:cNvSpPr>
            <a:spLocks noChangeShapeType="1"/>
          </p:cNvSpPr>
          <p:nvPr/>
        </p:nvSpPr>
        <p:spPr bwMode="auto">
          <a:xfrm>
            <a:off x="75215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1" name="Line 225"/>
          <p:cNvSpPr>
            <a:spLocks noChangeShapeType="1"/>
          </p:cNvSpPr>
          <p:nvPr/>
        </p:nvSpPr>
        <p:spPr bwMode="auto">
          <a:xfrm>
            <a:off x="5083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2" name="Line 226"/>
          <p:cNvSpPr>
            <a:spLocks noChangeShapeType="1"/>
          </p:cNvSpPr>
          <p:nvPr/>
        </p:nvSpPr>
        <p:spPr bwMode="auto">
          <a:xfrm>
            <a:off x="52355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3" name="Line 227"/>
          <p:cNvSpPr>
            <a:spLocks noChangeShapeType="1"/>
          </p:cNvSpPr>
          <p:nvPr/>
        </p:nvSpPr>
        <p:spPr bwMode="auto">
          <a:xfrm>
            <a:off x="53879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4" name="Line 228"/>
          <p:cNvSpPr>
            <a:spLocks noChangeShapeType="1"/>
          </p:cNvSpPr>
          <p:nvPr/>
        </p:nvSpPr>
        <p:spPr bwMode="auto">
          <a:xfrm>
            <a:off x="55403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5" name="Line 229"/>
          <p:cNvSpPr>
            <a:spLocks noChangeShapeType="1"/>
          </p:cNvSpPr>
          <p:nvPr/>
        </p:nvSpPr>
        <p:spPr bwMode="auto">
          <a:xfrm>
            <a:off x="56927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6" name="Line 230"/>
          <p:cNvSpPr>
            <a:spLocks noChangeShapeType="1"/>
          </p:cNvSpPr>
          <p:nvPr/>
        </p:nvSpPr>
        <p:spPr bwMode="auto">
          <a:xfrm>
            <a:off x="5845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7" name="Line 231"/>
          <p:cNvSpPr>
            <a:spLocks noChangeShapeType="1"/>
          </p:cNvSpPr>
          <p:nvPr/>
        </p:nvSpPr>
        <p:spPr bwMode="auto">
          <a:xfrm>
            <a:off x="44735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8" name="Line 232"/>
          <p:cNvSpPr>
            <a:spLocks noChangeShapeType="1"/>
          </p:cNvSpPr>
          <p:nvPr/>
        </p:nvSpPr>
        <p:spPr bwMode="auto">
          <a:xfrm>
            <a:off x="46259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49" name="Line 233"/>
          <p:cNvSpPr>
            <a:spLocks noChangeShapeType="1"/>
          </p:cNvSpPr>
          <p:nvPr/>
        </p:nvSpPr>
        <p:spPr bwMode="auto">
          <a:xfrm>
            <a:off x="47783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0" name="Line 234"/>
          <p:cNvSpPr>
            <a:spLocks noChangeShapeType="1"/>
          </p:cNvSpPr>
          <p:nvPr/>
        </p:nvSpPr>
        <p:spPr bwMode="auto">
          <a:xfrm>
            <a:off x="49307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1" name="Line 235"/>
          <p:cNvSpPr>
            <a:spLocks noChangeShapeType="1"/>
          </p:cNvSpPr>
          <p:nvPr/>
        </p:nvSpPr>
        <p:spPr bwMode="auto">
          <a:xfrm>
            <a:off x="5083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2" name="Line 236"/>
          <p:cNvSpPr>
            <a:spLocks noChangeShapeType="1"/>
          </p:cNvSpPr>
          <p:nvPr/>
        </p:nvSpPr>
        <p:spPr bwMode="auto">
          <a:xfrm>
            <a:off x="3559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3" name="Line 237"/>
          <p:cNvSpPr>
            <a:spLocks noChangeShapeType="1"/>
          </p:cNvSpPr>
          <p:nvPr/>
        </p:nvSpPr>
        <p:spPr bwMode="auto">
          <a:xfrm>
            <a:off x="37115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4" name="Line 238"/>
          <p:cNvSpPr>
            <a:spLocks noChangeShapeType="1"/>
          </p:cNvSpPr>
          <p:nvPr/>
        </p:nvSpPr>
        <p:spPr bwMode="auto">
          <a:xfrm>
            <a:off x="38639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5" name="Line 239"/>
          <p:cNvSpPr>
            <a:spLocks noChangeShapeType="1"/>
          </p:cNvSpPr>
          <p:nvPr/>
        </p:nvSpPr>
        <p:spPr bwMode="auto">
          <a:xfrm>
            <a:off x="40163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6" name="Line 240"/>
          <p:cNvSpPr>
            <a:spLocks noChangeShapeType="1"/>
          </p:cNvSpPr>
          <p:nvPr/>
        </p:nvSpPr>
        <p:spPr bwMode="auto">
          <a:xfrm>
            <a:off x="41687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7" name="Line 241"/>
          <p:cNvSpPr>
            <a:spLocks noChangeShapeType="1"/>
          </p:cNvSpPr>
          <p:nvPr/>
        </p:nvSpPr>
        <p:spPr bwMode="auto">
          <a:xfrm>
            <a:off x="4321175" y="6411913"/>
            <a:ext cx="0" cy="1444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58" name="Text Box 243"/>
          <p:cNvSpPr txBox="1">
            <a:spLocks noChangeArrowheads="1"/>
          </p:cNvSpPr>
          <p:nvPr/>
        </p:nvSpPr>
        <p:spPr bwMode="auto">
          <a:xfrm>
            <a:off x="3490913" y="101600"/>
            <a:ext cx="165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anose="02010609060101010101" pitchFamily="49" charset="-122"/>
              </a:rPr>
              <a:t>光修复</a:t>
            </a:r>
            <a:endParaRPr lang="zh-CN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539750" y="1258888"/>
            <a:ext cx="7345363" cy="413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0" lang="en-US" altLang="zh-CN" b="1"/>
              <a:t>4</a:t>
            </a:r>
            <a:r>
              <a:rPr kumimoji="0" lang="zh-CN" altLang="en-US" b="1"/>
              <a:t>）应急</a:t>
            </a:r>
            <a:r>
              <a:rPr lang="zh-CN" altLang="en-US" b="1"/>
              <a:t>反应</a:t>
            </a:r>
            <a:r>
              <a:rPr lang="en-US" altLang="zh-CN" b="1"/>
              <a:t>(SOS)</a:t>
            </a:r>
            <a:r>
              <a:rPr lang="zh-CN" altLang="en-US" b="1"/>
              <a:t>和修复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由</a:t>
            </a:r>
            <a:r>
              <a:rPr lang="en-US" altLang="zh-CN" sz="2000" b="1"/>
              <a:t>DNA</a:t>
            </a:r>
            <a:r>
              <a:rPr lang="zh-CN" altLang="en-US" sz="2000" b="1"/>
              <a:t>损伤或抑制复制引起的一系列诱导效应，称应急反应。包括诱导</a:t>
            </a:r>
            <a:r>
              <a:rPr lang="en-US" altLang="zh-CN" sz="2000" b="1"/>
              <a:t>DNA</a:t>
            </a:r>
            <a:r>
              <a:rPr lang="zh-CN" altLang="en-US" sz="2000" b="1"/>
              <a:t>损伤修复、诱变效应、细胞分裂的抑制等等。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000" b="1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可诱导两类修复：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a. </a:t>
            </a:r>
            <a:r>
              <a:rPr lang="zh-CN" altLang="en-US" sz="2000" b="1"/>
              <a:t>避免差错的修复</a:t>
            </a:r>
            <a:r>
              <a:rPr lang="en-US" altLang="zh-CN" sz="2000" b="1">
                <a:latin typeface="宋体" panose="02010600030101010101" pitchFamily="2" charset="-122"/>
              </a:rPr>
              <a:t>—</a:t>
            </a:r>
            <a:r>
              <a:rPr lang="zh-CN" altLang="en-US" sz="2000" b="1"/>
              <a:t>包括前述的光修复、切除修复和重组修复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b. </a:t>
            </a:r>
            <a:r>
              <a:rPr lang="zh-CN" altLang="en-US" sz="2000" b="1"/>
              <a:t>倾向差错的修复</a:t>
            </a:r>
            <a:r>
              <a:rPr lang="en-US" altLang="zh-CN" sz="2000" b="1">
                <a:latin typeface="宋体" panose="02010600030101010101" pitchFamily="2" charset="-122"/>
              </a:rPr>
              <a:t>—</a:t>
            </a:r>
            <a:r>
              <a:rPr lang="zh-CN" altLang="en-US" sz="2000" b="1"/>
              <a:t>诱导产生缺乏校对功能的</a:t>
            </a:r>
            <a:r>
              <a:rPr lang="en-US" altLang="zh-CN" sz="2000" b="1"/>
              <a:t>DNA pol</a:t>
            </a:r>
            <a:r>
              <a:rPr lang="zh-CN" altLang="en-US" sz="2000" b="1"/>
              <a:t>，能在</a:t>
            </a:r>
            <a:r>
              <a:rPr lang="en-US" altLang="zh-CN" sz="2000" b="1"/>
              <a:t>DNA</a:t>
            </a:r>
            <a:r>
              <a:rPr lang="zh-CN" altLang="en-US" sz="2000" b="1"/>
              <a:t>损伤部位进行复制而避免了死亡，但带来了高变异率。</a:t>
            </a:r>
            <a:endParaRPr lang="en-US" altLang="zh-CN" sz="2000" b="1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000" b="1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两方面后果：</a:t>
            </a:r>
            <a:r>
              <a:rPr lang="en-US" altLang="zh-CN" sz="2000" b="1"/>
              <a:t>DNA</a:t>
            </a:r>
            <a:r>
              <a:rPr lang="zh-CN" altLang="en-US" sz="2000" b="1"/>
              <a:t>修复和导致变异。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3492500" y="908050"/>
            <a:ext cx="1203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</a:t>
            </a: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1114425" y="1649413"/>
            <a:ext cx="6265863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zh-CN" altLang="en-US" sz="2800" b="1"/>
              <a:t>半保留复制</a:t>
            </a:r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半不连续复制、冈崎片段</a:t>
            </a:r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前导链、滞后链（新生链方向）</a:t>
            </a:r>
            <a:endParaRPr lang="zh-CN" altLang="en-US" sz="2800" b="1"/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en-US" altLang="zh-CN" sz="2800" b="1"/>
              <a:t>DNA</a:t>
            </a:r>
            <a:r>
              <a:rPr lang="zh-CN" altLang="en-US" sz="2800" b="1"/>
              <a:t>聚合酶的几种活性</a:t>
            </a:r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zh-CN" altLang="en-US" sz="2800" b="1"/>
              <a:t>复制需要引物、底物</a:t>
            </a:r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zh-CN" altLang="en-US" sz="2800" b="1"/>
              <a:t>突变</a:t>
            </a:r>
          </a:p>
          <a:p>
            <a:pPr eaLnBrk="1" hangingPunct="1">
              <a:lnSpc>
                <a:spcPct val="150000"/>
              </a:lnSpc>
              <a:buClr>
                <a:srgbClr val="006600"/>
              </a:buClr>
              <a:buFont typeface="Wingdings" panose="05000000000000000000" pitchFamily="2" charset="2"/>
              <a:buChar char="Ø"/>
            </a:pPr>
            <a:r>
              <a:rPr lang="en-US" altLang="zh-CN" sz="1600" b="1">
                <a:hlinkClick r:id="rId2"/>
              </a:rPr>
              <a:t>http://highered.mcgraw-hill.com/sites/dl/free/0072437316/120060/ravenanimation.html</a:t>
            </a:r>
            <a:r>
              <a:rPr lang="en-US" altLang="zh-CN" sz="1600"/>
              <a:t> </a:t>
            </a:r>
            <a:endParaRPr lang="zh-CN" altLang="en-US" sz="1600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mboo">
  <a:themeElements>
    <a:clrScheme name="Bamboo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Bambo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amboo 1">
        <a:dk1>
          <a:srgbClr val="000000"/>
        </a:dk1>
        <a:lt1>
          <a:srgbClr val="FFFFFF"/>
        </a:lt1>
        <a:dk2>
          <a:srgbClr val="396F39"/>
        </a:dk2>
        <a:lt2>
          <a:srgbClr val="FFCC00"/>
        </a:lt2>
        <a:accent1>
          <a:srgbClr val="009900"/>
        </a:accent1>
        <a:accent2>
          <a:srgbClr val="CC9900"/>
        </a:accent2>
        <a:accent3>
          <a:srgbClr val="AEBBAE"/>
        </a:accent3>
        <a:accent4>
          <a:srgbClr val="DADADA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mboo 2">
        <a:dk1>
          <a:srgbClr val="000000"/>
        </a:dk1>
        <a:lt1>
          <a:srgbClr val="FFFFFF"/>
        </a:lt1>
        <a:dk2>
          <a:srgbClr val="003300"/>
        </a:dk2>
        <a:lt2>
          <a:srgbClr val="5F5F5F"/>
        </a:lt2>
        <a:accent1>
          <a:srgbClr val="0099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4">
        <a:dk1>
          <a:srgbClr val="000000"/>
        </a:dk1>
        <a:lt1>
          <a:srgbClr val="FFFFFF"/>
        </a:lt1>
        <a:dk2>
          <a:srgbClr val="FF0000"/>
        </a:dk2>
        <a:lt2>
          <a:srgbClr val="800000"/>
        </a:lt2>
        <a:accent1>
          <a:srgbClr val="008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E78A00"/>
        </a:accent6>
        <a:hlink>
          <a:srgbClr val="CC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Designs\Bamboo.pot</Template>
  <TotalTime>1290</TotalTime>
  <Words>1816</Words>
  <Application>Microsoft Office PowerPoint</Application>
  <PresentationFormat>全屏显示(4:3)</PresentationFormat>
  <Paragraphs>209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黑体</vt:lpstr>
      <vt:lpstr>楷体_GB2312</vt:lpstr>
      <vt:lpstr>宋体</vt:lpstr>
      <vt:lpstr>Arial</vt:lpstr>
      <vt:lpstr>Arial Black</vt:lpstr>
      <vt:lpstr>Times New Roman</vt:lpstr>
      <vt:lpstr>Wingdings</vt:lpstr>
      <vt:lpstr>Wingdings 2</vt:lpstr>
      <vt:lpstr>Bamboo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HKThome</dc:creator>
  <cp:lastModifiedBy>KEN HUANG</cp:lastModifiedBy>
  <cp:revision>299</cp:revision>
  <dcterms:created xsi:type="dcterms:W3CDTF">1601-01-01T00:00:00Z</dcterms:created>
  <dcterms:modified xsi:type="dcterms:W3CDTF">2026-06-11T01:45:52Z</dcterms:modified>
</cp:coreProperties>
</file>