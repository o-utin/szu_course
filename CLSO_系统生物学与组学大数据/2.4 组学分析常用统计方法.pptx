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3"/>
  </p:notesMasterIdLst>
  <p:handoutMasterIdLst>
    <p:handoutMasterId r:id="rId64"/>
  </p:handoutMasterIdLst>
  <p:sldIdLst>
    <p:sldId id="256" r:id="rId2"/>
    <p:sldId id="500" r:id="rId3"/>
    <p:sldId id="501" r:id="rId4"/>
    <p:sldId id="395" r:id="rId5"/>
    <p:sldId id="396" r:id="rId6"/>
    <p:sldId id="397" r:id="rId7"/>
    <p:sldId id="490" r:id="rId8"/>
    <p:sldId id="399" r:id="rId9"/>
    <p:sldId id="400" r:id="rId10"/>
    <p:sldId id="465" r:id="rId11"/>
    <p:sldId id="401" r:id="rId12"/>
    <p:sldId id="457" r:id="rId13"/>
    <p:sldId id="491" r:id="rId14"/>
    <p:sldId id="492" r:id="rId15"/>
    <p:sldId id="458" r:id="rId16"/>
    <p:sldId id="493" r:id="rId17"/>
    <p:sldId id="494" r:id="rId18"/>
    <p:sldId id="405" r:id="rId19"/>
    <p:sldId id="406" r:id="rId20"/>
    <p:sldId id="407" r:id="rId21"/>
    <p:sldId id="409" r:id="rId22"/>
    <p:sldId id="504" r:id="rId23"/>
    <p:sldId id="503" r:id="rId24"/>
    <p:sldId id="411" r:id="rId25"/>
    <p:sldId id="440" r:id="rId26"/>
    <p:sldId id="487" r:id="rId27"/>
    <p:sldId id="488" r:id="rId28"/>
    <p:sldId id="502" r:id="rId29"/>
    <p:sldId id="412" r:id="rId30"/>
    <p:sldId id="413" r:id="rId31"/>
    <p:sldId id="495" r:id="rId32"/>
    <p:sldId id="416" r:id="rId33"/>
    <p:sldId id="420" r:id="rId34"/>
    <p:sldId id="422" r:id="rId35"/>
    <p:sldId id="421" r:id="rId36"/>
    <p:sldId id="471" r:id="rId37"/>
    <p:sldId id="474" r:id="rId38"/>
    <p:sldId id="475" r:id="rId39"/>
    <p:sldId id="476" r:id="rId40"/>
    <p:sldId id="481" r:id="rId41"/>
    <p:sldId id="484" r:id="rId42"/>
    <p:sldId id="516" r:id="rId43"/>
    <p:sldId id="486" r:id="rId44"/>
    <p:sldId id="496" r:id="rId45"/>
    <p:sldId id="497" r:id="rId46"/>
    <p:sldId id="515" r:id="rId47"/>
    <p:sldId id="423" r:id="rId48"/>
    <p:sldId id="426" r:id="rId49"/>
    <p:sldId id="498" r:id="rId50"/>
    <p:sldId id="499" r:id="rId51"/>
    <p:sldId id="505" r:id="rId52"/>
    <p:sldId id="506" r:id="rId53"/>
    <p:sldId id="507" r:id="rId54"/>
    <p:sldId id="508" r:id="rId55"/>
    <p:sldId id="509" r:id="rId56"/>
    <p:sldId id="510" r:id="rId57"/>
    <p:sldId id="511" r:id="rId58"/>
    <p:sldId id="512" r:id="rId59"/>
    <p:sldId id="513" r:id="rId60"/>
    <p:sldId id="514" r:id="rId61"/>
    <p:sldId id="394" r:id="rId62"/>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006600"/>
    <a:srgbClr val="000099"/>
    <a:srgbClr val="003399"/>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694" autoAdjust="0"/>
  </p:normalViewPr>
  <p:slideViewPr>
    <p:cSldViewPr>
      <p:cViewPr varScale="1">
        <p:scale>
          <a:sx n="106" d="100"/>
          <a:sy n="106" d="100"/>
        </p:scale>
        <p:origin x="1764" y="11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DDC792F-CACA-49BA-8C29-B399984240E8}" type="datetimeFigureOut">
              <a:rPr lang="zh-CN" altLang="en-US" smtClean="0"/>
              <a:pPr/>
              <a:t>2026/4/10</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8427C24-956B-426F-855B-846E51EB6949}" type="slidenum">
              <a:rPr lang="zh-CN" altLang="en-US" smtClean="0"/>
              <a:pPr/>
              <a:t>‹#›</a:t>
            </a:fld>
            <a:endParaRPr lang="zh-CN" altLang="en-US"/>
          </a:p>
        </p:txBody>
      </p:sp>
    </p:spTree>
    <p:extLst>
      <p:ext uri="{BB962C8B-B14F-4D97-AF65-F5344CB8AC3E}">
        <p14:creationId xmlns:p14="http://schemas.microsoft.com/office/powerpoint/2010/main" val="230865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65C337B9-D3E8-4E6B-A45F-61830157D79E}" type="datetimeFigureOut">
              <a:rPr lang="zh-CN" altLang="en-US"/>
              <a:pPr>
                <a:defRPr/>
              </a:pPr>
              <a:t>2026/4/10</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charset="0"/>
              </a:defRPr>
            </a:lvl1pPr>
          </a:lstStyle>
          <a:p>
            <a:pPr>
              <a:defRPr/>
            </a:pPr>
            <a:fld id="{BA109D9A-6C06-4BC0-A0C2-B09B33C33D37}" type="slidenum">
              <a:rPr lang="zh-CN" altLang="en-US"/>
              <a:pPr>
                <a:defRPr/>
              </a:pPr>
              <a:t>‹#›</a:t>
            </a:fld>
            <a:endParaRPr lang="zh-CN" altLang="en-US"/>
          </a:p>
        </p:txBody>
      </p:sp>
    </p:spTree>
    <p:extLst>
      <p:ext uri="{BB962C8B-B14F-4D97-AF65-F5344CB8AC3E}">
        <p14:creationId xmlns:p14="http://schemas.microsoft.com/office/powerpoint/2010/main" val="2643761532"/>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329E5E4B-90F0-4FAB-957C-45DAE3273B8E}" type="datetime1">
              <a:rPr lang="zh-CN" altLang="en-US" smtClean="0"/>
              <a:pPr>
                <a:defRPr/>
              </a:pPr>
              <a:t>2026/4/10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4168ED12-4FE5-422D-A958-A130304769BB}" type="slidenum">
              <a:rPr lang="zh-CN" altLang="en-US"/>
              <a:pPr>
                <a:defRPr/>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426877BC-FF77-4DDD-A0EF-1814132F8DC1}" type="datetime1">
              <a:rPr lang="zh-CN" altLang="en-US" smtClean="0"/>
              <a:pPr>
                <a:defRPr/>
              </a:pPr>
              <a:t>2026/4/10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6C75756-0271-488A-B748-639BD5BFB0CE}" type="slidenum">
              <a:rPr lang="zh-CN" altLang="en-US"/>
              <a:pPr>
                <a:defRPr/>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fld id="{755FAAEC-ACD8-4C2E-8F44-8AE29438401A}" type="datetime1">
              <a:rPr lang="zh-CN" altLang="en-US" smtClean="0"/>
              <a:pPr>
                <a:defRPr/>
              </a:pPr>
              <a:t>2026/4/10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18F688CE-FDF3-4BC1-8870-CD09A9111845}"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AA925F07-7FBC-4268-8E8A-1068F4FC4155}" type="datetime1">
              <a:rPr lang="zh-CN" altLang="en-US" smtClean="0"/>
              <a:pPr>
                <a:defRPr/>
              </a:pPr>
              <a:t>2026/4/10</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816EEC1E-4FF0-4722-8E06-71640E2DD417}"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67F5EA86-187D-4593-9EA1-94988571AD6A}" type="datetime1">
              <a:rPr lang="zh-CN" altLang="en-US" smtClean="0"/>
              <a:pPr>
                <a:defRPr/>
              </a:pPr>
              <a:t>2026/4/10</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0A85F29F-0A15-4E5E-AD7D-A701FB4CA749}"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EF3110E1-0B11-4227-A12E-879E1F2EC9EA}" type="datetime1">
              <a:rPr lang="zh-CN" altLang="en-US" smtClean="0"/>
              <a:pPr>
                <a:defRPr/>
              </a:pPr>
              <a:t>2026/4/10</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405EDB96-AA87-4427-B239-0E327665BF76}"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EB61D3B0-D126-4A12-8D92-33C62D7BE315}" type="datetime1">
              <a:rPr lang="zh-CN" altLang="en-US" smtClean="0"/>
              <a:pPr>
                <a:defRPr/>
              </a:pPr>
              <a:t>2026/4/10</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F68A2D20-FAEA-4A40-97C8-F47E5928D6EB}"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927BF960-ACF9-47E1-9389-67DED372F202}" type="datetime1">
              <a:rPr lang="zh-CN" altLang="en-US" smtClean="0"/>
              <a:pPr>
                <a:defRPr/>
              </a:pPr>
              <a:t>2026/4/10</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68F5C685-5603-43DE-8BAA-BB587CACE7C3}"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C731BF2B-B772-46B0-A1DB-CF8F4B942A1B}" type="datetime1">
              <a:rPr lang="zh-CN" altLang="en-US" smtClean="0"/>
              <a:pPr>
                <a:defRPr/>
              </a:pPr>
              <a:t>2026/4/10</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8CCCEDA6-BF85-45FF-9F05-4CCA7868B261}"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73FAEA7B-2EB5-4734-AB7A-2E09A9CB8B4E}" type="datetime1">
              <a:rPr lang="zh-CN" altLang="en-US" smtClean="0"/>
              <a:pPr>
                <a:defRPr/>
              </a:pPr>
              <a:t>2026/4/10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5290EFB-B44B-4ED0-8ECC-256AA2314905}"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A5A2F404-F33E-405D-A315-EA8EA8C69F3A}" type="datetime1">
              <a:rPr lang="zh-CN" altLang="en-US" smtClean="0"/>
              <a:pPr>
                <a:defRPr/>
              </a:pPr>
              <a:t>2026/4/10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2A72334-FA11-40E2-8EAB-5C10D2EE80E0}"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标题占位符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43" name="文本占位符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01147FEF-FEF9-4BD5-96A5-F43B424A3A69}" type="datetime1">
              <a:rPr lang="zh-CN" altLang="en-US" smtClean="0"/>
              <a:pPr>
                <a:defRPr/>
              </a:pPr>
              <a:t>2026/4/10</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5F13783D-75EA-4F22-899F-FC32B3E894E4}"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gi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gi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jpeg"/></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7.xml"/><Relationship Id="rId4" Type="http://schemas.openxmlformats.org/officeDocument/2006/relationships/image" Target="../media/image44.jpeg"/></Relationships>
</file>

<file path=ppt/slides/_rels/slide4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srcRect/>
          <a:tile tx="0" ty="0" sx="100000" sy="100000" flip="none" algn="tl"/>
        </a:blipFill>
        <a:effectLst/>
      </p:bgPr>
    </p:bg>
    <p:spTree>
      <p:nvGrpSpPr>
        <p:cNvPr id="1" name=""/>
        <p:cNvGrpSpPr/>
        <p:nvPr/>
      </p:nvGrpSpPr>
      <p:grpSpPr>
        <a:xfrm>
          <a:off x="0" y="0"/>
          <a:ext cx="0" cy="0"/>
          <a:chOff x="0" y="0"/>
          <a:chExt cx="0" cy="0"/>
        </a:xfrm>
      </p:grpSpPr>
      <p:pic>
        <p:nvPicPr>
          <p:cNvPr id="60420" name="Picture 4" descr="https://timgsa.baidu.com/timg?image&amp;quality=80&amp;size=b9999_10000&amp;sec=1531379141610&amp;di=c7f0a4332ff7744b04c6f38c62d17768&amp;imgtype=0&amp;src=http%3A%2F%2Fwww.personalbio.cn%2Fueditor%2Fnet%2Fupload%2Fimage%2F20180323%2F6365741498663747434094042.png"/>
          <p:cNvPicPr>
            <a:picLocks noChangeAspect="1" noChangeArrowheads="1"/>
          </p:cNvPicPr>
          <p:nvPr/>
        </p:nvPicPr>
        <p:blipFill>
          <a:blip r:embed="rId3" cstate="print"/>
          <a:srcRect/>
          <a:stretch>
            <a:fillRect/>
          </a:stretch>
        </p:blipFill>
        <p:spPr bwMode="auto">
          <a:xfrm>
            <a:off x="467544" y="3885771"/>
            <a:ext cx="3668585" cy="2636151"/>
          </a:xfrm>
          <a:prstGeom prst="rect">
            <a:avLst/>
          </a:prstGeom>
          <a:noFill/>
        </p:spPr>
      </p:pic>
      <p:sp>
        <p:nvSpPr>
          <p:cNvPr id="6" name="矩形 5"/>
          <p:cNvSpPr/>
          <p:nvPr/>
        </p:nvSpPr>
        <p:spPr>
          <a:xfrm>
            <a:off x="86226" y="119534"/>
            <a:ext cx="8302198" cy="1077218"/>
          </a:xfrm>
          <a:prstGeom prst="rect">
            <a:avLst/>
          </a:prstGeom>
        </p:spPr>
        <p:txBody>
          <a:bodyPr wrap="square">
            <a:spAutoFit/>
          </a:bodyPr>
          <a:lstStyle/>
          <a:p>
            <a:r>
              <a:rPr lang="zh-CN" altLang="en-US" sz="3200" b="1" dirty="0" smtClean="0">
                <a:solidFill>
                  <a:srgbClr val="FF0000"/>
                </a:solidFill>
                <a:latin typeface="Arial" pitchFamily="34" charset="0"/>
                <a:ea typeface="黑体" pitchFamily="49" charset="-122"/>
                <a:cs typeface="Arial" pitchFamily="34" charset="0"/>
              </a:rPr>
              <a:t>系统生物学与组学大数据</a:t>
            </a:r>
            <a:endParaRPr lang="en-US" altLang="zh-CN" sz="3200" b="1" dirty="0" smtClean="0">
              <a:solidFill>
                <a:srgbClr val="FF0000"/>
              </a:solidFill>
              <a:latin typeface="Arial" pitchFamily="34" charset="0"/>
              <a:ea typeface="黑体" pitchFamily="49" charset="-122"/>
              <a:cs typeface="Arial" pitchFamily="34" charset="0"/>
            </a:endParaRPr>
          </a:p>
          <a:p>
            <a:r>
              <a:rPr lang="en-US" sz="3200" b="1" dirty="0" smtClean="0">
                <a:solidFill>
                  <a:srgbClr val="FF0000"/>
                </a:solidFill>
                <a:latin typeface="Arial" pitchFamily="34" charset="0"/>
                <a:ea typeface="黑体" pitchFamily="49" charset="-122"/>
                <a:cs typeface="Arial" pitchFamily="34" charset="0"/>
              </a:rPr>
              <a:t>(Systems Biology </a:t>
            </a:r>
            <a:r>
              <a:rPr lang="en-US" altLang="zh-CN" sz="3200" b="1" dirty="0" smtClean="0">
                <a:solidFill>
                  <a:srgbClr val="FF0000"/>
                </a:solidFill>
                <a:latin typeface="Arial" pitchFamily="34" charset="0"/>
                <a:ea typeface="黑体" pitchFamily="49" charset="-122"/>
                <a:cs typeface="Arial" pitchFamily="34" charset="0"/>
              </a:rPr>
              <a:t>&amp; </a:t>
            </a:r>
            <a:r>
              <a:rPr lang="en-US" altLang="zh-CN" sz="3200" b="1" dirty="0" err="1" smtClean="0">
                <a:solidFill>
                  <a:srgbClr val="FF0000"/>
                </a:solidFill>
                <a:latin typeface="Arial" pitchFamily="34" charset="0"/>
                <a:ea typeface="黑体" pitchFamily="49" charset="-122"/>
                <a:cs typeface="Arial" pitchFamily="34" charset="0"/>
              </a:rPr>
              <a:t>Omics</a:t>
            </a:r>
            <a:r>
              <a:rPr lang="en-US" altLang="zh-CN" sz="3200" b="1" dirty="0" smtClean="0">
                <a:solidFill>
                  <a:srgbClr val="FF0000"/>
                </a:solidFill>
                <a:latin typeface="Arial" pitchFamily="34" charset="0"/>
                <a:ea typeface="黑体" pitchFamily="49" charset="-122"/>
                <a:cs typeface="Arial" pitchFamily="34" charset="0"/>
              </a:rPr>
              <a:t> Big Data</a:t>
            </a:r>
            <a:r>
              <a:rPr lang="en-US" sz="3200" b="1" dirty="0" smtClean="0">
                <a:solidFill>
                  <a:srgbClr val="FF0000"/>
                </a:solidFill>
                <a:latin typeface="Arial" pitchFamily="34" charset="0"/>
                <a:ea typeface="黑体" pitchFamily="49" charset="-122"/>
                <a:cs typeface="Arial" pitchFamily="34" charset="0"/>
              </a:rPr>
              <a:t>)</a:t>
            </a:r>
            <a:endParaRPr lang="zh-CN" altLang="en-US" sz="3200" b="1" dirty="0">
              <a:solidFill>
                <a:srgbClr val="FF0000"/>
              </a:solidFill>
              <a:latin typeface="Arial" pitchFamily="34" charset="0"/>
              <a:ea typeface="黑体" pitchFamily="49" charset="-122"/>
              <a:cs typeface="Arial" pitchFamily="34" charset="0"/>
            </a:endParaRPr>
          </a:p>
        </p:txBody>
      </p:sp>
      <p:sp>
        <p:nvSpPr>
          <p:cNvPr id="7" name="矩形 6"/>
          <p:cNvSpPr/>
          <p:nvPr/>
        </p:nvSpPr>
        <p:spPr>
          <a:xfrm>
            <a:off x="-1406" y="1445215"/>
            <a:ext cx="6229590" cy="523220"/>
          </a:xfrm>
          <a:prstGeom prst="rect">
            <a:avLst/>
          </a:prstGeom>
        </p:spPr>
        <p:txBody>
          <a:bodyPr wrap="none">
            <a:spAutoFit/>
          </a:bodyPr>
          <a:lstStyle/>
          <a:p>
            <a:r>
              <a:rPr lang="zh-CN" altLang="en-US" sz="2800" u="sng" dirty="0" smtClean="0">
                <a:latin typeface="Arial" pitchFamily="34" charset="0"/>
                <a:ea typeface="黑体" pitchFamily="49" charset="-122"/>
                <a:cs typeface="Arial" pitchFamily="34" charset="0"/>
              </a:rPr>
              <a:t>第</a:t>
            </a:r>
            <a:r>
              <a:rPr lang="en-US" altLang="zh-CN" sz="2800" u="sng" dirty="0" smtClean="0">
                <a:latin typeface="Arial" pitchFamily="34" charset="0"/>
                <a:ea typeface="黑体" pitchFamily="49" charset="-122"/>
                <a:cs typeface="Arial" pitchFamily="34" charset="0"/>
              </a:rPr>
              <a:t>2</a:t>
            </a:r>
            <a:r>
              <a:rPr lang="zh-CN" altLang="en-US" sz="2800" u="sng" dirty="0" smtClean="0">
                <a:latin typeface="Arial" pitchFamily="34" charset="0"/>
                <a:ea typeface="黑体" pitchFamily="49" charset="-122"/>
                <a:cs typeface="Arial" pitchFamily="34" charset="0"/>
              </a:rPr>
              <a:t>章 </a:t>
            </a:r>
            <a:r>
              <a:rPr lang="zh-CN" altLang="zh-CN" sz="2800" u="sng" dirty="0" smtClean="0">
                <a:latin typeface="Arial" pitchFamily="34" charset="0"/>
                <a:ea typeface="黑体" pitchFamily="49" charset="-122"/>
                <a:cs typeface="Arial" pitchFamily="34" charset="0"/>
              </a:rPr>
              <a:t>相关</a:t>
            </a:r>
            <a:r>
              <a:rPr lang="zh-CN" altLang="zh-CN" sz="2800" u="sng" dirty="0">
                <a:latin typeface="Arial" pitchFamily="34" charset="0"/>
                <a:ea typeface="黑体" pitchFamily="49" charset="-122"/>
                <a:cs typeface="Arial" pitchFamily="34" charset="0"/>
              </a:rPr>
              <a:t>的生物信息学</a:t>
            </a:r>
            <a:r>
              <a:rPr lang="zh-CN" altLang="en-US" sz="2800" u="sng" dirty="0">
                <a:latin typeface="Arial" pitchFamily="34" charset="0"/>
                <a:ea typeface="黑体" pitchFamily="49" charset="-122"/>
                <a:cs typeface="Arial" pitchFamily="34" charset="0"/>
              </a:rPr>
              <a:t>与统计学</a:t>
            </a:r>
            <a:r>
              <a:rPr lang="zh-CN" altLang="zh-CN" sz="2800" u="sng" dirty="0">
                <a:latin typeface="Arial" pitchFamily="34" charset="0"/>
                <a:ea typeface="黑体" pitchFamily="49" charset="-122"/>
                <a:cs typeface="Arial" pitchFamily="34" charset="0"/>
              </a:rPr>
              <a:t>基础</a:t>
            </a:r>
            <a:endParaRPr lang="en-US" altLang="zh-CN" sz="2800" u="sng" dirty="0">
              <a:latin typeface="Arial" pitchFamily="34" charset="0"/>
              <a:ea typeface="黑体" pitchFamily="49" charset="-122"/>
              <a:cs typeface="Arial" pitchFamily="34" charset="0"/>
            </a:endParaRPr>
          </a:p>
        </p:txBody>
      </p:sp>
      <p:sp>
        <p:nvSpPr>
          <p:cNvPr id="8" name="矩形 7"/>
          <p:cNvSpPr/>
          <p:nvPr/>
        </p:nvSpPr>
        <p:spPr>
          <a:xfrm>
            <a:off x="323528" y="2462752"/>
            <a:ext cx="8496944" cy="769441"/>
          </a:xfrm>
          <a:prstGeom prst="rect">
            <a:avLst/>
          </a:prstGeom>
        </p:spPr>
        <p:txBody>
          <a:bodyPr wrap="square">
            <a:spAutoFit/>
          </a:bodyPr>
          <a:lstStyle/>
          <a:p>
            <a:pPr algn="ctr"/>
            <a:r>
              <a:rPr lang="en-US" altLang="zh-CN" sz="4400" b="1" dirty="0" smtClean="0">
                <a:solidFill>
                  <a:srgbClr val="0000CC"/>
                </a:solidFill>
                <a:latin typeface="Arial" panose="020B0604020202020204" pitchFamily="34" charset="0"/>
                <a:ea typeface="黑体" pitchFamily="49" charset="-122"/>
                <a:cs typeface="Arial" panose="020B0604020202020204" pitchFamily="34" charset="0"/>
              </a:rPr>
              <a:t>2.4 </a:t>
            </a:r>
            <a:r>
              <a:rPr lang="zh-CN" altLang="en-US" sz="4400" b="1" dirty="0" smtClean="0">
                <a:solidFill>
                  <a:srgbClr val="0000CC"/>
                </a:solidFill>
                <a:latin typeface="Arial" panose="020B0604020202020204" pitchFamily="34" charset="0"/>
                <a:ea typeface="黑体" pitchFamily="49" charset="-122"/>
                <a:cs typeface="Arial" panose="020B0604020202020204" pitchFamily="34" charset="0"/>
              </a:rPr>
              <a:t>组</a:t>
            </a:r>
            <a:r>
              <a:rPr lang="zh-CN" altLang="en-US" sz="4400" b="1" dirty="0">
                <a:solidFill>
                  <a:srgbClr val="0000CC"/>
                </a:solidFill>
                <a:latin typeface="Arial" panose="020B0604020202020204" pitchFamily="34" charset="0"/>
                <a:ea typeface="黑体" pitchFamily="49" charset="-122"/>
                <a:cs typeface="Arial" panose="020B0604020202020204" pitchFamily="34" charset="0"/>
              </a:rPr>
              <a:t>学分析常用统计</a:t>
            </a:r>
            <a:r>
              <a:rPr lang="zh-CN" altLang="en-US" sz="4400" b="1" dirty="0" smtClean="0">
                <a:solidFill>
                  <a:srgbClr val="0000CC"/>
                </a:solidFill>
                <a:latin typeface="Arial" panose="020B0604020202020204" pitchFamily="34" charset="0"/>
                <a:ea typeface="黑体" pitchFamily="49" charset="-122"/>
                <a:cs typeface="Arial" panose="020B0604020202020204" pitchFamily="34" charset="0"/>
              </a:rPr>
              <a:t>方法</a:t>
            </a:r>
            <a:r>
              <a:rPr lang="zh-CN" altLang="en-US" sz="4400" b="1" dirty="0">
                <a:solidFill>
                  <a:srgbClr val="0000CC"/>
                </a:solidFill>
                <a:latin typeface="Arial" panose="020B0604020202020204" pitchFamily="34" charset="0"/>
                <a:ea typeface="黑体" pitchFamily="49" charset="-122"/>
                <a:cs typeface="Arial" panose="020B0604020202020204" pitchFamily="34" charset="0"/>
              </a:rPr>
              <a:t>简介</a:t>
            </a:r>
            <a:endParaRPr lang="zh-CN" altLang="en-US" sz="4400" dirty="0"/>
          </a:p>
        </p:txBody>
      </p:sp>
      <p:pic>
        <p:nvPicPr>
          <p:cNvPr id="2" name="图片 1"/>
          <p:cNvPicPr>
            <a:picLocks noChangeAspect="1"/>
          </p:cNvPicPr>
          <p:nvPr/>
        </p:nvPicPr>
        <p:blipFill>
          <a:blip r:embed="rId4" cstate="print"/>
          <a:stretch>
            <a:fillRect/>
          </a:stretch>
        </p:blipFill>
        <p:spPr>
          <a:xfrm>
            <a:off x="4826966" y="3861048"/>
            <a:ext cx="3563529" cy="2780167"/>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18864" y="260648"/>
            <a:ext cx="8229600" cy="576064"/>
          </a:xfrm>
        </p:spPr>
        <p:txBody>
          <a:bodyPr/>
          <a:lstStyle/>
          <a:p>
            <a:r>
              <a:rPr lang="zh-CN" altLang="en-US" sz="3600" b="1" dirty="0" smtClean="0">
                <a:solidFill>
                  <a:srgbClr val="000099"/>
                </a:solidFill>
                <a:latin typeface="黑体" panose="02010609060101010101" pitchFamily="49" charset="-122"/>
                <a:ea typeface="黑体" panose="02010609060101010101" pitchFamily="49" charset="-122"/>
              </a:rPr>
              <a:t>大数据时代下的统计学</a:t>
            </a:r>
            <a:endParaRPr lang="zh-CN" altLang="en-US" sz="3600" b="1" dirty="0">
              <a:solidFill>
                <a:srgbClr val="000099"/>
              </a:solidFill>
              <a:latin typeface="黑体" panose="02010609060101010101" pitchFamily="49" charset="-122"/>
              <a:ea typeface="黑体" panose="02010609060101010101" pitchFamily="49" charset="-122"/>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2</a:t>
            </a:fld>
            <a:endParaRPr lang="zh-CN" altLang="en-US"/>
          </a:p>
        </p:txBody>
      </p:sp>
      <p:sp>
        <p:nvSpPr>
          <p:cNvPr id="6" name="内容占位符 4"/>
          <p:cNvSpPr>
            <a:spLocks noGrp="1"/>
          </p:cNvSpPr>
          <p:nvPr>
            <p:ph idx="1"/>
          </p:nvPr>
        </p:nvSpPr>
        <p:spPr>
          <a:xfrm>
            <a:off x="107504" y="1124744"/>
            <a:ext cx="8928992" cy="4536504"/>
          </a:xfrm>
        </p:spPr>
        <p:txBody>
          <a:bodyPr/>
          <a:lstStyle/>
          <a:p>
            <a:pPr>
              <a:buFont typeface="Wingdings" panose="05000000000000000000" pitchFamily="2" charset="2"/>
              <a:buChar char="n"/>
            </a:pPr>
            <a:r>
              <a:rPr lang="zh-CN" altLang="en-US" sz="2400" dirty="0" smtClean="0">
                <a:solidFill>
                  <a:srgbClr val="FF0000"/>
                </a:solidFill>
                <a:latin typeface="Arial" panose="020B0604020202020204" pitchFamily="34" charset="0"/>
                <a:ea typeface="黑体" panose="02010609060101010101" pitchFamily="49" charset="-122"/>
                <a:cs typeface="Arial" panose="020B0604020202020204" pitchFamily="34" charset="0"/>
              </a:rPr>
              <a:t>大数据时代的到来</a:t>
            </a:r>
            <a:r>
              <a:rPr lang="zh-CN" altLang="en-US" sz="2400" dirty="0" smtClean="0">
                <a:latin typeface="Arial" panose="020B0604020202020204" pitchFamily="34" charset="0"/>
                <a:ea typeface="黑体" panose="02010609060101010101" pitchFamily="49" charset="-122"/>
                <a:cs typeface="Arial" panose="020B0604020202020204" pitchFamily="34" charset="0"/>
              </a:rPr>
              <a:t>：人</a:t>
            </a:r>
            <a:r>
              <a:rPr lang="zh-CN" altLang="en-US" sz="2400" dirty="0">
                <a:latin typeface="Arial" panose="020B0604020202020204" pitchFamily="34" charset="0"/>
                <a:ea typeface="黑体" panose="02010609060101010101" pitchFamily="49" charset="-122"/>
                <a:cs typeface="Arial" panose="020B0604020202020204" pitchFamily="34" charset="0"/>
              </a:rPr>
              <a:t>类社会</a:t>
            </a:r>
            <a:r>
              <a:rPr lang="zh-CN" altLang="en-US" sz="2400" dirty="0" smtClean="0">
                <a:latin typeface="Arial" panose="020B0604020202020204" pitchFamily="34" charset="0"/>
                <a:ea typeface="黑体" panose="02010609060101010101" pitchFamily="49" charset="-122"/>
                <a:cs typeface="Arial" panose="020B0604020202020204" pitchFamily="34" charset="0"/>
              </a:rPr>
              <a:t>正处于以大数据为代表的“第三</a:t>
            </a:r>
            <a:r>
              <a:rPr lang="zh-CN" altLang="en-US" sz="2400" dirty="0">
                <a:latin typeface="Arial" panose="020B0604020202020204" pitchFamily="34" charset="0"/>
                <a:ea typeface="黑体" panose="02010609060101010101" pitchFamily="49" charset="-122"/>
                <a:cs typeface="Arial" panose="020B0604020202020204" pitchFamily="34" charset="0"/>
              </a:rPr>
              <a:t>次浪潮文明</a:t>
            </a:r>
            <a:r>
              <a:rPr lang="zh-CN" altLang="en-US" sz="2400" dirty="0" smtClean="0">
                <a:latin typeface="Arial" panose="020B0604020202020204" pitchFamily="34" charset="0"/>
                <a:ea typeface="黑体" panose="02010609060101010101" pitchFamily="49" charset="-122"/>
                <a:cs typeface="Arial" panose="020B0604020202020204" pitchFamily="34" charset="0"/>
              </a:rPr>
              <a:t>”的新时期，随着大数据应用越来越广泛，对</a:t>
            </a:r>
            <a:r>
              <a:rPr lang="zh-CN" altLang="en-US" sz="2400" dirty="0">
                <a:latin typeface="Arial" panose="020B0604020202020204" pitchFamily="34" charset="0"/>
                <a:ea typeface="黑体" panose="02010609060101010101" pitchFamily="49" charset="-122"/>
                <a:cs typeface="Arial" panose="020B0604020202020204" pitchFamily="34" charset="0"/>
              </a:rPr>
              <a:t>数据分析人才的需求</a:t>
            </a:r>
            <a:r>
              <a:rPr lang="zh-CN" altLang="en-US" sz="2400" dirty="0" smtClean="0">
                <a:latin typeface="Arial" panose="020B0604020202020204" pitchFamily="34" charset="0"/>
                <a:ea typeface="黑体" panose="02010609060101010101" pitchFamily="49" charset="-122"/>
                <a:cs typeface="Arial" panose="020B0604020202020204" pitchFamily="34" charset="0"/>
              </a:rPr>
              <a:t>也与日俱增；</a:t>
            </a:r>
            <a:endParaRPr lang="en-US" altLang="zh-CN" sz="2400" dirty="0" smtClean="0">
              <a:latin typeface="Arial" panose="020B0604020202020204" pitchFamily="34" charset="0"/>
              <a:ea typeface="黑体" panose="02010609060101010101" pitchFamily="49" charset="-122"/>
              <a:cs typeface="Arial" panose="020B0604020202020204" pitchFamily="34" charset="0"/>
            </a:endParaRPr>
          </a:p>
          <a:p>
            <a:pPr marL="0" indent="0">
              <a:buNone/>
            </a:pPr>
            <a:endParaRPr lang="en-US" altLang="zh-CN" sz="2400" dirty="0" smtClean="0">
              <a:latin typeface="Arial" panose="020B0604020202020204" pitchFamily="34" charset="0"/>
              <a:ea typeface="黑体" panose="02010609060101010101" pitchFamily="49" charset="-122"/>
              <a:cs typeface="Arial" panose="020B0604020202020204" pitchFamily="34" charset="0"/>
            </a:endParaRPr>
          </a:p>
          <a:p>
            <a:pPr>
              <a:buFont typeface="Wingdings" panose="05000000000000000000" pitchFamily="2" charset="2"/>
              <a:buChar char="n"/>
            </a:pPr>
            <a:r>
              <a:rPr lang="zh-CN" altLang="en-US" sz="2400" dirty="0">
                <a:solidFill>
                  <a:srgbClr val="FF0000"/>
                </a:solidFill>
                <a:latin typeface="Arial" panose="020B0604020202020204" pitchFamily="34" charset="0"/>
                <a:ea typeface="黑体" panose="02010609060101010101" pitchFamily="49" charset="-122"/>
                <a:cs typeface="Arial" panose="020B0604020202020204" pitchFamily="34" charset="0"/>
              </a:rPr>
              <a:t>“得数据者得天下！”</a:t>
            </a:r>
            <a:r>
              <a:rPr lang="zh-CN" altLang="en-US" sz="2400" dirty="0">
                <a:latin typeface="Arial" panose="020B0604020202020204" pitchFamily="34" charset="0"/>
                <a:ea typeface="黑体" panose="02010609060101010101" pitchFamily="49" charset="-122"/>
                <a:cs typeface="Arial" panose="020B0604020202020204" pitchFamily="34" charset="0"/>
              </a:rPr>
              <a:t>：目前世界</a:t>
            </a:r>
            <a:r>
              <a:rPr lang="en-US" altLang="zh-CN" sz="2400" dirty="0">
                <a:latin typeface="Arial" panose="020B0604020202020204" pitchFamily="34" charset="0"/>
                <a:ea typeface="黑体" panose="02010609060101010101" pitchFamily="49" charset="-122"/>
                <a:cs typeface="Arial" panose="020B0604020202020204" pitchFamily="34" charset="0"/>
              </a:rPr>
              <a:t>500</a:t>
            </a:r>
            <a:r>
              <a:rPr lang="zh-CN" altLang="en-US" sz="2400" dirty="0">
                <a:latin typeface="Arial" panose="020B0604020202020204" pitchFamily="34" charset="0"/>
                <a:ea typeface="黑体" panose="02010609060101010101" pitchFamily="49" charset="-122"/>
                <a:cs typeface="Arial" panose="020B0604020202020204" pitchFamily="34" charset="0"/>
              </a:rPr>
              <a:t>强企业中，有</a:t>
            </a:r>
            <a:r>
              <a:rPr lang="en-US" altLang="zh-CN" sz="2400" dirty="0">
                <a:latin typeface="Arial" panose="020B0604020202020204" pitchFamily="34" charset="0"/>
                <a:ea typeface="黑体" panose="02010609060101010101" pitchFamily="49" charset="-122"/>
                <a:cs typeface="Arial" panose="020B0604020202020204" pitchFamily="34" charset="0"/>
              </a:rPr>
              <a:t>90%</a:t>
            </a:r>
            <a:r>
              <a:rPr lang="zh-CN" altLang="en-US" sz="2400" dirty="0">
                <a:latin typeface="Arial" panose="020B0604020202020204" pitchFamily="34" charset="0"/>
                <a:ea typeface="黑体" panose="02010609060101010101" pitchFamily="49" charset="-122"/>
                <a:cs typeface="Arial" panose="020B0604020202020204" pitchFamily="34" charset="0"/>
              </a:rPr>
              <a:t>以上都建立了大数据分析部门，培养数据分析</a:t>
            </a:r>
            <a:r>
              <a:rPr lang="zh-CN" altLang="en-US" sz="2400" dirty="0" smtClean="0">
                <a:latin typeface="Arial" panose="020B0604020202020204" pitchFamily="34" charset="0"/>
                <a:ea typeface="黑体" panose="02010609060101010101" pitchFamily="49" charset="-122"/>
                <a:cs typeface="Arial" panose="020B0604020202020204" pitchFamily="34" charset="0"/>
              </a:rPr>
              <a:t>团队从事数据驱动业务（如</a:t>
            </a:r>
            <a:r>
              <a:rPr lang="en-US" altLang="zh-CN" sz="2400" dirty="0" smtClean="0">
                <a:latin typeface="Arial" panose="020B0604020202020204" pitchFamily="34" charset="0"/>
                <a:ea typeface="黑体" panose="02010609060101010101" pitchFamily="49" charset="-122"/>
                <a:cs typeface="Arial" panose="020B0604020202020204" pitchFamily="34" charset="0"/>
              </a:rPr>
              <a:t>Data Scientist</a:t>
            </a:r>
            <a:r>
              <a:rPr lang="zh-CN" altLang="en-US" sz="2400" dirty="0" smtClean="0">
                <a:latin typeface="Arial" panose="020B0604020202020204" pitchFamily="34" charset="0"/>
                <a:ea typeface="黑体" panose="02010609060101010101" pitchFamily="49" charset="-122"/>
                <a:cs typeface="Arial" panose="020B0604020202020204" pitchFamily="34" charset="0"/>
              </a:rPr>
              <a:t>），大</a:t>
            </a:r>
            <a:r>
              <a:rPr lang="zh-CN" altLang="en-US" sz="2400" dirty="0">
                <a:latin typeface="Arial" panose="020B0604020202020204" pitchFamily="34" charset="0"/>
                <a:ea typeface="黑体" panose="02010609060101010101" pitchFamily="49" charset="-122"/>
                <a:cs typeface="Arial" panose="020B0604020202020204" pitchFamily="34" charset="0"/>
              </a:rPr>
              <a:t>数据的分析和处理能力正在成为日益倚重的技术</a:t>
            </a:r>
            <a:r>
              <a:rPr lang="zh-CN" altLang="en-US" sz="2400" dirty="0" smtClean="0">
                <a:latin typeface="Arial" panose="020B0604020202020204" pitchFamily="34" charset="0"/>
                <a:ea typeface="黑体" panose="02010609060101010101" pitchFamily="49" charset="-122"/>
                <a:cs typeface="Arial" panose="020B0604020202020204" pitchFamily="34" charset="0"/>
              </a:rPr>
              <a:t>手段；</a:t>
            </a:r>
            <a:endParaRPr lang="en-US" altLang="zh-CN" sz="2400" dirty="0">
              <a:latin typeface="Arial" panose="020B0604020202020204" pitchFamily="34" charset="0"/>
              <a:ea typeface="黑体" panose="02010609060101010101" pitchFamily="49" charset="-122"/>
              <a:cs typeface="Arial" panose="020B0604020202020204" pitchFamily="34" charset="0"/>
            </a:endParaRPr>
          </a:p>
          <a:p>
            <a:pPr>
              <a:buFont typeface="Wingdings" panose="05000000000000000000" pitchFamily="2" charset="2"/>
              <a:buChar char="n"/>
            </a:pPr>
            <a:endParaRPr lang="en-US" altLang="zh-CN" sz="2400" dirty="0" smtClean="0">
              <a:latin typeface="黑体" panose="02010609060101010101" pitchFamily="49" charset="-122"/>
              <a:ea typeface="黑体" panose="02010609060101010101" pitchFamily="49" charset="-122"/>
            </a:endParaRPr>
          </a:p>
          <a:p>
            <a:pPr>
              <a:buFont typeface="Wingdings" panose="05000000000000000000" pitchFamily="2" charset="2"/>
              <a:buChar char="n"/>
            </a:pPr>
            <a:r>
              <a:rPr lang="zh-CN" altLang="en-US" sz="2400" dirty="0" smtClean="0">
                <a:solidFill>
                  <a:srgbClr val="FF0000"/>
                </a:solidFill>
                <a:latin typeface="Arial" panose="020B0604020202020204" pitchFamily="34" charset="0"/>
                <a:ea typeface="黑体" panose="02010609060101010101" pitchFamily="49" charset="-122"/>
                <a:cs typeface="Arial" panose="020B0604020202020204" pitchFamily="34" charset="0"/>
              </a:rPr>
              <a:t>统计学是大数据分析</a:t>
            </a:r>
            <a:r>
              <a:rPr lang="zh-CN" altLang="en-US" sz="2400" dirty="0">
                <a:solidFill>
                  <a:srgbClr val="FF0000"/>
                </a:solidFill>
                <a:latin typeface="Arial" panose="020B0604020202020204" pitchFamily="34" charset="0"/>
                <a:ea typeface="黑体" panose="02010609060101010101" pitchFamily="49" charset="-122"/>
                <a:cs typeface="Arial" panose="020B0604020202020204" pitchFamily="34" charset="0"/>
              </a:rPr>
              <a:t>的</a:t>
            </a:r>
            <a:r>
              <a:rPr lang="zh-CN" altLang="en-US" sz="2400" dirty="0" smtClean="0">
                <a:solidFill>
                  <a:srgbClr val="FF0000"/>
                </a:solidFill>
                <a:latin typeface="Arial" panose="020B0604020202020204" pitchFamily="34" charset="0"/>
                <a:ea typeface="黑体" panose="02010609060101010101" pitchFamily="49" charset="-122"/>
                <a:cs typeface="Arial" panose="020B0604020202020204" pitchFamily="34" charset="0"/>
              </a:rPr>
              <a:t>灵魂</a:t>
            </a:r>
            <a:r>
              <a:rPr lang="zh-CN" altLang="en-US" sz="2400" dirty="0" smtClean="0">
                <a:latin typeface="Arial" panose="020B0604020202020204" pitchFamily="34" charset="0"/>
                <a:ea typeface="黑体" panose="02010609060101010101" pitchFamily="49" charset="-122"/>
                <a:cs typeface="Arial" panose="020B0604020202020204" pitchFamily="34" charset="0"/>
              </a:rPr>
              <a:t>。但是光靠统计学</a:t>
            </a:r>
            <a:r>
              <a:rPr lang="zh-CN" altLang="en-US" sz="2400" dirty="0">
                <a:latin typeface="Arial" panose="020B0604020202020204" pitchFamily="34" charset="0"/>
                <a:ea typeface="黑体" panose="02010609060101010101" pitchFamily="49" charset="-122"/>
                <a:cs typeface="Arial" panose="020B0604020202020204" pitchFamily="34" charset="0"/>
              </a:rPr>
              <a:t>还远远不够，需要多</a:t>
            </a:r>
            <a:r>
              <a:rPr lang="zh-CN" altLang="en-US" sz="2400" dirty="0" smtClean="0">
                <a:latin typeface="Arial" panose="020B0604020202020204" pitchFamily="34" charset="0"/>
                <a:ea typeface="黑体" panose="02010609060101010101" pitchFamily="49" charset="-122"/>
                <a:cs typeface="Arial" panose="020B0604020202020204" pitchFamily="34" charset="0"/>
              </a:rPr>
              <a:t>学科知识结合</a:t>
            </a:r>
            <a:r>
              <a:rPr lang="zh-CN" altLang="en-US" sz="2400" dirty="0">
                <a:latin typeface="Arial" panose="020B0604020202020204" pitchFamily="34" charset="0"/>
                <a:ea typeface="黑体" panose="02010609060101010101" pitchFamily="49" charset="-122"/>
                <a:cs typeface="Arial" panose="020B0604020202020204" pitchFamily="34" charset="0"/>
              </a:rPr>
              <a:t>，培养社会需要</a:t>
            </a:r>
            <a:r>
              <a:rPr lang="zh-CN" altLang="en-US" sz="2400" dirty="0" smtClean="0">
                <a:latin typeface="Arial" panose="020B0604020202020204" pitchFamily="34" charset="0"/>
                <a:ea typeface="黑体" panose="02010609060101010101" pitchFamily="49" charset="-122"/>
                <a:cs typeface="Arial" panose="020B0604020202020204" pitchFamily="34" charset="0"/>
              </a:rPr>
              <a:t>的复合型实用型人才</a:t>
            </a:r>
            <a:r>
              <a:rPr lang="zh-CN" altLang="en-US" sz="2400" dirty="0" smtClean="0">
                <a:latin typeface="黑体" panose="02010609060101010101" pitchFamily="49" charset="-122"/>
                <a:ea typeface="黑体" panose="02010609060101010101" pitchFamily="49" charset="-122"/>
              </a:rPr>
              <a:t>。</a:t>
            </a:r>
            <a:endParaRPr lang="en-US" altLang="zh-CN" sz="2400" dirty="0" smtClean="0">
              <a:latin typeface="黑体" panose="02010609060101010101" pitchFamily="49" charset="-122"/>
              <a:ea typeface="黑体" panose="02010609060101010101" pitchFamily="49" charset="-122"/>
            </a:endParaRPr>
          </a:p>
        </p:txBody>
      </p:sp>
      <p:sp>
        <p:nvSpPr>
          <p:cNvPr id="7" name="矩形 6"/>
          <p:cNvSpPr/>
          <p:nvPr/>
        </p:nvSpPr>
        <p:spPr>
          <a:xfrm>
            <a:off x="35496" y="6022449"/>
            <a:ext cx="9036496" cy="43088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zh-CN" altLang="en-US" sz="2200" b="1" dirty="0">
                <a:solidFill>
                  <a:srgbClr val="FF0000"/>
                </a:solidFill>
                <a:latin typeface="Arial" panose="020B0604020202020204" pitchFamily="34" charset="0"/>
                <a:ea typeface="黑体" panose="02010609060101010101" pitchFamily="49" charset="-122"/>
                <a:cs typeface="Arial" panose="020B0604020202020204" pitchFamily="34" charset="0"/>
              </a:rPr>
              <a:t> 统计学方法 </a:t>
            </a:r>
            <a:r>
              <a:rPr lang="en-US" altLang="zh-CN" sz="2200" b="1" dirty="0">
                <a:solidFill>
                  <a:srgbClr val="FF0000"/>
                </a:solidFill>
                <a:latin typeface="Arial" panose="020B0604020202020204" pitchFamily="34" charset="0"/>
                <a:ea typeface="黑体" panose="02010609060101010101" pitchFamily="49" charset="-122"/>
                <a:cs typeface="Arial" panose="020B0604020202020204" pitchFamily="34" charset="0"/>
              </a:rPr>
              <a:t>+ </a:t>
            </a:r>
            <a:r>
              <a:rPr lang="zh-CN" altLang="en-US" sz="2200" b="1" dirty="0" smtClean="0">
                <a:solidFill>
                  <a:srgbClr val="FF0000"/>
                </a:solidFill>
                <a:latin typeface="Arial" panose="020B0604020202020204" pitchFamily="34" charset="0"/>
                <a:ea typeface="黑体" panose="02010609060101010101" pitchFamily="49" charset="-122"/>
                <a:cs typeface="Arial" panose="020B0604020202020204" pitchFamily="34" charset="0"/>
              </a:rPr>
              <a:t>计算机技术 </a:t>
            </a:r>
            <a:r>
              <a:rPr lang="en-US" altLang="zh-CN" sz="2200" b="1" dirty="0">
                <a:solidFill>
                  <a:srgbClr val="FF0000"/>
                </a:solidFill>
                <a:latin typeface="Arial" panose="020B0604020202020204" pitchFamily="34" charset="0"/>
                <a:ea typeface="黑体" panose="02010609060101010101" pitchFamily="49" charset="-122"/>
                <a:cs typeface="Arial" panose="020B0604020202020204" pitchFamily="34" charset="0"/>
              </a:rPr>
              <a:t>+ </a:t>
            </a:r>
            <a:r>
              <a:rPr lang="zh-CN" altLang="en-US" sz="2200" b="1" dirty="0">
                <a:solidFill>
                  <a:srgbClr val="FF0000"/>
                </a:solidFill>
                <a:latin typeface="Arial" panose="020B0604020202020204" pitchFamily="34" charset="0"/>
                <a:ea typeface="黑体" panose="02010609060101010101" pitchFamily="49" charset="-122"/>
                <a:cs typeface="Arial" panose="020B0604020202020204" pitchFamily="34" charset="0"/>
              </a:rPr>
              <a:t>专业知识 </a:t>
            </a:r>
            <a:r>
              <a:rPr lang="en-US" altLang="zh-CN" sz="2200" b="1" dirty="0">
                <a:solidFill>
                  <a:srgbClr val="FF0000"/>
                </a:solidFill>
                <a:latin typeface="Arial" panose="020B0604020202020204" pitchFamily="34" charset="0"/>
                <a:ea typeface="黑体" panose="02010609060101010101" pitchFamily="49" charset="-122"/>
                <a:cs typeface="Arial" panose="020B0604020202020204" pitchFamily="34" charset="0"/>
              </a:rPr>
              <a:t>+ </a:t>
            </a:r>
            <a:r>
              <a:rPr lang="zh-CN" altLang="en-US" sz="2200" b="1" dirty="0">
                <a:solidFill>
                  <a:srgbClr val="FF0000"/>
                </a:solidFill>
                <a:latin typeface="Arial" panose="020B0604020202020204" pitchFamily="34" charset="0"/>
                <a:ea typeface="黑体" panose="02010609060101010101" pitchFamily="49" charset="-122"/>
                <a:cs typeface="Arial" panose="020B0604020202020204" pitchFamily="34" charset="0"/>
              </a:rPr>
              <a:t>实践经验 </a:t>
            </a:r>
            <a:r>
              <a:rPr lang="en-US" altLang="zh-CN" sz="2200" b="1" dirty="0">
                <a:solidFill>
                  <a:srgbClr val="FF0000"/>
                </a:solidFill>
                <a:latin typeface="Arial" panose="020B0604020202020204" pitchFamily="34" charset="0"/>
                <a:ea typeface="黑体" panose="02010609060101010101" pitchFamily="49" charset="-122"/>
                <a:cs typeface="Arial" panose="020B0604020202020204" pitchFamily="34" charset="0"/>
              </a:rPr>
              <a:t>= </a:t>
            </a:r>
            <a:r>
              <a:rPr lang="zh-CN" altLang="en-US" sz="2200" b="1" dirty="0">
                <a:solidFill>
                  <a:srgbClr val="FF0000"/>
                </a:solidFill>
                <a:latin typeface="Arial" panose="020B0604020202020204" pitchFamily="34" charset="0"/>
                <a:ea typeface="黑体" panose="02010609060101010101" pitchFamily="49" charset="-122"/>
                <a:cs typeface="Arial" panose="020B0604020202020204" pitchFamily="34" charset="0"/>
              </a:rPr>
              <a:t>优秀数据分析人才！</a:t>
            </a:r>
            <a:endParaRPr lang="zh-CN" altLang="en-US" sz="2200" dirty="0"/>
          </a:p>
        </p:txBody>
      </p:sp>
      <p:pic>
        <p:nvPicPr>
          <p:cNvPr id="54276" name="Picture 4" descr="https://img0.baidu.com/it/u=1003655122,1873029734&amp;fm=253&amp;fmt=auto&amp;app=138&amp;f=JPEG?w=500&amp;h=500"/>
          <p:cNvPicPr>
            <a:picLocks noChangeAspect="1" noChangeArrowheads="1"/>
          </p:cNvPicPr>
          <p:nvPr/>
        </p:nvPicPr>
        <p:blipFill>
          <a:blip r:embed="rId2" cstate="print"/>
          <a:srcRect/>
          <a:stretch>
            <a:fillRect/>
          </a:stretch>
        </p:blipFill>
        <p:spPr bwMode="auto">
          <a:xfrm>
            <a:off x="7802388" y="0"/>
            <a:ext cx="1018084" cy="1052736"/>
          </a:xfrm>
          <a:prstGeom prst="rect">
            <a:avLst/>
          </a:prstGeom>
          <a:noFill/>
        </p:spPr>
      </p:pic>
    </p:spTree>
    <p:extLst>
      <p:ext uri="{BB962C8B-B14F-4D97-AF65-F5344CB8AC3E}">
        <p14:creationId xmlns:p14="http://schemas.microsoft.com/office/powerpoint/2010/main" val="2053638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3</a:t>
            </a:fld>
            <a:endParaRPr lang="zh-CN" altLang="en-US"/>
          </a:p>
        </p:txBody>
      </p:sp>
      <p:sp>
        <p:nvSpPr>
          <p:cNvPr id="5" name="内容占位符 2"/>
          <p:cNvSpPr>
            <a:spLocks noGrp="1"/>
          </p:cNvSpPr>
          <p:nvPr>
            <p:ph idx="1"/>
          </p:nvPr>
        </p:nvSpPr>
        <p:spPr>
          <a:xfrm>
            <a:off x="35496" y="332656"/>
            <a:ext cx="9001000" cy="5544616"/>
          </a:xfrm>
        </p:spPr>
        <p:txBody>
          <a:bodyPr/>
          <a:lstStyle/>
          <a:p>
            <a:pPr>
              <a:buFont typeface="Wingdings" panose="05000000000000000000" pitchFamily="2" charset="2"/>
              <a:buChar char="n"/>
            </a:pPr>
            <a:r>
              <a:rPr lang="zh-CN" altLang="en-US" sz="2400" dirty="0" smtClean="0">
                <a:solidFill>
                  <a:srgbClr val="FF0000"/>
                </a:solidFill>
                <a:latin typeface="Arial" panose="020B0604020202020204" pitchFamily="34" charset="0"/>
                <a:ea typeface="黑体" panose="02010609060101010101" pitchFamily="49" charset="-122"/>
                <a:cs typeface="Arial" panose="020B0604020202020204" pitchFamily="34" charset="0"/>
              </a:rPr>
              <a:t>生物大数据是</a:t>
            </a:r>
            <a:r>
              <a:rPr lang="zh-CN" altLang="en-US" sz="2400" dirty="0">
                <a:solidFill>
                  <a:srgbClr val="FF0000"/>
                </a:solidFill>
                <a:latin typeface="Arial" panose="020B0604020202020204" pitchFamily="34" charset="0"/>
                <a:ea typeface="黑体" panose="02010609060101010101" pitchFamily="49" charset="-122"/>
                <a:cs typeface="Arial" panose="020B0604020202020204" pitchFamily="34" charset="0"/>
              </a:rPr>
              <a:t>一种很好的大</a:t>
            </a:r>
            <a:r>
              <a:rPr lang="zh-CN" altLang="en-US" sz="2400" dirty="0" smtClean="0">
                <a:solidFill>
                  <a:srgbClr val="FF0000"/>
                </a:solidFill>
                <a:latin typeface="Arial" panose="020B0604020202020204" pitchFamily="34" charset="0"/>
                <a:ea typeface="黑体" panose="02010609060101010101" pitchFamily="49" charset="-122"/>
                <a:cs typeface="Arial" panose="020B0604020202020204" pitchFamily="34" charset="0"/>
              </a:rPr>
              <a:t>数据：</a:t>
            </a:r>
            <a:endParaRPr lang="en-US" altLang="zh-CN" sz="2400" dirty="0" smtClean="0">
              <a:solidFill>
                <a:srgbClr val="FF0000"/>
              </a:solidFill>
              <a:latin typeface="Arial" panose="020B0604020202020204" pitchFamily="34" charset="0"/>
              <a:ea typeface="黑体" panose="02010609060101010101" pitchFamily="49" charset="-122"/>
              <a:cs typeface="Arial" panose="020B0604020202020204" pitchFamily="34" charset="0"/>
            </a:endParaRPr>
          </a:p>
          <a:p>
            <a:pPr lvl="1">
              <a:buFont typeface="Wingdings" panose="05000000000000000000" pitchFamily="2" charset="2"/>
              <a:buChar char="n"/>
            </a:pPr>
            <a:r>
              <a:rPr lang="zh-CN" altLang="en-US" sz="2200" dirty="0">
                <a:solidFill>
                  <a:srgbClr val="C00000"/>
                </a:solidFill>
                <a:latin typeface="Arial" panose="020B0604020202020204" pitchFamily="34" charset="0"/>
                <a:ea typeface="黑体" panose="02010609060101010101" pitchFamily="49" charset="-122"/>
                <a:cs typeface="Arial" panose="020B0604020202020204" pitchFamily="34" charset="0"/>
              </a:rPr>
              <a:t>统计学解决了生物学的</a:t>
            </a:r>
            <a:r>
              <a:rPr lang="zh-CN" altLang="en-US" sz="2200" dirty="0" smtClean="0">
                <a:solidFill>
                  <a:srgbClr val="C00000"/>
                </a:solidFill>
                <a:latin typeface="Arial" panose="020B0604020202020204" pitchFamily="34" charset="0"/>
                <a:ea typeface="黑体" panose="02010609060101010101" pitchFamily="49" charset="-122"/>
                <a:cs typeface="Arial" panose="020B0604020202020204" pitchFamily="34" charset="0"/>
              </a:rPr>
              <a:t>需求：</a:t>
            </a:r>
            <a:r>
              <a:rPr lang="zh-CN" altLang="en-US" sz="2200" dirty="0" smtClean="0">
                <a:latin typeface="Arial" panose="020B0604020202020204" pitchFamily="34" charset="0"/>
                <a:ea typeface="黑体" panose="02010609060101010101" pitchFamily="49" charset="-122"/>
                <a:cs typeface="Arial" panose="020B0604020202020204" pitchFamily="34" charset="0"/>
              </a:rPr>
              <a:t>生物学</a:t>
            </a:r>
            <a:r>
              <a:rPr lang="zh-CN" altLang="en-US" sz="2200" dirty="0">
                <a:latin typeface="Arial" panose="020B0604020202020204" pitchFamily="34" charset="0"/>
                <a:ea typeface="黑体" panose="02010609060101010101" pitchFamily="49" charset="-122"/>
                <a:cs typeface="Arial" panose="020B0604020202020204" pitchFamily="34" charset="0"/>
              </a:rPr>
              <a:t>有大量的</a:t>
            </a:r>
            <a:r>
              <a:rPr lang="zh-CN" altLang="en-US" sz="2200" dirty="0" smtClean="0">
                <a:latin typeface="Arial" panose="020B0604020202020204" pitchFamily="34" charset="0"/>
                <a:ea typeface="黑体" panose="02010609060101010101" pitchFamily="49" charset="-122"/>
                <a:cs typeface="Arial" panose="020B0604020202020204" pitchFamily="34" charset="0"/>
              </a:rPr>
              <a:t>观测值和变量</a:t>
            </a:r>
            <a:r>
              <a:rPr lang="zh-CN" altLang="en-US" sz="2200" dirty="0">
                <a:latin typeface="Arial" panose="020B0604020202020204" pitchFamily="34" charset="0"/>
                <a:ea typeface="黑体" panose="02010609060101010101" pitchFamily="49" charset="-122"/>
                <a:cs typeface="Arial" panose="020B0604020202020204" pitchFamily="34" charset="0"/>
              </a:rPr>
              <a:t>数据，但是</a:t>
            </a:r>
            <a:r>
              <a:rPr lang="zh-CN" altLang="en-US" sz="2200" dirty="0" smtClean="0">
                <a:latin typeface="Arial" panose="020B0604020202020204" pitchFamily="34" charset="0"/>
                <a:ea typeface="黑体" panose="02010609060101010101" pitchFamily="49" charset="-122"/>
                <a:cs typeface="Arial" panose="020B0604020202020204" pitchFamily="34" charset="0"/>
              </a:rPr>
              <a:t>传统的简单回归</a:t>
            </a:r>
            <a:r>
              <a:rPr lang="zh-CN" altLang="en-US" sz="2200" dirty="0">
                <a:latin typeface="Arial" panose="020B0604020202020204" pitchFamily="34" charset="0"/>
                <a:ea typeface="黑体" panose="02010609060101010101" pitchFamily="49" charset="-122"/>
                <a:cs typeface="Arial" panose="020B0604020202020204" pitchFamily="34" charset="0"/>
              </a:rPr>
              <a:t>、</a:t>
            </a:r>
            <a:r>
              <a:rPr lang="zh-CN" altLang="en-US" sz="2200" dirty="0" smtClean="0">
                <a:latin typeface="Arial" panose="020B0604020202020204" pitchFamily="34" charset="0"/>
                <a:ea typeface="黑体" panose="02010609060101010101" pitchFamily="49" charset="-122"/>
                <a:cs typeface="Arial" panose="020B0604020202020204" pitchFamily="34" charset="0"/>
              </a:rPr>
              <a:t>相关分析</a:t>
            </a:r>
            <a:r>
              <a:rPr lang="zh-CN" altLang="en-US" sz="2200" dirty="0">
                <a:latin typeface="Arial" panose="020B0604020202020204" pitchFamily="34" charset="0"/>
                <a:ea typeface="黑体" panose="02010609060101010101" pitchFamily="49" charset="-122"/>
                <a:cs typeface="Arial" panose="020B0604020202020204" pitchFamily="34" charset="0"/>
              </a:rPr>
              <a:t>等</a:t>
            </a:r>
            <a:r>
              <a:rPr lang="zh-CN" altLang="en-US" sz="2200" dirty="0" smtClean="0">
                <a:latin typeface="Arial" panose="020B0604020202020204" pitchFamily="34" charset="0"/>
                <a:ea typeface="黑体" panose="02010609060101010101" pitchFamily="49" charset="-122"/>
                <a:cs typeface="Arial" panose="020B0604020202020204" pitchFamily="34" charset="0"/>
              </a:rPr>
              <a:t>方法</a:t>
            </a:r>
            <a:r>
              <a:rPr lang="zh-CN" altLang="en-US" sz="2200" dirty="0">
                <a:latin typeface="Arial" panose="020B0604020202020204" pitchFamily="34" charset="0"/>
                <a:ea typeface="黑体" panose="02010609060101010101" pitchFamily="49" charset="-122"/>
                <a:cs typeface="Arial" panose="020B0604020202020204" pitchFamily="34" charset="0"/>
              </a:rPr>
              <a:t>难以有效</a:t>
            </a:r>
            <a:r>
              <a:rPr lang="zh-CN" altLang="en-US" sz="2200" dirty="0" smtClean="0">
                <a:latin typeface="Arial" panose="020B0604020202020204" pitchFamily="34" charset="0"/>
                <a:ea typeface="黑体" panose="02010609060101010101" pitchFamily="49" charset="-122"/>
                <a:cs typeface="Arial" panose="020B0604020202020204" pitchFamily="34" charset="0"/>
              </a:rPr>
              <a:t>挖掘变量</a:t>
            </a:r>
            <a:r>
              <a:rPr lang="zh-CN" altLang="en-US" sz="2200" dirty="0">
                <a:latin typeface="Arial" panose="020B0604020202020204" pitchFamily="34" charset="0"/>
                <a:ea typeface="黑体" panose="02010609060101010101" pitchFamily="49" charset="-122"/>
                <a:cs typeface="Arial" panose="020B0604020202020204" pitchFamily="34" charset="0"/>
              </a:rPr>
              <a:t>之间的</a:t>
            </a:r>
            <a:r>
              <a:rPr lang="zh-CN" altLang="en-US" sz="2200" dirty="0" smtClean="0">
                <a:latin typeface="Arial" panose="020B0604020202020204" pitchFamily="34" charset="0"/>
                <a:ea typeface="黑体" panose="02010609060101010101" pitchFamily="49" charset="-122"/>
                <a:cs typeface="Arial" panose="020B0604020202020204" pitchFamily="34" charset="0"/>
              </a:rPr>
              <a:t>关系，而统计学方法（如</a:t>
            </a:r>
            <a:r>
              <a:rPr lang="en-US" altLang="zh-CN" sz="2200" dirty="0" smtClean="0">
                <a:latin typeface="Arial" panose="020B0604020202020204" pitchFamily="34" charset="0"/>
                <a:ea typeface="黑体" panose="02010609060101010101" pitchFamily="49" charset="-122"/>
                <a:cs typeface="Arial" panose="020B0604020202020204" pitchFamily="34" charset="0"/>
              </a:rPr>
              <a:t>PCA</a:t>
            </a:r>
            <a:r>
              <a:rPr lang="zh-CN" altLang="en-US" sz="2200" dirty="0" smtClean="0">
                <a:latin typeface="Arial" panose="020B0604020202020204" pitchFamily="34" charset="0"/>
                <a:ea typeface="黑体" panose="02010609060101010101" pitchFamily="49" charset="-122"/>
                <a:cs typeface="Arial" panose="020B0604020202020204" pitchFamily="34" charset="0"/>
              </a:rPr>
              <a:t>、最优变量</a:t>
            </a:r>
            <a:r>
              <a:rPr lang="zh-CN" altLang="en-US" sz="2200" dirty="0">
                <a:latin typeface="Arial" panose="020B0604020202020204" pitchFamily="34" charset="0"/>
                <a:ea typeface="黑体" panose="02010609060101010101" pitchFamily="49" charset="-122"/>
                <a:cs typeface="Arial" panose="020B0604020202020204" pitchFamily="34" charset="0"/>
              </a:rPr>
              <a:t>选择</a:t>
            </a:r>
            <a:r>
              <a:rPr lang="zh-CN" altLang="en-US" sz="2200" dirty="0" smtClean="0">
                <a:latin typeface="Arial" panose="020B0604020202020204" pitchFamily="34" charset="0"/>
                <a:ea typeface="黑体" panose="02010609060101010101" pitchFamily="49" charset="-122"/>
                <a:cs typeface="Arial" panose="020B0604020202020204" pitchFamily="34" charset="0"/>
              </a:rPr>
              <a:t>方法等）可有效地在</a:t>
            </a:r>
            <a:r>
              <a:rPr lang="zh-CN" altLang="en-US" sz="2200" dirty="0">
                <a:latin typeface="Arial" panose="020B0604020202020204" pitchFamily="34" charset="0"/>
                <a:ea typeface="黑体" panose="02010609060101010101" pitchFamily="49" charset="-122"/>
                <a:cs typeface="Arial" panose="020B0604020202020204" pitchFamily="34" charset="0"/>
              </a:rPr>
              <a:t>不</a:t>
            </a:r>
            <a:r>
              <a:rPr lang="zh-CN" altLang="en-US" sz="2200" dirty="0" smtClean="0">
                <a:latin typeface="Arial" panose="020B0604020202020204" pitchFamily="34" charset="0"/>
                <a:ea typeface="黑体" panose="02010609060101010101" pitchFamily="49" charset="-122"/>
                <a:cs typeface="Arial" panose="020B0604020202020204" pitchFamily="34" charset="0"/>
              </a:rPr>
              <a:t>进行实验的情况</a:t>
            </a:r>
            <a:r>
              <a:rPr lang="zh-CN" altLang="en-US" sz="2200" dirty="0">
                <a:latin typeface="Arial" panose="020B0604020202020204" pitchFamily="34" charset="0"/>
                <a:ea typeface="黑体" panose="02010609060101010101" pitchFamily="49" charset="-122"/>
                <a:cs typeface="Arial" panose="020B0604020202020204" pitchFamily="34" charset="0"/>
              </a:rPr>
              <a:t>下挖掘因果</a:t>
            </a:r>
            <a:r>
              <a:rPr lang="zh-CN" altLang="en-US" sz="2200" dirty="0" smtClean="0">
                <a:latin typeface="Arial" panose="020B0604020202020204" pitchFamily="34" charset="0"/>
                <a:ea typeface="黑体" panose="02010609060101010101" pitchFamily="49" charset="-122"/>
                <a:cs typeface="Arial" panose="020B0604020202020204" pitchFamily="34" charset="0"/>
              </a:rPr>
              <a:t>关系；</a:t>
            </a:r>
            <a:endParaRPr lang="en-US" altLang="zh-CN" sz="2200" dirty="0" smtClean="0">
              <a:latin typeface="Arial" panose="020B0604020202020204" pitchFamily="34" charset="0"/>
              <a:ea typeface="黑体" panose="02010609060101010101" pitchFamily="49" charset="-122"/>
              <a:cs typeface="Arial" panose="020B0604020202020204" pitchFamily="34" charset="0"/>
            </a:endParaRPr>
          </a:p>
          <a:p>
            <a:pPr lvl="1">
              <a:buFont typeface="Wingdings" panose="05000000000000000000" pitchFamily="2" charset="2"/>
              <a:buChar char="n"/>
            </a:pPr>
            <a:endParaRPr lang="en-US" altLang="zh-CN" sz="2200" dirty="0" smtClean="0">
              <a:solidFill>
                <a:srgbClr val="C00000"/>
              </a:solidFill>
              <a:latin typeface="Arial" panose="020B0604020202020204" pitchFamily="34" charset="0"/>
              <a:ea typeface="黑体" panose="02010609060101010101" pitchFamily="49" charset="-122"/>
              <a:cs typeface="Arial" panose="020B0604020202020204" pitchFamily="34" charset="0"/>
            </a:endParaRPr>
          </a:p>
          <a:p>
            <a:pPr lvl="1">
              <a:buFont typeface="Wingdings" panose="05000000000000000000" pitchFamily="2" charset="2"/>
              <a:buChar char="n"/>
            </a:pPr>
            <a:r>
              <a:rPr lang="zh-CN" altLang="en-US" sz="2200" dirty="0" smtClean="0">
                <a:solidFill>
                  <a:srgbClr val="C00000"/>
                </a:solidFill>
                <a:latin typeface="Arial" panose="020B0604020202020204" pitchFamily="34" charset="0"/>
                <a:ea typeface="黑体" panose="02010609060101010101" pitchFamily="49" charset="-122"/>
                <a:cs typeface="Arial" panose="020B0604020202020204" pitchFamily="34" charset="0"/>
              </a:rPr>
              <a:t>生物学解决</a:t>
            </a:r>
            <a:r>
              <a:rPr lang="zh-CN" altLang="en-US" sz="2200" dirty="0">
                <a:solidFill>
                  <a:srgbClr val="C00000"/>
                </a:solidFill>
                <a:latin typeface="Arial" panose="020B0604020202020204" pitchFamily="34" charset="0"/>
                <a:ea typeface="黑体" panose="02010609060101010101" pitchFamily="49" charset="-122"/>
                <a:cs typeface="Arial" panose="020B0604020202020204" pitchFamily="34" charset="0"/>
              </a:rPr>
              <a:t>了</a:t>
            </a:r>
            <a:r>
              <a:rPr lang="zh-CN" altLang="en-US" sz="2200" dirty="0" smtClean="0">
                <a:solidFill>
                  <a:srgbClr val="C00000"/>
                </a:solidFill>
                <a:latin typeface="Arial" panose="020B0604020202020204" pitchFamily="34" charset="0"/>
                <a:ea typeface="黑体" panose="02010609060101010101" pitchFamily="49" charset="-122"/>
                <a:cs typeface="Arial" panose="020B0604020202020204" pitchFamily="34" charset="0"/>
              </a:rPr>
              <a:t>统计学样本量</a:t>
            </a:r>
            <a:r>
              <a:rPr lang="zh-CN" altLang="en-US" sz="2200" dirty="0">
                <a:solidFill>
                  <a:srgbClr val="C00000"/>
                </a:solidFill>
                <a:latin typeface="Arial" panose="020B0604020202020204" pitchFamily="34" charset="0"/>
                <a:ea typeface="黑体" panose="02010609060101010101" pitchFamily="49" charset="-122"/>
                <a:cs typeface="Arial" panose="020B0604020202020204" pitchFamily="34" charset="0"/>
              </a:rPr>
              <a:t>不足的</a:t>
            </a:r>
            <a:r>
              <a:rPr lang="zh-CN" altLang="en-US" sz="2200" dirty="0" smtClean="0">
                <a:solidFill>
                  <a:srgbClr val="C00000"/>
                </a:solidFill>
                <a:latin typeface="Arial" panose="020B0604020202020204" pitchFamily="34" charset="0"/>
                <a:ea typeface="黑体" panose="02010609060101010101" pitchFamily="49" charset="-122"/>
                <a:cs typeface="Arial" panose="020B0604020202020204" pitchFamily="34" charset="0"/>
              </a:rPr>
              <a:t>难题</a:t>
            </a:r>
            <a:r>
              <a:rPr lang="zh-CN" altLang="en-US" sz="2200" dirty="0" smtClean="0">
                <a:latin typeface="Arial" panose="020B0604020202020204" pitchFamily="34" charset="0"/>
                <a:ea typeface="黑体" panose="02010609060101010101" pitchFamily="49" charset="-122"/>
                <a:cs typeface="Arial" panose="020B0604020202020204" pitchFamily="34" charset="0"/>
              </a:rPr>
              <a:t>：传统</a:t>
            </a:r>
            <a:r>
              <a:rPr lang="zh-CN" altLang="en-US" sz="2200" dirty="0">
                <a:latin typeface="Arial" panose="020B0604020202020204" pitchFamily="34" charset="0"/>
                <a:ea typeface="黑体" panose="02010609060101010101" pitchFamily="49" charset="-122"/>
                <a:cs typeface="Arial" panose="020B0604020202020204" pitchFamily="34" charset="0"/>
              </a:rPr>
              <a:t>统计学领域中许多模型是需要大量数据来实现的，当下</a:t>
            </a:r>
            <a:r>
              <a:rPr lang="zh-CN" altLang="en-US" sz="2200" dirty="0" smtClean="0">
                <a:latin typeface="Arial" panose="020B0604020202020204" pitchFamily="34" charset="0"/>
                <a:ea typeface="黑体" panose="02010609060101010101" pitchFamily="49" charset="-122"/>
                <a:cs typeface="Arial" panose="020B0604020202020204" pitchFamily="34" charset="0"/>
              </a:rPr>
              <a:t>生物技术</a:t>
            </a:r>
            <a:r>
              <a:rPr lang="zh-CN" altLang="en-US" sz="2200" dirty="0">
                <a:latin typeface="Arial" panose="020B0604020202020204" pitchFamily="34" charset="0"/>
                <a:ea typeface="黑体" panose="02010609060101010101" pitchFamily="49" charset="-122"/>
                <a:cs typeface="Arial" panose="020B0604020202020204" pitchFamily="34" charset="0"/>
              </a:rPr>
              <a:t>的飞速发展为统计学家研究高维数据提供了便利</a:t>
            </a:r>
            <a:r>
              <a:rPr lang="zh-CN" altLang="en-US" sz="2200" dirty="0" smtClean="0">
                <a:latin typeface="Arial" panose="020B0604020202020204" pitchFamily="34" charset="0"/>
                <a:ea typeface="黑体" panose="02010609060101010101" pitchFamily="49" charset="-122"/>
                <a:cs typeface="Arial" panose="020B0604020202020204" pitchFamily="34" charset="0"/>
              </a:rPr>
              <a:t>，如贝</a:t>
            </a:r>
            <a:r>
              <a:rPr lang="zh-CN" altLang="en-US" sz="2200" dirty="0">
                <a:latin typeface="Arial" panose="020B0604020202020204" pitchFamily="34" charset="0"/>
                <a:ea typeface="黑体" panose="02010609060101010101" pitchFamily="49" charset="-122"/>
                <a:cs typeface="Arial" panose="020B0604020202020204" pitchFamily="34" charset="0"/>
              </a:rPr>
              <a:t>叶斯</a:t>
            </a:r>
            <a:r>
              <a:rPr lang="zh-CN" altLang="en-US" sz="2200" dirty="0" smtClean="0">
                <a:latin typeface="Arial" panose="020B0604020202020204" pitchFamily="34" charset="0"/>
                <a:ea typeface="黑体" panose="02010609060101010101" pitchFamily="49" charset="-122"/>
                <a:cs typeface="Arial" panose="020B0604020202020204" pitchFamily="34" charset="0"/>
              </a:rPr>
              <a:t>方法、统计学习等都</a:t>
            </a:r>
            <a:r>
              <a:rPr lang="zh-CN" altLang="en-US" sz="2200" dirty="0">
                <a:latin typeface="Arial" panose="020B0604020202020204" pitchFamily="34" charset="0"/>
                <a:ea typeface="黑体" panose="02010609060101010101" pitchFamily="49" charset="-122"/>
                <a:cs typeface="Arial" panose="020B0604020202020204" pitchFamily="34" charset="0"/>
              </a:rPr>
              <a:t>找到了完美</a:t>
            </a:r>
            <a:r>
              <a:rPr lang="zh-CN" altLang="en-US" sz="2200" dirty="0" smtClean="0">
                <a:latin typeface="Arial" panose="020B0604020202020204" pitchFamily="34" charset="0"/>
                <a:ea typeface="黑体" panose="02010609060101010101" pitchFamily="49" charset="-122"/>
                <a:cs typeface="Arial" panose="020B0604020202020204" pitchFamily="34" charset="0"/>
              </a:rPr>
              <a:t>的测试数据集，</a:t>
            </a:r>
            <a:r>
              <a:rPr lang="zh-CN" altLang="en-US" sz="2200" dirty="0">
                <a:latin typeface="Arial" panose="020B0604020202020204" pitchFamily="34" charset="0"/>
                <a:ea typeface="黑体" panose="02010609060101010101" pitchFamily="49" charset="-122"/>
                <a:cs typeface="Arial" panose="020B0604020202020204" pitchFamily="34" charset="0"/>
              </a:rPr>
              <a:t>大量统计学家都把自己更新的算法应用到了</a:t>
            </a:r>
            <a:r>
              <a:rPr lang="zh-CN" altLang="en-US" sz="2200" dirty="0" smtClean="0">
                <a:latin typeface="Arial" panose="020B0604020202020204" pitchFamily="34" charset="0"/>
                <a:ea typeface="黑体" panose="02010609060101010101" pitchFamily="49" charset="-122"/>
                <a:cs typeface="Arial" panose="020B0604020202020204" pitchFamily="34" charset="0"/>
              </a:rPr>
              <a:t>生物学研究中</a:t>
            </a:r>
            <a:r>
              <a:rPr lang="zh-CN" altLang="en-US" sz="2200" dirty="0">
                <a:latin typeface="Arial" panose="020B0604020202020204" pitchFamily="34" charset="0"/>
                <a:ea typeface="黑体" panose="02010609060101010101" pitchFamily="49" charset="-122"/>
                <a:cs typeface="Arial" panose="020B0604020202020204" pitchFamily="34" charset="0"/>
              </a:rPr>
              <a:t>，</a:t>
            </a:r>
            <a:r>
              <a:rPr lang="zh-CN" altLang="en-US" sz="2200" dirty="0" smtClean="0">
                <a:latin typeface="Arial" panose="020B0604020202020204" pitchFamily="34" charset="0"/>
                <a:ea typeface="黑体" panose="02010609060101010101" pitchFamily="49" charset="-122"/>
                <a:cs typeface="Arial" panose="020B0604020202020204" pitchFamily="34" charset="0"/>
              </a:rPr>
              <a:t>效果往往很好；</a:t>
            </a:r>
            <a:endParaRPr lang="en-US" altLang="zh-CN" sz="2200" dirty="0" smtClean="0">
              <a:latin typeface="Arial" panose="020B0604020202020204" pitchFamily="34" charset="0"/>
              <a:ea typeface="黑体" panose="02010609060101010101" pitchFamily="49" charset="-122"/>
              <a:cs typeface="Arial" panose="020B0604020202020204" pitchFamily="34" charset="0"/>
            </a:endParaRPr>
          </a:p>
          <a:p>
            <a:pPr lvl="1">
              <a:buFont typeface="Wingdings" panose="05000000000000000000" pitchFamily="2" charset="2"/>
              <a:buChar char="n"/>
            </a:pPr>
            <a:endParaRPr lang="en-US" altLang="zh-CN" sz="2200" dirty="0">
              <a:latin typeface="Arial" panose="020B0604020202020204" pitchFamily="34" charset="0"/>
              <a:ea typeface="黑体" panose="02010609060101010101" pitchFamily="49" charset="-122"/>
              <a:cs typeface="Arial" panose="020B0604020202020204" pitchFamily="34" charset="0"/>
            </a:endParaRPr>
          </a:p>
          <a:p>
            <a:pPr lvl="1">
              <a:buFont typeface="Wingdings" panose="05000000000000000000" pitchFamily="2" charset="2"/>
              <a:buChar char="n"/>
            </a:pPr>
            <a:r>
              <a:rPr lang="zh-CN" altLang="en-US" sz="2200" dirty="0" smtClean="0">
                <a:solidFill>
                  <a:srgbClr val="C00000"/>
                </a:solidFill>
                <a:latin typeface="Arial" panose="020B0604020202020204" pitchFamily="34" charset="0"/>
                <a:ea typeface="黑体" panose="02010609060101010101" pitchFamily="49" charset="-122"/>
                <a:cs typeface="Arial" panose="020B0604020202020204" pitchFamily="34" charset="0"/>
              </a:rPr>
              <a:t>生物大数据的统计分析成果可直接用于改善人的健康和生活品质</a:t>
            </a:r>
            <a:r>
              <a:rPr lang="zh-CN" altLang="en-US" sz="2200" dirty="0" smtClean="0">
                <a:latin typeface="Arial" panose="020B0604020202020204" pitchFamily="34" charset="0"/>
                <a:ea typeface="黑体" panose="02010609060101010101" pitchFamily="49" charset="-122"/>
                <a:cs typeface="Arial" panose="020B0604020202020204" pitchFamily="34" charset="0"/>
              </a:rPr>
              <a:t>，有助于更深入理解健康的本质、疾病的起因、个体化防治措施制定等，最终达到延长寿命的目的。</a:t>
            </a:r>
            <a:endParaRPr lang="en-US" altLang="zh-CN" sz="2400" dirty="0">
              <a:latin typeface="Arial" panose="020B0604020202020204" pitchFamily="34" charset="0"/>
              <a:ea typeface="黑体" panose="02010609060101010101" pitchFamily="49" charset="-122"/>
              <a:cs typeface="Arial" panose="020B0604020202020204" pitchFamily="34" charset="0"/>
            </a:endParaRPr>
          </a:p>
        </p:txBody>
      </p:sp>
      <p:pic>
        <p:nvPicPr>
          <p:cNvPr id="53250" name="Picture 2" descr="https://nimg.ws.126.net/?url=https://spider.ws.126.net/e11eff09c3a7610d576750dd1bbfa7a0.jpeg&amp;thumbnail=650x2147483647&amp;quality=80&amp;type=jpg"/>
          <p:cNvPicPr>
            <a:picLocks noChangeAspect="1" noChangeArrowheads="1"/>
          </p:cNvPicPr>
          <p:nvPr/>
        </p:nvPicPr>
        <p:blipFill>
          <a:blip r:embed="rId2" cstate="print"/>
          <a:srcRect/>
          <a:stretch>
            <a:fillRect/>
          </a:stretch>
        </p:blipFill>
        <p:spPr bwMode="auto">
          <a:xfrm>
            <a:off x="6876256" y="5569077"/>
            <a:ext cx="1872208" cy="1244299"/>
          </a:xfrm>
          <a:prstGeom prst="rect">
            <a:avLst/>
          </a:prstGeom>
          <a:noFill/>
        </p:spPr>
      </p:pic>
    </p:spTree>
    <p:extLst>
      <p:ext uri="{BB962C8B-B14F-4D97-AF65-F5344CB8AC3E}">
        <p14:creationId xmlns:p14="http://schemas.microsoft.com/office/powerpoint/2010/main" val="21897893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1902490" y="188640"/>
            <a:ext cx="4757742" cy="796908"/>
          </a:xfrm>
        </p:spPr>
        <p:txBody>
          <a:bodyPr/>
          <a:lstStyle/>
          <a:p>
            <a:r>
              <a:rPr lang="en-US" altLang="zh-CN" sz="4000" b="1" dirty="0" smtClean="0">
                <a:latin typeface="Arial" pitchFamily="34" charset="0"/>
                <a:cs typeface="Arial" pitchFamily="34" charset="0"/>
              </a:rPr>
              <a:t>Outline</a:t>
            </a:r>
            <a:endParaRPr lang="zh-CN" altLang="en-US" sz="4000" b="1" dirty="0">
              <a:latin typeface="Arial" pitchFamily="34" charset="0"/>
              <a:cs typeface="Arial" pitchFamily="34" charset="0"/>
            </a:endParaRPr>
          </a:p>
        </p:txBody>
      </p:sp>
      <p:sp>
        <p:nvSpPr>
          <p:cNvPr id="6" name="内容占位符 2"/>
          <p:cNvSpPr>
            <a:spLocks noGrp="1"/>
          </p:cNvSpPr>
          <p:nvPr>
            <p:ph idx="1"/>
          </p:nvPr>
        </p:nvSpPr>
        <p:spPr>
          <a:xfrm>
            <a:off x="179512" y="1556792"/>
            <a:ext cx="8424936" cy="4176464"/>
          </a:xfrm>
        </p:spPr>
        <p:txBody>
          <a:bodyPr/>
          <a:lstStyle/>
          <a:p>
            <a:pPr>
              <a:buSzPct val="60000"/>
              <a:buFont typeface="Wingdings" pitchFamily="2" charset="2"/>
              <a:buChar char="n"/>
            </a:pPr>
            <a:r>
              <a:rPr lang="en-US" altLang="zh-CN" sz="2800" b="1" dirty="0" smtClean="0">
                <a:solidFill>
                  <a:srgbClr val="000099"/>
                </a:solidFill>
                <a:latin typeface="Arial" pitchFamily="34" charset="0"/>
                <a:ea typeface="黑体" pitchFamily="49" charset="-122"/>
                <a:cs typeface="Arial" pitchFamily="34" charset="0"/>
              </a:rPr>
              <a:t>Motivation</a:t>
            </a:r>
          </a:p>
          <a:p>
            <a:pPr>
              <a:buSzPct val="60000"/>
              <a:buFont typeface="Wingdings" pitchFamily="2" charset="2"/>
              <a:buChar char="n"/>
            </a:pPr>
            <a:r>
              <a:rPr lang="zh-CN" altLang="en-US" sz="2800" b="1" dirty="0" smtClean="0">
                <a:solidFill>
                  <a:srgbClr val="000099"/>
                </a:solidFill>
                <a:latin typeface="Arial" pitchFamily="34" charset="0"/>
                <a:ea typeface="黑体" pitchFamily="49" charset="-122"/>
                <a:cs typeface="Arial" pitchFamily="34" charset="0"/>
              </a:rPr>
              <a:t>统计检验</a:t>
            </a:r>
            <a:r>
              <a:rPr lang="zh-CN" altLang="en-US" sz="2800" b="1" dirty="0">
                <a:solidFill>
                  <a:srgbClr val="000099"/>
                </a:solidFill>
                <a:latin typeface="Arial" pitchFamily="34" charset="0"/>
                <a:ea typeface="黑体" pitchFamily="49" charset="-122"/>
                <a:cs typeface="Arial" pitchFamily="34" charset="0"/>
              </a:rPr>
              <a:t>的选择</a:t>
            </a:r>
            <a:r>
              <a:rPr lang="en-US" altLang="zh-CN" sz="2800" b="1" dirty="0">
                <a:solidFill>
                  <a:srgbClr val="000099"/>
                </a:solidFill>
                <a:latin typeface="Arial" pitchFamily="34" charset="0"/>
                <a:ea typeface="黑体" pitchFamily="49" charset="-122"/>
                <a:cs typeface="Arial" pitchFamily="34" charset="0"/>
              </a:rPr>
              <a:t>: </a:t>
            </a:r>
            <a:r>
              <a:rPr lang="zh-CN" altLang="en-US" sz="2800" b="1" dirty="0">
                <a:solidFill>
                  <a:srgbClr val="000099"/>
                </a:solidFill>
                <a:latin typeface="Arial" pitchFamily="34" charset="0"/>
                <a:ea typeface="黑体" pitchFamily="49" charset="-122"/>
                <a:cs typeface="Arial" pitchFamily="34" charset="0"/>
              </a:rPr>
              <a:t>二元表型（</a:t>
            </a:r>
            <a:r>
              <a:rPr lang="en-US" altLang="zh-CN" sz="2800" b="1" dirty="0">
                <a:solidFill>
                  <a:srgbClr val="000099"/>
                </a:solidFill>
                <a:latin typeface="Arial" pitchFamily="34" charset="0"/>
                <a:ea typeface="黑体" pitchFamily="49" charset="-122"/>
                <a:cs typeface="Arial" pitchFamily="34" charset="0"/>
              </a:rPr>
              <a:t>binary phenotype</a:t>
            </a:r>
            <a:r>
              <a:rPr lang="zh-CN" altLang="en-US" sz="2800" b="1" dirty="0">
                <a:solidFill>
                  <a:srgbClr val="000099"/>
                </a:solidFill>
                <a:latin typeface="Arial" pitchFamily="34" charset="0"/>
                <a:ea typeface="黑体" pitchFamily="49" charset="-122"/>
                <a:cs typeface="Arial" pitchFamily="34" charset="0"/>
              </a:rPr>
              <a:t>）</a:t>
            </a:r>
            <a:endParaRPr lang="en-US" altLang="zh-CN" sz="2800" b="1" dirty="0" smtClean="0">
              <a:solidFill>
                <a:srgbClr val="000099"/>
              </a:solidFill>
              <a:latin typeface="Arial" pitchFamily="34" charset="0"/>
              <a:ea typeface="黑体" pitchFamily="49" charset="-122"/>
              <a:cs typeface="Arial" pitchFamily="34" charset="0"/>
            </a:endParaRPr>
          </a:p>
          <a:p>
            <a:pPr>
              <a:buSzPct val="60000"/>
              <a:buFont typeface="Wingdings" pitchFamily="2" charset="2"/>
              <a:buChar char="n"/>
            </a:pPr>
            <a:r>
              <a:rPr lang="zh-CN" altLang="en-US" sz="2800" b="1" dirty="0" smtClean="0">
                <a:solidFill>
                  <a:srgbClr val="000099"/>
                </a:solidFill>
                <a:latin typeface="Arial" pitchFamily="34" charset="0"/>
                <a:ea typeface="黑体" pitchFamily="49" charset="-122"/>
                <a:cs typeface="Arial" pitchFamily="34" charset="0"/>
              </a:rPr>
              <a:t>连续表型的统计检验</a:t>
            </a:r>
            <a:endParaRPr lang="en-US" altLang="zh-CN" sz="2800" b="1" dirty="0" smtClean="0">
              <a:solidFill>
                <a:srgbClr val="000099"/>
              </a:solidFill>
              <a:latin typeface="Arial" pitchFamily="34" charset="0"/>
              <a:ea typeface="黑体" pitchFamily="49" charset="-122"/>
              <a:cs typeface="Arial" pitchFamily="34" charset="0"/>
            </a:endParaRPr>
          </a:p>
          <a:p>
            <a:pPr>
              <a:buSzPct val="60000"/>
              <a:buFont typeface="Wingdings" pitchFamily="2" charset="2"/>
              <a:buChar char="n"/>
            </a:pPr>
            <a:r>
              <a:rPr lang="zh-CN" altLang="en-US" sz="2800" b="1" dirty="0" smtClean="0">
                <a:solidFill>
                  <a:srgbClr val="000099"/>
                </a:solidFill>
                <a:latin typeface="Arial" pitchFamily="34" charset="0"/>
                <a:ea typeface="黑体" pitchFamily="49" charset="-122"/>
                <a:cs typeface="Arial" pitchFamily="34" charset="0"/>
              </a:rPr>
              <a:t>多重检验纠正</a:t>
            </a:r>
            <a:endParaRPr lang="en-US" altLang="zh-CN" sz="2800" b="1" dirty="0" smtClean="0">
              <a:solidFill>
                <a:srgbClr val="000099"/>
              </a:solidFill>
              <a:latin typeface="Arial" pitchFamily="34" charset="0"/>
              <a:ea typeface="黑体" pitchFamily="49" charset="-122"/>
              <a:cs typeface="Arial" pitchFamily="34" charset="0"/>
            </a:endParaRPr>
          </a:p>
          <a:p>
            <a:pPr>
              <a:buSzPct val="60000"/>
              <a:buFont typeface="Wingdings" pitchFamily="2" charset="2"/>
              <a:buChar char="n"/>
            </a:pPr>
            <a:r>
              <a:rPr lang="zh-CN" altLang="en-US" sz="2800" b="1" dirty="0" smtClean="0">
                <a:solidFill>
                  <a:srgbClr val="000099"/>
                </a:solidFill>
                <a:latin typeface="Arial" pitchFamily="34" charset="0"/>
                <a:ea typeface="黑体" pitchFamily="49" charset="-122"/>
                <a:cs typeface="Arial" pitchFamily="34" charset="0"/>
              </a:rPr>
              <a:t>检验效能计算（</a:t>
            </a:r>
            <a:r>
              <a:rPr lang="en-US" altLang="zh-CN" sz="2800" b="1" dirty="0" smtClean="0">
                <a:solidFill>
                  <a:srgbClr val="000099"/>
                </a:solidFill>
                <a:latin typeface="Arial" pitchFamily="34" charset="0"/>
                <a:ea typeface="黑体" pitchFamily="49" charset="-122"/>
                <a:cs typeface="Arial" pitchFamily="34" charset="0"/>
              </a:rPr>
              <a:t>Power calculation</a:t>
            </a:r>
            <a:r>
              <a:rPr lang="zh-CN" altLang="en-US" sz="2800" b="1" dirty="0" smtClean="0">
                <a:solidFill>
                  <a:srgbClr val="000099"/>
                </a:solidFill>
                <a:latin typeface="Arial" pitchFamily="34" charset="0"/>
                <a:ea typeface="黑体" pitchFamily="49" charset="-122"/>
                <a:cs typeface="Arial" pitchFamily="34" charset="0"/>
              </a:rPr>
              <a:t>）</a:t>
            </a:r>
            <a:endParaRPr lang="en-US" altLang="zh-CN" sz="2800" b="1" dirty="0" smtClean="0">
              <a:solidFill>
                <a:srgbClr val="000099"/>
              </a:solidFill>
              <a:latin typeface="Arial" pitchFamily="34" charset="0"/>
              <a:ea typeface="黑体" pitchFamily="49" charset="-122"/>
              <a:cs typeface="Arial" pitchFamily="34" charset="0"/>
            </a:endParaRPr>
          </a:p>
          <a:p>
            <a:pPr>
              <a:buSzPct val="60000"/>
              <a:buFont typeface="Wingdings" pitchFamily="2" charset="2"/>
              <a:buChar char="n"/>
            </a:pPr>
            <a:r>
              <a:rPr lang="zh-CN" altLang="en-US" sz="2800" b="1" dirty="0" smtClean="0">
                <a:solidFill>
                  <a:srgbClr val="000099"/>
                </a:solidFill>
                <a:latin typeface="Arial" pitchFamily="34" charset="0"/>
                <a:ea typeface="黑体" pitchFamily="49" charset="-122"/>
                <a:cs typeface="Arial" pitchFamily="34" charset="0"/>
              </a:rPr>
              <a:t>基因集富集分析（</a:t>
            </a:r>
            <a:r>
              <a:rPr lang="en-US" altLang="zh-CN" sz="2800" b="1" dirty="0" smtClean="0">
                <a:solidFill>
                  <a:srgbClr val="000099"/>
                </a:solidFill>
                <a:latin typeface="Arial" pitchFamily="34" charset="0"/>
                <a:ea typeface="黑体" pitchFamily="49" charset="-122"/>
                <a:cs typeface="Arial" pitchFamily="34" charset="0"/>
              </a:rPr>
              <a:t>GSEA</a:t>
            </a:r>
            <a:r>
              <a:rPr lang="zh-CN" altLang="en-US" sz="2800" b="1" dirty="0" smtClean="0">
                <a:solidFill>
                  <a:srgbClr val="000099"/>
                </a:solidFill>
                <a:latin typeface="Arial" pitchFamily="34" charset="0"/>
                <a:ea typeface="黑体" pitchFamily="49" charset="-122"/>
                <a:cs typeface="Arial" pitchFamily="34" charset="0"/>
              </a:rPr>
              <a:t>）</a:t>
            </a:r>
            <a:endParaRPr lang="en-US" altLang="zh-CN" sz="2800" b="1" dirty="0" smtClean="0">
              <a:solidFill>
                <a:srgbClr val="000099"/>
              </a:solidFill>
              <a:latin typeface="Arial" pitchFamily="34" charset="0"/>
              <a:ea typeface="黑体" pitchFamily="49" charset="-122"/>
              <a:cs typeface="Arial" pitchFamily="34" charset="0"/>
            </a:endParaRPr>
          </a:p>
          <a:p>
            <a:pPr>
              <a:buSzPct val="60000"/>
              <a:buFont typeface="Wingdings" pitchFamily="2" charset="2"/>
              <a:buChar char="n"/>
            </a:pPr>
            <a:r>
              <a:rPr lang="zh-CN" altLang="en-US" sz="2800" b="1" dirty="0" smtClean="0">
                <a:solidFill>
                  <a:srgbClr val="000099"/>
                </a:solidFill>
                <a:latin typeface="Arial" pitchFamily="34" charset="0"/>
                <a:ea typeface="黑体" pitchFamily="49" charset="-122"/>
                <a:cs typeface="Arial" pitchFamily="34" charset="0"/>
              </a:rPr>
              <a:t>数据降维（</a:t>
            </a:r>
            <a:r>
              <a:rPr lang="en-US" altLang="zh-CN" sz="2800" b="1" dirty="0">
                <a:solidFill>
                  <a:srgbClr val="000099"/>
                </a:solidFill>
                <a:latin typeface="Arial" pitchFamily="34" charset="0"/>
                <a:ea typeface="黑体" pitchFamily="49" charset="-122"/>
                <a:cs typeface="Arial" pitchFamily="34" charset="0"/>
              </a:rPr>
              <a:t>D</a:t>
            </a:r>
            <a:r>
              <a:rPr lang="en-US" altLang="zh-CN" sz="2800" b="1" dirty="0" smtClean="0">
                <a:solidFill>
                  <a:srgbClr val="000099"/>
                </a:solidFill>
                <a:latin typeface="Arial" pitchFamily="34" charset="0"/>
                <a:ea typeface="黑体" pitchFamily="49" charset="-122"/>
                <a:cs typeface="Arial" pitchFamily="34" charset="0"/>
              </a:rPr>
              <a:t>imensionality </a:t>
            </a:r>
            <a:r>
              <a:rPr lang="en-US" altLang="zh-CN" sz="2800" b="1" dirty="0">
                <a:solidFill>
                  <a:srgbClr val="000099"/>
                </a:solidFill>
                <a:latin typeface="Arial" pitchFamily="34" charset="0"/>
                <a:ea typeface="黑体" pitchFamily="49" charset="-122"/>
                <a:cs typeface="Arial" pitchFamily="34" charset="0"/>
              </a:rPr>
              <a:t>Reduction</a:t>
            </a:r>
            <a:r>
              <a:rPr lang="zh-CN" altLang="en-US" sz="2800" b="1" dirty="0" smtClean="0">
                <a:solidFill>
                  <a:srgbClr val="000099"/>
                </a:solidFill>
                <a:latin typeface="Arial" pitchFamily="34" charset="0"/>
                <a:ea typeface="黑体" pitchFamily="49" charset="-122"/>
                <a:cs typeface="Arial" pitchFamily="34" charset="0"/>
              </a:rPr>
              <a:t>）</a:t>
            </a:r>
            <a:endParaRPr lang="en-US" altLang="zh-CN" sz="2800" b="1" dirty="0" smtClean="0">
              <a:solidFill>
                <a:srgbClr val="000099"/>
              </a:solidFill>
              <a:latin typeface="Arial" pitchFamily="34" charset="0"/>
              <a:ea typeface="黑体" pitchFamily="49" charset="-122"/>
              <a:cs typeface="Arial" pitchFamily="34" charset="0"/>
            </a:endParaRPr>
          </a:p>
          <a:p>
            <a:pPr>
              <a:buSzPct val="60000"/>
              <a:buFont typeface="Wingdings" pitchFamily="2" charset="2"/>
              <a:buChar char="n"/>
            </a:pPr>
            <a:r>
              <a:rPr lang="zh-CN" altLang="en-US" sz="2800" b="1" dirty="0" smtClean="0">
                <a:solidFill>
                  <a:srgbClr val="000099"/>
                </a:solidFill>
                <a:latin typeface="Arial" pitchFamily="34" charset="0"/>
                <a:ea typeface="黑体" pitchFamily="49" charset="-122"/>
                <a:cs typeface="Arial" pitchFamily="34" charset="0"/>
              </a:rPr>
              <a:t>临床预测模型</a:t>
            </a:r>
            <a:r>
              <a:rPr lang="en-US" altLang="zh-CN" sz="2800" b="1" dirty="0" smtClean="0">
                <a:solidFill>
                  <a:srgbClr val="000099"/>
                </a:solidFill>
                <a:latin typeface="Arial" pitchFamily="34" charset="0"/>
                <a:ea typeface="黑体" pitchFamily="49" charset="-122"/>
                <a:cs typeface="Arial" pitchFamily="34" charset="0"/>
              </a:rPr>
              <a:t>-Lasso</a:t>
            </a:r>
            <a:r>
              <a:rPr lang="zh-CN" altLang="en-US" sz="2800" b="1" dirty="0" smtClean="0">
                <a:solidFill>
                  <a:srgbClr val="000099"/>
                </a:solidFill>
                <a:latin typeface="Arial" pitchFamily="34" charset="0"/>
                <a:ea typeface="黑体" pitchFamily="49" charset="-122"/>
                <a:cs typeface="Arial" pitchFamily="34" charset="0"/>
              </a:rPr>
              <a:t>回归</a:t>
            </a:r>
            <a:endParaRPr lang="en-US" altLang="zh-CN" sz="2800" b="1" dirty="0" smtClean="0">
              <a:solidFill>
                <a:srgbClr val="000099"/>
              </a:solidFill>
              <a:latin typeface="Arial" pitchFamily="34" charset="0"/>
              <a:ea typeface="黑体" pitchFamily="49" charset="-122"/>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16632"/>
            <a:ext cx="8229600" cy="634082"/>
          </a:xfrm>
        </p:spPr>
        <p:txBody>
          <a:bodyPr/>
          <a:lstStyle/>
          <a:p>
            <a:r>
              <a:rPr lang="en-US" altLang="zh-CN" sz="3600" b="1" dirty="0" smtClean="0">
                <a:solidFill>
                  <a:srgbClr val="FF0000"/>
                </a:solidFill>
                <a:latin typeface="Arial" pitchFamily="34" charset="0"/>
                <a:cs typeface="Arial" pitchFamily="34" charset="0"/>
              </a:rPr>
              <a:t>1. Motivation</a:t>
            </a:r>
            <a:endParaRPr lang="zh-CN" altLang="en-US" sz="3600" dirty="0">
              <a:solidFill>
                <a:srgbClr val="FF0000"/>
              </a:solidFill>
              <a:latin typeface="Arial" pitchFamily="34" charset="0"/>
              <a:cs typeface="Arial" pitchFamily="34" charset="0"/>
            </a:endParaRPr>
          </a:p>
        </p:txBody>
      </p:sp>
      <p:sp>
        <p:nvSpPr>
          <p:cNvPr id="3" name="内容占位符 2"/>
          <p:cNvSpPr>
            <a:spLocks noGrp="1"/>
          </p:cNvSpPr>
          <p:nvPr>
            <p:ph idx="1"/>
          </p:nvPr>
        </p:nvSpPr>
        <p:spPr>
          <a:xfrm>
            <a:off x="0" y="836712"/>
            <a:ext cx="9144000" cy="1497082"/>
          </a:xfrm>
        </p:spPr>
        <p:txBody>
          <a:bodyPr/>
          <a:lstStyle/>
          <a:p>
            <a:pPr>
              <a:buFont typeface="Wingdings" pitchFamily="2" charset="2"/>
              <a:buChar char="n"/>
            </a:pPr>
            <a:r>
              <a:rPr lang="zh-CN" altLang="en-US" sz="2800" b="1" dirty="0" smtClean="0">
                <a:solidFill>
                  <a:srgbClr val="FF0000"/>
                </a:solidFill>
                <a:latin typeface="黑体" pitchFamily="49" charset="-122"/>
                <a:ea typeface="黑体" pitchFamily="49" charset="-122"/>
                <a:cs typeface="Arial" pitchFamily="34" charset="0"/>
              </a:rPr>
              <a:t>对生物大数据展开合理的统计学分析至关重要！</a:t>
            </a:r>
            <a:endParaRPr lang="en-US" altLang="zh-CN" sz="2800" b="1" dirty="0" smtClean="0">
              <a:solidFill>
                <a:srgbClr val="FF0000"/>
              </a:solidFill>
              <a:latin typeface="黑体" pitchFamily="49" charset="-122"/>
              <a:ea typeface="黑体" pitchFamily="49" charset="-122"/>
              <a:cs typeface="Arial" pitchFamily="34" charset="0"/>
            </a:endParaRPr>
          </a:p>
          <a:p>
            <a:pPr>
              <a:buNone/>
            </a:pPr>
            <a:r>
              <a:rPr lang="zh-CN" altLang="en-US" sz="2400" b="1" dirty="0" smtClean="0">
                <a:latin typeface="Arial" pitchFamily="34" charset="0"/>
                <a:ea typeface="黑体" pitchFamily="49" charset="-122"/>
                <a:cs typeface="Arial" pitchFamily="34" charset="0"/>
              </a:rPr>
              <a:t>       </a:t>
            </a:r>
            <a:r>
              <a:rPr lang="zh-CN" altLang="en-US" sz="2400" b="1" dirty="0" smtClean="0">
                <a:solidFill>
                  <a:srgbClr val="0000CC"/>
                </a:solidFill>
                <a:latin typeface="Arial" pitchFamily="34" charset="0"/>
                <a:ea typeface="黑体" pitchFamily="49" charset="-122"/>
                <a:cs typeface="Arial" pitchFamily="34" charset="0"/>
              </a:rPr>
              <a:t>约</a:t>
            </a:r>
            <a:r>
              <a:rPr lang="en-US" altLang="zh-CN" sz="2400" b="1" dirty="0" smtClean="0">
                <a:solidFill>
                  <a:srgbClr val="0000CC"/>
                </a:solidFill>
                <a:latin typeface="Arial" pitchFamily="34" charset="0"/>
                <a:ea typeface="黑体" pitchFamily="49" charset="-122"/>
                <a:cs typeface="Arial" pitchFamily="34" charset="0"/>
              </a:rPr>
              <a:t>20-30% </a:t>
            </a:r>
            <a:r>
              <a:rPr lang="zh-CN" altLang="en-US" sz="2400" b="1" dirty="0" smtClean="0">
                <a:solidFill>
                  <a:srgbClr val="0000CC"/>
                </a:solidFill>
                <a:latin typeface="Arial" pitchFamily="34" charset="0"/>
                <a:ea typeface="黑体" pitchFamily="49" charset="-122"/>
                <a:cs typeface="Arial" pitchFamily="34" charset="0"/>
              </a:rPr>
              <a:t>的生物学</a:t>
            </a:r>
            <a:r>
              <a:rPr lang="en-US" altLang="zh-CN" sz="2400" b="1" dirty="0" smtClean="0">
                <a:solidFill>
                  <a:srgbClr val="0000CC"/>
                </a:solidFill>
                <a:latin typeface="Arial" pitchFamily="34" charset="0"/>
                <a:ea typeface="黑体" pitchFamily="49" charset="-122"/>
                <a:cs typeface="Arial" pitchFamily="34" charset="0"/>
              </a:rPr>
              <a:t>/</a:t>
            </a:r>
            <a:r>
              <a:rPr lang="zh-CN" altLang="en-US" sz="2400" b="1" dirty="0" smtClean="0">
                <a:solidFill>
                  <a:srgbClr val="0000CC"/>
                </a:solidFill>
                <a:latin typeface="Arial" pitchFamily="34" charset="0"/>
                <a:ea typeface="黑体" pitchFamily="49" charset="-122"/>
                <a:cs typeface="Arial" pitchFamily="34" charset="0"/>
              </a:rPr>
              <a:t>医学论文存在着统计学错误，会影响所要表达的结果</a:t>
            </a:r>
            <a:r>
              <a:rPr lang="en-US" altLang="zh-CN" sz="2400" b="1" dirty="0" smtClean="0">
                <a:solidFill>
                  <a:srgbClr val="0000CC"/>
                </a:solidFill>
                <a:latin typeface="Arial" pitchFamily="34" charset="0"/>
                <a:ea typeface="黑体" pitchFamily="49" charset="-122"/>
                <a:cs typeface="Arial" pitchFamily="34" charset="0"/>
              </a:rPr>
              <a:t>;</a:t>
            </a:r>
            <a:endParaRPr lang="zh-CN" altLang="en-US" sz="2400" b="1" dirty="0">
              <a:solidFill>
                <a:srgbClr val="0000CC"/>
              </a:solidFill>
              <a:latin typeface="Arial" pitchFamily="34" charset="0"/>
              <a:ea typeface="黑体" pitchFamily="49" charset="-122"/>
              <a:cs typeface="Arial"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latin typeface="Arial" pitchFamily="34" charset="0"/>
                <a:cs typeface="Arial" pitchFamily="34" charset="0"/>
              </a:rPr>
              <a:pPr>
                <a:defRPr/>
              </a:pPr>
              <a:t>5</a:t>
            </a:fld>
            <a:endParaRPr lang="zh-CN" altLang="en-US" dirty="0">
              <a:latin typeface="Arial" pitchFamily="34" charset="0"/>
              <a:cs typeface="Arial" pitchFamily="34" charset="0"/>
            </a:endParaRPr>
          </a:p>
        </p:txBody>
      </p:sp>
      <p:sp>
        <p:nvSpPr>
          <p:cNvPr id="5" name="矩形 4"/>
          <p:cNvSpPr/>
          <p:nvPr/>
        </p:nvSpPr>
        <p:spPr>
          <a:xfrm>
            <a:off x="4788024" y="2636912"/>
            <a:ext cx="4355976" cy="3139321"/>
          </a:xfrm>
          <a:prstGeom prst="rect">
            <a:avLst/>
          </a:prstGeom>
        </p:spPr>
        <p:txBody>
          <a:bodyPr wrap="square">
            <a:spAutoFit/>
          </a:bodyPr>
          <a:lstStyle/>
          <a:p>
            <a:r>
              <a:rPr lang="en-US" altLang="zh-CN" sz="2000" u="sng" dirty="0" smtClean="0">
                <a:solidFill>
                  <a:srgbClr val="0000CC"/>
                </a:solidFill>
              </a:rPr>
              <a:t>“We reviewed 513 </a:t>
            </a:r>
            <a:r>
              <a:rPr lang="en-US" altLang="zh-CN" sz="2000" u="sng" dirty="0" err="1" smtClean="0">
                <a:solidFill>
                  <a:srgbClr val="0000CC"/>
                </a:solidFill>
              </a:rPr>
              <a:t>behavioural</a:t>
            </a:r>
            <a:r>
              <a:rPr lang="en-US" altLang="zh-CN" sz="2000" u="sng" dirty="0" smtClean="0">
                <a:solidFill>
                  <a:srgbClr val="0000CC"/>
                </a:solidFill>
              </a:rPr>
              <a:t>, systems and cognitive neuroscience articles in five top-ranking journals (Science, Nature, Nature Neuroscience, Neuron and The Journal of Neuroscience) and found that </a:t>
            </a:r>
            <a:r>
              <a:rPr lang="en-US" altLang="zh-CN" sz="2000" u="sng" dirty="0" smtClean="0">
                <a:solidFill>
                  <a:srgbClr val="C00000"/>
                </a:solidFill>
              </a:rPr>
              <a:t>78 used the correct procedure and 79 used the incorrect procedure</a:t>
            </a:r>
            <a:r>
              <a:rPr lang="en-US" altLang="zh-CN" sz="2000" u="sng" dirty="0" smtClean="0">
                <a:solidFill>
                  <a:srgbClr val="0000CC"/>
                </a:solidFill>
              </a:rPr>
              <a:t>.”</a:t>
            </a:r>
          </a:p>
          <a:p>
            <a:endParaRPr lang="en-US" altLang="zh-CN" dirty="0" smtClean="0"/>
          </a:p>
          <a:p>
            <a:pPr algn="r"/>
            <a:r>
              <a:rPr lang="fr-FR" altLang="zh-CN" sz="2000" dirty="0" smtClean="0">
                <a:solidFill>
                  <a:srgbClr val="FF0000"/>
                </a:solidFill>
              </a:rPr>
              <a:t>Nat Neurosci</a:t>
            </a:r>
            <a:r>
              <a:rPr lang="fr-FR" altLang="zh-CN" sz="2000" dirty="0" smtClean="0"/>
              <a:t>. 2011</a:t>
            </a:r>
            <a:r>
              <a:rPr lang="en-US" altLang="zh-CN" sz="2000" dirty="0" smtClean="0"/>
              <a:t>, </a:t>
            </a:r>
            <a:r>
              <a:rPr lang="fr-FR" altLang="zh-CN" sz="2000" dirty="0" smtClean="0"/>
              <a:t>14(9):1105-7</a:t>
            </a:r>
            <a:r>
              <a:rPr lang="en-US" altLang="zh-CN" sz="2000" dirty="0" smtClean="0"/>
              <a:t>.</a:t>
            </a:r>
            <a:endParaRPr lang="zh-CN" altLang="en-US" sz="2000" dirty="0"/>
          </a:p>
        </p:txBody>
      </p:sp>
      <p:pic>
        <p:nvPicPr>
          <p:cNvPr id="59393" name="Picture 1"/>
          <p:cNvPicPr>
            <a:picLocks noChangeAspect="1" noChangeArrowheads="1"/>
          </p:cNvPicPr>
          <p:nvPr/>
        </p:nvPicPr>
        <p:blipFill>
          <a:blip r:embed="rId2" cstate="print"/>
          <a:srcRect/>
          <a:stretch>
            <a:fillRect/>
          </a:stretch>
        </p:blipFill>
        <p:spPr bwMode="auto">
          <a:xfrm>
            <a:off x="179512" y="2564904"/>
            <a:ext cx="4334388" cy="410445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476672"/>
            <a:ext cx="8856984" cy="2520280"/>
          </a:xfrm>
        </p:spPr>
        <p:txBody>
          <a:bodyPr/>
          <a:lstStyle/>
          <a:p>
            <a:pPr>
              <a:buFont typeface="Wingdings" pitchFamily="2" charset="2"/>
              <a:buChar char="n"/>
            </a:pPr>
            <a:r>
              <a:rPr lang="zh-CN" altLang="en-US" sz="2400" dirty="0" smtClean="0">
                <a:latin typeface="Arial" pitchFamily="34" charset="0"/>
                <a:ea typeface="黑体" pitchFamily="49" charset="-122"/>
                <a:cs typeface="Arial" pitchFamily="34" charset="0"/>
              </a:rPr>
              <a:t>我们已经进入了</a:t>
            </a:r>
            <a:r>
              <a:rPr lang="zh-CN" altLang="en-US" sz="2400" b="1" dirty="0" smtClean="0">
                <a:solidFill>
                  <a:srgbClr val="FF0000"/>
                </a:solidFill>
                <a:latin typeface="Arial" pitchFamily="34" charset="0"/>
                <a:ea typeface="黑体" pitchFamily="49" charset="-122"/>
                <a:cs typeface="Arial" pitchFamily="34" charset="0"/>
              </a:rPr>
              <a:t>定量生物学（</a:t>
            </a:r>
            <a:r>
              <a:rPr lang="en-US" altLang="zh-CN" sz="2400" b="1" dirty="0" smtClean="0">
                <a:solidFill>
                  <a:srgbClr val="FF0000"/>
                </a:solidFill>
                <a:latin typeface="Arial" pitchFamily="34" charset="0"/>
                <a:ea typeface="黑体" pitchFamily="49" charset="-122"/>
                <a:cs typeface="Arial" pitchFamily="34" charset="0"/>
              </a:rPr>
              <a:t>“quantitative biology”</a:t>
            </a:r>
            <a:r>
              <a:rPr lang="zh-CN" altLang="en-US" sz="2400" b="1" dirty="0" smtClean="0">
                <a:solidFill>
                  <a:srgbClr val="FF0000"/>
                </a:solidFill>
                <a:latin typeface="Arial" pitchFamily="34" charset="0"/>
                <a:ea typeface="黑体" pitchFamily="49" charset="-122"/>
                <a:cs typeface="Arial" pitchFamily="34" charset="0"/>
              </a:rPr>
              <a:t>）</a:t>
            </a:r>
            <a:r>
              <a:rPr lang="zh-CN" altLang="en-US" sz="2400" dirty="0" smtClean="0">
                <a:latin typeface="Arial" pitchFamily="34" charset="0"/>
                <a:ea typeface="黑体" pitchFamily="49" charset="-122"/>
                <a:cs typeface="Arial" pitchFamily="34" charset="0"/>
              </a:rPr>
              <a:t>的时代，任何一个在</a:t>
            </a:r>
            <a:r>
              <a:rPr lang="en-US" altLang="zh-CN" sz="2400" dirty="0" smtClean="0">
                <a:latin typeface="Arial" pitchFamily="34" charset="0"/>
                <a:ea typeface="黑体" pitchFamily="49" charset="-122"/>
                <a:cs typeface="Arial" pitchFamily="34" charset="0"/>
              </a:rPr>
              <a:t> “</a:t>
            </a:r>
            <a:r>
              <a:rPr lang="en-US" altLang="zh-CN" sz="2400" dirty="0" err="1" smtClean="0">
                <a:latin typeface="Arial" pitchFamily="34" charset="0"/>
                <a:ea typeface="黑体" pitchFamily="49" charset="-122"/>
                <a:cs typeface="Arial" pitchFamily="34" charset="0"/>
              </a:rPr>
              <a:t>omics</a:t>
            </a:r>
            <a:r>
              <a:rPr lang="en-US" altLang="zh-CN" sz="2400" dirty="0" smtClean="0">
                <a:latin typeface="Arial" pitchFamily="34" charset="0"/>
                <a:ea typeface="黑体" pitchFamily="49" charset="-122"/>
                <a:cs typeface="Arial" pitchFamily="34" charset="0"/>
              </a:rPr>
              <a:t>”</a:t>
            </a:r>
            <a:r>
              <a:rPr lang="zh-CN" altLang="en-US" sz="2400" dirty="0" smtClean="0">
                <a:latin typeface="Arial" pitchFamily="34" charset="0"/>
                <a:ea typeface="黑体" pitchFamily="49" charset="-122"/>
                <a:cs typeface="Arial" pitchFamily="34" charset="0"/>
              </a:rPr>
              <a:t>领域学习工作的人都需要有一定的统计学和科学编程的背景与能力；</a:t>
            </a:r>
            <a:endParaRPr lang="en-US" altLang="zh-CN" sz="2400" dirty="0" smtClean="0">
              <a:latin typeface="Arial" pitchFamily="34" charset="0"/>
              <a:ea typeface="黑体" pitchFamily="49" charset="-122"/>
              <a:cs typeface="Arial" pitchFamily="34" charset="0"/>
            </a:endParaRPr>
          </a:p>
          <a:p>
            <a:pPr>
              <a:buFont typeface="Wingdings" pitchFamily="2" charset="2"/>
              <a:buChar char="n"/>
            </a:pP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zh-CN" altLang="en-US" sz="2400" dirty="0" smtClean="0">
                <a:latin typeface="Arial" pitchFamily="34" charset="0"/>
                <a:ea typeface="黑体" pitchFamily="49" charset="-122"/>
                <a:cs typeface="Arial" pitchFamily="34" charset="0"/>
              </a:rPr>
              <a:t>统计学是一种可转移的技能，在许多科学领域都发挥着重要价值</a:t>
            </a:r>
            <a:r>
              <a:rPr lang="en-US" altLang="zh-CN" sz="2400" dirty="0" smtClean="0">
                <a:latin typeface="Arial" pitchFamily="34" charset="0"/>
                <a:ea typeface="黑体" pitchFamily="49" charset="-122"/>
                <a:cs typeface="Arial" pitchFamily="34" charset="0"/>
              </a:rPr>
              <a:t> (e.g. finance, insurance, marketing, engineering, …..)</a:t>
            </a: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6</a:t>
            </a:fld>
            <a:endParaRPr lang="zh-CN" altLang="en-US"/>
          </a:p>
        </p:txBody>
      </p:sp>
      <p:pic>
        <p:nvPicPr>
          <p:cNvPr id="58375" name="Picture 7"/>
          <p:cNvPicPr>
            <a:picLocks noChangeAspect="1" noChangeArrowheads="1"/>
          </p:cNvPicPr>
          <p:nvPr/>
        </p:nvPicPr>
        <p:blipFill>
          <a:blip r:embed="rId2" cstate="print"/>
          <a:srcRect/>
          <a:stretch>
            <a:fillRect/>
          </a:stretch>
        </p:blipFill>
        <p:spPr bwMode="auto">
          <a:xfrm>
            <a:off x="2317950" y="3318445"/>
            <a:ext cx="4235250" cy="322046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7</a:t>
            </a:fld>
            <a:endParaRPr lang="zh-CN" altLang="en-US"/>
          </a:p>
        </p:txBody>
      </p:sp>
      <p:sp>
        <p:nvSpPr>
          <p:cNvPr id="3" name="标题 1"/>
          <p:cNvSpPr txBox="1">
            <a:spLocks/>
          </p:cNvSpPr>
          <p:nvPr/>
        </p:nvSpPr>
        <p:spPr>
          <a:xfrm>
            <a:off x="457200" y="188640"/>
            <a:ext cx="8229600" cy="648072"/>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a:lstStyle>
          <a:p>
            <a:r>
              <a:rPr lang="zh-CN" altLang="en-US" sz="3200" b="1" dirty="0" smtClean="0">
                <a:solidFill>
                  <a:srgbClr val="C00000"/>
                </a:solidFill>
                <a:latin typeface="黑体" panose="02010609060101010101" pitchFamily="49" charset="-122"/>
                <a:ea typeface="黑体" panose="02010609060101010101" pitchFamily="49" charset="-122"/>
                <a:cs typeface="Arial" pitchFamily="34" charset="0"/>
              </a:rPr>
              <a:t>统计学在组学领域的重要应用</a:t>
            </a:r>
            <a:endParaRPr lang="zh-CN" altLang="en-US" sz="3200" dirty="0">
              <a:solidFill>
                <a:srgbClr val="C00000"/>
              </a:solidFill>
              <a:latin typeface="黑体" panose="02010609060101010101" pitchFamily="49" charset="-122"/>
              <a:ea typeface="黑体" panose="02010609060101010101" pitchFamily="49" charset="-122"/>
              <a:cs typeface="Arial" pitchFamily="34" charset="0"/>
            </a:endParaRPr>
          </a:p>
        </p:txBody>
      </p:sp>
      <p:sp>
        <p:nvSpPr>
          <p:cNvPr id="4" name="内容占位符 2"/>
          <p:cNvSpPr txBox="1">
            <a:spLocks/>
          </p:cNvSpPr>
          <p:nvPr/>
        </p:nvSpPr>
        <p:spPr>
          <a:xfrm>
            <a:off x="107504" y="764704"/>
            <a:ext cx="8856984" cy="5976664"/>
          </a:xfrm>
          <a:prstGeom prst="rect">
            <a:avLst/>
          </a:prstGeom>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Char char="n"/>
            </a:pPr>
            <a:r>
              <a:rPr lang="en-US" altLang="zh-CN" sz="2400" b="1" dirty="0" smtClean="0">
                <a:latin typeface="Arial" pitchFamily="34" charset="0"/>
                <a:cs typeface="Arial" pitchFamily="34" charset="0"/>
              </a:rPr>
              <a:t>Experimental design</a:t>
            </a:r>
          </a:p>
          <a:p>
            <a:pPr lvl="1">
              <a:buFont typeface="Wingdings" pitchFamily="2" charset="2"/>
              <a:buChar char="n"/>
            </a:pPr>
            <a:r>
              <a:rPr lang="en-US" altLang="zh-CN" sz="2000" dirty="0" smtClean="0">
                <a:latin typeface="Arial" pitchFamily="34" charset="0"/>
                <a:cs typeface="Arial" pitchFamily="34" charset="0"/>
              </a:rPr>
              <a:t>large experiments require careful design to avoid confounding factors;</a:t>
            </a:r>
          </a:p>
          <a:p>
            <a:pPr lvl="1">
              <a:buFont typeface="Wingdings" pitchFamily="2" charset="2"/>
              <a:buChar char="n"/>
            </a:pPr>
            <a:r>
              <a:rPr lang="en-US" altLang="zh-CN" sz="2000" dirty="0" smtClean="0">
                <a:latin typeface="Arial" pitchFamily="34" charset="0"/>
                <a:cs typeface="Arial" pitchFamily="34" charset="0"/>
              </a:rPr>
              <a:t>power calculations to determine minimum sample size;</a:t>
            </a:r>
          </a:p>
          <a:p>
            <a:pPr lvl="1">
              <a:buFont typeface="Arial" charset="0"/>
              <a:buNone/>
            </a:pPr>
            <a:endParaRPr lang="en-US" altLang="zh-CN" sz="2000" b="1" dirty="0" smtClean="0">
              <a:latin typeface="Arial" pitchFamily="34" charset="0"/>
              <a:cs typeface="Arial" pitchFamily="34" charset="0"/>
            </a:endParaRPr>
          </a:p>
          <a:p>
            <a:pPr>
              <a:buFont typeface="Wingdings" pitchFamily="2" charset="2"/>
              <a:buChar char="n"/>
            </a:pPr>
            <a:r>
              <a:rPr lang="en-US" altLang="zh-CN" sz="2400" b="1" dirty="0" smtClean="0">
                <a:latin typeface="Arial" pitchFamily="34" charset="0"/>
                <a:cs typeface="Arial" pitchFamily="34" charset="0"/>
              </a:rPr>
              <a:t>Normalization of raw data</a:t>
            </a:r>
          </a:p>
          <a:p>
            <a:pPr lvl="1">
              <a:buFont typeface="Wingdings" pitchFamily="2" charset="2"/>
              <a:buChar char="n"/>
            </a:pPr>
            <a:r>
              <a:rPr lang="en-US" altLang="zh-CN" sz="2000" dirty="0" smtClean="0">
                <a:latin typeface="Arial" pitchFamily="34" charset="0"/>
                <a:cs typeface="Arial" pitchFamily="34" charset="0"/>
              </a:rPr>
              <a:t>intra and inter-array/sample normalization;</a:t>
            </a:r>
          </a:p>
          <a:p>
            <a:pPr lvl="1">
              <a:buFont typeface="Wingdings" pitchFamily="2" charset="2"/>
              <a:buChar char="n"/>
            </a:pPr>
            <a:endParaRPr lang="en-US" altLang="zh-CN" sz="2000" dirty="0" smtClean="0">
              <a:latin typeface="Arial" pitchFamily="34" charset="0"/>
              <a:cs typeface="Arial" pitchFamily="34" charset="0"/>
            </a:endParaRPr>
          </a:p>
          <a:p>
            <a:pPr>
              <a:buFont typeface="Wingdings" pitchFamily="2" charset="2"/>
              <a:buChar char="n"/>
            </a:pPr>
            <a:r>
              <a:rPr lang="en-US" altLang="zh-CN" sz="2400" b="1" dirty="0" smtClean="0">
                <a:latin typeface="Arial" pitchFamily="34" charset="0"/>
                <a:cs typeface="Arial" pitchFamily="34" charset="0"/>
              </a:rPr>
              <a:t>Identification of genomic features correlating with a phenotype of interest</a:t>
            </a:r>
          </a:p>
          <a:p>
            <a:pPr lvl="1">
              <a:buFont typeface="Wingdings" pitchFamily="2" charset="2"/>
              <a:buChar char="n"/>
            </a:pPr>
            <a:r>
              <a:rPr lang="en-US" altLang="zh-CN" sz="2000" dirty="0" smtClean="0">
                <a:latin typeface="Arial" pitchFamily="34" charset="0"/>
                <a:cs typeface="Arial" pitchFamily="34" charset="0"/>
              </a:rPr>
              <a:t>genomic features (e.g., mutations, mRNA/protein levels);</a:t>
            </a:r>
          </a:p>
          <a:p>
            <a:pPr lvl="1">
              <a:buFont typeface="Wingdings" pitchFamily="2" charset="2"/>
              <a:buChar char="n"/>
            </a:pPr>
            <a:r>
              <a:rPr lang="en-US" altLang="zh-CN" sz="2000" dirty="0" smtClean="0">
                <a:latin typeface="Arial" pitchFamily="34" charset="0"/>
                <a:cs typeface="Arial" pitchFamily="34" charset="0"/>
              </a:rPr>
              <a:t>conditions (e.g., normal vs. disease)</a:t>
            </a:r>
          </a:p>
          <a:p>
            <a:pPr lvl="1">
              <a:buFont typeface="Wingdings" pitchFamily="2" charset="2"/>
              <a:buChar char="n"/>
            </a:pPr>
            <a:endParaRPr lang="en-US" altLang="zh-CN" sz="2000" dirty="0" smtClean="0">
              <a:latin typeface="Arial" pitchFamily="34" charset="0"/>
              <a:cs typeface="Arial" pitchFamily="34" charset="0"/>
            </a:endParaRPr>
          </a:p>
          <a:p>
            <a:pPr>
              <a:buFont typeface="Wingdings" pitchFamily="2" charset="2"/>
              <a:buChar char="n"/>
            </a:pPr>
            <a:r>
              <a:rPr lang="en-US" altLang="zh-CN" sz="2400" b="1" dirty="0" smtClean="0">
                <a:latin typeface="Arial" pitchFamily="34" charset="0"/>
                <a:cs typeface="Arial" pitchFamily="34" charset="0"/>
              </a:rPr>
              <a:t>Constructing classifiers for prediction</a:t>
            </a:r>
          </a:p>
          <a:p>
            <a:pPr>
              <a:buFont typeface="Arial" charset="0"/>
              <a:buNone/>
            </a:pPr>
            <a:endParaRPr lang="en-US" altLang="zh-CN" sz="2400" dirty="0" smtClean="0">
              <a:latin typeface="Arial" pitchFamily="34" charset="0"/>
              <a:cs typeface="Arial" pitchFamily="34" charset="0"/>
            </a:endParaRPr>
          </a:p>
          <a:p>
            <a:pPr>
              <a:buFont typeface="Wingdings" pitchFamily="2" charset="2"/>
              <a:buChar char="n"/>
            </a:pPr>
            <a:r>
              <a:rPr lang="en-US" altLang="zh-CN" sz="2400" b="1" dirty="0" smtClean="0">
                <a:latin typeface="Arial" pitchFamily="34" charset="0"/>
                <a:cs typeface="Arial" pitchFamily="34" charset="0"/>
              </a:rPr>
              <a:t>Data integration</a:t>
            </a:r>
            <a:endParaRPr lang="zh-CN" altLang="en-US" sz="2400" dirty="0">
              <a:latin typeface="Arial" pitchFamily="34" charset="0"/>
              <a:cs typeface="Arial" pitchFamily="34" charset="0"/>
            </a:endParaRPr>
          </a:p>
        </p:txBody>
      </p:sp>
    </p:spTree>
    <p:extLst>
      <p:ext uri="{BB962C8B-B14F-4D97-AF65-F5344CB8AC3E}">
        <p14:creationId xmlns:p14="http://schemas.microsoft.com/office/powerpoint/2010/main" val="12289290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188640"/>
            <a:ext cx="8712968" cy="1224136"/>
          </a:xfrm>
        </p:spPr>
        <p:txBody>
          <a:bodyPr/>
          <a:lstStyle/>
          <a:p>
            <a:r>
              <a:rPr lang="en-US" altLang="zh-CN" sz="3600" b="1" dirty="0" smtClean="0">
                <a:solidFill>
                  <a:srgbClr val="FF0000"/>
                </a:solidFill>
                <a:latin typeface="Arial" pitchFamily="34" charset="0"/>
                <a:ea typeface="黑体" pitchFamily="49" charset="-122"/>
                <a:cs typeface="Arial" pitchFamily="34" charset="0"/>
              </a:rPr>
              <a:t>2. </a:t>
            </a:r>
            <a:r>
              <a:rPr lang="zh-CN" altLang="en-US" sz="3600" b="1" dirty="0" smtClean="0">
                <a:solidFill>
                  <a:srgbClr val="FF0000"/>
                </a:solidFill>
                <a:latin typeface="Arial" pitchFamily="34" charset="0"/>
                <a:ea typeface="黑体" pitchFamily="49" charset="-122"/>
                <a:cs typeface="Arial" pitchFamily="34" charset="0"/>
              </a:rPr>
              <a:t>统计检验的选择</a:t>
            </a:r>
            <a:r>
              <a:rPr lang="en-US" altLang="zh-CN" sz="3600" b="1" dirty="0" smtClean="0">
                <a:solidFill>
                  <a:srgbClr val="FF0000"/>
                </a:solidFill>
                <a:latin typeface="Arial" pitchFamily="34" charset="0"/>
                <a:ea typeface="黑体" pitchFamily="49" charset="-122"/>
                <a:cs typeface="Arial" pitchFamily="34" charset="0"/>
              </a:rPr>
              <a:t>: </a:t>
            </a:r>
            <a:r>
              <a:rPr lang="zh-CN" altLang="en-US" sz="3600" b="1" dirty="0" smtClean="0">
                <a:solidFill>
                  <a:srgbClr val="FF0000"/>
                </a:solidFill>
                <a:latin typeface="Arial" pitchFamily="34" charset="0"/>
                <a:ea typeface="黑体" pitchFamily="49" charset="-122"/>
                <a:cs typeface="Arial" pitchFamily="34" charset="0"/>
              </a:rPr>
              <a:t>二</a:t>
            </a:r>
            <a:r>
              <a:rPr lang="zh-CN" altLang="en-US" sz="3600" b="1" dirty="0">
                <a:solidFill>
                  <a:srgbClr val="FF0000"/>
                </a:solidFill>
                <a:latin typeface="Arial" pitchFamily="34" charset="0"/>
                <a:ea typeface="黑体" pitchFamily="49" charset="-122"/>
                <a:cs typeface="Arial" pitchFamily="34" charset="0"/>
              </a:rPr>
              <a:t>元</a:t>
            </a:r>
            <a:r>
              <a:rPr lang="zh-CN" altLang="en-US" sz="3600" b="1" dirty="0" smtClean="0">
                <a:solidFill>
                  <a:srgbClr val="FF0000"/>
                </a:solidFill>
                <a:latin typeface="Arial" pitchFamily="34" charset="0"/>
                <a:ea typeface="黑体" pitchFamily="49" charset="-122"/>
                <a:cs typeface="Arial" pitchFamily="34" charset="0"/>
              </a:rPr>
              <a:t>表型（</a:t>
            </a:r>
            <a:r>
              <a:rPr lang="en-US" altLang="zh-CN" sz="3600" b="1" dirty="0" smtClean="0">
                <a:solidFill>
                  <a:srgbClr val="FF0000"/>
                </a:solidFill>
                <a:latin typeface="Arial" pitchFamily="34" charset="0"/>
                <a:ea typeface="黑体" pitchFamily="49" charset="-122"/>
                <a:cs typeface="Arial" pitchFamily="34" charset="0"/>
              </a:rPr>
              <a:t>binary phenotype</a:t>
            </a:r>
            <a:r>
              <a:rPr lang="zh-CN" altLang="en-US" sz="3600" b="1" dirty="0" smtClean="0">
                <a:solidFill>
                  <a:srgbClr val="FF0000"/>
                </a:solidFill>
                <a:latin typeface="Arial" pitchFamily="34" charset="0"/>
                <a:ea typeface="黑体" pitchFamily="49" charset="-122"/>
                <a:cs typeface="Arial" pitchFamily="34" charset="0"/>
              </a:rPr>
              <a:t>）</a:t>
            </a:r>
            <a:endParaRPr lang="zh-CN" altLang="en-US" sz="3600" b="1" dirty="0">
              <a:solidFill>
                <a:srgbClr val="FF0000"/>
              </a:solidFill>
              <a:latin typeface="Arial" pitchFamily="34" charset="0"/>
              <a:ea typeface="黑体" pitchFamily="49" charset="-122"/>
              <a:cs typeface="Arial" pitchFamily="34" charset="0"/>
            </a:endParaRPr>
          </a:p>
        </p:txBody>
      </p:sp>
      <p:sp>
        <p:nvSpPr>
          <p:cNvPr id="3" name="内容占位符 2"/>
          <p:cNvSpPr>
            <a:spLocks noGrp="1"/>
          </p:cNvSpPr>
          <p:nvPr>
            <p:ph idx="1"/>
          </p:nvPr>
        </p:nvSpPr>
        <p:spPr>
          <a:xfrm>
            <a:off x="251520" y="1628800"/>
            <a:ext cx="8640960" cy="4320480"/>
          </a:xfrm>
        </p:spPr>
        <p:txBody>
          <a:bodyPr/>
          <a:lstStyle/>
          <a:p>
            <a:pPr>
              <a:buFont typeface="Wingdings" pitchFamily="2" charset="2"/>
              <a:buChar char="n"/>
            </a:pPr>
            <a:r>
              <a:rPr lang="zh-CN" altLang="en-US" sz="2400" b="1" dirty="0" smtClean="0">
                <a:solidFill>
                  <a:srgbClr val="0000CC"/>
                </a:solidFill>
                <a:latin typeface="Arial" pitchFamily="34" charset="0"/>
                <a:ea typeface="黑体" pitchFamily="49" charset="-122"/>
                <a:cs typeface="Arial" pitchFamily="34" charset="0"/>
              </a:rPr>
              <a:t>生命科学领域最常遇到的情况</a:t>
            </a:r>
            <a:r>
              <a:rPr lang="zh-CN" altLang="en-US" sz="2400" dirty="0" smtClean="0">
                <a:latin typeface="Arial" pitchFamily="34" charset="0"/>
                <a:ea typeface="黑体" pitchFamily="49" charset="-122"/>
                <a:cs typeface="Arial" pitchFamily="34" charset="0"/>
              </a:rPr>
              <a:t>：分析两个样本分布（代表不同表型）是否不同，这就需要一个检验来确定这两个表型之间的平均水平是否有显著性差异；</a:t>
            </a:r>
            <a:endParaRPr lang="en-US" altLang="zh-CN" sz="2400" dirty="0" smtClean="0">
              <a:latin typeface="Arial" pitchFamily="34" charset="0"/>
              <a:ea typeface="黑体" pitchFamily="49" charset="-122"/>
              <a:cs typeface="Arial" pitchFamily="34" charset="0"/>
            </a:endParaRPr>
          </a:p>
          <a:p>
            <a:pPr>
              <a:buFont typeface="Wingdings" pitchFamily="2" charset="2"/>
              <a:buChar char="n"/>
            </a:pPr>
            <a:endParaRPr lang="en-US" altLang="zh-CN" sz="2400" b="1" dirty="0">
              <a:latin typeface="Arial" pitchFamily="34" charset="0"/>
              <a:ea typeface="黑体" pitchFamily="49" charset="-122"/>
              <a:cs typeface="Arial" pitchFamily="34" charset="0"/>
            </a:endParaRPr>
          </a:p>
          <a:p>
            <a:pPr>
              <a:buFont typeface="Wingdings" pitchFamily="2" charset="2"/>
              <a:buChar char="n"/>
            </a:pPr>
            <a:r>
              <a:rPr lang="zh-CN" altLang="en-US" sz="2400" b="1" dirty="0" smtClean="0">
                <a:latin typeface="Arial" pitchFamily="34" charset="0"/>
                <a:ea typeface="黑体" pitchFamily="49" charset="-122"/>
                <a:cs typeface="Arial" pitchFamily="34" charset="0"/>
              </a:rPr>
              <a:t>参数检验（</a:t>
            </a:r>
            <a:r>
              <a:rPr lang="en-US" altLang="zh-CN" sz="2400" b="1" dirty="0" smtClean="0">
                <a:latin typeface="Arial" pitchFamily="34" charset="0"/>
                <a:ea typeface="黑体" pitchFamily="49" charset="-122"/>
                <a:cs typeface="Arial" pitchFamily="34" charset="0"/>
              </a:rPr>
              <a:t>parametric testing</a:t>
            </a:r>
            <a:r>
              <a:rPr lang="zh-CN" altLang="en-US" sz="2400" b="1" dirty="0" smtClean="0">
                <a:latin typeface="Arial" pitchFamily="34" charset="0"/>
                <a:ea typeface="黑体" pitchFamily="49" charset="-122"/>
                <a:cs typeface="Arial" pitchFamily="34" charset="0"/>
              </a:rPr>
              <a:t>）：</a:t>
            </a:r>
            <a:r>
              <a:rPr lang="zh-CN" altLang="en-US" sz="2400" dirty="0" smtClean="0">
                <a:latin typeface="Arial" pitchFamily="34" charset="0"/>
                <a:ea typeface="黑体" pitchFamily="49" charset="-122"/>
                <a:cs typeface="Arial" pitchFamily="34" charset="0"/>
              </a:rPr>
              <a:t>主要通过模型假设来推断每一个样本组中的数据是如何分布的，统计学检验依赖于参数估计（如</a:t>
            </a:r>
            <a:r>
              <a:rPr lang="en-US" altLang="zh-CN" sz="2400" dirty="0" smtClean="0">
                <a:solidFill>
                  <a:srgbClr val="FF0000"/>
                </a:solidFill>
                <a:latin typeface="Arial" pitchFamily="34" charset="0"/>
                <a:ea typeface="黑体" pitchFamily="49" charset="-122"/>
                <a:cs typeface="Arial" pitchFamily="34" charset="0"/>
              </a:rPr>
              <a:t>t-test</a:t>
            </a:r>
            <a:r>
              <a:rPr lang="zh-CN" altLang="en-US" sz="2400" dirty="0" smtClean="0">
                <a:latin typeface="Arial" pitchFamily="34" charset="0"/>
                <a:ea typeface="黑体" pitchFamily="49" charset="-122"/>
                <a:cs typeface="Arial" pitchFamily="34" charset="0"/>
              </a:rPr>
              <a:t>）；</a:t>
            </a:r>
            <a:endParaRPr lang="en-US" altLang="zh-CN" sz="2400" dirty="0" smtClean="0">
              <a:latin typeface="Arial" pitchFamily="34" charset="0"/>
              <a:ea typeface="黑体" pitchFamily="49" charset="-122"/>
              <a:cs typeface="Arial" pitchFamily="34" charset="0"/>
            </a:endParaRPr>
          </a:p>
          <a:p>
            <a:pPr>
              <a:buFont typeface="Wingdings" pitchFamily="2" charset="2"/>
              <a:buChar char="n"/>
            </a:pP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zh-CN" altLang="en-US" sz="2400" b="1" dirty="0" smtClean="0">
                <a:latin typeface="Arial" pitchFamily="34" charset="0"/>
                <a:ea typeface="黑体" pitchFamily="49" charset="-122"/>
                <a:cs typeface="Arial" pitchFamily="34" charset="0"/>
              </a:rPr>
              <a:t>非参数检验（</a:t>
            </a:r>
            <a:r>
              <a:rPr lang="en-US" altLang="zh-CN" sz="2400" b="1" dirty="0" smtClean="0">
                <a:latin typeface="Arial" pitchFamily="34" charset="0"/>
                <a:ea typeface="黑体" pitchFamily="49" charset="-122"/>
                <a:cs typeface="Arial" pitchFamily="34" charset="0"/>
              </a:rPr>
              <a:t>non-parametric testing</a:t>
            </a:r>
            <a:r>
              <a:rPr lang="zh-CN" altLang="en-US" sz="2400" b="1" dirty="0" smtClean="0">
                <a:latin typeface="Arial" pitchFamily="34" charset="0"/>
                <a:ea typeface="黑体" pitchFamily="49" charset="-122"/>
                <a:cs typeface="Arial" pitchFamily="34" charset="0"/>
              </a:rPr>
              <a:t>）</a:t>
            </a:r>
            <a:r>
              <a:rPr lang="en-US" altLang="zh-CN" sz="2400" b="1" dirty="0" smtClean="0">
                <a:latin typeface="Arial" pitchFamily="34" charset="0"/>
                <a:ea typeface="黑体" pitchFamily="49" charset="-122"/>
                <a:cs typeface="Arial" pitchFamily="34" charset="0"/>
              </a:rPr>
              <a:t>: </a:t>
            </a:r>
            <a:r>
              <a:rPr lang="zh-CN" altLang="en-US" sz="2400" dirty="0" smtClean="0">
                <a:latin typeface="Arial" pitchFamily="34" charset="0"/>
                <a:ea typeface="黑体" pitchFamily="49" charset="-122"/>
                <a:cs typeface="Arial" pitchFamily="34" charset="0"/>
              </a:rPr>
              <a:t>无需模型，统计检验不依赖于参数估计（如</a:t>
            </a:r>
            <a:r>
              <a:rPr lang="en-US" altLang="zh-CN" sz="2400" dirty="0" err="1" smtClean="0">
                <a:solidFill>
                  <a:srgbClr val="FF0000"/>
                </a:solidFill>
                <a:latin typeface="Arial" pitchFamily="34" charset="0"/>
                <a:ea typeface="黑体" pitchFamily="49" charset="-122"/>
                <a:cs typeface="Arial" pitchFamily="34" charset="0"/>
              </a:rPr>
              <a:t>Wilcoxon</a:t>
            </a:r>
            <a:r>
              <a:rPr lang="en-US" altLang="zh-CN" sz="2400" dirty="0" smtClean="0">
                <a:solidFill>
                  <a:srgbClr val="FF0000"/>
                </a:solidFill>
                <a:latin typeface="Arial" pitchFamily="34" charset="0"/>
                <a:ea typeface="黑体" pitchFamily="49" charset="-122"/>
                <a:cs typeface="Arial" pitchFamily="34" charset="0"/>
              </a:rPr>
              <a:t> rank sum test</a:t>
            </a:r>
            <a:r>
              <a:rPr lang="zh-CN" altLang="en-US" sz="2400" dirty="0" smtClean="0">
                <a:latin typeface="Arial" pitchFamily="34" charset="0"/>
                <a:ea typeface="黑体" pitchFamily="49" charset="-122"/>
                <a:cs typeface="Arial" pitchFamily="34" charset="0"/>
              </a:rPr>
              <a:t>）；</a:t>
            </a:r>
            <a:endParaRPr lang="zh-CN" altLang="en-US" sz="2400" dirty="0">
              <a:latin typeface="Arial" pitchFamily="34" charset="0"/>
              <a:ea typeface="黑体" pitchFamily="49" charset="-122"/>
              <a:cs typeface="Arial"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8</a:t>
            </a:fld>
            <a:endParaRPr lang="zh-CN" alt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16632"/>
            <a:ext cx="8229600" cy="706090"/>
          </a:xfrm>
        </p:spPr>
        <p:txBody>
          <a:bodyPr/>
          <a:lstStyle/>
          <a:p>
            <a:r>
              <a:rPr lang="zh-CN" altLang="en-US" sz="3200" b="1" dirty="0" smtClean="0">
                <a:solidFill>
                  <a:srgbClr val="0000CC"/>
                </a:solidFill>
                <a:latin typeface="Arial" pitchFamily="34" charset="0"/>
                <a:cs typeface="Arial" pitchFamily="34" charset="0"/>
              </a:rPr>
              <a:t>（</a:t>
            </a:r>
            <a:r>
              <a:rPr lang="en-US" altLang="zh-CN" sz="3200" b="1" dirty="0" smtClean="0">
                <a:solidFill>
                  <a:srgbClr val="0000CC"/>
                </a:solidFill>
                <a:latin typeface="Arial" pitchFamily="34" charset="0"/>
                <a:cs typeface="Arial" pitchFamily="34" charset="0"/>
              </a:rPr>
              <a:t>1</a:t>
            </a:r>
            <a:r>
              <a:rPr lang="zh-CN" altLang="en-US" sz="3200" b="1" dirty="0" smtClean="0">
                <a:solidFill>
                  <a:srgbClr val="0000CC"/>
                </a:solidFill>
                <a:latin typeface="Arial" pitchFamily="34" charset="0"/>
                <a:cs typeface="Arial" pitchFamily="34" charset="0"/>
              </a:rPr>
              <a:t>）</a:t>
            </a:r>
            <a:r>
              <a:rPr lang="en-US" altLang="zh-CN" sz="3200" b="1" dirty="0" smtClean="0">
                <a:solidFill>
                  <a:srgbClr val="0000CC"/>
                </a:solidFill>
                <a:latin typeface="Arial" pitchFamily="34" charset="0"/>
                <a:cs typeface="Arial" pitchFamily="34" charset="0"/>
              </a:rPr>
              <a:t>Student’s (unpaired) t-test</a:t>
            </a:r>
            <a:endParaRPr lang="zh-CN" altLang="en-US" sz="3200" dirty="0">
              <a:solidFill>
                <a:srgbClr val="0000CC"/>
              </a:solidFill>
              <a:latin typeface="Arial" pitchFamily="34" charset="0"/>
              <a:cs typeface="Arial" pitchFamily="34" charset="0"/>
            </a:endParaRPr>
          </a:p>
        </p:txBody>
      </p:sp>
      <p:sp>
        <p:nvSpPr>
          <p:cNvPr id="3" name="内容占位符 2"/>
          <p:cNvSpPr>
            <a:spLocks noGrp="1"/>
          </p:cNvSpPr>
          <p:nvPr>
            <p:ph idx="1"/>
          </p:nvPr>
        </p:nvSpPr>
        <p:spPr>
          <a:xfrm>
            <a:off x="179512" y="908720"/>
            <a:ext cx="8784976" cy="864096"/>
          </a:xfrm>
        </p:spPr>
        <p:txBody>
          <a:bodyPr/>
          <a:lstStyle/>
          <a:p>
            <a:pPr>
              <a:buFont typeface="Wingdings" pitchFamily="2" charset="2"/>
              <a:buChar char="n"/>
            </a:pPr>
            <a:r>
              <a:rPr lang="en-US" altLang="zh-CN" sz="2400" dirty="0" smtClean="0">
                <a:latin typeface="Arial" pitchFamily="34" charset="0"/>
                <a:ea typeface="黑体" pitchFamily="49" charset="-122"/>
                <a:cs typeface="Arial" pitchFamily="34" charset="0"/>
              </a:rPr>
              <a:t>Suppose data is </a:t>
            </a:r>
            <a:r>
              <a:rPr lang="en-US" altLang="zh-CN" sz="2400" dirty="0" smtClean="0">
                <a:solidFill>
                  <a:srgbClr val="FF0000"/>
                </a:solidFill>
                <a:latin typeface="Arial" pitchFamily="34" charset="0"/>
                <a:ea typeface="黑体" pitchFamily="49" charset="-122"/>
                <a:cs typeface="Arial" pitchFamily="34" charset="0"/>
              </a:rPr>
              <a:t>normally distributed</a:t>
            </a:r>
            <a:r>
              <a:rPr lang="zh-CN" altLang="en-US" sz="2400" dirty="0" smtClean="0">
                <a:solidFill>
                  <a:srgbClr val="FF0000"/>
                </a:solidFill>
                <a:latin typeface="Arial" pitchFamily="34" charset="0"/>
                <a:ea typeface="黑体" pitchFamily="49" charset="-122"/>
                <a:cs typeface="Arial" pitchFamily="34" charset="0"/>
              </a:rPr>
              <a:t>（正态分布）</a:t>
            </a:r>
            <a:r>
              <a:rPr lang="en-US" altLang="zh-CN" sz="2400" dirty="0" smtClean="0">
                <a:latin typeface="Arial" pitchFamily="34" charset="0"/>
                <a:ea typeface="黑体" pitchFamily="49" charset="-122"/>
                <a:cs typeface="Arial" pitchFamily="34" charset="0"/>
              </a:rPr>
              <a:t>in each phenotype:</a:t>
            </a:r>
            <a:endParaRPr lang="zh-CN" altLang="en-US" sz="2400" dirty="0">
              <a:latin typeface="Arial" pitchFamily="34" charset="0"/>
              <a:ea typeface="黑体" pitchFamily="49" charset="-122"/>
              <a:cs typeface="Arial"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9</a:t>
            </a:fld>
            <a:endParaRPr lang="zh-CN" altLang="en-US"/>
          </a:p>
        </p:txBody>
      </p:sp>
      <p:pic>
        <p:nvPicPr>
          <p:cNvPr id="74755" name="Picture 3"/>
          <p:cNvPicPr>
            <a:picLocks noChangeAspect="1" noChangeArrowheads="1"/>
          </p:cNvPicPr>
          <p:nvPr/>
        </p:nvPicPr>
        <p:blipFill>
          <a:blip r:embed="rId2" cstate="print"/>
          <a:srcRect/>
          <a:stretch>
            <a:fillRect/>
          </a:stretch>
        </p:blipFill>
        <p:spPr bwMode="auto">
          <a:xfrm>
            <a:off x="251520" y="1916832"/>
            <a:ext cx="4800533" cy="3600400"/>
          </a:xfrm>
          <a:prstGeom prst="rect">
            <a:avLst/>
          </a:prstGeom>
          <a:noFill/>
          <a:ln w="9525">
            <a:noFill/>
            <a:miter lim="800000"/>
            <a:headEnd/>
            <a:tailEnd/>
          </a:ln>
        </p:spPr>
      </p:pic>
      <p:sp>
        <p:nvSpPr>
          <p:cNvPr id="7" name="矩形 6"/>
          <p:cNvSpPr/>
          <p:nvPr/>
        </p:nvSpPr>
        <p:spPr>
          <a:xfrm>
            <a:off x="539552" y="5733256"/>
            <a:ext cx="6912768" cy="400110"/>
          </a:xfrm>
          <a:prstGeom prst="rect">
            <a:avLst/>
          </a:prstGeom>
        </p:spPr>
        <p:txBody>
          <a:bodyPr wrap="square">
            <a:spAutoFit/>
          </a:bodyPr>
          <a:lstStyle/>
          <a:p>
            <a:r>
              <a:rPr lang="en-US" altLang="zh-CN" sz="2000" b="1" dirty="0" smtClean="0">
                <a:solidFill>
                  <a:srgbClr val="FF0000"/>
                </a:solidFill>
                <a:latin typeface="Arial" pitchFamily="34" charset="0"/>
                <a:ea typeface="黑体" pitchFamily="49" charset="-122"/>
                <a:cs typeface="Arial" pitchFamily="34" charset="0"/>
              </a:rPr>
              <a:t>Note: </a:t>
            </a:r>
            <a:r>
              <a:rPr lang="zh-CN" altLang="en-US" sz="2000" b="1" dirty="0" smtClean="0">
                <a:solidFill>
                  <a:srgbClr val="FF0000"/>
                </a:solidFill>
                <a:latin typeface="Arial" pitchFamily="34" charset="0"/>
                <a:ea typeface="黑体" pitchFamily="49" charset="-122"/>
                <a:cs typeface="Arial" pitchFamily="34" charset="0"/>
              </a:rPr>
              <a:t>近似正态分布也可以使用</a:t>
            </a:r>
            <a:r>
              <a:rPr lang="en-US" altLang="zh-CN" sz="2000" b="1" dirty="0" smtClean="0">
                <a:solidFill>
                  <a:srgbClr val="FF0000"/>
                </a:solidFill>
                <a:latin typeface="Arial" pitchFamily="34" charset="0"/>
                <a:ea typeface="黑体" pitchFamily="49" charset="-122"/>
                <a:cs typeface="Arial" pitchFamily="34" charset="0"/>
              </a:rPr>
              <a:t>t-test.</a:t>
            </a:r>
          </a:p>
        </p:txBody>
      </p:sp>
      <p:pic>
        <p:nvPicPr>
          <p:cNvPr id="74757" name="Picture 5"/>
          <p:cNvPicPr>
            <a:picLocks noChangeAspect="1" noChangeArrowheads="1"/>
          </p:cNvPicPr>
          <p:nvPr/>
        </p:nvPicPr>
        <p:blipFill>
          <a:blip r:embed="rId3" cstate="print"/>
          <a:srcRect/>
          <a:stretch>
            <a:fillRect/>
          </a:stretch>
        </p:blipFill>
        <p:spPr bwMode="auto">
          <a:xfrm>
            <a:off x="5231395" y="2708920"/>
            <a:ext cx="3661085" cy="194421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06090"/>
          </a:xfrm>
        </p:spPr>
        <p:txBody>
          <a:bodyPr/>
          <a:lstStyle/>
          <a:p>
            <a:r>
              <a:rPr lang="zh-CN" altLang="zh-CN" sz="2800" b="1" dirty="0" smtClean="0">
                <a:solidFill>
                  <a:srgbClr val="006600"/>
                </a:solidFill>
                <a:latin typeface="黑体" pitchFamily="49" charset="-122"/>
                <a:ea typeface="黑体" pitchFamily="49" charset="-122"/>
              </a:rPr>
              <a:t>检验正态性</a:t>
            </a:r>
            <a:r>
              <a:rPr lang="zh-CN" altLang="en-US" sz="2800" b="1" dirty="0" smtClean="0">
                <a:solidFill>
                  <a:srgbClr val="006600"/>
                </a:solidFill>
                <a:latin typeface="黑体" pitchFamily="49" charset="-122"/>
                <a:ea typeface="黑体" pitchFamily="49" charset="-122"/>
              </a:rPr>
              <a:t>分布</a:t>
            </a:r>
            <a:r>
              <a:rPr lang="zh-CN" altLang="zh-CN" sz="2800" b="1" dirty="0" smtClean="0">
                <a:solidFill>
                  <a:srgbClr val="006600"/>
                </a:solidFill>
                <a:latin typeface="黑体" pitchFamily="49" charset="-122"/>
                <a:ea typeface="黑体" pitchFamily="49" charset="-122"/>
              </a:rPr>
              <a:t>的一般方法</a:t>
            </a:r>
            <a:endParaRPr lang="zh-CN" altLang="en-US" sz="2800" dirty="0">
              <a:solidFill>
                <a:srgbClr val="006600"/>
              </a:solidFill>
              <a:latin typeface="黑体" pitchFamily="49" charset="-122"/>
              <a:ea typeface="黑体" pitchFamily="49" charset="-122"/>
            </a:endParaRPr>
          </a:p>
        </p:txBody>
      </p:sp>
      <p:sp>
        <p:nvSpPr>
          <p:cNvPr id="3" name="内容占位符 2"/>
          <p:cNvSpPr>
            <a:spLocks noGrp="1"/>
          </p:cNvSpPr>
          <p:nvPr>
            <p:ph idx="1"/>
          </p:nvPr>
        </p:nvSpPr>
        <p:spPr>
          <a:xfrm>
            <a:off x="179512" y="1196752"/>
            <a:ext cx="8496944" cy="2808312"/>
          </a:xfrm>
        </p:spPr>
        <p:txBody>
          <a:bodyPr/>
          <a:lstStyle/>
          <a:p>
            <a:pPr>
              <a:buFont typeface="Wingdings" pitchFamily="2" charset="2"/>
              <a:buChar char="n"/>
            </a:pPr>
            <a:r>
              <a:rPr lang="en-US" altLang="zh-CN" sz="2400" i="1" dirty="0" smtClean="0">
                <a:latin typeface="Arial" pitchFamily="34" charset="0"/>
                <a:ea typeface="黑体" pitchFamily="49" charset="-122"/>
                <a:cs typeface="Arial" pitchFamily="34" charset="0"/>
              </a:rPr>
              <a:t>X</a:t>
            </a:r>
            <a:r>
              <a:rPr lang="en-US" altLang="zh-CN" sz="2400" baseline="30000" dirty="0" smtClean="0">
                <a:latin typeface="Arial" pitchFamily="34" charset="0"/>
                <a:ea typeface="黑体" pitchFamily="49" charset="-122"/>
                <a:cs typeface="Arial" pitchFamily="34" charset="0"/>
              </a:rPr>
              <a:t>2</a:t>
            </a:r>
            <a:r>
              <a:rPr lang="en-US" altLang="zh-CN" sz="2400" dirty="0" smtClean="0">
                <a:latin typeface="Arial" pitchFamily="34" charset="0"/>
                <a:ea typeface="黑体" pitchFamily="49" charset="-122"/>
                <a:cs typeface="Arial" pitchFamily="34" charset="0"/>
              </a:rPr>
              <a:t>拟合优度检验</a:t>
            </a:r>
          </a:p>
          <a:p>
            <a:pPr>
              <a:buFont typeface="Wingdings" pitchFamily="2" charset="2"/>
              <a:buChar char="n"/>
            </a:pPr>
            <a:r>
              <a:rPr lang="en-US" altLang="zh-CN" sz="2400" dirty="0" err="1" smtClean="0">
                <a:solidFill>
                  <a:srgbClr val="C00000"/>
                </a:solidFill>
                <a:latin typeface="Arial" pitchFamily="34" charset="0"/>
                <a:ea typeface="黑体" pitchFamily="49" charset="-122"/>
                <a:cs typeface="Arial" pitchFamily="34" charset="0"/>
              </a:rPr>
              <a:t>Kolmogorov</a:t>
            </a:r>
            <a:r>
              <a:rPr lang="en-US" altLang="zh-CN" sz="2400" dirty="0" smtClean="0">
                <a:solidFill>
                  <a:srgbClr val="C00000"/>
                </a:solidFill>
                <a:latin typeface="Arial" pitchFamily="34" charset="0"/>
                <a:ea typeface="黑体" pitchFamily="49" charset="-122"/>
                <a:cs typeface="Arial" pitchFamily="34" charset="0"/>
              </a:rPr>
              <a:t>-Smirnov</a:t>
            </a:r>
            <a:r>
              <a:rPr lang="zh-CN" altLang="zh-CN" sz="2400" dirty="0" smtClean="0">
                <a:solidFill>
                  <a:srgbClr val="C00000"/>
                </a:solidFill>
                <a:latin typeface="Arial" pitchFamily="34" charset="0"/>
                <a:ea typeface="黑体" pitchFamily="49" charset="-122"/>
                <a:cs typeface="Arial" pitchFamily="34" charset="0"/>
              </a:rPr>
              <a:t>正态性检验</a:t>
            </a: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en-US" altLang="zh-CN" sz="2400" dirty="0" err="1" smtClean="0">
                <a:latin typeface="Arial" pitchFamily="34" charset="0"/>
                <a:ea typeface="黑体" pitchFamily="49" charset="-122"/>
                <a:cs typeface="Arial" pitchFamily="34" charset="0"/>
              </a:rPr>
              <a:t>Lilliefor</a:t>
            </a:r>
            <a:r>
              <a:rPr lang="zh-CN" altLang="zh-CN" sz="2400" dirty="0" smtClean="0">
                <a:latin typeface="Arial" pitchFamily="34" charset="0"/>
                <a:ea typeface="黑体" pitchFamily="49" charset="-122"/>
                <a:cs typeface="Arial" pitchFamily="34" charset="0"/>
              </a:rPr>
              <a:t>正态分布检验</a:t>
            </a: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zh-CN" altLang="zh-CN" sz="2400" dirty="0" smtClean="0">
                <a:latin typeface="Arial" pitchFamily="34" charset="0"/>
                <a:ea typeface="黑体" pitchFamily="49" charset="-122"/>
                <a:cs typeface="Arial" pitchFamily="34" charset="0"/>
              </a:rPr>
              <a:t>偏度峰度检验法</a:t>
            </a: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zh-CN" altLang="zh-CN" sz="2400" dirty="0" smtClean="0">
                <a:latin typeface="Arial" pitchFamily="34" charset="0"/>
                <a:ea typeface="黑体" pitchFamily="49" charset="-122"/>
                <a:cs typeface="Arial" pitchFamily="34" charset="0"/>
              </a:rPr>
              <a:t>小样本场合（</a:t>
            </a:r>
            <a:r>
              <a:rPr lang="en-US" altLang="zh-CN" sz="2400" dirty="0" smtClean="0">
                <a:latin typeface="Arial" pitchFamily="34" charset="0"/>
                <a:ea typeface="黑体" pitchFamily="49" charset="-122"/>
                <a:cs typeface="Arial" pitchFamily="34" charset="0"/>
              </a:rPr>
              <a:t>3&lt;n&lt;50</a:t>
            </a:r>
            <a:r>
              <a:rPr lang="zh-CN" altLang="zh-CN" sz="2400" dirty="0" smtClean="0">
                <a:latin typeface="Arial" pitchFamily="34" charset="0"/>
                <a:ea typeface="黑体" pitchFamily="49" charset="-122"/>
                <a:cs typeface="Arial" pitchFamily="34" charset="0"/>
              </a:rPr>
              <a:t>）的</a:t>
            </a:r>
            <a:r>
              <a:rPr lang="en-US" altLang="zh-CN" sz="2400" dirty="0" smtClean="0">
                <a:latin typeface="Arial" pitchFamily="34" charset="0"/>
                <a:ea typeface="黑体" pitchFamily="49" charset="-122"/>
                <a:cs typeface="Arial" pitchFamily="34" charset="0"/>
              </a:rPr>
              <a:t>W</a:t>
            </a:r>
            <a:r>
              <a:rPr lang="zh-CN" altLang="zh-CN" sz="2400" dirty="0" smtClean="0">
                <a:latin typeface="Arial" pitchFamily="34" charset="0"/>
                <a:ea typeface="黑体" pitchFamily="49" charset="-122"/>
                <a:cs typeface="Arial" pitchFamily="34" charset="0"/>
              </a:rPr>
              <a:t>检验</a:t>
            </a:r>
            <a:r>
              <a:rPr lang="zh-CN" altLang="en-US" sz="2400" dirty="0" smtClean="0">
                <a:latin typeface="Arial" pitchFamily="34" charset="0"/>
                <a:ea typeface="黑体" pitchFamily="49" charset="-122"/>
                <a:cs typeface="Arial" pitchFamily="34" charset="0"/>
              </a:rPr>
              <a:t>（</a:t>
            </a:r>
            <a:r>
              <a:rPr lang="en-US" altLang="zh-CN" sz="2400" dirty="0">
                <a:latin typeface="Arial" pitchFamily="34" charset="0"/>
                <a:ea typeface="黑体" pitchFamily="49" charset="-122"/>
                <a:cs typeface="Arial" pitchFamily="34" charset="0"/>
              </a:rPr>
              <a:t>Shapiro-Wilk</a:t>
            </a:r>
            <a:r>
              <a:rPr lang="zh-CN" altLang="en-US" sz="2400" dirty="0" smtClean="0">
                <a:latin typeface="Arial" pitchFamily="34" charset="0"/>
                <a:ea typeface="黑体" pitchFamily="49" charset="-122"/>
                <a:cs typeface="Arial" pitchFamily="34" charset="0"/>
              </a:rPr>
              <a:t>检验）</a:t>
            </a: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zh-CN" altLang="en-US" sz="2400" dirty="0" smtClean="0">
                <a:latin typeface="Arial" pitchFamily="34" charset="0"/>
                <a:ea typeface="黑体" pitchFamily="49" charset="-122"/>
                <a:cs typeface="Arial" pitchFamily="34" charset="0"/>
              </a:rPr>
              <a:t>大样本场合（</a:t>
            </a:r>
            <a:r>
              <a:rPr lang="en-US" altLang="zh-CN" sz="2400" dirty="0" smtClean="0">
                <a:latin typeface="Arial" pitchFamily="34" charset="0"/>
                <a:ea typeface="黑体" pitchFamily="49" charset="-122"/>
                <a:cs typeface="Arial" pitchFamily="34" charset="0"/>
              </a:rPr>
              <a:t>50&lt;n&lt;1000</a:t>
            </a:r>
            <a:r>
              <a:rPr lang="zh-CN" altLang="en-US" sz="2400" dirty="0" smtClean="0">
                <a:latin typeface="Arial" pitchFamily="34" charset="0"/>
                <a:ea typeface="黑体" pitchFamily="49" charset="-122"/>
                <a:cs typeface="Arial" pitchFamily="34" charset="0"/>
              </a:rPr>
              <a:t>）的</a:t>
            </a:r>
            <a:r>
              <a:rPr lang="en-US" altLang="zh-CN" sz="2400" dirty="0" smtClean="0">
                <a:latin typeface="Arial" pitchFamily="34" charset="0"/>
                <a:ea typeface="黑体" pitchFamily="49" charset="-122"/>
                <a:cs typeface="Arial" pitchFamily="34" charset="0"/>
              </a:rPr>
              <a:t>D</a:t>
            </a:r>
            <a:r>
              <a:rPr lang="zh-CN" altLang="en-US" sz="2400" dirty="0">
                <a:latin typeface="Arial" pitchFamily="34" charset="0"/>
                <a:ea typeface="黑体" pitchFamily="49" charset="-122"/>
                <a:cs typeface="Arial" pitchFamily="34" charset="0"/>
              </a:rPr>
              <a:t>检验（达戈斯蒂诺</a:t>
            </a:r>
            <a:r>
              <a:rPr lang="zh-CN" altLang="en-US" sz="2400" dirty="0" smtClean="0">
                <a:latin typeface="Arial" pitchFamily="34" charset="0"/>
                <a:ea typeface="黑体" pitchFamily="49" charset="-122"/>
                <a:cs typeface="Arial" pitchFamily="34" charset="0"/>
              </a:rPr>
              <a:t>检验）</a:t>
            </a:r>
            <a:endParaRPr lang="zh-CN" altLang="en-US" sz="2400" dirty="0">
              <a:latin typeface="Arial" pitchFamily="34" charset="0"/>
              <a:ea typeface="黑体" pitchFamily="49" charset="-122"/>
              <a:cs typeface="Arial"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10</a:t>
            </a:fld>
            <a:endParaRPr lang="zh-CN" altLang="en-US"/>
          </a:p>
        </p:txBody>
      </p:sp>
      <p:sp>
        <p:nvSpPr>
          <p:cNvPr id="5" name="矩形 4"/>
          <p:cNvSpPr/>
          <p:nvPr/>
        </p:nvSpPr>
        <p:spPr>
          <a:xfrm>
            <a:off x="179512" y="4653136"/>
            <a:ext cx="8784976" cy="1323439"/>
          </a:xfrm>
          <a:prstGeom prst="rect">
            <a:avLst/>
          </a:prstGeom>
        </p:spPr>
        <p:txBody>
          <a:bodyPr wrap="square">
            <a:spAutoFit/>
          </a:bodyPr>
          <a:lstStyle/>
          <a:p>
            <a:pPr>
              <a:buFont typeface="Arial" pitchFamily="34" charset="0"/>
              <a:buChar char="•"/>
            </a:pPr>
            <a:r>
              <a:rPr lang="zh-CN" altLang="en-US" sz="2000" dirty="0" smtClean="0">
                <a:solidFill>
                  <a:srgbClr val="000099"/>
                </a:solidFill>
                <a:latin typeface="Arial" pitchFamily="34" charset="0"/>
                <a:ea typeface="黑体" pitchFamily="49" charset="-122"/>
                <a:cs typeface="Arial" pitchFamily="34" charset="0"/>
              </a:rPr>
              <a:t> 一般通用的方法有</a:t>
            </a:r>
            <a:r>
              <a:rPr lang="en-US" altLang="zh-CN" sz="2000" i="1" dirty="0" smtClean="0">
                <a:solidFill>
                  <a:srgbClr val="000099"/>
                </a:solidFill>
                <a:latin typeface="Arial" pitchFamily="34" charset="0"/>
                <a:ea typeface="黑体" pitchFamily="49" charset="-122"/>
                <a:cs typeface="Arial" pitchFamily="34" charset="0"/>
              </a:rPr>
              <a:t>X</a:t>
            </a:r>
            <a:r>
              <a:rPr lang="en-US" altLang="zh-CN" sz="2000" baseline="30000" dirty="0" smtClean="0">
                <a:solidFill>
                  <a:srgbClr val="000099"/>
                </a:solidFill>
                <a:latin typeface="Arial" pitchFamily="34" charset="0"/>
                <a:ea typeface="黑体" pitchFamily="49" charset="-122"/>
                <a:cs typeface="Arial" pitchFamily="34" charset="0"/>
              </a:rPr>
              <a:t>2</a:t>
            </a:r>
            <a:r>
              <a:rPr lang="zh-CN" altLang="en-US" sz="2000" dirty="0" smtClean="0">
                <a:solidFill>
                  <a:srgbClr val="000099"/>
                </a:solidFill>
                <a:latin typeface="Arial" pitchFamily="34" charset="0"/>
                <a:ea typeface="黑体" pitchFamily="49" charset="-122"/>
                <a:cs typeface="Arial" pitchFamily="34" charset="0"/>
              </a:rPr>
              <a:t>检验以及</a:t>
            </a:r>
            <a:r>
              <a:rPr lang="en-US" altLang="zh-CN" sz="2000" dirty="0" smtClean="0">
                <a:solidFill>
                  <a:srgbClr val="000099"/>
                </a:solidFill>
                <a:latin typeface="Arial" pitchFamily="34" charset="0"/>
                <a:ea typeface="黑体" pitchFamily="49" charset="-122"/>
                <a:cs typeface="Arial" pitchFamily="34" charset="0"/>
              </a:rPr>
              <a:t>KS</a:t>
            </a:r>
            <a:r>
              <a:rPr lang="zh-CN" altLang="en-US" sz="2000" dirty="0" smtClean="0">
                <a:solidFill>
                  <a:srgbClr val="000099"/>
                </a:solidFill>
                <a:latin typeface="Arial" pitchFamily="34" charset="0"/>
                <a:ea typeface="黑体" pitchFamily="49" charset="-122"/>
                <a:cs typeface="Arial" pitchFamily="34" charset="0"/>
              </a:rPr>
              <a:t>检验，但检验精度不是很高； </a:t>
            </a:r>
            <a:endParaRPr lang="en-US" altLang="zh-CN" sz="2000" dirty="0" smtClean="0">
              <a:solidFill>
                <a:srgbClr val="000099"/>
              </a:solidFill>
              <a:latin typeface="Arial" pitchFamily="34" charset="0"/>
              <a:ea typeface="黑体" pitchFamily="49" charset="-122"/>
              <a:cs typeface="Arial" pitchFamily="34" charset="0"/>
            </a:endParaRPr>
          </a:p>
          <a:p>
            <a:pPr>
              <a:buFont typeface="Arial" pitchFamily="34" charset="0"/>
              <a:buChar char="•"/>
            </a:pPr>
            <a:r>
              <a:rPr lang="en-US" altLang="zh-CN" sz="2000" dirty="0" smtClean="0">
                <a:solidFill>
                  <a:srgbClr val="000099"/>
                </a:solidFill>
                <a:latin typeface="Arial" pitchFamily="34" charset="0"/>
                <a:ea typeface="黑体" pitchFamily="49" charset="-122"/>
                <a:cs typeface="Arial" pitchFamily="34" charset="0"/>
              </a:rPr>
              <a:t> W </a:t>
            </a:r>
            <a:r>
              <a:rPr lang="zh-CN" altLang="en-US" sz="2000" dirty="0" smtClean="0">
                <a:solidFill>
                  <a:srgbClr val="000099"/>
                </a:solidFill>
                <a:latin typeface="Arial" pitchFamily="34" charset="0"/>
                <a:ea typeface="黑体" pitchFamily="49" charset="-122"/>
                <a:cs typeface="Arial" pitchFamily="34" charset="0"/>
              </a:rPr>
              <a:t>检验对各种分布（特别对非对称分布）都很敏感；</a:t>
            </a:r>
            <a:endParaRPr lang="en-US" altLang="zh-CN" sz="2000" dirty="0" smtClean="0">
              <a:solidFill>
                <a:srgbClr val="000099"/>
              </a:solidFill>
              <a:latin typeface="Arial" pitchFamily="34" charset="0"/>
              <a:ea typeface="黑体" pitchFamily="49" charset="-122"/>
              <a:cs typeface="Arial" pitchFamily="34" charset="0"/>
            </a:endParaRPr>
          </a:p>
          <a:p>
            <a:pPr>
              <a:buFont typeface="Arial" pitchFamily="34" charset="0"/>
              <a:buChar char="•"/>
            </a:pPr>
            <a:r>
              <a:rPr lang="zh-CN" altLang="en-US" sz="2000" dirty="0" smtClean="0">
                <a:solidFill>
                  <a:srgbClr val="000099"/>
                </a:solidFill>
                <a:latin typeface="Arial" pitchFamily="34" charset="0"/>
                <a:ea typeface="黑体" pitchFamily="49" charset="-122"/>
                <a:cs typeface="Arial" pitchFamily="34" charset="0"/>
              </a:rPr>
              <a:t> 大样本情况下</a:t>
            </a:r>
            <a:r>
              <a:rPr lang="en-US" altLang="zh-CN" sz="2000" dirty="0" smtClean="0">
                <a:solidFill>
                  <a:srgbClr val="000099"/>
                </a:solidFill>
                <a:latin typeface="Arial" pitchFamily="34" charset="0"/>
                <a:ea typeface="黑体" pitchFamily="49" charset="-122"/>
                <a:cs typeface="Arial" pitchFamily="34" charset="0"/>
              </a:rPr>
              <a:t>D</a:t>
            </a:r>
            <a:r>
              <a:rPr lang="zh-CN" altLang="en-US" sz="2000" dirty="0" smtClean="0">
                <a:solidFill>
                  <a:srgbClr val="000099"/>
                </a:solidFill>
                <a:latin typeface="Arial" pitchFamily="34" charset="0"/>
                <a:ea typeface="黑体" pitchFamily="49" charset="-122"/>
                <a:cs typeface="Arial" pitchFamily="34" charset="0"/>
              </a:rPr>
              <a:t>检验是比较好的检验方法。但其他检验方法的功效性都是随着样本量的增大而增大的。</a:t>
            </a:r>
            <a:endParaRPr lang="zh-CN" altLang="en-US" sz="2000" dirty="0">
              <a:solidFill>
                <a:srgbClr val="000099"/>
              </a:solidFill>
              <a:latin typeface="Arial" pitchFamily="34" charset="0"/>
              <a:ea typeface="黑体" pitchFamily="49" charset="-122"/>
              <a:cs typeface="Arial"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562074"/>
          </a:xfrm>
        </p:spPr>
        <p:txBody>
          <a:bodyPr/>
          <a:lstStyle/>
          <a:p>
            <a:r>
              <a:rPr lang="zh-CN" altLang="en-US" sz="3200" b="1" dirty="0" smtClean="0">
                <a:solidFill>
                  <a:srgbClr val="0000CC"/>
                </a:solidFill>
                <a:latin typeface="Arial" pitchFamily="34" charset="0"/>
                <a:cs typeface="Arial" pitchFamily="34" charset="0"/>
              </a:rPr>
              <a:t>（</a:t>
            </a:r>
            <a:r>
              <a:rPr lang="en-US" altLang="zh-CN" sz="3200" b="1" dirty="0" smtClean="0">
                <a:solidFill>
                  <a:srgbClr val="0000CC"/>
                </a:solidFill>
                <a:latin typeface="Arial" pitchFamily="34" charset="0"/>
                <a:cs typeface="Arial" pitchFamily="34" charset="0"/>
              </a:rPr>
              <a:t>2</a:t>
            </a:r>
            <a:r>
              <a:rPr lang="zh-CN" altLang="en-US" sz="3200" b="1" dirty="0" smtClean="0">
                <a:solidFill>
                  <a:srgbClr val="0000CC"/>
                </a:solidFill>
                <a:latin typeface="Arial" pitchFamily="34" charset="0"/>
                <a:cs typeface="Arial" pitchFamily="34" charset="0"/>
              </a:rPr>
              <a:t>）</a:t>
            </a:r>
            <a:r>
              <a:rPr lang="en-US" altLang="zh-CN" sz="3200" b="1" dirty="0" smtClean="0">
                <a:solidFill>
                  <a:srgbClr val="0000CC"/>
                </a:solidFill>
                <a:latin typeface="Arial" pitchFamily="34" charset="0"/>
                <a:cs typeface="Arial" pitchFamily="34" charset="0"/>
              </a:rPr>
              <a:t>Wilcoxon rank sum test (unpaired)</a:t>
            </a:r>
            <a:endParaRPr lang="zh-CN" altLang="en-US" sz="3200" b="1" dirty="0">
              <a:solidFill>
                <a:srgbClr val="0000CC"/>
              </a:solidFill>
              <a:latin typeface="Arial" pitchFamily="34" charset="0"/>
              <a:cs typeface="Arial" pitchFamily="34" charset="0"/>
            </a:endParaRPr>
          </a:p>
        </p:txBody>
      </p:sp>
      <p:sp>
        <p:nvSpPr>
          <p:cNvPr id="3" name="内容占位符 2"/>
          <p:cNvSpPr>
            <a:spLocks noGrp="1"/>
          </p:cNvSpPr>
          <p:nvPr>
            <p:ph idx="1"/>
          </p:nvPr>
        </p:nvSpPr>
        <p:spPr>
          <a:xfrm>
            <a:off x="35496" y="1052736"/>
            <a:ext cx="9036496" cy="936104"/>
          </a:xfrm>
        </p:spPr>
        <p:txBody>
          <a:bodyPr/>
          <a:lstStyle/>
          <a:p>
            <a:pPr>
              <a:buFont typeface="Wingdings" pitchFamily="2" charset="2"/>
              <a:buChar char="n"/>
            </a:pPr>
            <a:r>
              <a:rPr lang="zh-CN" altLang="en-US" sz="2400" dirty="0" smtClean="0">
                <a:latin typeface="Arial" pitchFamily="34" charset="0"/>
                <a:ea typeface="黑体" pitchFamily="49" charset="-122"/>
                <a:cs typeface="Arial" pitchFamily="34" charset="0"/>
              </a:rPr>
              <a:t>如果不满足正态分布，则需要使用</a:t>
            </a:r>
            <a:r>
              <a:rPr lang="en-US" altLang="zh-CN" sz="2400" dirty="0" err="1" smtClean="0">
                <a:latin typeface="Arial" pitchFamily="34" charset="0"/>
                <a:ea typeface="黑体" pitchFamily="49" charset="-122"/>
                <a:cs typeface="Arial" pitchFamily="34" charset="0"/>
              </a:rPr>
              <a:t>Wilcoxon</a:t>
            </a:r>
            <a:r>
              <a:rPr lang="en-US" altLang="zh-CN" sz="2400" dirty="0" smtClean="0">
                <a:latin typeface="Arial" pitchFamily="34" charset="0"/>
                <a:ea typeface="黑体" pitchFamily="49" charset="-122"/>
                <a:cs typeface="Arial" pitchFamily="34" charset="0"/>
              </a:rPr>
              <a:t> test</a:t>
            </a:r>
            <a:r>
              <a:rPr lang="zh-CN" altLang="en-US" sz="2400" dirty="0" smtClean="0">
                <a:latin typeface="Arial" pitchFamily="34" charset="0"/>
                <a:ea typeface="黑体" pitchFamily="49" charset="-122"/>
                <a:cs typeface="Arial" pitchFamily="34" charset="0"/>
              </a:rPr>
              <a:t>（又称为</a:t>
            </a:r>
            <a:r>
              <a:rPr lang="en-US" altLang="zh-CN" sz="2400" dirty="0" smtClean="0">
                <a:solidFill>
                  <a:srgbClr val="000099"/>
                </a:solidFill>
                <a:latin typeface="Arial" pitchFamily="34" charset="0"/>
                <a:ea typeface="黑体" pitchFamily="49" charset="-122"/>
                <a:cs typeface="Arial" pitchFamily="34" charset="0"/>
              </a:rPr>
              <a:t>Mann-Whitney-U test</a:t>
            </a:r>
            <a:r>
              <a:rPr lang="zh-CN" altLang="en-US" sz="2400" b="1" dirty="0" smtClean="0">
                <a:latin typeface="Arial" pitchFamily="34" charset="0"/>
                <a:ea typeface="黑体" pitchFamily="49" charset="-122"/>
                <a:cs typeface="Arial" pitchFamily="34" charset="0"/>
              </a:rPr>
              <a:t>）；</a:t>
            </a:r>
            <a:endParaRPr lang="en-US" altLang="zh-CN" sz="2400" b="1" dirty="0" smtClean="0">
              <a:latin typeface="Arial" pitchFamily="34" charset="0"/>
              <a:ea typeface="黑体" pitchFamily="49" charset="-122"/>
              <a:cs typeface="Arial"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11</a:t>
            </a:fld>
            <a:endParaRPr lang="zh-CN" altLang="en-US" dirty="0"/>
          </a:p>
        </p:txBody>
      </p:sp>
      <p:pic>
        <p:nvPicPr>
          <p:cNvPr id="75778" name="Picture 2"/>
          <p:cNvPicPr>
            <a:picLocks noChangeAspect="1" noChangeArrowheads="1"/>
          </p:cNvPicPr>
          <p:nvPr/>
        </p:nvPicPr>
        <p:blipFill>
          <a:blip r:embed="rId2" cstate="print"/>
          <a:srcRect/>
          <a:stretch>
            <a:fillRect/>
          </a:stretch>
        </p:blipFill>
        <p:spPr bwMode="auto">
          <a:xfrm>
            <a:off x="35496" y="2204864"/>
            <a:ext cx="9035943" cy="2905014"/>
          </a:xfrm>
          <a:prstGeom prst="rect">
            <a:avLst/>
          </a:prstGeom>
          <a:noFill/>
          <a:ln w="9525">
            <a:noFill/>
            <a:miter lim="800000"/>
            <a:headEnd/>
            <a:tailEnd/>
          </a:ln>
        </p:spPr>
      </p:pic>
      <p:sp>
        <p:nvSpPr>
          <p:cNvPr id="7" name="矩形 6"/>
          <p:cNvSpPr/>
          <p:nvPr/>
        </p:nvSpPr>
        <p:spPr>
          <a:xfrm>
            <a:off x="323528" y="5517232"/>
            <a:ext cx="8640960" cy="646331"/>
          </a:xfrm>
          <a:prstGeom prst="rect">
            <a:avLst/>
          </a:prstGeom>
        </p:spPr>
        <p:txBody>
          <a:bodyPr wrap="square">
            <a:spAutoFit/>
          </a:bodyPr>
          <a:lstStyle/>
          <a:p>
            <a:r>
              <a:rPr lang="en-US" altLang="zh-CN" b="1" dirty="0" smtClean="0">
                <a:solidFill>
                  <a:srgbClr val="FF0000"/>
                </a:solidFill>
              </a:rPr>
              <a:t>Note: </a:t>
            </a:r>
            <a:r>
              <a:rPr lang="en-US" altLang="zh-CN" dirty="0" smtClean="0"/>
              <a:t>statistic is derived from actual ranks and not values. In above example, </a:t>
            </a:r>
            <a:r>
              <a:rPr lang="en-US" altLang="zh-CN" i="1" dirty="0" smtClean="0"/>
              <a:t>R(red)=1+3+4=8 =&gt; W(red)=8-6=2=&gt; W(black)=20-10=10.</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16632"/>
            <a:ext cx="8229600" cy="706090"/>
          </a:xfrm>
        </p:spPr>
        <p:txBody>
          <a:bodyPr/>
          <a:lstStyle/>
          <a:p>
            <a:r>
              <a:rPr lang="zh-CN" altLang="en-US" sz="3200" b="1" dirty="0" smtClean="0">
                <a:solidFill>
                  <a:srgbClr val="0000CC"/>
                </a:solidFill>
                <a:latin typeface="Arial" pitchFamily="34" charset="0"/>
                <a:ea typeface="黑体" pitchFamily="49" charset="-122"/>
                <a:cs typeface="Arial" pitchFamily="34" charset="0"/>
              </a:rPr>
              <a:t>（</a:t>
            </a:r>
            <a:r>
              <a:rPr lang="en-US" altLang="zh-CN" sz="3200" b="1" dirty="0" smtClean="0">
                <a:solidFill>
                  <a:srgbClr val="0000CC"/>
                </a:solidFill>
                <a:latin typeface="Arial" pitchFamily="34" charset="0"/>
                <a:ea typeface="黑体" pitchFamily="49" charset="-122"/>
                <a:cs typeface="Arial" pitchFamily="34" charset="0"/>
              </a:rPr>
              <a:t>3</a:t>
            </a:r>
            <a:r>
              <a:rPr lang="zh-CN" altLang="en-US" sz="3200" b="1" dirty="0" smtClean="0">
                <a:solidFill>
                  <a:srgbClr val="0000CC"/>
                </a:solidFill>
                <a:latin typeface="Arial" pitchFamily="34" charset="0"/>
                <a:ea typeface="黑体" pitchFamily="49" charset="-122"/>
                <a:cs typeface="Arial" pitchFamily="34" charset="0"/>
              </a:rPr>
              <a:t>）混淆矩阵、</a:t>
            </a:r>
            <a:r>
              <a:rPr lang="en-US" altLang="zh-CN" sz="3200" b="1" dirty="0" smtClean="0">
                <a:solidFill>
                  <a:srgbClr val="0000CC"/>
                </a:solidFill>
                <a:latin typeface="Arial" pitchFamily="34" charset="0"/>
                <a:ea typeface="黑体" pitchFamily="49" charset="-122"/>
                <a:cs typeface="Arial" pitchFamily="34" charset="0"/>
              </a:rPr>
              <a:t>ROC</a:t>
            </a:r>
            <a:r>
              <a:rPr lang="zh-CN" altLang="en-US" sz="3200" b="1" dirty="0" smtClean="0">
                <a:solidFill>
                  <a:srgbClr val="0000CC"/>
                </a:solidFill>
                <a:latin typeface="Arial" pitchFamily="34" charset="0"/>
                <a:ea typeface="黑体" pitchFamily="49" charset="-122"/>
                <a:cs typeface="Arial" pitchFamily="34" charset="0"/>
              </a:rPr>
              <a:t>曲线和</a:t>
            </a:r>
            <a:r>
              <a:rPr lang="en-US" altLang="zh-CN" sz="3200" b="1" dirty="0" smtClean="0">
                <a:solidFill>
                  <a:srgbClr val="0000CC"/>
                </a:solidFill>
                <a:latin typeface="Arial" pitchFamily="34" charset="0"/>
                <a:ea typeface="黑体" pitchFamily="49" charset="-122"/>
                <a:cs typeface="Arial" pitchFamily="34" charset="0"/>
              </a:rPr>
              <a:t>AUC</a:t>
            </a:r>
            <a:r>
              <a:rPr lang="zh-CN" altLang="en-US" sz="3200" b="1" dirty="0">
                <a:solidFill>
                  <a:srgbClr val="0000CC"/>
                </a:solidFill>
                <a:latin typeface="Arial" pitchFamily="34" charset="0"/>
                <a:ea typeface="黑体" pitchFamily="49" charset="-122"/>
                <a:cs typeface="Arial" pitchFamily="34" charset="0"/>
              </a:rPr>
              <a:t>面积</a:t>
            </a:r>
            <a:endParaRPr lang="zh-CN" altLang="en-US" sz="3200" dirty="0">
              <a:solidFill>
                <a:srgbClr val="0000CC"/>
              </a:solidFill>
              <a:latin typeface="Arial" pitchFamily="34" charset="0"/>
              <a:ea typeface="黑体" pitchFamily="49" charset="-122"/>
              <a:cs typeface="Arial" pitchFamily="34" charset="0"/>
            </a:endParaRPr>
          </a:p>
        </p:txBody>
      </p:sp>
      <p:sp>
        <p:nvSpPr>
          <p:cNvPr id="3" name="内容占位符 2"/>
          <p:cNvSpPr>
            <a:spLocks noGrp="1"/>
          </p:cNvSpPr>
          <p:nvPr>
            <p:ph idx="1"/>
          </p:nvPr>
        </p:nvSpPr>
        <p:spPr>
          <a:xfrm>
            <a:off x="0" y="1124743"/>
            <a:ext cx="9144000" cy="2804331"/>
          </a:xfrm>
        </p:spPr>
        <p:txBody>
          <a:bodyPr/>
          <a:lstStyle/>
          <a:p>
            <a:pPr>
              <a:buFont typeface="Wingdings" pitchFamily="2" charset="2"/>
              <a:buChar char="n"/>
            </a:pPr>
            <a:r>
              <a:rPr lang="zh-CN" altLang="en-US" sz="2400" dirty="0">
                <a:latin typeface="Arial" pitchFamily="34" charset="0"/>
                <a:ea typeface="黑体" pitchFamily="49" charset="-122"/>
                <a:cs typeface="Arial" pitchFamily="34" charset="0"/>
              </a:rPr>
              <a:t>二元</a:t>
            </a:r>
            <a:r>
              <a:rPr lang="zh-CN" altLang="en-US" sz="2400" dirty="0" smtClean="0">
                <a:latin typeface="Arial" pitchFamily="34" charset="0"/>
                <a:ea typeface="黑体" pitchFamily="49" charset="-122"/>
                <a:cs typeface="Arial" pitchFamily="34" charset="0"/>
              </a:rPr>
              <a:t>表型统计检验最常用</a:t>
            </a:r>
            <a:r>
              <a:rPr lang="zh-CN" altLang="en-US" sz="2400" dirty="0">
                <a:latin typeface="Arial" pitchFamily="34" charset="0"/>
                <a:ea typeface="黑体" pitchFamily="49" charset="-122"/>
                <a:cs typeface="Arial" pitchFamily="34" charset="0"/>
              </a:rPr>
              <a:t>的一个领域</a:t>
            </a:r>
            <a:r>
              <a:rPr lang="zh-CN" altLang="en-US" sz="2400" dirty="0" smtClean="0">
                <a:latin typeface="Arial" pitchFamily="34" charset="0"/>
                <a:ea typeface="黑体" pitchFamily="49" charset="-122"/>
                <a:cs typeface="Arial" pitchFamily="34" charset="0"/>
              </a:rPr>
              <a:t>是</a:t>
            </a:r>
            <a:r>
              <a:rPr lang="zh-CN" altLang="en-US" sz="2400" dirty="0" smtClean="0">
                <a:solidFill>
                  <a:srgbClr val="FF0000"/>
                </a:solidFill>
                <a:latin typeface="Arial" pitchFamily="34" charset="0"/>
                <a:ea typeface="黑体" pitchFamily="49" charset="-122"/>
                <a:cs typeface="Arial" pitchFamily="34" charset="0"/>
              </a:rPr>
              <a:t>分类型数据模型的评判</a:t>
            </a:r>
            <a:r>
              <a:rPr lang="zh-CN" altLang="en-US" sz="2400" dirty="0" smtClean="0">
                <a:latin typeface="Arial" pitchFamily="34" charset="0"/>
                <a:ea typeface="黑体" pitchFamily="49" charset="-122"/>
                <a:cs typeface="Arial" pitchFamily="34" charset="0"/>
              </a:rPr>
              <a:t>；</a:t>
            </a:r>
            <a:endParaRPr lang="en-US" altLang="zh-CN" sz="2400" b="1" dirty="0" smtClean="0">
              <a:solidFill>
                <a:srgbClr val="FF0000"/>
              </a:solidFill>
              <a:latin typeface="Arial" pitchFamily="34" charset="0"/>
              <a:ea typeface="黑体" pitchFamily="49" charset="-122"/>
              <a:cs typeface="Arial" pitchFamily="34" charset="0"/>
            </a:endParaRPr>
          </a:p>
          <a:p>
            <a:pPr marL="0" indent="0">
              <a:buNone/>
            </a:pPr>
            <a:endParaRPr lang="en-US" altLang="zh-CN" sz="2400" b="1" dirty="0" smtClean="0">
              <a:solidFill>
                <a:srgbClr val="FF0000"/>
              </a:solidFill>
              <a:latin typeface="Arial" pitchFamily="34" charset="0"/>
              <a:ea typeface="黑体" pitchFamily="49" charset="-122"/>
              <a:cs typeface="Arial" pitchFamily="34" charset="0"/>
            </a:endParaRPr>
          </a:p>
          <a:p>
            <a:pPr>
              <a:buFont typeface="Wingdings" pitchFamily="2" charset="2"/>
              <a:buChar char="n"/>
            </a:pPr>
            <a:r>
              <a:rPr lang="zh-CN" altLang="en-US" sz="2400" dirty="0">
                <a:latin typeface="Arial" pitchFamily="34" charset="0"/>
                <a:ea typeface="黑体" pitchFamily="49" charset="-122"/>
                <a:cs typeface="Arial" pitchFamily="34" charset="0"/>
              </a:rPr>
              <a:t>在分类型模型评判的指标中，常见的方法有如下三种</a:t>
            </a:r>
            <a:r>
              <a:rPr lang="zh-CN" altLang="en-US" sz="2400" dirty="0" smtClean="0">
                <a:latin typeface="Arial" pitchFamily="34" charset="0"/>
                <a:ea typeface="黑体" pitchFamily="49" charset="-122"/>
                <a:cs typeface="Arial" pitchFamily="34" charset="0"/>
              </a:rPr>
              <a:t>：</a:t>
            </a:r>
            <a:endParaRPr lang="zh-CN" altLang="en-US" sz="2400" dirty="0">
              <a:latin typeface="Arial" pitchFamily="34" charset="0"/>
              <a:ea typeface="黑体" pitchFamily="49" charset="-122"/>
              <a:cs typeface="Arial" pitchFamily="34" charset="0"/>
            </a:endParaRPr>
          </a:p>
          <a:p>
            <a:pPr lvl="1">
              <a:buFont typeface="Wingdings" pitchFamily="2" charset="2"/>
              <a:buChar char="n"/>
            </a:pPr>
            <a:r>
              <a:rPr lang="zh-CN" altLang="en-US" sz="2200" b="1" dirty="0">
                <a:solidFill>
                  <a:srgbClr val="C00000"/>
                </a:solidFill>
                <a:latin typeface="Arial" pitchFamily="34" charset="0"/>
                <a:ea typeface="黑体" pitchFamily="49" charset="-122"/>
                <a:cs typeface="Arial" pitchFamily="34" charset="0"/>
              </a:rPr>
              <a:t>混淆</a:t>
            </a:r>
            <a:r>
              <a:rPr lang="zh-CN" altLang="en-US" sz="2200" b="1" dirty="0" smtClean="0">
                <a:solidFill>
                  <a:srgbClr val="C00000"/>
                </a:solidFill>
                <a:latin typeface="Arial" pitchFamily="34" charset="0"/>
                <a:ea typeface="黑体" pitchFamily="49" charset="-122"/>
                <a:cs typeface="Arial" pitchFamily="34" charset="0"/>
              </a:rPr>
              <a:t>矩阵</a:t>
            </a:r>
            <a:endParaRPr lang="en-US" altLang="zh-CN" sz="2200" b="1" dirty="0" smtClean="0">
              <a:solidFill>
                <a:srgbClr val="C00000"/>
              </a:solidFill>
              <a:latin typeface="Arial" pitchFamily="34" charset="0"/>
              <a:ea typeface="黑体" pitchFamily="49" charset="-122"/>
              <a:cs typeface="Arial" pitchFamily="34" charset="0"/>
            </a:endParaRPr>
          </a:p>
          <a:p>
            <a:pPr lvl="1">
              <a:buFont typeface="Wingdings" pitchFamily="2" charset="2"/>
              <a:buChar char="n"/>
            </a:pPr>
            <a:r>
              <a:rPr lang="en-US" altLang="zh-CN" sz="2200" b="1" dirty="0" smtClean="0">
                <a:solidFill>
                  <a:srgbClr val="C00000"/>
                </a:solidFill>
                <a:latin typeface="Arial" pitchFamily="34" charset="0"/>
                <a:ea typeface="黑体" pitchFamily="49" charset="-122"/>
                <a:cs typeface="Arial" pitchFamily="34" charset="0"/>
              </a:rPr>
              <a:t>ROC</a:t>
            </a:r>
            <a:r>
              <a:rPr lang="zh-CN" altLang="en-US" sz="2200" b="1" dirty="0">
                <a:solidFill>
                  <a:srgbClr val="C00000"/>
                </a:solidFill>
                <a:latin typeface="Arial" pitchFamily="34" charset="0"/>
                <a:ea typeface="黑体" pitchFamily="49" charset="-122"/>
                <a:cs typeface="Arial" pitchFamily="34" charset="0"/>
              </a:rPr>
              <a:t>曲线</a:t>
            </a:r>
          </a:p>
          <a:p>
            <a:pPr lvl="1">
              <a:buFont typeface="Wingdings" pitchFamily="2" charset="2"/>
              <a:buChar char="n"/>
            </a:pPr>
            <a:r>
              <a:rPr lang="en-US" altLang="zh-CN" sz="2200" b="1" dirty="0">
                <a:solidFill>
                  <a:srgbClr val="C00000"/>
                </a:solidFill>
                <a:latin typeface="Arial" pitchFamily="34" charset="0"/>
                <a:ea typeface="黑体" pitchFamily="49" charset="-122"/>
                <a:cs typeface="Arial" pitchFamily="34" charset="0"/>
              </a:rPr>
              <a:t>AUC</a:t>
            </a:r>
            <a:r>
              <a:rPr lang="zh-CN" altLang="en-US" sz="2200" b="1" dirty="0">
                <a:solidFill>
                  <a:srgbClr val="C00000"/>
                </a:solidFill>
                <a:latin typeface="Arial" pitchFamily="34" charset="0"/>
                <a:ea typeface="黑体" pitchFamily="49" charset="-122"/>
                <a:cs typeface="Arial" pitchFamily="34" charset="0"/>
              </a:rPr>
              <a:t>面积</a:t>
            </a: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12</a:t>
            </a:fld>
            <a:endParaRPr lang="zh-CN" altLang="en-US"/>
          </a:p>
        </p:txBody>
      </p:sp>
      <p:pic>
        <p:nvPicPr>
          <p:cNvPr id="1026" name="Picture 2" descr="https://img-blog.csdn.net/20180531113257203?watermark/2/text/aHR0cHM6Ly9ibG9nLmNzZG4ubmV0L09yYW5nZV9TcG90dHlfQ2F0/font/5a6L5L2T/fontsize/400/fill/I0JBQkFCMA==/dissolve/7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7584" y="4441279"/>
            <a:ext cx="3362325" cy="17240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å¨é¢äºè§£ROCæ²çº¿"/>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42545" y="4276247"/>
            <a:ext cx="2137767" cy="20980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13</a:t>
            </a:fld>
            <a:endParaRPr lang="zh-CN" altLang="en-US"/>
          </a:p>
        </p:txBody>
      </p:sp>
      <p:sp>
        <p:nvSpPr>
          <p:cNvPr id="3" name="内容占位符 2"/>
          <p:cNvSpPr txBox="1">
            <a:spLocks/>
          </p:cNvSpPr>
          <p:nvPr/>
        </p:nvSpPr>
        <p:spPr>
          <a:xfrm>
            <a:off x="179510" y="764704"/>
            <a:ext cx="8784978" cy="2592288"/>
          </a:xfrm>
          <a:prstGeom prst="rect">
            <a:avLst/>
          </a:prstGeom>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Char char="n"/>
            </a:pPr>
            <a:r>
              <a:rPr lang="zh-CN" altLang="en-US" sz="2400" b="1" dirty="0" smtClean="0">
                <a:solidFill>
                  <a:srgbClr val="FF0000"/>
                </a:solidFill>
                <a:latin typeface="Arial" pitchFamily="34" charset="0"/>
                <a:ea typeface="黑体" pitchFamily="49" charset="-122"/>
                <a:cs typeface="Arial" pitchFamily="34" charset="0"/>
              </a:rPr>
              <a:t>混淆矩阵（</a:t>
            </a:r>
            <a:r>
              <a:rPr lang="en-US" altLang="zh-CN" sz="2400" b="1" dirty="0" smtClean="0">
                <a:solidFill>
                  <a:srgbClr val="FF0000"/>
                </a:solidFill>
                <a:latin typeface="Arial" pitchFamily="34" charset="0"/>
                <a:ea typeface="黑体" pitchFamily="49" charset="-122"/>
                <a:cs typeface="Arial" pitchFamily="34" charset="0"/>
              </a:rPr>
              <a:t>confusion matrix</a:t>
            </a:r>
            <a:r>
              <a:rPr lang="zh-CN" altLang="en-US" sz="2400" b="1" dirty="0" smtClean="0">
                <a:solidFill>
                  <a:srgbClr val="FF0000"/>
                </a:solidFill>
                <a:latin typeface="Arial" pitchFamily="34" charset="0"/>
                <a:ea typeface="黑体" pitchFamily="49" charset="-122"/>
                <a:cs typeface="Arial" pitchFamily="34" charset="0"/>
              </a:rPr>
              <a:t>）</a:t>
            </a:r>
            <a:r>
              <a:rPr lang="zh-CN" altLang="en-US" sz="2400" b="1" dirty="0" smtClean="0">
                <a:latin typeface="Arial" pitchFamily="34" charset="0"/>
                <a:ea typeface="黑体" pitchFamily="49" charset="-122"/>
                <a:cs typeface="Arial" pitchFamily="34" charset="0"/>
              </a:rPr>
              <a:t>又称误差矩阵，</a:t>
            </a:r>
            <a:r>
              <a:rPr lang="zh-CN" altLang="en-US" sz="2400" dirty="0" smtClean="0">
                <a:latin typeface="Arial" pitchFamily="34" charset="0"/>
                <a:ea typeface="黑体" pitchFamily="49" charset="-122"/>
                <a:cs typeface="Arial" pitchFamily="34" charset="0"/>
              </a:rPr>
              <a:t>是表示统计分析</a:t>
            </a:r>
            <a:r>
              <a:rPr lang="en-US" altLang="zh-CN" sz="2400" dirty="0" smtClean="0">
                <a:latin typeface="Arial" pitchFamily="34" charset="0"/>
                <a:ea typeface="黑体" pitchFamily="49" charset="-122"/>
                <a:cs typeface="Arial" pitchFamily="34" charset="0"/>
              </a:rPr>
              <a:t>/</a:t>
            </a:r>
            <a:r>
              <a:rPr lang="zh-CN" altLang="en-US" sz="2400" dirty="0" smtClean="0">
                <a:latin typeface="Arial" pitchFamily="34" charset="0"/>
                <a:ea typeface="黑体" pitchFamily="49" charset="-122"/>
                <a:cs typeface="Arial" pitchFamily="34" charset="0"/>
              </a:rPr>
              <a:t>预测精度评价的一种标准格式；</a:t>
            </a:r>
            <a:endParaRPr lang="en-US" altLang="zh-CN" sz="2400" dirty="0" smtClean="0">
              <a:latin typeface="Arial" pitchFamily="34" charset="0"/>
              <a:ea typeface="黑体" pitchFamily="49" charset="-122"/>
              <a:cs typeface="Arial" pitchFamily="34" charset="0"/>
            </a:endParaRPr>
          </a:p>
          <a:p>
            <a:pPr>
              <a:buFont typeface="Wingdings" pitchFamily="2" charset="2"/>
              <a:buChar char="n"/>
            </a:pPr>
            <a:endParaRPr lang="en-US" altLang="zh-CN" sz="2400" dirty="0">
              <a:latin typeface="Arial" pitchFamily="34" charset="0"/>
              <a:ea typeface="黑体" pitchFamily="49" charset="-122"/>
              <a:cs typeface="Arial" pitchFamily="34" charset="0"/>
            </a:endParaRPr>
          </a:p>
          <a:p>
            <a:pPr>
              <a:buFont typeface="Wingdings" pitchFamily="2" charset="2"/>
              <a:buChar char="n"/>
            </a:pPr>
            <a:r>
              <a:rPr lang="zh-CN" altLang="en-US" sz="2400" dirty="0" smtClean="0">
                <a:latin typeface="Arial" pitchFamily="34" charset="0"/>
                <a:ea typeface="黑体" pitchFamily="49" charset="-122"/>
                <a:cs typeface="Arial" pitchFamily="34" charset="0"/>
              </a:rPr>
              <a:t>混淆</a:t>
            </a:r>
            <a:r>
              <a:rPr lang="zh-CN" altLang="en-US" sz="2400" dirty="0">
                <a:latin typeface="Arial" pitchFamily="34" charset="0"/>
                <a:ea typeface="黑体" pitchFamily="49" charset="-122"/>
                <a:cs typeface="Arial" pitchFamily="34" charset="0"/>
              </a:rPr>
              <a:t>矩阵多用于判断</a:t>
            </a:r>
            <a:r>
              <a:rPr lang="zh-CN" altLang="en-US" sz="2400" dirty="0" smtClean="0">
                <a:latin typeface="Arial" pitchFamily="34" charset="0"/>
                <a:ea typeface="黑体" pitchFamily="49" charset="-122"/>
                <a:cs typeface="Arial" pitchFamily="34" charset="0"/>
              </a:rPr>
              <a:t>分类器的</a:t>
            </a:r>
            <a:r>
              <a:rPr lang="zh-CN" altLang="en-US" sz="2400" dirty="0">
                <a:latin typeface="Arial" pitchFamily="34" charset="0"/>
                <a:ea typeface="黑体" pitchFamily="49" charset="-122"/>
                <a:cs typeface="Arial" pitchFamily="34" charset="0"/>
              </a:rPr>
              <a:t>优劣</a:t>
            </a:r>
            <a:r>
              <a:rPr lang="zh-CN" altLang="en-US" sz="2400" dirty="0" smtClean="0">
                <a:latin typeface="Arial" pitchFamily="34" charset="0"/>
                <a:ea typeface="黑体" pitchFamily="49" charset="-122"/>
                <a:cs typeface="Arial" pitchFamily="34" charset="0"/>
              </a:rPr>
              <a:t>，如</a:t>
            </a:r>
            <a:r>
              <a:rPr lang="zh-CN" altLang="en-US" sz="2400" dirty="0">
                <a:latin typeface="Arial" pitchFamily="34" charset="0"/>
                <a:ea typeface="黑体" pitchFamily="49" charset="-122"/>
                <a:cs typeface="Arial" pitchFamily="34" charset="0"/>
              </a:rPr>
              <a:t>分类树（</a:t>
            </a:r>
            <a:r>
              <a:rPr lang="en-US" altLang="zh-CN" sz="2400" dirty="0">
                <a:latin typeface="Arial" pitchFamily="34" charset="0"/>
                <a:ea typeface="黑体" pitchFamily="49" charset="-122"/>
                <a:cs typeface="Arial" pitchFamily="34" charset="0"/>
              </a:rPr>
              <a:t>Classification Tree</a:t>
            </a:r>
            <a:r>
              <a:rPr lang="zh-CN" altLang="en-US" sz="2400" dirty="0">
                <a:latin typeface="Arial" pitchFamily="34" charset="0"/>
                <a:ea typeface="黑体" pitchFamily="49" charset="-122"/>
                <a:cs typeface="Arial" pitchFamily="34" charset="0"/>
              </a:rPr>
              <a:t>）、逻辑回归（</a:t>
            </a:r>
            <a:r>
              <a:rPr lang="en-US" altLang="zh-CN" sz="2400" dirty="0">
                <a:latin typeface="Arial" pitchFamily="34" charset="0"/>
                <a:ea typeface="黑体" pitchFamily="49" charset="-122"/>
                <a:cs typeface="Arial" pitchFamily="34" charset="0"/>
              </a:rPr>
              <a:t>Logistic Regression</a:t>
            </a:r>
            <a:r>
              <a:rPr lang="zh-CN" altLang="en-US" sz="2400" dirty="0">
                <a:latin typeface="Arial" pitchFamily="34" charset="0"/>
                <a:ea typeface="黑体" pitchFamily="49" charset="-122"/>
                <a:cs typeface="Arial" pitchFamily="34" charset="0"/>
              </a:rPr>
              <a:t>）、线性判别分析（</a:t>
            </a:r>
            <a:r>
              <a:rPr lang="en-US" altLang="zh-CN" sz="2400" dirty="0">
                <a:latin typeface="Arial" pitchFamily="34" charset="0"/>
                <a:ea typeface="黑体" pitchFamily="49" charset="-122"/>
                <a:cs typeface="Arial" pitchFamily="34" charset="0"/>
              </a:rPr>
              <a:t>Linear Discriminant Analysis</a:t>
            </a:r>
            <a:r>
              <a:rPr lang="zh-CN" altLang="en-US" sz="2400" dirty="0">
                <a:latin typeface="Arial" pitchFamily="34" charset="0"/>
                <a:ea typeface="黑体" pitchFamily="49" charset="-122"/>
                <a:cs typeface="Arial" pitchFamily="34" charset="0"/>
              </a:rPr>
              <a:t>）等</a:t>
            </a:r>
            <a:r>
              <a:rPr lang="zh-CN" altLang="en-US" sz="2400" dirty="0" smtClean="0">
                <a:latin typeface="Arial" pitchFamily="34" charset="0"/>
                <a:ea typeface="黑体" pitchFamily="49" charset="-122"/>
                <a:cs typeface="Arial" pitchFamily="34" charset="0"/>
              </a:rPr>
              <a:t>方法；</a:t>
            </a:r>
            <a:endParaRPr lang="zh-CN" altLang="en-US" sz="2400" dirty="0">
              <a:latin typeface="Arial" pitchFamily="34" charset="0"/>
              <a:ea typeface="黑体" pitchFamily="49" charset="-122"/>
              <a:cs typeface="Arial" pitchFamily="34" charset="0"/>
            </a:endParaRPr>
          </a:p>
        </p:txBody>
      </p:sp>
      <p:graphicFrame>
        <p:nvGraphicFramePr>
          <p:cNvPr id="4" name="表格 3"/>
          <p:cNvGraphicFramePr>
            <a:graphicFrameLocks noGrp="1"/>
          </p:cNvGraphicFramePr>
          <p:nvPr>
            <p:extLst>
              <p:ext uri="{D42A27DB-BD31-4B8C-83A1-F6EECF244321}">
                <p14:modId xmlns:p14="http://schemas.microsoft.com/office/powerpoint/2010/main" val="2530162099"/>
              </p:ext>
            </p:extLst>
          </p:nvPr>
        </p:nvGraphicFramePr>
        <p:xfrm>
          <a:off x="251518" y="4077072"/>
          <a:ext cx="8640962" cy="1725528"/>
        </p:xfrm>
        <a:graphic>
          <a:graphicData uri="http://schemas.openxmlformats.org/drawingml/2006/table">
            <a:tbl>
              <a:tblPr firstRow="1" bandRow="1">
                <a:tableStyleId>{2D5ABB26-0587-4C30-8999-92F81FD0307C}</a:tableStyleId>
              </a:tblPr>
              <a:tblGrid>
                <a:gridCol w="1622805">
                  <a:extLst>
                    <a:ext uri="{9D8B030D-6E8A-4147-A177-3AD203B41FA5}">
                      <a16:colId xmlns:a16="http://schemas.microsoft.com/office/drawing/2014/main" val="20000"/>
                    </a:ext>
                  </a:extLst>
                </a:gridCol>
                <a:gridCol w="3466899">
                  <a:extLst>
                    <a:ext uri="{9D8B030D-6E8A-4147-A177-3AD203B41FA5}">
                      <a16:colId xmlns:a16="http://schemas.microsoft.com/office/drawing/2014/main" val="20001"/>
                    </a:ext>
                  </a:extLst>
                </a:gridCol>
                <a:gridCol w="3551258">
                  <a:extLst>
                    <a:ext uri="{9D8B030D-6E8A-4147-A177-3AD203B41FA5}">
                      <a16:colId xmlns:a16="http://schemas.microsoft.com/office/drawing/2014/main" val="20002"/>
                    </a:ext>
                  </a:extLst>
                </a:gridCol>
              </a:tblGrid>
              <a:tr h="360040">
                <a:tc rowSpan="2">
                  <a:txBody>
                    <a:bodyPr/>
                    <a:lstStyle/>
                    <a:p>
                      <a:pPr algn="ctr"/>
                      <a:r>
                        <a:rPr lang="zh-CN" altLang="en-US" sz="2000" b="1" dirty="0" smtClean="0">
                          <a:latin typeface="Arial" pitchFamily="34" charset="0"/>
                          <a:ea typeface="黑体" pitchFamily="49" charset="-122"/>
                          <a:cs typeface="Arial" pitchFamily="34" charset="0"/>
                        </a:rPr>
                        <a:t>真实情况</a:t>
                      </a:r>
                      <a:endParaRPr lang="zh-CN" altLang="en-US" sz="2000" b="1" dirty="0">
                        <a:latin typeface="Arial" pitchFamily="34" charset="0"/>
                        <a:ea typeface="黑体" pitchFamily="49" charset="-122"/>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zh-CN" altLang="en-US" sz="2000" b="1" dirty="0" smtClean="0">
                          <a:latin typeface="Arial" pitchFamily="34" charset="0"/>
                          <a:ea typeface="黑体" pitchFamily="49" charset="-122"/>
                          <a:cs typeface="Arial" pitchFamily="34" charset="0"/>
                        </a:rPr>
                        <a:t>预测结果</a:t>
                      </a:r>
                      <a:endParaRPr lang="zh-CN" altLang="en-US" sz="2000" b="1" dirty="0">
                        <a:latin typeface="Arial" pitchFamily="34" charset="0"/>
                        <a:ea typeface="黑体" pitchFamily="49" charset="-122"/>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43096">
                <a:tc v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smtClean="0">
                          <a:latin typeface="Arial" pitchFamily="34" charset="0"/>
                          <a:ea typeface="黑体" pitchFamily="49" charset="-122"/>
                          <a:cs typeface="Arial" pitchFamily="34" charset="0"/>
                        </a:rPr>
                        <a:t>y=1</a:t>
                      </a:r>
                      <a:r>
                        <a:rPr lang="zh-CN" altLang="en-US" sz="2000" dirty="0" smtClean="0">
                          <a:latin typeface="Arial" pitchFamily="34" charset="0"/>
                          <a:ea typeface="黑体" pitchFamily="49" charset="-122"/>
                          <a:cs typeface="Arial" pitchFamily="34" charset="0"/>
                        </a:rPr>
                        <a:t>（良性）</a:t>
                      </a:r>
                      <a:endParaRPr lang="zh-CN" altLang="en-US" sz="2000" dirty="0">
                        <a:latin typeface="Arial" pitchFamily="34" charset="0"/>
                        <a:ea typeface="黑体" pitchFamily="49" charset="-122"/>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smtClean="0">
                          <a:latin typeface="Arial" pitchFamily="34" charset="0"/>
                          <a:ea typeface="黑体" pitchFamily="49" charset="-122"/>
                          <a:cs typeface="Arial" pitchFamily="34" charset="0"/>
                        </a:rPr>
                        <a:t>y=0</a:t>
                      </a:r>
                      <a:r>
                        <a:rPr lang="zh-CN" altLang="en-US" sz="2000" dirty="0" smtClean="0">
                          <a:latin typeface="Arial" pitchFamily="34" charset="0"/>
                          <a:ea typeface="黑体" pitchFamily="49" charset="-122"/>
                          <a:cs typeface="Arial" pitchFamily="34" charset="0"/>
                        </a:rPr>
                        <a:t>（恶性）</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4309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smtClean="0">
                          <a:latin typeface="Arial" pitchFamily="34" charset="0"/>
                          <a:ea typeface="黑体" pitchFamily="49" charset="-122"/>
                          <a:cs typeface="Arial" pitchFamily="34" charset="0"/>
                        </a:rPr>
                        <a:t>y=1</a:t>
                      </a:r>
                      <a:r>
                        <a:rPr lang="zh-CN" altLang="en-US" sz="2000" dirty="0" smtClean="0">
                          <a:latin typeface="Arial" pitchFamily="34" charset="0"/>
                          <a:ea typeface="黑体" pitchFamily="49" charset="-122"/>
                          <a:cs typeface="Arial" pitchFamily="34" charset="0"/>
                        </a:rPr>
                        <a:t>（良性）</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000" dirty="0" smtClean="0">
                          <a:latin typeface="Arial" pitchFamily="34" charset="0"/>
                          <a:ea typeface="黑体" pitchFamily="49" charset="-122"/>
                          <a:cs typeface="Arial" pitchFamily="34" charset="0"/>
                        </a:rPr>
                        <a:t>TP</a:t>
                      </a:r>
                      <a:r>
                        <a:rPr lang="zh-CN" altLang="en-US" sz="2000" dirty="0" smtClean="0">
                          <a:latin typeface="Arial" pitchFamily="34" charset="0"/>
                          <a:ea typeface="黑体" pitchFamily="49" charset="-122"/>
                          <a:cs typeface="Arial" pitchFamily="34" charset="0"/>
                        </a:rPr>
                        <a:t>（</a:t>
                      </a:r>
                      <a:r>
                        <a:rPr lang="en-US" altLang="zh-CN" sz="2000" dirty="0" smtClean="0">
                          <a:latin typeface="Arial" pitchFamily="34" charset="0"/>
                          <a:ea typeface="黑体" pitchFamily="49" charset="-122"/>
                          <a:cs typeface="Arial" pitchFamily="34" charset="0"/>
                        </a:rPr>
                        <a:t>true</a:t>
                      </a:r>
                      <a:r>
                        <a:rPr lang="en-US" altLang="zh-CN" sz="2000" baseline="0" dirty="0" smtClean="0">
                          <a:latin typeface="Arial" pitchFamily="34" charset="0"/>
                          <a:ea typeface="黑体" pitchFamily="49" charset="-122"/>
                          <a:cs typeface="Arial" pitchFamily="34" charset="0"/>
                        </a:rPr>
                        <a:t> positive</a:t>
                      </a:r>
                      <a:r>
                        <a:rPr lang="zh-CN" altLang="en-US" sz="2000" baseline="0" dirty="0" smtClean="0">
                          <a:latin typeface="Arial" pitchFamily="34" charset="0"/>
                          <a:ea typeface="黑体" pitchFamily="49" charset="-122"/>
                          <a:cs typeface="Arial" pitchFamily="34" charset="0"/>
                        </a:rPr>
                        <a:t>，</a:t>
                      </a:r>
                      <a:r>
                        <a:rPr lang="zh-CN" altLang="en-US" sz="2000" dirty="0" smtClean="0">
                          <a:latin typeface="Arial" pitchFamily="34" charset="0"/>
                          <a:ea typeface="黑体" pitchFamily="49" charset="-122"/>
                          <a:cs typeface="Arial" pitchFamily="34" charset="0"/>
                        </a:rPr>
                        <a:t>真正例）</a:t>
                      </a:r>
                      <a:endParaRPr lang="zh-CN" altLang="en-US" sz="2000" dirty="0">
                        <a:latin typeface="Arial" pitchFamily="34" charset="0"/>
                        <a:ea typeface="黑体" pitchFamily="49" charset="-122"/>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000" dirty="0" smtClean="0">
                          <a:latin typeface="Arial" pitchFamily="34" charset="0"/>
                          <a:ea typeface="黑体" pitchFamily="49" charset="-122"/>
                          <a:cs typeface="Arial" pitchFamily="34" charset="0"/>
                        </a:rPr>
                        <a:t>FN</a:t>
                      </a:r>
                      <a:r>
                        <a:rPr lang="zh-CN" altLang="en-US" sz="2000" dirty="0" smtClean="0">
                          <a:latin typeface="Arial" pitchFamily="34" charset="0"/>
                          <a:ea typeface="黑体" pitchFamily="49" charset="-122"/>
                          <a:cs typeface="Arial" pitchFamily="34" charset="0"/>
                        </a:rPr>
                        <a:t>（</a:t>
                      </a:r>
                      <a:r>
                        <a:rPr lang="en-US" altLang="zh-CN" sz="2000" dirty="0" smtClean="0">
                          <a:latin typeface="Arial" pitchFamily="34" charset="0"/>
                          <a:ea typeface="黑体" pitchFamily="49" charset="-122"/>
                          <a:cs typeface="Arial" pitchFamily="34" charset="0"/>
                        </a:rPr>
                        <a:t>false</a:t>
                      </a:r>
                      <a:r>
                        <a:rPr lang="en-US" altLang="zh-CN" sz="2000" baseline="0" dirty="0" smtClean="0">
                          <a:latin typeface="Arial" pitchFamily="34" charset="0"/>
                          <a:ea typeface="黑体" pitchFamily="49" charset="-122"/>
                          <a:cs typeface="Arial" pitchFamily="34" charset="0"/>
                        </a:rPr>
                        <a:t> negative</a:t>
                      </a:r>
                      <a:r>
                        <a:rPr lang="zh-CN" altLang="en-US" sz="2000" baseline="0" dirty="0" smtClean="0">
                          <a:latin typeface="Arial" pitchFamily="34" charset="0"/>
                          <a:ea typeface="黑体" pitchFamily="49" charset="-122"/>
                          <a:cs typeface="Arial" pitchFamily="34" charset="0"/>
                        </a:rPr>
                        <a:t>，</a:t>
                      </a:r>
                      <a:r>
                        <a:rPr lang="zh-CN" altLang="en-US" sz="2000" dirty="0" smtClean="0">
                          <a:latin typeface="Arial" pitchFamily="34" charset="0"/>
                          <a:ea typeface="黑体" pitchFamily="49" charset="-122"/>
                          <a:cs typeface="Arial" pitchFamily="34" charset="0"/>
                        </a:rPr>
                        <a:t>假反例）</a:t>
                      </a:r>
                      <a:endParaRPr lang="zh-CN" altLang="en-US" sz="2000" dirty="0">
                        <a:latin typeface="Arial" pitchFamily="34" charset="0"/>
                        <a:ea typeface="黑体" pitchFamily="49" charset="-122"/>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4309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smtClean="0">
                          <a:latin typeface="Arial" pitchFamily="34" charset="0"/>
                          <a:ea typeface="黑体" pitchFamily="49" charset="-122"/>
                          <a:cs typeface="Arial" pitchFamily="34" charset="0"/>
                        </a:rPr>
                        <a:t>y=0</a:t>
                      </a:r>
                      <a:r>
                        <a:rPr lang="zh-CN" altLang="en-US" sz="2000" dirty="0" smtClean="0">
                          <a:latin typeface="Arial" pitchFamily="34" charset="0"/>
                          <a:ea typeface="黑体" pitchFamily="49" charset="-122"/>
                          <a:cs typeface="Arial" pitchFamily="34" charset="0"/>
                        </a:rPr>
                        <a:t>（恶性）</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000" dirty="0" smtClean="0">
                          <a:latin typeface="Arial" pitchFamily="34" charset="0"/>
                          <a:ea typeface="黑体" pitchFamily="49" charset="-122"/>
                          <a:cs typeface="Arial" pitchFamily="34" charset="0"/>
                        </a:rPr>
                        <a:t>FP</a:t>
                      </a:r>
                      <a:r>
                        <a:rPr lang="zh-CN" altLang="en-US" sz="2000" dirty="0" smtClean="0">
                          <a:latin typeface="Arial" pitchFamily="34" charset="0"/>
                          <a:ea typeface="黑体" pitchFamily="49" charset="-122"/>
                          <a:cs typeface="Arial" pitchFamily="34" charset="0"/>
                        </a:rPr>
                        <a:t>（</a:t>
                      </a:r>
                      <a:r>
                        <a:rPr lang="en-US" altLang="zh-CN" sz="2000" dirty="0" smtClean="0">
                          <a:latin typeface="Arial" pitchFamily="34" charset="0"/>
                          <a:ea typeface="黑体" pitchFamily="49" charset="-122"/>
                          <a:cs typeface="Arial" pitchFamily="34" charset="0"/>
                        </a:rPr>
                        <a:t>false</a:t>
                      </a:r>
                      <a:r>
                        <a:rPr lang="en-US" altLang="zh-CN" sz="2000" baseline="0" dirty="0" smtClean="0">
                          <a:latin typeface="Arial" pitchFamily="34" charset="0"/>
                          <a:ea typeface="黑体" pitchFamily="49" charset="-122"/>
                          <a:cs typeface="Arial" pitchFamily="34" charset="0"/>
                        </a:rPr>
                        <a:t> positive</a:t>
                      </a:r>
                      <a:r>
                        <a:rPr lang="zh-CN" altLang="en-US" sz="2000" baseline="0" dirty="0" smtClean="0">
                          <a:latin typeface="Arial" pitchFamily="34" charset="0"/>
                          <a:ea typeface="黑体" pitchFamily="49" charset="-122"/>
                          <a:cs typeface="Arial" pitchFamily="34" charset="0"/>
                        </a:rPr>
                        <a:t>，</a:t>
                      </a:r>
                      <a:r>
                        <a:rPr lang="zh-CN" altLang="en-US" sz="2000" dirty="0" smtClean="0">
                          <a:latin typeface="Arial" pitchFamily="34" charset="0"/>
                          <a:ea typeface="黑体" pitchFamily="49" charset="-122"/>
                          <a:cs typeface="Arial" pitchFamily="34" charset="0"/>
                        </a:rPr>
                        <a:t>假正例）</a:t>
                      </a:r>
                      <a:endParaRPr lang="zh-CN" altLang="en-US" sz="2000" dirty="0">
                        <a:latin typeface="Arial" pitchFamily="34" charset="0"/>
                        <a:ea typeface="黑体" pitchFamily="49" charset="-122"/>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000" dirty="0" smtClean="0">
                          <a:latin typeface="Arial" pitchFamily="34" charset="0"/>
                          <a:ea typeface="黑体" pitchFamily="49" charset="-122"/>
                          <a:cs typeface="Arial" pitchFamily="34" charset="0"/>
                        </a:rPr>
                        <a:t>TN</a:t>
                      </a:r>
                      <a:r>
                        <a:rPr lang="zh-CN" altLang="en-US" sz="2000" dirty="0" smtClean="0">
                          <a:latin typeface="Arial" pitchFamily="34" charset="0"/>
                          <a:ea typeface="黑体" pitchFamily="49" charset="-122"/>
                          <a:cs typeface="Arial" pitchFamily="34" charset="0"/>
                        </a:rPr>
                        <a:t>（</a:t>
                      </a:r>
                      <a:r>
                        <a:rPr lang="en-US" altLang="zh-CN" sz="2000" dirty="0" smtClean="0">
                          <a:latin typeface="Arial" pitchFamily="34" charset="0"/>
                          <a:ea typeface="黑体" pitchFamily="49" charset="-122"/>
                          <a:cs typeface="Arial" pitchFamily="34" charset="0"/>
                        </a:rPr>
                        <a:t>true </a:t>
                      </a:r>
                      <a:r>
                        <a:rPr lang="en-US" altLang="zh-CN" sz="2000" baseline="0" dirty="0" smtClean="0">
                          <a:latin typeface="Arial" pitchFamily="34" charset="0"/>
                          <a:ea typeface="黑体" pitchFamily="49" charset="-122"/>
                          <a:cs typeface="Arial" pitchFamily="34" charset="0"/>
                        </a:rPr>
                        <a:t>negative</a:t>
                      </a:r>
                      <a:r>
                        <a:rPr lang="zh-CN" altLang="en-US" sz="2000" baseline="0" dirty="0" smtClean="0">
                          <a:latin typeface="Arial" pitchFamily="34" charset="0"/>
                          <a:ea typeface="黑体" pitchFamily="49" charset="-122"/>
                          <a:cs typeface="Arial" pitchFamily="34" charset="0"/>
                        </a:rPr>
                        <a:t>，</a:t>
                      </a:r>
                      <a:r>
                        <a:rPr lang="zh-CN" altLang="en-US" sz="2000" dirty="0" smtClean="0">
                          <a:latin typeface="Arial" pitchFamily="34" charset="0"/>
                          <a:ea typeface="黑体" pitchFamily="49" charset="-122"/>
                          <a:cs typeface="Arial" pitchFamily="34" charset="0"/>
                        </a:rPr>
                        <a:t>真反例）</a:t>
                      </a:r>
                      <a:endParaRPr lang="zh-CN" altLang="en-US" sz="2000" dirty="0">
                        <a:latin typeface="Arial" pitchFamily="34" charset="0"/>
                        <a:ea typeface="黑体" pitchFamily="49" charset="-122"/>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矩形 4"/>
          <p:cNvSpPr/>
          <p:nvPr/>
        </p:nvSpPr>
        <p:spPr>
          <a:xfrm>
            <a:off x="251518" y="3225170"/>
            <a:ext cx="8640962" cy="707886"/>
          </a:xfrm>
          <a:prstGeom prst="rect">
            <a:avLst/>
          </a:prstGeom>
        </p:spPr>
        <p:txBody>
          <a:bodyPr wrap="square">
            <a:spAutoFit/>
          </a:bodyPr>
          <a:lstStyle/>
          <a:p>
            <a:r>
              <a:rPr lang="zh-CN" altLang="en-US" sz="2000" dirty="0">
                <a:solidFill>
                  <a:srgbClr val="0000CC"/>
                </a:solidFill>
                <a:latin typeface="Arial" pitchFamily="34" charset="0"/>
                <a:ea typeface="黑体" pitchFamily="49" charset="-122"/>
                <a:cs typeface="Arial" pitchFamily="34" charset="0"/>
              </a:rPr>
              <a:t>假设给定一些患者的样本，构建一个模型来分析肿瘤是不是恶性的：</a:t>
            </a:r>
            <a:r>
              <a:rPr lang="en-US" altLang="zh-CN" sz="2000" dirty="0">
                <a:solidFill>
                  <a:srgbClr val="0000CC"/>
                </a:solidFill>
                <a:latin typeface="Arial" pitchFamily="34" charset="0"/>
                <a:ea typeface="黑体" pitchFamily="49" charset="-122"/>
                <a:cs typeface="Arial" pitchFamily="34" charset="0"/>
              </a:rPr>
              <a:t>y=1</a:t>
            </a:r>
            <a:r>
              <a:rPr lang="zh-CN" altLang="en-US" sz="2000" dirty="0">
                <a:solidFill>
                  <a:srgbClr val="0000CC"/>
                </a:solidFill>
                <a:latin typeface="Arial" pitchFamily="34" charset="0"/>
                <a:ea typeface="黑体" pitchFamily="49" charset="-122"/>
                <a:cs typeface="Arial" pitchFamily="34" charset="0"/>
              </a:rPr>
              <a:t>表示良性，</a:t>
            </a:r>
            <a:r>
              <a:rPr lang="en-US" altLang="zh-CN" sz="2000" dirty="0">
                <a:solidFill>
                  <a:srgbClr val="0000CC"/>
                </a:solidFill>
                <a:latin typeface="Arial" pitchFamily="34" charset="0"/>
                <a:ea typeface="黑体" pitchFamily="49" charset="-122"/>
                <a:cs typeface="Arial" pitchFamily="34" charset="0"/>
              </a:rPr>
              <a:t>y=0</a:t>
            </a:r>
            <a:r>
              <a:rPr lang="zh-CN" altLang="en-US" sz="2000" dirty="0">
                <a:solidFill>
                  <a:srgbClr val="0000CC"/>
                </a:solidFill>
                <a:latin typeface="Arial" pitchFamily="34" charset="0"/>
                <a:ea typeface="黑体" pitchFamily="49" charset="-122"/>
                <a:cs typeface="Arial" pitchFamily="34" charset="0"/>
              </a:rPr>
              <a:t>表示恶性；</a:t>
            </a:r>
          </a:p>
        </p:txBody>
      </p:sp>
      <p:sp>
        <p:nvSpPr>
          <p:cNvPr id="6" name="矩形 5"/>
          <p:cNvSpPr/>
          <p:nvPr/>
        </p:nvSpPr>
        <p:spPr>
          <a:xfrm>
            <a:off x="3131840" y="188640"/>
            <a:ext cx="1987409" cy="523220"/>
          </a:xfrm>
          <a:prstGeom prst="rect">
            <a:avLst/>
          </a:prstGeom>
        </p:spPr>
        <p:txBody>
          <a:bodyPr wrap="square">
            <a:spAutoFit/>
          </a:bodyPr>
          <a:lstStyle/>
          <a:p>
            <a:pPr algn="ctr"/>
            <a:r>
              <a:rPr lang="zh-CN" altLang="en-US" sz="2800" b="1" u="sng" dirty="0">
                <a:solidFill>
                  <a:srgbClr val="C00000"/>
                </a:solidFill>
                <a:latin typeface="Arial" pitchFamily="34" charset="0"/>
                <a:ea typeface="黑体" pitchFamily="49" charset="-122"/>
                <a:cs typeface="Arial" pitchFamily="34" charset="0"/>
              </a:rPr>
              <a:t>混淆矩阵</a:t>
            </a:r>
            <a:endParaRPr lang="zh-CN" altLang="en-US" sz="2800" u="sng" dirty="0">
              <a:solidFill>
                <a:srgbClr val="C00000"/>
              </a:solidFill>
            </a:endParaRPr>
          </a:p>
        </p:txBody>
      </p:sp>
    </p:spTree>
    <p:extLst>
      <p:ext uri="{BB962C8B-B14F-4D97-AF65-F5344CB8AC3E}">
        <p14:creationId xmlns:p14="http://schemas.microsoft.com/office/powerpoint/2010/main" val="196097296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14</a:t>
            </a:fld>
            <a:endParaRPr lang="zh-CN" altLang="en-US"/>
          </a:p>
        </p:txBody>
      </p:sp>
      <p:sp>
        <p:nvSpPr>
          <p:cNvPr id="6" name="内容占位符 2"/>
          <p:cNvSpPr txBox="1">
            <a:spLocks/>
          </p:cNvSpPr>
          <p:nvPr/>
        </p:nvSpPr>
        <p:spPr>
          <a:xfrm>
            <a:off x="107504" y="332656"/>
            <a:ext cx="8856984" cy="2736304"/>
          </a:xfrm>
          <a:prstGeom prst="rect">
            <a:avLst/>
          </a:prstGeom>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Char char="n"/>
            </a:pPr>
            <a:r>
              <a:rPr lang="zh-CN" altLang="en-US" sz="2400" dirty="0" smtClean="0">
                <a:latin typeface="Arial" pitchFamily="34" charset="0"/>
                <a:ea typeface="黑体" pitchFamily="49" charset="-122"/>
                <a:cs typeface="Arial" pitchFamily="34" charset="0"/>
              </a:rPr>
              <a:t>混淆</a:t>
            </a:r>
            <a:r>
              <a:rPr lang="zh-CN" altLang="en-US" sz="2400" dirty="0">
                <a:latin typeface="Arial" pitchFamily="34" charset="0"/>
                <a:ea typeface="黑体" pitchFamily="49" charset="-122"/>
                <a:cs typeface="Arial" pitchFamily="34" charset="0"/>
              </a:rPr>
              <a:t>矩阵的</a:t>
            </a:r>
            <a:r>
              <a:rPr lang="zh-CN" altLang="en-US" sz="2400" b="1" dirty="0" smtClean="0">
                <a:solidFill>
                  <a:srgbClr val="FF0000"/>
                </a:solidFill>
                <a:latin typeface="Arial" pitchFamily="34" charset="0"/>
                <a:ea typeface="黑体" pitchFamily="49" charset="-122"/>
                <a:cs typeface="Arial" pitchFamily="34" charset="0"/>
              </a:rPr>
              <a:t>二</a:t>
            </a:r>
            <a:r>
              <a:rPr lang="zh-CN" altLang="en-US" sz="2400" b="1" dirty="0">
                <a:solidFill>
                  <a:srgbClr val="FF0000"/>
                </a:solidFill>
                <a:latin typeface="Arial" pitchFamily="34" charset="0"/>
                <a:ea typeface="黑体" pitchFamily="49" charset="-122"/>
                <a:cs typeface="Arial" pitchFamily="34" charset="0"/>
              </a:rPr>
              <a:t>级</a:t>
            </a:r>
            <a:r>
              <a:rPr lang="zh-CN" altLang="en-US" sz="2400" b="1" dirty="0" smtClean="0">
                <a:solidFill>
                  <a:srgbClr val="FF0000"/>
                </a:solidFill>
                <a:latin typeface="Arial" pitchFamily="34" charset="0"/>
                <a:ea typeface="黑体" pitchFamily="49" charset="-122"/>
                <a:cs typeface="Arial" pitchFamily="34" charset="0"/>
              </a:rPr>
              <a:t>指标</a:t>
            </a:r>
            <a:r>
              <a:rPr lang="zh-CN" altLang="en-US" sz="2400" dirty="0">
                <a:latin typeface="Arial" pitchFamily="34" charset="0"/>
                <a:ea typeface="黑体" pitchFamily="49" charset="-122"/>
                <a:cs typeface="Arial" pitchFamily="34" charset="0"/>
              </a:rPr>
              <a:t>：</a:t>
            </a:r>
            <a:r>
              <a:rPr lang="zh-CN" altLang="en-US" sz="2400" dirty="0" smtClean="0">
                <a:latin typeface="Arial" pitchFamily="34" charset="0"/>
                <a:ea typeface="黑体" pitchFamily="49" charset="-122"/>
                <a:cs typeface="Arial" pitchFamily="34" charset="0"/>
              </a:rPr>
              <a:t>在基本统计结果基础上，又</a:t>
            </a:r>
            <a:r>
              <a:rPr lang="zh-CN" altLang="en-US" sz="2400" dirty="0">
                <a:latin typeface="Arial" pitchFamily="34" charset="0"/>
                <a:ea typeface="黑体" pitchFamily="49" charset="-122"/>
                <a:cs typeface="Arial" pitchFamily="34" charset="0"/>
              </a:rPr>
              <a:t>延伸</a:t>
            </a:r>
            <a:r>
              <a:rPr lang="zh-CN" altLang="en-US" sz="2400" dirty="0" smtClean="0">
                <a:latin typeface="Arial" pitchFamily="34" charset="0"/>
                <a:ea typeface="黑体" pitchFamily="49" charset="-122"/>
                <a:cs typeface="Arial" pitchFamily="34" charset="0"/>
              </a:rPr>
              <a:t>了</a:t>
            </a:r>
            <a:r>
              <a:rPr lang="en-US" altLang="zh-CN" sz="2400" dirty="0" smtClean="0">
                <a:latin typeface="Arial" pitchFamily="34" charset="0"/>
                <a:ea typeface="黑体" pitchFamily="49" charset="-122"/>
                <a:cs typeface="Arial" pitchFamily="34" charset="0"/>
              </a:rPr>
              <a:t>4</a:t>
            </a:r>
            <a:r>
              <a:rPr lang="zh-CN" altLang="en-US" sz="2400" dirty="0" smtClean="0">
                <a:latin typeface="Arial" pitchFamily="34" charset="0"/>
                <a:ea typeface="黑体" pitchFamily="49" charset="-122"/>
                <a:cs typeface="Arial" pitchFamily="34" charset="0"/>
              </a:rPr>
              <a:t>个常用的二级指标，可以</a:t>
            </a:r>
            <a:r>
              <a:rPr lang="zh-CN" altLang="en-US" sz="2400" dirty="0">
                <a:latin typeface="Arial" pitchFamily="34" charset="0"/>
                <a:ea typeface="黑体" pitchFamily="49" charset="-122"/>
                <a:cs typeface="Arial" pitchFamily="34" charset="0"/>
              </a:rPr>
              <a:t>将混淆矩阵中数量的结果转化为</a:t>
            </a:r>
            <a:r>
              <a:rPr lang="en-US" altLang="zh-CN" sz="2400" dirty="0">
                <a:latin typeface="Arial" pitchFamily="34" charset="0"/>
                <a:ea typeface="黑体" pitchFamily="49" charset="-122"/>
                <a:cs typeface="Arial" pitchFamily="34" charset="0"/>
              </a:rPr>
              <a:t>0-1</a:t>
            </a:r>
            <a:r>
              <a:rPr lang="zh-CN" altLang="en-US" sz="2400" dirty="0">
                <a:latin typeface="Arial" pitchFamily="34" charset="0"/>
                <a:ea typeface="黑体" pitchFamily="49" charset="-122"/>
                <a:cs typeface="Arial" pitchFamily="34" charset="0"/>
              </a:rPr>
              <a:t>之间的</a:t>
            </a:r>
            <a:r>
              <a:rPr lang="zh-CN" altLang="en-US" sz="2400" dirty="0" smtClean="0">
                <a:latin typeface="Arial" pitchFamily="34" charset="0"/>
                <a:ea typeface="黑体" pitchFamily="49" charset="-122"/>
                <a:cs typeface="Arial" pitchFamily="34" charset="0"/>
              </a:rPr>
              <a:t>比率，便于</a:t>
            </a:r>
            <a:r>
              <a:rPr lang="zh-CN" altLang="en-US" sz="2400" dirty="0">
                <a:latin typeface="Arial" pitchFamily="34" charset="0"/>
                <a:ea typeface="黑体" pitchFamily="49" charset="-122"/>
                <a:cs typeface="Arial" pitchFamily="34" charset="0"/>
              </a:rPr>
              <a:t>进行标准化的</a:t>
            </a:r>
            <a:r>
              <a:rPr lang="zh-CN" altLang="en-US" sz="2400" dirty="0" smtClean="0">
                <a:latin typeface="Arial" pitchFamily="34" charset="0"/>
                <a:ea typeface="黑体" pitchFamily="49" charset="-122"/>
                <a:cs typeface="Arial" pitchFamily="34" charset="0"/>
              </a:rPr>
              <a:t>衡量；</a:t>
            </a:r>
            <a:endParaRPr lang="en-US" altLang="zh-CN" sz="2400" dirty="0" smtClean="0">
              <a:latin typeface="Arial" pitchFamily="34" charset="0"/>
              <a:ea typeface="黑体" pitchFamily="49" charset="-122"/>
              <a:cs typeface="Arial" pitchFamily="34" charset="0"/>
            </a:endParaRPr>
          </a:p>
          <a:p>
            <a:pPr lvl="1">
              <a:buFont typeface="Wingdings" pitchFamily="2" charset="2"/>
              <a:buChar char="n"/>
            </a:pPr>
            <a:r>
              <a:rPr lang="zh-CN" altLang="en-US" sz="2000" dirty="0" smtClean="0">
                <a:solidFill>
                  <a:srgbClr val="FF0000"/>
                </a:solidFill>
                <a:latin typeface="Arial" pitchFamily="34" charset="0"/>
                <a:ea typeface="黑体" pitchFamily="49" charset="-122"/>
                <a:cs typeface="Arial" pitchFamily="34" charset="0"/>
              </a:rPr>
              <a:t>准确率</a:t>
            </a:r>
            <a:r>
              <a:rPr lang="zh-CN" altLang="en-US" sz="2000" dirty="0">
                <a:solidFill>
                  <a:srgbClr val="FF0000"/>
                </a:solidFill>
                <a:latin typeface="Arial" pitchFamily="34" charset="0"/>
                <a:ea typeface="黑体" pitchFamily="49" charset="-122"/>
                <a:cs typeface="Arial" pitchFamily="34" charset="0"/>
              </a:rPr>
              <a:t>（</a:t>
            </a:r>
            <a:r>
              <a:rPr lang="en-US" altLang="zh-CN" sz="2000" dirty="0">
                <a:solidFill>
                  <a:srgbClr val="FF0000"/>
                </a:solidFill>
                <a:latin typeface="Arial" pitchFamily="34" charset="0"/>
                <a:ea typeface="黑体" pitchFamily="49" charset="-122"/>
                <a:cs typeface="Arial" pitchFamily="34" charset="0"/>
              </a:rPr>
              <a:t>Accuracy</a:t>
            </a:r>
            <a:r>
              <a:rPr lang="zh-CN" altLang="en-US" sz="2000" dirty="0" smtClean="0">
                <a:solidFill>
                  <a:srgbClr val="FF0000"/>
                </a:solidFill>
                <a:latin typeface="Arial" pitchFamily="34" charset="0"/>
                <a:ea typeface="黑体" pitchFamily="49" charset="-122"/>
                <a:cs typeface="Arial" pitchFamily="34" charset="0"/>
              </a:rPr>
              <a:t>）</a:t>
            </a:r>
            <a:endParaRPr lang="en-US" altLang="zh-CN" sz="2000" dirty="0" smtClean="0">
              <a:solidFill>
                <a:srgbClr val="FF0000"/>
              </a:solidFill>
              <a:latin typeface="Arial" pitchFamily="34" charset="0"/>
              <a:ea typeface="黑体" pitchFamily="49" charset="-122"/>
              <a:cs typeface="Arial" pitchFamily="34" charset="0"/>
            </a:endParaRPr>
          </a:p>
          <a:p>
            <a:pPr lvl="1">
              <a:buFont typeface="Wingdings" pitchFamily="2" charset="2"/>
              <a:buChar char="n"/>
            </a:pPr>
            <a:r>
              <a:rPr lang="zh-CN" altLang="en-US" sz="2000" dirty="0" smtClean="0">
                <a:solidFill>
                  <a:srgbClr val="FF0000"/>
                </a:solidFill>
                <a:latin typeface="Arial" pitchFamily="34" charset="0"/>
                <a:ea typeface="黑体" pitchFamily="49" charset="-122"/>
                <a:cs typeface="Arial" pitchFamily="34" charset="0"/>
              </a:rPr>
              <a:t>精确</a:t>
            </a:r>
            <a:r>
              <a:rPr lang="zh-CN" altLang="en-US" sz="2000" dirty="0">
                <a:solidFill>
                  <a:srgbClr val="FF0000"/>
                </a:solidFill>
                <a:latin typeface="Arial" pitchFamily="34" charset="0"/>
                <a:ea typeface="黑体" pitchFamily="49" charset="-122"/>
                <a:cs typeface="Arial" pitchFamily="34" charset="0"/>
              </a:rPr>
              <a:t>率（</a:t>
            </a:r>
            <a:r>
              <a:rPr lang="en-US" altLang="zh-CN" sz="2000" dirty="0">
                <a:solidFill>
                  <a:srgbClr val="FF0000"/>
                </a:solidFill>
                <a:latin typeface="Arial" pitchFamily="34" charset="0"/>
                <a:ea typeface="黑体" pitchFamily="49" charset="-122"/>
                <a:cs typeface="Arial" pitchFamily="34" charset="0"/>
              </a:rPr>
              <a:t>Precision</a:t>
            </a:r>
            <a:r>
              <a:rPr lang="zh-CN" altLang="en-US" sz="2000" dirty="0" smtClean="0">
                <a:solidFill>
                  <a:srgbClr val="FF0000"/>
                </a:solidFill>
                <a:latin typeface="Arial" pitchFamily="34" charset="0"/>
                <a:ea typeface="黑体" pitchFamily="49" charset="-122"/>
                <a:cs typeface="Arial" pitchFamily="34" charset="0"/>
              </a:rPr>
              <a:t>）</a:t>
            </a:r>
            <a:endParaRPr lang="en-US" altLang="zh-CN" sz="2000" dirty="0" smtClean="0">
              <a:solidFill>
                <a:srgbClr val="FF0000"/>
              </a:solidFill>
              <a:latin typeface="Arial" pitchFamily="34" charset="0"/>
              <a:ea typeface="黑体" pitchFamily="49" charset="-122"/>
              <a:cs typeface="Arial" pitchFamily="34" charset="0"/>
            </a:endParaRPr>
          </a:p>
          <a:p>
            <a:pPr lvl="1">
              <a:buFont typeface="Wingdings" pitchFamily="2" charset="2"/>
              <a:buChar char="n"/>
            </a:pPr>
            <a:r>
              <a:rPr lang="zh-CN" altLang="en-US" sz="2000" dirty="0" smtClean="0">
                <a:solidFill>
                  <a:srgbClr val="FF0000"/>
                </a:solidFill>
                <a:latin typeface="Arial" pitchFamily="34" charset="0"/>
                <a:ea typeface="黑体" pitchFamily="49" charset="-122"/>
                <a:cs typeface="Arial" pitchFamily="34" charset="0"/>
              </a:rPr>
              <a:t>灵敏度</a:t>
            </a:r>
            <a:r>
              <a:rPr lang="zh-CN" altLang="en-US" sz="2000" dirty="0">
                <a:solidFill>
                  <a:srgbClr val="FF0000"/>
                </a:solidFill>
                <a:latin typeface="Arial" pitchFamily="34" charset="0"/>
                <a:ea typeface="黑体" pitchFamily="49" charset="-122"/>
                <a:cs typeface="Arial" pitchFamily="34" charset="0"/>
              </a:rPr>
              <a:t>（</a:t>
            </a:r>
            <a:r>
              <a:rPr lang="en-US" altLang="zh-CN" sz="2000" dirty="0">
                <a:solidFill>
                  <a:srgbClr val="FF0000"/>
                </a:solidFill>
                <a:latin typeface="Arial" pitchFamily="34" charset="0"/>
                <a:ea typeface="黑体" pitchFamily="49" charset="-122"/>
                <a:cs typeface="Arial" pitchFamily="34" charset="0"/>
              </a:rPr>
              <a:t>Sensitivity</a:t>
            </a:r>
            <a:r>
              <a:rPr lang="zh-CN" altLang="en-US" sz="2000" dirty="0" smtClean="0">
                <a:solidFill>
                  <a:srgbClr val="FF0000"/>
                </a:solidFill>
                <a:latin typeface="Arial" pitchFamily="34" charset="0"/>
                <a:ea typeface="黑体" pitchFamily="49" charset="-122"/>
                <a:cs typeface="Arial" pitchFamily="34" charset="0"/>
              </a:rPr>
              <a:t>）</a:t>
            </a:r>
            <a:endParaRPr lang="en-US" altLang="zh-CN" sz="2000" dirty="0" smtClean="0">
              <a:solidFill>
                <a:srgbClr val="FF0000"/>
              </a:solidFill>
              <a:latin typeface="Arial" pitchFamily="34" charset="0"/>
              <a:ea typeface="黑体" pitchFamily="49" charset="-122"/>
              <a:cs typeface="Arial" pitchFamily="34" charset="0"/>
            </a:endParaRPr>
          </a:p>
          <a:p>
            <a:pPr lvl="1">
              <a:buFont typeface="Wingdings" pitchFamily="2" charset="2"/>
              <a:buChar char="n"/>
            </a:pPr>
            <a:r>
              <a:rPr lang="zh-CN" altLang="en-US" sz="2000" dirty="0" smtClean="0">
                <a:solidFill>
                  <a:srgbClr val="FF0000"/>
                </a:solidFill>
                <a:latin typeface="Arial" pitchFamily="34" charset="0"/>
                <a:ea typeface="黑体" pitchFamily="49" charset="-122"/>
                <a:cs typeface="Arial" pitchFamily="34" charset="0"/>
              </a:rPr>
              <a:t>特异</a:t>
            </a:r>
            <a:r>
              <a:rPr lang="zh-CN" altLang="en-US" sz="2000" dirty="0">
                <a:solidFill>
                  <a:srgbClr val="FF0000"/>
                </a:solidFill>
                <a:latin typeface="Arial" pitchFamily="34" charset="0"/>
                <a:ea typeface="黑体" pitchFamily="49" charset="-122"/>
                <a:cs typeface="Arial" pitchFamily="34" charset="0"/>
              </a:rPr>
              <a:t>度（</a:t>
            </a:r>
            <a:r>
              <a:rPr lang="en-US" altLang="zh-CN" sz="2000" dirty="0">
                <a:solidFill>
                  <a:srgbClr val="FF0000"/>
                </a:solidFill>
                <a:latin typeface="Arial" pitchFamily="34" charset="0"/>
                <a:ea typeface="黑体" pitchFamily="49" charset="-122"/>
                <a:cs typeface="Arial" pitchFamily="34" charset="0"/>
              </a:rPr>
              <a:t>Specificity</a:t>
            </a:r>
            <a:r>
              <a:rPr lang="zh-CN" altLang="en-US" sz="2000" dirty="0">
                <a:solidFill>
                  <a:srgbClr val="FF0000"/>
                </a:solidFill>
                <a:latin typeface="Arial" pitchFamily="34" charset="0"/>
                <a:ea typeface="黑体" pitchFamily="49" charset="-122"/>
                <a:cs typeface="Arial" pitchFamily="34" charset="0"/>
              </a:rPr>
              <a:t>）</a:t>
            </a:r>
          </a:p>
          <a:p>
            <a:pPr lvl="1">
              <a:buFont typeface="Wingdings" pitchFamily="2" charset="2"/>
              <a:buChar char="n"/>
            </a:pPr>
            <a:endParaRPr lang="en-US" altLang="zh-CN" sz="2000" dirty="0">
              <a:latin typeface="Arial" pitchFamily="34" charset="0"/>
              <a:ea typeface="黑体" pitchFamily="49" charset="-122"/>
              <a:cs typeface="Arial" pitchFamily="34" charset="0"/>
            </a:endParaRPr>
          </a:p>
        </p:txBody>
      </p:sp>
      <p:pic>
        <p:nvPicPr>
          <p:cNvPr id="2050" name="Picture 2" descr="https://img-blog.csdn.net/20180531115939413?watermark/2/text/aHR0cHM6Ly9ibG9nLmNzZG4ubmV0L09yYW5nZV9TcG90dHlfQ2F0/font/5a6L5L2T/fontsize/400/fill/I0JBQkFCMA==/dissolve/7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536" y="3140968"/>
            <a:ext cx="8280702" cy="34563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992992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656692"/>
            <a:ext cx="9144000" cy="3852428"/>
          </a:xfrm>
        </p:spPr>
        <p:txBody>
          <a:bodyPr/>
          <a:lstStyle/>
          <a:p>
            <a:pPr>
              <a:buFont typeface="Wingdings" pitchFamily="2" charset="2"/>
              <a:buChar char="n"/>
            </a:pPr>
            <a:r>
              <a:rPr lang="en-US" altLang="zh-CN" sz="2400" b="1" dirty="0" smtClean="0">
                <a:solidFill>
                  <a:srgbClr val="FF0000"/>
                </a:solidFill>
                <a:latin typeface="Arial" pitchFamily="34" charset="0"/>
                <a:ea typeface="黑体" pitchFamily="49" charset="-122"/>
                <a:cs typeface="Arial" pitchFamily="34" charset="0"/>
              </a:rPr>
              <a:t>ROC</a:t>
            </a:r>
            <a:r>
              <a:rPr lang="zh-CN" altLang="en-US" sz="2400" b="1" dirty="0" smtClean="0">
                <a:solidFill>
                  <a:srgbClr val="FF0000"/>
                </a:solidFill>
                <a:latin typeface="Arial" pitchFamily="34" charset="0"/>
                <a:ea typeface="黑体" pitchFamily="49" charset="-122"/>
                <a:cs typeface="Arial" pitchFamily="34" charset="0"/>
              </a:rPr>
              <a:t>曲线：</a:t>
            </a:r>
            <a:r>
              <a:rPr lang="zh-CN" altLang="en-US" sz="2400" dirty="0" smtClean="0">
                <a:latin typeface="Arial" pitchFamily="34" charset="0"/>
                <a:ea typeface="黑体" pitchFamily="49" charset="-122"/>
                <a:cs typeface="Arial" pitchFamily="34" charset="0"/>
              </a:rPr>
              <a:t>受试者工作特征曲线 （</a:t>
            </a:r>
            <a:r>
              <a:rPr lang="en-US" altLang="zh-CN" sz="2400" dirty="0" smtClean="0">
                <a:latin typeface="Arial" pitchFamily="34" charset="0"/>
                <a:ea typeface="黑体" pitchFamily="49" charset="-122"/>
                <a:cs typeface="Arial" pitchFamily="34" charset="0"/>
              </a:rPr>
              <a:t>receiver operating characteristic curve</a:t>
            </a:r>
            <a:r>
              <a:rPr lang="zh-CN" altLang="en-US" sz="2400" dirty="0" smtClean="0">
                <a:latin typeface="Arial" pitchFamily="34" charset="0"/>
                <a:ea typeface="黑体" pitchFamily="49" charset="-122"/>
                <a:cs typeface="Arial" pitchFamily="34" charset="0"/>
              </a:rPr>
              <a:t>），又称为感受性曲线；</a:t>
            </a:r>
            <a:endParaRPr lang="en-US" altLang="zh-CN" sz="2400" dirty="0" smtClean="0">
              <a:latin typeface="Arial" pitchFamily="34" charset="0"/>
              <a:ea typeface="黑体" pitchFamily="49" charset="-122"/>
              <a:cs typeface="Arial" pitchFamily="34" charset="0"/>
            </a:endParaRPr>
          </a:p>
          <a:p>
            <a:pPr lvl="1">
              <a:buFont typeface="Wingdings" pitchFamily="2" charset="2"/>
              <a:buChar char="n"/>
            </a:pPr>
            <a:r>
              <a:rPr lang="zh-CN" altLang="en-US" sz="2000" dirty="0" smtClean="0">
                <a:latin typeface="Arial" pitchFamily="34" charset="0"/>
                <a:ea typeface="黑体" pitchFamily="49" charset="-122"/>
                <a:cs typeface="Arial" pitchFamily="34" charset="0"/>
              </a:rPr>
              <a:t>以假阳性率（</a:t>
            </a:r>
            <a:r>
              <a:rPr lang="en-US" altLang="zh-CN" sz="2000" dirty="0" smtClean="0">
                <a:latin typeface="Arial" pitchFamily="34" charset="0"/>
                <a:ea typeface="黑体" pitchFamily="49" charset="-122"/>
                <a:cs typeface="Arial" pitchFamily="34" charset="0"/>
              </a:rPr>
              <a:t>FPR</a:t>
            </a:r>
            <a:r>
              <a:rPr lang="zh-CN" altLang="en-US" sz="2000" dirty="0" smtClean="0">
                <a:latin typeface="Arial" pitchFamily="34" charset="0"/>
                <a:ea typeface="黑体" pitchFamily="49" charset="-122"/>
                <a:cs typeface="Arial" pitchFamily="34" charset="0"/>
              </a:rPr>
              <a:t>）为横轴，真阳性率（</a:t>
            </a:r>
            <a:r>
              <a:rPr lang="en-US" altLang="zh-CN" sz="2000" dirty="0" smtClean="0">
                <a:latin typeface="Arial" pitchFamily="34" charset="0"/>
                <a:ea typeface="黑体" pitchFamily="49" charset="-122"/>
                <a:cs typeface="Arial" pitchFamily="34" charset="0"/>
              </a:rPr>
              <a:t>TPR</a:t>
            </a:r>
            <a:r>
              <a:rPr lang="zh-CN" altLang="en-US" sz="2000" dirty="0" smtClean="0">
                <a:latin typeface="Arial" pitchFamily="34" charset="0"/>
                <a:ea typeface="黑体" pitchFamily="49" charset="-122"/>
                <a:cs typeface="Arial" pitchFamily="34" charset="0"/>
              </a:rPr>
              <a:t>）为纵轴组成的坐标图；</a:t>
            </a:r>
            <a:endParaRPr lang="en-US" altLang="zh-CN" sz="2000" dirty="0" smtClean="0">
              <a:latin typeface="Arial" pitchFamily="34" charset="0"/>
              <a:ea typeface="黑体" pitchFamily="49" charset="-122"/>
              <a:cs typeface="Arial" pitchFamily="34" charset="0"/>
            </a:endParaRPr>
          </a:p>
          <a:p>
            <a:pPr lvl="1">
              <a:buFont typeface="Wingdings" pitchFamily="2" charset="2"/>
              <a:buChar char="n"/>
            </a:pPr>
            <a:r>
              <a:rPr lang="en-US" altLang="zh-CN" sz="2000" dirty="0" smtClean="0">
                <a:solidFill>
                  <a:srgbClr val="FF0000"/>
                </a:solidFill>
                <a:latin typeface="Arial" pitchFamily="34" charset="0"/>
                <a:ea typeface="黑体" pitchFamily="49" charset="-122"/>
                <a:cs typeface="Arial" pitchFamily="34" charset="0"/>
              </a:rPr>
              <a:t>FPR</a:t>
            </a:r>
            <a:r>
              <a:rPr lang="zh-CN" altLang="en-US" sz="2000" dirty="0" smtClean="0">
                <a:solidFill>
                  <a:srgbClr val="FF0000"/>
                </a:solidFill>
                <a:latin typeface="Arial" pitchFamily="34" charset="0"/>
                <a:ea typeface="黑体" pitchFamily="49" charset="-122"/>
                <a:cs typeface="Arial" pitchFamily="34" charset="0"/>
              </a:rPr>
              <a:t>和</a:t>
            </a:r>
            <a:r>
              <a:rPr lang="en-US" altLang="zh-CN" sz="2000" dirty="0" smtClean="0">
                <a:solidFill>
                  <a:srgbClr val="FF0000"/>
                </a:solidFill>
                <a:latin typeface="Arial" pitchFamily="34" charset="0"/>
                <a:ea typeface="黑体" pitchFamily="49" charset="-122"/>
                <a:cs typeface="Arial" pitchFamily="34" charset="0"/>
              </a:rPr>
              <a:t>TPR</a:t>
            </a:r>
            <a:r>
              <a:rPr lang="zh-CN" altLang="en-US" sz="2000" dirty="0" smtClean="0">
                <a:solidFill>
                  <a:srgbClr val="FF0000"/>
                </a:solidFill>
                <a:latin typeface="Arial" pitchFamily="34" charset="0"/>
                <a:ea typeface="黑体" pitchFamily="49" charset="-122"/>
                <a:cs typeface="Arial" pitchFamily="34" charset="0"/>
              </a:rPr>
              <a:t>定义</a:t>
            </a:r>
            <a:r>
              <a:rPr lang="zh-CN" altLang="en-US" sz="2000" dirty="0" smtClean="0">
                <a:latin typeface="Arial" pitchFamily="34" charset="0"/>
                <a:ea typeface="黑体" pitchFamily="49" charset="-122"/>
                <a:cs typeface="Arial" pitchFamily="34" charset="0"/>
              </a:rPr>
              <a:t>：</a:t>
            </a:r>
            <a:endParaRPr lang="en-US" altLang="zh-CN" sz="2000" dirty="0" smtClean="0">
              <a:latin typeface="Arial" pitchFamily="34" charset="0"/>
              <a:ea typeface="黑体" pitchFamily="49" charset="-122"/>
              <a:cs typeface="Arial" pitchFamily="34" charset="0"/>
            </a:endParaRPr>
          </a:p>
          <a:p>
            <a:pPr>
              <a:buFont typeface="Wingdings" pitchFamily="2" charset="2"/>
              <a:buChar char="n"/>
            </a:pPr>
            <a:endParaRPr lang="en-US" altLang="zh-CN" sz="2400" i="1" dirty="0" smtClean="0">
              <a:latin typeface="Arial" pitchFamily="34" charset="0"/>
              <a:ea typeface="黑体" pitchFamily="49" charset="-122"/>
              <a:cs typeface="Arial" pitchFamily="34" charset="0"/>
            </a:endParaRPr>
          </a:p>
          <a:p>
            <a:pPr>
              <a:buNone/>
            </a:pPr>
            <a:endParaRPr lang="en-US" altLang="zh-CN" sz="2400" dirty="0" smtClean="0">
              <a:latin typeface="Arial" pitchFamily="34" charset="0"/>
              <a:ea typeface="黑体" pitchFamily="49" charset="-122"/>
              <a:cs typeface="Arial" pitchFamily="34" charset="0"/>
            </a:endParaRPr>
          </a:p>
          <a:p>
            <a:pPr lvl="1">
              <a:buFont typeface="Wingdings" pitchFamily="2" charset="2"/>
              <a:buChar char="n"/>
            </a:pPr>
            <a:r>
              <a:rPr lang="zh-CN" altLang="en-US" sz="2000" u="sng" dirty="0">
                <a:latin typeface="Arial" pitchFamily="34" charset="0"/>
                <a:ea typeface="黑体" pitchFamily="49" charset="-122"/>
                <a:cs typeface="Arial" pitchFamily="34" charset="0"/>
              </a:rPr>
              <a:t>在二</a:t>
            </a:r>
            <a:r>
              <a:rPr lang="zh-CN" altLang="en-US" sz="2000" u="sng" dirty="0" smtClean="0">
                <a:latin typeface="Arial" pitchFamily="34" charset="0"/>
                <a:ea typeface="黑体" pitchFamily="49" charset="-122"/>
                <a:cs typeface="Arial" pitchFamily="34" charset="0"/>
              </a:rPr>
              <a:t>分类的</a:t>
            </a:r>
            <a:r>
              <a:rPr lang="zh-CN" altLang="en-US" sz="2000" u="sng" dirty="0">
                <a:latin typeface="Arial" pitchFamily="34" charset="0"/>
                <a:ea typeface="黑体" pitchFamily="49" charset="-122"/>
                <a:cs typeface="Arial" pitchFamily="34" charset="0"/>
              </a:rPr>
              <a:t>问题中，需要一个</a:t>
            </a:r>
            <a:r>
              <a:rPr lang="zh-CN" altLang="en-US" sz="2000" u="sng" dirty="0" smtClean="0">
                <a:solidFill>
                  <a:srgbClr val="0000CC"/>
                </a:solidFill>
                <a:latin typeface="Arial" pitchFamily="34" charset="0"/>
                <a:ea typeface="黑体" pitchFamily="49" charset="-122"/>
                <a:cs typeface="Arial" pitchFamily="34" charset="0"/>
              </a:rPr>
              <a:t>阈值</a:t>
            </a:r>
            <a:r>
              <a:rPr lang="zh-CN" altLang="en-US" sz="2000" dirty="0">
                <a:latin typeface="Arial" pitchFamily="34" charset="0"/>
                <a:ea typeface="黑体" pitchFamily="49" charset="-122"/>
                <a:cs typeface="Arial" pitchFamily="34" charset="0"/>
              </a:rPr>
              <a:t>，</a:t>
            </a:r>
            <a:r>
              <a:rPr lang="zh-CN" altLang="en-US" sz="2000" dirty="0" smtClean="0">
                <a:latin typeface="Arial" pitchFamily="34" charset="0"/>
                <a:ea typeface="黑体" pitchFamily="49" charset="-122"/>
                <a:cs typeface="Arial" pitchFamily="34" charset="0"/>
              </a:rPr>
              <a:t>不同</a:t>
            </a:r>
            <a:r>
              <a:rPr lang="zh-CN" altLang="en-US" sz="2000" dirty="0">
                <a:latin typeface="Arial" pitchFamily="34" charset="0"/>
                <a:ea typeface="黑体" pitchFamily="49" charset="-122"/>
                <a:cs typeface="Arial" pitchFamily="34" charset="0"/>
              </a:rPr>
              <a:t>的阈值会导致</a:t>
            </a:r>
            <a:r>
              <a:rPr lang="zh-CN" altLang="en-US" sz="2000" dirty="0" smtClean="0">
                <a:latin typeface="Arial" pitchFamily="34" charset="0"/>
                <a:ea typeface="黑体" pitchFamily="49" charset="-122"/>
                <a:cs typeface="Arial" pitchFamily="34" charset="0"/>
              </a:rPr>
              <a:t>分类结果</a:t>
            </a:r>
            <a:r>
              <a:rPr lang="zh-CN" altLang="en-US" sz="2000" dirty="0">
                <a:latin typeface="Arial" pitchFamily="34" charset="0"/>
                <a:ea typeface="黑体" pitchFamily="49" charset="-122"/>
                <a:cs typeface="Arial" pitchFamily="34" charset="0"/>
              </a:rPr>
              <a:t>不同，</a:t>
            </a:r>
            <a:r>
              <a:rPr lang="zh-CN" altLang="en-US" sz="2000" dirty="0" smtClean="0">
                <a:latin typeface="Arial" pitchFamily="34" charset="0"/>
                <a:ea typeface="黑体" pitchFamily="49" charset="-122"/>
                <a:cs typeface="Arial" pitchFamily="34" charset="0"/>
              </a:rPr>
              <a:t>即</a:t>
            </a:r>
            <a:r>
              <a:rPr lang="zh-CN" altLang="en-US" sz="2000" dirty="0" smtClean="0">
                <a:solidFill>
                  <a:srgbClr val="FF0000"/>
                </a:solidFill>
                <a:latin typeface="Arial" pitchFamily="34" charset="0"/>
                <a:ea typeface="黑体" pitchFamily="49" charset="-122"/>
                <a:cs typeface="Arial" pitchFamily="34" charset="0"/>
              </a:rPr>
              <a:t>产生不同</a:t>
            </a:r>
            <a:r>
              <a:rPr lang="zh-CN" altLang="en-US" sz="2000" dirty="0">
                <a:solidFill>
                  <a:srgbClr val="FF0000"/>
                </a:solidFill>
                <a:latin typeface="Arial" pitchFamily="34" charset="0"/>
                <a:ea typeface="黑体" pitchFamily="49" charset="-122"/>
                <a:cs typeface="Arial" pitchFamily="34" charset="0"/>
              </a:rPr>
              <a:t>的混淆</a:t>
            </a:r>
            <a:r>
              <a:rPr lang="zh-CN" altLang="en-US" sz="2000" dirty="0" smtClean="0">
                <a:solidFill>
                  <a:srgbClr val="FF0000"/>
                </a:solidFill>
                <a:latin typeface="Arial" pitchFamily="34" charset="0"/>
                <a:ea typeface="黑体" pitchFamily="49" charset="-122"/>
                <a:cs typeface="Arial" pitchFamily="34" charset="0"/>
              </a:rPr>
              <a:t>矩阵并导致</a:t>
            </a:r>
            <a:r>
              <a:rPr lang="zh-CN" altLang="en-US" sz="2000" dirty="0">
                <a:solidFill>
                  <a:srgbClr val="FF0000"/>
                </a:solidFill>
                <a:latin typeface="Arial" pitchFamily="34" charset="0"/>
                <a:ea typeface="黑体" pitchFamily="49" charset="-122"/>
                <a:cs typeface="Arial" pitchFamily="34" charset="0"/>
              </a:rPr>
              <a:t>不同的</a:t>
            </a:r>
            <a:r>
              <a:rPr lang="en-US" altLang="zh-CN" sz="2000" dirty="0">
                <a:solidFill>
                  <a:srgbClr val="FF0000"/>
                </a:solidFill>
                <a:latin typeface="Arial" pitchFamily="34" charset="0"/>
                <a:ea typeface="黑体" pitchFamily="49" charset="-122"/>
                <a:cs typeface="Arial" pitchFamily="34" charset="0"/>
              </a:rPr>
              <a:t>FPR</a:t>
            </a:r>
            <a:r>
              <a:rPr lang="zh-CN" altLang="en-US" sz="2000" dirty="0">
                <a:solidFill>
                  <a:srgbClr val="FF0000"/>
                </a:solidFill>
                <a:latin typeface="Arial" pitchFamily="34" charset="0"/>
                <a:ea typeface="黑体" pitchFamily="49" charset="-122"/>
                <a:cs typeface="Arial" pitchFamily="34" charset="0"/>
              </a:rPr>
              <a:t>和</a:t>
            </a:r>
            <a:r>
              <a:rPr lang="en-US" altLang="zh-CN" sz="2000" dirty="0">
                <a:solidFill>
                  <a:srgbClr val="FF0000"/>
                </a:solidFill>
                <a:latin typeface="Arial" pitchFamily="34" charset="0"/>
                <a:ea typeface="黑体" pitchFamily="49" charset="-122"/>
                <a:cs typeface="Arial" pitchFamily="34" charset="0"/>
              </a:rPr>
              <a:t>TPR</a:t>
            </a:r>
            <a:r>
              <a:rPr lang="zh-CN" altLang="en-US" sz="2000" dirty="0">
                <a:latin typeface="Arial" pitchFamily="34" charset="0"/>
                <a:ea typeface="黑体" pitchFamily="49" charset="-122"/>
                <a:cs typeface="Arial" pitchFamily="34" charset="0"/>
              </a:rPr>
              <a:t>。当阈值</a:t>
            </a:r>
            <a:r>
              <a:rPr lang="zh-CN" altLang="en-US" sz="2000" dirty="0" smtClean="0">
                <a:latin typeface="Arial" pitchFamily="34" charset="0"/>
                <a:ea typeface="黑体" pitchFamily="49" charset="-122"/>
                <a:cs typeface="Arial" pitchFamily="34" charset="0"/>
              </a:rPr>
              <a:t>开始变化时</a:t>
            </a:r>
            <a:r>
              <a:rPr lang="zh-CN" altLang="en-US" sz="2000" dirty="0">
                <a:latin typeface="Arial" pitchFamily="34" charset="0"/>
                <a:ea typeface="黑体" pitchFamily="49" charset="-122"/>
                <a:cs typeface="Arial" pitchFamily="34" charset="0"/>
              </a:rPr>
              <a:t>，就会形成很多</a:t>
            </a:r>
            <a:r>
              <a:rPr lang="zh-CN" altLang="en-US" sz="2000" dirty="0" smtClean="0">
                <a:latin typeface="Arial" pitchFamily="34" charset="0"/>
                <a:ea typeface="黑体" pitchFamily="49" charset="-122"/>
                <a:cs typeface="Arial" pitchFamily="34" charset="0"/>
              </a:rPr>
              <a:t>对（</a:t>
            </a:r>
            <a:r>
              <a:rPr lang="en-US" altLang="zh-CN" sz="2000" dirty="0" smtClean="0">
                <a:latin typeface="Arial" pitchFamily="34" charset="0"/>
                <a:ea typeface="黑体" pitchFamily="49" charset="-122"/>
                <a:cs typeface="Arial" pitchFamily="34" charset="0"/>
              </a:rPr>
              <a:t>FPR</a:t>
            </a:r>
            <a:r>
              <a:rPr lang="en-US" altLang="zh-CN" sz="2000" dirty="0">
                <a:latin typeface="Arial" pitchFamily="34" charset="0"/>
                <a:ea typeface="黑体" pitchFamily="49" charset="-122"/>
                <a:cs typeface="Arial" pitchFamily="34" charset="0"/>
              </a:rPr>
              <a:t>, </a:t>
            </a:r>
            <a:r>
              <a:rPr lang="en-US" altLang="zh-CN" sz="2000" dirty="0" smtClean="0">
                <a:latin typeface="Arial" pitchFamily="34" charset="0"/>
                <a:ea typeface="黑体" pitchFamily="49" charset="-122"/>
                <a:cs typeface="Arial" pitchFamily="34" charset="0"/>
              </a:rPr>
              <a:t>TPR</a:t>
            </a:r>
            <a:r>
              <a:rPr lang="zh-CN" altLang="en-US" sz="2000" dirty="0" smtClean="0">
                <a:latin typeface="Arial" pitchFamily="34" charset="0"/>
                <a:ea typeface="黑体" pitchFamily="49" charset="-122"/>
                <a:cs typeface="Arial" pitchFamily="34" charset="0"/>
              </a:rPr>
              <a:t>）的</a:t>
            </a:r>
            <a:r>
              <a:rPr lang="zh-CN" altLang="en-US" sz="2000" dirty="0">
                <a:latin typeface="Arial" pitchFamily="34" charset="0"/>
                <a:ea typeface="黑体" pitchFamily="49" charset="-122"/>
                <a:cs typeface="Arial" pitchFamily="34" charset="0"/>
              </a:rPr>
              <a:t>值，将它们画在坐标系上，</a:t>
            </a:r>
            <a:r>
              <a:rPr lang="zh-CN" altLang="en-US" sz="2000" dirty="0" smtClean="0">
                <a:latin typeface="Arial" pitchFamily="34" charset="0"/>
                <a:ea typeface="黑体" pitchFamily="49" charset="-122"/>
                <a:cs typeface="Arial" pitchFamily="34" charset="0"/>
              </a:rPr>
              <a:t>就是</a:t>
            </a:r>
            <a:r>
              <a:rPr lang="en-US" altLang="zh-CN" sz="2000" dirty="0" smtClean="0">
                <a:latin typeface="Arial" pitchFamily="34" charset="0"/>
                <a:ea typeface="黑体" pitchFamily="49" charset="-122"/>
                <a:cs typeface="Arial" pitchFamily="34" charset="0"/>
              </a:rPr>
              <a:t>ROC</a:t>
            </a:r>
            <a:r>
              <a:rPr lang="zh-CN" altLang="en-US" sz="2000" dirty="0" smtClean="0">
                <a:latin typeface="Arial" pitchFamily="34" charset="0"/>
                <a:ea typeface="黑体" pitchFamily="49" charset="-122"/>
                <a:cs typeface="Arial" pitchFamily="34" charset="0"/>
              </a:rPr>
              <a:t>曲线；</a:t>
            </a:r>
            <a:endParaRPr lang="en-US" altLang="zh-CN" sz="2000" dirty="0">
              <a:latin typeface="Arial" pitchFamily="34" charset="0"/>
              <a:ea typeface="黑体" pitchFamily="49" charset="-122"/>
              <a:cs typeface="Arial"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15</a:t>
            </a:fld>
            <a:endParaRPr lang="zh-CN" altLang="en-US"/>
          </a:p>
        </p:txBody>
      </p:sp>
      <p:pic>
        <p:nvPicPr>
          <p:cNvPr id="97282" name="Picture 2"/>
          <p:cNvPicPr>
            <a:picLocks noChangeAspect="1" noChangeArrowheads="1"/>
          </p:cNvPicPr>
          <p:nvPr/>
        </p:nvPicPr>
        <p:blipFill>
          <a:blip r:embed="rId2" cstate="print"/>
          <a:srcRect/>
          <a:stretch>
            <a:fillRect/>
          </a:stretch>
        </p:blipFill>
        <p:spPr bwMode="auto">
          <a:xfrm>
            <a:off x="1938286" y="2233689"/>
            <a:ext cx="2148012" cy="698433"/>
          </a:xfrm>
          <a:prstGeom prst="rect">
            <a:avLst/>
          </a:prstGeom>
          <a:noFill/>
          <a:ln w="9525">
            <a:noFill/>
            <a:miter lim="800000"/>
            <a:headEnd/>
            <a:tailEnd/>
          </a:ln>
        </p:spPr>
      </p:pic>
      <p:pic>
        <p:nvPicPr>
          <p:cNvPr id="97284" name="Picture 4"/>
          <p:cNvPicPr>
            <a:picLocks noChangeAspect="1" noChangeArrowheads="1"/>
          </p:cNvPicPr>
          <p:nvPr/>
        </p:nvPicPr>
        <p:blipFill>
          <a:blip r:embed="rId3" cstate="print"/>
          <a:srcRect/>
          <a:stretch>
            <a:fillRect/>
          </a:stretch>
        </p:blipFill>
        <p:spPr bwMode="auto">
          <a:xfrm>
            <a:off x="5220072" y="2362907"/>
            <a:ext cx="1904155" cy="578966"/>
          </a:xfrm>
          <a:prstGeom prst="rect">
            <a:avLst/>
          </a:prstGeom>
          <a:noFill/>
          <a:ln w="9525">
            <a:noFill/>
            <a:miter lim="800000"/>
            <a:headEnd/>
            <a:tailEnd/>
          </a:ln>
        </p:spPr>
      </p:pic>
      <p:sp>
        <p:nvSpPr>
          <p:cNvPr id="10" name="矩形 9"/>
          <p:cNvSpPr/>
          <p:nvPr/>
        </p:nvSpPr>
        <p:spPr>
          <a:xfrm>
            <a:off x="143508" y="6277983"/>
            <a:ext cx="8856984" cy="400110"/>
          </a:xfrm>
          <a:prstGeom prst="rect">
            <a:avLst/>
          </a:prstGeom>
        </p:spPr>
        <p:txBody>
          <a:bodyPr wrap="square">
            <a:spAutoFit/>
          </a:bodyPr>
          <a:lstStyle/>
          <a:p>
            <a:r>
              <a:rPr lang="zh-CN" altLang="en-US" sz="2000" b="1" dirty="0" smtClean="0">
                <a:solidFill>
                  <a:srgbClr val="FF0000"/>
                </a:solidFill>
                <a:latin typeface="Arial" pitchFamily="34" charset="0"/>
                <a:ea typeface="黑体" pitchFamily="49" charset="-122"/>
                <a:cs typeface="Arial" pitchFamily="34" charset="0"/>
              </a:rPr>
              <a:t>如果一个点越接近左上角（</a:t>
            </a:r>
            <a:r>
              <a:rPr lang="en-US" altLang="zh-CN" sz="2000" b="1" dirty="0" smtClean="0">
                <a:solidFill>
                  <a:srgbClr val="FF0000"/>
                </a:solidFill>
                <a:latin typeface="Arial" pitchFamily="34" charset="0"/>
                <a:ea typeface="黑体" pitchFamily="49" charset="-122"/>
                <a:cs typeface="Arial" pitchFamily="34" charset="0"/>
              </a:rPr>
              <a:t>FPR</a:t>
            </a:r>
            <a:r>
              <a:rPr lang="zh-CN" altLang="en-US" sz="2000" b="1" dirty="0">
                <a:solidFill>
                  <a:srgbClr val="FF0000"/>
                </a:solidFill>
                <a:latin typeface="Arial" pitchFamily="34" charset="0"/>
                <a:ea typeface="黑体" pitchFamily="49" charset="-122"/>
                <a:cs typeface="Arial" pitchFamily="34" charset="0"/>
              </a:rPr>
              <a:t>越</a:t>
            </a:r>
            <a:r>
              <a:rPr lang="zh-CN" altLang="en-US" sz="2000" b="1" dirty="0" smtClean="0">
                <a:solidFill>
                  <a:srgbClr val="FF0000"/>
                </a:solidFill>
                <a:latin typeface="Arial" pitchFamily="34" charset="0"/>
                <a:ea typeface="黑体" pitchFamily="49" charset="-122"/>
                <a:cs typeface="Arial" pitchFamily="34" charset="0"/>
              </a:rPr>
              <a:t>小</a:t>
            </a:r>
            <a:r>
              <a:rPr lang="en-US" altLang="zh-CN" sz="2000" b="1" dirty="0" smtClean="0">
                <a:solidFill>
                  <a:srgbClr val="FF0000"/>
                </a:solidFill>
                <a:latin typeface="Arial" pitchFamily="34" charset="0"/>
                <a:ea typeface="黑体" pitchFamily="49" charset="-122"/>
                <a:cs typeface="Arial" pitchFamily="34" charset="0"/>
              </a:rPr>
              <a:t>, </a:t>
            </a:r>
            <a:r>
              <a:rPr lang="en-US" altLang="zh-CN" sz="2000" b="1" dirty="0">
                <a:solidFill>
                  <a:srgbClr val="FF0000"/>
                </a:solidFill>
                <a:latin typeface="Arial" pitchFamily="34" charset="0"/>
                <a:ea typeface="黑体" pitchFamily="49" charset="-122"/>
                <a:cs typeface="Arial" pitchFamily="34" charset="0"/>
              </a:rPr>
              <a:t>TPR</a:t>
            </a:r>
            <a:r>
              <a:rPr lang="zh-CN" altLang="en-US" sz="2000" b="1" dirty="0" smtClean="0">
                <a:solidFill>
                  <a:srgbClr val="FF0000"/>
                </a:solidFill>
                <a:latin typeface="Arial" pitchFamily="34" charset="0"/>
                <a:ea typeface="黑体" pitchFamily="49" charset="-122"/>
                <a:cs typeface="Arial" pitchFamily="34" charset="0"/>
              </a:rPr>
              <a:t>越大），那么说明模型的效果越好。</a:t>
            </a:r>
            <a:endParaRPr lang="zh-CN" altLang="en-US" sz="2000" b="1" dirty="0">
              <a:solidFill>
                <a:srgbClr val="FF0000"/>
              </a:solidFill>
              <a:latin typeface="Arial" pitchFamily="34" charset="0"/>
              <a:ea typeface="黑体" pitchFamily="49" charset="-122"/>
              <a:cs typeface="Arial" pitchFamily="34" charset="0"/>
            </a:endParaRPr>
          </a:p>
        </p:txBody>
      </p:sp>
      <p:sp>
        <p:nvSpPr>
          <p:cNvPr id="8" name="矩形 7"/>
          <p:cNvSpPr/>
          <p:nvPr/>
        </p:nvSpPr>
        <p:spPr>
          <a:xfrm>
            <a:off x="2826158" y="133472"/>
            <a:ext cx="2825962" cy="523220"/>
          </a:xfrm>
          <a:prstGeom prst="rect">
            <a:avLst/>
          </a:prstGeom>
        </p:spPr>
        <p:txBody>
          <a:bodyPr wrap="square">
            <a:spAutoFit/>
          </a:bodyPr>
          <a:lstStyle/>
          <a:p>
            <a:pPr algn="ctr"/>
            <a:r>
              <a:rPr lang="en-US" altLang="zh-CN" sz="2800" b="1" u="sng" dirty="0" smtClean="0">
                <a:solidFill>
                  <a:srgbClr val="C00000"/>
                </a:solidFill>
                <a:latin typeface="Arial" pitchFamily="34" charset="0"/>
                <a:ea typeface="黑体" pitchFamily="49" charset="-122"/>
                <a:cs typeface="Arial" pitchFamily="34" charset="0"/>
              </a:rPr>
              <a:t>ROC</a:t>
            </a:r>
            <a:r>
              <a:rPr lang="zh-CN" altLang="en-US" sz="2800" b="1" u="sng" dirty="0" smtClean="0">
                <a:solidFill>
                  <a:srgbClr val="C00000"/>
                </a:solidFill>
                <a:latin typeface="Arial" pitchFamily="34" charset="0"/>
                <a:ea typeface="黑体" pitchFamily="49" charset="-122"/>
                <a:cs typeface="Arial" pitchFamily="34" charset="0"/>
              </a:rPr>
              <a:t>曲线</a:t>
            </a:r>
            <a:endParaRPr lang="zh-CN" altLang="en-US" sz="2800" u="sng" dirty="0">
              <a:solidFill>
                <a:srgbClr val="C00000"/>
              </a:solidFill>
            </a:endParaRPr>
          </a:p>
        </p:txBody>
      </p:sp>
      <p:pic>
        <p:nvPicPr>
          <p:cNvPr id="2" name="图片 1"/>
          <p:cNvPicPr>
            <a:picLocks noChangeAspect="1"/>
          </p:cNvPicPr>
          <p:nvPr/>
        </p:nvPicPr>
        <p:blipFill rotWithShape="1">
          <a:blip r:embed="rId4" cstate="print"/>
          <a:srcRect l="4556" r="5811"/>
          <a:stretch/>
        </p:blipFill>
        <p:spPr>
          <a:xfrm>
            <a:off x="3294078" y="4412681"/>
            <a:ext cx="5105448" cy="1752623"/>
          </a:xfrm>
          <a:prstGeom prst="rect">
            <a:avLst/>
          </a:prstGeom>
        </p:spPr>
      </p:pic>
      <p:pic>
        <p:nvPicPr>
          <p:cNvPr id="11" name="图片 10" descr="20180306194149907.png"/>
          <p:cNvPicPr>
            <a:picLocks noChangeAspect="1"/>
          </p:cNvPicPr>
          <p:nvPr/>
        </p:nvPicPr>
        <p:blipFill>
          <a:blip r:embed="rId5" cstate="print"/>
          <a:stretch>
            <a:fillRect/>
          </a:stretch>
        </p:blipFill>
        <p:spPr>
          <a:xfrm>
            <a:off x="158586" y="4196115"/>
            <a:ext cx="2399275" cy="188707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16</a:t>
            </a:fld>
            <a:endParaRPr lang="zh-CN" altLang="en-US"/>
          </a:p>
        </p:txBody>
      </p:sp>
      <p:sp>
        <p:nvSpPr>
          <p:cNvPr id="4" name="矩形 3"/>
          <p:cNvSpPr/>
          <p:nvPr/>
        </p:nvSpPr>
        <p:spPr>
          <a:xfrm>
            <a:off x="2826158" y="44624"/>
            <a:ext cx="2520280" cy="523220"/>
          </a:xfrm>
          <a:prstGeom prst="rect">
            <a:avLst/>
          </a:prstGeom>
        </p:spPr>
        <p:txBody>
          <a:bodyPr wrap="square">
            <a:spAutoFit/>
          </a:bodyPr>
          <a:lstStyle/>
          <a:p>
            <a:pPr algn="ctr"/>
            <a:r>
              <a:rPr lang="en-US" altLang="zh-CN" sz="2800" b="1" dirty="0" smtClean="0">
                <a:solidFill>
                  <a:srgbClr val="C00000"/>
                </a:solidFill>
                <a:latin typeface="Arial" pitchFamily="34" charset="0"/>
                <a:ea typeface="黑体" pitchFamily="49" charset="-122"/>
                <a:cs typeface="Arial" pitchFamily="34" charset="0"/>
              </a:rPr>
              <a:t>AUC</a:t>
            </a:r>
            <a:r>
              <a:rPr lang="zh-CN" altLang="en-US" sz="2800" b="1" dirty="0" smtClean="0">
                <a:solidFill>
                  <a:srgbClr val="C00000"/>
                </a:solidFill>
                <a:latin typeface="Arial" pitchFamily="34" charset="0"/>
                <a:ea typeface="黑体" pitchFamily="49" charset="-122"/>
                <a:cs typeface="Arial" pitchFamily="34" charset="0"/>
              </a:rPr>
              <a:t>面积</a:t>
            </a:r>
            <a:endParaRPr lang="zh-CN" altLang="en-US" sz="2800" dirty="0">
              <a:solidFill>
                <a:srgbClr val="C00000"/>
              </a:solidFill>
            </a:endParaRPr>
          </a:p>
        </p:txBody>
      </p:sp>
      <p:sp>
        <p:nvSpPr>
          <p:cNvPr id="5" name="内容占位符 2"/>
          <p:cNvSpPr txBox="1">
            <a:spLocks/>
          </p:cNvSpPr>
          <p:nvPr/>
        </p:nvSpPr>
        <p:spPr>
          <a:xfrm>
            <a:off x="0" y="476672"/>
            <a:ext cx="8999984" cy="5940659"/>
          </a:xfrm>
          <a:prstGeom prst="rect">
            <a:avLst/>
          </a:prstGeom>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Char char="n"/>
            </a:pPr>
            <a:r>
              <a:rPr lang="en-US" altLang="zh-CN" sz="2400" b="1" dirty="0" smtClean="0">
                <a:solidFill>
                  <a:srgbClr val="FF0000"/>
                </a:solidFill>
                <a:latin typeface="Arial" pitchFamily="34" charset="0"/>
                <a:ea typeface="黑体" pitchFamily="49" charset="-122"/>
                <a:cs typeface="Arial" pitchFamily="34" charset="0"/>
              </a:rPr>
              <a:t>AUC</a:t>
            </a:r>
            <a:r>
              <a:rPr lang="zh-CN" altLang="en-US" sz="2400" b="1" dirty="0" smtClean="0">
                <a:solidFill>
                  <a:srgbClr val="FF0000"/>
                </a:solidFill>
                <a:latin typeface="Arial" pitchFamily="34" charset="0"/>
                <a:ea typeface="黑体" pitchFamily="49" charset="-122"/>
                <a:cs typeface="Arial" pitchFamily="34" charset="0"/>
              </a:rPr>
              <a:t>（</a:t>
            </a:r>
            <a:r>
              <a:rPr lang="en-US" altLang="zh-CN" sz="2400" b="1" dirty="0" smtClean="0">
                <a:solidFill>
                  <a:srgbClr val="FF0000"/>
                </a:solidFill>
                <a:latin typeface="Arial" pitchFamily="34" charset="0"/>
                <a:ea typeface="黑体" pitchFamily="49" charset="-122"/>
                <a:cs typeface="Arial" pitchFamily="34" charset="0"/>
              </a:rPr>
              <a:t>Area </a:t>
            </a:r>
            <a:r>
              <a:rPr lang="en-US" altLang="zh-CN" sz="2400" b="1" dirty="0">
                <a:solidFill>
                  <a:srgbClr val="FF0000"/>
                </a:solidFill>
                <a:latin typeface="Arial" pitchFamily="34" charset="0"/>
                <a:ea typeface="黑体" pitchFamily="49" charset="-122"/>
                <a:cs typeface="Arial" pitchFamily="34" charset="0"/>
              </a:rPr>
              <a:t>Under the </a:t>
            </a:r>
            <a:r>
              <a:rPr lang="en-US" altLang="zh-CN" sz="2400" b="1" dirty="0" smtClean="0">
                <a:solidFill>
                  <a:srgbClr val="FF0000"/>
                </a:solidFill>
                <a:latin typeface="Arial" pitchFamily="34" charset="0"/>
                <a:ea typeface="黑体" pitchFamily="49" charset="-122"/>
                <a:cs typeface="Arial" pitchFamily="34" charset="0"/>
              </a:rPr>
              <a:t>Curve</a:t>
            </a:r>
            <a:r>
              <a:rPr lang="zh-CN" altLang="en-US" sz="2400" b="1" dirty="0" smtClean="0">
                <a:solidFill>
                  <a:srgbClr val="FF0000"/>
                </a:solidFill>
                <a:latin typeface="Arial" pitchFamily="34" charset="0"/>
                <a:ea typeface="黑体" pitchFamily="49" charset="-122"/>
                <a:cs typeface="Arial" pitchFamily="34" charset="0"/>
              </a:rPr>
              <a:t>）</a:t>
            </a:r>
            <a:r>
              <a:rPr lang="zh-CN" altLang="en-US" sz="2400" dirty="0" smtClean="0">
                <a:latin typeface="Arial" pitchFamily="34" charset="0"/>
                <a:ea typeface="黑体" pitchFamily="49" charset="-122"/>
                <a:cs typeface="Arial" pitchFamily="34" charset="0"/>
              </a:rPr>
              <a:t>：</a:t>
            </a:r>
            <a:r>
              <a:rPr lang="en-US" altLang="zh-CN" sz="2400" dirty="0" smtClean="0">
                <a:latin typeface="Arial" pitchFamily="34" charset="0"/>
                <a:ea typeface="黑体" pitchFamily="49" charset="-122"/>
                <a:cs typeface="Arial" pitchFamily="34" charset="0"/>
              </a:rPr>
              <a:t>ROC</a:t>
            </a:r>
            <a:r>
              <a:rPr lang="zh-CN" altLang="en-US" sz="2400" dirty="0">
                <a:latin typeface="Arial" pitchFamily="34" charset="0"/>
                <a:ea typeface="黑体" pitchFamily="49" charset="-122"/>
                <a:cs typeface="Arial" pitchFamily="34" charset="0"/>
              </a:rPr>
              <a:t>曲线下的面积，介于</a:t>
            </a:r>
            <a:r>
              <a:rPr lang="en-US" altLang="zh-CN" sz="2400" dirty="0" smtClean="0">
                <a:latin typeface="Arial" pitchFamily="34" charset="0"/>
                <a:ea typeface="黑体" pitchFamily="49" charset="-122"/>
                <a:cs typeface="Arial" pitchFamily="34" charset="0"/>
              </a:rPr>
              <a:t>0</a:t>
            </a:r>
            <a:r>
              <a:rPr lang="zh-CN" altLang="en-US" sz="2400" dirty="0" smtClean="0">
                <a:latin typeface="Arial" pitchFamily="34" charset="0"/>
                <a:ea typeface="黑体" pitchFamily="49" charset="-122"/>
                <a:cs typeface="Arial" pitchFamily="34" charset="0"/>
              </a:rPr>
              <a:t>和</a:t>
            </a:r>
            <a:r>
              <a:rPr lang="en-US" altLang="zh-CN" sz="2400" dirty="0">
                <a:latin typeface="Arial" pitchFamily="34" charset="0"/>
                <a:ea typeface="黑体" pitchFamily="49" charset="-122"/>
                <a:cs typeface="Arial" pitchFamily="34" charset="0"/>
              </a:rPr>
              <a:t>1</a:t>
            </a:r>
            <a:r>
              <a:rPr lang="zh-CN" altLang="en-US" sz="2400" dirty="0">
                <a:latin typeface="Arial" pitchFamily="34" charset="0"/>
                <a:ea typeface="黑体" pitchFamily="49" charset="-122"/>
                <a:cs typeface="Arial" pitchFamily="34" charset="0"/>
              </a:rPr>
              <a:t>之间</a:t>
            </a:r>
            <a:r>
              <a:rPr lang="zh-CN" altLang="en-US" sz="2400" dirty="0" smtClean="0">
                <a:latin typeface="Arial" pitchFamily="34" charset="0"/>
                <a:ea typeface="黑体" pitchFamily="49" charset="-122"/>
                <a:cs typeface="Arial" pitchFamily="34" charset="0"/>
              </a:rPr>
              <a:t>，可直观评价</a:t>
            </a:r>
            <a:r>
              <a:rPr lang="zh-CN" altLang="en-US" sz="2400" dirty="0">
                <a:latin typeface="Arial" pitchFamily="34" charset="0"/>
                <a:ea typeface="黑体" pitchFamily="49" charset="-122"/>
                <a:cs typeface="Arial" pitchFamily="34" charset="0"/>
              </a:rPr>
              <a:t>分类器的好坏</a:t>
            </a:r>
            <a:r>
              <a:rPr lang="zh-CN" altLang="en-US" sz="2400" dirty="0" smtClean="0">
                <a:latin typeface="Arial" pitchFamily="34" charset="0"/>
                <a:ea typeface="黑体" pitchFamily="49" charset="-122"/>
                <a:cs typeface="Arial" pitchFamily="34" charset="0"/>
              </a:rPr>
              <a:t>，</a:t>
            </a:r>
            <a:r>
              <a:rPr lang="zh-CN" altLang="en-US" sz="2400" dirty="0" smtClean="0">
                <a:solidFill>
                  <a:srgbClr val="FF0000"/>
                </a:solidFill>
                <a:latin typeface="Arial" pitchFamily="34" charset="0"/>
                <a:ea typeface="黑体" pitchFamily="49" charset="-122"/>
                <a:cs typeface="Arial" pitchFamily="34" charset="0"/>
              </a:rPr>
              <a:t>值越大越好</a:t>
            </a:r>
            <a:r>
              <a:rPr lang="zh-CN" altLang="en-US" sz="2400" dirty="0" smtClean="0">
                <a:latin typeface="Arial" pitchFamily="34" charset="0"/>
                <a:ea typeface="黑体" pitchFamily="49" charset="-122"/>
                <a:cs typeface="Arial" pitchFamily="34" charset="0"/>
              </a:rPr>
              <a:t>；</a:t>
            </a:r>
            <a:endParaRPr lang="en-US" altLang="zh-CN" sz="2400" dirty="0" smtClean="0">
              <a:latin typeface="Arial" pitchFamily="34" charset="0"/>
              <a:ea typeface="黑体" pitchFamily="49" charset="-122"/>
              <a:cs typeface="Arial" pitchFamily="34" charset="0"/>
            </a:endParaRPr>
          </a:p>
          <a:p>
            <a:pPr>
              <a:buFont typeface="Wingdings" pitchFamily="2" charset="2"/>
              <a:buChar char="n"/>
            </a:pPr>
            <a:endParaRPr lang="en-US" altLang="zh-CN" sz="2400" dirty="0">
              <a:latin typeface="Arial" pitchFamily="34" charset="0"/>
              <a:ea typeface="黑体" pitchFamily="49" charset="-122"/>
              <a:cs typeface="Arial" pitchFamily="34" charset="0"/>
            </a:endParaRPr>
          </a:p>
          <a:p>
            <a:pPr>
              <a:buFont typeface="Wingdings" pitchFamily="2" charset="2"/>
              <a:buChar char="n"/>
            </a:pPr>
            <a:r>
              <a:rPr lang="en-US" altLang="zh-CN" sz="2400" dirty="0" smtClean="0">
                <a:latin typeface="Arial" panose="020B0604020202020204" pitchFamily="34" charset="0"/>
                <a:ea typeface="黑体" panose="02010609060101010101" pitchFamily="49" charset="-122"/>
                <a:cs typeface="Arial" panose="020B0604020202020204" pitchFamily="34" charset="0"/>
              </a:rPr>
              <a:t>AUC</a:t>
            </a:r>
            <a:r>
              <a:rPr lang="zh-CN" altLang="en-US" sz="2400" dirty="0" smtClean="0">
                <a:latin typeface="Arial" panose="020B0604020202020204" pitchFamily="34" charset="0"/>
                <a:ea typeface="黑体" panose="02010609060101010101" pitchFamily="49" charset="-122"/>
                <a:cs typeface="Arial" panose="020B0604020202020204" pitchFamily="34" charset="0"/>
              </a:rPr>
              <a:t>的计算方法</a:t>
            </a:r>
            <a:endParaRPr lang="en-US" altLang="zh-CN" sz="2400" dirty="0" smtClean="0">
              <a:latin typeface="Arial" panose="020B0604020202020204" pitchFamily="34" charset="0"/>
              <a:ea typeface="黑体" panose="02010609060101010101" pitchFamily="49" charset="-122"/>
              <a:cs typeface="Arial" panose="020B0604020202020204" pitchFamily="34" charset="0"/>
            </a:endParaRPr>
          </a:p>
          <a:p>
            <a:pPr lvl="1">
              <a:buFont typeface="Wingdings" pitchFamily="2" charset="2"/>
              <a:buChar char="n"/>
            </a:pPr>
            <a:r>
              <a:rPr lang="zh-CN" altLang="en-US" sz="2000" dirty="0" smtClean="0">
                <a:latin typeface="Arial" panose="020B0604020202020204" pitchFamily="34" charset="0"/>
                <a:ea typeface="黑体" panose="02010609060101010101" pitchFamily="49" charset="-122"/>
                <a:cs typeface="Arial" panose="020B0604020202020204" pitchFamily="34" charset="0"/>
              </a:rPr>
              <a:t>非</a:t>
            </a:r>
            <a:r>
              <a:rPr lang="zh-CN" altLang="en-US" sz="2000" dirty="0">
                <a:latin typeface="Arial" panose="020B0604020202020204" pitchFamily="34" charset="0"/>
                <a:ea typeface="黑体" panose="02010609060101010101" pitchFamily="49" charset="-122"/>
                <a:cs typeface="Arial" panose="020B0604020202020204" pitchFamily="34" charset="0"/>
              </a:rPr>
              <a:t>参数</a:t>
            </a:r>
            <a:r>
              <a:rPr lang="zh-CN" altLang="en-US" sz="2000" dirty="0" smtClean="0">
                <a:latin typeface="Arial" panose="020B0604020202020204" pitchFamily="34" charset="0"/>
                <a:ea typeface="黑体" panose="02010609060101010101" pitchFamily="49" charset="-122"/>
                <a:cs typeface="Arial" panose="020B0604020202020204" pitchFamily="34" charset="0"/>
              </a:rPr>
              <a:t>法：梯形法则</a:t>
            </a:r>
            <a:r>
              <a:rPr lang="zh-CN" altLang="en-US" sz="2000" dirty="0">
                <a:latin typeface="Arial" panose="020B0604020202020204" pitchFamily="34" charset="0"/>
                <a:ea typeface="黑体" panose="02010609060101010101" pitchFamily="49" charset="-122"/>
                <a:cs typeface="Arial" panose="020B0604020202020204" pitchFamily="34" charset="0"/>
              </a:rPr>
              <a:t>，</a:t>
            </a:r>
            <a:r>
              <a:rPr lang="en-US" altLang="zh-CN" sz="2000" dirty="0" smtClean="0">
                <a:latin typeface="Arial" panose="020B0604020202020204" pitchFamily="34" charset="0"/>
                <a:ea typeface="黑体" panose="02010609060101010101" pitchFamily="49" charset="-122"/>
                <a:cs typeface="Arial" panose="020B0604020202020204" pitchFamily="34" charset="0"/>
              </a:rPr>
              <a:t>Mann-Whitney</a:t>
            </a:r>
            <a:r>
              <a:rPr lang="zh-CN" altLang="en-US" sz="2000" dirty="0" smtClean="0">
                <a:latin typeface="Arial" panose="020B0604020202020204" pitchFamily="34" charset="0"/>
                <a:ea typeface="黑体" panose="02010609060101010101" pitchFamily="49" charset="-122"/>
                <a:cs typeface="Arial" panose="020B0604020202020204" pitchFamily="34" charset="0"/>
              </a:rPr>
              <a:t>统计量</a:t>
            </a:r>
            <a:endParaRPr lang="en-US" altLang="zh-CN" sz="2000" dirty="0">
              <a:latin typeface="Arial" panose="020B0604020202020204" pitchFamily="34" charset="0"/>
              <a:ea typeface="黑体" panose="02010609060101010101" pitchFamily="49" charset="-122"/>
              <a:cs typeface="Arial" panose="020B0604020202020204" pitchFamily="34" charset="0"/>
            </a:endParaRPr>
          </a:p>
          <a:p>
            <a:pPr lvl="1">
              <a:buFont typeface="Wingdings" pitchFamily="2" charset="2"/>
              <a:buChar char="n"/>
            </a:pPr>
            <a:r>
              <a:rPr lang="zh-CN" altLang="en-US" sz="2000" dirty="0" smtClean="0">
                <a:latin typeface="Arial" panose="020B0604020202020204" pitchFamily="34" charset="0"/>
                <a:ea typeface="黑体" panose="02010609060101010101" pitchFamily="49" charset="-122"/>
                <a:cs typeface="Arial" panose="020B0604020202020204" pitchFamily="34" charset="0"/>
              </a:rPr>
              <a:t>参数</a:t>
            </a:r>
            <a:r>
              <a:rPr lang="zh-CN" altLang="en-US" sz="2000" dirty="0">
                <a:latin typeface="Arial" panose="020B0604020202020204" pitchFamily="34" charset="0"/>
                <a:ea typeface="黑体" panose="02010609060101010101" pitchFamily="49" charset="-122"/>
                <a:cs typeface="Arial" panose="020B0604020202020204" pitchFamily="34" charset="0"/>
              </a:rPr>
              <a:t>法</a:t>
            </a:r>
            <a:r>
              <a:rPr lang="zh-CN" altLang="en-US" sz="2000" dirty="0" smtClean="0">
                <a:latin typeface="Arial" panose="020B0604020202020204" pitchFamily="34" charset="0"/>
                <a:ea typeface="黑体" panose="02010609060101010101" pitchFamily="49" charset="-122"/>
                <a:cs typeface="Arial" panose="020B0604020202020204" pitchFamily="34" charset="0"/>
              </a:rPr>
              <a:t>：适用于</a:t>
            </a:r>
            <a:r>
              <a:rPr lang="zh-CN" altLang="en-US" sz="2000" dirty="0">
                <a:latin typeface="Arial" panose="020B0604020202020204" pitchFamily="34" charset="0"/>
                <a:ea typeface="黑体" panose="02010609060101010101" pitchFamily="49" charset="-122"/>
                <a:cs typeface="Arial" panose="020B0604020202020204" pitchFamily="34" charset="0"/>
              </a:rPr>
              <a:t>二项分布的数据</a:t>
            </a:r>
            <a:r>
              <a:rPr lang="zh-CN" altLang="en-US" sz="2000" dirty="0" smtClean="0">
                <a:latin typeface="Arial" panose="020B0604020202020204" pitchFamily="34" charset="0"/>
                <a:ea typeface="黑体" panose="02010609060101010101" pitchFamily="49" charset="-122"/>
                <a:cs typeface="Arial" panose="020B0604020202020204" pitchFamily="34" charset="0"/>
              </a:rPr>
              <a:t>，可以</a:t>
            </a:r>
            <a:r>
              <a:rPr lang="zh-CN" altLang="en-US" sz="2000" dirty="0">
                <a:latin typeface="Arial" panose="020B0604020202020204" pitchFamily="34" charset="0"/>
                <a:ea typeface="黑体" panose="02010609060101010101" pitchFamily="49" charset="-122"/>
                <a:cs typeface="Arial" panose="020B0604020202020204" pitchFamily="34" charset="0"/>
              </a:rPr>
              <a:t>通过均值和方差来计算。</a:t>
            </a:r>
          </a:p>
          <a:p>
            <a:pPr>
              <a:buFont typeface="Wingdings" pitchFamily="2" charset="2"/>
              <a:buChar char="n"/>
            </a:pPr>
            <a:endParaRPr lang="en-US" altLang="zh-CN" sz="2400" b="1" dirty="0" smtClean="0"/>
          </a:p>
          <a:p>
            <a:pPr>
              <a:buFont typeface="Wingdings" pitchFamily="2" charset="2"/>
              <a:buChar char="n"/>
            </a:pPr>
            <a:r>
              <a:rPr lang="zh-CN" altLang="en-US" sz="2400" dirty="0" smtClean="0">
                <a:latin typeface="Arial" panose="020B0604020202020204" pitchFamily="34" charset="0"/>
                <a:ea typeface="黑体" panose="02010609060101010101" pitchFamily="49" charset="-122"/>
                <a:cs typeface="Arial" panose="020B0604020202020204" pitchFamily="34" charset="0"/>
              </a:rPr>
              <a:t>从</a:t>
            </a:r>
            <a:r>
              <a:rPr lang="en-US" altLang="zh-CN" sz="2400" dirty="0">
                <a:latin typeface="Arial" panose="020B0604020202020204" pitchFamily="34" charset="0"/>
                <a:ea typeface="黑体" panose="02010609060101010101" pitchFamily="49" charset="-122"/>
                <a:cs typeface="Arial" panose="020B0604020202020204" pitchFamily="34" charset="0"/>
              </a:rPr>
              <a:t>AUC</a:t>
            </a:r>
            <a:r>
              <a:rPr lang="zh-CN" altLang="en-US" sz="2400" dirty="0">
                <a:latin typeface="Arial" panose="020B0604020202020204" pitchFamily="34" charset="0"/>
                <a:ea typeface="黑体" panose="02010609060101010101" pitchFamily="49" charset="-122"/>
                <a:cs typeface="Arial" panose="020B0604020202020204" pitchFamily="34" charset="0"/>
              </a:rPr>
              <a:t>判断分类器（预测模型）优劣的</a:t>
            </a:r>
            <a:r>
              <a:rPr lang="zh-CN" altLang="en-US" sz="2400" dirty="0" smtClean="0">
                <a:latin typeface="Arial" panose="020B0604020202020204" pitchFamily="34" charset="0"/>
                <a:ea typeface="黑体" panose="02010609060101010101" pitchFamily="49" charset="-122"/>
                <a:cs typeface="Arial" panose="020B0604020202020204" pitchFamily="34" charset="0"/>
              </a:rPr>
              <a:t>标准</a:t>
            </a:r>
            <a:endParaRPr lang="en-US" altLang="zh-CN" sz="2400" dirty="0">
              <a:latin typeface="Arial" panose="020B0604020202020204" pitchFamily="34" charset="0"/>
              <a:ea typeface="黑体" panose="02010609060101010101" pitchFamily="49" charset="-122"/>
              <a:cs typeface="Arial" panose="020B0604020202020204" pitchFamily="34" charset="0"/>
            </a:endParaRPr>
          </a:p>
          <a:p>
            <a:pPr lvl="1">
              <a:buFont typeface="Wingdings" pitchFamily="2" charset="2"/>
              <a:buChar char="n"/>
            </a:pPr>
            <a:r>
              <a:rPr lang="en-US" altLang="zh-CN" sz="2000" dirty="0" smtClean="0">
                <a:latin typeface="Arial" panose="020B0604020202020204" pitchFamily="34" charset="0"/>
                <a:ea typeface="黑体" panose="02010609060101010101" pitchFamily="49" charset="-122"/>
                <a:cs typeface="Arial" panose="020B0604020202020204" pitchFamily="34" charset="0"/>
              </a:rPr>
              <a:t>AUC </a:t>
            </a:r>
            <a:r>
              <a:rPr lang="en-US" altLang="zh-CN" sz="2000" dirty="0">
                <a:latin typeface="Arial" panose="020B0604020202020204" pitchFamily="34" charset="0"/>
                <a:ea typeface="黑体" panose="02010609060101010101" pitchFamily="49" charset="-122"/>
                <a:cs typeface="Arial" panose="020B0604020202020204" pitchFamily="34" charset="0"/>
              </a:rPr>
              <a:t>= 1</a:t>
            </a:r>
            <a:r>
              <a:rPr lang="zh-CN" altLang="en-US" sz="2000" dirty="0">
                <a:latin typeface="Arial" panose="020B0604020202020204" pitchFamily="34" charset="0"/>
                <a:ea typeface="黑体" panose="02010609060101010101" pitchFamily="49" charset="-122"/>
                <a:cs typeface="Arial" panose="020B0604020202020204" pitchFamily="34" charset="0"/>
              </a:rPr>
              <a:t>，是完美分类器</a:t>
            </a:r>
            <a:r>
              <a:rPr lang="zh-CN" altLang="en-US" sz="2000" dirty="0" smtClean="0">
                <a:latin typeface="Arial" panose="020B0604020202020204" pitchFamily="34" charset="0"/>
                <a:ea typeface="黑体" panose="02010609060101010101" pitchFamily="49" charset="-122"/>
                <a:cs typeface="Arial" panose="020B0604020202020204" pitchFamily="34" charset="0"/>
              </a:rPr>
              <a:t>，实际可能并不存在；</a:t>
            </a:r>
            <a:endParaRPr lang="en-US" altLang="zh-CN" sz="2000" dirty="0" smtClean="0">
              <a:latin typeface="Arial" panose="020B0604020202020204" pitchFamily="34" charset="0"/>
              <a:ea typeface="黑体" panose="02010609060101010101" pitchFamily="49" charset="-122"/>
              <a:cs typeface="Arial" panose="020B0604020202020204" pitchFamily="34" charset="0"/>
            </a:endParaRPr>
          </a:p>
          <a:p>
            <a:pPr lvl="1">
              <a:buFont typeface="Wingdings" pitchFamily="2" charset="2"/>
              <a:buChar char="n"/>
            </a:pPr>
            <a:r>
              <a:rPr lang="en-US" altLang="zh-CN" sz="2000" dirty="0" smtClean="0">
                <a:solidFill>
                  <a:srgbClr val="FF0000"/>
                </a:solidFill>
                <a:latin typeface="Arial" panose="020B0604020202020204" pitchFamily="34" charset="0"/>
                <a:ea typeface="黑体" panose="02010609060101010101" pitchFamily="49" charset="-122"/>
                <a:cs typeface="Arial" panose="020B0604020202020204" pitchFamily="34" charset="0"/>
              </a:rPr>
              <a:t>0.5 </a:t>
            </a:r>
            <a:r>
              <a:rPr lang="en-US" altLang="zh-CN" sz="2000" dirty="0">
                <a:solidFill>
                  <a:srgbClr val="FF0000"/>
                </a:solidFill>
                <a:latin typeface="Arial" panose="020B0604020202020204" pitchFamily="34" charset="0"/>
                <a:ea typeface="黑体" panose="02010609060101010101" pitchFamily="49" charset="-122"/>
                <a:cs typeface="Arial" panose="020B0604020202020204" pitchFamily="34" charset="0"/>
              </a:rPr>
              <a:t>&lt; AUC &lt; 1</a:t>
            </a:r>
            <a:r>
              <a:rPr lang="zh-CN" altLang="en-US" sz="2000" dirty="0">
                <a:solidFill>
                  <a:srgbClr val="FF0000"/>
                </a:solidFill>
                <a:latin typeface="Arial" panose="020B0604020202020204" pitchFamily="34" charset="0"/>
                <a:ea typeface="黑体" panose="02010609060101010101" pitchFamily="49" charset="-122"/>
                <a:cs typeface="Arial" panose="020B0604020202020204" pitchFamily="34" charset="0"/>
              </a:rPr>
              <a:t>，优于随机</a:t>
            </a:r>
            <a:r>
              <a:rPr lang="zh-CN" altLang="en-US" sz="2000" dirty="0" smtClean="0">
                <a:solidFill>
                  <a:srgbClr val="FF0000"/>
                </a:solidFill>
                <a:latin typeface="Arial" panose="020B0604020202020204" pitchFamily="34" charset="0"/>
                <a:ea typeface="黑体" panose="02010609060101010101" pitchFamily="49" charset="-122"/>
                <a:cs typeface="Arial" panose="020B0604020202020204" pitchFamily="34" charset="0"/>
              </a:rPr>
              <a:t>猜测，有预测价值</a:t>
            </a:r>
            <a:r>
              <a:rPr lang="zh-CN" altLang="en-US" sz="2000" dirty="0" smtClean="0">
                <a:latin typeface="Arial" panose="020B0604020202020204" pitchFamily="34" charset="0"/>
                <a:ea typeface="黑体" panose="02010609060101010101" pitchFamily="49" charset="-122"/>
                <a:cs typeface="Arial" panose="020B0604020202020204" pitchFamily="34" charset="0"/>
              </a:rPr>
              <a:t>；</a:t>
            </a:r>
            <a:endParaRPr lang="en-US" altLang="zh-CN" sz="2000" dirty="0" smtClean="0">
              <a:latin typeface="Arial" panose="020B0604020202020204" pitchFamily="34" charset="0"/>
              <a:ea typeface="黑体" panose="02010609060101010101" pitchFamily="49" charset="-122"/>
              <a:cs typeface="Arial" panose="020B0604020202020204" pitchFamily="34" charset="0"/>
            </a:endParaRPr>
          </a:p>
          <a:p>
            <a:pPr lvl="1">
              <a:buFont typeface="Wingdings" pitchFamily="2" charset="2"/>
              <a:buChar char="n"/>
            </a:pPr>
            <a:r>
              <a:rPr lang="en-US" altLang="zh-CN" sz="2000" dirty="0" smtClean="0">
                <a:latin typeface="Arial" panose="020B0604020202020204" pitchFamily="34" charset="0"/>
                <a:ea typeface="黑体" panose="02010609060101010101" pitchFamily="49" charset="-122"/>
                <a:cs typeface="Arial" panose="020B0604020202020204" pitchFamily="34" charset="0"/>
              </a:rPr>
              <a:t>AUC </a:t>
            </a:r>
            <a:r>
              <a:rPr lang="en-US" altLang="zh-CN" sz="2000" dirty="0">
                <a:latin typeface="Arial" panose="020B0604020202020204" pitchFamily="34" charset="0"/>
                <a:ea typeface="黑体" panose="02010609060101010101" pitchFamily="49" charset="-122"/>
                <a:cs typeface="Arial" panose="020B0604020202020204" pitchFamily="34" charset="0"/>
              </a:rPr>
              <a:t>= 0.5</a:t>
            </a:r>
            <a:r>
              <a:rPr lang="zh-CN" altLang="en-US" sz="2000" dirty="0">
                <a:latin typeface="Arial" panose="020B0604020202020204" pitchFamily="34" charset="0"/>
                <a:ea typeface="黑体" panose="02010609060101010101" pitchFamily="49" charset="-122"/>
                <a:cs typeface="Arial" panose="020B0604020202020204" pitchFamily="34" charset="0"/>
              </a:rPr>
              <a:t>，跟随机猜测</a:t>
            </a:r>
            <a:r>
              <a:rPr lang="zh-CN" altLang="en-US" sz="2000" dirty="0" smtClean="0">
                <a:latin typeface="Arial" panose="020B0604020202020204" pitchFamily="34" charset="0"/>
                <a:ea typeface="黑体" panose="02010609060101010101" pitchFamily="49" charset="-122"/>
                <a:cs typeface="Arial" panose="020B0604020202020204" pitchFamily="34" charset="0"/>
              </a:rPr>
              <a:t>一样，模型</a:t>
            </a:r>
            <a:r>
              <a:rPr lang="zh-CN" altLang="en-US" sz="2000" dirty="0">
                <a:latin typeface="Arial" panose="020B0604020202020204" pitchFamily="34" charset="0"/>
                <a:ea typeface="黑体" panose="02010609060101010101" pitchFamily="49" charset="-122"/>
                <a:cs typeface="Arial" panose="020B0604020202020204" pitchFamily="34" charset="0"/>
              </a:rPr>
              <a:t>没有</a:t>
            </a:r>
            <a:r>
              <a:rPr lang="zh-CN" altLang="en-US" sz="2000" dirty="0" smtClean="0">
                <a:latin typeface="Arial" panose="020B0604020202020204" pitchFamily="34" charset="0"/>
                <a:ea typeface="黑体" panose="02010609060101010101" pitchFamily="49" charset="-122"/>
                <a:cs typeface="Arial" panose="020B0604020202020204" pitchFamily="34" charset="0"/>
              </a:rPr>
              <a:t>预测价值；</a:t>
            </a:r>
            <a:endParaRPr lang="en-US" altLang="zh-CN" sz="2000" dirty="0" smtClean="0">
              <a:latin typeface="Arial" panose="020B0604020202020204" pitchFamily="34" charset="0"/>
              <a:ea typeface="黑体" panose="02010609060101010101" pitchFamily="49" charset="-122"/>
              <a:cs typeface="Arial" panose="020B0604020202020204" pitchFamily="34" charset="0"/>
            </a:endParaRPr>
          </a:p>
          <a:p>
            <a:pPr lvl="1">
              <a:buFont typeface="Wingdings" pitchFamily="2" charset="2"/>
              <a:buChar char="n"/>
            </a:pPr>
            <a:r>
              <a:rPr lang="en-US" altLang="zh-CN" sz="2000" dirty="0" smtClean="0">
                <a:latin typeface="Arial" panose="020B0604020202020204" pitchFamily="34" charset="0"/>
                <a:ea typeface="黑体" panose="02010609060101010101" pitchFamily="49" charset="-122"/>
                <a:cs typeface="Arial" panose="020B0604020202020204" pitchFamily="34" charset="0"/>
              </a:rPr>
              <a:t>AUC </a:t>
            </a:r>
            <a:r>
              <a:rPr lang="en-US" altLang="zh-CN" sz="2000" dirty="0">
                <a:latin typeface="Arial" panose="020B0604020202020204" pitchFamily="34" charset="0"/>
                <a:ea typeface="黑体" panose="02010609060101010101" pitchFamily="49" charset="-122"/>
                <a:cs typeface="Arial" panose="020B0604020202020204" pitchFamily="34" charset="0"/>
              </a:rPr>
              <a:t>&lt; 0.5</a:t>
            </a:r>
            <a:r>
              <a:rPr lang="zh-CN" altLang="en-US" sz="2000" dirty="0">
                <a:latin typeface="Arial" panose="020B0604020202020204" pitchFamily="34" charset="0"/>
                <a:ea typeface="黑体" panose="02010609060101010101" pitchFamily="49" charset="-122"/>
                <a:cs typeface="Arial" panose="020B0604020202020204" pitchFamily="34" charset="0"/>
              </a:rPr>
              <a:t>，比随机猜测还</a:t>
            </a:r>
            <a:r>
              <a:rPr lang="zh-CN" altLang="en-US" sz="2000" dirty="0" smtClean="0">
                <a:latin typeface="Arial" panose="020B0604020202020204" pitchFamily="34" charset="0"/>
                <a:ea typeface="黑体" panose="02010609060101010101" pitchFamily="49" charset="-122"/>
                <a:cs typeface="Arial" panose="020B0604020202020204" pitchFamily="34" charset="0"/>
              </a:rPr>
              <a:t>差。</a:t>
            </a:r>
            <a:endParaRPr lang="zh-CN" altLang="en-US" sz="2000" dirty="0">
              <a:latin typeface="Arial" panose="020B0604020202020204" pitchFamily="34" charset="0"/>
              <a:ea typeface="黑体" panose="02010609060101010101" pitchFamily="49" charset="-122"/>
              <a:cs typeface="Arial" panose="020B0604020202020204" pitchFamily="34" charset="0"/>
            </a:endParaRPr>
          </a:p>
          <a:p>
            <a:pPr lvl="1">
              <a:buFont typeface="Wingdings" pitchFamily="2" charset="2"/>
              <a:buChar char="n"/>
            </a:pPr>
            <a:endParaRPr lang="en-US" altLang="zh-CN" sz="2000" dirty="0">
              <a:latin typeface="Arial" pitchFamily="34" charset="0"/>
              <a:ea typeface="黑体" pitchFamily="49" charset="-122"/>
              <a:cs typeface="Arial" pitchFamily="34" charset="0"/>
            </a:endParaRPr>
          </a:p>
        </p:txBody>
      </p:sp>
      <p:pic>
        <p:nvPicPr>
          <p:cNvPr id="3074" name="Picture 2" descr="https://plobimage.ybzhao.com/wp-content/uploads/2018/03/1520544674-4151-iaHGhXgItibJEyUXepqn78ibBn0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88024" y="4869161"/>
            <a:ext cx="4032448" cy="1944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242333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17</a:t>
            </a:fld>
            <a:endParaRPr lang="zh-CN" altLang="en-US"/>
          </a:p>
        </p:txBody>
      </p:sp>
      <p:sp>
        <p:nvSpPr>
          <p:cNvPr id="3" name="内容占位符 2"/>
          <p:cNvSpPr txBox="1">
            <a:spLocks/>
          </p:cNvSpPr>
          <p:nvPr/>
        </p:nvSpPr>
        <p:spPr>
          <a:xfrm>
            <a:off x="15153" y="324273"/>
            <a:ext cx="8999984" cy="1800200"/>
          </a:xfrm>
          <a:prstGeom prst="rect">
            <a:avLst/>
          </a:prstGeom>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Char char="n"/>
            </a:pPr>
            <a:r>
              <a:rPr lang="zh-CN" altLang="en-US" sz="2400" dirty="0">
                <a:latin typeface="Arial" pitchFamily="34" charset="0"/>
                <a:ea typeface="黑体" pitchFamily="49" charset="-122"/>
                <a:cs typeface="Arial" pitchFamily="34" charset="0"/>
              </a:rPr>
              <a:t>不同模型</a:t>
            </a:r>
            <a:r>
              <a:rPr lang="en-US" altLang="zh-CN" sz="2400" dirty="0">
                <a:latin typeface="Arial" pitchFamily="34" charset="0"/>
                <a:ea typeface="黑体" pitchFamily="49" charset="-122"/>
                <a:cs typeface="Arial" pitchFamily="34" charset="0"/>
              </a:rPr>
              <a:t>AUC</a:t>
            </a:r>
            <a:r>
              <a:rPr lang="zh-CN" altLang="en-US" sz="2400" dirty="0">
                <a:latin typeface="Arial" pitchFamily="34" charset="0"/>
                <a:ea typeface="黑体" pitchFamily="49" charset="-122"/>
                <a:cs typeface="Arial" pitchFamily="34" charset="0"/>
              </a:rPr>
              <a:t>的</a:t>
            </a:r>
            <a:r>
              <a:rPr lang="zh-CN" altLang="en-US" sz="2400" dirty="0" smtClean="0">
                <a:latin typeface="Arial" pitchFamily="34" charset="0"/>
                <a:ea typeface="黑体" pitchFamily="49" charset="-122"/>
                <a:cs typeface="Arial" pitchFamily="34" charset="0"/>
              </a:rPr>
              <a:t>比较</a:t>
            </a:r>
            <a:endParaRPr lang="en-US" altLang="zh-CN" sz="2400" dirty="0" smtClean="0">
              <a:latin typeface="Arial" pitchFamily="34" charset="0"/>
              <a:ea typeface="黑体" pitchFamily="49" charset="-122"/>
              <a:cs typeface="Arial" pitchFamily="34" charset="0"/>
            </a:endParaRPr>
          </a:p>
          <a:p>
            <a:pPr marL="457200" lvl="1" indent="0">
              <a:buNone/>
            </a:pPr>
            <a:r>
              <a:rPr lang="zh-CN" altLang="en-US" sz="2000" dirty="0">
                <a:latin typeface="Arial" panose="020B0604020202020204" pitchFamily="34" charset="0"/>
                <a:ea typeface="黑体" panose="02010609060101010101" pitchFamily="49" charset="-122"/>
                <a:cs typeface="Arial" panose="020B0604020202020204" pitchFamily="34" charset="0"/>
              </a:rPr>
              <a:t>总的来说，</a:t>
            </a:r>
            <a:r>
              <a:rPr lang="en-US" altLang="zh-CN" sz="2000" dirty="0">
                <a:latin typeface="Arial" panose="020B0604020202020204" pitchFamily="34" charset="0"/>
                <a:ea typeface="黑体" panose="02010609060101010101" pitchFamily="49" charset="-122"/>
                <a:cs typeface="Arial" panose="020B0604020202020204" pitchFamily="34" charset="0"/>
              </a:rPr>
              <a:t>AUC</a:t>
            </a:r>
            <a:r>
              <a:rPr lang="zh-CN" altLang="en-US" sz="2000" dirty="0">
                <a:latin typeface="Arial" panose="020B0604020202020204" pitchFamily="34" charset="0"/>
                <a:ea typeface="黑体" panose="02010609060101010101" pitchFamily="49" charset="-122"/>
                <a:cs typeface="Arial" panose="020B0604020202020204" pitchFamily="34" charset="0"/>
              </a:rPr>
              <a:t>值越大，模型的分类效果越</a:t>
            </a:r>
            <a:r>
              <a:rPr lang="zh-CN" altLang="en-US" sz="2000" dirty="0" smtClean="0">
                <a:latin typeface="Arial" panose="020B0604020202020204" pitchFamily="34" charset="0"/>
                <a:ea typeface="黑体" panose="02010609060101010101" pitchFamily="49" charset="-122"/>
                <a:cs typeface="Arial" panose="020B0604020202020204" pitchFamily="34" charset="0"/>
              </a:rPr>
              <a:t>好；不过，</a:t>
            </a:r>
            <a:r>
              <a:rPr lang="zh-CN" altLang="en-US" sz="2000" dirty="0" smtClean="0">
                <a:solidFill>
                  <a:srgbClr val="FF0000"/>
                </a:solidFill>
                <a:latin typeface="Arial" panose="020B0604020202020204" pitchFamily="34" charset="0"/>
                <a:ea typeface="黑体" panose="02010609060101010101" pitchFamily="49" charset="-122"/>
                <a:cs typeface="Arial" panose="020B0604020202020204" pitchFamily="34" charset="0"/>
              </a:rPr>
              <a:t>两</a:t>
            </a:r>
            <a:r>
              <a:rPr lang="zh-CN" altLang="en-US" sz="2000" dirty="0">
                <a:solidFill>
                  <a:srgbClr val="FF0000"/>
                </a:solidFill>
                <a:latin typeface="Arial" panose="020B0604020202020204" pitchFamily="34" charset="0"/>
                <a:ea typeface="黑体" panose="02010609060101010101" pitchFamily="49" charset="-122"/>
                <a:cs typeface="Arial" panose="020B0604020202020204" pitchFamily="34" charset="0"/>
              </a:rPr>
              <a:t>个模型</a:t>
            </a:r>
            <a:r>
              <a:rPr lang="en-US" altLang="zh-CN" sz="2000" dirty="0">
                <a:solidFill>
                  <a:srgbClr val="FF0000"/>
                </a:solidFill>
                <a:latin typeface="Arial" panose="020B0604020202020204" pitchFamily="34" charset="0"/>
                <a:ea typeface="黑体" panose="02010609060101010101" pitchFamily="49" charset="-122"/>
                <a:cs typeface="Arial" panose="020B0604020202020204" pitchFamily="34" charset="0"/>
              </a:rPr>
              <a:t>AUC</a:t>
            </a:r>
            <a:r>
              <a:rPr lang="zh-CN" altLang="en-US" sz="2000" dirty="0">
                <a:solidFill>
                  <a:srgbClr val="FF0000"/>
                </a:solidFill>
                <a:latin typeface="Arial" panose="020B0604020202020204" pitchFamily="34" charset="0"/>
                <a:ea typeface="黑体" panose="02010609060101010101" pitchFamily="49" charset="-122"/>
                <a:cs typeface="Arial" panose="020B0604020202020204" pitchFamily="34" charset="0"/>
              </a:rPr>
              <a:t>值相等并不代表模型效果</a:t>
            </a:r>
            <a:r>
              <a:rPr lang="zh-CN" altLang="en-US" sz="2000" dirty="0" smtClean="0">
                <a:solidFill>
                  <a:srgbClr val="FF0000"/>
                </a:solidFill>
                <a:latin typeface="Arial" panose="020B0604020202020204" pitchFamily="34" charset="0"/>
                <a:ea typeface="黑体" panose="02010609060101010101" pitchFamily="49" charset="-122"/>
                <a:cs typeface="Arial" panose="020B0604020202020204" pitchFamily="34" charset="0"/>
              </a:rPr>
              <a:t>相同。</a:t>
            </a:r>
            <a:endParaRPr lang="en-US" altLang="zh-CN" sz="2000" dirty="0">
              <a:solidFill>
                <a:srgbClr val="FF0000"/>
              </a:solidFill>
              <a:latin typeface="Arial" panose="020B0604020202020204" pitchFamily="34" charset="0"/>
              <a:ea typeface="黑体" panose="02010609060101010101" pitchFamily="49" charset="-122"/>
              <a:cs typeface="Arial" panose="020B0604020202020204" pitchFamily="34" charset="0"/>
            </a:endParaRPr>
          </a:p>
        </p:txBody>
      </p:sp>
      <p:pic>
        <p:nvPicPr>
          <p:cNvPr id="4098" name="Picture 2" descr="https://plobimage.ybzhao.com/wp-content/uploads/2018/03/1520544674-2873-UKg9E31pANMtBbb6YvWzegM4ibKQ.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9512" y="1772816"/>
            <a:ext cx="3782888" cy="3712618"/>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1043608" y="5517232"/>
            <a:ext cx="2044149" cy="369332"/>
          </a:xfrm>
          <a:prstGeom prst="rect">
            <a:avLst/>
          </a:prstGeom>
        </p:spPr>
        <p:txBody>
          <a:bodyPr wrap="none">
            <a:spAutoFit/>
          </a:bodyPr>
          <a:lstStyle/>
          <a:p>
            <a:r>
              <a:rPr lang="zh-CN" altLang="en-US" dirty="0">
                <a:latin typeface="Arial" panose="020B0604020202020204" pitchFamily="34" charset="0"/>
                <a:ea typeface="黑体" panose="02010609060101010101" pitchFamily="49" charset="-122"/>
                <a:cs typeface="Arial" panose="020B0604020202020204" pitchFamily="34" charset="0"/>
              </a:rPr>
              <a:t>A模型比B和C</a:t>
            </a:r>
            <a:r>
              <a:rPr lang="zh-CN" altLang="en-US" dirty="0" smtClean="0">
                <a:latin typeface="Arial" panose="020B0604020202020204" pitchFamily="34" charset="0"/>
                <a:ea typeface="黑体" panose="02010609060101010101" pitchFamily="49" charset="-122"/>
                <a:cs typeface="Arial" panose="020B0604020202020204" pitchFamily="34" charset="0"/>
              </a:rPr>
              <a:t>都好</a:t>
            </a:r>
            <a:endParaRPr lang="zh-CN" altLang="en-US" dirty="0">
              <a:latin typeface="Arial" panose="020B0604020202020204" pitchFamily="34" charset="0"/>
              <a:ea typeface="黑体" panose="02010609060101010101" pitchFamily="49" charset="-122"/>
              <a:cs typeface="Arial" panose="020B0604020202020204" pitchFamily="34" charset="0"/>
            </a:endParaRPr>
          </a:p>
        </p:txBody>
      </p:sp>
      <p:sp>
        <p:nvSpPr>
          <p:cNvPr id="5" name="矩形 4"/>
          <p:cNvSpPr/>
          <p:nvPr/>
        </p:nvSpPr>
        <p:spPr>
          <a:xfrm>
            <a:off x="4644008" y="5506334"/>
            <a:ext cx="4320480" cy="923330"/>
          </a:xfrm>
          <a:prstGeom prst="rect">
            <a:avLst/>
          </a:prstGeom>
        </p:spPr>
        <p:txBody>
          <a:bodyPr wrap="square">
            <a:spAutoFit/>
          </a:bodyPr>
          <a:lstStyle/>
          <a:p>
            <a:r>
              <a:rPr lang="zh-CN" altLang="en-US" dirty="0" smtClean="0">
                <a:latin typeface="Arial" panose="020B0604020202020204" pitchFamily="34" charset="0"/>
                <a:ea typeface="黑体" panose="02010609060101010101" pitchFamily="49" charset="-122"/>
                <a:cs typeface="Arial" panose="020B0604020202020204" pitchFamily="34" charset="0"/>
              </a:rPr>
              <a:t>两</a:t>
            </a:r>
            <a:r>
              <a:rPr lang="zh-CN" altLang="en-US" dirty="0">
                <a:latin typeface="Arial" panose="020B0604020202020204" pitchFamily="34" charset="0"/>
                <a:ea typeface="黑体" panose="02010609060101010101" pitchFamily="49" charset="-122"/>
                <a:cs typeface="Arial" panose="020B0604020202020204" pitchFamily="34" charset="0"/>
              </a:rPr>
              <a:t>条</a:t>
            </a:r>
            <a:r>
              <a:rPr lang="en-US" altLang="zh-CN" dirty="0">
                <a:latin typeface="Arial" panose="020B0604020202020204" pitchFamily="34" charset="0"/>
                <a:ea typeface="黑体" panose="02010609060101010101" pitchFamily="49" charset="-122"/>
                <a:cs typeface="Arial" panose="020B0604020202020204" pitchFamily="34" charset="0"/>
              </a:rPr>
              <a:t>ROC</a:t>
            </a:r>
            <a:r>
              <a:rPr lang="zh-CN" altLang="en-US" dirty="0" smtClean="0">
                <a:latin typeface="Arial" panose="020B0604020202020204" pitchFamily="34" charset="0"/>
                <a:ea typeface="黑体" panose="02010609060101010101" pitchFamily="49" charset="-122"/>
                <a:cs typeface="Arial" panose="020B0604020202020204" pitchFamily="34" charset="0"/>
              </a:rPr>
              <a:t>曲线的</a:t>
            </a:r>
            <a:r>
              <a:rPr lang="en-US" altLang="zh-CN" dirty="0" smtClean="0">
                <a:latin typeface="Arial" panose="020B0604020202020204" pitchFamily="34" charset="0"/>
                <a:ea typeface="黑体" panose="02010609060101010101" pitchFamily="49" charset="-122"/>
                <a:cs typeface="Arial" panose="020B0604020202020204" pitchFamily="34" charset="0"/>
              </a:rPr>
              <a:t>AUC</a:t>
            </a:r>
            <a:r>
              <a:rPr lang="zh-CN" altLang="en-US" dirty="0">
                <a:latin typeface="Arial" panose="020B0604020202020204" pitchFamily="34" charset="0"/>
                <a:ea typeface="黑体" panose="02010609060101010101" pitchFamily="49" charset="-122"/>
                <a:cs typeface="Arial" panose="020B0604020202020204" pitchFamily="34" charset="0"/>
              </a:rPr>
              <a:t>值几乎</a:t>
            </a:r>
            <a:r>
              <a:rPr lang="zh-CN" altLang="en-US" dirty="0" smtClean="0">
                <a:latin typeface="Arial" panose="020B0604020202020204" pitchFamily="34" charset="0"/>
                <a:ea typeface="黑体" panose="02010609060101010101" pitchFamily="49" charset="-122"/>
                <a:cs typeface="Arial" panose="020B0604020202020204" pitchFamily="34" charset="0"/>
              </a:rPr>
              <a:t>一样</a:t>
            </a:r>
            <a:r>
              <a:rPr lang="zh-CN" altLang="en-US" dirty="0">
                <a:latin typeface="Arial" panose="020B0604020202020204" pitchFamily="34" charset="0"/>
                <a:ea typeface="黑体" panose="02010609060101010101" pitchFamily="49" charset="-122"/>
                <a:cs typeface="Arial" panose="020B0604020202020204" pitchFamily="34" charset="0"/>
              </a:rPr>
              <a:t>。</a:t>
            </a:r>
            <a:r>
              <a:rPr lang="zh-CN" altLang="en-US" dirty="0" smtClean="0">
                <a:latin typeface="Arial" panose="020B0604020202020204" pitchFamily="34" charset="0"/>
                <a:ea typeface="黑体" panose="02010609060101010101" pitchFamily="49" charset="-122"/>
                <a:cs typeface="Arial" panose="020B0604020202020204" pitchFamily="34" charset="0"/>
              </a:rPr>
              <a:t>当</a:t>
            </a:r>
            <a:r>
              <a:rPr lang="zh-CN" altLang="en-US" dirty="0">
                <a:latin typeface="Arial" panose="020B0604020202020204" pitchFamily="34" charset="0"/>
                <a:ea typeface="黑体" panose="02010609060101010101" pitchFamily="49" charset="-122"/>
                <a:cs typeface="Arial" panose="020B0604020202020204" pitchFamily="34" charset="0"/>
              </a:rPr>
              <a:t>需要高</a:t>
            </a:r>
            <a:r>
              <a:rPr lang="en-US" altLang="zh-CN" dirty="0">
                <a:latin typeface="Arial" panose="020B0604020202020204" pitchFamily="34" charset="0"/>
                <a:ea typeface="黑体" panose="02010609060101010101" pitchFamily="49" charset="-122"/>
                <a:cs typeface="Arial" panose="020B0604020202020204" pitchFamily="34" charset="0"/>
              </a:rPr>
              <a:t>Sensitivity</a:t>
            </a:r>
            <a:r>
              <a:rPr lang="zh-CN" altLang="en-US" dirty="0">
                <a:latin typeface="Arial" panose="020B0604020202020204" pitchFamily="34" charset="0"/>
                <a:ea typeface="黑体" panose="02010609060101010101" pitchFamily="49" charset="-122"/>
                <a:cs typeface="Arial" panose="020B0604020202020204" pitchFamily="34" charset="0"/>
              </a:rPr>
              <a:t>时，模型</a:t>
            </a:r>
            <a:r>
              <a:rPr lang="en-US" altLang="zh-CN" dirty="0">
                <a:latin typeface="Arial" panose="020B0604020202020204" pitchFamily="34" charset="0"/>
                <a:ea typeface="黑体" panose="02010609060101010101" pitchFamily="49" charset="-122"/>
                <a:cs typeface="Arial" panose="020B0604020202020204" pitchFamily="34" charset="0"/>
              </a:rPr>
              <a:t>A</a:t>
            </a:r>
            <a:r>
              <a:rPr lang="zh-CN" altLang="en-US" dirty="0">
                <a:latin typeface="Arial" panose="020B0604020202020204" pitchFamily="34" charset="0"/>
                <a:ea typeface="黑体" panose="02010609060101010101" pitchFamily="49" charset="-122"/>
                <a:cs typeface="Arial" panose="020B0604020202020204" pitchFamily="34" charset="0"/>
              </a:rPr>
              <a:t>比</a:t>
            </a:r>
            <a:r>
              <a:rPr lang="en-US" altLang="zh-CN" dirty="0">
                <a:latin typeface="Arial" panose="020B0604020202020204" pitchFamily="34" charset="0"/>
                <a:ea typeface="黑体" panose="02010609060101010101" pitchFamily="49" charset="-122"/>
                <a:cs typeface="Arial" panose="020B0604020202020204" pitchFamily="34" charset="0"/>
              </a:rPr>
              <a:t>B</a:t>
            </a:r>
            <a:r>
              <a:rPr lang="zh-CN" altLang="en-US" dirty="0">
                <a:latin typeface="Arial" panose="020B0604020202020204" pitchFamily="34" charset="0"/>
                <a:ea typeface="黑体" panose="02010609060101010101" pitchFamily="49" charset="-122"/>
                <a:cs typeface="Arial" panose="020B0604020202020204" pitchFamily="34" charset="0"/>
              </a:rPr>
              <a:t>好；当需要高</a:t>
            </a:r>
            <a:r>
              <a:rPr lang="en-US" altLang="zh-CN" dirty="0" smtClean="0">
                <a:latin typeface="Arial" panose="020B0604020202020204" pitchFamily="34" charset="0"/>
                <a:ea typeface="黑体" panose="02010609060101010101" pitchFamily="49" charset="-122"/>
                <a:cs typeface="Arial" panose="020B0604020202020204" pitchFamily="34" charset="0"/>
              </a:rPr>
              <a:t>Specificity</a:t>
            </a:r>
            <a:r>
              <a:rPr lang="zh-CN" altLang="en-US" dirty="0">
                <a:latin typeface="Arial" panose="020B0604020202020204" pitchFamily="34" charset="0"/>
                <a:ea typeface="黑体" panose="02010609060101010101" pitchFamily="49" charset="-122"/>
                <a:cs typeface="Arial" panose="020B0604020202020204" pitchFamily="34" charset="0"/>
              </a:rPr>
              <a:t>时，模型</a:t>
            </a:r>
            <a:r>
              <a:rPr lang="en-US" altLang="zh-CN" dirty="0">
                <a:latin typeface="Arial" panose="020B0604020202020204" pitchFamily="34" charset="0"/>
                <a:ea typeface="黑体" panose="02010609060101010101" pitchFamily="49" charset="-122"/>
                <a:cs typeface="Arial" panose="020B0604020202020204" pitchFamily="34" charset="0"/>
              </a:rPr>
              <a:t>B</a:t>
            </a:r>
            <a:r>
              <a:rPr lang="zh-CN" altLang="en-US" dirty="0">
                <a:latin typeface="Arial" panose="020B0604020202020204" pitchFamily="34" charset="0"/>
                <a:ea typeface="黑体" panose="02010609060101010101" pitchFamily="49" charset="-122"/>
                <a:cs typeface="Arial" panose="020B0604020202020204" pitchFamily="34" charset="0"/>
              </a:rPr>
              <a:t>比</a:t>
            </a:r>
            <a:r>
              <a:rPr lang="en-US" altLang="zh-CN" dirty="0">
                <a:latin typeface="Arial" panose="020B0604020202020204" pitchFamily="34" charset="0"/>
                <a:ea typeface="黑体" panose="02010609060101010101" pitchFamily="49" charset="-122"/>
                <a:cs typeface="Arial" panose="020B0604020202020204" pitchFamily="34" charset="0"/>
              </a:rPr>
              <a:t>A</a:t>
            </a:r>
            <a:r>
              <a:rPr lang="zh-CN" altLang="en-US" dirty="0" smtClean="0">
                <a:latin typeface="Arial" panose="020B0604020202020204" pitchFamily="34" charset="0"/>
                <a:ea typeface="黑体" panose="02010609060101010101" pitchFamily="49" charset="-122"/>
                <a:cs typeface="Arial" panose="020B0604020202020204" pitchFamily="34" charset="0"/>
              </a:rPr>
              <a:t>好。</a:t>
            </a:r>
            <a:endParaRPr lang="zh-CN" altLang="en-US" dirty="0">
              <a:latin typeface="Arial" panose="020B0604020202020204" pitchFamily="34" charset="0"/>
              <a:ea typeface="黑体" panose="02010609060101010101" pitchFamily="49" charset="-122"/>
              <a:cs typeface="Arial" panose="020B0604020202020204" pitchFamily="34" charset="0"/>
            </a:endParaRPr>
          </a:p>
        </p:txBody>
      </p:sp>
      <p:grpSp>
        <p:nvGrpSpPr>
          <p:cNvPr id="8" name="组合 7"/>
          <p:cNvGrpSpPr/>
          <p:nvPr/>
        </p:nvGrpSpPr>
        <p:grpSpPr>
          <a:xfrm>
            <a:off x="4788024" y="1855722"/>
            <a:ext cx="3600400" cy="3629712"/>
            <a:chOff x="4860032" y="1772816"/>
            <a:chExt cx="3671499" cy="3733518"/>
          </a:xfrm>
        </p:grpSpPr>
        <p:pic>
          <p:nvPicPr>
            <p:cNvPr id="4100" name="Picture 4" descr="https://plobimage.ybzhao.com/wp-content/uploads/2018/03/1520544674-1502-SE4F6QDwiaN2RYbnrFXJ3Bm963t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60032" y="1772816"/>
              <a:ext cx="3671499" cy="3733518"/>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6732877" y="1854076"/>
              <a:ext cx="338554" cy="369332"/>
            </a:xfrm>
            <a:prstGeom prst="rect">
              <a:avLst/>
            </a:prstGeom>
          </p:spPr>
          <p:txBody>
            <a:bodyPr wrap="none">
              <a:spAutoFit/>
            </a:bodyPr>
            <a:lstStyle/>
            <a:p>
              <a:r>
                <a:rPr lang="en-US" altLang="zh-CN" dirty="0">
                  <a:latin typeface="Arial" panose="020B0604020202020204" pitchFamily="34" charset="0"/>
                  <a:ea typeface="黑体" panose="02010609060101010101" pitchFamily="49" charset="-122"/>
                  <a:cs typeface="Arial" panose="020B0604020202020204" pitchFamily="34" charset="0"/>
                </a:rPr>
                <a:t>A</a:t>
              </a:r>
              <a:endParaRPr lang="zh-CN" altLang="en-US" dirty="0"/>
            </a:p>
          </p:txBody>
        </p:sp>
        <p:sp>
          <p:nvSpPr>
            <p:cNvPr id="7" name="矩形 6"/>
            <p:cNvSpPr/>
            <p:nvPr/>
          </p:nvSpPr>
          <p:spPr>
            <a:xfrm>
              <a:off x="5436096" y="3183016"/>
              <a:ext cx="338554" cy="369332"/>
            </a:xfrm>
            <a:prstGeom prst="rect">
              <a:avLst/>
            </a:prstGeom>
          </p:spPr>
          <p:txBody>
            <a:bodyPr wrap="none">
              <a:spAutoFit/>
            </a:bodyPr>
            <a:lstStyle/>
            <a:p>
              <a:r>
                <a:rPr lang="en-US" altLang="zh-CN" dirty="0" smtClean="0">
                  <a:latin typeface="Arial" panose="020B0604020202020204" pitchFamily="34" charset="0"/>
                  <a:ea typeface="黑体" panose="02010609060101010101" pitchFamily="49" charset="-122"/>
                  <a:cs typeface="Arial" panose="020B0604020202020204" pitchFamily="34" charset="0"/>
                </a:rPr>
                <a:t>B</a:t>
              </a:r>
              <a:endParaRPr lang="zh-CN" altLang="en-US" dirty="0"/>
            </a:p>
          </p:txBody>
        </p:sp>
      </p:grpSp>
    </p:spTree>
    <p:extLst>
      <p:ext uri="{BB962C8B-B14F-4D97-AF65-F5344CB8AC3E}">
        <p14:creationId xmlns:p14="http://schemas.microsoft.com/office/powerpoint/2010/main" val="113380035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58614"/>
            <a:ext cx="8784976" cy="778098"/>
          </a:xfrm>
        </p:spPr>
        <p:txBody>
          <a:bodyPr/>
          <a:lstStyle/>
          <a:p>
            <a:r>
              <a:rPr lang="en-US" altLang="zh-CN" sz="3600" b="1" dirty="0" smtClean="0">
                <a:solidFill>
                  <a:srgbClr val="FF0000"/>
                </a:solidFill>
                <a:latin typeface="Arial" pitchFamily="34" charset="0"/>
                <a:ea typeface="黑体" pitchFamily="49" charset="-122"/>
                <a:cs typeface="Arial" pitchFamily="34" charset="0"/>
              </a:rPr>
              <a:t>3. </a:t>
            </a:r>
            <a:r>
              <a:rPr lang="zh-CN" altLang="en-US" sz="3600" b="1" dirty="0" smtClean="0">
                <a:solidFill>
                  <a:srgbClr val="FF0000"/>
                </a:solidFill>
                <a:latin typeface="Arial" pitchFamily="34" charset="0"/>
                <a:ea typeface="黑体" pitchFamily="49" charset="-122"/>
                <a:cs typeface="Arial" pitchFamily="34" charset="0"/>
              </a:rPr>
              <a:t>连续表型的统计检验</a:t>
            </a:r>
            <a:endParaRPr lang="zh-CN" altLang="en-US" sz="3600" dirty="0">
              <a:solidFill>
                <a:srgbClr val="FF0000"/>
              </a:solidFill>
              <a:latin typeface="Arial" pitchFamily="34" charset="0"/>
              <a:ea typeface="黑体" pitchFamily="49" charset="-122"/>
              <a:cs typeface="Arial" pitchFamily="34" charset="0"/>
            </a:endParaRPr>
          </a:p>
        </p:txBody>
      </p:sp>
      <p:sp>
        <p:nvSpPr>
          <p:cNvPr id="3" name="内容占位符 2"/>
          <p:cNvSpPr>
            <a:spLocks noGrp="1"/>
          </p:cNvSpPr>
          <p:nvPr>
            <p:ph idx="1"/>
          </p:nvPr>
        </p:nvSpPr>
        <p:spPr>
          <a:xfrm>
            <a:off x="35496" y="764704"/>
            <a:ext cx="9036496" cy="5591646"/>
          </a:xfrm>
        </p:spPr>
        <p:txBody>
          <a:bodyPr/>
          <a:lstStyle/>
          <a:p>
            <a:pPr>
              <a:buFont typeface="Wingdings" pitchFamily="2" charset="2"/>
              <a:buChar char="n"/>
            </a:pPr>
            <a:r>
              <a:rPr lang="zh-CN" altLang="en-US" sz="2400" dirty="0" smtClean="0">
                <a:latin typeface="Arial" pitchFamily="34" charset="0"/>
                <a:ea typeface="黑体" pitchFamily="49" charset="-122"/>
                <a:cs typeface="Arial" pitchFamily="34" charset="0"/>
              </a:rPr>
              <a:t>在基因表达数据分析过程中，我们经常想知道一个基因的表达是否和一个连续表型相关（如年龄，肿瘤大小等）；或者在</a:t>
            </a:r>
            <a:r>
              <a:rPr lang="en-US" altLang="zh-CN" sz="2400" dirty="0" smtClean="0">
                <a:latin typeface="Arial" pitchFamily="34" charset="0"/>
                <a:ea typeface="黑体" pitchFamily="49" charset="-122"/>
                <a:cs typeface="Arial" pitchFamily="34" charset="0"/>
              </a:rPr>
              <a:t>GWAS</a:t>
            </a:r>
            <a:r>
              <a:rPr lang="zh-CN" altLang="en-US" sz="2400" dirty="0" smtClean="0">
                <a:latin typeface="Arial" pitchFamily="34" charset="0"/>
                <a:ea typeface="黑体" pitchFamily="49" charset="-122"/>
                <a:cs typeface="Arial" pitchFamily="34" charset="0"/>
              </a:rPr>
              <a:t>中，我们想分析某个</a:t>
            </a:r>
            <a:r>
              <a:rPr lang="en-US" altLang="zh-CN" sz="2400" dirty="0" smtClean="0">
                <a:latin typeface="Arial" pitchFamily="34" charset="0"/>
                <a:ea typeface="黑体" pitchFamily="49" charset="-122"/>
                <a:cs typeface="Arial" pitchFamily="34" charset="0"/>
              </a:rPr>
              <a:t>SNP</a:t>
            </a:r>
            <a:r>
              <a:rPr lang="zh-CN" altLang="en-US" sz="2400" dirty="0" smtClean="0">
                <a:latin typeface="Arial" pitchFamily="34" charset="0"/>
                <a:ea typeface="黑体" pitchFamily="49" charset="-122"/>
                <a:cs typeface="Arial" pitchFamily="34" charset="0"/>
              </a:rPr>
              <a:t>位点和连续表型之间的关联；</a:t>
            </a:r>
            <a:endParaRPr lang="en-US" altLang="zh-CN" sz="2400" dirty="0" smtClean="0">
              <a:latin typeface="Arial" pitchFamily="34" charset="0"/>
              <a:ea typeface="黑体" pitchFamily="49" charset="-122"/>
              <a:cs typeface="Arial" pitchFamily="34" charset="0"/>
            </a:endParaRPr>
          </a:p>
          <a:p>
            <a:pPr>
              <a:buFont typeface="Wingdings" pitchFamily="2" charset="2"/>
              <a:buChar char="n"/>
            </a:pP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zh-CN" altLang="en-US" sz="2400" dirty="0" smtClean="0">
                <a:latin typeface="Arial" pitchFamily="34" charset="0"/>
                <a:ea typeface="黑体" pitchFamily="49" charset="-122"/>
                <a:cs typeface="Arial" pitchFamily="34" charset="0"/>
              </a:rPr>
              <a:t>可以用</a:t>
            </a:r>
            <a:r>
              <a:rPr lang="zh-CN" altLang="en-US" sz="2400" dirty="0">
                <a:solidFill>
                  <a:srgbClr val="FF0000"/>
                </a:solidFill>
                <a:latin typeface="Arial" pitchFamily="34" charset="0"/>
                <a:ea typeface="黑体" pitchFamily="49" charset="-122"/>
                <a:cs typeface="Arial" pitchFamily="34" charset="0"/>
              </a:rPr>
              <a:t>线性回归</a:t>
            </a:r>
            <a:r>
              <a:rPr lang="zh-CN" altLang="en-US" sz="2400" dirty="0" smtClean="0">
                <a:solidFill>
                  <a:srgbClr val="FF0000"/>
                </a:solidFill>
                <a:latin typeface="Arial" pitchFamily="34" charset="0"/>
                <a:ea typeface="黑体" pitchFamily="49" charset="-122"/>
                <a:cs typeface="Arial" pitchFamily="34" charset="0"/>
              </a:rPr>
              <a:t>分析、方差分析</a:t>
            </a:r>
            <a:r>
              <a:rPr lang="zh-CN" altLang="en-US" sz="2400" dirty="0" smtClean="0">
                <a:latin typeface="Arial" pitchFamily="34" charset="0"/>
                <a:ea typeface="黑体" pitchFamily="49" charset="-122"/>
                <a:cs typeface="Arial" pitchFamily="34" charset="0"/>
              </a:rPr>
              <a:t>等方法研究。</a:t>
            </a:r>
            <a:endParaRPr lang="en-US" altLang="zh-CN" sz="2400" dirty="0" smtClean="0">
              <a:latin typeface="Arial" pitchFamily="34" charset="0"/>
              <a:ea typeface="黑体" pitchFamily="49" charset="-122"/>
              <a:cs typeface="Arial" pitchFamily="34" charset="0"/>
            </a:endParaRPr>
          </a:p>
          <a:p>
            <a:pPr>
              <a:buFont typeface="Wingdings" pitchFamily="2" charset="2"/>
              <a:buChar char="n"/>
            </a:pPr>
            <a:endParaRPr lang="en-US" altLang="zh-CN" sz="2400" dirty="0" smtClean="0">
              <a:latin typeface="Arial" pitchFamily="34" charset="0"/>
              <a:ea typeface="黑体" pitchFamily="49" charset="-122"/>
              <a:cs typeface="Arial" pitchFamily="34" charset="0"/>
            </a:endParaRPr>
          </a:p>
          <a:p>
            <a:pPr>
              <a:buFont typeface="Wingdings" pitchFamily="2" charset="2"/>
              <a:buChar char="n"/>
            </a:pPr>
            <a:endParaRPr lang="en-US" altLang="zh-CN" sz="2400" dirty="0" smtClean="0">
              <a:latin typeface="Arial" pitchFamily="34" charset="0"/>
              <a:ea typeface="黑体" pitchFamily="49" charset="-122"/>
              <a:cs typeface="Arial" pitchFamily="34" charset="0"/>
            </a:endParaRPr>
          </a:p>
          <a:p>
            <a:pPr>
              <a:buFont typeface="Wingdings" pitchFamily="2" charset="2"/>
              <a:buChar char="n"/>
            </a:pPr>
            <a:endParaRPr lang="en-US" altLang="zh-CN" sz="2400" dirty="0" smtClean="0">
              <a:latin typeface="Arial" pitchFamily="34" charset="0"/>
              <a:ea typeface="黑体" pitchFamily="49" charset="-122"/>
              <a:cs typeface="Arial" pitchFamily="34" charset="0"/>
            </a:endParaRPr>
          </a:p>
          <a:p>
            <a:pPr>
              <a:buFont typeface="Wingdings" pitchFamily="2" charset="2"/>
              <a:buChar char="n"/>
            </a:pPr>
            <a:endParaRPr lang="en-US" altLang="zh-CN" sz="2400" dirty="0" smtClean="0">
              <a:latin typeface="Arial" pitchFamily="34" charset="0"/>
              <a:ea typeface="黑体" pitchFamily="49" charset="-122"/>
              <a:cs typeface="Arial" pitchFamily="34" charset="0"/>
            </a:endParaRPr>
          </a:p>
          <a:p>
            <a:pPr>
              <a:buFont typeface="Wingdings" pitchFamily="2" charset="2"/>
              <a:buChar char="n"/>
            </a:pPr>
            <a:endParaRPr lang="zh-CN" altLang="en-US" sz="2400" dirty="0" smtClean="0">
              <a:latin typeface="Arial" pitchFamily="34" charset="0"/>
              <a:ea typeface="黑体" pitchFamily="49" charset="-122"/>
              <a:cs typeface="Arial" pitchFamily="34" charset="0"/>
            </a:endParaRPr>
          </a:p>
          <a:p>
            <a:pPr marL="0" indent="0">
              <a:buNone/>
            </a:pP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zh-CN" altLang="en-US" sz="2400" dirty="0">
                <a:latin typeface="Arial" pitchFamily="34" charset="0"/>
                <a:ea typeface="黑体" pitchFamily="49" charset="-122"/>
                <a:cs typeface="Arial" pitchFamily="34" charset="0"/>
              </a:rPr>
              <a:t>对回归参数的检验过程与计算</a:t>
            </a:r>
            <a:r>
              <a:rPr lang="en-US" altLang="zh-CN" sz="2400" dirty="0">
                <a:latin typeface="Arial" pitchFamily="34" charset="0"/>
                <a:ea typeface="黑体" pitchFamily="49" charset="-122"/>
                <a:cs typeface="Arial" pitchFamily="34" charset="0"/>
              </a:rPr>
              <a:t>Pearson</a:t>
            </a:r>
            <a:r>
              <a:rPr lang="zh-CN" altLang="en-US" sz="2400" dirty="0">
                <a:latin typeface="Arial" pitchFamily="34" charset="0"/>
                <a:ea typeface="黑体" pitchFamily="49" charset="-122"/>
                <a:cs typeface="Arial" pitchFamily="34" charset="0"/>
              </a:rPr>
              <a:t>相关性非常类似，再通过</a:t>
            </a:r>
            <a:r>
              <a:rPr lang="en-US" altLang="zh-CN" sz="2400" dirty="0">
                <a:latin typeface="Arial" pitchFamily="34" charset="0"/>
                <a:ea typeface="黑体" pitchFamily="49" charset="-122"/>
                <a:cs typeface="Arial" pitchFamily="34" charset="0"/>
              </a:rPr>
              <a:t>t</a:t>
            </a:r>
            <a:r>
              <a:rPr lang="zh-CN" altLang="en-US" sz="2400" dirty="0">
                <a:latin typeface="Arial" pitchFamily="34" charset="0"/>
                <a:ea typeface="黑体" pitchFamily="49" charset="-122"/>
                <a:cs typeface="Arial" pitchFamily="34" charset="0"/>
              </a:rPr>
              <a:t>检验来分析相关性是否显著</a:t>
            </a:r>
            <a:r>
              <a:rPr lang="zh-CN" altLang="en-US" sz="2400" dirty="0" smtClean="0">
                <a:latin typeface="Arial" pitchFamily="34" charset="0"/>
                <a:ea typeface="黑体" pitchFamily="49" charset="-122"/>
                <a:cs typeface="Arial" pitchFamily="34" charset="0"/>
              </a:rPr>
              <a:t>。</a:t>
            </a:r>
            <a:endParaRPr lang="en-US" altLang="zh-CN" sz="2400" dirty="0">
              <a:latin typeface="Arial" pitchFamily="34" charset="0"/>
              <a:ea typeface="黑体" pitchFamily="49" charset="-122"/>
              <a:cs typeface="Arial"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18</a:t>
            </a:fld>
            <a:endParaRPr lang="zh-CN" altLang="en-US"/>
          </a:p>
        </p:txBody>
      </p:sp>
      <p:pic>
        <p:nvPicPr>
          <p:cNvPr id="78850" name="Picture 2"/>
          <p:cNvPicPr>
            <a:picLocks noChangeAspect="1" noChangeArrowheads="1"/>
          </p:cNvPicPr>
          <p:nvPr/>
        </p:nvPicPr>
        <p:blipFill>
          <a:blip r:embed="rId2" cstate="print"/>
          <a:srcRect/>
          <a:stretch>
            <a:fillRect/>
          </a:stretch>
        </p:blipFill>
        <p:spPr bwMode="auto">
          <a:xfrm>
            <a:off x="946920" y="2895447"/>
            <a:ext cx="6673080" cy="247776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116632"/>
            <a:ext cx="8568952" cy="1080120"/>
          </a:xfrm>
        </p:spPr>
        <p:txBody>
          <a:bodyPr/>
          <a:lstStyle/>
          <a:p>
            <a:r>
              <a:rPr lang="en-US" altLang="zh-CN" sz="3600" b="1" dirty="0" smtClean="0">
                <a:solidFill>
                  <a:srgbClr val="FF0000"/>
                </a:solidFill>
                <a:latin typeface="Arial" pitchFamily="34" charset="0"/>
                <a:ea typeface="黑体" pitchFamily="49" charset="-122"/>
                <a:cs typeface="Arial" pitchFamily="34" charset="0"/>
              </a:rPr>
              <a:t>4. </a:t>
            </a:r>
            <a:r>
              <a:rPr lang="zh-CN" altLang="en-US" sz="3600" b="1" dirty="0" smtClean="0">
                <a:solidFill>
                  <a:srgbClr val="FF0000"/>
                </a:solidFill>
                <a:latin typeface="Arial" pitchFamily="34" charset="0"/>
                <a:ea typeface="黑体" pitchFamily="49" charset="-122"/>
                <a:cs typeface="Arial" pitchFamily="34" charset="0"/>
              </a:rPr>
              <a:t>多重检验纠正</a:t>
            </a:r>
            <a:r>
              <a:rPr lang="en-US" altLang="zh-CN" sz="3600" b="1" dirty="0" smtClean="0">
                <a:solidFill>
                  <a:srgbClr val="FF0000"/>
                </a:solidFill>
                <a:latin typeface="Arial" pitchFamily="34" charset="0"/>
                <a:ea typeface="黑体" pitchFamily="49" charset="-122"/>
                <a:cs typeface="Arial" pitchFamily="34" charset="0"/>
              </a:rPr>
              <a:t/>
            </a:r>
            <a:br>
              <a:rPr lang="en-US" altLang="zh-CN" sz="3600" b="1" dirty="0" smtClean="0">
                <a:solidFill>
                  <a:srgbClr val="FF0000"/>
                </a:solidFill>
                <a:latin typeface="Arial" pitchFamily="34" charset="0"/>
                <a:ea typeface="黑体" pitchFamily="49" charset="-122"/>
                <a:cs typeface="Arial" pitchFamily="34" charset="0"/>
              </a:rPr>
            </a:br>
            <a:r>
              <a:rPr lang="zh-CN" altLang="en-US" sz="3600" b="1" dirty="0" smtClean="0">
                <a:solidFill>
                  <a:srgbClr val="FF0000"/>
                </a:solidFill>
                <a:latin typeface="Arial" pitchFamily="34" charset="0"/>
                <a:ea typeface="黑体" pitchFamily="49" charset="-122"/>
                <a:cs typeface="Arial" pitchFamily="34" charset="0"/>
              </a:rPr>
              <a:t>（</a:t>
            </a:r>
            <a:r>
              <a:rPr lang="en-US" altLang="zh-CN" sz="3600" b="1" dirty="0" smtClean="0">
                <a:solidFill>
                  <a:srgbClr val="FF0000"/>
                </a:solidFill>
                <a:latin typeface="Arial" pitchFamily="34" charset="0"/>
                <a:ea typeface="黑体" pitchFamily="49" charset="-122"/>
                <a:cs typeface="Arial" pitchFamily="34" charset="0"/>
              </a:rPr>
              <a:t>The multiple-testing correction</a:t>
            </a:r>
            <a:r>
              <a:rPr lang="zh-CN" altLang="en-US" sz="3600" b="1" dirty="0" smtClean="0">
                <a:solidFill>
                  <a:srgbClr val="FF0000"/>
                </a:solidFill>
                <a:latin typeface="Arial" pitchFamily="34" charset="0"/>
                <a:ea typeface="黑体" pitchFamily="49" charset="-122"/>
                <a:cs typeface="Arial" pitchFamily="34" charset="0"/>
              </a:rPr>
              <a:t>）</a:t>
            </a:r>
            <a:endParaRPr lang="zh-CN" altLang="en-US" sz="3600" dirty="0">
              <a:solidFill>
                <a:srgbClr val="FF0000"/>
              </a:solidFill>
              <a:latin typeface="Arial" pitchFamily="34" charset="0"/>
              <a:ea typeface="黑体" pitchFamily="49" charset="-122"/>
              <a:cs typeface="Arial" pitchFamily="34" charset="0"/>
            </a:endParaRPr>
          </a:p>
        </p:txBody>
      </p:sp>
      <p:sp>
        <p:nvSpPr>
          <p:cNvPr id="3" name="内容占位符 2"/>
          <p:cNvSpPr>
            <a:spLocks noGrp="1"/>
          </p:cNvSpPr>
          <p:nvPr>
            <p:ph idx="1"/>
          </p:nvPr>
        </p:nvSpPr>
        <p:spPr>
          <a:xfrm>
            <a:off x="107504" y="1268760"/>
            <a:ext cx="8856984" cy="5328592"/>
          </a:xfrm>
        </p:spPr>
        <p:txBody>
          <a:bodyPr/>
          <a:lstStyle/>
          <a:p>
            <a:pPr>
              <a:buFont typeface="Wingdings" pitchFamily="2" charset="2"/>
              <a:buChar char="n"/>
            </a:pPr>
            <a:r>
              <a:rPr lang="zh-CN" altLang="en-US" sz="2400" dirty="0" smtClean="0">
                <a:latin typeface="Arial" pitchFamily="34" charset="0"/>
                <a:ea typeface="黑体" pitchFamily="49" charset="-122"/>
                <a:cs typeface="Arial" pitchFamily="34" charset="0"/>
              </a:rPr>
              <a:t>研究者最关注的都是</a:t>
            </a:r>
            <a:r>
              <a:rPr lang="en-US" altLang="zh-CN" sz="2400" b="1" u="sng" dirty="0" smtClean="0">
                <a:solidFill>
                  <a:srgbClr val="0000CC"/>
                </a:solidFill>
                <a:latin typeface="Arial" pitchFamily="34" charset="0"/>
                <a:ea typeface="黑体" pitchFamily="49" charset="-122"/>
                <a:cs typeface="Arial" pitchFamily="34" charset="0"/>
              </a:rPr>
              <a:t>p&lt;0.05</a:t>
            </a:r>
            <a:r>
              <a:rPr lang="zh-CN" altLang="en-US" sz="2400" dirty="0" smtClean="0">
                <a:latin typeface="Arial" pitchFamily="34" charset="0"/>
                <a:ea typeface="黑体" pitchFamily="49" charset="-122"/>
                <a:cs typeface="Arial" pitchFamily="34" charset="0"/>
              </a:rPr>
              <a:t>，但是</a:t>
            </a:r>
            <a:r>
              <a:rPr lang="en-US" altLang="zh-CN" sz="2400" dirty="0" smtClean="0">
                <a:latin typeface="Arial" pitchFamily="34" charset="0"/>
                <a:ea typeface="黑体" pitchFamily="49" charset="-122"/>
                <a:cs typeface="Arial" pitchFamily="34" charset="0"/>
              </a:rPr>
              <a:t>p</a:t>
            </a:r>
            <a:r>
              <a:rPr lang="zh-CN" altLang="en-US" sz="2400" dirty="0" smtClean="0">
                <a:latin typeface="Arial" pitchFamily="34" charset="0"/>
                <a:ea typeface="黑体" pitchFamily="49" charset="-122"/>
                <a:cs typeface="Arial" pitchFamily="34" charset="0"/>
              </a:rPr>
              <a:t>值是针对单次实验做假设检验，而</a:t>
            </a:r>
            <a:r>
              <a:rPr lang="zh-CN" altLang="en-US" sz="2400" dirty="0" smtClean="0">
                <a:solidFill>
                  <a:srgbClr val="FF0000"/>
                </a:solidFill>
                <a:latin typeface="Arial" pitchFamily="34" charset="0"/>
                <a:ea typeface="黑体" pitchFamily="49" charset="-122"/>
                <a:cs typeface="Arial" pitchFamily="34" charset="0"/>
              </a:rPr>
              <a:t>组学数据往往是同时进行多次检验</a:t>
            </a:r>
            <a:r>
              <a:rPr lang="zh-CN" altLang="en-US" sz="2400" dirty="0" smtClean="0">
                <a:latin typeface="Arial" pitchFamily="34" charset="0"/>
                <a:ea typeface="黑体" pitchFamily="49" charset="-122"/>
                <a:cs typeface="Arial" pitchFamily="34" charset="0"/>
              </a:rPr>
              <a:t>；</a:t>
            </a:r>
            <a:endParaRPr lang="en-US" altLang="zh-CN" sz="2400" dirty="0" smtClean="0">
              <a:latin typeface="Arial" pitchFamily="34" charset="0"/>
              <a:ea typeface="黑体" pitchFamily="49" charset="-122"/>
              <a:cs typeface="Arial" pitchFamily="34" charset="0"/>
            </a:endParaRPr>
          </a:p>
          <a:p>
            <a:pPr>
              <a:buNone/>
            </a:pPr>
            <a:r>
              <a:rPr lang="en-US" altLang="zh-CN" sz="2000" dirty="0" smtClean="0">
                <a:latin typeface="Arial" pitchFamily="34" charset="0"/>
                <a:ea typeface="黑体" pitchFamily="49" charset="-122"/>
                <a:cs typeface="Arial" pitchFamily="34" charset="0"/>
              </a:rPr>
              <a:t>         </a:t>
            </a:r>
            <a:r>
              <a:rPr lang="zh-CN" altLang="en-US" sz="2000" dirty="0" smtClean="0">
                <a:solidFill>
                  <a:srgbClr val="0000CC"/>
                </a:solidFill>
                <a:latin typeface="Arial" pitchFamily="34" charset="0"/>
                <a:ea typeface="黑体" pitchFamily="49" charset="-122"/>
                <a:cs typeface="Arial" pitchFamily="34" charset="0"/>
              </a:rPr>
              <a:t>例如：</a:t>
            </a:r>
            <a:r>
              <a:rPr lang="en-US" altLang="zh-CN" sz="2000" dirty="0" smtClean="0">
                <a:solidFill>
                  <a:srgbClr val="0000CC"/>
                </a:solidFill>
                <a:latin typeface="Arial" pitchFamily="34" charset="0"/>
                <a:ea typeface="黑体" pitchFamily="49" charset="-122"/>
                <a:cs typeface="Arial" pitchFamily="34" charset="0"/>
              </a:rPr>
              <a:t>RNA-</a:t>
            </a:r>
            <a:r>
              <a:rPr lang="en-US" altLang="zh-CN" sz="2000" dirty="0" err="1" smtClean="0">
                <a:solidFill>
                  <a:srgbClr val="0000CC"/>
                </a:solidFill>
                <a:latin typeface="Arial" pitchFamily="34" charset="0"/>
                <a:ea typeface="黑体" pitchFamily="49" charset="-122"/>
                <a:cs typeface="Arial" pitchFamily="34" charset="0"/>
              </a:rPr>
              <a:t>seq</a:t>
            </a:r>
            <a:r>
              <a:rPr lang="zh-CN" altLang="en-US" sz="2000" dirty="0" smtClean="0">
                <a:solidFill>
                  <a:srgbClr val="0000CC"/>
                </a:solidFill>
                <a:latin typeface="Arial" pitchFamily="34" charset="0"/>
                <a:ea typeface="黑体" pitchFamily="49" charset="-122"/>
                <a:cs typeface="Arial" pitchFamily="34" charset="0"/>
              </a:rPr>
              <a:t>寻找差异表达基因，实际上进行的假设检验是：基因</a:t>
            </a:r>
            <a:r>
              <a:rPr lang="en-US" altLang="zh-CN" sz="2000" dirty="0" smtClean="0">
                <a:solidFill>
                  <a:srgbClr val="0000CC"/>
                </a:solidFill>
                <a:latin typeface="Arial" pitchFamily="34" charset="0"/>
                <a:ea typeface="黑体" pitchFamily="49" charset="-122"/>
                <a:cs typeface="Arial" pitchFamily="34" charset="0"/>
              </a:rPr>
              <a:t>A</a:t>
            </a:r>
            <a:r>
              <a:rPr lang="zh-CN" altLang="en-US" sz="2000" dirty="0" smtClean="0">
                <a:solidFill>
                  <a:srgbClr val="0000CC"/>
                </a:solidFill>
                <a:latin typeface="Arial" pitchFamily="34" charset="0"/>
                <a:ea typeface="黑体" pitchFamily="49" charset="-122"/>
                <a:cs typeface="Arial" pitchFamily="34" charset="0"/>
              </a:rPr>
              <a:t>是否有差异？基因</a:t>
            </a:r>
            <a:r>
              <a:rPr lang="en-US" altLang="zh-CN" sz="2000" dirty="0" smtClean="0">
                <a:solidFill>
                  <a:srgbClr val="0000CC"/>
                </a:solidFill>
                <a:latin typeface="Arial" pitchFamily="34" charset="0"/>
                <a:ea typeface="黑体" pitchFamily="49" charset="-122"/>
                <a:cs typeface="Arial" pitchFamily="34" charset="0"/>
              </a:rPr>
              <a:t>B</a:t>
            </a:r>
            <a:r>
              <a:rPr lang="zh-CN" altLang="en-US" sz="2000" dirty="0" smtClean="0">
                <a:solidFill>
                  <a:srgbClr val="0000CC"/>
                </a:solidFill>
                <a:latin typeface="Arial" pitchFamily="34" charset="0"/>
                <a:ea typeface="黑体" pitchFamily="49" charset="-122"/>
                <a:cs typeface="Arial" pitchFamily="34" charset="0"/>
              </a:rPr>
              <a:t>是否有差异？基因</a:t>
            </a:r>
            <a:r>
              <a:rPr lang="en-US" altLang="zh-CN" sz="2000" dirty="0" smtClean="0">
                <a:solidFill>
                  <a:srgbClr val="0000CC"/>
                </a:solidFill>
                <a:latin typeface="Arial" pitchFamily="34" charset="0"/>
                <a:ea typeface="黑体" pitchFamily="49" charset="-122"/>
                <a:cs typeface="Arial" pitchFamily="34" charset="0"/>
              </a:rPr>
              <a:t>C</a:t>
            </a:r>
            <a:r>
              <a:rPr lang="zh-CN" altLang="en-US" sz="2000" dirty="0" smtClean="0">
                <a:solidFill>
                  <a:srgbClr val="0000CC"/>
                </a:solidFill>
                <a:latin typeface="Arial" pitchFamily="34" charset="0"/>
                <a:ea typeface="黑体" pitchFamily="49" charset="-122"/>
                <a:cs typeface="Arial" pitchFamily="34" charset="0"/>
              </a:rPr>
              <a:t>是否有差异？</a:t>
            </a:r>
            <a:r>
              <a:rPr lang="en-US" altLang="zh-CN" sz="2000" dirty="0" smtClean="0">
                <a:solidFill>
                  <a:srgbClr val="0000CC"/>
                </a:solidFill>
                <a:latin typeface="Arial" pitchFamily="34" charset="0"/>
                <a:ea typeface="黑体" pitchFamily="49" charset="-122"/>
                <a:cs typeface="Arial" pitchFamily="34" charset="0"/>
              </a:rPr>
              <a:t>……</a:t>
            </a:r>
          </a:p>
          <a:p>
            <a:pPr>
              <a:buFont typeface="Wingdings" pitchFamily="2" charset="2"/>
              <a:buChar char="n"/>
            </a:pP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zh-CN" altLang="en-US" sz="2400" dirty="0" smtClean="0">
                <a:latin typeface="Arial" pitchFamily="34" charset="0"/>
                <a:ea typeface="黑体" pitchFamily="49" charset="-122"/>
                <a:cs typeface="Arial" pitchFamily="34" charset="0"/>
              </a:rPr>
              <a:t>如果取</a:t>
            </a:r>
            <a:r>
              <a:rPr lang="en-US" altLang="zh-CN" sz="2400" dirty="0" smtClean="0">
                <a:latin typeface="Arial" pitchFamily="34" charset="0"/>
                <a:ea typeface="黑体" pitchFamily="49" charset="-122"/>
                <a:cs typeface="Arial" pitchFamily="34" charset="0"/>
              </a:rPr>
              <a:t>0.05</a:t>
            </a:r>
            <a:r>
              <a:rPr lang="zh-CN" altLang="en-US" sz="2400" dirty="0" smtClean="0">
                <a:latin typeface="Arial" pitchFamily="34" charset="0"/>
                <a:ea typeface="黑体" pitchFamily="49" charset="-122"/>
                <a:cs typeface="Arial" pitchFamily="34" charset="0"/>
              </a:rPr>
              <a:t>作为</a:t>
            </a:r>
            <a:r>
              <a:rPr lang="en-US" altLang="zh-CN" sz="2400" dirty="0" smtClean="0">
                <a:latin typeface="Arial" pitchFamily="34" charset="0"/>
                <a:ea typeface="黑体" pitchFamily="49" charset="-122"/>
                <a:cs typeface="Arial" pitchFamily="34" charset="0"/>
              </a:rPr>
              <a:t>p</a:t>
            </a:r>
            <a:r>
              <a:rPr lang="zh-CN" altLang="en-US" sz="2400" dirty="0" smtClean="0">
                <a:latin typeface="Arial" pitchFamily="34" charset="0"/>
                <a:ea typeface="黑体" pitchFamily="49" charset="-122"/>
                <a:cs typeface="Arial" pitchFamily="34" charset="0"/>
              </a:rPr>
              <a:t>的阈值，大概每</a:t>
            </a:r>
            <a:r>
              <a:rPr lang="en-US" altLang="zh-CN" sz="2400" dirty="0" smtClean="0">
                <a:latin typeface="Arial" pitchFamily="34" charset="0"/>
                <a:ea typeface="黑体" pitchFamily="49" charset="-122"/>
                <a:cs typeface="Arial" pitchFamily="34" charset="0"/>
              </a:rPr>
              <a:t>20</a:t>
            </a:r>
            <a:r>
              <a:rPr lang="zh-CN" altLang="en-US" sz="2400" dirty="0" smtClean="0">
                <a:latin typeface="Arial" pitchFamily="34" charset="0"/>
                <a:ea typeface="黑体" pitchFamily="49" charset="-122"/>
                <a:cs typeface="Arial" pitchFamily="34" charset="0"/>
              </a:rPr>
              <a:t>次实验就能得到一个具有显著性差异的结果。换句话讲，即便所有</a:t>
            </a:r>
            <a:r>
              <a:rPr lang="en-US" altLang="zh-CN" sz="2400" dirty="0">
                <a:latin typeface="Arial" pitchFamily="34" charset="0"/>
                <a:ea typeface="黑体" pitchFamily="49" charset="-122"/>
                <a:cs typeface="Arial" pitchFamily="34" charset="0"/>
              </a:rPr>
              <a:t>20</a:t>
            </a:r>
            <a:r>
              <a:rPr lang="zh-CN" altLang="en-US" sz="2400" dirty="0" smtClean="0">
                <a:latin typeface="Arial" pitchFamily="34" charset="0"/>
                <a:ea typeface="黑体" pitchFamily="49" charset="-122"/>
                <a:cs typeface="Arial" pitchFamily="34" charset="0"/>
              </a:rPr>
              <a:t>次</a:t>
            </a:r>
            <a:r>
              <a:rPr lang="zh-CN" altLang="en-US" sz="2400" dirty="0">
                <a:latin typeface="Arial" pitchFamily="34" charset="0"/>
                <a:ea typeface="黑体" pitchFamily="49" charset="-122"/>
                <a:cs typeface="Arial" pitchFamily="34" charset="0"/>
              </a:rPr>
              <a:t>的</a:t>
            </a:r>
            <a:r>
              <a:rPr lang="zh-CN" altLang="en-US" sz="2400" dirty="0" smtClean="0">
                <a:latin typeface="Arial" pitchFamily="34" charset="0"/>
                <a:ea typeface="黑体" pitchFamily="49" charset="-122"/>
                <a:cs typeface="Arial" pitchFamily="34" charset="0"/>
              </a:rPr>
              <a:t>结果实际上都是非显著的，但你依然有</a:t>
            </a:r>
            <a:r>
              <a:rPr lang="en-US" altLang="zh-CN" sz="2400" dirty="0" smtClean="0">
                <a:latin typeface="Arial" pitchFamily="34" charset="0"/>
                <a:ea typeface="黑体" pitchFamily="49" charset="-122"/>
                <a:cs typeface="Arial" pitchFamily="34" charset="0"/>
              </a:rPr>
              <a:t>64.15%</a:t>
            </a:r>
            <a:r>
              <a:rPr lang="zh-CN" altLang="en-US" sz="2400" dirty="0" smtClean="0">
                <a:latin typeface="Arial" pitchFamily="34" charset="0"/>
                <a:ea typeface="黑体" pitchFamily="49" charset="-122"/>
                <a:cs typeface="Arial" pitchFamily="34" charset="0"/>
              </a:rPr>
              <a:t>的可能性“观测”到至少一个“显著差异”的结果：</a:t>
            </a:r>
          </a:p>
          <a:p>
            <a:pPr>
              <a:buFont typeface="Wingdings" pitchFamily="2" charset="2"/>
              <a:buChar char="n"/>
            </a:pPr>
            <a:endParaRPr lang="en-US" altLang="zh-CN" sz="2400" dirty="0" smtClean="0">
              <a:latin typeface="Arial" pitchFamily="34" charset="0"/>
              <a:ea typeface="黑体" pitchFamily="49" charset="-122"/>
              <a:cs typeface="Arial" pitchFamily="34" charset="0"/>
            </a:endParaRPr>
          </a:p>
          <a:p>
            <a:pPr>
              <a:buFont typeface="Wingdings" pitchFamily="2" charset="2"/>
              <a:buChar char="n"/>
            </a:pP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zh-CN" altLang="en-US" sz="2400" dirty="0" smtClean="0">
                <a:latin typeface="Arial" pitchFamily="34" charset="0"/>
                <a:ea typeface="黑体" pitchFamily="49" charset="-122"/>
                <a:cs typeface="Arial" pitchFamily="34" charset="0"/>
              </a:rPr>
              <a:t>而在组学数据中，要做数以万计的检验，其中可能出现的假阳性结果的比例不容忽视。</a:t>
            </a:r>
            <a:endParaRPr lang="en-US" altLang="zh-CN" sz="2400" dirty="0" smtClean="0">
              <a:latin typeface="Arial" pitchFamily="34" charset="0"/>
              <a:ea typeface="黑体" pitchFamily="49" charset="-122"/>
              <a:cs typeface="Arial"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19</a:t>
            </a:fld>
            <a:endParaRPr lang="zh-CN" altLang="en-US"/>
          </a:p>
        </p:txBody>
      </p:sp>
      <p:sp>
        <p:nvSpPr>
          <p:cNvPr id="5" name="矩形 4"/>
          <p:cNvSpPr/>
          <p:nvPr/>
        </p:nvSpPr>
        <p:spPr>
          <a:xfrm>
            <a:off x="2477007" y="4797152"/>
            <a:ext cx="2088232" cy="646331"/>
          </a:xfrm>
          <a:prstGeom prst="rect">
            <a:avLst/>
          </a:prstGeom>
        </p:spPr>
        <p:txBody>
          <a:bodyPr wrap="square">
            <a:spAutoFit/>
          </a:bodyPr>
          <a:lstStyle/>
          <a:p>
            <a:r>
              <a:rPr lang="en-US" altLang="zh-CN" dirty="0" smtClean="0"/>
              <a:t>=1−(1−0.05)</a:t>
            </a:r>
            <a:r>
              <a:rPr lang="en-US" altLang="zh-CN" baseline="30000" dirty="0" smtClean="0"/>
              <a:t>20</a:t>
            </a:r>
            <a:r>
              <a:rPr lang="zh-CN" altLang="en-US" dirty="0" smtClean="0"/>
              <a:t> </a:t>
            </a:r>
            <a:endParaRPr lang="en-US" altLang="zh-CN" dirty="0" smtClean="0"/>
          </a:p>
          <a:p>
            <a:r>
              <a:rPr lang="zh-CN" altLang="en-US" dirty="0" smtClean="0"/>
              <a:t>≈ </a:t>
            </a:r>
            <a:r>
              <a:rPr lang="en-US" altLang="zh-CN" dirty="0" smtClean="0"/>
              <a:t>0.6415</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16632"/>
            <a:ext cx="8229600" cy="706090"/>
          </a:xfrm>
        </p:spPr>
        <p:txBody>
          <a:bodyPr/>
          <a:lstStyle/>
          <a:p>
            <a:r>
              <a:rPr lang="zh-CN" altLang="en-US" sz="3200" b="1" dirty="0" smtClean="0">
                <a:solidFill>
                  <a:srgbClr val="0000CC"/>
                </a:solidFill>
                <a:latin typeface="Arial" pitchFamily="34" charset="0"/>
                <a:ea typeface="黑体" pitchFamily="49" charset="-122"/>
                <a:cs typeface="Arial" pitchFamily="34" charset="0"/>
              </a:rPr>
              <a:t>调整</a:t>
            </a:r>
            <a:r>
              <a:rPr lang="en-US" altLang="zh-CN" sz="3200" b="1" dirty="0" smtClean="0">
                <a:solidFill>
                  <a:srgbClr val="0000CC"/>
                </a:solidFill>
                <a:latin typeface="Arial" pitchFamily="34" charset="0"/>
                <a:ea typeface="黑体" pitchFamily="49" charset="-122"/>
                <a:cs typeface="Arial" pitchFamily="34" charset="0"/>
              </a:rPr>
              <a:t>p</a:t>
            </a:r>
            <a:r>
              <a:rPr lang="zh-CN" altLang="en-US" sz="3200" b="1" dirty="0" smtClean="0">
                <a:solidFill>
                  <a:srgbClr val="0000CC"/>
                </a:solidFill>
                <a:latin typeface="Arial" pitchFamily="34" charset="0"/>
                <a:ea typeface="黑体" pitchFamily="49" charset="-122"/>
                <a:cs typeface="Arial" pitchFamily="34" charset="0"/>
              </a:rPr>
              <a:t>值</a:t>
            </a:r>
            <a:endParaRPr lang="zh-CN" altLang="en-US" sz="3200" dirty="0">
              <a:solidFill>
                <a:srgbClr val="0000CC"/>
              </a:solidFill>
              <a:latin typeface="Arial" pitchFamily="34" charset="0"/>
              <a:ea typeface="黑体" pitchFamily="49" charset="-122"/>
              <a:cs typeface="Arial" pitchFamily="34" charset="0"/>
            </a:endParaRPr>
          </a:p>
        </p:txBody>
      </p:sp>
      <p:sp>
        <p:nvSpPr>
          <p:cNvPr id="3" name="内容占位符 2"/>
          <p:cNvSpPr>
            <a:spLocks noGrp="1"/>
          </p:cNvSpPr>
          <p:nvPr>
            <p:ph idx="1"/>
          </p:nvPr>
        </p:nvSpPr>
        <p:spPr>
          <a:xfrm>
            <a:off x="0" y="980728"/>
            <a:ext cx="8964488" cy="5328592"/>
          </a:xfrm>
        </p:spPr>
        <p:txBody>
          <a:bodyPr/>
          <a:lstStyle/>
          <a:p>
            <a:pPr>
              <a:buFont typeface="Wingdings" pitchFamily="2" charset="2"/>
              <a:buChar char="n"/>
            </a:pPr>
            <a:r>
              <a:rPr lang="en-US" altLang="zh-CN" sz="2400" dirty="0" smtClean="0">
                <a:latin typeface="Arial" pitchFamily="34" charset="0"/>
                <a:ea typeface="黑体" pitchFamily="49" charset="-122"/>
                <a:cs typeface="Arial" pitchFamily="34" charset="0"/>
              </a:rPr>
              <a:t>p</a:t>
            </a:r>
            <a:r>
              <a:rPr lang="zh-CN" altLang="en-US" sz="2400" dirty="0" smtClean="0">
                <a:latin typeface="Arial" pitchFamily="34" charset="0"/>
                <a:ea typeface="黑体" pitchFamily="49" charset="-122"/>
                <a:cs typeface="Arial" pitchFamily="34" charset="0"/>
              </a:rPr>
              <a:t>值本身并没错，但是在多重检验中，传统阈值变得过于松弛，于是研究者提出了各种新的阈值方法，让实验结果更为可信；</a:t>
            </a:r>
            <a:endParaRPr lang="en-US" altLang="zh-CN" sz="2400" dirty="0" smtClean="0">
              <a:latin typeface="Arial" pitchFamily="34" charset="0"/>
              <a:ea typeface="黑体" pitchFamily="49" charset="-122"/>
              <a:cs typeface="Arial" pitchFamily="34" charset="0"/>
            </a:endParaRPr>
          </a:p>
          <a:p>
            <a:pPr lvl="1">
              <a:buNone/>
            </a:pPr>
            <a:r>
              <a:rPr lang="zh-CN" altLang="en-US" sz="2000" dirty="0" smtClean="0">
                <a:latin typeface="Arial" pitchFamily="34" charset="0"/>
                <a:ea typeface="黑体" pitchFamily="49" charset="-122"/>
                <a:cs typeface="Arial" pitchFamily="34" charset="0"/>
              </a:rPr>
              <a:t> 如：</a:t>
            </a:r>
            <a:r>
              <a:rPr lang="zh-CN" altLang="en-US" sz="2000" dirty="0" smtClean="0">
                <a:solidFill>
                  <a:srgbClr val="FF0000"/>
                </a:solidFill>
                <a:latin typeface="Arial" pitchFamily="34" charset="0"/>
                <a:ea typeface="黑体" pitchFamily="49" charset="-122"/>
                <a:cs typeface="Arial" pitchFamily="34" charset="0"/>
              </a:rPr>
              <a:t>校正</a:t>
            </a:r>
            <a:r>
              <a:rPr lang="en-US" altLang="zh-CN" sz="2000" dirty="0" smtClean="0">
                <a:solidFill>
                  <a:srgbClr val="FF0000"/>
                </a:solidFill>
                <a:latin typeface="Arial" pitchFamily="34" charset="0"/>
                <a:ea typeface="黑体" pitchFamily="49" charset="-122"/>
                <a:cs typeface="Arial" pitchFamily="34" charset="0"/>
              </a:rPr>
              <a:t>p</a:t>
            </a:r>
            <a:r>
              <a:rPr lang="zh-CN" altLang="en-US" sz="2000" dirty="0" smtClean="0">
                <a:solidFill>
                  <a:srgbClr val="FF0000"/>
                </a:solidFill>
                <a:latin typeface="Arial" pitchFamily="34" charset="0"/>
                <a:ea typeface="黑体" pitchFamily="49" charset="-122"/>
                <a:cs typeface="Arial" pitchFamily="34" charset="0"/>
              </a:rPr>
              <a:t>值（</a:t>
            </a:r>
            <a:r>
              <a:rPr lang="en-US" altLang="zh-CN" sz="2000" dirty="0" smtClean="0">
                <a:solidFill>
                  <a:srgbClr val="FF0000"/>
                </a:solidFill>
                <a:latin typeface="Arial" pitchFamily="34" charset="0"/>
                <a:ea typeface="黑体" pitchFamily="49" charset="-122"/>
                <a:cs typeface="Arial" pitchFamily="34" charset="0"/>
              </a:rPr>
              <a:t>adjusted p-value</a:t>
            </a:r>
            <a:r>
              <a:rPr lang="zh-CN" altLang="en-US" sz="2000" dirty="0" smtClean="0">
                <a:solidFill>
                  <a:srgbClr val="FF0000"/>
                </a:solidFill>
                <a:latin typeface="Arial" pitchFamily="34" charset="0"/>
                <a:ea typeface="黑体" pitchFamily="49" charset="-122"/>
                <a:cs typeface="Arial" pitchFamily="34" charset="0"/>
              </a:rPr>
              <a:t>）、</a:t>
            </a:r>
            <a:r>
              <a:rPr lang="en-US" altLang="zh-CN" sz="2000" dirty="0" smtClean="0">
                <a:solidFill>
                  <a:srgbClr val="FF0000"/>
                </a:solidFill>
                <a:latin typeface="Arial" pitchFamily="34" charset="0"/>
                <a:ea typeface="黑体" pitchFamily="49" charset="-122"/>
                <a:cs typeface="Arial" pitchFamily="34" charset="0"/>
              </a:rPr>
              <a:t>q</a:t>
            </a:r>
            <a:r>
              <a:rPr lang="zh-CN" altLang="en-US" sz="2000" dirty="0" smtClean="0">
                <a:solidFill>
                  <a:srgbClr val="FF0000"/>
                </a:solidFill>
                <a:latin typeface="Arial" pitchFamily="34" charset="0"/>
                <a:ea typeface="黑体" pitchFamily="49" charset="-122"/>
                <a:cs typeface="Arial" pitchFamily="34" charset="0"/>
              </a:rPr>
              <a:t>值（</a:t>
            </a:r>
            <a:r>
              <a:rPr lang="en-US" altLang="zh-CN" sz="2000" dirty="0" smtClean="0">
                <a:solidFill>
                  <a:srgbClr val="FF0000"/>
                </a:solidFill>
                <a:latin typeface="Arial" pitchFamily="34" charset="0"/>
                <a:ea typeface="黑体" pitchFamily="49" charset="-122"/>
                <a:cs typeface="Arial" pitchFamily="34" charset="0"/>
              </a:rPr>
              <a:t>q-value</a:t>
            </a:r>
            <a:r>
              <a:rPr lang="zh-CN" altLang="en-US" sz="2000" dirty="0" smtClean="0">
                <a:solidFill>
                  <a:srgbClr val="FF0000"/>
                </a:solidFill>
                <a:latin typeface="Arial" pitchFamily="34" charset="0"/>
                <a:ea typeface="黑体" pitchFamily="49" charset="-122"/>
                <a:cs typeface="Arial" pitchFamily="34" charset="0"/>
              </a:rPr>
              <a:t>）、错误（伪）发现率</a:t>
            </a:r>
            <a:r>
              <a:rPr lang="en-US" altLang="zh-CN" sz="2000" dirty="0" smtClean="0">
                <a:solidFill>
                  <a:srgbClr val="FF0000"/>
                </a:solidFill>
                <a:latin typeface="Arial" pitchFamily="34" charset="0"/>
                <a:ea typeface="黑体" pitchFamily="49" charset="-122"/>
                <a:cs typeface="Arial" pitchFamily="34" charset="0"/>
              </a:rPr>
              <a:t>FDR</a:t>
            </a:r>
            <a:r>
              <a:rPr lang="zh-CN" altLang="en-US" sz="2000" dirty="0" smtClean="0">
                <a:solidFill>
                  <a:srgbClr val="FF0000"/>
                </a:solidFill>
                <a:latin typeface="Arial" pitchFamily="34" charset="0"/>
                <a:ea typeface="黑体" pitchFamily="49" charset="-122"/>
                <a:cs typeface="Arial" pitchFamily="34" charset="0"/>
              </a:rPr>
              <a:t>（</a:t>
            </a:r>
            <a:r>
              <a:rPr lang="en-US" altLang="zh-CN" sz="2000" dirty="0" smtClean="0">
                <a:solidFill>
                  <a:srgbClr val="FF0000"/>
                </a:solidFill>
                <a:latin typeface="Arial" pitchFamily="34" charset="0"/>
                <a:ea typeface="黑体" pitchFamily="49" charset="-122"/>
                <a:cs typeface="Arial" pitchFamily="34" charset="0"/>
              </a:rPr>
              <a:t>false discovery rate</a:t>
            </a:r>
            <a:r>
              <a:rPr lang="zh-CN" altLang="en-US" sz="2000" dirty="0" smtClean="0">
                <a:solidFill>
                  <a:srgbClr val="FF0000"/>
                </a:solidFill>
                <a:latin typeface="Arial" pitchFamily="34" charset="0"/>
                <a:ea typeface="黑体" pitchFamily="49" charset="-122"/>
                <a:cs typeface="Arial" pitchFamily="34" charset="0"/>
              </a:rPr>
              <a:t>）</a:t>
            </a:r>
            <a:r>
              <a:rPr lang="zh-CN" altLang="en-US" sz="2000" dirty="0" smtClean="0">
                <a:latin typeface="Arial" pitchFamily="34" charset="0"/>
                <a:ea typeface="黑体" pitchFamily="49" charset="-122"/>
                <a:cs typeface="Arial" pitchFamily="34" charset="0"/>
              </a:rPr>
              <a:t>等</a:t>
            </a:r>
            <a:endParaRPr lang="en-US" altLang="zh-CN" sz="2000" dirty="0" smtClean="0">
              <a:latin typeface="Arial" pitchFamily="34" charset="0"/>
              <a:ea typeface="黑体" pitchFamily="49" charset="-122"/>
              <a:cs typeface="Arial" pitchFamily="34" charset="0"/>
            </a:endParaRPr>
          </a:p>
          <a:p>
            <a:pPr>
              <a:buFont typeface="Wingdings" pitchFamily="2" charset="2"/>
              <a:buChar char="n"/>
            </a:pPr>
            <a:endParaRPr lang="zh-CN" altLang="en-US" sz="2400" dirty="0" smtClean="0">
              <a:latin typeface="Arial" pitchFamily="34" charset="0"/>
              <a:ea typeface="黑体" pitchFamily="49" charset="-122"/>
              <a:cs typeface="Arial" pitchFamily="34" charset="0"/>
            </a:endParaRPr>
          </a:p>
          <a:p>
            <a:pPr>
              <a:buFont typeface="Wingdings" pitchFamily="2" charset="2"/>
              <a:buChar char="n"/>
            </a:pPr>
            <a:r>
              <a:rPr lang="en-US" altLang="zh-CN" sz="2400" dirty="0" err="1" smtClean="0">
                <a:solidFill>
                  <a:srgbClr val="FF0000"/>
                </a:solidFill>
                <a:latin typeface="Arial" pitchFamily="34" charset="0"/>
                <a:ea typeface="黑体" pitchFamily="49" charset="-122"/>
                <a:cs typeface="Arial" pitchFamily="34" charset="0"/>
              </a:rPr>
              <a:t>Bonferroni</a:t>
            </a:r>
            <a:r>
              <a:rPr lang="zh-CN" altLang="en-US" sz="2400" dirty="0" smtClean="0">
                <a:solidFill>
                  <a:srgbClr val="FF0000"/>
                </a:solidFill>
                <a:latin typeface="Arial" pitchFamily="34" charset="0"/>
                <a:ea typeface="黑体" pitchFamily="49" charset="-122"/>
                <a:cs typeface="Arial" pitchFamily="34" charset="0"/>
              </a:rPr>
              <a:t>校正</a:t>
            </a:r>
            <a:r>
              <a:rPr lang="zh-CN" altLang="en-US" sz="2400" dirty="0" smtClean="0">
                <a:latin typeface="Arial" pitchFamily="34" charset="0"/>
                <a:ea typeface="黑体" pitchFamily="49" charset="-122"/>
                <a:cs typeface="Arial" pitchFamily="34" charset="0"/>
              </a:rPr>
              <a:t>是一个简单常用的方法；</a:t>
            </a:r>
            <a:endParaRPr lang="en-US" altLang="zh-CN" sz="2400" dirty="0" smtClean="0">
              <a:latin typeface="Arial" pitchFamily="34" charset="0"/>
              <a:ea typeface="黑体" pitchFamily="49" charset="-122"/>
              <a:cs typeface="Arial" pitchFamily="34" charset="0"/>
            </a:endParaRPr>
          </a:p>
          <a:p>
            <a:pPr>
              <a:buNone/>
            </a:pPr>
            <a:r>
              <a:rPr lang="en-US" altLang="zh-CN" sz="2000" dirty="0" smtClean="0">
                <a:latin typeface="Arial" pitchFamily="34" charset="0"/>
                <a:ea typeface="黑体" pitchFamily="49" charset="-122"/>
                <a:cs typeface="Arial" pitchFamily="34" charset="0"/>
              </a:rPr>
              <a:t>		Family-Wise Error Rate, FWER</a:t>
            </a:r>
            <a:r>
              <a:rPr lang="zh-CN" altLang="en-US" sz="2000" dirty="0" smtClean="0">
                <a:latin typeface="Arial" pitchFamily="34" charset="0"/>
                <a:ea typeface="黑体" pitchFamily="49" charset="-122"/>
                <a:cs typeface="Arial" pitchFamily="34" charset="0"/>
              </a:rPr>
              <a:t>（</a:t>
            </a:r>
            <a:r>
              <a:rPr lang="zh-CN" altLang="en-US" sz="2000" dirty="0" smtClean="0">
                <a:solidFill>
                  <a:srgbClr val="0000CC"/>
                </a:solidFill>
                <a:latin typeface="Arial" pitchFamily="34" charset="0"/>
                <a:ea typeface="黑体" pitchFamily="49" charset="-122"/>
                <a:cs typeface="Arial" pitchFamily="34" charset="0"/>
              </a:rPr>
              <a:t>总体错误率</a:t>
            </a:r>
            <a:r>
              <a:rPr lang="zh-CN" altLang="en-US" sz="2000" dirty="0" smtClean="0">
                <a:latin typeface="Arial" pitchFamily="34" charset="0"/>
                <a:ea typeface="黑体" pitchFamily="49" charset="-122"/>
                <a:cs typeface="Arial" pitchFamily="34" charset="0"/>
              </a:rPr>
              <a:t>）</a:t>
            </a:r>
            <a:endParaRPr lang="en-US" altLang="zh-CN" sz="2400" dirty="0" smtClean="0">
              <a:latin typeface="Arial" pitchFamily="34" charset="0"/>
              <a:ea typeface="黑体" pitchFamily="49" charset="-122"/>
              <a:cs typeface="Arial" pitchFamily="34" charset="0"/>
            </a:endParaRPr>
          </a:p>
          <a:p>
            <a:pPr>
              <a:buFont typeface="Wingdings" pitchFamily="2" charset="2"/>
              <a:buChar char="n"/>
            </a:pPr>
            <a:endParaRPr lang="en-US" altLang="zh-CN" sz="2400" dirty="0" smtClean="0">
              <a:latin typeface="Arial" pitchFamily="34" charset="0"/>
              <a:ea typeface="黑体" pitchFamily="49" charset="-122"/>
              <a:cs typeface="Arial" pitchFamily="34" charset="0"/>
            </a:endParaRPr>
          </a:p>
          <a:p>
            <a:pPr>
              <a:buFont typeface="Wingdings" pitchFamily="2" charset="2"/>
              <a:buChar char="n"/>
            </a:pPr>
            <a:endParaRPr lang="en-US" altLang="zh-CN" sz="2400" dirty="0" smtClean="0">
              <a:latin typeface="Arial" pitchFamily="34" charset="0"/>
              <a:ea typeface="黑体" pitchFamily="49" charset="-122"/>
              <a:cs typeface="Arial" pitchFamily="34" charset="0"/>
            </a:endParaRPr>
          </a:p>
          <a:p>
            <a:pPr>
              <a:buNone/>
            </a:pP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en-US" altLang="zh-CN" sz="2400" dirty="0" err="1" smtClean="0">
                <a:latin typeface="Arial" pitchFamily="34" charset="0"/>
                <a:ea typeface="黑体" pitchFamily="49" charset="-122"/>
                <a:cs typeface="Arial" pitchFamily="34" charset="0"/>
              </a:rPr>
              <a:t>Bonferroni</a:t>
            </a:r>
            <a:r>
              <a:rPr lang="zh-CN" altLang="en-US" sz="2400" dirty="0" smtClean="0">
                <a:latin typeface="Arial" pitchFamily="34" charset="0"/>
                <a:ea typeface="黑体" pitchFamily="49" charset="-122"/>
                <a:cs typeface="Arial" pitchFamily="34" charset="0"/>
              </a:rPr>
              <a:t>方法提供全局校正，然而在实际应用中过于严格，特别是对于大规模组学数据，可能导致假阴性率（</a:t>
            </a:r>
            <a:r>
              <a:rPr lang="en-US" altLang="zh-CN" sz="2400" dirty="0" smtClean="0">
                <a:solidFill>
                  <a:srgbClr val="FF0000"/>
                </a:solidFill>
                <a:latin typeface="Arial" pitchFamily="34" charset="0"/>
                <a:ea typeface="黑体" pitchFamily="49" charset="-122"/>
                <a:cs typeface="Arial" pitchFamily="34" charset="0"/>
              </a:rPr>
              <a:t>FNR</a:t>
            </a:r>
            <a:r>
              <a:rPr lang="zh-CN" altLang="en-US" sz="2400" dirty="0" smtClean="0">
                <a:latin typeface="Arial" pitchFamily="34" charset="0"/>
                <a:ea typeface="黑体" pitchFamily="49" charset="-122"/>
                <a:cs typeface="Arial" pitchFamily="34" charset="0"/>
              </a:rPr>
              <a:t>）上升。为此，我们可选用另一种方法：</a:t>
            </a:r>
            <a:r>
              <a:rPr lang="en-US" altLang="zh-CN" sz="2400" b="1" dirty="0" smtClean="0">
                <a:solidFill>
                  <a:srgbClr val="FF0000"/>
                </a:solidFill>
                <a:latin typeface="Arial" pitchFamily="34" charset="0"/>
                <a:ea typeface="黑体" pitchFamily="49" charset="-122"/>
                <a:cs typeface="Arial" pitchFamily="34" charset="0"/>
              </a:rPr>
              <a:t>FDR</a:t>
            </a:r>
            <a:r>
              <a:rPr lang="zh-CN" altLang="en-US" sz="2400" b="1" dirty="0" smtClean="0">
                <a:solidFill>
                  <a:srgbClr val="FF0000"/>
                </a:solidFill>
                <a:latin typeface="Arial" pitchFamily="34" charset="0"/>
                <a:ea typeface="黑体" pitchFamily="49" charset="-122"/>
                <a:cs typeface="Arial" pitchFamily="34" charset="0"/>
              </a:rPr>
              <a:t>法</a:t>
            </a:r>
            <a:r>
              <a:rPr lang="zh-CN" altLang="en-US" sz="2400" dirty="0" smtClean="0">
                <a:latin typeface="Arial" pitchFamily="34" charset="0"/>
                <a:ea typeface="黑体" pitchFamily="49" charset="-122"/>
                <a:cs typeface="Arial" pitchFamily="34" charset="0"/>
              </a:rPr>
              <a:t>。</a:t>
            </a: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20</a:t>
            </a:fld>
            <a:endParaRPr lang="zh-CN" altLang="en-US" dirty="0"/>
          </a:p>
        </p:txBody>
      </p:sp>
      <p:pic>
        <p:nvPicPr>
          <p:cNvPr id="1026" name="Picture 2"/>
          <p:cNvPicPr>
            <a:picLocks noChangeAspect="1" noChangeArrowheads="1"/>
          </p:cNvPicPr>
          <p:nvPr/>
        </p:nvPicPr>
        <p:blipFill>
          <a:blip r:embed="rId2" cstate="print"/>
          <a:srcRect/>
          <a:stretch>
            <a:fillRect/>
          </a:stretch>
        </p:blipFill>
        <p:spPr bwMode="auto">
          <a:xfrm>
            <a:off x="899592" y="3861048"/>
            <a:ext cx="6596843" cy="84420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a:xfrm>
            <a:off x="457200" y="116632"/>
            <a:ext cx="8229600" cy="706090"/>
          </a:xfrm>
        </p:spPr>
        <p:txBody>
          <a:bodyPr/>
          <a:lstStyle/>
          <a:p>
            <a:r>
              <a:rPr lang="en-US" altLang="zh-CN" sz="3200" b="1" dirty="0" smtClean="0">
                <a:solidFill>
                  <a:srgbClr val="0000CC"/>
                </a:solidFill>
                <a:latin typeface="Arial" pitchFamily="34" charset="0"/>
                <a:cs typeface="Arial" pitchFamily="34" charset="0"/>
              </a:rPr>
              <a:t>The false discovery rate (FDR)</a:t>
            </a:r>
            <a:endParaRPr lang="zh-CN" altLang="en-US" sz="3200" dirty="0">
              <a:solidFill>
                <a:srgbClr val="0000CC"/>
              </a:solidFill>
              <a:latin typeface="Arial" pitchFamily="34" charset="0"/>
              <a:cs typeface="Arial" pitchFamily="34" charset="0"/>
            </a:endParaRPr>
          </a:p>
        </p:txBody>
      </p:sp>
      <p:sp>
        <p:nvSpPr>
          <p:cNvPr id="12" name="内容占位符 2"/>
          <p:cNvSpPr>
            <a:spLocks noGrp="1"/>
          </p:cNvSpPr>
          <p:nvPr>
            <p:ph idx="1"/>
          </p:nvPr>
        </p:nvSpPr>
        <p:spPr>
          <a:xfrm>
            <a:off x="35496" y="933698"/>
            <a:ext cx="9071992" cy="5231606"/>
          </a:xfrm>
        </p:spPr>
        <p:txBody>
          <a:bodyPr/>
          <a:lstStyle/>
          <a:p>
            <a:pPr>
              <a:buFont typeface="Wingdings" pitchFamily="2" charset="2"/>
              <a:buChar char="n"/>
            </a:pPr>
            <a:r>
              <a:rPr lang="en-US" altLang="zh-CN" sz="2400" dirty="0" smtClean="0">
                <a:latin typeface="Arial" pitchFamily="34" charset="0"/>
                <a:ea typeface="黑体" pitchFamily="49" charset="-122"/>
                <a:cs typeface="Arial" pitchFamily="34" charset="0"/>
              </a:rPr>
              <a:t>FDR</a:t>
            </a:r>
            <a:r>
              <a:rPr lang="zh-CN" altLang="en-US" sz="2400" dirty="0" smtClean="0">
                <a:latin typeface="Arial" pitchFamily="34" charset="0"/>
                <a:ea typeface="黑体" pitchFamily="49" charset="-122"/>
                <a:cs typeface="Arial" pitchFamily="34" charset="0"/>
              </a:rPr>
              <a:t>（</a:t>
            </a:r>
            <a:r>
              <a:rPr lang="en-US" altLang="zh-CN" sz="2400" dirty="0" smtClean="0">
                <a:latin typeface="Arial" pitchFamily="34" charset="0"/>
                <a:ea typeface="黑体" pitchFamily="49" charset="-122"/>
                <a:cs typeface="Arial" pitchFamily="34" charset="0"/>
              </a:rPr>
              <a:t>false discovery rate</a:t>
            </a:r>
            <a:r>
              <a:rPr lang="zh-CN" altLang="en-US" sz="2400" dirty="0" smtClean="0">
                <a:latin typeface="Arial" pitchFamily="34" charset="0"/>
                <a:ea typeface="黑体" pitchFamily="49" charset="-122"/>
                <a:cs typeface="Arial" pitchFamily="34" charset="0"/>
              </a:rPr>
              <a:t>，</a:t>
            </a:r>
            <a:r>
              <a:rPr lang="zh-CN" altLang="en-US" sz="2400" dirty="0" smtClean="0">
                <a:solidFill>
                  <a:srgbClr val="FF0000"/>
                </a:solidFill>
                <a:latin typeface="Arial" pitchFamily="34" charset="0"/>
                <a:ea typeface="黑体" pitchFamily="49" charset="-122"/>
                <a:cs typeface="Arial" pitchFamily="34" charset="0"/>
              </a:rPr>
              <a:t>错误发现率</a:t>
            </a:r>
            <a:r>
              <a:rPr lang="zh-CN" altLang="en-US" sz="2400" dirty="0" smtClean="0">
                <a:latin typeface="Arial" pitchFamily="34" charset="0"/>
                <a:ea typeface="黑体" pitchFamily="49" charset="-122"/>
                <a:cs typeface="Arial" pitchFamily="34" charset="0"/>
              </a:rPr>
              <a:t>）的意义是：错误拒绝（拒绝真的（原）假设）的个数占所有被拒绝的原假设个数的比例的期望值。</a:t>
            </a:r>
            <a:endParaRPr lang="en-US" altLang="zh-CN" sz="2400" dirty="0" smtClean="0">
              <a:latin typeface="Arial" pitchFamily="34" charset="0"/>
              <a:ea typeface="黑体" pitchFamily="49" charset="-122"/>
              <a:cs typeface="Arial" pitchFamily="34" charset="0"/>
            </a:endParaRPr>
          </a:p>
          <a:p>
            <a:pPr>
              <a:buNone/>
            </a:pPr>
            <a:r>
              <a:rPr lang="en-US" altLang="zh-CN" sz="2000" dirty="0" smtClean="0">
                <a:solidFill>
                  <a:srgbClr val="0000CC"/>
                </a:solidFill>
                <a:latin typeface="Arial" pitchFamily="34" charset="0"/>
                <a:ea typeface="黑体" pitchFamily="49" charset="-122"/>
                <a:cs typeface="Arial" pitchFamily="34" charset="0"/>
              </a:rPr>
              <a:t>       		FDR(t) = E[</a:t>
            </a:r>
            <a:r>
              <a:rPr lang="en-US" altLang="zh-CN" sz="2000" i="1" dirty="0" smtClean="0">
                <a:solidFill>
                  <a:srgbClr val="0000CC"/>
                </a:solidFill>
                <a:latin typeface="Arial" pitchFamily="34" charset="0"/>
                <a:ea typeface="黑体" pitchFamily="49" charset="-122"/>
                <a:cs typeface="Arial" pitchFamily="34" charset="0"/>
              </a:rPr>
              <a:t>FP(t)/P(t)]</a:t>
            </a:r>
          </a:p>
          <a:p>
            <a:pPr>
              <a:buFont typeface="Wingdings" pitchFamily="2" charset="2"/>
              <a:buChar char="n"/>
            </a:pP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en-US" altLang="zh-CN" sz="2400" dirty="0" smtClean="0">
                <a:latin typeface="Arial" pitchFamily="34" charset="0"/>
                <a:ea typeface="黑体" pitchFamily="49" charset="-122"/>
                <a:cs typeface="Arial" pitchFamily="34" charset="0"/>
              </a:rPr>
              <a:t>FDR </a:t>
            </a:r>
            <a:r>
              <a:rPr lang="zh-CN" altLang="en-US" sz="2400" dirty="0" smtClean="0">
                <a:latin typeface="Arial" pitchFamily="34" charset="0"/>
                <a:ea typeface="黑体" pitchFamily="49" charset="-122"/>
                <a:cs typeface="Arial" pitchFamily="34" charset="0"/>
              </a:rPr>
              <a:t>具有以下优点 </a:t>
            </a:r>
            <a:r>
              <a:rPr lang="en-US" altLang="zh-CN" sz="2400" dirty="0" smtClean="0">
                <a:latin typeface="Arial" pitchFamily="34" charset="0"/>
                <a:ea typeface="黑体" pitchFamily="49" charset="-122"/>
                <a:cs typeface="Arial" pitchFamily="34" charset="0"/>
              </a:rPr>
              <a:t>: </a:t>
            </a:r>
          </a:p>
          <a:p>
            <a:pPr lvl="1">
              <a:buFont typeface="Wingdings" pitchFamily="2" charset="2"/>
              <a:buChar char="n"/>
            </a:pPr>
            <a:r>
              <a:rPr lang="zh-CN" altLang="en-US" sz="2000" dirty="0" smtClean="0">
                <a:latin typeface="Arial" pitchFamily="34" charset="0"/>
                <a:ea typeface="黑体" pitchFamily="49" charset="-122"/>
                <a:cs typeface="Arial" pitchFamily="34" charset="0"/>
              </a:rPr>
              <a:t>可以灵活调整其取值作为假设检验错误率的控制指标，而传统的假设检验</a:t>
            </a:r>
            <a:r>
              <a:rPr lang="en-US" altLang="zh-CN" sz="2000" dirty="0" smtClean="0">
                <a:latin typeface="Arial" pitchFamily="34" charset="0"/>
                <a:ea typeface="黑体" pitchFamily="49" charset="-122"/>
                <a:cs typeface="Arial" pitchFamily="34" charset="0"/>
              </a:rPr>
              <a:t>(</a:t>
            </a:r>
            <a:r>
              <a:rPr lang="zh-CN" altLang="en-US" sz="2000" dirty="0" smtClean="0">
                <a:solidFill>
                  <a:srgbClr val="0000CC"/>
                </a:solidFill>
                <a:latin typeface="Arial" pitchFamily="34" charset="0"/>
                <a:ea typeface="黑体" pitchFamily="49" charset="-122"/>
                <a:cs typeface="Arial" pitchFamily="34" charset="0"/>
              </a:rPr>
              <a:t>总体错误率</a:t>
            </a:r>
            <a:r>
              <a:rPr lang="zh-CN" altLang="en-US" sz="2000" dirty="0" smtClean="0">
                <a:latin typeface="Arial" pitchFamily="34" charset="0"/>
                <a:ea typeface="黑体" pitchFamily="49" charset="-122"/>
                <a:cs typeface="Arial" pitchFamily="34" charset="0"/>
              </a:rPr>
              <a:t>，</a:t>
            </a:r>
            <a:r>
              <a:rPr lang="en-US" altLang="zh-CN" sz="2000" dirty="0" smtClean="0">
                <a:latin typeface="Arial" pitchFamily="34" charset="0"/>
                <a:ea typeface="黑体" pitchFamily="49" charset="-122"/>
                <a:cs typeface="Arial" pitchFamily="34" charset="0"/>
              </a:rPr>
              <a:t>FWER) </a:t>
            </a:r>
            <a:r>
              <a:rPr lang="zh-CN" altLang="en-US" sz="2000" dirty="0" smtClean="0">
                <a:latin typeface="Arial" pitchFamily="34" charset="0"/>
                <a:ea typeface="黑体" pitchFamily="49" charset="-122"/>
                <a:cs typeface="Arial" pitchFamily="34" charset="0"/>
              </a:rPr>
              <a:t>的取值则较为固定，通常定为 </a:t>
            </a:r>
            <a:r>
              <a:rPr lang="en-US" altLang="zh-CN" sz="2000" dirty="0" smtClean="0">
                <a:latin typeface="Arial" pitchFamily="34" charset="0"/>
                <a:ea typeface="黑体" pitchFamily="49" charset="-122"/>
                <a:cs typeface="Arial" pitchFamily="34" charset="0"/>
              </a:rPr>
              <a:t>0.05; </a:t>
            </a:r>
          </a:p>
          <a:p>
            <a:pPr lvl="1">
              <a:buFont typeface="Wingdings" pitchFamily="2" charset="2"/>
              <a:buChar char="n"/>
            </a:pPr>
            <a:r>
              <a:rPr lang="en-US" altLang="zh-CN" sz="2000" dirty="0" smtClean="0">
                <a:latin typeface="Arial" pitchFamily="34" charset="0"/>
                <a:ea typeface="黑体" pitchFamily="49" charset="-122"/>
                <a:cs typeface="Arial" pitchFamily="34" charset="0"/>
              </a:rPr>
              <a:t>FDR </a:t>
            </a:r>
            <a:r>
              <a:rPr lang="zh-CN" altLang="en-US" sz="2000" dirty="0" smtClean="0">
                <a:latin typeface="Arial" pitchFamily="34" charset="0"/>
                <a:ea typeface="黑体" pitchFamily="49" charset="-122"/>
                <a:cs typeface="Arial" pitchFamily="34" charset="0"/>
              </a:rPr>
              <a:t>的意义明确，可以作为筛选出的差异变量的评价指标。</a:t>
            </a:r>
            <a:endParaRPr lang="en-US" altLang="zh-CN" sz="2000" dirty="0" smtClean="0">
              <a:latin typeface="Arial" pitchFamily="34" charset="0"/>
              <a:ea typeface="黑体" pitchFamily="49" charset="-122"/>
              <a:cs typeface="Arial" pitchFamily="34" charset="0"/>
            </a:endParaRPr>
          </a:p>
          <a:p>
            <a:pPr>
              <a:buNone/>
            </a:pP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en-US" altLang="zh-CN" sz="2400" dirty="0">
                <a:latin typeface="Arial" pitchFamily="34" charset="0"/>
                <a:ea typeface="黑体" pitchFamily="49" charset="-122"/>
                <a:cs typeface="Arial" pitchFamily="34" charset="0"/>
              </a:rPr>
              <a:t>FDR </a:t>
            </a:r>
            <a:r>
              <a:rPr lang="zh-CN" altLang="en-US" sz="2400" dirty="0" smtClean="0">
                <a:latin typeface="Arial" pitchFamily="34" charset="0"/>
                <a:ea typeface="黑体" pitchFamily="49" charset="-122"/>
                <a:cs typeface="Arial" pitchFamily="34" charset="0"/>
              </a:rPr>
              <a:t>是为了控制假阳性率升高而提出的一种理念，它包含很多种校正方法，最为常见的是</a:t>
            </a:r>
            <a:r>
              <a:rPr lang="en-US" altLang="zh-CN" sz="2400" dirty="0" err="1" smtClean="0">
                <a:latin typeface="Arial" pitchFamily="34" charset="0"/>
                <a:ea typeface="黑体" pitchFamily="49" charset="-122"/>
                <a:cs typeface="Arial" pitchFamily="34" charset="0"/>
              </a:rPr>
              <a:t>Benjamini</a:t>
            </a:r>
            <a:r>
              <a:rPr lang="en-US" altLang="zh-CN" sz="2400" dirty="0" smtClean="0">
                <a:latin typeface="Arial" pitchFamily="34" charset="0"/>
                <a:ea typeface="黑体" pitchFamily="49" charset="-122"/>
                <a:cs typeface="Arial" pitchFamily="34" charset="0"/>
              </a:rPr>
              <a:t>-Hochberg</a:t>
            </a:r>
            <a:r>
              <a:rPr lang="zh-CN" altLang="en-US" sz="2400" dirty="0" smtClean="0">
                <a:latin typeface="Arial" pitchFamily="34" charset="0"/>
                <a:ea typeface="黑体" pitchFamily="49" charset="-122"/>
                <a:cs typeface="Arial" pitchFamily="34" charset="0"/>
              </a:rPr>
              <a:t>方法</a:t>
            </a:r>
            <a:r>
              <a:rPr lang="en-US" altLang="zh-CN" sz="2400" dirty="0" smtClean="0">
                <a:latin typeface="Arial" pitchFamily="34" charset="0"/>
                <a:ea typeface="黑体" pitchFamily="49" charset="-122"/>
                <a:cs typeface="Arial" pitchFamily="34" charset="0"/>
              </a:rPr>
              <a:t>(BH</a:t>
            </a:r>
            <a:r>
              <a:rPr lang="zh-CN" altLang="en-US" sz="2400" dirty="0" smtClean="0">
                <a:latin typeface="Arial" pitchFamily="34" charset="0"/>
                <a:ea typeface="黑体" pitchFamily="49" charset="-122"/>
                <a:cs typeface="Arial" pitchFamily="34" charset="0"/>
              </a:rPr>
              <a:t>法</a:t>
            </a:r>
            <a:r>
              <a:rPr lang="en-US" altLang="zh-CN" sz="2400" dirty="0" smtClean="0">
                <a:latin typeface="Arial" pitchFamily="34" charset="0"/>
                <a:ea typeface="黑体" pitchFamily="49" charset="-122"/>
                <a:cs typeface="Arial" pitchFamily="34" charset="0"/>
              </a:rPr>
              <a:t>)</a:t>
            </a:r>
            <a:r>
              <a:rPr lang="zh-CN" altLang="en-US" sz="2400" dirty="0" smtClean="0">
                <a:latin typeface="Arial" pitchFamily="34" charset="0"/>
                <a:ea typeface="黑体" pitchFamily="49" charset="-122"/>
                <a:cs typeface="Arial" pitchFamily="34" charset="0"/>
              </a:rPr>
              <a:t>；</a:t>
            </a:r>
            <a:endParaRPr lang="en-US" altLang="zh-CN" sz="2400" dirty="0" smtClean="0">
              <a:latin typeface="Arial" pitchFamily="34" charset="0"/>
              <a:ea typeface="黑体" pitchFamily="49" charset="-122"/>
              <a:cs typeface="Arial" pitchFamily="34" charset="0"/>
            </a:endParaRPr>
          </a:p>
          <a:p>
            <a:pPr marL="457200" lvl="1" indent="0">
              <a:buNone/>
            </a:pPr>
            <a:r>
              <a:rPr lang="en-US" altLang="zh-CN" sz="2000" i="1" dirty="0" smtClean="0">
                <a:solidFill>
                  <a:srgbClr val="FF0000"/>
                </a:solidFill>
                <a:latin typeface="Arial" pitchFamily="34" charset="0"/>
                <a:ea typeface="黑体" pitchFamily="49" charset="-122"/>
                <a:cs typeface="Arial" pitchFamily="34" charset="0"/>
              </a:rPr>
              <a:t>  q-value</a:t>
            </a:r>
            <a:r>
              <a:rPr lang="zh-CN" altLang="en-US" sz="2000" dirty="0" smtClean="0">
                <a:latin typeface="Arial" pitchFamily="34" charset="0"/>
                <a:ea typeface="黑体" pitchFamily="49" charset="-122"/>
                <a:cs typeface="Arial" pitchFamily="34" charset="0"/>
              </a:rPr>
              <a:t>指</a:t>
            </a:r>
            <a:r>
              <a:rPr lang="zh-CN" altLang="en-US" sz="2000" dirty="0">
                <a:latin typeface="Arial" pitchFamily="34" charset="0"/>
                <a:ea typeface="黑体" pitchFamily="49" charset="-122"/>
                <a:cs typeface="Arial" pitchFamily="34" charset="0"/>
              </a:rPr>
              <a:t>的是</a:t>
            </a:r>
            <a:r>
              <a:rPr lang="zh-CN" altLang="en-US" sz="2000" dirty="0" smtClean="0">
                <a:latin typeface="Arial" pitchFamily="34" charset="0"/>
                <a:ea typeface="黑体" pitchFamily="49" charset="-122"/>
                <a:cs typeface="Arial" pitchFamily="34" charset="0"/>
              </a:rPr>
              <a:t>用</a:t>
            </a:r>
            <a:r>
              <a:rPr lang="en-US" altLang="zh-CN" sz="2000" dirty="0" smtClean="0">
                <a:latin typeface="Arial" pitchFamily="34" charset="0"/>
                <a:ea typeface="黑体" pitchFamily="49" charset="-122"/>
                <a:cs typeface="Arial" pitchFamily="34" charset="0"/>
              </a:rPr>
              <a:t>FDR</a:t>
            </a:r>
            <a:r>
              <a:rPr lang="zh-CN" altLang="en-US" sz="2000" dirty="0" smtClean="0">
                <a:latin typeface="Arial" pitchFamily="34" charset="0"/>
                <a:ea typeface="黑体" pitchFamily="49" charset="-122"/>
                <a:cs typeface="Arial" pitchFamily="34" charset="0"/>
              </a:rPr>
              <a:t>方法校正后的</a:t>
            </a:r>
            <a:r>
              <a:rPr lang="en-US" altLang="zh-CN" sz="2000" dirty="0" smtClean="0">
                <a:latin typeface="Arial" pitchFamily="34" charset="0"/>
                <a:ea typeface="黑体" pitchFamily="49" charset="-122"/>
                <a:cs typeface="Arial" pitchFamily="34" charset="0"/>
              </a:rPr>
              <a:t>p-value</a:t>
            </a:r>
            <a:r>
              <a:rPr lang="zh-CN" altLang="en-US" sz="2000" dirty="0" smtClean="0">
                <a:latin typeface="Arial" pitchFamily="34" charset="0"/>
                <a:ea typeface="黑体" pitchFamily="49" charset="-122"/>
                <a:cs typeface="Arial" pitchFamily="34" charset="0"/>
              </a:rPr>
              <a:t>。</a:t>
            </a:r>
            <a:endParaRPr lang="en-US" altLang="zh-CN" sz="1600" b="1" i="1" dirty="0" smtClean="0">
              <a:latin typeface="Arial" pitchFamily="34" charset="0"/>
              <a:ea typeface="黑体" pitchFamily="49" charset="-122"/>
              <a:cs typeface="Arial" pitchFamily="34" charset="0"/>
            </a:endParaRPr>
          </a:p>
        </p:txBody>
      </p:sp>
      <p:sp>
        <p:nvSpPr>
          <p:cNvPr id="13" name="灯片编号占位符 3"/>
          <p:cNvSpPr>
            <a:spLocks noGrp="1"/>
          </p:cNvSpPr>
          <p:nvPr>
            <p:ph type="sldNum" sz="quarter" idx="12"/>
          </p:nvPr>
        </p:nvSpPr>
        <p:spPr>
          <a:xfrm>
            <a:off x="6553200" y="6356350"/>
            <a:ext cx="2133600" cy="365125"/>
          </a:xfrm>
        </p:spPr>
        <p:txBody>
          <a:bodyPr/>
          <a:lstStyle/>
          <a:p>
            <a:pPr>
              <a:defRPr/>
            </a:pPr>
            <a:fld id="{86C75756-0271-488A-B748-639BD5BFB0CE}" type="slidenum">
              <a:rPr lang="zh-CN" altLang="en-US" smtClean="0"/>
              <a:pPr>
                <a:defRPr/>
              </a:pPr>
              <a:t>21</a:t>
            </a:fld>
            <a:endParaRPr lang="zh-CN" altLang="en-US" dirty="0"/>
          </a:p>
        </p:txBody>
      </p:sp>
      <p:sp>
        <p:nvSpPr>
          <p:cNvPr id="14" name="矩形 13"/>
          <p:cNvSpPr/>
          <p:nvPr/>
        </p:nvSpPr>
        <p:spPr>
          <a:xfrm>
            <a:off x="323528" y="6207695"/>
            <a:ext cx="8226476" cy="461665"/>
          </a:xfrm>
          <a:prstGeom prst="rect">
            <a:avLst/>
          </a:prstGeom>
          <a:ln w="12700">
            <a:solidFill>
              <a:srgbClr val="FF0000"/>
            </a:solidFill>
          </a:ln>
        </p:spPr>
        <p:txBody>
          <a:bodyPr wrap="square">
            <a:spAutoFit/>
          </a:bodyPr>
          <a:lstStyle/>
          <a:p>
            <a:r>
              <a:rPr lang="zh-CN" altLang="en-US" sz="2400" dirty="0" smtClean="0">
                <a:latin typeface="Arial" pitchFamily="34" charset="0"/>
                <a:ea typeface="黑体" pitchFamily="49" charset="-122"/>
                <a:cs typeface="Arial" pitchFamily="34" charset="0"/>
              </a:rPr>
              <a:t>通常情况下，可以认为：</a:t>
            </a:r>
            <a:r>
              <a:rPr lang="en-US" altLang="zh-CN" sz="2400" i="1" dirty="0" smtClean="0">
                <a:solidFill>
                  <a:srgbClr val="FF0000"/>
                </a:solidFill>
                <a:latin typeface="Arial" pitchFamily="34" charset="0"/>
                <a:ea typeface="黑体" pitchFamily="49" charset="-122"/>
                <a:cs typeface="Arial" pitchFamily="34" charset="0"/>
              </a:rPr>
              <a:t> </a:t>
            </a:r>
            <a:r>
              <a:rPr lang="en-US" altLang="zh-CN" sz="2400" dirty="0" smtClean="0">
                <a:solidFill>
                  <a:srgbClr val="FF0000"/>
                </a:solidFill>
                <a:latin typeface="Arial" pitchFamily="34" charset="0"/>
                <a:ea typeface="黑体" pitchFamily="49" charset="-122"/>
                <a:cs typeface="Arial" pitchFamily="34" charset="0"/>
              </a:rPr>
              <a:t>q-value = FDR = adjusted p value</a:t>
            </a:r>
            <a:endParaRPr lang="zh-CN" altLang="en-US" sz="24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22</a:t>
            </a:fld>
            <a:endParaRPr lang="zh-CN" altLang="en-US"/>
          </a:p>
        </p:txBody>
      </p:sp>
      <p:pic>
        <p:nvPicPr>
          <p:cNvPr id="66569" name="Picture 9"/>
          <p:cNvPicPr>
            <a:picLocks noChangeAspect="1" noChangeArrowheads="1"/>
          </p:cNvPicPr>
          <p:nvPr/>
        </p:nvPicPr>
        <p:blipFill>
          <a:blip r:embed="rId2" cstate="print"/>
          <a:srcRect/>
          <a:stretch>
            <a:fillRect/>
          </a:stretch>
        </p:blipFill>
        <p:spPr bwMode="auto">
          <a:xfrm>
            <a:off x="827584" y="1124744"/>
            <a:ext cx="7056784" cy="5040560"/>
          </a:xfrm>
          <a:prstGeom prst="rect">
            <a:avLst/>
          </a:prstGeom>
          <a:noFill/>
          <a:ln w="9525">
            <a:noFill/>
            <a:miter lim="800000"/>
            <a:headEnd/>
            <a:tailEnd/>
          </a:ln>
        </p:spPr>
      </p:pic>
      <p:sp>
        <p:nvSpPr>
          <p:cNvPr id="10" name="标题 1"/>
          <p:cNvSpPr>
            <a:spLocks noGrp="1"/>
          </p:cNvSpPr>
          <p:nvPr>
            <p:ph type="title"/>
          </p:nvPr>
        </p:nvSpPr>
        <p:spPr>
          <a:xfrm>
            <a:off x="395536" y="274638"/>
            <a:ext cx="8229600" cy="562074"/>
          </a:xfrm>
        </p:spPr>
        <p:txBody>
          <a:bodyPr/>
          <a:lstStyle/>
          <a:p>
            <a:r>
              <a:rPr lang="zh-CN" altLang="en-US" sz="2800" b="1" dirty="0" smtClean="0">
                <a:solidFill>
                  <a:srgbClr val="006600"/>
                </a:solidFill>
                <a:latin typeface="Arial" pitchFamily="34" charset="0"/>
                <a:ea typeface="黑体" pitchFamily="49" charset="-122"/>
                <a:cs typeface="Arial" pitchFamily="34" charset="0"/>
              </a:rPr>
              <a:t>基于</a:t>
            </a:r>
            <a:r>
              <a:rPr lang="en-US" altLang="zh-CN" sz="2800" b="1" dirty="0" smtClean="0">
                <a:solidFill>
                  <a:srgbClr val="006600"/>
                </a:solidFill>
                <a:latin typeface="Arial" pitchFamily="34" charset="0"/>
                <a:ea typeface="黑体" pitchFamily="49" charset="-122"/>
                <a:cs typeface="Arial" pitchFamily="34" charset="0"/>
              </a:rPr>
              <a:t>FDR</a:t>
            </a:r>
            <a:r>
              <a:rPr lang="zh-CN" altLang="en-US" sz="2800" b="1" dirty="0" smtClean="0">
                <a:solidFill>
                  <a:srgbClr val="006600"/>
                </a:solidFill>
                <a:latin typeface="Arial" pitchFamily="34" charset="0"/>
                <a:ea typeface="黑体" pitchFamily="49" charset="-122"/>
                <a:cs typeface="Arial" pitchFamily="34" charset="0"/>
              </a:rPr>
              <a:t>来确定差异表达基因的举例</a:t>
            </a:r>
            <a:endParaRPr lang="zh-CN" altLang="en-US" sz="2800" dirty="0">
              <a:solidFill>
                <a:srgbClr val="006600"/>
              </a:solidFill>
              <a:latin typeface="Arial" pitchFamily="34" charset="0"/>
              <a:ea typeface="黑体" pitchFamily="49" charset="-122"/>
              <a:cs typeface="Arial"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23</a:t>
            </a:fld>
            <a:endParaRPr lang="zh-CN" altLang="en-US"/>
          </a:p>
        </p:txBody>
      </p:sp>
      <p:pic>
        <p:nvPicPr>
          <p:cNvPr id="1035" name="Picture 11" descr="https://www.omicsclass.com/image/show/attachments-2018-08-edXzEfB85b6ce7b71be96.jpg"/>
          <p:cNvPicPr>
            <a:picLocks noChangeAspect="1" noChangeArrowheads="1"/>
          </p:cNvPicPr>
          <p:nvPr/>
        </p:nvPicPr>
        <p:blipFill>
          <a:blip r:embed="rId2" cstate="print"/>
          <a:srcRect/>
          <a:stretch>
            <a:fillRect/>
          </a:stretch>
        </p:blipFill>
        <p:spPr bwMode="auto">
          <a:xfrm>
            <a:off x="179512" y="1268760"/>
            <a:ext cx="4320480" cy="5184576"/>
          </a:xfrm>
          <a:prstGeom prst="rect">
            <a:avLst/>
          </a:prstGeom>
          <a:noFill/>
        </p:spPr>
      </p:pic>
      <p:sp>
        <p:nvSpPr>
          <p:cNvPr id="14" name="矩形 13"/>
          <p:cNvSpPr/>
          <p:nvPr/>
        </p:nvSpPr>
        <p:spPr>
          <a:xfrm>
            <a:off x="107504" y="260648"/>
            <a:ext cx="9036496" cy="830997"/>
          </a:xfrm>
          <a:prstGeom prst="rect">
            <a:avLst/>
          </a:prstGeom>
        </p:spPr>
        <p:txBody>
          <a:bodyPr wrap="square">
            <a:spAutoFit/>
          </a:bodyPr>
          <a:lstStyle/>
          <a:p>
            <a:pPr>
              <a:buFont typeface="Arial" pitchFamily="34" charset="0"/>
              <a:buChar char="•"/>
            </a:pPr>
            <a:r>
              <a:rPr lang="zh-CN" altLang="en-US" sz="2400" dirty="0" smtClean="0">
                <a:solidFill>
                  <a:srgbClr val="FF0000"/>
                </a:solidFill>
                <a:latin typeface="Arial" pitchFamily="34" charset="0"/>
                <a:ea typeface="黑体" pitchFamily="49" charset="-122"/>
                <a:cs typeface="Arial" pitchFamily="34" charset="0"/>
              </a:rPr>
              <a:t>火山图</a:t>
            </a:r>
            <a:r>
              <a:rPr lang="zh-CN" altLang="en-US" sz="2400" dirty="0" smtClean="0">
                <a:latin typeface="Arial" pitchFamily="34" charset="0"/>
                <a:ea typeface="黑体" pitchFamily="49" charset="-122"/>
                <a:cs typeface="Arial" pitchFamily="34" charset="0"/>
              </a:rPr>
              <a:t>：形如火山喷发的一种展示方法，常被用于展示</a:t>
            </a:r>
            <a:r>
              <a:rPr lang="en-US" altLang="zh-CN" sz="2400" dirty="0" smtClean="0">
                <a:latin typeface="Arial" pitchFamily="34" charset="0"/>
                <a:ea typeface="黑体" pitchFamily="49" charset="-122"/>
                <a:cs typeface="Arial" pitchFamily="34" charset="0"/>
              </a:rPr>
              <a:t>RNA-</a:t>
            </a:r>
            <a:r>
              <a:rPr lang="en-US" altLang="zh-CN" sz="2400" dirty="0" err="1" smtClean="0">
                <a:latin typeface="Arial" pitchFamily="34" charset="0"/>
                <a:ea typeface="黑体" pitchFamily="49" charset="-122"/>
                <a:cs typeface="Arial" pitchFamily="34" charset="0"/>
              </a:rPr>
              <a:t>seq</a:t>
            </a:r>
            <a:r>
              <a:rPr lang="zh-CN" altLang="en-US" sz="2400" dirty="0" smtClean="0">
                <a:latin typeface="Arial" pitchFamily="34" charset="0"/>
                <a:ea typeface="黑体" pitchFamily="49" charset="-122"/>
                <a:cs typeface="Arial" pitchFamily="34" charset="0"/>
              </a:rPr>
              <a:t>数据中的差异表达基因等</a:t>
            </a:r>
            <a:endParaRPr lang="zh-CN" altLang="en-US" sz="2400" dirty="0">
              <a:latin typeface="Arial" pitchFamily="34" charset="0"/>
              <a:ea typeface="黑体" pitchFamily="49" charset="-122"/>
              <a:cs typeface="Arial" pitchFamily="34" charset="0"/>
            </a:endParaRPr>
          </a:p>
        </p:txBody>
      </p:sp>
      <p:sp>
        <p:nvSpPr>
          <p:cNvPr id="15" name="矩形 14"/>
          <p:cNvSpPr/>
          <p:nvPr/>
        </p:nvSpPr>
        <p:spPr>
          <a:xfrm>
            <a:off x="4572000" y="1916832"/>
            <a:ext cx="4536504" cy="2246769"/>
          </a:xfrm>
          <a:prstGeom prst="rect">
            <a:avLst/>
          </a:prstGeom>
        </p:spPr>
        <p:txBody>
          <a:bodyPr wrap="square">
            <a:spAutoFit/>
          </a:bodyPr>
          <a:lstStyle/>
          <a:p>
            <a:pPr>
              <a:buFont typeface="Arial" pitchFamily="34" charset="0"/>
              <a:buChar char="•"/>
            </a:pPr>
            <a:r>
              <a:rPr lang="zh-CN" altLang="en-US" sz="2000" dirty="0" smtClean="0">
                <a:latin typeface="Arial" pitchFamily="34" charset="0"/>
                <a:ea typeface="黑体" pitchFamily="49" charset="-122"/>
                <a:cs typeface="Arial" pitchFamily="34" charset="0"/>
              </a:rPr>
              <a:t> 纵坐标是</a:t>
            </a:r>
            <a:r>
              <a:rPr lang="en-US" altLang="zh-CN" sz="2000" dirty="0" smtClean="0">
                <a:latin typeface="Arial" pitchFamily="34" charset="0"/>
                <a:ea typeface="黑体" pitchFamily="49" charset="-122"/>
                <a:cs typeface="Arial" pitchFamily="34" charset="0"/>
              </a:rPr>
              <a:t>-log10(FDR)</a:t>
            </a:r>
            <a:r>
              <a:rPr lang="zh-CN" altLang="en-US" sz="2000" dirty="0" smtClean="0">
                <a:latin typeface="Arial" pitchFamily="34" charset="0"/>
                <a:ea typeface="黑体" pitchFamily="49" charset="-122"/>
                <a:cs typeface="Arial" pitchFamily="34" charset="0"/>
              </a:rPr>
              <a:t>，即</a:t>
            </a:r>
            <a:r>
              <a:rPr lang="en-US" altLang="zh-CN" sz="2000" dirty="0" smtClean="0">
                <a:latin typeface="Arial" pitchFamily="34" charset="0"/>
                <a:ea typeface="黑体" pitchFamily="49" charset="-122"/>
                <a:cs typeface="Arial" pitchFamily="34" charset="0"/>
              </a:rPr>
              <a:t>q-value</a:t>
            </a:r>
            <a:r>
              <a:rPr lang="zh-CN" altLang="en-US" sz="2000" dirty="0" smtClean="0">
                <a:latin typeface="Arial" pitchFamily="34" charset="0"/>
                <a:ea typeface="黑体" pitchFamily="49" charset="-122"/>
                <a:cs typeface="Arial" pitchFamily="34" charset="0"/>
              </a:rPr>
              <a:t>取</a:t>
            </a:r>
            <a:r>
              <a:rPr lang="en-US" altLang="zh-CN" sz="2000" dirty="0" smtClean="0">
                <a:latin typeface="Arial" pitchFamily="34" charset="0"/>
                <a:ea typeface="黑体" pitchFamily="49" charset="-122"/>
                <a:cs typeface="Arial" pitchFamily="34" charset="0"/>
              </a:rPr>
              <a:t>-log10</a:t>
            </a:r>
            <a:r>
              <a:rPr lang="zh-CN" altLang="en-US" sz="2000" dirty="0" smtClean="0">
                <a:latin typeface="Arial" pitchFamily="34" charset="0"/>
                <a:ea typeface="黑体" pitchFamily="49" charset="-122"/>
                <a:cs typeface="Arial" pitchFamily="34" charset="0"/>
              </a:rPr>
              <a:t>，因此数值越高说明</a:t>
            </a:r>
            <a:r>
              <a:rPr lang="en-US" altLang="zh-CN" sz="2000" dirty="0" smtClean="0">
                <a:latin typeface="Arial" pitchFamily="34" charset="0"/>
                <a:ea typeface="黑体" pitchFamily="49" charset="-122"/>
                <a:cs typeface="Arial" pitchFamily="34" charset="0"/>
              </a:rPr>
              <a:t>q-value</a:t>
            </a:r>
            <a:r>
              <a:rPr lang="zh-CN" altLang="en-US" sz="2000" dirty="0" smtClean="0">
                <a:latin typeface="Arial" pitchFamily="34" charset="0"/>
                <a:ea typeface="黑体" pitchFamily="49" charset="-122"/>
                <a:cs typeface="Arial" pitchFamily="34" charset="0"/>
              </a:rPr>
              <a:t>越小即越显著；</a:t>
            </a:r>
            <a:endParaRPr lang="en-US" altLang="zh-CN" sz="2000" dirty="0" smtClean="0">
              <a:latin typeface="Arial" pitchFamily="34" charset="0"/>
              <a:ea typeface="黑体" pitchFamily="49" charset="-122"/>
              <a:cs typeface="Arial" pitchFamily="34" charset="0"/>
            </a:endParaRPr>
          </a:p>
          <a:p>
            <a:pPr>
              <a:buFont typeface="Arial" pitchFamily="34" charset="0"/>
              <a:buChar char="•"/>
            </a:pPr>
            <a:r>
              <a:rPr lang="zh-CN" altLang="en-US" sz="2000" dirty="0" smtClean="0">
                <a:latin typeface="Arial" pitchFamily="34" charset="0"/>
                <a:ea typeface="黑体" pitchFamily="49" charset="-122"/>
                <a:cs typeface="Arial" pitchFamily="34" charset="0"/>
              </a:rPr>
              <a:t> 横坐标是</a:t>
            </a:r>
            <a:r>
              <a:rPr lang="en-US" altLang="zh-CN" sz="2000" dirty="0" smtClean="0">
                <a:latin typeface="Arial" pitchFamily="34" charset="0"/>
                <a:ea typeface="黑体" pitchFamily="49" charset="-122"/>
                <a:cs typeface="Arial" pitchFamily="34" charset="0"/>
              </a:rPr>
              <a:t>log2(fold change)</a:t>
            </a:r>
            <a:r>
              <a:rPr lang="zh-CN" altLang="en-US" sz="2000" dirty="0" smtClean="0">
                <a:latin typeface="Arial" pitchFamily="34" charset="0"/>
                <a:ea typeface="黑体" pitchFamily="49" charset="-122"/>
                <a:cs typeface="Arial" pitchFamily="34" charset="0"/>
              </a:rPr>
              <a:t>，即对</a:t>
            </a:r>
            <a:r>
              <a:rPr lang="en-US" altLang="zh-CN" sz="2000" dirty="0" smtClean="0">
                <a:latin typeface="Arial" pitchFamily="34" charset="0"/>
                <a:ea typeface="黑体" pitchFamily="49" charset="-122"/>
                <a:cs typeface="Arial" pitchFamily="34" charset="0"/>
              </a:rPr>
              <a:t>fold change</a:t>
            </a:r>
            <a:r>
              <a:rPr lang="zh-CN" altLang="en-US" sz="2000" dirty="0" smtClean="0">
                <a:latin typeface="Arial" pitchFamily="34" charset="0"/>
                <a:ea typeface="黑体" pitchFamily="49" charset="-122"/>
                <a:cs typeface="Arial" pitchFamily="34" charset="0"/>
              </a:rPr>
              <a:t>取</a:t>
            </a:r>
            <a:r>
              <a:rPr lang="en-US" altLang="zh-CN" sz="2000" dirty="0" smtClean="0">
                <a:latin typeface="Arial" pitchFamily="34" charset="0"/>
                <a:ea typeface="黑体" pitchFamily="49" charset="-122"/>
                <a:cs typeface="Arial" pitchFamily="34" charset="0"/>
              </a:rPr>
              <a:t>log2</a:t>
            </a:r>
            <a:r>
              <a:rPr lang="zh-CN" altLang="en-US" sz="2000" dirty="0" smtClean="0">
                <a:latin typeface="Arial" pitchFamily="34" charset="0"/>
                <a:ea typeface="黑体" pitchFamily="49" charset="-122"/>
                <a:cs typeface="Arial" pitchFamily="34" charset="0"/>
              </a:rPr>
              <a:t>，所以越靠两侧的点（即基因），其表达量上调或者下调幅度越大。</a:t>
            </a:r>
          </a:p>
        </p:txBody>
      </p:sp>
      <p:sp>
        <p:nvSpPr>
          <p:cNvPr id="16" name="矩形 15"/>
          <p:cNvSpPr/>
          <p:nvPr/>
        </p:nvSpPr>
        <p:spPr>
          <a:xfrm>
            <a:off x="4427984" y="5149641"/>
            <a:ext cx="4644008" cy="1015663"/>
          </a:xfrm>
          <a:prstGeom prst="rect">
            <a:avLst/>
          </a:prstGeom>
        </p:spPr>
        <p:txBody>
          <a:bodyPr wrap="square">
            <a:spAutoFit/>
          </a:bodyPr>
          <a:lstStyle/>
          <a:p>
            <a:r>
              <a:rPr lang="zh-CN" altLang="en-US" sz="2000" b="1" dirty="0" smtClean="0">
                <a:latin typeface="Arial" pitchFamily="34" charset="0"/>
                <a:ea typeface="黑体" pitchFamily="49" charset="-122"/>
                <a:cs typeface="Arial" pitchFamily="34" charset="0"/>
              </a:rPr>
              <a:t>在</a:t>
            </a:r>
            <a:r>
              <a:rPr lang="en-US" altLang="zh-CN" sz="2000" b="1" dirty="0" smtClean="0">
                <a:latin typeface="Arial" pitchFamily="34" charset="0"/>
                <a:ea typeface="黑体" pitchFamily="49" charset="-122"/>
                <a:cs typeface="Arial" pitchFamily="34" charset="0"/>
              </a:rPr>
              <a:t>RNA-</a:t>
            </a:r>
            <a:r>
              <a:rPr lang="en-US" altLang="zh-CN" sz="2000" b="1" dirty="0" err="1" smtClean="0">
                <a:latin typeface="Arial" pitchFamily="34" charset="0"/>
                <a:ea typeface="黑体" pitchFamily="49" charset="-122"/>
                <a:cs typeface="Arial" pitchFamily="34" charset="0"/>
              </a:rPr>
              <a:t>seq</a:t>
            </a:r>
            <a:r>
              <a:rPr lang="zh-CN" altLang="en-US" sz="2000" b="1" dirty="0" smtClean="0">
                <a:latin typeface="Arial" pitchFamily="34" charset="0"/>
                <a:ea typeface="黑体" pitchFamily="49" charset="-122"/>
                <a:cs typeface="Arial" pitchFamily="34" charset="0"/>
              </a:rPr>
              <a:t>数据分析过程中，我们通常认为</a:t>
            </a:r>
            <a:r>
              <a:rPr lang="en-US" altLang="zh-CN" sz="2000" b="1" dirty="0" smtClean="0">
                <a:solidFill>
                  <a:srgbClr val="C00000"/>
                </a:solidFill>
                <a:latin typeface="Arial" pitchFamily="34" charset="0"/>
                <a:ea typeface="黑体" pitchFamily="49" charset="-122"/>
                <a:cs typeface="Arial" pitchFamily="34" charset="0"/>
              </a:rPr>
              <a:t>q-value</a:t>
            </a:r>
            <a:r>
              <a:rPr lang="zh-CN" altLang="en-US" sz="2000" b="1" dirty="0" smtClean="0">
                <a:solidFill>
                  <a:srgbClr val="C00000"/>
                </a:solidFill>
                <a:latin typeface="Arial" pitchFamily="34" charset="0"/>
                <a:ea typeface="黑体" pitchFamily="49" charset="-122"/>
                <a:cs typeface="Arial" pitchFamily="34" charset="0"/>
              </a:rPr>
              <a:t>小于</a:t>
            </a:r>
            <a:r>
              <a:rPr lang="en-US" altLang="zh-CN" sz="2000" b="1" dirty="0" smtClean="0">
                <a:solidFill>
                  <a:srgbClr val="C00000"/>
                </a:solidFill>
                <a:latin typeface="Arial" pitchFamily="34" charset="0"/>
                <a:ea typeface="黑体" pitchFamily="49" charset="-122"/>
                <a:cs typeface="Arial" pitchFamily="34" charset="0"/>
              </a:rPr>
              <a:t>0.05</a:t>
            </a:r>
            <a:r>
              <a:rPr lang="zh-CN" altLang="en-US" sz="2000" b="1" dirty="0" smtClean="0">
                <a:solidFill>
                  <a:srgbClr val="C00000"/>
                </a:solidFill>
                <a:latin typeface="Arial" pitchFamily="34" charset="0"/>
                <a:ea typeface="黑体" pitchFamily="49" charset="-122"/>
                <a:cs typeface="Arial" pitchFamily="34" charset="0"/>
              </a:rPr>
              <a:t>且</a:t>
            </a:r>
            <a:r>
              <a:rPr lang="en-US" altLang="zh-CN" sz="2000" b="1" dirty="0" smtClean="0">
                <a:solidFill>
                  <a:srgbClr val="C00000"/>
                </a:solidFill>
                <a:latin typeface="Arial" pitchFamily="34" charset="0"/>
                <a:ea typeface="黑体" pitchFamily="49" charset="-122"/>
                <a:cs typeface="Arial" pitchFamily="34" charset="0"/>
              </a:rPr>
              <a:t>fold change</a:t>
            </a:r>
            <a:r>
              <a:rPr lang="zh-CN" altLang="en-US" sz="2000" b="1" dirty="0" smtClean="0">
                <a:solidFill>
                  <a:srgbClr val="C00000"/>
                </a:solidFill>
                <a:latin typeface="Arial" pitchFamily="34" charset="0"/>
                <a:ea typeface="黑体" pitchFamily="49" charset="-122"/>
                <a:cs typeface="Arial" pitchFamily="34" charset="0"/>
              </a:rPr>
              <a:t>的绝对值大于</a:t>
            </a:r>
            <a:r>
              <a:rPr lang="en-US" altLang="zh-CN" sz="2000" b="1" dirty="0" smtClean="0">
                <a:solidFill>
                  <a:srgbClr val="C00000"/>
                </a:solidFill>
                <a:latin typeface="Arial" pitchFamily="34" charset="0"/>
                <a:ea typeface="黑体" pitchFamily="49" charset="-122"/>
                <a:cs typeface="Arial" pitchFamily="34" charset="0"/>
              </a:rPr>
              <a:t>2</a:t>
            </a:r>
            <a:r>
              <a:rPr lang="zh-CN" altLang="en-US" sz="2000" b="1" dirty="0" smtClean="0">
                <a:latin typeface="Arial" pitchFamily="34" charset="0"/>
                <a:ea typeface="黑体" pitchFamily="49" charset="-122"/>
                <a:cs typeface="Arial" pitchFamily="34" charset="0"/>
              </a:rPr>
              <a:t>的基因为差异表达基因。</a:t>
            </a:r>
            <a:endParaRPr lang="zh-CN" altLang="en-US" sz="2000" b="1" dirty="0">
              <a:latin typeface="Arial" pitchFamily="34" charset="0"/>
              <a:ea typeface="黑体" pitchFamily="49" charset="-122"/>
              <a:cs typeface="Arial"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188640"/>
            <a:ext cx="8712968" cy="706090"/>
          </a:xfrm>
        </p:spPr>
        <p:txBody>
          <a:bodyPr/>
          <a:lstStyle/>
          <a:p>
            <a:r>
              <a:rPr lang="en-US" altLang="zh-CN" sz="3600" b="1" dirty="0" smtClean="0">
                <a:solidFill>
                  <a:srgbClr val="FF0000"/>
                </a:solidFill>
                <a:latin typeface="Arial" pitchFamily="34" charset="0"/>
                <a:ea typeface="黑体" pitchFamily="49" charset="-122"/>
                <a:cs typeface="Arial" pitchFamily="34" charset="0"/>
              </a:rPr>
              <a:t>5. </a:t>
            </a:r>
            <a:r>
              <a:rPr lang="zh-CN" altLang="en-US" sz="3600" b="1" dirty="0" smtClean="0">
                <a:solidFill>
                  <a:srgbClr val="FF0000"/>
                </a:solidFill>
                <a:latin typeface="Arial" pitchFamily="34" charset="0"/>
                <a:ea typeface="黑体" pitchFamily="49" charset="-122"/>
                <a:cs typeface="Arial" pitchFamily="34" charset="0"/>
              </a:rPr>
              <a:t>检验效能计算（</a:t>
            </a:r>
            <a:r>
              <a:rPr lang="en-US" altLang="zh-CN" sz="3600" b="1" dirty="0" smtClean="0">
                <a:solidFill>
                  <a:srgbClr val="FF0000"/>
                </a:solidFill>
                <a:latin typeface="Arial" pitchFamily="34" charset="0"/>
                <a:ea typeface="黑体" pitchFamily="49" charset="-122"/>
                <a:cs typeface="Arial" pitchFamily="34" charset="0"/>
              </a:rPr>
              <a:t>Power calculation</a:t>
            </a:r>
            <a:r>
              <a:rPr lang="zh-CN" altLang="en-US" sz="3600" b="1" dirty="0" smtClean="0">
                <a:solidFill>
                  <a:srgbClr val="FF0000"/>
                </a:solidFill>
                <a:latin typeface="Arial" pitchFamily="34" charset="0"/>
                <a:ea typeface="黑体" pitchFamily="49" charset="-122"/>
                <a:cs typeface="Arial" pitchFamily="34" charset="0"/>
              </a:rPr>
              <a:t>）</a:t>
            </a:r>
            <a:endParaRPr lang="zh-CN" altLang="en-US" sz="3600" dirty="0">
              <a:solidFill>
                <a:srgbClr val="FF0000"/>
              </a:solidFill>
              <a:latin typeface="Arial" pitchFamily="34" charset="0"/>
              <a:ea typeface="黑体" pitchFamily="49" charset="-122"/>
              <a:cs typeface="Arial" pitchFamily="34" charset="0"/>
            </a:endParaRPr>
          </a:p>
        </p:txBody>
      </p:sp>
      <p:sp>
        <p:nvSpPr>
          <p:cNvPr id="3" name="内容占位符 2"/>
          <p:cNvSpPr>
            <a:spLocks noGrp="1"/>
          </p:cNvSpPr>
          <p:nvPr>
            <p:ph idx="1"/>
          </p:nvPr>
        </p:nvSpPr>
        <p:spPr>
          <a:xfrm>
            <a:off x="107504" y="836712"/>
            <a:ext cx="8928992" cy="5904656"/>
          </a:xfrm>
        </p:spPr>
        <p:txBody>
          <a:bodyPr/>
          <a:lstStyle/>
          <a:p>
            <a:pPr>
              <a:buFont typeface="Wingdings" pitchFamily="2" charset="2"/>
              <a:buChar char="n"/>
            </a:pPr>
            <a:r>
              <a:rPr lang="zh-CN" altLang="en-US" sz="2400" dirty="0" smtClean="0">
                <a:latin typeface="Arial" pitchFamily="34" charset="0"/>
                <a:ea typeface="黑体" pitchFamily="49" charset="-122"/>
                <a:cs typeface="Arial" pitchFamily="34" charset="0"/>
              </a:rPr>
              <a:t>在很多实验设计阶段早期，我们需要考虑估算</a:t>
            </a:r>
            <a:r>
              <a:rPr lang="zh-CN" altLang="en-US" sz="2400" dirty="0" smtClean="0">
                <a:solidFill>
                  <a:srgbClr val="FF0000"/>
                </a:solidFill>
                <a:latin typeface="Arial" pitchFamily="34" charset="0"/>
                <a:ea typeface="黑体" pitchFamily="49" charset="-122"/>
                <a:cs typeface="Arial" pitchFamily="34" charset="0"/>
              </a:rPr>
              <a:t>样本含量的最小值</a:t>
            </a:r>
            <a:r>
              <a:rPr lang="zh-CN" altLang="en-US" sz="2400" dirty="0" smtClean="0">
                <a:latin typeface="Arial" pitchFamily="34" charset="0"/>
                <a:ea typeface="黑体" pitchFamily="49" charset="-122"/>
                <a:cs typeface="Arial" pitchFamily="34" charset="0"/>
              </a:rPr>
              <a:t>，从而能获得较好的统计学指标，如</a:t>
            </a:r>
            <a:r>
              <a:rPr lang="en-US" altLang="zh-CN" sz="2400" dirty="0" smtClean="0">
                <a:latin typeface="Arial" pitchFamily="34" charset="0"/>
                <a:ea typeface="黑体" pitchFamily="49" charset="-122"/>
                <a:cs typeface="Arial" pitchFamily="34" charset="0"/>
              </a:rPr>
              <a:t>FDR</a:t>
            </a:r>
            <a:r>
              <a:rPr lang="zh-CN" altLang="en-US" sz="2400" dirty="0" smtClean="0">
                <a:latin typeface="Arial" pitchFamily="34" charset="0"/>
                <a:ea typeface="黑体" pitchFamily="49" charset="-122"/>
                <a:cs typeface="Arial" pitchFamily="34" charset="0"/>
              </a:rPr>
              <a:t>和</a:t>
            </a:r>
            <a:r>
              <a:rPr lang="en-US" altLang="zh-CN" sz="2400" dirty="0" smtClean="0">
                <a:latin typeface="Arial" pitchFamily="34" charset="0"/>
                <a:ea typeface="黑体" pitchFamily="49" charset="-122"/>
                <a:cs typeface="Arial" pitchFamily="34" charset="0"/>
              </a:rPr>
              <a:t>FNR;</a:t>
            </a:r>
          </a:p>
          <a:p>
            <a:pPr lvl="1">
              <a:buNone/>
            </a:pPr>
            <a:r>
              <a:rPr lang="en-US" altLang="zh-CN" sz="2000" dirty="0" smtClean="0">
                <a:solidFill>
                  <a:srgbClr val="0000CC"/>
                </a:solidFill>
                <a:latin typeface="Arial" pitchFamily="34" charset="0"/>
                <a:ea typeface="黑体" pitchFamily="49" charset="-122"/>
                <a:cs typeface="Arial" pitchFamily="34" charset="0"/>
              </a:rPr>
              <a:t>FDR/FNR</a:t>
            </a:r>
            <a:r>
              <a:rPr lang="zh-CN" altLang="en-US" sz="2000" dirty="0" smtClean="0">
                <a:solidFill>
                  <a:srgbClr val="0000CC"/>
                </a:solidFill>
                <a:latin typeface="Arial" pitchFamily="34" charset="0"/>
                <a:ea typeface="黑体" pitchFamily="49" charset="-122"/>
                <a:cs typeface="Arial" pitchFamily="34" charset="0"/>
              </a:rPr>
              <a:t>相关性能的好坏取决于若干因素：</a:t>
            </a:r>
            <a:endParaRPr lang="en-US" altLang="zh-CN" sz="2000" dirty="0" smtClean="0">
              <a:solidFill>
                <a:srgbClr val="0000CC"/>
              </a:solidFill>
              <a:latin typeface="Arial" pitchFamily="34" charset="0"/>
              <a:ea typeface="黑体" pitchFamily="49" charset="-122"/>
              <a:cs typeface="Arial" pitchFamily="34" charset="0"/>
            </a:endParaRPr>
          </a:p>
          <a:p>
            <a:pPr lvl="1">
              <a:buFont typeface="Wingdings" pitchFamily="2" charset="2"/>
              <a:buChar char="n"/>
            </a:pPr>
            <a:r>
              <a:rPr lang="en-US" altLang="zh-CN" sz="2000" dirty="0" smtClean="0">
                <a:latin typeface="Arial" pitchFamily="34" charset="0"/>
                <a:ea typeface="黑体" pitchFamily="49" charset="-122"/>
                <a:cs typeface="Arial" pitchFamily="34" charset="0"/>
              </a:rPr>
              <a:t>the proportion of truly differentially altered features;</a:t>
            </a:r>
          </a:p>
          <a:p>
            <a:pPr lvl="1">
              <a:buFont typeface="Wingdings" pitchFamily="2" charset="2"/>
              <a:buChar char="n"/>
            </a:pPr>
            <a:r>
              <a:rPr lang="en-US" altLang="zh-CN" sz="2000" dirty="0" smtClean="0">
                <a:latin typeface="Arial" pitchFamily="34" charset="0"/>
                <a:ea typeface="黑体" pitchFamily="49" charset="-122"/>
                <a:cs typeface="Arial" pitchFamily="34" charset="0"/>
              </a:rPr>
              <a:t>the distribution of effect sizes (signal to noise ratios);</a:t>
            </a:r>
          </a:p>
          <a:p>
            <a:pPr lvl="1">
              <a:buFont typeface="Wingdings" pitchFamily="2" charset="2"/>
              <a:buChar char="n"/>
            </a:pPr>
            <a:r>
              <a:rPr lang="en-US" altLang="zh-CN" sz="2000" dirty="0" smtClean="0">
                <a:latin typeface="Arial" pitchFamily="34" charset="0"/>
                <a:ea typeface="黑体" pitchFamily="49" charset="-122"/>
                <a:cs typeface="Arial" pitchFamily="34" charset="0"/>
              </a:rPr>
              <a:t>heterogeneity of phenotypes;</a:t>
            </a:r>
          </a:p>
          <a:p>
            <a:pPr lvl="1">
              <a:buFont typeface="Wingdings" pitchFamily="2" charset="2"/>
              <a:buChar char="n"/>
            </a:pPr>
            <a:r>
              <a:rPr lang="en-US" altLang="zh-CN" sz="2000" dirty="0" smtClean="0">
                <a:solidFill>
                  <a:srgbClr val="C00000"/>
                </a:solidFill>
                <a:latin typeface="Arial" pitchFamily="34" charset="0"/>
                <a:ea typeface="黑体" pitchFamily="49" charset="-122"/>
                <a:cs typeface="Arial" pitchFamily="34" charset="0"/>
              </a:rPr>
              <a:t>sample size (this is the factor we can control). </a:t>
            </a:r>
            <a:endParaRPr lang="en-US" altLang="zh-CN" sz="2400" dirty="0" smtClean="0">
              <a:latin typeface="Arial" pitchFamily="34" charset="0"/>
              <a:ea typeface="黑体" pitchFamily="49" charset="-122"/>
              <a:cs typeface="Arial" pitchFamily="34" charset="0"/>
            </a:endParaRPr>
          </a:p>
          <a:p>
            <a:pPr>
              <a:buFont typeface="Wingdings" pitchFamily="2" charset="2"/>
              <a:buChar char="n"/>
            </a:pPr>
            <a:endParaRPr lang="en-US" altLang="zh-CN" sz="2400" dirty="0" smtClean="0">
              <a:latin typeface="黑体" pitchFamily="49" charset="-122"/>
              <a:ea typeface="黑体" pitchFamily="49" charset="-122"/>
            </a:endParaRPr>
          </a:p>
          <a:p>
            <a:pPr>
              <a:buFont typeface="Wingdings" pitchFamily="2" charset="2"/>
              <a:buChar char="n"/>
            </a:pPr>
            <a:r>
              <a:rPr lang="zh-CN" altLang="en-US" sz="2400" dirty="0" smtClean="0">
                <a:latin typeface="黑体" pitchFamily="49" charset="-122"/>
                <a:ea typeface="黑体" pitchFamily="49" charset="-122"/>
              </a:rPr>
              <a:t>高估样本含量会影响实验的可行性，而低估样本含量会导致检验效能下降；</a:t>
            </a:r>
            <a:endParaRPr lang="en-US" altLang="zh-CN" sz="2400" dirty="0" smtClean="0">
              <a:latin typeface="Arial" pitchFamily="34" charset="0"/>
              <a:ea typeface="黑体" pitchFamily="49" charset="-122"/>
              <a:cs typeface="Arial" pitchFamily="34" charset="0"/>
            </a:endParaRPr>
          </a:p>
          <a:p>
            <a:pPr>
              <a:buFont typeface="Wingdings" pitchFamily="2" charset="2"/>
              <a:buChar char="n"/>
            </a:pP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zh-CN" altLang="en-US" sz="2400" dirty="0" smtClean="0">
                <a:latin typeface="Arial" pitchFamily="34" charset="0"/>
                <a:ea typeface="黑体" pitchFamily="49" charset="-122"/>
                <a:cs typeface="Arial" pitchFamily="34" charset="0"/>
              </a:rPr>
              <a:t>当得到阴性结论时</a:t>
            </a:r>
            <a:r>
              <a:rPr lang="en-US" altLang="zh-CN" sz="2400" dirty="0" smtClean="0">
                <a:latin typeface="Arial" pitchFamily="34" charset="0"/>
                <a:ea typeface="黑体" pitchFamily="49" charset="-122"/>
                <a:cs typeface="Arial" pitchFamily="34" charset="0"/>
              </a:rPr>
              <a:t>(P&gt;0.05)</a:t>
            </a:r>
            <a:r>
              <a:rPr lang="zh-CN" altLang="en-US" sz="2400" dirty="0" smtClean="0">
                <a:latin typeface="Arial" pitchFamily="34" charset="0"/>
                <a:ea typeface="黑体" pitchFamily="49" charset="-122"/>
                <a:cs typeface="Arial" pitchFamily="34" charset="0"/>
              </a:rPr>
              <a:t>，我们</a:t>
            </a:r>
            <a:r>
              <a:rPr lang="zh-CN" altLang="en-US" sz="2400" dirty="0">
                <a:latin typeface="Arial" pitchFamily="34" charset="0"/>
                <a:ea typeface="黑体" pitchFamily="49" charset="-122"/>
                <a:cs typeface="Arial" pitchFamily="34" charset="0"/>
              </a:rPr>
              <a:t>更</a:t>
            </a:r>
            <a:r>
              <a:rPr lang="zh-CN" altLang="en-US" sz="2400" dirty="0" smtClean="0">
                <a:latin typeface="Arial" pitchFamily="34" charset="0"/>
                <a:ea typeface="黑体" pitchFamily="49" charset="-122"/>
                <a:cs typeface="Arial" pitchFamily="34" charset="0"/>
              </a:rPr>
              <a:t>关心检验效能的大小，即阴性结果是由于检验效能过低还是由于两组间确实没有显著差别。</a:t>
            </a:r>
            <a:r>
              <a:rPr lang="zh-CN" altLang="en-US" sz="2400" dirty="0" smtClean="0">
                <a:solidFill>
                  <a:srgbClr val="C00000"/>
                </a:solidFill>
                <a:latin typeface="Arial" pitchFamily="34" charset="0"/>
                <a:ea typeface="黑体" pitchFamily="49" charset="-122"/>
                <a:cs typeface="Arial" pitchFamily="34" charset="0"/>
              </a:rPr>
              <a:t>如果此时检验效能较高，阴性结果可解释为后者；反之，需适当增加样本含量后再作分析。</a:t>
            </a:r>
            <a:endParaRPr lang="en-US" altLang="zh-CN" sz="2400" dirty="0" smtClean="0">
              <a:solidFill>
                <a:srgbClr val="C00000"/>
              </a:solidFill>
              <a:latin typeface="Arial" pitchFamily="34" charset="0"/>
              <a:ea typeface="黑体" pitchFamily="49" charset="-122"/>
              <a:cs typeface="Arial"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24</a:t>
            </a:fld>
            <a:endParaRPr lang="zh-CN" alt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504" y="908720"/>
            <a:ext cx="8712968" cy="4464496"/>
          </a:xfrm>
        </p:spPr>
        <p:txBody>
          <a:bodyPr/>
          <a:lstStyle/>
          <a:p>
            <a:pPr>
              <a:buFont typeface="Wingdings" pitchFamily="2" charset="2"/>
              <a:buChar char="n"/>
            </a:pPr>
            <a:r>
              <a:rPr lang="zh-CN" altLang="en-US" sz="2800" dirty="0" smtClean="0">
                <a:latin typeface="黑体" pitchFamily="49" charset="-122"/>
                <a:ea typeface="黑体" pitchFamily="49" charset="-122"/>
                <a:cs typeface="Arial" pitchFamily="34" charset="0"/>
              </a:rPr>
              <a:t>四个关系密切的统计量</a:t>
            </a:r>
            <a:r>
              <a:rPr lang="en-US" altLang="zh-CN" sz="2800" dirty="0" smtClean="0">
                <a:latin typeface="黑体" pitchFamily="49" charset="-122"/>
                <a:ea typeface="黑体" pitchFamily="49" charset="-122"/>
                <a:cs typeface="Arial" pitchFamily="34" charset="0"/>
              </a:rPr>
              <a:t>:</a:t>
            </a:r>
          </a:p>
          <a:p>
            <a:pPr lvl="1"/>
            <a:r>
              <a:rPr lang="en-US" altLang="zh-CN" sz="2400" dirty="0" smtClean="0">
                <a:solidFill>
                  <a:srgbClr val="C00000"/>
                </a:solidFill>
                <a:latin typeface="Arial" pitchFamily="34" charset="0"/>
                <a:cs typeface="Arial" pitchFamily="34" charset="0"/>
              </a:rPr>
              <a:t>sample size</a:t>
            </a:r>
          </a:p>
          <a:p>
            <a:pPr lvl="1"/>
            <a:r>
              <a:rPr lang="en-US" altLang="zh-CN" sz="2400" dirty="0" smtClean="0">
                <a:solidFill>
                  <a:srgbClr val="C00000"/>
                </a:solidFill>
                <a:latin typeface="Arial" pitchFamily="34" charset="0"/>
                <a:cs typeface="Arial" pitchFamily="34" charset="0"/>
              </a:rPr>
              <a:t>effect size</a:t>
            </a:r>
          </a:p>
          <a:p>
            <a:pPr lvl="1"/>
            <a:r>
              <a:rPr lang="en-US" altLang="zh-CN" sz="2400" dirty="0" smtClean="0">
                <a:solidFill>
                  <a:srgbClr val="C00000"/>
                </a:solidFill>
                <a:latin typeface="Arial" pitchFamily="34" charset="0"/>
                <a:cs typeface="Arial" pitchFamily="34" charset="0"/>
              </a:rPr>
              <a:t>significance level </a:t>
            </a:r>
            <a:r>
              <a:rPr lang="en-US" altLang="zh-CN" sz="2400" dirty="0" smtClean="0">
                <a:latin typeface="Arial" pitchFamily="34" charset="0"/>
                <a:cs typeface="Arial" pitchFamily="34" charset="0"/>
              </a:rPr>
              <a:t>= P(Type I error) = probability of finding an effect that is not there</a:t>
            </a:r>
          </a:p>
          <a:p>
            <a:pPr lvl="1"/>
            <a:r>
              <a:rPr lang="en-US" altLang="zh-CN" sz="2400" dirty="0" smtClean="0">
                <a:solidFill>
                  <a:srgbClr val="C00000"/>
                </a:solidFill>
                <a:latin typeface="Arial" pitchFamily="34" charset="0"/>
                <a:cs typeface="Arial" pitchFamily="34" charset="0"/>
              </a:rPr>
              <a:t>power </a:t>
            </a:r>
            <a:r>
              <a:rPr lang="en-US" altLang="zh-CN" sz="2400" dirty="0" smtClean="0">
                <a:latin typeface="Arial" pitchFamily="34" charset="0"/>
                <a:cs typeface="Arial" pitchFamily="34" charset="0"/>
              </a:rPr>
              <a:t>= 1 - P(Type II error) = probability of finding an effect that is there</a:t>
            </a:r>
          </a:p>
          <a:p>
            <a:pPr lvl="1"/>
            <a:endParaRPr lang="en-US" altLang="zh-CN" sz="2000" dirty="0" smtClean="0">
              <a:latin typeface="Arial" pitchFamily="34" charset="0"/>
              <a:cs typeface="Arial" pitchFamily="34" charset="0"/>
            </a:endParaRPr>
          </a:p>
          <a:p>
            <a:pPr>
              <a:buNone/>
            </a:pPr>
            <a:r>
              <a:rPr lang="en-US" altLang="zh-CN" sz="2400" dirty="0" smtClean="0">
                <a:latin typeface="Arial" pitchFamily="34" charset="0"/>
                <a:cs typeface="Arial" pitchFamily="34" charset="0"/>
              </a:rPr>
              <a:t>         </a:t>
            </a:r>
            <a:r>
              <a:rPr lang="zh-CN" altLang="en-US" sz="2400" u="sng" dirty="0" smtClean="0">
                <a:solidFill>
                  <a:srgbClr val="FF0000"/>
                </a:solidFill>
                <a:latin typeface="黑体" pitchFamily="49" charset="-122"/>
                <a:ea typeface="黑体" pitchFamily="49" charset="-122"/>
                <a:cs typeface="Arial" pitchFamily="34" charset="0"/>
              </a:rPr>
              <a:t>给定三个值，就可以确定第四个。</a:t>
            </a:r>
            <a:endParaRPr lang="en-US" altLang="zh-CN" sz="2400" u="sng" dirty="0" smtClean="0">
              <a:solidFill>
                <a:srgbClr val="FF0000"/>
              </a:solidFill>
              <a:latin typeface="黑体" pitchFamily="49" charset="-122"/>
              <a:ea typeface="黑体" pitchFamily="49" charset="-122"/>
              <a:cs typeface="Arial" pitchFamily="34" charset="0"/>
            </a:endParaRPr>
          </a:p>
          <a:p>
            <a:pPr>
              <a:buFont typeface="Wingdings" pitchFamily="2" charset="2"/>
              <a:buChar char="n"/>
            </a:pPr>
            <a:endParaRPr lang="en-US" altLang="zh-CN" sz="2400" dirty="0" smtClean="0">
              <a:latin typeface="Arial" pitchFamily="34" charset="0"/>
              <a:cs typeface="Arial"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25</a:t>
            </a:fld>
            <a:endParaRPr lang="zh-CN" alt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26</a:t>
            </a:fld>
            <a:endParaRPr lang="zh-CN" altLang="en-US"/>
          </a:p>
        </p:txBody>
      </p:sp>
      <p:sp>
        <p:nvSpPr>
          <p:cNvPr id="9" name="标题 1"/>
          <p:cNvSpPr>
            <a:spLocks noGrp="1"/>
          </p:cNvSpPr>
          <p:nvPr>
            <p:ph type="title"/>
          </p:nvPr>
        </p:nvSpPr>
        <p:spPr>
          <a:xfrm>
            <a:off x="457200" y="274638"/>
            <a:ext cx="8229600" cy="634082"/>
          </a:xfrm>
        </p:spPr>
        <p:txBody>
          <a:bodyPr/>
          <a:lstStyle/>
          <a:p>
            <a:r>
              <a:rPr lang="en-US" altLang="zh-CN" sz="3200" b="1" dirty="0" smtClean="0">
                <a:solidFill>
                  <a:srgbClr val="006600"/>
                </a:solidFill>
                <a:latin typeface="Arial" pitchFamily="34" charset="0"/>
                <a:ea typeface="黑体" pitchFamily="49" charset="-122"/>
                <a:cs typeface="Arial" pitchFamily="34" charset="0"/>
              </a:rPr>
              <a:t>R</a:t>
            </a:r>
            <a:r>
              <a:rPr lang="zh-CN" altLang="en-US" sz="3200" b="1" dirty="0" smtClean="0">
                <a:solidFill>
                  <a:srgbClr val="006600"/>
                </a:solidFill>
                <a:latin typeface="Arial" pitchFamily="34" charset="0"/>
                <a:ea typeface="黑体" pitchFamily="49" charset="-122"/>
                <a:cs typeface="Arial" pitchFamily="34" charset="0"/>
              </a:rPr>
              <a:t>语言中的检验效能分析</a:t>
            </a:r>
            <a:endParaRPr lang="zh-CN" altLang="en-US" sz="3200" b="1" dirty="0">
              <a:solidFill>
                <a:srgbClr val="006600"/>
              </a:solidFill>
              <a:latin typeface="Arial" pitchFamily="34" charset="0"/>
              <a:ea typeface="黑体" pitchFamily="49" charset="-122"/>
              <a:cs typeface="Arial" pitchFamily="34" charset="0"/>
            </a:endParaRPr>
          </a:p>
        </p:txBody>
      </p:sp>
      <p:sp>
        <p:nvSpPr>
          <p:cNvPr id="10" name="内容占位符 2"/>
          <p:cNvSpPr>
            <a:spLocks noGrp="1"/>
          </p:cNvSpPr>
          <p:nvPr>
            <p:ph idx="1"/>
          </p:nvPr>
        </p:nvSpPr>
        <p:spPr>
          <a:xfrm>
            <a:off x="251520" y="908720"/>
            <a:ext cx="8363272" cy="504055"/>
          </a:xfrm>
        </p:spPr>
        <p:txBody>
          <a:bodyPr/>
          <a:lstStyle/>
          <a:p>
            <a:r>
              <a:rPr lang="en-US" altLang="zh-CN" sz="2800" dirty="0" smtClean="0">
                <a:latin typeface="Arial" pitchFamily="34" charset="0"/>
                <a:cs typeface="Arial" pitchFamily="34" charset="0"/>
              </a:rPr>
              <a:t>The </a:t>
            </a:r>
            <a:r>
              <a:rPr lang="en-US" altLang="zh-CN" sz="2800" dirty="0" err="1" smtClean="0">
                <a:solidFill>
                  <a:srgbClr val="FF0000"/>
                </a:solidFill>
                <a:latin typeface="Arial" pitchFamily="34" charset="0"/>
                <a:cs typeface="Arial" pitchFamily="34" charset="0"/>
              </a:rPr>
              <a:t>pwr</a:t>
            </a:r>
            <a:r>
              <a:rPr lang="en-US" altLang="zh-CN" sz="2800" dirty="0" smtClean="0">
                <a:latin typeface="Arial" pitchFamily="34" charset="0"/>
                <a:cs typeface="Arial" pitchFamily="34" charset="0"/>
              </a:rPr>
              <a:t> package implements power analysis. </a:t>
            </a:r>
            <a:endParaRPr lang="zh-CN" altLang="en-US" sz="2800" dirty="0">
              <a:latin typeface="Arial" pitchFamily="34" charset="0"/>
              <a:cs typeface="Arial" pitchFamily="34" charset="0"/>
            </a:endParaRPr>
          </a:p>
        </p:txBody>
      </p:sp>
      <p:graphicFrame>
        <p:nvGraphicFramePr>
          <p:cNvPr id="11" name="表格 10"/>
          <p:cNvGraphicFramePr>
            <a:graphicFrameLocks noGrp="1"/>
          </p:cNvGraphicFramePr>
          <p:nvPr/>
        </p:nvGraphicFramePr>
        <p:xfrm>
          <a:off x="1043608" y="1641153"/>
          <a:ext cx="7416824" cy="3732063"/>
        </p:xfrm>
        <a:graphic>
          <a:graphicData uri="http://schemas.openxmlformats.org/drawingml/2006/table">
            <a:tbl>
              <a:tblPr>
                <a:tableStyleId>{5940675A-B579-460E-94D1-54222C63F5DA}</a:tableStyleId>
              </a:tblPr>
              <a:tblGrid>
                <a:gridCol w="2376264">
                  <a:extLst>
                    <a:ext uri="{9D8B030D-6E8A-4147-A177-3AD203B41FA5}">
                      <a16:colId xmlns:a16="http://schemas.microsoft.com/office/drawing/2014/main" val="20000"/>
                    </a:ext>
                  </a:extLst>
                </a:gridCol>
                <a:gridCol w="5040560">
                  <a:extLst>
                    <a:ext uri="{9D8B030D-6E8A-4147-A177-3AD203B41FA5}">
                      <a16:colId xmlns:a16="http://schemas.microsoft.com/office/drawing/2014/main" val="20001"/>
                    </a:ext>
                  </a:extLst>
                </a:gridCol>
              </a:tblGrid>
              <a:tr h="347578">
                <a:tc>
                  <a:txBody>
                    <a:bodyPr/>
                    <a:lstStyle/>
                    <a:p>
                      <a:pPr algn="ctr" fontAlgn="t"/>
                      <a:r>
                        <a:rPr lang="en-US" sz="2000" b="1" dirty="0">
                          <a:latin typeface="Arial" pitchFamily="34" charset="0"/>
                          <a:cs typeface="Arial" pitchFamily="34" charset="0"/>
                        </a:rPr>
                        <a:t>function</a:t>
                      </a:r>
                    </a:p>
                  </a:txBody>
                  <a:tcPr marL="28066" marR="28066" marT="28066" marB="28066">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r>
                        <a:rPr lang="en-US" sz="2000" b="1" dirty="0">
                          <a:latin typeface="Arial" pitchFamily="34" charset="0"/>
                          <a:cs typeface="Arial" pitchFamily="34" charset="0"/>
                        </a:rPr>
                        <a:t>power calculations for</a:t>
                      </a:r>
                    </a:p>
                  </a:txBody>
                  <a:tcPr marL="28066" marR="28066" marT="28066" marB="28066">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47578">
                <a:tc>
                  <a:txBody>
                    <a:bodyPr/>
                    <a:lstStyle/>
                    <a:p>
                      <a:pPr fontAlgn="t"/>
                      <a:r>
                        <a:rPr lang="en-US" sz="2000" dirty="0">
                          <a:latin typeface="Arial" pitchFamily="34" charset="0"/>
                          <a:cs typeface="Arial" pitchFamily="34" charset="0"/>
                        </a:rPr>
                        <a:t>pwr.2p.test</a:t>
                      </a:r>
                    </a:p>
                  </a:txBody>
                  <a:tcPr marL="28066" marR="28066" marT="28066" marB="28066">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fontAlgn="t"/>
                      <a:r>
                        <a:rPr lang="en-US" sz="2000" dirty="0">
                          <a:latin typeface="Arial" pitchFamily="34" charset="0"/>
                          <a:cs typeface="Arial" pitchFamily="34" charset="0"/>
                        </a:rPr>
                        <a:t>two proportions (equal n)</a:t>
                      </a:r>
                    </a:p>
                  </a:txBody>
                  <a:tcPr marL="28066" marR="28066" marT="28066" marB="28066">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47578">
                <a:tc>
                  <a:txBody>
                    <a:bodyPr/>
                    <a:lstStyle/>
                    <a:p>
                      <a:pPr fontAlgn="t"/>
                      <a:r>
                        <a:rPr lang="en-US" sz="2000">
                          <a:latin typeface="Arial" pitchFamily="34" charset="0"/>
                          <a:cs typeface="Arial" pitchFamily="34" charset="0"/>
                        </a:rPr>
                        <a:t>pwr.2p2n.test</a:t>
                      </a:r>
                    </a:p>
                  </a:txBody>
                  <a:tcPr marL="28066" marR="28066" marT="28066" marB="28066">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fontAlgn="t"/>
                      <a:r>
                        <a:rPr lang="en-US" sz="2000" dirty="0">
                          <a:latin typeface="Arial" pitchFamily="34" charset="0"/>
                          <a:cs typeface="Arial" pitchFamily="34" charset="0"/>
                        </a:rPr>
                        <a:t>two proportions (unequal n)</a:t>
                      </a:r>
                    </a:p>
                  </a:txBody>
                  <a:tcPr marL="28066" marR="28066" marT="28066" marB="28066">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47578">
                <a:tc>
                  <a:txBody>
                    <a:bodyPr/>
                    <a:lstStyle/>
                    <a:p>
                      <a:pPr fontAlgn="t"/>
                      <a:r>
                        <a:rPr lang="en-US" sz="2000">
                          <a:latin typeface="Arial" pitchFamily="34" charset="0"/>
                          <a:cs typeface="Arial" pitchFamily="34" charset="0"/>
                        </a:rPr>
                        <a:t>pwr.anova.test</a:t>
                      </a:r>
                    </a:p>
                  </a:txBody>
                  <a:tcPr marL="28066" marR="28066" marT="28066" marB="28066">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fontAlgn="t"/>
                      <a:r>
                        <a:rPr lang="en-US" sz="2000" dirty="0">
                          <a:latin typeface="Arial" pitchFamily="34" charset="0"/>
                          <a:cs typeface="Arial" pitchFamily="34" charset="0"/>
                        </a:rPr>
                        <a:t>balanced one way ANOVA</a:t>
                      </a:r>
                    </a:p>
                  </a:txBody>
                  <a:tcPr marL="28066" marR="28066" marT="28066" marB="28066">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47578">
                <a:tc>
                  <a:txBody>
                    <a:bodyPr/>
                    <a:lstStyle/>
                    <a:p>
                      <a:pPr fontAlgn="t"/>
                      <a:r>
                        <a:rPr lang="en-US" sz="2000" dirty="0" err="1">
                          <a:latin typeface="Arial" pitchFamily="34" charset="0"/>
                          <a:cs typeface="Arial" pitchFamily="34" charset="0"/>
                        </a:rPr>
                        <a:t>pwr.chisq.test</a:t>
                      </a:r>
                      <a:endParaRPr lang="en-US" sz="2000" dirty="0">
                        <a:latin typeface="Arial" pitchFamily="34" charset="0"/>
                        <a:cs typeface="Arial" pitchFamily="34" charset="0"/>
                      </a:endParaRPr>
                    </a:p>
                  </a:txBody>
                  <a:tcPr marL="28066" marR="28066" marT="28066" marB="28066">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fontAlgn="t"/>
                      <a:r>
                        <a:rPr lang="en-US" sz="2000" dirty="0">
                          <a:latin typeface="Arial" pitchFamily="34" charset="0"/>
                          <a:cs typeface="Arial" pitchFamily="34" charset="0"/>
                        </a:rPr>
                        <a:t>chi-square test</a:t>
                      </a:r>
                    </a:p>
                  </a:txBody>
                  <a:tcPr marL="28066" marR="28066" marT="28066" marB="28066">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47578">
                <a:tc>
                  <a:txBody>
                    <a:bodyPr/>
                    <a:lstStyle/>
                    <a:p>
                      <a:pPr fontAlgn="t"/>
                      <a:r>
                        <a:rPr lang="en-US" sz="2000" dirty="0">
                          <a:latin typeface="Arial" pitchFamily="34" charset="0"/>
                          <a:cs typeface="Arial" pitchFamily="34" charset="0"/>
                        </a:rPr>
                        <a:t>pwr.f2.test</a:t>
                      </a:r>
                    </a:p>
                  </a:txBody>
                  <a:tcPr marL="28066" marR="28066" marT="28066" marB="28066">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fontAlgn="t"/>
                      <a:r>
                        <a:rPr lang="en-US" sz="2000" dirty="0">
                          <a:latin typeface="Arial" pitchFamily="34" charset="0"/>
                          <a:cs typeface="Arial" pitchFamily="34" charset="0"/>
                        </a:rPr>
                        <a:t>general linear model</a:t>
                      </a:r>
                    </a:p>
                  </a:txBody>
                  <a:tcPr marL="28066" marR="28066" marT="28066" marB="28066">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47578">
                <a:tc>
                  <a:txBody>
                    <a:bodyPr/>
                    <a:lstStyle/>
                    <a:p>
                      <a:pPr fontAlgn="t"/>
                      <a:r>
                        <a:rPr lang="en-US" sz="2000">
                          <a:latin typeface="Arial" pitchFamily="34" charset="0"/>
                          <a:cs typeface="Arial" pitchFamily="34" charset="0"/>
                        </a:rPr>
                        <a:t>pwr.p.test</a:t>
                      </a:r>
                    </a:p>
                  </a:txBody>
                  <a:tcPr marL="28066" marR="28066" marT="28066" marB="28066">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fontAlgn="t"/>
                      <a:r>
                        <a:rPr lang="en-US" sz="2000" dirty="0">
                          <a:latin typeface="Arial" pitchFamily="34" charset="0"/>
                          <a:cs typeface="Arial" pitchFamily="34" charset="0"/>
                        </a:rPr>
                        <a:t>proportion (one sample)</a:t>
                      </a:r>
                    </a:p>
                  </a:txBody>
                  <a:tcPr marL="28066" marR="28066" marT="28066" marB="28066">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347578">
                <a:tc>
                  <a:txBody>
                    <a:bodyPr/>
                    <a:lstStyle/>
                    <a:p>
                      <a:pPr fontAlgn="t"/>
                      <a:r>
                        <a:rPr lang="en-US" sz="2000">
                          <a:latin typeface="Arial" pitchFamily="34" charset="0"/>
                          <a:cs typeface="Arial" pitchFamily="34" charset="0"/>
                        </a:rPr>
                        <a:t>pwr.r.test</a:t>
                      </a:r>
                    </a:p>
                  </a:txBody>
                  <a:tcPr marL="28066" marR="28066" marT="28066" marB="28066">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fontAlgn="t"/>
                      <a:r>
                        <a:rPr lang="en-US" sz="2000" dirty="0">
                          <a:latin typeface="Arial" pitchFamily="34" charset="0"/>
                          <a:cs typeface="Arial" pitchFamily="34" charset="0"/>
                        </a:rPr>
                        <a:t>correlation</a:t>
                      </a:r>
                    </a:p>
                  </a:txBody>
                  <a:tcPr marL="28066" marR="28066" marT="28066" marB="28066">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363756">
                <a:tc>
                  <a:txBody>
                    <a:bodyPr/>
                    <a:lstStyle/>
                    <a:p>
                      <a:pPr fontAlgn="t"/>
                      <a:r>
                        <a:rPr lang="en-US" sz="2000">
                          <a:latin typeface="Arial" pitchFamily="34" charset="0"/>
                          <a:cs typeface="Arial" pitchFamily="34" charset="0"/>
                        </a:rPr>
                        <a:t>pwr.t.test</a:t>
                      </a:r>
                    </a:p>
                  </a:txBody>
                  <a:tcPr marL="28066" marR="28066" marT="28066" marB="28066">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fontAlgn="t"/>
                      <a:r>
                        <a:rPr lang="en-US" sz="2000" dirty="0">
                          <a:latin typeface="Arial" pitchFamily="34" charset="0"/>
                          <a:cs typeface="Arial" pitchFamily="34" charset="0"/>
                        </a:rPr>
                        <a:t>t-tests (one sample, 2 sample, paired)</a:t>
                      </a:r>
                    </a:p>
                  </a:txBody>
                  <a:tcPr marL="28066" marR="28066" marT="28066" marB="28066">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480851">
                <a:tc>
                  <a:txBody>
                    <a:bodyPr/>
                    <a:lstStyle/>
                    <a:p>
                      <a:pPr fontAlgn="t"/>
                      <a:r>
                        <a:rPr lang="en-US" sz="2000" dirty="0">
                          <a:latin typeface="Arial" pitchFamily="34" charset="0"/>
                          <a:cs typeface="Arial" pitchFamily="34" charset="0"/>
                        </a:rPr>
                        <a:t>pwr.t2n.test</a:t>
                      </a:r>
                    </a:p>
                  </a:txBody>
                  <a:tcPr marL="28066" marR="28066" marT="28066" marB="28066">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fontAlgn="t"/>
                      <a:r>
                        <a:rPr lang="en-US" sz="2000" dirty="0">
                          <a:latin typeface="Arial" pitchFamily="34" charset="0"/>
                          <a:cs typeface="Arial" pitchFamily="34" charset="0"/>
                        </a:rPr>
                        <a:t>t-test (two samples with unequal n)</a:t>
                      </a:r>
                    </a:p>
                  </a:txBody>
                  <a:tcPr marL="28066" marR="28066" marT="28066" marB="28066">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bl>
          </a:graphicData>
        </a:graphic>
      </p:graphicFrame>
      <p:sp>
        <p:nvSpPr>
          <p:cNvPr id="12" name="矩形 11"/>
          <p:cNvSpPr/>
          <p:nvPr/>
        </p:nvSpPr>
        <p:spPr>
          <a:xfrm>
            <a:off x="683568" y="5590981"/>
            <a:ext cx="8280920" cy="646331"/>
          </a:xfrm>
          <a:prstGeom prst="rect">
            <a:avLst/>
          </a:prstGeom>
        </p:spPr>
        <p:txBody>
          <a:bodyPr wrap="square">
            <a:spAutoFit/>
          </a:bodyPr>
          <a:lstStyle/>
          <a:p>
            <a:r>
              <a:rPr lang="en-US" altLang="zh-CN" dirty="0" smtClean="0">
                <a:solidFill>
                  <a:srgbClr val="C00000"/>
                </a:solidFill>
              </a:rPr>
              <a:t>For each of these functions, you enter three of the four quantities (effect size, sample size, significance level, power) and the fourth is calculated.</a:t>
            </a:r>
            <a:endParaRPr lang="zh-CN" altLang="en-US" dirty="0">
              <a:solidFill>
                <a:srgbClr val="C00000"/>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27</a:t>
            </a:fld>
            <a:endParaRPr lang="zh-CN" altLang="en-US"/>
          </a:p>
        </p:txBody>
      </p:sp>
      <p:sp>
        <p:nvSpPr>
          <p:cNvPr id="5" name="标题 1"/>
          <p:cNvSpPr>
            <a:spLocks noGrp="1"/>
          </p:cNvSpPr>
          <p:nvPr>
            <p:ph type="title"/>
          </p:nvPr>
        </p:nvSpPr>
        <p:spPr>
          <a:xfrm>
            <a:off x="457200" y="44624"/>
            <a:ext cx="8229600" cy="634082"/>
          </a:xfrm>
        </p:spPr>
        <p:txBody>
          <a:bodyPr/>
          <a:lstStyle/>
          <a:p>
            <a:r>
              <a:rPr lang="en-US" altLang="zh-CN" sz="2800" b="1" dirty="0" smtClean="0">
                <a:solidFill>
                  <a:srgbClr val="C00000"/>
                </a:solidFill>
                <a:latin typeface="Arial" pitchFamily="34" charset="0"/>
                <a:cs typeface="Arial" pitchFamily="34" charset="0"/>
              </a:rPr>
              <a:t>An example: t-test</a:t>
            </a:r>
            <a:endParaRPr lang="zh-CN" altLang="en-US" sz="2800" b="1" dirty="0">
              <a:solidFill>
                <a:srgbClr val="C00000"/>
              </a:solidFill>
              <a:latin typeface="Arial" pitchFamily="34" charset="0"/>
              <a:cs typeface="Arial" pitchFamily="34" charset="0"/>
            </a:endParaRPr>
          </a:p>
        </p:txBody>
      </p:sp>
      <p:sp>
        <p:nvSpPr>
          <p:cNvPr id="7" name="灯片编号占位符 3"/>
          <p:cNvSpPr txBox="1">
            <a:spLocks/>
          </p:cNvSpPr>
          <p:nvPr/>
        </p:nvSpPr>
        <p:spPr>
          <a:xfrm>
            <a:off x="6553200" y="6356350"/>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86C75756-0271-488A-B748-639BD5BFB0CE}"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内容占位符 2"/>
          <p:cNvSpPr>
            <a:spLocks noGrp="1"/>
          </p:cNvSpPr>
          <p:nvPr>
            <p:ph idx="1"/>
          </p:nvPr>
        </p:nvSpPr>
        <p:spPr>
          <a:xfrm>
            <a:off x="179512" y="897508"/>
            <a:ext cx="8856984" cy="5339804"/>
          </a:xfrm>
        </p:spPr>
        <p:txBody>
          <a:bodyPr/>
          <a:lstStyle/>
          <a:p>
            <a:pPr>
              <a:buNone/>
            </a:pPr>
            <a:r>
              <a:rPr lang="en-US" altLang="zh-CN" sz="2000" dirty="0" smtClean="0">
                <a:solidFill>
                  <a:srgbClr val="FF0000"/>
                </a:solidFill>
                <a:latin typeface="Arial" pitchFamily="34" charset="0"/>
                <a:cs typeface="Arial" pitchFamily="34" charset="0"/>
              </a:rPr>
              <a:t>For t-test, use the following functions:</a:t>
            </a:r>
            <a:endParaRPr lang="en-US" altLang="zh-CN" sz="2000" b="1" dirty="0" smtClean="0">
              <a:solidFill>
                <a:srgbClr val="FF0000"/>
              </a:solidFill>
              <a:latin typeface="Arial" pitchFamily="34" charset="0"/>
              <a:cs typeface="Arial" pitchFamily="34" charset="0"/>
            </a:endParaRPr>
          </a:p>
          <a:p>
            <a:pPr>
              <a:buNone/>
            </a:pPr>
            <a:r>
              <a:rPr lang="en-US" altLang="zh-CN" sz="2000" b="1" dirty="0" smtClean="0">
                <a:latin typeface="Arial" pitchFamily="34" charset="0"/>
                <a:cs typeface="Arial" pitchFamily="34" charset="0"/>
              </a:rPr>
              <a:t>	</a:t>
            </a:r>
            <a:r>
              <a:rPr lang="en-US" altLang="zh-CN" sz="2000" b="1" dirty="0" err="1" smtClean="0">
                <a:latin typeface="Arial" pitchFamily="34" charset="0"/>
                <a:cs typeface="Arial" pitchFamily="34" charset="0"/>
              </a:rPr>
              <a:t>pwr.t.test</a:t>
            </a:r>
            <a:r>
              <a:rPr lang="en-US" altLang="zh-CN" sz="2000" b="1" dirty="0" smtClean="0">
                <a:latin typeface="Arial" pitchFamily="34" charset="0"/>
                <a:cs typeface="Arial" pitchFamily="34" charset="0"/>
              </a:rPr>
              <a:t>(n = , d = , </a:t>
            </a:r>
            <a:r>
              <a:rPr lang="en-US" altLang="zh-CN" sz="2000" b="1" dirty="0" err="1" smtClean="0">
                <a:latin typeface="Arial" pitchFamily="34" charset="0"/>
                <a:cs typeface="Arial" pitchFamily="34" charset="0"/>
              </a:rPr>
              <a:t>sig.level</a:t>
            </a:r>
            <a:r>
              <a:rPr lang="en-US" altLang="zh-CN" sz="2000" b="1" dirty="0" smtClean="0">
                <a:latin typeface="Arial" pitchFamily="34" charset="0"/>
                <a:cs typeface="Arial" pitchFamily="34" charset="0"/>
              </a:rPr>
              <a:t> = , power = , type = c("</a:t>
            </a:r>
            <a:r>
              <a:rPr lang="en-US" altLang="zh-CN" sz="2000" b="1" dirty="0" err="1" smtClean="0">
                <a:latin typeface="Arial" pitchFamily="34" charset="0"/>
                <a:cs typeface="Arial" pitchFamily="34" charset="0"/>
              </a:rPr>
              <a:t>two.sample</a:t>
            </a:r>
            <a:r>
              <a:rPr lang="en-US" altLang="zh-CN" sz="2000" b="1" dirty="0" smtClean="0">
                <a:latin typeface="Arial" pitchFamily="34" charset="0"/>
                <a:cs typeface="Arial" pitchFamily="34" charset="0"/>
              </a:rPr>
              <a:t>", "</a:t>
            </a:r>
            <a:r>
              <a:rPr lang="en-US" altLang="zh-CN" sz="2000" b="1" dirty="0" err="1" smtClean="0">
                <a:latin typeface="Arial" pitchFamily="34" charset="0"/>
                <a:cs typeface="Arial" pitchFamily="34" charset="0"/>
              </a:rPr>
              <a:t>one.sample</a:t>
            </a:r>
            <a:r>
              <a:rPr lang="en-US" altLang="zh-CN" sz="2000" b="1" dirty="0" smtClean="0">
                <a:latin typeface="Arial" pitchFamily="34" charset="0"/>
                <a:cs typeface="Arial" pitchFamily="34" charset="0"/>
              </a:rPr>
              <a:t>", "paired"))</a:t>
            </a:r>
          </a:p>
          <a:p>
            <a:pPr>
              <a:buNone/>
            </a:pPr>
            <a:r>
              <a:rPr lang="en-US" altLang="zh-CN" sz="2000" b="1" dirty="0" smtClean="0">
                <a:latin typeface="Arial" pitchFamily="34" charset="0"/>
                <a:cs typeface="Arial" pitchFamily="34" charset="0"/>
              </a:rPr>
              <a:t>         </a:t>
            </a:r>
            <a:r>
              <a:rPr lang="en-US" altLang="zh-CN" sz="2000" dirty="0" smtClean="0">
                <a:latin typeface="Arial" pitchFamily="34" charset="0"/>
                <a:cs typeface="Arial" pitchFamily="34" charset="0"/>
              </a:rPr>
              <a:t>where n is the sample size, d is the effect size, and type indicates a two-sample t-test, one-sample t-test or paired t-test.</a:t>
            </a:r>
          </a:p>
          <a:p>
            <a:pPr>
              <a:buNone/>
            </a:pPr>
            <a:r>
              <a:rPr lang="en-US" altLang="zh-CN" sz="2000" dirty="0">
                <a:latin typeface="Arial" panose="020B0604020202020204" pitchFamily="34" charset="0"/>
                <a:ea typeface="黑体" panose="02010609060101010101" pitchFamily="49" charset="-122"/>
                <a:cs typeface="Arial" panose="020B0604020202020204" pitchFamily="34" charset="0"/>
              </a:rPr>
              <a:t>		</a:t>
            </a:r>
            <a:r>
              <a:rPr lang="en-US" altLang="zh-CN" sz="2000" dirty="0">
                <a:solidFill>
                  <a:srgbClr val="0000CC"/>
                </a:solidFill>
                <a:latin typeface="Arial" panose="020B0604020202020204" pitchFamily="34" charset="0"/>
                <a:ea typeface="黑体" panose="02010609060101010101" pitchFamily="49" charset="-122"/>
                <a:cs typeface="Arial" panose="020B0604020202020204" pitchFamily="34" charset="0"/>
              </a:rPr>
              <a:t> </a:t>
            </a:r>
            <a:r>
              <a:rPr lang="zh-CN" altLang="en-US" sz="2000" dirty="0" smtClean="0">
                <a:solidFill>
                  <a:srgbClr val="0000CC"/>
                </a:solidFill>
                <a:latin typeface="Arial" panose="020B0604020202020204" pitchFamily="34" charset="0"/>
                <a:ea typeface="黑体" panose="02010609060101010101" pitchFamily="49" charset="-122"/>
                <a:cs typeface="Arial" panose="020B0604020202020204" pitchFamily="34" charset="0"/>
              </a:rPr>
              <a:t>一般情况下</a:t>
            </a:r>
            <a:r>
              <a:rPr lang="zh-CN" altLang="en-US" sz="2000" dirty="0" smtClean="0">
                <a:latin typeface="Arial" panose="020B0604020202020204" pitchFamily="34" charset="0"/>
                <a:ea typeface="黑体" panose="02010609060101010101" pitchFamily="49" charset="-122"/>
                <a:cs typeface="Arial" panose="020B0604020202020204" pitchFamily="34" charset="0"/>
              </a:rPr>
              <a:t>：</a:t>
            </a:r>
            <a:r>
              <a:rPr lang="en-US" altLang="zh-CN" sz="2000" dirty="0" err="1" smtClean="0">
                <a:solidFill>
                  <a:srgbClr val="FF0000"/>
                </a:solidFill>
                <a:latin typeface="Arial" panose="020B0604020202020204" pitchFamily="34" charset="0"/>
                <a:ea typeface="黑体" panose="02010609060101010101" pitchFamily="49" charset="-122"/>
                <a:cs typeface="Arial" panose="020B0604020202020204" pitchFamily="34" charset="0"/>
              </a:rPr>
              <a:t>sig.level</a:t>
            </a:r>
            <a:r>
              <a:rPr lang="en-US" altLang="zh-CN" sz="2000" dirty="0" smtClean="0">
                <a:solidFill>
                  <a:srgbClr val="FF0000"/>
                </a:solidFill>
                <a:latin typeface="Arial" panose="020B0604020202020204" pitchFamily="34" charset="0"/>
                <a:ea typeface="黑体" panose="02010609060101010101" pitchFamily="49" charset="-122"/>
                <a:cs typeface="Arial" panose="020B0604020202020204" pitchFamily="34" charset="0"/>
              </a:rPr>
              <a:t> = 0.05</a:t>
            </a:r>
            <a:r>
              <a:rPr lang="en-US" altLang="zh-CN" sz="2000" dirty="0">
                <a:solidFill>
                  <a:srgbClr val="FF0000"/>
                </a:solidFill>
                <a:latin typeface="Arial" panose="020B0604020202020204" pitchFamily="34" charset="0"/>
                <a:ea typeface="黑体" panose="02010609060101010101" pitchFamily="49" charset="-122"/>
                <a:cs typeface="Arial" panose="020B0604020202020204" pitchFamily="34" charset="0"/>
              </a:rPr>
              <a:t>, </a:t>
            </a:r>
            <a:r>
              <a:rPr lang="en-US" altLang="zh-CN" sz="2000" dirty="0" smtClean="0">
                <a:solidFill>
                  <a:srgbClr val="FF0000"/>
                </a:solidFill>
                <a:latin typeface="Arial" panose="020B0604020202020204" pitchFamily="34" charset="0"/>
                <a:ea typeface="黑体" panose="02010609060101010101" pitchFamily="49" charset="-122"/>
                <a:cs typeface="Arial" panose="020B0604020202020204" pitchFamily="34" charset="0"/>
              </a:rPr>
              <a:t>power = 0.75, 0.8, 0.9, ……</a:t>
            </a:r>
          </a:p>
          <a:p>
            <a:pPr>
              <a:buNone/>
            </a:pPr>
            <a:endParaRPr lang="en-US" altLang="zh-CN" sz="2000" dirty="0" smtClean="0">
              <a:latin typeface="Arial" pitchFamily="34" charset="0"/>
              <a:cs typeface="Arial" pitchFamily="34" charset="0"/>
            </a:endParaRPr>
          </a:p>
          <a:p>
            <a:pPr>
              <a:buNone/>
            </a:pPr>
            <a:r>
              <a:rPr lang="en-US" altLang="zh-CN" sz="2000" dirty="0" smtClean="0">
                <a:solidFill>
                  <a:srgbClr val="FF0000"/>
                </a:solidFill>
                <a:latin typeface="Arial" pitchFamily="34" charset="0"/>
                <a:cs typeface="Arial" pitchFamily="34" charset="0"/>
              </a:rPr>
              <a:t>The effect size is assessed as</a:t>
            </a:r>
          </a:p>
          <a:p>
            <a:pPr>
              <a:buNone/>
            </a:pPr>
            <a:endParaRPr lang="en-US" altLang="zh-CN" sz="2000" dirty="0" smtClean="0">
              <a:latin typeface="Arial" pitchFamily="34" charset="0"/>
              <a:cs typeface="Arial" pitchFamily="34" charset="0"/>
            </a:endParaRPr>
          </a:p>
          <a:p>
            <a:pPr>
              <a:buNone/>
            </a:pPr>
            <a:endParaRPr lang="en-US" altLang="zh-CN" sz="2000" dirty="0" smtClean="0">
              <a:latin typeface="Arial" pitchFamily="34" charset="0"/>
              <a:cs typeface="Arial" pitchFamily="34" charset="0"/>
            </a:endParaRPr>
          </a:p>
          <a:p>
            <a:pPr marL="0" indent="0">
              <a:buNone/>
            </a:pPr>
            <a:endParaRPr lang="en-US" altLang="zh-CN" sz="2000" dirty="0" smtClean="0">
              <a:latin typeface="Arial" pitchFamily="34" charset="0"/>
              <a:cs typeface="Arial" pitchFamily="34" charset="0"/>
            </a:endParaRPr>
          </a:p>
          <a:p>
            <a:r>
              <a:rPr lang="en-US" altLang="zh-CN" sz="2000" dirty="0" smtClean="0">
                <a:latin typeface="Arial" pitchFamily="34" charset="0"/>
                <a:cs typeface="Arial" pitchFamily="34" charset="0"/>
              </a:rPr>
              <a:t>Cohen suggests that d values of</a:t>
            </a:r>
            <a:r>
              <a:rPr lang="en-US" altLang="zh-CN" sz="2000" dirty="0" smtClean="0">
                <a:solidFill>
                  <a:srgbClr val="FF0000"/>
                </a:solidFill>
                <a:latin typeface="Arial" pitchFamily="34" charset="0"/>
                <a:cs typeface="Arial" pitchFamily="34" charset="0"/>
              </a:rPr>
              <a:t> 0.2, 0.5, and 0.8</a:t>
            </a:r>
            <a:r>
              <a:rPr lang="en-US" altLang="zh-CN" sz="2000" dirty="0" smtClean="0">
                <a:latin typeface="Arial" pitchFamily="34" charset="0"/>
                <a:cs typeface="Arial" pitchFamily="34" charset="0"/>
              </a:rPr>
              <a:t> represent small, medium, and large effect sizes respectively;</a:t>
            </a:r>
          </a:p>
          <a:p>
            <a:r>
              <a:rPr lang="en-US" altLang="zh-CN" sz="2000" dirty="0" smtClean="0">
                <a:latin typeface="Arial" pitchFamily="34" charset="0"/>
                <a:cs typeface="Arial" pitchFamily="34" charset="0"/>
              </a:rPr>
              <a:t>You can specify alternative="</a:t>
            </a:r>
            <a:r>
              <a:rPr lang="en-US" altLang="zh-CN" sz="2000" dirty="0" err="1" smtClean="0">
                <a:latin typeface="Arial" pitchFamily="34" charset="0"/>
                <a:cs typeface="Arial" pitchFamily="34" charset="0"/>
              </a:rPr>
              <a:t>two.sided</a:t>
            </a:r>
            <a:r>
              <a:rPr lang="en-US" altLang="zh-CN" sz="2000" dirty="0" smtClean="0">
                <a:latin typeface="Arial" pitchFamily="34" charset="0"/>
                <a:cs typeface="Arial" pitchFamily="34" charset="0"/>
              </a:rPr>
              <a:t>", "less", or "greater" to indicate a two-tailed, or one-tailed test. A two tailed test is the default.</a:t>
            </a:r>
          </a:p>
          <a:p>
            <a:pPr>
              <a:buNone/>
            </a:pPr>
            <a:endParaRPr lang="zh-CN" altLang="en-US" sz="2000" dirty="0">
              <a:latin typeface="Arial" pitchFamily="34" charset="0"/>
              <a:cs typeface="Arial" pitchFamily="34" charset="0"/>
            </a:endParaRPr>
          </a:p>
        </p:txBody>
      </p:sp>
      <p:pic>
        <p:nvPicPr>
          <p:cNvPr id="10" name="Picture 5"/>
          <p:cNvPicPr>
            <a:picLocks noChangeAspect="1" noChangeArrowheads="1"/>
          </p:cNvPicPr>
          <p:nvPr/>
        </p:nvPicPr>
        <p:blipFill>
          <a:blip r:embed="rId2" cstate="print"/>
          <a:srcRect/>
          <a:stretch>
            <a:fillRect/>
          </a:stretch>
        </p:blipFill>
        <p:spPr bwMode="auto">
          <a:xfrm>
            <a:off x="1043608" y="3785544"/>
            <a:ext cx="6912768" cy="939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28</a:t>
            </a:fld>
            <a:endParaRPr lang="zh-CN" altLang="en-US"/>
          </a:p>
        </p:txBody>
      </p:sp>
      <p:pic>
        <p:nvPicPr>
          <p:cNvPr id="3" name="Picture 2" descr="https://img-blog.csdn.net/20140623132627656?watermark/2/text/aHR0cDovL2Jsb2cuY3Nkbi5uZXQvbGlsYW5mZW5nMTk5MQ==/font/5a6L5L2T/fontsize/400/fill/I0JBQkFCMA==/dissolve/70/gravity/SouthEast"/>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79412"/>
          <a:stretch/>
        </p:blipFill>
        <p:spPr bwMode="auto">
          <a:xfrm>
            <a:off x="26043" y="980728"/>
            <a:ext cx="9117957" cy="51499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https://img-blog.csdn.net/20140623132627656?watermark/2/text/aHR0cDovL2Jsb2cuY3Nkbi5uZXQvbGlsYW5mZW5nMTk5MQ==/font/5a6L5L2T/fontsize/400/fill/I0JBQkFCMA==/dissolve/70/gravity/SouthEast"/>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23480" r="52054"/>
          <a:stretch/>
        </p:blipFill>
        <p:spPr bwMode="auto">
          <a:xfrm>
            <a:off x="323528" y="2132856"/>
            <a:ext cx="6820906" cy="2986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080327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504" y="44624"/>
            <a:ext cx="8748464" cy="1124744"/>
          </a:xfrm>
        </p:spPr>
        <p:txBody>
          <a:bodyPr/>
          <a:lstStyle/>
          <a:p>
            <a:r>
              <a:rPr lang="en-US" altLang="zh-CN" sz="3600" b="1" dirty="0" smtClean="0">
                <a:solidFill>
                  <a:srgbClr val="FF0000"/>
                </a:solidFill>
                <a:latin typeface="Arial" pitchFamily="34" charset="0"/>
                <a:ea typeface="黑体" pitchFamily="49" charset="-122"/>
                <a:cs typeface="Arial" pitchFamily="34" charset="0"/>
              </a:rPr>
              <a:t>6. </a:t>
            </a:r>
            <a:r>
              <a:rPr lang="zh-CN" altLang="en-US" sz="3600" b="1" dirty="0" smtClean="0">
                <a:solidFill>
                  <a:srgbClr val="FF0000"/>
                </a:solidFill>
                <a:latin typeface="Arial" pitchFamily="34" charset="0"/>
                <a:ea typeface="黑体" pitchFamily="49" charset="-122"/>
                <a:cs typeface="Arial" pitchFamily="34" charset="0"/>
              </a:rPr>
              <a:t>基因集富集分析 </a:t>
            </a:r>
            <a:r>
              <a:rPr lang="en-US" altLang="zh-CN" sz="3600" b="1" dirty="0" smtClean="0">
                <a:solidFill>
                  <a:srgbClr val="FF0000"/>
                </a:solidFill>
                <a:latin typeface="Arial" pitchFamily="34" charset="0"/>
                <a:ea typeface="黑体" pitchFamily="49" charset="-122"/>
                <a:cs typeface="Arial" pitchFamily="34" charset="0"/>
              </a:rPr>
              <a:t/>
            </a:r>
            <a:br>
              <a:rPr lang="en-US" altLang="zh-CN" sz="3600" b="1" dirty="0" smtClean="0">
                <a:solidFill>
                  <a:srgbClr val="FF0000"/>
                </a:solidFill>
                <a:latin typeface="Arial" pitchFamily="34" charset="0"/>
                <a:ea typeface="黑体" pitchFamily="49" charset="-122"/>
                <a:cs typeface="Arial" pitchFamily="34" charset="0"/>
              </a:rPr>
            </a:br>
            <a:r>
              <a:rPr lang="en-US" altLang="zh-CN" sz="3600" b="1" dirty="0" smtClean="0">
                <a:solidFill>
                  <a:srgbClr val="FF0000"/>
                </a:solidFill>
                <a:latin typeface="Arial" pitchFamily="34" charset="0"/>
                <a:ea typeface="黑体" pitchFamily="49" charset="-122"/>
                <a:cs typeface="Arial" pitchFamily="34" charset="0"/>
              </a:rPr>
              <a:t>(Gene Set Enrichment Analysis, GSEA)</a:t>
            </a:r>
            <a:endParaRPr lang="zh-CN" altLang="en-US" sz="3600" dirty="0">
              <a:solidFill>
                <a:srgbClr val="FF0000"/>
              </a:solidFill>
              <a:latin typeface="Arial" pitchFamily="34" charset="0"/>
              <a:ea typeface="黑体" pitchFamily="49" charset="-122"/>
              <a:cs typeface="Arial" pitchFamily="34" charset="0"/>
            </a:endParaRPr>
          </a:p>
        </p:txBody>
      </p:sp>
      <p:sp>
        <p:nvSpPr>
          <p:cNvPr id="3" name="内容占位符 2"/>
          <p:cNvSpPr>
            <a:spLocks noGrp="1"/>
          </p:cNvSpPr>
          <p:nvPr>
            <p:ph idx="1"/>
          </p:nvPr>
        </p:nvSpPr>
        <p:spPr>
          <a:xfrm>
            <a:off x="107504" y="1268760"/>
            <a:ext cx="8928992" cy="2520280"/>
          </a:xfrm>
        </p:spPr>
        <p:txBody>
          <a:bodyPr/>
          <a:lstStyle/>
          <a:p>
            <a:pPr>
              <a:buFont typeface="Wingdings" pitchFamily="2" charset="2"/>
              <a:buChar char="n"/>
            </a:pPr>
            <a:r>
              <a:rPr lang="zh-CN" altLang="en-US" sz="2400" dirty="0" smtClean="0">
                <a:latin typeface="Arial" pitchFamily="34" charset="0"/>
                <a:ea typeface="黑体" pitchFamily="49" charset="-122"/>
                <a:cs typeface="Arial" pitchFamily="34" charset="0"/>
              </a:rPr>
              <a:t>富集是将基因根据一些先验的知识（如常见的注释）进行分类的过程；</a:t>
            </a: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zh-CN" altLang="en-US" sz="2400" dirty="0" smtClean="0">
                <a:latin typeface="Arial" pitchFamily="34" charset="0"/>
                <a:ea typeface="黑体" pitchFamily="49" charset="-122"/>
                <a:cs typeface="Arial" pitchFamily="34" charset="0"/>
              </a:rPr>
              <a:t>当在两种表型之间确认了差异变化特征（如差异表达基因）后</a:t>
            </a:r>
            <a:r>
              <a:rPr lang="en-US" altLang="zh-CN" sz="2400" dirty="0" smtClean="0">
                <a:latin typeface="Arial" pitchFamily="34" charset="0"/>
                <a:ea typeface="黑体" pitchFamily="49" charset="-122"/>
                <a:cs typeface="Arial" pitchFamily="34" charset="0"/>
              </a:rPr>
              <a:t>, </a:t>
            </a:r>
            <a:r>
              <a:rPr lang="zh-CN" altLang="en-US" sz="2400" dirty="0" smtClean="0">
                <a:latin typeface="Arial" pitchFamily="34" charset="0"/>
                <a:ea typeface="黑体" pitchFamily="49" charset="-122"/>
                <a:cs typeface="Arial" pitchFamily="34" charset="0"/>
              </a:rPr>
              <a:t>下一步就要研究这些特征是否有生物学意义的某种富集</a:t>
            </a:r>
            <a:r>
              <a:rPr lang="en-US" altLang="zh-CN" sz="2400" dirty="0" smtClean="0">
                <a:latin typeface="Arial" pitchFamily="34" charset="0"/>
                <a:ea typeface="黑体" pitchFamily="49" charset="-122"/>
                <a:cs typeface="Arial" pitchFamily="34" charset="0"/>
              </a:rPr>
              <a:t>;</a:t>
            </a:r>
          </a:p>
          <a:p>
            <a:pPr>
              <a:buFont typeface="Wingdings" pitchFamily="2" charset="2"/>
              <a:buChar char="n"/>
            </a:pPr>
            <a:r>
              <a:rPr lang="en-US" altLang="zh-CN" sz="2400" dirty="0" smtClean="0">
                <a:latin typeface="Arial" pitchFamily="34" charset="0"/>
                <a:ea typeface="黑体" pitchFamily="49" charset="-122"/>
                <a:cs typeface="Arial" pitchFamily="34" charset="0"/>
              </a:rPr>
              <a:t>GSEA</a:t>
            </a:r>
            <a:r>
              <a:rPr lang="zh-CN" altLang="en-US" sz="2400" dirty="0" smtClean="0">
                <a:latin typeface="Arial" pitchFamily="34" charset="0"/>
                <a:ea typeface="黑体" pitchFamily="49" charset="-122"/>
                <a:cs typeface="Arial" pitchFamily="34" charset="0"/>
              </a:rPr>
              <a:t>分析需要生物学</a:t>
            </a:r>
            <a:r>
              <a:rPr lang="en-US" altLang="zh-CN" sz="2400" dirty="0" smtClean="0">
                <a:latin typeface="Arial" pitchFamily="34" charset="0"/>
                <a:ea typeface="黑体" pitchFamily="49" charset="-122"/>
                <a:cs typeface="Arial" pitchFamily="34" charset="0"/>
              </a:rPr>
              <a:t>term</a:t>
            </a:r>
            <a:r>
              <a:rPr lang="zh-CN" altLang="en-US" sz="2400" dirty="0" smtClean="0">
                <a:latin typeface="Arial" pitchFamily="34" charset="0"/>
                <a:ea typeface="黑体" pitchFamily="49" charset="-122"/>
                <a:cs typeface="Arial" pitchFamily="34" charset="0"/>
              </a:rPr>
              <a:t>的数据库，例如</a:t>
            </a:r>
            <a:r>
              <a:rPr lang="en-US" altLang="zh-CN" sz="2400" dirty="0" smtClean="0">
                <a:latin typeface="Arial" pitchFamily="34" charset="0"/>
                <a:ea typeface="黑体" pitchFamily="49" charset="-122"/>
                <a:cs typeface="Arial" pitchFamily="34" charset="0"/>
              </a:rPr>
              <a:t>Disease Ontology, Gene Ontology, KEGG, </a:t>
            </a:r>
            <a:r>
              <a:rPr lang="en-US" altLang="zh-CN" sz="2400" dirty="0" err="1" smtClean="0">
                <a:latin typeface="Arial" pitchFamily="34" charset="0"/>
                <a:ea typeface="黑体" pitchFamily="49" charset="-122"/>
                <a:cs typeface="Arial" pitchFamily="34" charset="0"/>
              </a:rPr>
              <a:t>Reactome</a:t>
            </a:r>
            <a:r>
              <a:rPr lang="en-US" altLang="zh-CN" sz="2400" dirty="0" smtClean="0">
                <a:latin typeface="Arial" pitchFamily="34" charset="0"/>
                <a:ea typeface="黑体" pitchFamily="49" charset="-122"/>
                <a:cs typeface="Arial" pitchFamily="34" charset="0"/>
              </a:rPr>
              <a:t> Pathway, etc.</a:t>
            </a: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29</a:t>
            </a:fld>
            <a:endParaRPr lang="zh-CN" altLang="en-US"/>
          </a:p>
        </p:txBody>
      </p:sp>
      <p:pic>
        <p:nvPicPr>
          <p:cNvPr id="5122" name="Picture 2" descr="http://www.bioinfo-scrounger.com/data/photo/GSEA-homegraphic.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42728" y="3848490"/>
            <a:ext cx="4645496" cy="28928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16632"/>
            <a:ext cx="8229600" cy="706090"/>
          </a:xfrm>
        </p:spPr>
        <p:txBody>
          <a:bodyPr/>
          <a:lstStyle/>
          <a:p>
            <a:r>
              <a:rPr lang="da-DK" altLang="zh-CN" sz="3200" b="1" dirty="0" smtClean="0">
                <a:solidFill>
                  <a:srgbClr val="C00000"/>
                </a:solidFill>
                <a:latin typeface="Arial" pitchFamily="34" charset="0"/>
                <a:cs typeface="Arial" pitchFamily="34" charset="0"/>
              </a:rPr>
              <a:t>Method</a:t>
            </a:r>
            <a:endParaRPr lang="zh-CN" altLang="en-US" sz="3200" dirty="0">
              <a:solidFill>
                <a:srgbClr val="C00000"/>
              </a:solidFill>
              <a:latin typeface="Arial" pitchFamily="34" charset="0"/>
              <a:cs typeface="Arial"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30</a:t>
            </a:fld>
            <a:endParaRPr lang="zh-CN" altLang="en-US"/>
          </a:p>
        </p:txBody>
      </p:sp>
      <p:pic>
        <p:nvPicPr>
          <p:cNvPr id="4098" name="Picture 2"/>
          <p:cNvPicPr>
            <a:picLocks noChangeAspect="1" noChangeArrowheads="1"/>
          </p:cNvPicPr>
          <p:nvPr/>
        </p:nvPicPr>
        <p:blipFill>
          <a:blip r:embed="rId2" cstate="print"/>
          <a:srcRect/>
          <a:stretch>
            <a:fillRect/>
          </a:stretch>
        </p:blipFill>
        <p:spPr bwMode="auto">
          <a:xfrm>
            <a:off x="827584" y="908720"/>
            <a:ext cx="7128792" cy="4941168"/>
          </a:xfrm>
          <a:prstGeom prst="rect">
            <a:avLst/>
          </a:prstGeom>
          <a:noFill/>
          <a:ln w="9525">
            <a:noFill/>
            <a:miter lim="800000"/>
            <a:headEnd/>
            <a:tailEnd/>
          </a:ln>
        </p:spPr>
      </p:pic>
      <p:sp>
        <p:nvSpPr>
          <p:cNvPr id="6" name="矩形 5"/>
          <p:cNvSpPr/>
          <p:nvPr/>
        </p:nvSpPr>
        <p:spPr>
          <a:xfrm>
            <a:off x="6742584" y="3573016"/>
            <a:ext cx="1944216" cy="461665"/>
          </a:xfrm>
          <a:prstGeom prst="rect">
            <a:avLst/>
          </a:prstGeom>
        </p:spPr>
        <p:txBody>
          <a:bodyPr wrap="square">
            <a:spAutoFit/>
          </a:bodyPr>
          <a:lstStyle/>
          <a:p>
            <a:r>
              <a:rPr lang="zh-CN" altLang="en-US" sz="2400" b="1" u="sng" dirty="0" smtClean="0">
                <a:solidFill>
                  <a:srgbClr val="FF0000"/>
                </a:solidFill>
                <a:latin typeface="黑体" pitchFamily="49" charset="-122"/>
                <a:ea typeface="黑体" pitchFamily="49" charset="-122"/>
              </a:rPr>
              <a:t>超几何分布</a:t>
            </a:r>
            <a:endParaRPr lang="zh-CN" altLang="en-US" sz="2400" b="1" u="sng" dirty="0">
              <a:solidFill>
                <a:srgbClr val="FF0000"/>
              </a:solidFill>
              <a:latin typeface="黑体" pitchFamily="49" charset="-122"/>
              <a:ea typeface="黑体" pitchFamily="49" charset="-122"/>
            </a:endParaRPr>
          </a:p>
        </p:txBody>
      </p:sp>
      <p:sp>
        <p:nvSpPr>
          <p:cNvPr id="7" name="矩形 6"/>
          <p:cNvSpPr/>
          <p:nvPr/>
        </p:nvSpPr>
        <p:spPr>
          <a:xfrm>
            <a:off x="323528" y="6125234"/>
            <a:ext cx="8424936" cy="400110"/>
          </a:xfrm>
          <a:prstGeom prst="rect">
            <a:avLst/>
          </a:prstGeom>
        </p:spPr>
        <p:txBody>
          <a:bodyPr wrap="square">
            <a:spAutoFit/>
          </a:bodyPr>
          <a:lstStyle/>
          <a:p>
            <a:r>
              <a:rPr lang="zh-CN" altLang="en-US" sz="2000" b="1" dirty="0" smtClean="0">
                <a:solidFill>
                  <a:srgbClr val="0000CC"/>
                </a:solidFill>
                <a:latin typeface="Arial" pitchFamily="34" charset="0"/>
                <a:ea typeface="黑体" pitchFamily="49" charset="-122"/>
                <a:cs typeface="Arial" pitchFamily="34" charset="0"/>
              </a:rPr>
              <a:t>各种软件做</a:t>
            </a:r>
            <a:r>
              <a:rPr lang="en-US" altLang="zh-CN" sz="2000" b="1" dirty="0" smtClean="0">
                <a:solidFill>
                  <a:srgbClr val="0000CC"/>
                </a:solidFill>
                <a:latin typeface="Arial" pitchFamily="34" charset="0"/>
                <a:ea typeface="黑体" pitchFamily="49" charset="-122"/>
                <a:cs typeface="Arial" pitchFamily="34" charset="0"/>
              </a:rPr>
              <a:t>GO</a:t>
            </a:r>
            <a:r>
              <a:rPr lang="zh-CN" altLang="en-US" sz="2000" b="1" dirty="0" smtClean="0">
                <a:solidFill>
                  <a:srgbClr val="0000CC"/>
                </a:solidFill>
                <a:latin typeface="Arial" pitchFamily="34" charset="0"/>
                <a:ea typeface="黑体" pitchFamily="49" charset="-122"/>
                <a:cs typeface="Arial" pitchFamily="34" charset="0"/>
              </a:rPr>
              <a:t>或</a:t>
            </a:r>
            <a:r>
              <a:rPr lang="en-US" altLang="zh-CN" sz="2000" b="1" dirty="0" smtClean="0">
                <a:solidFill>
                  <a:srgbClr val="0000CC"/>
                </a:solidFill>
                <a:latin typeface="Arial" pitchFamily="34" charset="0"/>
                <a:ea typeface="黑体" pitchFamily="49" charset="-122"/>
                <a:cs typeface="Arial" pitchFamily="34" charset="0"/>
              </a:rPr>
              <a:t>KEGG</a:t>
            </a:r>
            <a:r>
              <a:rPr lang="zh-CN" altLang="en-US" sz="2000" b="1" dirty="0" smtClean="0">
                <a:solidFill>
                  <a:srgbClr val="0000CC"/>
                </a:solidFill>
                <a:latin typeface="Arial" pitchFamily="34" charset="0"/>
                <a:ea typeface="黑体" pitchFamily="49" charset="-122"/>
                <a:cs typeface="Arial" pitchFamily="34" charset="0"/>
              </a:rPr>
              <a:t>等富集分析，都是使用超几何分布进行计算。</a:t>
            </a:r>
            <a:endParaRPr lang="zh-CN" altLang="en-US" sz="2000" b="1" dirty="0">
              <a:solidFill>
                <a:srgbClr val="0000CC"/>
              </a:solidFill>
              <a:latin typeface="Arial" pitchFamily="34" charset="0"/>
              <a:ea typeface="黑体" pitchFamily="49" charset="-122"/>
              <a:cs typeface="Arial" pitchFamily="34"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31</a:t>
            </a:fld>
            <a:endParaRPr lang="zh-CN" altLang="en-US"/>
          </a:p>
        </p:txBody>
      </p:sp>
      <p:sp>
        <p:nvSpPr>
          <p:cNvPr id="5" name="矩形 4"/>
          <p:cNvSpPr/>
          <p:nvPr/>
        </p:nvSpPr>
        <p:spPr>
          <a:xfrm>
            <a:off x="1187624" y="221739"/>
            <a:ext cx="6580776" cy="830997"/>
          </a:xfrm>
          <a:prstGeom prst="rect">
            <a:avLst/>
          </a:prstGeom>
        </p:spPr>
        <p:txBody>
          <a:bodyPr wrap="none">
            <a:spAutoFit/>
          </a:bodyPr>
          <a:lstStyle/>
          <a:p>
            <a:pPr algn="ctr"/>
            <a:r>
              <a:rPr lang="zh-CN" altLang="en-US" sz="2800" b="1" dirty="0" smtClean="0">
                <a:solidFill>
                  <a:srgbClr val="FF0000"/>
                </a:solidFill>
              </a:rPr>
              <a:t>MSigDB</a:t>
            </a:r>
            <a:endParaRPr lang="en-US" altLang="zh-CN" sz="2800" b="1" dirty="0">
              <a:solidFill>
                <a:srgbClr val="FF0000"/>
              </a:solidFill>
            </a:endParaRPr>
          </a:p>
          <a:p>
            <a:r>
              <a:rPr lang="en-US" altLang="zh-CN" sz="2000" b="1" dirty="0" smtClean="0">
                <a:solidFill>
                  <a:srgbClr val="FF0000"/>
                </a:solidFill>
              </a:rPr>
              <a:t>https</a:t>
            </a:r>
            <a:r>
              <a:rPr lang="en-US" altLang="zh-CN" sz="2000" b="1" dirty="0">
                <a:solidFill>
                  <a:srgbClr val="FF0000"/>
                </a:solidFill>
              </a:rPr>
              <a:t>://www.gsea-msigdb.org/gsea/msigdb/index.jsp</a:t>
            </a:r>
            <a:endParaRPr lang="zh-CN" altLang="en-US" sz="2000" b="1" dirty="0">
              <a:solidFill>
                <a:srgbClr val="FF0000"/>
              </a:solidFill>
            </a:endParaRPr>
          </a:p>
        </p:txBody>
      </p:sp>
      <p:pic>
        <p:nvPicPr>
          <p:cNvPr id="6" name="图片 5"/>
          <p:cNvPicPr>
            <a:picLocks noChangeAspect="1"/>
          </p:cNvPicPr>
          <p:nvPr/>
        </p:nvPicPr>
        <p:blipFill>
          <a:blip r:embed="rId2" cstate="print"/>
          <a:stretch>
            <a:fillRect/>
          </a:stretch>
        </p:blipFill>
        <p:spPr>
          <a:xfrm>
            <a:off x="395536" y="1196752"/>
            <a:ext cx="8495928" cy="5206371"/>
          </a:xfrm>
          <a:prstGeom prst="rect">
            <a:avLst/>
          </a:prstGeom>
        </p:spPr>
      </p:pic>
    </p:spTree>
    <p:extLst>
      <p:ext uri="{BB962C8B-B14F-4D97-AF65-F5344CB8AC3E}">
        <p14:creationId xmlns:p14="http://schemas.microsoft.com/office/powerpoint/2010/main" val="388510277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18864" y="188640"/>
            <a:ext cx="8229600" cy="648072"/>
          </a:xfrm>
        </p:spPr>
        <p:txBody>
          <a:bodyPr/>
          <a:lstStyle/>
          <a:p>
            <a:r>
              <a:rPr lang="en-US" altLang="zh-CN" sz="3200" b="1" dirty="0" smtClean="0">
                <a:solidFill>
                  <a:srgbClr val="C00000"/>
                </a:solidFill>
                <a:latin typeface="Arial" pitchFamily="34" charset="0"/>
                <a:ea typeface="黑体" pitchFamily="49" charset="-122"/>
                <a:cs typeface="Arial" pitchFamily="34" charset="0"/>
              </a:rPr>
              <a:t>GSEA</a:t>
            </a:r>
            <a:r>
              <a:rPr lang="zh-CN" altLang="en-US" sz="3200" b="1" dirty="0" smtClean="0">
                <a:solidFill>
                  <a:srgbClr val="C00000"/>
                </a:solidFill>
                <a:latin typeface="Arial" pitchFamily="34" charset="0"/>
                <a:ea typeface="黑体" pitchFamily="49" charset="-122"/>
                <a:cs typeface="Arial" pitchFamily="34" charset="0"/>
              </a:rPr>
              <a:t>分析的注意点</a:t>
            </a:r>
            <a:endParaRPr lang="zh-CN" altLang="en-US" sz="3200" dirty="0">
              <a:solidFill>
                <a:srgbClr val="C00000"/>
              </a:solidFill>
              <a:latin typeface="Arial" pitchFamily="34" charset="0"/>
              <a:ea typeface="黑体" pitchFamily="49" charset="-122"/>
              <a:cs typeface="Arial"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32</a:t>
            </a:fld>
            <a:endParaRPr lang="zh-CN" altLang="en-US" dirty="0"/>
          </a:p>
        </p:txBody>
      </p:sp>
      <p:sp>
        <p:nvSpPr>
          <p:cNvPr id="6" name="内容占位符 2"/>
          <p:cNvSpPr>
            <a:spLocks noGrp="1"/>
          </p:cNvSpPr>
          <p:nvPr>
            <p:ph idx="1"/>
          </p:nvPr>
        </p:nvSpPr>
        <p:spPr>
          <a:xfrm>
            <a:off x="107504" y="1052736"/>
            <a:ext cx="8856984" cy="5256584"/>
          </a:xfrm>
        </p:spPr>
        <p:txBody>
          <a:bodyPr/>
          <a:lstStyle/>
          <a:p>
            <a:pPr>
              <a:buFont typeface="Wingdings" pitchFamily="2" charset="2"/>
              <a:buChar char="n"/>
            </a:pPr>
            <a:r>
              <a:rPr lang="en-US" altLang="zh-CN" sz="2400" dirty="0" smtClean="0">
                <a:latin typeface="Arial" pitchFamily="34" charset="0"/>
                <a:ea typeface="黑体" pitchFamily="49" charset="-122"/>
                <a:cs typeface="Arial" pitchFamily="34" charset="0"/>
              </a:rPr>
              <a:t>GSEA</a:t>
            </a:r>
            <a:r>
              <a:rPr lang="zh-CN" altLang="en-US" sz="2400" dirty="0" smtClean="0">
                <a:latin typeface="Arial" pitchFamily="34" charset="0"/>
                <a:ea typeface="黑体" pitchFamily="49" charset="-122"/>
                <a:cs typeface="Arial" pitchFamily="34" charset="0"/>
              </a:rPr>
              <a:t>分析</a:t>
            </a:r>
            <a:r>
              <a:rPr lang="zh-CN" altLang="en-US" sz="2400" dirty="0" smtClean="0">
                <a:solidFill>
                  <a:srgbClr val="FF0000"/>
                </a:solidFill>
                <a:latin typeface="Arial" pitchFamily="34" charset="0"/>
                <a:ea typeface="黑体" pitchFamily="49" charset="-122"/>
                <a:cs typeface="Arial" pitchFamily="34" charset="0"/>
              </a:rPr>
              <a:t>主要是基于超几何分布来计算</a:t>
            </a:r>
            <a:r>
              <a:rPr lang="zh-CN" altLang="en-US" sz="2400" dirty="0" smtClean="0">
                <a:latin typeface="Arial" pitchFamily="34" charset="0"/>
                <a:ea typeface="黑体" pitchFamily="49" charset="-122"/>
                <a:cs typeface="Arial" pitchFamily="34" charset="0"/>
              </a:rPr>
              <a:t>，因此需要依赖于阈值的设定（</a:t>
            </a:r>
            <a:r>
              <a:rPr lang="en-US" altLang="zh-CN" sz="2400" dirty="0" smtClean="0">
                <a:latin typeface="Arial" pitchFamily="34" charset="0"/>
                <a:ea typeface="黑体" pitchFamily="49" charset="-122"/>
                <a:cs typeface="Arial" pitchFamily="34" charset="0"/>
              </a:rPr>
              <a:t>threshold dependent</a:t>
            </a:r>
            <a:r>
              <a:rPr lang="zh-CN" altLang="en-US" sz="2400" dirty="0" smtClean="0">
                <a:latin typeface="Arial" pitchFamily="34" charset="0"/>
                <a:ea typeface="黑体" pitchFamily="49" charset="-122"/>
                <a:cs typeface="Arial" pitchFamily="34" charset="0"/>
              </a:rPr>
              <a:t>），例如</a:t>
            </a:r>
            <a:r>
              <a:rPr lang="en-US" altLang="zh-CN" sz="2400" dirty="0">
                <a:latin typeface="Arial" pitchFamily="34" charset="0"/>
                <a:ea typeface="黑体" pitchFamily="49" charset="-122"/>
                <a:cs typeface="Arial" pitchFamily="34" charset="0"/>
              </a:rPr>
              <a:t>p</a:t>
            </a:r>
            <a:r>
              <a:rPr lang="zh-CN" altLang="en-US" sz="2400" dirty="0" smtClean="0">
                <a:latin typeface="Arial" pitchFamily="34" charset="0"/>
                <a:ea typeface="黑体" pitchFamily="49" charset="-122"/>
                <a:cs typeface="Arial" pitchFamily="34" charset="0"/>
              </a:rPr>
              <a:t>值或</a:t>
            </a:r>
            <a:r>
              <a:rPr lang="en-US" altLang="zh-CN" sz="2400" dirty="0" smtClean="0">
                <a:latin typeface="Arial" pitchFamily="34" charset="0"/>
                <a:ea typeface="黑体" pitchFamily="49" charset="-122"/>
                <a:cs typeface="Arial" pitchFamily="34" charset="0"/>
              </a:rPr>
              <a:t>FDR;</a:t>
            </a:r>
          </a:p>
          <a:p>
            <a:pPr marL="0" indent="0">
              <a:buNone/>
            </a:pP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zh-CN" altLang="en-US" sz="2400" dirty="0" smtClean="0">
                <a:latin typeface="Arial" pitchFamily="34" charset="0"/>
                <a:ea typeface="黑体" pitchFamily="49" charset="-122"/>
                <a:cs typeface="Arial" pitchFamily="34" charset="0"/>
              </a:rPr>
              <a:t>不同阈值的人为选择可能会影响与生物学</a:t>
            </a:r>
            <a:r>
              <a:rPr lang="en-US" altLang="zh-CN" sz="2400" dirty="0" smtClean="0">
                <a:latin typeface="Arial" pitchFamily="34" charset="0"/>
                <a:ea typeface="黑体" pitchFamily="49" charset="-122"/>
                <a:cs typeface="Arial" pitchFamily="34" charset="0"/>
              </a:rPr>
              <a:t>term</a:t>
            </a:r>
            <a:r>
              <a:rPr lang="zh-CN" altLang="en-US" sz="2400" dirty="0" smtClean="0">
                <a:latin typeface="Arial" pitchFamily="34" charset="0"/>
                <a:ea typeface="黑体" pitchFamily="49" charset="-122"/>
                <a:cs typeface="Arial" pitchFamily="34" charset="0"/>
              </a:rPr>
              <a:t>的联系，所以</a:t>
            </a:r>
            <a:r>
              <a:rPr lang="zh-CN" altLang="en-US" sz="2400" dirty="0">
                <a:latin typeface="Arial" pitchFamily="34" charset="0"/>
                <a:ea typeface="黑体" pitchFamily="49" charset="-122"/>
                <a:cs typeface="Arial" pitchFamily="34" charset="0"/>
              </a:rPr>
              <a:t>结果可能有一定的</a:t>
            </a:r>
            <a:r>
              <a:rPr lang="zh-CN" altLang="en-US" sz="2400" dirty="0" smtClean="0">
                <a:latin typeface="Arial" pitchFamily="34" charset="0"/>
                <a:ea typeface="黑体" pitchFamily="49" charset="-122"/>
                <a:cs typeface="Arial" pitchFamily="34" charset="0"/>
              </a:rPr>
              <a:t>局限性；</a:t>
            </a:r>
            <a:endParaRPr lang="en-US" altLang="zh-CN" sz="2400" dirty="0">
              <a:latin typeface="Arial" pitchFamily="34" charset="0"/>
              <a:ea typeface="黑体" pitchFamily="49" charset="-122"/>
              <a:cs typeface="Arial" pitchFamily="34" charset="0"/>
            </a:endParaRPr>
          </a:p>
          <a:p>
            <a:pPr marL="0" indent="0">
              <a:buNone/>
            </a:pP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zh-CN" altLang="en-US" sz="2400" dirty="0" smtClean="0">
                <a:latin typeface="Arial" pitchFamily="34" charset="0"/>
                <a:ea typeface="黑体" pitchFamily="49" charset="-122"/>
                <a:cs typeface="Arial" pitchFamily="34" charset="0"/>
              </a:rPr>
              <a:t>有时需要针对生物学</a:t>
            </a:r>
            <a:r>
              <a:rPr lang="en-US" altLang="zh-CN" sz="2400" dirty="0" smtClean="0">
                <a:latin typeface="Arial" pitchFamily="34" charset="0"/>
                <a:ea typeface="黑体" pitchFamily="49" charset="-122"/>
                <a:cs typeface="Arial" pitchFamily="34" charset="0"/>
              </a:rPr>
              <a:t>term</a:t>
            </a:r>
            <a:r>
              <a:rPr lang="zh-CN" altLang="en-US" sz="2400" dirty="0" smtClean="0">
                <a:latin typeface="Arial" pitchFamily="34" charset="0"/>
                <a:ea typeface="黑体" pitchFamily="49" charset="-122"/>
                <a:cs typeface="Arial" pitchFamily="34" charset="0"/>
              </a:rPr>
              <a:t>的多重检验进行校正；</a:t>
            </a:r>
            <a:endParaRPr lang="en-US" altLang="zh-CN" sz="2400" dirty="0" smtClean="0">
              <a:latin typeface="Arial" pitchFamily="34" charset="0"/>
              <a:ea typeface="黑体" pitchFamily="49" charset="-122"/>
              <a:cs typeface="Arial" pitchFamily="34" charset="0"/>
            </a:endParaRPr>
          </a:p>
          <a:p>
            <a:pPr lvl="1">
              <a:buFont typeface="Wingdings" pitchFamily="2" charset="2"/>
              <a:buChar char="n"/>
            </a:pPr>
            <a:r>
              <a:rPr lang="zh-CN" altLang="en-US" sz="2000" dirty="0" smtClean="0">
                <a:latin typeface="Arial" pitchFamily="34" charset="0"/>
                <a:ea typeface="黑体" pitchFamily="49" charset="-122"/>
                <a:cs typeface="Arial" pitchFamily="34" charset="0"/>
              </a:rPr>
              <a:t>很多生物学</a:t>
            </a:r>
            <a:r>
              <a:rPr lang="en-US" altLang="zh-CN" sz="2000" dirty="0" smtClean="0">
                <a:latin typeface="Arial" pitchFamily="34" charset="0"/>
                <a:ea typeface="黑体" pitchFamily="49" charset="-122"/>
                <a:cs typeface="Arial" pitchFamily="34" charset="0"/>
              </a:rPr>
              <a:t>term</a:t>
            </a:r>
            <a:r>
              <a:rPr lang="zh-CN" altLang="en-US" sz="2000" dirty="0" smtClean="0">
                <a:latin typeface="Arial" pitchFamily="34" charset="0"/>
                <a:ea typeface="黑体" pitchFamily="49" charset="-122"/>
                <a:cs typeface="Arial" pitchFamily="34" charset="0"/>
              </a:rPr>
              <a:t>之间内在的相互依赖性；</a:t>
            </a:r>
            <a:endParaRPr lang="en-US" altLang="zh-CN" sz="2000" dirty="0" smtClean="0">
              <a:latin typeface="Arial" pitchFamily="34" charset="0"/>
              <a:ea typeface="黑体" pitchFamily="49" charset="-122"/>
              <a:cs typeface="Arial" pitchFamily="34" charset="0"/>
            </a:endParaRPr>
          </a:p>
          <a:p>
            <a:pPr lvl="1">
              <a:buFont typeface="Wingdings" pitchFamily="2" charset="2"/>
              <a:buChar char="n"/>
            </a:pPr>
            <a:r>
              <a:rPr lang="zh-CN" altLang="en-US" sz="2000" dirty="0" smtClean="0">
                <a:latin typeface="Arial" pitchFamily="34" charset="0"/>
                <a:ea typeface="黑体" pitchFamily="49" charset="-122"/>
                <a:cs typeface="Arial" pitchFamily="34" charset="0"/>
              </a:rPr>
              <a:t>可通过计算</a:t>
            </a:r>
            <a:r>
              <a:rPr lang="en-US" altLang="zh-CN" sz="2000" dirty="0" err="1" smtClean="0">
                <a:latin typeface="Arial" pitchFamily="34" charset="0"/>
                <a:ea typeface="黑体" pitchFamily="49" charset="-122"/>
                <a:cs typeface="Arial" pitchFamily="34" charset="0"/>
              </a:rPr>
              <a:t>Benjamini</a:t>
            </a:r>
            <a:r>
              <a:rPr lang="en-US" altLang="zh-CN" sz="2000" dirty="0" smtClean="0">
                <a:latin typeface="Arial" pitchFamily="34" charset="0"/>
                <a:ea typeface="黑体" pitchFamily="49" charset="-122"/>
                <a:cs typeface="Arial" pitchFamily="34" charset="0"/>
              </a:rPr>
              <a:t>-Hochberg FDR</a:t>
            </a:r>
            <a:r>
              <a:rPr lang="zh-CN" altLang="en-US" sz="2000" dirty="0" smtClean="0">
                <a:latin typeface="Arial" pitchFamily="34" charset="0"/>
                <a:ea typeface="黑体" pitchFamily="49" charset="-122"/>
                <a:cs typeface="Arial" pitchFamily="34" charset="0"/>
              </a:rPr>
              <a:t>来校正。</a:t>
            </a:r>
            <a:endParaRPr lang="en-US" altLang="zh-CN" sz="2000" dirty="0" smtClean="0">
              <a:latin typeface="Arial" pitchFamily="34" charset="0"/>
              <a:ea typeface="黑体" pitchFamily="49" charset="-122"/>
              <a:cs typeface="Arial" pitchFamily="34" charset="0"/>
            </a:endParaRPr>
          </a:p>
          <a:p>
            <a:pPr lvl="1">
              <a:buFont typeface="Wingdings" pitchFamily="2" charset="2"/>
              <a:buChar char="n"/>
            </a:pPr>
            <a:endParaRPr lang="en-US" altLang="zh-CN" sz="2000" dirty="0" smtClean="0">
              <a:latin typeface="Arial" pitchFamily="34" charset="0"/>
              <a:ea typeface="黑体" pitchFamily="49" charset="-122"/>
              <a:cs typeface="Arial" pitchFamily="34" charset="0"/>
            </a:endParaRPr>
          </a:p>
          <a:p>
            <a:pPr latinLnBrk="0">
              <a:buFont typeface="Wingdings" pitchFamily="2" charset="2"/>
              <a:buChar char="n"/>
            </a:pPr>
            <a:r>
              <a:rPr lang="zh-CN" altLang="en-US" sz="2400" dirty="0" smtClean="0">
                <a:solidFill>
                  <a:srgbClr val="0000CC"/>
                </a:solidFill>
                <a:latin typeface="Arial" pitchFamily="34" charset="0"/>
                <a:ea typeface="黑体" pitchFamily="49" charset="-122"/>
                <a:cs typeface="Arial" pitchFamily="34" charset="0"/>
              </a:rPr>
              <a:t>富集分析常用工具：</a:t>
            </a:r>
          </a:p>
          <a:p>
            <a:pPr lvl="1">
              <a:buNone/>
            </a:pPr>
            <a:r>
              <a:rPr lang="en-US" altLang="zh-CN" sz="2000" dirty="0" err="1" smtClean="0">
                <a:latin typeface="Arial" pitchFamily="34" charset="0"/>
                <a:ea typeface="黑体" pitchFamily="49" charset="-122"/>
                <a:cs typeface="Arial" pitchFamily="34" charset="0"/>
              </a:rPr>
              <a:t>Gostat</a:t>
            </a:r>
            <a:r>
              <a:rPr lang="en-US" altLang="zh-CN" sz="2000" dirty="0" smtClean="0">
                <a:latin typeface="Arial" pitchFamily="34" charset="0"/>
                <a:ea typeface="黑体" pitchFamily="49" charset="-122"/>
                <a:cs typeface="Arial" pitchFamily="34" charset="0"/>
              </a:rPr>
              <a:t>, </a:t>
            </a:r>
            <a:r>
              <a:rPr lang="en-US" altLang="zh-CN" sz="2000" dirty="0" smtClean="0">
                <a:solidFill>
                  <a:srgbClr val="FF0000"/>
                </a:solidFill>
                <a:latin typeface="Arial" pitchFamily="34" charset="0"/>
                <a:ea typeface="黑体" pitchFamily="49" charset="-122"/>
                <a:cs typeface="Arial" pitchFamily="34" charset="0"/>
              </a:rPr>
              <a:t>DAVID</a:t>
            </a:r>
            <a:r>
              <a:rPr lang="en-US" altLang="zh-CN" sz="2000" dirty="0" smtClean="0">
                <a:latin typeface="Arial" pitchFamily="34" charset="0"/>
                <a:ea typeface="黑体" pitchFamily="49" charset="-122"/>
                <a:cs typeface="Arial" pitchFamily="34" charset="0"/>
              </a:rPr>
              <a:t>, Onto-Tools, GOEAST, </a:t>
            </a:r>
            <a:r>
              <a:rPr lang="en-US" altLang="zh-CN" sz="2000" dirty="0" err="1" smtClean="0">
                <a:latin typeface="Arial" pitchFamily="34" charset="0"/>
                <a:ea typeface="黑体" pitchFamily="49" charset="-122"/>
                <a:cs typeface="Arial" pitchFamily="34" charset="0"/>
              </a:rPr>
              <a:t>wego</a:t>
            </a:r>
            <a:r>
              <a:rPr lang="en-US" altLang="zh-CN" sz="2000" dirty="0" smtClean="0">
                <a:latin typeface="Arial" pitchFamily="34" charset="0"/>
                <a:ea typeface="黑体" pitchFamily="49" charset="-122"/>
                <a:cs typeface="Arial" pitchFamily="34" charset="0"/>
              </a:rPr>
              <a:t>, …</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008" y="116632"/>
            <a:ext cx="9036496" cy="648072"/>
          </a:xfrm>
        </p:spPr>
        <p:txBody>
          <a:bodyPr/>
          <a:lstStyle/>
          <a:p>
            <a:r>
              <a:rPr lang="en-US" altLang="zh-CN" sz="3600" b="1" dirty="0" smtClean="0">
                <a:solidFill>
                  <a:srgbClr val="FF0000"/>
                </a:solidFill>
                <a:latin typeface="Arial" pitchFamily="34" charset="0"/>
                <a:ea typeface="黑体" pitchFamily="49" charset="-122"/>
                <a:cs typeface="Arial" pitchFamily="34" charset="0"/>
              </a:rPr>
              <a:t>7. </a:t>
            </a:r>
            <a:r>
              <a:rPr lang="zh-CN" altLang="en-US" sz="3600" b="1" dirty="0" smtClean="0">
                <a:solidFill>
                  <a:srgbClr val="FF0000"/>
                </a:solidFill>
                <a:latin typeface="Arial" pitchFamily="34" charset="0"/>
                <a:ea typeface="黑体" pitchFamily="49" charset="-122"/>
                <a:cs typeface="Arial" pitchFamily="34" charset="0"/>
              </a:rPr>
              <a:t>数据降维（</a:t>
            </a:r>
            <a:r>
              <a:rPr lang="en-US" altLang="zh-CN" sz="3600" b="1" dirty="0">
                <a:solidFill>
                  <a:srgbClr val="FF0000"/>
                </a:solidFill>
                <a:latin typeface="Arial" pitchFamily="34" charset="0"/>
                <a:ea typeface="黑体" pitchFamily="49" charset="-122"/>
                <a:cs typeface="Arial" pitchFamily="34" charset="0"/>
              </a:rPr>
              <a:t> Dimensionality </a:t>
            </a:r>
            <a:r>
              <a:rPr lang="en-US" altLang="zh-CN" sz="3600" b="1" dirty="0" smtClean="0">
                <a:solidFill>
                  <a:srgbClr val="FF0000"/>
                </a:solidFill>
                <a:latin typeface="Arial" pitchFamily="34" charset="0"/>
                <a:ea typeface="黑体" pitchFamily="49" charset="-122"/>
                <a:cs typeface="Arial" pitchFamily="34" charset="0"/>
              </a:rPr>
              <a:t>reduction</a:t>
            </a:r>
            <a:r>
              <a:rPr lang="zh-CN" altLang="en-US" sz="3600" b="1" dirty="0" smtClean="0">
                <a:solidFill>
                  <a:srgbClr val="FF0000"/>
                </a:solidFill>
                <a:latin typeface="Arial" pitchFamily="34" charset="0"/>
                <a:ea typeface="黑体" pitchFamily="49" charset="-122"/>
                <a:cs typeface="Arial" pitchFamily="34" charset="0"/>
              </a:rPr>
              <a:t>）</a:t>
            </a:r>
            <a:endParaRPr lang="zh-CN" altLang="en-US" sz="3600" dirty="0">
              <a:solidFill>
                <a:srgbClr val="FF0000"/>
              </a:solidFill>
              <a:latin typeface="Arial" pitchFamily="34" charset="0"/>
              <a:ea typeface="黑体" pitchFamily="49" charset="-122"/>
              <a:cs typeface="Arial"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33</a:t>
            </a:fld>
            <a:endParaRPr lang="zh-CN" altLang="en-US"/>
          </a:p>
        </p:txBody>
      </p:sp>
      <p:sp>
        <p:nvSpPr>
          <p:cNvPr id="7" name="内容占位符 2"/>
          <p:cNvSpPr>
            <a:spLocks noGrp="1"/>
          </p:cNvSpPr>
          <p:nvPr>
            <p:ph idx="1"/>
          </p:nvPr>
        </p:nvSpPr>
        <p:spPr>
          <a:xfrm>
            <a:off x="144016" y="908721"/>
            <a:ext cx="8892480" cy="3600400"/>
          </a:xfrm>
        </p:spPr>
        <p:txBody>
          <a:bodyPr/>
          <a:lstStyle/>
          <a:p>
            <a:pPr>
              <a:buFont typeface="Wingdings" pitchFamily="2" charset="2"/>
              <a:buChar char="n"/>
            </a:pPr>
            <a:r>
              <a:rPr lang="zh-CN" altLang="en-US" sz="2400" dirty="0" smtClean="0">
                <a:latin typeface="Arial" pitchFamily="34" charset="0"/>
                <a:ea typeface="黑体" pitchFamily="49" charset="-122"/>
                <a:cs typeface="Arial" pitchFamily="34" charset="0"/>
              </a:rPr>
              <a:t>原始的基因组等组学数据都是</a:t>
            </a:r>
            <a:r>
              <a:rPr lang="zh-CN" altLang="en-US" sz="2400" dirty="0">
                <a:latin typeface="Arial" pitchFamily="34" charset="0"/>
                <a:ea typeface="黑体" pitchFamily="49" charset="-122"/>
                <a:cs typeface="Arial" pitchFamily="34" charset="0"/>
              </a:rPr>
              <a:t>高维度数据</a:t>
            </a:r>
            <a:r>
              <a:rPr lang="zh-CN" altLang="en-US" sz="2400" dirty="0" smtClean="0">
                <a:latin typeface="Arial" pitchFamily="34" charset="0"/>
                <a:ea typeface="黑体" pitchFamily="49" charset="-122"/>
                <a:cs typeface="Arial" pitchFamily="34" charset="0"/>
              </a:rPr>
              <a:t>，</a:t>
            </a:r>
            <a:r>
              <a:rPr lang="zh-CN" altLang="en-US" sz="2400" dirty="0">
                <a:latin typeface="Arial" pitchFamily="34" charset="0"/>
                <a:ea typeface="黑体" pitchFamily="49" charset="-122"/>
                <a:cs typeface="Arial" pitchFamily="34" charset="0"/>
              </a:rPr>
              <a:t>通常包含了许多无关或冗余变量</a:t>
            </a:r>
            <a:r>
              <a:rPr lang="zh-CN" altLang="en-US" sz="2400" dirty="0" smtClean="0">
                <a:latin typeface="Arial" pitchFamily="34" charset="0"/>
                <a:ea typeface="黑体" pitchFamily="49" charset="-122"/>
                <a:cs typeface="Arial" pitchFamily="34" charset="0"/>
              </a:rPr>
              <a:t>的干扰信息，而变异相关模式是可以在一个仅包含少量变异相关组分的低维子空间里捕获的；</a:t>
            </a:r>
            <a:endParaRPr lang="en-US" altLang="zh-CN" sz="2400" dirty="0" smtClean="0">
              <a:latin typeface="Arial" pitchFamily="34" charset="0"/>
              <a:ea typeface="黑体" pitchFamily="49" charset="-122"/>
              <a:cs typeface="Arial" pitchFamily="34" charset="0"/>
            </a:endParaRPr>
          </a:p>
          <a:p>
            <a:pPr>
              <a:buFont typeface="Wingdings" pitchFamily="2" charset="2"/>
              <a:buChar char="n"/>
            </a:pP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zh-CN" altLang="en-US" sz="2400" dirty="0" smtClean="0">
                <a:latin typeface="Arial" pitchFamily="34" charset="0"/>
                <a:ea typeface="黑体" pitchFamily="49" charset="-122"/>
                <a:cs typeface="Arial" pitchFamily="34" charset="0"/>
              </a:rPr>
              <a:t>这种利用低维子空间来表示高维数据集的去</a:t>
            </a:r>
            <a:r>
              <a:rPr lang="zh-CN" altLang="en-US" sz="2400" dirty="0">
                <a:latin typeface="Arial" pitchFamily="34" charset="0"/>
                <a:ea typeface="黑体" pitchFamily="49" charset="-122"/>
                <a:cs typeface="Arial" pitchFamily="34" charset="0"/>
              </a:rPr>
              <a:t>噪</a:t>
            </a:r>
            <a:r>
              <a:rPr lang="zh-CN" altLang="en-US" sz="2400" dirty="0" smtClean="0">
                <a:latin typeface="Arial" pitchFamily="34" charset="0"/>
                <a:ea typeface="黑体" pitchFamily="49" charset="-122"/>
                <a:cs typeface="Arial" pitchFamily="34" charset="0"/>
              </a:rPr>
              <a:t>简化过程称为</a:t>
            </a:r>
            <a:r>
              <a:rPr lang="zh-CN" altLang="en-US" sz="2400" dirty="0" smtClean="0">
                <a:solidFill>
                  <a:srgbClr val="FF0000"/>
                </a:solidFill>
                <a:latin typeface="Arial" pitchFamily="34" charset="0"/>
                <a:ea typeface="黑体" pitchFamily="49" charset="-122"/>
                <a:cs typeface="Arial" pitchFamily="34" charset="0"/>
              </a:rPr>
              <a:t>降维</a:t>
            </a:r>
            <a:r>
              <a:rPr lang="zh-CN" altLang="en-US" sz="2400" dirty="0" smtClean="0">
                <a:latin typeface="Arial" pitchFamily="34" charset="0"/>
                <a:ea typeface="黑体" pitchFamily="49" charset="-122"/>
                <a:cs typeface="Arial" pitchFamily="34" charset="0"/>
              </a:rPr>
              <a:t>；通过</a:t>
            </a:r>
            <a:r>
              <a:rPr lang="zh-CN" altLang="en-US" sz="2400" dirty="0">
                <a:latin typeface="Arial" pitchFamily="34" charset="0"/>
                <a:ea typeface="黑体" pitchFamily="49" charset="-122"/>
                <a:cs typeface="Arial" pitchFamily="34" charset="0"/>
              </a:rPr>
              <a:t>降</a:t>
            </a:r>
            <a:r>
              <a:rPr lang="zh-CN" altLang="en-US" sz="2400" dirty="0" smtClean="0">
                <a:latin typeface="Arial" pitchFamily="34" charset="0"/>
                <a:ea typeface="黑体" pitchFamily="49" charset="-122"/>
                <a:cs typeface="Arial" pitchFamily="34" charset="0"/>
              </a:rPr>
              <a:t>维，可以减少冗余信息所</a:t>
            </a:r>
            <a:r>
              <a:rPr lang="zh-CN" altLang="en-US" sz="2400" dirty="0">
                <a:latin typeface="Arial" pitchFamily="34" charset="0"/>
                <a:ea typeface="黑体" pitchFamily="49" charset="-122"/>
                <a:cs typeface="Arial" pitchFamily="34" charset="0"/>
              </a:rPr>
              <a:t>造成的</a:t>
            </a:r>
            <a:r>
              <a:rPr lang="zh-CN" altLang="en-US" sz="2400" dirty="0" smtClean="0">
                <a:latin typeface="Arial" pitchFamily="34" charset="0"/>
                <a:ea typeface="黑体" pitchFamily="49" charset="-122"/>
                <a:cs typeface="Arial" pitchFamily="34" charset="0"/>
              </a:rPr>
              <a:t>误差，提高</a:t>
            </a:r>
            <a:r>
              <a:rPr lang="zh-CN" altLang="en-US" sz="2400" dirty="0">
                <a:latin typeface="Arial" pitchFamily="34" charset="0"/>
                <a:ea typeface="黑体" pitchFamily="49" charset="-122"/>
                <a:cs typeface="Arial" pitchFamily="34" charset="0"/>
              </a:rPr>
              <a:t>识别（或其他应用）的</a:t>
            </a:r>
            <a:r>
              <a:rPr lang="zh-CN" altLang="en-US" sz="2400" dirty="0" smtClean="0">
                <a:latin typeface="Arial" pitchFamily="34" charset="0"/>
                <a:ea typeface="黑体" pitchFamily="49" charset="-122"/>
                <a:cs typeface="Arial" pitchFamily="34" charset="0"/>
              </a:rPr>
              <a:t>精度，并寻找</a:t>
            </a:r>
            <a:r>
              <a:rPr lang="zh-CN" altLang="en-US" sz="2400" dirty="0">
                <a:latin typeface="Arial" pitchFamily="34" charset="0"/>
                <a:ea typeface="黑体" pitchFamily="49" charset="-122"/>
                <a:cs typeface="Arial" pitchFamily="34" charset="0"/>
              </a:rPr>
              <a:t>数据内部的本质结构</a:t>
            </a:r>
            <a:r>
              <a:rPr lang="zh-CN" altLang="en-US" sz="2400" dirty="0" smtClean="0">
                <a:latin typeface="Arial" pitchFamily="34" charset="0"/>
                <a:ea typeface="黑体" pitchFamily="49" charset="-122"/>
                <a:cs typeface="Arial" pitchFamily="34" charset="0"/>
              </a:rPr>
              <a:t>特征；因此降维也被</a:t>
            </a:r>
            <a:r>
              <a:rPr lang="zh-CN" altLang="en-US" sz="2400" dirty="0">
                <a:latin typeface="Arial" pitchFamily="34" charset="0"/>
                <a:ea typeface="黑体" pitchFamily="49" charset="-122"/>
                <a:cs typeface="Arial" pitchFamily="34" charset="0"/>
              </a:rPr>
              <a:t>看作是一种</a:t>
            </a:r>
            <a:r>
              <a:rPr lang="zh-CN" altLang="en-US" sz="2400" dirty="0" smtClean="0">
                <a:latin typeface="Arial" pitchFamily="34" charset="0"/>
                <a:ea typeface="黑体" pitchFamily="49" charset="-122"/>
                <a:cs typeface="Arial" pitchFamily="34" charset="0"/>
              </a:rPr>
              <a:t>潜在特征提取</a:t>
            </a:r>
            <a:r>
              <a:rPr lang="zh-CN" altLang="en-US" sz="2400" dirty="0">
                <a:latin typeface="Arial" pitchFamily="34" charset="0"/>
                <a:ea typeface="黑体" pitchFamily="49" charset="-122"/>
                <a:cs typeface="Arial" pitchFamily="34" charset="0"/>
              </a:rPr>
              <a:t>的</a:t>
            </a:r>
            <a:r>
              <a:rPr lang="zh-CN" altLang="en-US" sz="2400" dirty="0" smtClean="0">
                <a:latin typeface="Arial" pitchFamily="34" charset="0"/>
                <a:ea typeface="黑体" pitchFamily="49" charset="-122"/>
                <a:cs typeface="Arial" pitchFamily="34" charset="0"/>
              </a:rPr>
              <a:t>方法，常用于</a:t>
            </a:r>
            <a:r>
              <a:rPr lang="zh-CN" altLang="en-US" sz="2400" dirty="0">
                <a:latin typeface="Arial" pitchFamily="34" charset="0"/>
                <a:ea typeface="黑体" pitchFamily="49" charset="-122"/>
                <a:cs typeface="Arial" pitchFamily="34" charset="0"/>
              </a:rPr>
              <a:t>数据压缩、数据探索以及数据</a:t>
            </a:r>
            <a:r>
              <a:rPr lang="zh-CN" altLang="en-US" sz="2400" dirty="0" smtClean="0">
                <a:latin typeface="Arial" pitchFamily="34" charset="0"/>
                <a:ea typeface="黑体" pitchFamily="49" charset="-122"/>
                <a:cs typeface="Arial" pitchFamily="34" charset="0"/>
              </a:rPr>
              <a:t>可视化等广泛领域。</a:t>
            </a:r>
            <a:endParaRPr lang="en-US" altLang="zh-CN" sz="2400" dirty="0">
              <a:latin typeface="Arial" pitchFamily="34" charset="0"/>
              <a:ea typeface="黑体" pitchFamily="49" charset="-122"/>
              <a:cs typeface="Arial" pitchFamily="34" charset="0"/>
            </a:endParaRPr>
          </a:p>
        </p:txBody>
      </p:sp>
      <p:pic>
        <p:nvPicPr>
          <p:cNvPr id="8" name="Picture 4" descr="ä¸ç§åºäºæå¼å±é¨åç©ºé´æåæ¹è¿ç®æ³çæ°æ®éç»´æ¹æ³"/>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90029" y="4509121"/>
            <a:ext cx="3080521" cy="228574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634082"/>
          </a:xfrm>
        </p:spPr>
        <p:txBody>
          <a:bodyPr/>
          <a:lstStyle/>
          <a:p>
            <a:r>
              <a:rPr lang="en-US" altLang="zh-CN" sz="3200" b="1" dirty="0" smtClean="0">
                <a:solidFill>
                  <a:srgbClr val="006600"/>
                </a:solidFill>
                <a:latin typeface="Arial" pitchFamily="34" charset="0"/>
                <a:cs typeface="Arial" pitchFamily="34" charset="0"/>
              </a:rPr>
              <a:t>Example</a:t>
            </a:r>
            <a:endParaRPr lang="zh-CN" altLang="en-US" sz="3200" dirty="0">
              <a:solidFill>
                <a:srgbClr val="006600"/>
              </a:solidFill>
              <a:latin typeface="Arial" pitchFamily="34" charset="0"/>
              <a:cs typeface="Arial" pitchFamily="34" charset="0"/>
            </a:endParaRPr>
          </a:p>
        </p:txBody>
      </p:sp>
      <p:sp>
        <p:nvSpPr>
          <p:cNvPr id="3" name="内容占位符 2"/>
          <p:cNvSpPr>
            <a:spLocks noGrp="1"/>
          </p:cNvSpPr>
          <p:nvPr>
            <p:ph idx="1"/>
          </p:nvPr>
        </p:nvSpPr>
        <p:spPr>
          <a:xfrm>
            <a:off x="107504" y="2388021"/>
            <a:ext cx="8964488" cy="3849291"/>
          </a:xfrm>
        </p:spPr>
        <p:txBody>
          <a:bodyPr/>
          <a:lstStyle/>
          <a:p>
            <a:r>
              <a:rPr lang="en-US" altLang="zh-CN" sz="2400" dirty="0" smtClean="0">
                <a:latin typeface="Arial" pitchFamily="34" charset="0"/>
                <a:cs typeface="Arial" pitchFamily="34" charset="0"/>
              </a:rPr>
              <a:t>These 5 images are each 100 x 100 pixels big, so this data could be represented by a 10,000 x 5 data matrix, where each row labels a pixel and each column an image/sample;</a:t>
            </a:r>
          </a:p>
          <a:p>
            <a:endParaRPr lang="en-US" altLang="zh-CN" sz="2400" dirty="0" smtClean="0">
              <a:latin typeface="Arial" pitchFamily="34" charset="0"/>
              <a:cs typeface="Arial" pitchFamily="34" charset="0"/>
            </a:endParaRPr>
          </a:p>
          <a:p>
            <a:r>
              <a:rPr lang="en-US" altLang="zh-CN" sz="2400" dirty="0" smtClean="0">
                <a:latin typeface="Arial" pitchFamily="34" charset="0"/>
                <a:cs typeface="Arial" pitchFamily="34" charset="0"/>
              </a:rPr>
              <a:t>however, each image can be obtained from any other image through a translation (2 parameters) and a rotation (1 angle);</a:t>
            </a:r>
          </a:p>
          <a:p>
            <a:endParaRPr lang="en-US" altLang="zh-CN" sz="2400" dirty="0" smtClean="0">
              <a:latin typeface="Arial" pitchFamily="34" charset="0"/>
              <a:cs typeface="Arial" pitchFamily="34" charset="0"/>
            </a:endParaRPr>
          </a:p>
          <a:p>
            <a:r>
              <a:rPr lang="en-US" altLang="zh-CN" sz="2400" dirty="0" smtClean="0">
                <a:latin typeface="Arial" pitchFamily="34" charset="0"/>
                <a:cs typeface="Arial" pitchFamily="34" charset="0"/>
              </a:rPr>
              <a:t>thus, all the interesting variation in this high dimensional data set could be represented by a 3-dimensional subspace.</a:t>
            </a: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34</a:t>
            </a:fld>
            <a:endParaRPr lang="zh-CN" altLang="en-US"/>
          </a:p>
        </p:txBody>
      </p:sp>
      <p:pic>
        <p:nvPicPr>
          <p:cNvPr id="8194" name="Picture 2"/>
          <p:cNvPicPr>
            <a:picLocks noChangeAspect="1" noChangeArrowheads="1"/>
          </p:cNvPicPr>
          <p:nvPr/>
        </p:nvPicPr>
        <p:blipFill>
          <a:blip r:embed="rId2" cstate="print"/>
          <a:srcRect/>
          <a:stretch>
            <a:fillRect/>
          </a:stretch>
        </p:blipFill>
        <p:spPr bwMode="auto">
          <a:xfrm flipV="1">
            <a:off x="1403648" y="1028699"/>
            <a:ext cx="6120680" cy="110415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634082"/>
          </a:xfrm>
        </p:spPr>
        <p:txBody>
          <a:bodyPr/>
          <a:lstStyle/>
          <a:p>
            <a:r>
              <a:rPr lang="zh-CN" altLang="en-US" sz="3200" b="1" dirty="0" smtClean="0">
                <a:solidFill>
                  <a:srgbClr val="0000CC"/>
                </a:solidFill>
                <a:latin typeface="黑体" pitchFamily="49" charset="-122"/>
                <a:ea typeface="黑体" pitchFamily="49" charset="-122"/>
                <a:cs typeface="Arial" pitchFamily="34" charset="0"/>
              </a:rPr>
              <a:t>降维的方法</a:t>
            </a:r>
            <a:endParaRPr lang="zh-CN" altLang="en-US" sz="3200" b="1" dirty="0">
              <a:solidFill>
                <a:srgbClr val="0000CC"/>
              </a:solidFill>
              <a:latin typeface="黑体" pitchFamily="49" charset="-122"/>
              <a:ea typeface="黑体" pitchFamily="49" charset="-122"/>
              <a:cs typeface="Arial"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35</a:t>
            </a:fld>
            <a:endParaRPr lang="zh-CN" altLang="en-US"/>
          </a:p>
        </p:txBody>
      </p:sp>
      <p:pic>
        <p:nvPicPr>
          <p:cNvPr id="33797" name="Picture 5"/>
          <p:cNvPicPr>
            <a:picLocks noChangeAspect="1" noChangeArrowheads="1"/>
          </p:cNvPicPr>
          <p:nvPr/>
        </p:nvPicPr>
        <p:blipFill rotWithShape="1">
          <a:blip r:embed="rId2" cstate="print"/>
          <a:srcRect l="1624"/>
          <a:stretch/>
        </p:blipFill>
        <p:spPr bwMode="auto">
          <a:xfrm>
            <a:off x="209909" y="1556792"/>
            <a:ext cx="8898666" cy="367240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67544" y="44624"/>
            <a:ext cx="8229600" cy="1070992"/>
          </a:xfrm>
        </p:spPr>
        <p:txBody>
          <a:bodyPr/>
          <a:lstStyle/>
          <a:p>
            <a:r>
              <a:rPr lang="zh-CN" altLang="en-US" sz="2800" b="1" dirty="0" smtClean="0">
                <a:solidFill>
                  <a:srgbClr val="FF0000"/>
                </a:solidFill>
                <a:latin typeface="Arial" pitchFamily="34" charset="0"/>
                <a:ea typeface="黑体" pitchFamily="49" charset="-122"/>
                <a:cs typeface="Arial" pitchFamily="34" charset="0"/>
              </a:rPr>
              <a:t>（</a:t>
            </a:r>
            <a:r>
              <a:rPr lang="en-US" altLang="zh-CN" sz="2800" b="1" dirty="0" smtClean="0">
                <a:solidFill>
                  <a:srgbClr val="FF0000"/>
                </a:solidFill>
                <a:latin typeface="Arial" pitchFamily="34" charset="0"/>
                <a:ea typeface="黑体" pitchFamily="49" charset="-122"/>
                <a:cs typeface="Arial" pitchFamily="34" charset="0"/>
              </a:rPr>
              <a:t>1</a:t>
            </a:r>
            <a:r>
              <a:rPr lang="zh-CN" altLang="en-US" sz="2800" b="1" dirty="0" smtClean="0">
                <a:solidFill>
                  <a:srgbClr val="FF0000"/>
                </a:solidFill>
                <a:latin typeface="Arial" pitchFamily="34" charset="0"/>
                <a:ea typeface="黑体" pitchFamily="49" charset="-122"/>
                <a:cs typeface="Arial" pitchFamily="34" charset="0"/>
              </a:rPr>
              <a:t>）主成分分析</a:t>
            </a:r>
            <a:r>
              <a:rPr lang="en-US" altLang="zh-CN" sz="2800" b="1" dirty="0" smtClean="0">
                <a:solidFill>
                  <a:srgbClr val="FF0000"/>
                </a:solidFill>
                <a:latin typeface="Arial" pitchFamily="34" charset="0"/>
                <a:ea typeface="黑体" pitchFamily="49" charset="-122"/>
                <a:cs typeface="Arial" pitchFamily="34" charset="0"/>
              </a:rPr>
              <a:t/>
            </a:r>
            <a:br>
              <a:rPr lang="en-US" altLang="zh-CN" sz="2800" b="1" dirty="0" smtClean="0">
                <a:solidFill>
                  <a:srgbClr val="FF0000"/>
                </a:solidFill>
                <a:latin typeface="Arial" pitchFamily="34" charset="0"/>
                <a:ea typeface="黑体" pitchFamily="49" charset="-122"/>
                <a:cs typeface="Arial" pitchFamily="34" charset="0"/>
              </a:rPr>
            </a:br>
            <a:r>
              <a:rPr lang="en-US" altLang="zh-CN" sz="2800" b="1" dirty="0" smtClean="0">
                <a:solidFill>
                  <a:srgbClr val="FF0000"/>
                </a:solidFill>
                <a:latin typeface="Arial" pitchFamily="34" charset="0"/>
                <a:ea typeface="黑体" pitchFamily="49" charset="-122"/>
                <a:cs typeface="Arial" pitchFamily="34" charset="0"/>
              </a:rPr>
              <a:t>(Principal Component Analysis</a:t>
            </a:r>
            <a:r>
              <a:rPr lang="zh-CN" altLang="en-US" sz="2800" b="1" dirty="0" smtClean="0">
                <a:solidFill>
                  <a:srgbClr val="FF0000"/>
                </a:solidFill>
                <a:latin typeface="Arial" pitchFamily="34" charset="0"/>
                <a:ea typeface="黑体" pitchFamily="49" charset="-122"/>
                <a:cs typeface="Arial" pitchFamily="34" charset="0"/>
              </a:rPr>
              <a:t>，</a:t>
            </a:r>
            <a:r>
              <a:rPr lang="en-US" altLang="zh-CN" sz="2800" b="1" dirty="0" smtClean="0">
                <a:solidFill>
                  <a:srgbClr val="FF0000"/>
                </a:solidFill>
                <a:latin typeface="Arial" pitchFamily="34" charset="0"/>
                <a:ea typeface="黑体" pitchFamily="49" charset="-122"/>
                <a:cs typeface="Arial" pitchFamily="34" charset="0"/>
              </a:rPr>
              <a:t>PCA)</a:t>
            </a:r>
            <a:endParaRPr lang="zh-CN" altLang="en-US" sz="2800" b="1" dirty="0"/>
          </a:p>
        </p:txBody>
      </p:sp>
      <p:sp>
        <p:nvSpPr>
          <p:cNvPr id="6" name="内容占位符 5"/>
          <p:cNvSpPr>
            <a:spLocks noGrp="1"/>
          </p:cNvSpPr>
          <p:nvPr>
            <p:ph idx="1"/>
          </p:nvPr>
        </p:nvSpPr>
        <p:spPr>
          <a:xfrm>
            <a:off x="107504" y="1052736"/>
            <a:ext cx="8928992" cy="2880320"/>
          </a:xfrm>
        </p:spPr>
        <p:txBody>
          <a:bodyPr/>
          <a:lstStyle/>
          <a:p>
            <a:pPr>
              <a:buFont typeface="Wingdings" panose="05000000000000000000" pitchFamily="2" charset="2"/>
              <a:buChar char="n"/>
            </a:pPr>
            <a:r>
              <a:rPr lang="zh-CN" altLang="en-US" sz="2400" dirty="0">
                <a:solidFill>
                  <a:srgbClr val="FF0000"/>
                </a:solidFill>
                <a:latin typeface="Arial" pitchFamily="34" charset="0"/>
                <a:ea typeface="黑体" pitchFamily="49" charset="-122"/>
                <a:cs typeface="Arial" pitchFamily="34" charset="0"/>
              </a:rPr>
              <a:t>最常用的线性降维</a:t>
            </a:r>
            <a:r>
              <a:rPr lang="zh-CN" altLang="en-US" sz="2400" dirty="0" smtClean="0">
                <a:solidFill>
                  <a:srgbClr val="FF0000"/>
                </a:solidFill>
                <a:latin typeface="Arial" pitchFamily="34" charset="0"/>
                <a:ea typeface="黑体" pitchFamily="49" charset="-122"/>
                <a:cs typeface="Arial" pitchFamily="34" charset="0"/>
              </a:rPr>
              <a:t>方法</a:t>
            </a:r>
            <a:r>
              <a:rPr lang="zh-CN" altLang="en-US" sz="2400" dirty="0" smtClean="0">
                <a:latin typeface="Arial" pitchFamily="34" charset="0"/>
                <a:ea typeface="黑体" pitchFamily="49" charset="-122"/>
                <a:cs typeface="Arial" pitchFamily="34" charset="0"/>
              </a:rPr>
              <a:t>，可以有效的找出数据中最“主要”的元素和结构，去除噪音和冗余，将原有的复杂数据降维，揭示隐藏在复杂数据背后的简单结构；</a:t>
            </a:r>
            <a:endParaRPr lang="en-US" altLang="zh-CN" sz="2400" dirty="0" smtClean="0">
              <a:latin typeface="Arial" pitchFamily="34" charset="0"/>
              <a:ea typeface="黑体" pitchFamily="49" charset="-122"/>
              <a:cs typeface="Arial" pitchFamily="34" charset="0"/>
            </a:endParaRPr>
          </a:p>
          <a:p>
            <a:pPr marL="0" indent="0">
              <a:buNone/>
            </a:pPr>
            <a:endParaRPr lang="en-US" altLang="zh-CN" sz="2400" dirty="0" smtClean="0">
              <a:latin typeface="Arial" pitchFamily="34" charset="0"/>
              <a:ea typeface="黑体" pitchFamily="49" charset="-122"/>
              <a:cs typeface="Arial" pitchFamily="34" charset="0"/>
            </a:endParaRPr>
          </a:p>
          <a:p>
            <a:pPr>
              <a:buFont typeface="Wingdings" panose="05000000000000000000" pitchFamily="2" charset="2"/>
              <a:buChar char="n"/>
            </a:pPr>
            <a:r>
              <a:rPr lang="en-US" altLang="zh-CN" sz="2400" dirty="0" smtClean="0">
                <a:solidFill>
                  <a:srgbClr val="FF0000"/>
                </a:solidFill>
                <a:latin typeface="Arial" pitchFamily="34" charset="0"/>
                <a:ea typeface="黑体" pitchFamily="49" charset="-122"/>
                <a:cs typeface="Arial" pitchFamily="34" charset="0"/>
              </a:rPr>
              <a:t>PCA</a:t>
            </a:r>
            <a:r>
              <a:rPr lang="zh-CN" altLang="en-US" sz="2400" dirty="0" smtClean="0">
                <a:solidFill>
                  <a:srgbClr val="FF0000"/>
                </a:solidFill>
                <a:latin typeface="Arial" pitchFamily="34" charset="0"/>
                <a:ea typeface="黑体" pitchFamily="49" charset="-122"/>
                <a:cs typeface="Arial" pitchFamily="34" charset="0"/>
              </a:rPr>
              <a:t>的目标：</a:t>
            </a:r>
            <a:r>
              <a:rPr lang="zh-CN" altLang="en-US" sz="2400" dirty="0" smtClean="0">
                <a:latin typeface="Arial" pitchFamily="34" charset="0"/>
                <a:ea typeface="黑体" pitchFamily="49" charset="-122"/>
                <a:cs typeface="Arial" pitchFamily="34" charset="0"/>
              </a:rPr>
              <a:t>通过</a:t>
            </a:r>
            <a:r>
              <a:rPr lang="zh-CN" altLang="en-US" sz="2400" dirty="0">
                <a:latin typeface="Arial" pitchFamily="34" charset="0"/>
                <a:ea typeface="黑体" pitchFamily="49" charset="-122"/>
                <a:cs typeface="Arial" pitchFamily="34" charset="0"/>
              </a:rPr>
              <a:t>某种线性投影，将高维的数据映射到低维的空间中表示，并期望在所投影的维度上数据的</a:t>
            </a:r>
            <a:r>
              <a:rPr lang="zh-CN" altLang="en-US" sz="2400" dirty="0">
                <a:solidFill>
                  <a:srgbClr val="FF0000"/>
                </a:solidFill>
                <a:latin typeface="Arial" pitchFamily="34" charset="0"/>
                <a:ea typeface="黑体" pitchFamily="49" charset="-122"/>
                <a:cs typeface="Arial" pitchFamily="34" charset="0"/>
              </a:rPr>
              <a:t>方差最大</a:t>
            </a:r>
            <a:r>
              <a:rPr lang="zh-CN" altLang="en-US" sz="2400" dirty="0">
                <a:latin typeface="Arial" pitchFamily="34" charset="0"/>
                <a:ea typeface="黑体" pitchFamily="49" charset="-122"/>
                <a:cs typeface="Arial" pitchFamily="34" charset="0"/>
              </a:rPr>
              <a:t>，以此使用较少的数据维度，同时保留住较多的原数据点的特性。</a:t>
            </a:r>
            <a:endParaRPr lang="zh-CN" altLang="en-US" sz="2400" dirty="0">
              <a:solidFill>
                <a:srgbClr val="C00000"/>
              </a:solidFill>
              <a:latin typeface="Arial" pitchFamily="34" charset="0"/>
              <a:ea typeface="黑体" pitchFamily="49" charset="-122"/>
              <a:cs typeface="Arial"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36</a:t>
            </a:fld>
            <a:endParaRPr lang="zh-CN" altLang="en-US"/>
          </a:p>
        </p:txBody>
      </p:sp>
      <p:sp>
        <p:nvSpPr>
          <p:cNvPr id="10" name="矩形 9"/>
          <p:cNvSpPr/>
          <p:nvPr/>
        </p:nvSpPr>
        <p:spPr>
          <a:xfrm>
            <a:off x="1979712" y="3903439"/>
            <a:ext cx="5040560" cy="461665"/>
          </a:xfrm>
          <a:prstGeom prst="rect">
            <a:avLst/>
          </a:prstGeom>
        </p:spPr>
        <p:txBody>
          <a:bodyPr wrap="square">
            <a:spAutoFit/>
          </a:bodyPr>
          <a:lstStyle/>
          <a:p>
            <a:pPr algn="ctr"/>
            <a:r>
              <a:rPr lang="zh-CN" altLang="en-US" sz="2400" dirty="0" smtClean="0">
                <a:solidFill>
                  <a:srgbClr val="0000CC"/>
                </a:solidFill>
                <a:latin typeface="Arial" pitchFamily="34" charset="0"/>
                <a:ea typeface="黑体" pitchFamily="49" charset="-122"/>
                <a:cs typeface="Arial" pitchFamily="34" charset="0"/>
              </a:rPr>
              <a:t>数据类型： </a:t>
            </a:r>
            <a:r>
              <a:rPr lang="zh-CN" altLang="en-US" sz="2400" u="sng" dirty="0" smtClean="0">
                <a:solidFill>
                  <a:srgbClr val="0000CC"/>
                </a:solidFill>
                <a:latin typeface="Arial" pitchFamily="34" charset="0"/>
                <a:ea typeface="黑体" pitchFamily="49" charset="-122"/>
                <a:cs typeface="Arial" pitchFamily="34" charset="0"/>
              </a:rPr>
              <a:t>样本点 </a:t>
            </a:r>
            <a:r>
              <a:rPr lang="en-US" altLang="zh-CN" sz="2400" u="sng" dirty="0" smtClean="0">
                <a:solidFill>
                  <a:srgbClr val="0000CC"/>
                </a:solidFill>
                <a:latin typeface="Arial" pitchFamily="34" charset="0"/>
                <a:ea typeface="黑体" pitchFamily="49" charset="-122"/>
                <a:cs typeface="Arial" pitchFamily="34" charset="0"/>
              </a:rPr>
              <a:t>x </a:t>
            </a:r>
            <a:r>
              <a:rPr lang="zh-CN" altLang="en-US" sz="2400" u="sng" dirty="0" smtClean="0">
                <a:solidFill>
                  <a:srgbClr val="0000CC"/>
                </a:solidFill>
                <a:latin typeface="Arial" pitchFamily="34" charset="0"/>
                <a:ea typeface="黑体" pitchFamily="49" charset="-122"/>
                <a:cs typeface="Arial" pitchFamily="34" charset="0"/>
              </a:rPr>
              <a:t>变量</a:t>
            </a:r>
            <a:endParaRPr lang="zh-CN" altLang="en-US" sz="2400" u="sng" dirty="0">
              <a:solidFill>
                <a:srgbClr val="0000CC"/>
              </a:solidFill>
              <a:latin typeface="Arial" pitchFamily="34" charset="0"/>
              <a:ea typeface="黑体" pitchFamily="49" charset="-122"/>
              <a:cs typeface="Arial" pitchFamily="34" charset="0"/>
            </a:endParaRPr>
          </a:p>
        </p:txBody>
      </p:sp>
      <p:pic>
        <p:nvPicPr>
          <p:cNvPr id="95235" name="Picture 3"/>
          <p:cNvPicPr>
            <a:picLocks noChangeAspect="1" noChangeArrowheads="1"/>
          </p:cNvPicPr>
          <p:nvPr/>
        </p:nvPicPr>
        <p:blipFill>
          <a:blip r:embed="rId2" cstate="print"/>
          <a:srcRect/>
          <a:stretch>
            <a:fillRect/>
          </a:stretch>
        </p:blipFill>
        <p:spPr bwMode="auto">
          <a:xfrm>
            <a:off x="971600" y="4359660"/>
            <a:ext cx="7230591" cy="216568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88640"/>
            <a:ext cx="8568952" cy="1008112"/>
          </a:xfrm>
        </p:spPr>
        <p:txBody>
          <a:bodyPr/>
          <a:lstStyle/>
          <a:p>
            <a:pPr>
              <a:buNone/>
            </a:pPr>
            <a:r>
              <a:rPr lang="zh-CN" altLang="en-US" sz="2400" dirty="0" smtClean="0">
                <a:solidFill>
                  <a:srgbClr val="C00000"/>
                </a:solidFill>
                <a:latin typeface="Arial" pitchFamily="34" charset="0"/>
                <a:ea typeface="黑体" pitchFamily="49" charset="-122"/>
                <a:cs typeface="Arial" pitchFamily="34" charset="0"/>
              </a:rPr>
              <a:t>举例：</a:t>
            </a:r>
            <a:endParaRPr lang="en-US" altLang="zh-CN" sz="2400" dirty="0" smtClean="0">
              <a:solidFill>
                <a:srgbClr val="C00000"/>
              </a:solidFill>
              <a:latin typeface="Arial" pitchFamily="34" charset="0"/>
              <a:ea typeface="黑体" pitchFamily="49" charset="-122"/>
              <a:cs typeface="Arial" pitchFamily="34" charset="0"/>
            </a:endParaRPr>
          </a:p>
          <a:p>
            <a:pPr>
              <a:buNone/>
            </a:pPr>
            <a:r>
              <a:rPr lang="en-US" altLang="zh-CN" sz="2400" dirty="0" smtClean="0">
                <a:latin typeface="Arial" pitchFamily="34" charset="0"/>
                <a:ea typeface="黑体" pitchFamily="49" charset="-122"/>
                <a:cs typeface="Arial" pitchFamily="34" charset="0"/>
              </a:rPr>
              <a:t>100</a:t>
            </a:r>
            <a:r>
              <a:rPr lang="zh-CN" altLang="en-US" sz="2400" dirty="0" smtClean="0">
                <a:latin typeface="Arial" pitchFamily="34" charset="0"/>
                <a:ea typeface="黑体" pitchFamily="49" charset="-122"/>
                <a:cs typeface="Arial" pitchFamily="34" charset="0"/>
              </a:rPr>
              <a:t>个学生的</a:t>
            </a:r>
            <a:r>
              <a:rPr lang="en-US" altLang="zh-CN" sz="2400" dirty="0" smtClean="0">
                <a:latin typeface="Arial" pitchFamily="34" charset="0"/>
                <a:ea typeface="黑体" pitchFamily="49" charset="-122"/>
                <a:cs typeface="Arial" pitchFamily="34" charset="0"/>
              </a:rPr>
              <a:t>6</a:t>
            </a:r>
            <a:r>
              <a:rPr lang="zh-CN" altLang="en-US" sz="2400" dirty="0" smtClean="0">
                <a:latin typeface="Arial" pitchFamily="34" charset="0"/>
                <a:ea typeface="黑体" pitchFamily="49" charset="-122"/>
                <a:cs typeface="Arial" pitchFamily="34" charset="0"/>
              </a:rPr>
              <a:t>门学科的成绩如下表（部分）。 </a:t>
            </a:r>
          </a:p>
          <a:p>
            <a:endParaRPr lang="zh-CN" altLang="en-US" sz="2400" dirty="0">
              <a:latin typeface="Arial" pitchFamily="34" charset="0"/>
              <a:ea typeface="黑体" pitchFamily="49" charset="-122"/>
              <a:cs typeface="Arial"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37</a:t>
            </a:fld>
            <a:endParaRPr lang="zh-CN" altLang="en-US"/>
          </a:p>
        </p:txBody>
      </p:sp>
      <p:pic>
        <p:nvPicPr>
          <p:cNvPr id="116738" name="Picture 2"/>
          <p:cNvPicPr>
            <a:picLocks noChangeAspect="1" noChangeArrowheads="1"/>
          </p:cNvPicPr>
          <p:nvPr/>
        </p:nvPicPr>
        <p:blipFill>
          <a:blip r:embed="rId2" cstate="print"/>
          <a:srcRect/>
          <a:stretch>
            <a:fillRect/>
          </a:stretch>
        </p:blipFill>
        <p:spPr bwMode="auto">
          <a:xfrm>
            <a:off x="755576" y="1340768"/>
            <a:ext cx="6768752" cy="3499028"/>
          </a:xfrm>
          <a:prstGeom prst="rect">
            <a:avLst/>
          </a:prstGeom>
          <a:noFill/>
          <a:ln w="9525">
            <a:noFill/>
            <a:miter lim="800000"/>
            <a:headEnd/>
            <a:tailEnd/>
          </a:ln>
        </p:spPr>
      </p:pic>
      <p:sp>
        <p:nvSpPr>
          <p:cNvPr id="6" name="矩形 5"/>
          <p:cNvSpPr/>
          <p:nvPr/>
        </p:nvSpPr>
        <p:spPr>
          <a:xfrm>
            <a:off x="107504" y="5085184"/>
            <a:ext cx="8856984" cy="1631216"/>
          </a:xfrm>
          <a:prstGeom prst="rect">
            <a:avLst/>
          </a:prstGeom>
        </p:spPr>
        <p:txBody>
          <a:bodyPr wrap="square">
            <a:spAutoFit/>
          </a:bodyPr>
          <a:lstStyle/>
          <a:p>
            <a:pPr>
              <a:buFont typeface="Arial" pitchFamily="34" charset="0"/>
              <a:buChar char="•"/>
            </a:pPr>
            <a:r>
              <a:rPr lang="zh-CN" altLang="en-US" sz="2000" dirty="0" smtClean="0">
                <a:latin typeface="Arial" pitchFamily="34" charset="0"/>
                <a:ea typeface="黑体" pitchFamily="49" charset="-122"/>
                <a:cs typeface="Arial" pitchFamily="34" charset="0"/>
              </a:rPr>
              <a:t> </a:t>
            </a:r>
            <a:r>
              <a:rPr lang="zh-CN" altLang="en-US" sz="2000" dirty="0" smtClean="0">
                <a:solidFill>
                  <a:srgbClr val="0000CC"/>
                </a:solidFill>
                <a:latin typeface="Arial" pitchFamily="34" charset="0"/>
                <a:ea typeface="黑体" pitchFamily="49" charset="-122"/>
                <a:cs typeface="Arial" pitchFamily="34" charset="0"/>
              </a:rPr>
              <a:t>能不能把这个数据的</a:t>
            </a:r>
            <a:r>
              <a:rPr lang="en-US" altLang="zh-CN" sz="2000" dirty="0" smtClean="0">
                <a:solidFill>
                  <a:srgbClr val="0000CC"/>
                </a:solidFill>
                <a:latin typeface="Arial" pitchFamily="34" charset="0"/>
                <a:ea typeface="黑体" pitchFamily="49" charset="-122"/>
                <a:cs typeface="Arial" pitchFamily="34" charset="0"/>
              </a:rPr>
              <a:t>6</a:t>
            </a:r>
            <a:r>
              <a:rPr lang="zh-CN" altLang="en-US" sz="2000" dirty="0" smtClean="0">
                <a:solidFill>
                  <a:srgbClr val="0000CC"/>
                </a:solidFill>
                <a:latin typeface="Arial" pitchFamily="34" charset="0"/>
                <a:ea typeface="黑体" pitchFamily="49" charset="-122"/>
                <a:cs typeface="Arial" pitchFamily="34" charset="0"/>
              </a:rPr>
              <a:t>个变量用一两个综合变量来表示呢？ </a:t>
            </a:r>
          </a:p>
          <a:p>
            <a:pPr>
              <a:buFont typeface="Arial" pitchFamily="34" charset="0"/>
              <a:buChar char="•"/>
            </a:pPr>
            <a:r>
              <a:rPr lang="zh-CN" altLang="en-US" sz="2000" dirty="0" smtClean="0">
                <a:solidFill>
                  <a:srgbClr val="0000CC"/>
                </a:solidFill>
                <a:latin typeface="Arial" pitchFamily="34" charset="0"/>
                <a:ea typeface="黑体" pitchFamily="49" charset="-122"/>
                <a:cs typeface="Arial" pitchFamily="34" charset="0"/>
              </a:rPr>
              <a:t> 这一两个综合变量包含有多少原来的信息呢？ </a:t>
            </a:r>
          </a:p>
          <a:p>
            <a:pPr>
              <a:buFont typeface="Arial" pitchFamily="34" charset="0"/>
              <a:buChar char="•"/>
            </a:pPr>
            <a:r>
              <a:rPr lang="zh-CN" altLang="en-US" sz="2000" dirty="0" smtClean="0">
                <a:solidFill>
                  <a:srgbClr val="0000CC"/>
                </a:solidFill>
                <a:latin typeface="Arial" pitchFamily="34" charset="0"/>
                <a:ea typeface="黑体" pitchFamily="49" charset="-122"/>
                <a:cs typeface="Arial" pitchFamily="34" charset="0"/>
              </a:rPr>
              <a:t> 能不能利用找到的综合变量来对学生排序呢？</a:t>
            </a:r>
            <a:endParaRPr lang="en-US" altLang="zh-CN" sz="2000" dirty="0" smtClean="0">
              <a:solidFill>
                <a:srgbClr val="0000CC"/>
              </a:solidFill>
              <a:latin typeface="Arial" pitchFamily="34" charset="0"/>
              <a:ea typeface="黑体" pitchFamily="49" charset="-122"/>
              <a:cs typeface="Arial" pitchFamily="34" charset="0"/>
            </a:endParaRPr>
          </a:p>
          <a:p>
            <a:pPr>
              <a:buFont typeface="Arial" pitchFamily="34" charset="0"/>
              <a:buChar char="•"/>
            </a:pPr>
            <a:r>
              <a:rPr lang="en-US" altLang="zh-CN" sz="2000" dirty="0" smtClean="0">
                <a:latin typeface="Arial" pitchFamily="34" charset="0"/>
                <a:ea typeface="黑体" pitchFamily="49" charset="-122"/>
                <a:cs typeface="Arial" pitchFamily="34" charset="0"/>
              </a:rPr>
              <a:t> </a:t>
            </a:r>
            <a:r>
              <a:rPr lang="zh-CN" altLang="en-US" sz="2000" dirty="0" smtClean="0">
                <a:latin typeface="Arial" pitchFamily="34" charset="0"/>
                <a:ea typeface="黑体" pitchFamily="49" charset="-122"/>
                <a:cs typeface="Arial" pitchFamily="34" charset="0"/>
              </a:rPr>
              <a:t>这一类数据所涉及的问题可以推广到其他领域的大数据分析、排序、判别和分类等问题。 </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38</a:t>
            </a:fld>
            <a:endParaRPr lang="zh-CN" altLang="en-US"/>
          </a:p>
        </p:txBody>
      </p:sp>
      <p:sp>
        <p:nvSpPr>
          <p:cNvPr id="6" name="内容占位符 2"/>
          <p:cNvSpPr>
            <a:spLocks noGrp="1"/>
          </p:cNvSpPr>
          <p:nvPr>
            <p:ph idx="1"/>
          </p:nvPr>
        </p:nvSpPr>
        <p:spPr>
          <a:xfrm>
            <a:off x="71116" y="669469"/>
            <a:ext cx="8856984" cy="1872208"/>
          </a:xfrm>
        </p:spPr>
        <p:txBody>
          <a:bodyPr/>
          <a:lstStyle/>
          <a:p>
            <a:pPr>
              <a:buFont typeface="Arial" pitchFamily="34" charset="0"/>
              <a:buChar char="•"/>
            </a:pPr>
            <a:r>
              <a:rPr lang="zh-CN" altLang="en-US" sz="2000" dirty="0" smtClean="0">
                <a:solidFill>
                  <a:srgbClr val="0000CC"/>
                </a:solidFill>
                <a:latin typeface="Arial" pitchFamily="34" charset="0"/>
                <a:ea typeface="黑体" pitchFamily="49" charset="-122"/>
                <a:cs typeface="Arial" pitchFamily="34" charset="0"/>
              </a:rPr>
              <a:t>先假定只有二维（即两个变量），它们由横坐标和纵坐标所代表；因此每个观测样本都有相应于这两个坐标轴的坐标值；如果这些数据形成一个椭圆形状的点阵（这在变量的二维正态假定下是很可能的） </a:t>
            </a:r>
          </a:p>
          <a:p>
            <a:pPr>
              <a:buFont typeface="Arial" pitchFamily="34" charset="0"/>
              <a:buChar char="•"/>
            </a:pPr>
            <a:r>
              <a:rPr lang="zh-CN" altLang="en-US" sz="2000" dirty="0" smtClean="0">
                <a:latin typeface="Arial" pitchFamily="34" charset="0"/>
                <a:ea typeface="黑体" pitchFamily="49" charset="-122"/>
                <a:cs typeface="Arial" pitchFamily="34" charset="0"/>
              </a:rPr>
              <a:t>该椭圆有一个长轴和一个短轴。在短轴方向上，数据变化很少；一般来说，椭圆（球）的长短轴相差得越大，降维也越有道理。 </a:t>
            </a:r>
          </a:p>
        </p:txBody>
      </p:sp>
      <p:pic>
        <p:nvPicPr>
          <p:cNvPr id="7" name="Picture 2"/>
          <p:cNvPicPr>
            <a:picLocks noChangeAspect="1" noChangeArrowheads="1"/>
          </p:cNvPicPr>
          <p:nvPr/>
        </p:nvPicPr>
        <p:blipFill>
          <a:blip r:embed="rId2" cstate="print"/>
          <a:srcRect/>
          <a:stretch>
            <a:fillRect/>
          </a:stretch>
        </p:blipFill>
        <p:spPr bwMode="auto">
          <a:xfrm>
            <a:off x="2339752" y="2492896"/>
            <a:ext cx="4536504" cy="393849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908720"/>
            <a:ext cx="8784976" cy="4968552"/>
          </a:xfrm>
        </p:spPr>
        <p:txBody>
          <a:bodyPr/>
          <a:lstStyle/>
          <a:p>
            <a:r>
              <a:rPr lang="zh-CN" altLang="en-US" sz="2400" dirty="0" smtClean="0">
                <a:latin typeface="Arial" pitchFamily="34" charset="0"/>
                <a:ea typeface="黑体" pitchFamily="49" charset="-122"/>
                <a:cs typeface="Arial" pitchFamily="34" charset="0"/>
              </a:rPr>
              <a:t>对于多维变量的情况和二维类似，也有高维的椭球。首先把高维椭球的主轴找出来，再用代表大多数数据信息的最长的几个轴作为新变量；</a:t>
            </a:r>
          </a:p>
          <a:p>
            <a:endParaRPr lang="en-US" altLang="zh-CN" sz="2400" dirty="0" smtClean="0">
              <a:solidFill>
                <a:srgbClr val="0000CC"/>
              </a:solidFill>
              <a:latin typeface="Arial" pitchFamily="34" charset="0"/>
              <a:ea typeface="黑体" pitchFamily="49" charset="-122"/>
              <a:cs typeface="Arial" pitchFamily="34" charset="0"/>
            </a:endParaRPr>
          </a:p>
          <a:p>
            <a:r>
              <a:rPr lang="zh-CN" altLang="en-US" sz="2400" dirty="0" smtClean="0">
                <a:solidFill>
                  <a:srgbClr val="0000CC"/>
                </a:solidFill>
                <a:latin typeface="Arial" pitchFamily="34" charset="0"/>
                <a:ea typeface="黑体" pitchFamily="49" charset="-122"/>
                <a:cs typeface="Arial" pitchFamily="34" charset="0"/>
              </a:rPr>
              <a:t>注意：和二维情况类似，高维椭球的主轴也是互相垂直的。这些</a:t>
            </a:r>
            <a:r>
              <a:rPr lang="zh-CN" altLang="en-US" sz="2400" dirty="0" smtClean="0">
                <a:solidFill>
                  <a:srgbClr val="FF0000"/>
                </a:solidFill>
                <a:latin typeface="Arial" pitchFamily="34" charset="0"/>
                <a:ea typeface="黑体" pitchFamily="49" charset="-122"/>
                <a:cs typeface="Arial" pitchFamily="34" charset="0"/>
              </a:rPr>
              <a:t>互相正交的</a:t>
            </a:r>
            <a:r>
              <a:rPr lang="zh-CN" altLang="en-US" sz="2400" dirty="0" smtClean="0">
                <a:solidFill>
                  <a:srgbClr val="0000CC"/>
                </a:solidFill>
                <a:latin typeface="Arial" pitchFamily="34" charset="0"/>
                <a:ea typeface="黑体" pitchFamily="49" charset="-122"/>
                <a:cs typeface="Arial" pitchFamily="34" charset="0"/>
              </a:rPr>
              <a:t>新变量是原先变量的线性组合，叫做</a:t>
            </a:r>
            <a:r>
              <a:rPr lang="zh-CN" altLang="en-US" sz="2400" dirty="0" smtClean="0">
                <a:solidFill>
                  <a:srgbClr val="FF0000"/>
                </a:solidFill>
                <a:latin typeface="Arial" pitchFamily="34" charset="0"/>
                <a:ea typeface="黑体" pitchFamily="49" charset="-122"/>
                <a:cs typeface="Arial" pitchFamily="34" charset="0"/>
              </a:rPr>
              <a:t>主成分</a:t>
            </a:r>
            <a:r>
              <a:rPr lang="en-US" altLang="zh-CN" sz="2400" dirty="0" smtClean="0">
                <a:solidFill>
                  <a:srgbClr val="FF0000"/>
                </a:solidFill>
                <a:latin typeface="Arial" pitchFamily="34" charset="0"/>
                <a:ea typeface="黑体" pitchFamily="49" charset="-122"/>
                <a:cs typeface="Arial" pitchFamily="34" charset="0"/>
              </a:rPr>
              <a:t>(principal component)</a:t>
            </a:r>
            <a:r>
              <a:rPr lang="zh-CN" altLang="en-US" sz="2400" dirty="0" smtClean="0">
                <a:solidFill>
                  <a:srgbClr val="0000CC"/>
                </a:solidFill>
                <a:latin typeface="Arial" pitchFamily="34" charset="0"/>
                <a:ea typeface="黑体" pitchFamily="49" charset="-122"/>
                <a:cs typeface="Arial" pitchFamily="34" charset="0"/>
              </a:rPr>
              <a:t>；</a:t>
            </a:r>
            <a:r>
              <a:rPr lang="zh-CN" altLang="en-US" sz="2400" dirty="0" smtClean="0">
                <a:latin typeface="Arial" pitchFamily="34" charset="0"/>
                <a:ea typeface="黑体" pitchFamily="49" charset="-122"/>
                <a:cs typeface="Arial" pitchFamily="34" charset="0"/>
              </a:rPr>
              <a:t>有几个变量，就有几个主成分；</a:t>
            </a:r>
          </a:p>
          <a:p>
            <a:endParaRPr lang="en-US" altLang="zh-CN" sz="2400" dirty="0" smtClean="0">
              <a:latin typeface="Arial" pitchFamily="34" charset="0"/>
              <a:ea typeface="黑体" pitchFamily="49" charset="-122"/>
              <a:cs typeface="Arial" pitchFamily="34" charset="0"/>
            </a:endParaRPr>
          </a:p>
          <a:p>
            <a:r>
              <a:rPr lang="zh-CN" altLang="en-US" sz="2400" dirty="0" smtClean="0">
                <a:latin typeface="Arial" pitchFamily="34" charset="0"/>
                <a:ea typeface="黑体" pitchFamily="49" charset="-122"/>
                <a:cs typeface="Arial" pitchFamily="34" charset="0"/>
              </a:rPr>
              <a:t>选择越少的主成分，降维就越好。标准是这些被选的主成分所代表的主轴的长度之和占主轴长度总和的大部分。</a:t>
            </a:r>
            <a:endParaRPr lang="en-US" altLang="zh-CN" sz="2400" dirty="0" smtClean="0">
              <a:latin typeface="Arial" pitchFamily="34" charset="0"/>
              <a:ea typeface="黑体" pitchFamily="49" charset="-122"/>
              <a:cs typeface="Arial" pitchFamily="34" charset="0"/>
            </a:endParaRPr>
          </a:p>
          <a:p>
            <a:pPr>
              <a:buNone/>
            </a:pPr>
            <a:r>
              <a:rPr lang="en-US" altLang="zh-CN" sz="2400" dirty="0" smtClean="0">
                <a:latin typeface="Arial" pitchFamily="34" charset="0"/>
                <a:ea typeface="黑体" pitchFamily="49" charset="-122"/>
                <a:cs typeface="Arial" pitchFamily="34" charset="0"/>
              </a:rPr>
              <a:t>        </a:t>
            </a:r>
            <a:r>
              <a:rPr lang="zh-CN" altLang="en-US" sz="2000" dirty="0" smtClean="0">
                <a:latin typeface="Arial" pitchFamily="34" charset="0"/>
                <a:ea typeface="黑体" pitchFamily="49" charset="-122"/>
                <a:cs typeface="Arial" pitchFamily="34" charset="0"/>
              </a:rPr>
              <a:t>有些文献建议，所选的主轴总长度占所有主轴长度之和的大约</a:t>
            </a:r>
            <a:r>
              <a:rPr lang="en-US" altLang="zh-CN" sz="2000" dirty="0" smtClean="0">
                <a:latin typeface="Arial" pitchFamily="34" charset="0"/>
                <a:ea typeface="黑体" pitchFamily="49" charset="-122"/>
                <a:cs typeface="Arial" pitchFamily="34" charset="0"/>
              </a:rPr>
              <a:t>85%</a:t>
            </a:r>
            <a:r>
              <a:rPr lang="zh-CN" altLang="en-US" sz="2000" dirty="0" smtClean="0">
                <a:latin typeface="Arial" pitchFamily="34" charset="0"/>
                <a:ea typeface="黑体" pitchFamily="49" charset="-122"/>
                <a:cs typeface="Arial" pitchFamily="34" charset="0"/>
              </a:rPr>
              <a:t>即可，其实，这只是一个大体的说法；具体选几个，要看实际情况而定。 </a:t>
            </a: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39</a:t>
            </a:fld>
            <a:endParaRPr lang="zh-CN" alt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27290"/>
            <a:ext cx="8229600" cy="637414"/>
          </a:xfrm>
        </p:spPr>
        <p:txBody>
          <a:bodyPr/>
          <a:lstStyle/>
          <a:p>
            <a:r>
              <a:rPr lang="zh-CN" altLang="en-US" sz="2800" b="1" dirty="0" smtClean="0">
                <a:solidFill>
                  <a:srgbClr val="C00000"/>
                </a:solidFill>
                <a:latin typeface="黑体" pitchFamily="49" charset="-122"/>
                <a:ea typeface="黑体" pitchFamily="49" charset="-122"/>
              </a:rPr>
              <a:t>主成分的定义及导出</a:t>
            </a:r>
            <a:endParaRPr lang="zh-CN" altLang="en-US" sz="2800" b="1" dirty="0">
              <a:solidFill>
                <a:srgbClr val="C00000"/>
              </a:solidFill>
              <a:latin typeface="黑体" pitchFamily="49" charset="-122"/>
              <a:ea typeface="黑体" pitchFamily="49" charset="-122"/>
            </a:endParaRPr>
          </a:p>
        </p:txBody>
      </p:sp>
      <p:sp>
        <p:nvSpPr>
          <p:cNvPr id="3" name="内容占位符 2"/>
          <p:cNvSpPr>
            <a:spLocks noGrp="1"/>
          </p:cNvSpPr>
          <p:nvPr>
            <p:ph idx="1"/>
          </p:nvPr>
        </p:nvSpPr>
        <p:spPr>
          <a:xfrm>
            <a:off x="23902" y="908720"/>
            <a:ext cx="9012593" cy="5544616"/>
          </a:xfrm>
        </p:spPr>
        <p:txBody>
          <a:bodyPr/>
          <a:lstStyle/>
          <a:p>
            <a:r>
              <a:rPr lang="zh-CN" altLang="en-US" sz="2400" dirty="0" smtClean="0">
                <a:latin typeface="Arial" pitchFamily="34" charset="0"/>
                <a:ea typeface="黑体" pitchFamily="49" charset="-122"/>
                <a:cs typeface="Arial" pitchFamily="34" charset="0"/>
              </a:rPr>
              <a:t>设</a:t>
            </a:r>
            <a:r>
              <a:rPr lang="en-US" altLang="zh-CN" sz="2400" dirty="0" smtClean="0">
                <a:latin typeface="Arial" pitchFamily="34" charset="0"/>
                <a:ea typeface="黑体" pitchFamily="49" charset="-122"/>
                <a:cs typeface="Arial" pitchFamily="34" charset="0"/>
              </a:rPr>
              <a:t>x = (</a:t>
            </a:r>
            <a:r>
              <a:rPr lang="en-US" altLang="zh-CN" sz="2400" i="1" dirty="0" smtClean="0">
                <a:latin typeface="Arial" pitchFamily="34" charset="0"/>
                <a:ea typeface="黑体" pitchFamily="49" charset="-122"/>
                <a:cs typeface="Arial" pitchFamily="34" charset="0"/>
              </a:rPr>
              <a:t>x</a:t>
            </a:r>
            <a:r>
              <a:rPr lang="en-US" altLang="zh-CN" sz="2400" i="1" baseline="-25000" dirty="0" smtClean="0">
                <a:latin typeface="Arial" pitchFamily="34" charset="0"/>
                <a:ea typeface="黑体" pitchFamily="49" charset="-122"/>
                <a:cs typeface="Arial" pitchFamily="34" charset="0"/>
              </a:rPr>
              <a:t>1</a:t>
            </a:r>
            <a:r>
              <a:rPr lang="en-US" altLang="zh-CN" sz="2400" i="1" dirty="0" smtClean="0">
                <a:latin typeface="Arial" pitchFamily="34" charset="0"/>
                <a:ea typeface="黑体" pitchFamily="49" charset="-122"/>
                <a:cs typeface="Arial" pitchFamily="34" charset="0"/>
              </a:rPr>
              <a:t>,x</a:t>
            </a:r>
            <a:r>
              <a:rPr lang="en-US" altLang="zh-CN" sz="2400" i="1" baseline="-25000" dirty="0" smtClean="0">
                <a:latin typeface="Arial" pitchFamily="34" charset="0"/>
                <a:ea typeface="黑体" pitchFamily="49" charset="-122"/>
                <a:cs typeface="Arial" pitchFamily="34" charset="0"/>
              </a:rPr>
              <a:t>2</a:t>
            </a:r>
            <a:r>
              <a:rPr lang="en-US" altLang="zh-CN" sz="2400" i="1" dirty="0" smtClean="0">
                <a:latin typeface="Arial" pitchFamily="34" charset="0"/>
                <a:ea typeface="黑体" pitchFamily="49" charset="-122"/>
                <a:cs typeface="Arial" pitchFamily="34" charset="0"/>
              </a:rPr>
              <a:t>, </a:t>
            </a:r>
            <a:r>
              <a:rPr lang="zh-CN" altLang="en-US" sz="2400" i="1" dirty="0" smtClean="0">
                <a:latin typeface="Arial" pitchFamily="34" charset="0"/>
                <a:ea typeface="黑体" pitchFamily="49" charset="-122"/>
                <a:cs typeface="Arial" pitchFamily="34" charset="0"/>
              </a:rPr>
              <a:t>⋯</a:t>
            </a:r>
            <a:r>
              <a:rPr lang="en-US" altLang="zh-CN" sz="2400" i="1" dirty="0" smtClean="0">
                <a:latin typeface="Arial" pitchFamily="34" charset="0"/>
                <a:ea typeface="黑体" pitchFamily="49" charset="-122"/>
                <a:cs typeface="Arial" pitchFamily="34" charset="0"/>
              </a:rPr>
              <a:t>,</a:t>
            </a:r>
            <a:r>
              <a:rPr lang="en-US" altLang="zh-CN" sz="2400" i="1" dirty="0" err="1" smtClean="0">
                <a:latin typeface="Arial" pitchFamily="34" charset="0"/>
                <a:ea typeface="黑体" pitchFamily="49" charset="-122"/>
                <a:cs typeface="Arial" pitchFamily="34" charset="0"/>
              </a:rPr>
              <a:t>x</a:t>
            </a:r>
            <a:r>
              <a:rPr lang="en-US" altLang="zh-CN" sz="2400" i="1" baseline="-25000" dirty="0" err="1" smtClean="0">
                <a:latin typeface="Arial" pitchFamily="34" charset="0"/>
                <a:ea typeface="黑体" pitchFamily="49" charset="-122"/>
                <a:cs typeface="Arial" pitchFamily="34" charset="0"/>
              </a:rPr>
              <a:t>p</a:t>
            </a:r>
            <a:r>
              <a:rPr lang="en-US" altLang="zh-CN" sz="2400" dirty="0" smtClean="0">
                <a:latin typeface="Arial" pitchFamily="34" charset="0"/>
                <a:ea typeface="黑体" pitchFamily="49" charset="-122"/>
                <a:cs typeface="Arial" pitchFamily="34" charset="0"/>
              </a:rPr>
              <a:t>)</a:t>
            </a:r>
            <a:r>
              <a:rPr lang="zh-CN" altLang="en-US" sz="2400" dirty="0" smtClean="0">
                <a:latin typeface="Arial" pitchFamily="34" charset="0"/>
                <a:ea typeface="黑体" pitchFamily="49" charset="-122"/>
                <a:cs typeface="Arial" pitchFamily="34" charset="0"/>
              </a:rPr>
              <a:t>为一个</a:t>
            </a:r>
            <a:r>
              <a:rPr lang="en-US" altLang="zh-CN" sz="2400" dirty="0" smtClean="0">
                <a:latin typeface="Arial" pitchFamily="34" charset="0"/>
                <a:ea typeface="黑体" pitchFamily="49" charset="-122"/>
                <a:cs typeface="Arial" pitchFamily="34" charset="0"/>
              </a:rPr>
              <a:t>p</a:t>
            </a:r>
            <a:r>
              <a:rPr lang="zh-CN" altLang="en-US" sz="2400" dirty="0" smtClean="0">
                <a:latin typeface="Arial" pitchFamily="34" charset="0"/>
                <a:ea typeface="黑体" pitchFamily="49" charset="-122"/>
                <a:cs typeface="Arial" pitchFamily="34" charset="0"/>
              </a:rPr>
              <a:t>维随机向量，</a:t>
            </a:r>
            <a:r>
              <a:rPr lang="en-US" altLang="zh-CN" sz="2400" dirty="0" smtClean="0">
                <a:latin typeface="Arial" pitchFamily="34" charset="0"/>
                <a:ea typeface="黑体" pitchFamily="49" charset="-122"/>
                <a:cs typeface="Arial" pitchFamily="34" charset="0"/>
              </a:rPr>
              <a:t>E(x)=μ</a:t>
            </a:r>
            <a:r>
              <a:rPr lang="zh-CN" altLang="en-US" sz="2400" dirty="0" smtClean="0">
                <a:latin typeface="Arial" pitchFamily="34" charset="0"/>
                <a:ea typeface="黑体" pitchFamily="49" charset="-122"/>
                <a:cs typeface="Arial" pitchFamily="34" charset="0"/>
              </a:rPr>
              <a:t>，</a:t>
            </a:r>
            <a:r>
              <a:rPr lang="en-US" altLang="zh-CN" sz="2400" dirty="0" smtClean="0">
                <a:latin typeface="Arial" pitchFamily="34" charset="0"/>
                <a:ea typeface="黑体" pitchFamily="49" charset="-122"/>
                <a:cs typeface="Arial" pitchFamily="34" charset="0"/>
              </a:rPr>
              <a:t>V(x)=Σ</a:t>
            </a:r>
            <a:r>
              <a:rPr lang="zh-CN" altLang="en-US" sz="2400" dirty="0" smtClean="0">
                <a:latin typeface="Arial" pitchFamily="34" charset="0"/>
                <a:ea typeface="黑体" pitchFamily="49" charset="-122"/>
                <a:cs typeface="Arial" pitchFamily="34" charset="0"/>
              </a:rPr>
              <a:t>。考虑如下的线性变换 </a:t>
            </a:r>
            <a:endParaRPr lang="en-US" altLang="zh-CN" sz="2400" dirty="0" smtClean="0">
              <a:latin typeface="Arial" pitchFamily="34" charset="0"/>
              <a:ea typeface="黑体" pitchFamily="49" charset="-122"/>
              <a:cs typeface="Arial" pitchFamily="34" charset="0"/>
            </a:endParaRPr>
          </a:p>
          <a:p>
            <a:pPr lvl="2">
              <a:buNone/>
            </a:pPr>
            <a:r>
              <a:rPr lang="en-US" altLang="zh-CN" i="1" dirty="0" smtClean="0">
                <a:latin typeface="Arial" pitchFamily="34" charset="0"/>
                <a:ea typeface="黑体" pitchFamily="49" charset="-122"/>
                <a:cs typeface="Arial" pitchFamily="34" charset="0"/>
              </a:rPr>
              <a:t>		y</a:t>
            </a:r>
            <a:r>
              <a:rPr lang="en-US" altLang="zh-CN" i="1" baseline="-25000" dirty="0" smtClean="0">
                <a:latin typeface="Arial" pitchFamily="34" charset="0"/>
                <a:ea typeface="黑体" pitchFamily="49" charset="-122"/>
                <a:cs typeface="Arial" pitchFamily="34" charset="0"/>
              </a:rPr>
              <a:t>1</a:t>
            </a:r>
            <a:r>
              <a:rPr lang="en-US" altLang="zh-CN" i="1" dirty="0" smtClean="0">
                <a:latin typeface="Arial" pitchFamily="34" charset="0"/>
                <a:ea typeface="黑体" pitchFamily="49" charset="-122"/>
                <a:cs typeface="Arial" pitchFamily="34" charset="0"/>
              </a:rPr>
              <a:t>=a</a:t>
            </a:r>
            <a:r>
              <a:rPr lang="en-US" altLang="zh-CN" i="1" baseline="-25000" dirty="0" smtClean="0">
                <a:latin typeface="Arial" pitchFamily="34" charset="0"/>
                <a:ea typeface="黑体" pitchFamily="49" charset="-122"/>
                <a:cs typeface="Arial" pitchFamily="34" charset="0"/>
              </a:rPr>
              <a:t>11</a:t>
            </a:r>
            <a:r>
              <a:rPr lang="en-US" altLang="zh-CN" i="1" dirty="0" smtClean="0">
                <a:latin typeface="Arial" pitchFamily="34" charset="0"/>
                <a:ea typeface="黑体" pitchFamily="49" charset="-122"/>
                <a:cs typeface="Arial" pitchFamily="34" charset="0"/>
              </a:rPr>
              <a:t>x</a:t>
            </a:r>
            <a:r>
              <a:rPr lang="en-US" altLang="zh-CN" i="1" baseline="-25000" dirty="0" smtClean="0">
                <a:latin typeface="Arial" pitchFamily="34" charset="0"/>
                <a:ea typeface="黑体" pitchFamily="49" charset="-122"/>
                <a:cs typeface="Arial" pitchFamily="34" charset="0"/>
              </a:rPr>
              <a:t>1</a:t>
            </a:r>
            <a:r>
              <a:rPr lang="en-US" altLang="zh-CN" i="1" dirty="0" smtClean="0">
                <a:latin typeface="Arial" pitchFamily="34" charset="0"/>
                <a:ea typeface="黑体" pitchFamily="49" charset="-122"/>
                <a:cs typeface="Arial" pitchFamily="34" charset="0"/>
              </a:rPr>
              <a:t> + a</a:t>
            </a:r>
            <a:r>
              <a:rPr lang="en-US" altLang="zh-CN" i="1" baseline="-25000" dirty="0" smtClean="0">
                <a:latin typeface="Arial" pitchFamily="34" charset="0"/>
                <a:ea typeface="黑体" pitchFamily="49" charset="-122"/>
                <a:cs typeface="Arial" pitchFamily="34" charset="0"/>
              </a:rPr>
              <a:t>21</a:t>
            </a:r>
            <a:r>
              <a:rPr lang="en-US" altLang="zh-CN" i="1" dirty="0" smtClean="0">
                <a:latin typeface="Arial" pitchFamily="34" charset="0"/>
                <a:ea typeface="黑体" pitchFamily="49" charset="-122"/>
                <a:cs typeface="Arial" pitchFamily="34" charset="0"/>
              </a:rPr>
              <a:t>x</a:t>
            </a:r>
            <a:r>
              <a:rPr lang="en-US" altLang="zh-CN" i="1" baseline="-25000" dirty="0" smtClean="0">
                <a:latin typeface="Arial" pitchFamily="34" charset="0"/>
                <a:ea typeface="黑体" pitchFamily="49" charset="-122"/>
                <a:cs typeface="Arial" pitchFamily="34" charset="0"/>
              </a:rPr>
              <a:t>2</a:t>
            </a:r>
            <a:r>
              <a:rPr lang="en-US" altLang="zh-CN" i="1" dirty="0" smtClean="0">
                <a:latin typeface="Arial" pitchFamily="34" charset="0"/>
                <a:ea typeface="黑体" pitchFamily="49" charset="-122"/>
                <a:cs typeface="Arial" pitchFamily="34" charset="0"/>
              </a:rPr>
              <a:t> + … + a</a:t>
            </a:r>
            <a:r>
              <a:rPr lang="en-US" altLang="zh-CN" i="1" baseline="-25000" dirty="0" smtClean="0">
                <a:latin typeface="Arial" pitchFamily="34" charset="0"/>
                <a:ea typeface="黑体" pitchFamily="49" charset="-122"/>
                <a:cs typeface="Arial" pitchFamily="34" charset="0"/>
              </a:rPr>
              <a:t>p1</a:t>
            </a:r>
            <a:r>
              <a:rPr lang="en-US" altLang="zh-CN" i="1" dirty="0" smtClean="0">
                <a:latin typeface="Arial" pitchFamily="34" charset="0"/>
                <a:ea typeface="黑体" pitchFamily="49" charset="-122"/>
                <a:cs typeface="Arial" pitchFamily="34" charset="0"/>
              </a:rPr>
              <a:t>x</a:t>
            </a:r>
            <a:r>
              <a:rPr lang="en-US" altLang="zh-CN" i="1" baseline="-25000" dirty="0" smtClean="0">
                <a:latin typeface="Arial" pitchFamily="34" charset="0"/>
                <a:ea typeface="黑体" pitchFamily="49" charset="-122"/>
                <a:cs typeface="Arial" pitchFamily="34" charset="0"/>
              </a:rPr>
              <a:t>p</a:t>
            </a:r>
            <a:r>
              <a:rPr lang="en-US" altLang="zh-CN" i="1" dirty="0" smtClean="0">
                <a:latin typeface="Arial" pitchFamily="34" charset="0"/>
                <a:ea typeface="黑体" pitchFamily="49" charset="-122"/>
                <a:cs typeface="Arial" pitchFamily="34" charset="0"/>
              </a:rPr>
              <a:t>= a</a:t>
            </a:r>
            <a:r>
              <a:rPr lang="en-US" altLang="zh-CN" i="1" baseline="-25000" dirty="0" smtClean="0">
                <a:latin typeface="Arial" pitchFamily="34" charset="0"/>
                <a:ea typeface="黑体" pitchFamily="49" charset="-122"/>
                <a:cs typeface="Arial" pitchFamily="34" charset="0"/>
              </a:rPr>
              <a:t>1</a:t>
            </a:r>
            <a:r>
              <a:rPr lang="en-US" altLang="zh-CN" i="1" dirty="0" smtClean="0">
                <a:latin typeface="Arial" pitchFamily="34" charset="0"/>
                <a:ea typeface="黑体" pitchFamily="49" charset="-122"/>
                <a:cs typeface="Arial" pitchFamily="34" charset="0"/>
              </a:rPr>
              <a:t>’x</a:t>
            </a:r>
            <a:endParaRPr lang="zh-CN" altLang="en-US" i="1" dirty="0" smtClean="0">
              <a:latin typeface="Arial" pitchFamily="34" charset="0"/>
              <a:ea typeface="黑体" pitchFamily="49" charset="-122"/>
              <a:cs typeface="Arial" pitchFamily="34" charset="0"/>
            </a:endParaRPr>
          </a:p>
          <a:p>
            <a:pPr>
              <a:buNone/>
            </a:pPr>
            <a:r>
              <a:rPr lang="zh-CN" altLang="en-US" sz="2400" dirty="0" smtClean="0">
                <a:latin typeface="Arial" pitchFamily="34" charset="0"/>
                <a:ea typeface="黑体" pitchFamily="49" charset="-122"/>
                <a:cs typeface="Arial" pitchFamily="34" charset="0"/>
              </a:rPr>
              <a:t>    希望在约束条件</a:t>
            </a:r>
            <a:r>
              <a:rPr lang="en-US" altLang="zh-CN" sz="2400" dirty="0" smtClean="0">
                <a:latin typeface="Arial" pitchFamily="34" charset="0"/>
                <a:ea typeface="黑体" pitchFamily="49" charset="-122"/>
                <a:cs typeface="Arial" pitchFamily="34" charset="0"/>
              </a:rPr>
              <a:t>a</a:t>
            </a:r>
            <a:r>
              <a:rPr lang="en-US" altLang="zh-CN" sz="2400" baseline="-25000" dirty="0" smtClean="0">
                <a:latin typeface="Arial" pitchFamily="34" charset="0"/>
                <a:ea typeface="黑体" pitchFamily="49" charset="-122"/>
                <a:cs typeface="Arial" pitchFamily="34" charset="0"/>
              </a:rPr>
              <a:t>1</a:t>
            </a:r>
            <a:r>
              <a:rPr lang="en-US" altLang="zh-CN" sz="2400" dirty="0" smtClean="0">
                <a:latin typeface="Arial" pitchFamily="34" charset="0"/>
                <a:ea typeface="黑体" pitchFamily="49" charset="-122"/>
                <a:cs typeface="Arial" pitchFamily="34" charset="0"/>
              </a:rPr>
              <a:t>’a</a:t>
            </a:r>
            <a:r>
              <a:rPr lang="en-US" altLang="zh-CN" sz="2400" baseline="-25000" dirty="0" smtClean="0">
                <a:latin typeface="Arial" pitchFamily="34" charset="0"/>
                <a:ea typeface="黑体" pitchFamily="49" charset="-122"/>
                <a:cs typeface="Arial" pitchFamily="34" charset="0"/>
              </a:rPr>
              <a:t>1</a:t>
            </a:r>
            <a:r>
              <a:rPr lang="en-US" altLang="zh-CN" sz="2400" dirty="0" smtClean="0">
                <a:latin typeface="Arial" pitchFamily="34" charset="0"/>
                <a:ea typeface="黑体" pitchFamily="49" charset="-122"/>
                <a:cs typeface="Arial" pitchFamily="34" charset="0"/>
              </a:rPr>
              <a:t>=1</a:t>
            </a:r>
            <a:r>
              <a:rPr lang="zh-CN" altLang="en-US" sz="2400" dirty="0" smtClean="0">
                <a:latin typeface="Arial" pitchFamily="34" charset="0"/>
                <a:ea typeface="黑体" pitchFamily="49" charset="-122"/>
                <a:cs typeface="Arial" pitchFamily="34" charset="0"/>
              </a:rPr>
              <a:t>下寻求向量</a:t>
            </a:r>
            <a:r>
              <a:rPr lang="en-US" altLang="zh-CN" sz="2400" dirty="0" smtClean="0">
                <a:latin typeface="Arial" pitchFamily="34" charset="0"/>
                <a:ea typeface="黑体" pitchFamily="49" charset="-122"/>
                <a:cs typeface="Arial" pitchFamily="34" charset="0"/>
              </a:rPr>
              <a:t>a</a:t>
            </a:r>
            <a:r>
              <a:rPr lang="en-US" altLang="zh-CN" sz="2400" baseline="-25000" dirty="0" smtClean="0">
                <a:latin typeface="Arial" pitchFamily="34" charset="0"/>
                <a:ea typeface="黑体" pitchFamily="49" charset="-122"/>
                <a:cs typeface="Arial" pitchFamily="34" charset="0"/>
              </a:rPr>
              <a:t>1</a:t>
            </a:r>
            <a:r>
              <a:rPr lang="zh-CN" altLang="en-US" sz="2400" dirty="0" smtClean="0">
                <a:latin typeface="Arial" pitchFamily="34" charset="0"/>
                <a:ea typeface="黑体" pitchFamily="49" charset="-122"/>
                <a:cs typeface="Arial" pitchFamily="34" charset="0"/>
              </a:rPr>
              <a:t>，使得</a:t>
            </a:r>
            <a:r>
              <a:rPr lang="en-US" altLang="zh-CN" sz="2400" dirty="0" smtClean="0">
                <a:latin typeface="Arial" pitchFamily="34" charset="0"/>
                <a:ea typeface="黑体" pitchFamily="49" charset="-122"/>
                <a:cs typeface="Arial" pitchFamily="34" charset="0"/>
              </a:rPr>
              <a:t>V(y</a:t>
            </a:r>
            <a:r>
              <a:rPr lang="en-US" altLang="zh-CN" sz="2400" baseline="-25000" dirty="0" smtClean="0">
                <a:latin typeface="Arial" pitchFamily="34" charset="0"/>
                <a:ea typeface="黑体" pitchFamily="49" charset="-122"/>
                <a:cs typeface="Arial" pitchFamily="34" charset="0"/>
              </a:rPr>
              <a:t>1</a:t>
            </a:r>
            <a:r>
              <a:rPr lang="en-US" altLang="zh-CN" sz="2400" dirty="0" smtClean="0">
                <a:latin typeface="Arial" pitchFamily="34" charset="0"/>
                <a:ea typeface="黑体" pitchFamily="49" charset="-122"/>
                <a:cs typeface="Arial" pitchFamily="34" charset="0"/>
              </a:rPr>
              <a:t>) = a</a:t>
            </a:r>
            <a:r>
              <a:rPr lang="en-US" altLang="zh-CN" sz="2400" baseline="-25000" dirty="0" smtClean="0">
                <a:latin typeface="Arial" pitchFamily="34" charset="0"/>
                <a:ea typeface="黑体" pitchFamily="49" charset="-122"/>
                <a:cs typeface="Arial" pitchFamily="34" charset="0"/>
              </a:rPr>
              <a:t>1</a:t>
            </a:r>
            <a:r>
              <a:rPr lang="en-US" altLang="zh-CN" sz="2400" dirty="0" smtClean="0">
                <a:latin typeface="Arial" pitchFamily="34" charset="0"/>
                <a:ea typeface="黑体" pitchFamily="49" charset="-122"/>
                <a:cs typeface="Arial" pitchFamily="34" charset="0"/>
              </a:rPr>
              <a:t>’</a:t>
            </a:r>
            <a:r>
              <a:rPr lang="el-GR" altLang="zh-CN" sz="2400" dirty="0" smtClean="0">
                <a:latin typeface="Arial" pitchFamily="34" charset="0"/>
                <a:ea typeface="黑体" pitchFamily="49" charset="-122"/>
                <a:cs typeface="Arial" pitchFamily="34" charset="0"/>
              </a:rPr>
              <a:t>Σ</a:t>
            </a:r>
            <a:r>
              <a:rPr lang="en-US" altLang="zh-CN" sz="2400" dirty="0" smtClean="0">
                <a:latin typeface="Arial" pitchFamily="34" charset="0"/>
                <a:ea typeface="黑体" pitchFamily="49" charset="-122"/>
                <a:cs typeface="Arial" pitchFamily="34" charset="0"/>
              </a:rPr>
              <a:t>a</a:t>
            </a:r>
            <a:r>
              <a:rPr lang="en-US" altLang="zh-CN" sz="2400" baseline="-25000" dirty="0" smtClean="0">
                <a:latin typeface="Arial" pitchFamily="34" charset="0"/>
                <a:ea typeface="黑体" pitchFamily="49" charset="-122"/>
                <a:cs typeface="Arial" pitchFamily="34" charset="0"/>
              </a:rPr>
              <a:t>1</a:t>
            </a:r>
            <a:r>
              <a:rPr lang="zh-CN" altLang="en-US" sz="2400" dirty="0" smtClean="0">
                <a:latin typeface="Arial" pitchFamily="34" charset="0"/>
                <a:ea typeface="黑体" pitchFamily="49" charset="-122"/>
                <a:cs typeface="Arial" pitchFamily="34" charset="0"/>
              </a:rPr>
              <a:t>达到最大，</a:t>
            </a:r>
            <a:r>
              <a:rPr lang="en-US" altLang="zh-CN" sz="2400" dirty="0" smtClean="0">
                <a:latin typeface="Arial" pitchFamily="34" charset="0"/>
                <a:ea typeface="黑体" pitchFamily="49" charset="-122"/>
                <a:cs typeface="Arial" pitchFamily="34" charset="0"/>
              </a:rPr>
              <a:t>y</a:t>
            </a:r>
            <a:r>
              <a:rPr lang="en-US" altLang="zh-CN" sz="2400" baseline="-25000" dirty="0" smtClean="0">
                <a:latin typeface="Arial" pitchFamily="34" charset="0"/>
                <a:ea typeface="黑体" pitchFamily="49" charset="-122"/>
                <a:cs typeface="Arial" pitchFamily="34" charset="0"/>
              </a:rPr>
              <a:t>1</a:t>
            </a:r>
            <a:r>
              <a:rPr lang="zh-CN" altLang="en-US" sz="2400" dirty="0" smtClean="0">
                <a:latin typeface="Arial" pitchFamily="34" charset="0"/>
                <a:ea typeface="黑体" pitchFamily="49" charset="-122"/>
                <a:cs typeface="Arial" pitchFamily="34" charset="0"/>
              </a:rPr>
              <a:t>就称为</a:t>
            </a:r>
            <a:r>
              <a:rPr lang="zh-CN" altLang="en-US" sz="2400" dirty="0" smtClean="0">
                <a:solidFill>
                  <a:srgbClr val="FF0000"/>
                </a:solidFill>
                <a:latin typeface="Arial" pitchFamily="34" charset="0"/>
                <a:ea typeface="黑体" pitchFamily="49" charset="-122"/>
                <a:cs typeface="Arial" pitchFamily="34" charset="0"/>
              </a:rPr>
              <a:t>第一主成分</a:t>
            </a:r>
            <a:r>
              <a:rPr lang="zh-CN" altLang="en-US" sz="2400" dirty="0" smtClean="0">
                <a:latin typeface="Arial" pitchFamily="34" charset="0"/>
                <a:ea typeface="黑体" pitchFamily="49" charset="-122"/>
                <a:cs typeface="Arial" pitchFamily="34" charset="0"/>
              </a:rPr>
              <a:t>；</a:t>
            </a:r>
          </a:p>
          <a:p>
            <a:r>
              <a:rPr lang="zh-CN" altLang="en-US" sz="2400" dirty="0" smtClean="0">
                <a:latin typeface="Arial" pitchFamily="34" charset="0"/>
                <a:ea typeface="黑体" pitchFamily="49" charset="-122"/>
                <a:cs typeface="Arial" pitchFamily="34" charset="0"/>
              </a:rPr>
              <a:t>设</a:t>
            </a:r>
            <a:r>
              <a:rPr lang="en-US" altLang="zh-CN" sz="2400" dirty="0" smtClean="0">
                <a:latin typeface="Arial" pitchFamily="34" charset="0"/>
                <a:ea typeface="黑体" pitchFamily="49" charset="-122"/>
                <a:cs typeface="Arial" pitchFamily="34" charset="0"/>
              </a:rPr>
              <a:t>λ</a:t>
            </a:r>
            <a:r>
              <a:rPr lang="en-US" altLang="zh-CN" sz="2400" baseline="-25000" dirty="0" smtClean="0">
                <a:latin typeface="Arial" pitchFamily="34" charset="0"/>
                <a:ea typeface="黑体" pitchFamily="49" charset="-122"/>
                <a:cs typeface="Arial" pitchFamily="34" charset="0"/>
              </a:rPr>
              <a:t>1</a:t>
            </a:r>
            <a:r>
              <a:rPr lang="zh-CN" altLang="en-US" sz="2400" dirty="0" smtClean="0">
                <a:latin typeface="Arial" pitchFamily="34" charset="0"/>
                <a:ea typeface="黑体" pitchFamily="49" charset="-122"/>
                <a:cs typeface="Arial" pitchFamily="34" charset="0"/>
              </a:rPr>
              <a:t>≥ </a:t>
            </a:r>
            <a:r>
              <a:rPr lang="en-US" altLang="zh-CN" sz="2400" dirty="0" smtClean="0">
                <a:latin typeface="Arial" pitchFamily="34" charset="0"/>
                <a:ea typeface="黑体" pitchFamily="49" charset="-122"/>
                <a:cs typeface="Arial" pitchFamily="34" charset="0"/>
              </a:rPr>
              <a:t>λ</a:t>
            </a:r>
            <a:r>
              <a:rPr lang="en-US" altLang="zh-CN" sz="2400" baseline="-25000" dirty="0" smtClean="0">
                <a:latin typeface="Arial" pitchFamily="34" charset="0"/>
                <a:ea typeface="黑体" pitchFamily="49" charset="-122"/>
                <a:cs typeface="Arial" pitchFamily="34" charset="0"/>
              </a:rPr>
              <a:t>2</a:t>
            </a:r>
            <a:r>
              <a:rPr lang="zh-CN" altLang="en-US" sz="2400" dirty="0" smtClean="0">
                <a:latin typeface="Arial" pitchFamily="34" charset="0"/>
                <a:ea typeface="黑体" pitchFamily="49" charset="-122"/>
                <a:cs typeface="Arial" pitchFamily="34" charset="0"/>
              </a:rPr>
              <a:t>≥⋯≥</a:t>
            </a:r>
            <a:r>
              <a:rPr lang="en-US" altLang="zh-CN" sz="2400" dirty="0" err="1" smtClean="0">
                <a:latin typeface="Arial" pitchFamily="34" charset="0"/>
                <a:ea typeface="黑体" pitchFamily="49" charset="-122"/>
                <a:cs typeface="Arial" pitchFamily="34" charset="0"/>
              </a:rPr>
              <a:t>λ</a:t>
            </a:r>
            <a:r>
              <a:rPr lang="en-US" altLang="zh-CN" sz="2400" baseline="-25000" dirty="0" err="1" smtClean="0">
                <a:latin typeface="Arial" pitchFamily="34" charset="0"/>
                <a:ea typeface="黑体" pitchFamily="49" charset="-122"/>
                <a:cs typeface="Arial" pitchFamily="34" charset="0"/>
              </a:rPr>
              <a:t>p</a:t>
            </a:r>
            <a:r>
              <a:rPr lang="zh-CN" altLang="en-US" sz="2400" dirty="0" smtClean="0">
                <a:latin typeface="Arial" pitchFamily="34" charset="0"/>
                <a:ea typeface="黑体" pitchFamily="49" charset="-122"/>
                <a:cs typeface="Arial" pitchFamily="34" charset="0"/>
              </a:rPr>
              <a:t>≥</a:t>
            </a:r>
            <a:r>
              <a:rPr lang="en-US" altLang="zh-CN" sz="2400" dirty="0" smtClean="0">
                <a:latin typeface="Arial" pitchFamily="34" charset="0"/>
                <a:ea typeface="黑体" pitchFamily="49" charset="-122"/>
                <a:cs typeface="Arial" pitchFamily="34" charset="0"/>
              </a:rPr>
              <a:t>0</a:t>
            </a:r>
            <a:r>
              <a:rPr lang="zh-CN" altLang="en-US" sz="2400" dirty="0" smtClean="0">
                <a:latin typeface="Arial" pitchFamily="34" charset="0"/>
                <a:ea typeface="黑体" pitchFamily="49" charset="-122"/>
                <a:cs typeface="Arial" pitchFamily="34" charset="0"/>
              </a:rPr>
              <a:t>为</a:t>
            </a:r>
            <a:r>
              <a:rPr lang="en-US" altLang="zh-CN" sz="2400" dirty="0" smtClean="0">
                <a:latin typeface="Arial" pitchFamily="34" charset="0"/>
                <a:ea typeface="黑体" pitchFamily="49" charset="-122"/>
                <a:cs typeface="Arial" pitchFamily="34" charset="0"/>
              </a:rPr>
              <a:t>Σ</a:t>
            </a:r>
            <a:r>
              <a:rPr lang="zh-CN" altLang="en-US" sz="2400" dirty="0" smtClean="0">
                <a:latin typeface="Arial" pitchFamily="34" charset="0"/>
                <a:ea typeface="黑体" pitchFamily="49" charset="-122"/>
                <a:cs typeface="Arial" pitchFamily="34" charset="0"/>
              </a:rPr>
              <a:t>的特征值，</a:t>
            </a:r>
            <a:r>
              <a:rPr lang="en-US" altLang="zh-CN" sz="2400" dirty="0" err="1" smtClean="0">
                <a:latin typeface="Arial" pitchFamily="34" charset="0"/>
                <a:ea typeface="黑体" pitchFamily="49" charset="-122"/>
                <a:cs typeface="Arial" pitchFamily="34" charset="0"/>
              </a:rPr>
              <a:t>t</a:t>
            </a:r>
            <a:r>
              <a:rPr lang="en-US" altLang="zh-CN" sz="2400" baseline="-25000" dirty="0" err="1" smtClean="0">
                <a:latin typeface="Arial" pitchFamily="34" charset="0"/>
                <a:ea typeface="黑体" pitchFamily="49" charset="-122"/>
                <a:cs typeface="Arial" pitchFamily="34" charset="0"/>
              </a:rPr>
              <a:t>i</a:t>
            </a:r>
            <a:r>
              <a:rPr lang="en-US" altLang="zh-CN" sz="2400" dirty="0" smtClean="0">
                <a:latin typeface="Arial" pitchFamily="34" charset="0"/>
                <a:ea typeface="黑体" pitchFamily="49" charset="-122"/>
                <a:cs typeface="Arial" pitchFamily="34" charset="0"/>
              </a:rPr>
              <a:t> = (t</a:t>
            </a:r>
            <a:r>
              <a:rPr lang="en-US" altLang="zh-CN" sz="2400" baseline="-25000" dirty="0" smtClean="0">
                <a:latin typeface="Arial" pitchFamily="34" charset="0"/>
                <a:ea typeface="黑体" pitchFamily="49" charset="-122"/>
                <a:cs typeface="Arial" pitchFamily="34" charset="0"/>
              </a:rPr>
              <a:t>1i</a:t>
            </a:r>
            <a:r>
              <a:rPr lang="en-US" altLang="zh-CN" sz="2400" dirty="0" smtClean="0">
                <a:latin typeface="Arial" pitchFamily="34" charset="0"/>
                <a:ea typeface="黑体" pitchFamily="49" charset="-122"/>
                <a:cs typeface="Arial" pitchFamily="34" charset="0"/>
              </a:rPr>
              <a:t>, t</a:t>
            </a:r>
            <a:r>
              <a:rPr lang="en-US" altLang="zh-CN" sz="2400" baseline="-25000" dirty="0" smtClean="0">
                <a:latin typeface="Arial" pitchFamily="34" charset="0"/>
                <a:ea typeface="黑体" pitchFamily="49" charset="-122"/>
                <a:cs typeface="Arial" pitchFamily="34" charset="0"/>
              </a:rPr>
              <a:t>2i</a:t>
            </a:r>
            <a:r>
              <a:rPr lang="en-US" altLang="zh-CN" sz="2400" dirty="0" smtClean="0">
                <a:latin typeface="Arial" pitchFamily="34" charset="0"/>
                <a:ea typeface="黑体" pitchFamily="49" charset="-122"/>
                <a:cs typeface="Arial" pitchFamily="34" charset="0"/>
              </a:rPr>
              <a:t>, …, </a:t>
            </a:r>
            <a:r>
              <a:rPr lang="en-US" altLang="zh-CN" sz="2400" dirty="0" err="1" smtClean="0">
                <a:latin typeface="Arial" pitchFamily="34" charset="0"/>
                <a:ea typeface="黑体" pitchFamily="49" charset="-122"/>
                <a:cs typeface="Arial" pitchFamily="34" charset="0"/>
              </a:rPr>
              <a:t>t</a:t>
            </a:r>
            <a:r>
              <a:rPr lang="en-US" altLang="zh-CN" sz="2400" baseline="-25000" dirty="0" err="1" smtClean="0">
                <a:latin typeface="Arial" pitchFamily="34" charset="0"/>
                <a:ea typeface="黑体" pitchFamily="49" charset="-122"/>
                <a:cs typeface="Arial" pitchFamily="34" charset="0"/>
              </a:rPr>
              <a:t>pi</a:t>
            </a:r>
            <a:r>
              <a:rPr lang="en-US" altLang="zh-CN" sz="2400" dirty="0" smtClean="0">
                <a:latin typeface="Arial" pitchFamily="34" charset="0"/>
                <a:ea typeface="黑体" pitchFamily="49" charset="-122"/>
                <a:cs typeface="Arial" pitchFamily="34" charset="0"/>
              </a:rPr>
              <a:t>)’</a:t>
            </a:r>
            <a:r>
              <a:rPr lang="zh-CN" altLang="en-US" sz="2400" dirty="0" smtClean="0">
                <a:latin typeface="Arial" pitchFamily="34" charset="0"/>
                <a:ea typeface="黑体" pitchFamily="49" charset="-122"/>
                <a:cs typeface="Arial" pitchFamily="34" charset="0"/>
              </a:rPr>
              <a:t>，</a:t>
            </a:r>
            <a:r>
              <a:rPr lang="en-US" altLang="zh-CN" sz="2400" dirty="0" err="1" smtClean="0">
                <a:latin typeface="Arial" pitchFamily="34" charset="0"/>
                <a:ea typeface="黑体" pitchFamily="49" charset="-122"/>
                <a:cs typeface="Arial" pitchFamily="34" charset="0"/>
              </a:rPr>
              <a:t>i</a:t>
            </a:r>
            <a:r>
              <a:rPr lang="en-US" altLang="zh-CN" sz="2400" dirty="0" smtClean="0">
                <a:latin typeface="Arial" pitchFamily="34" charset="0"/>
                <a:ea typeface="黑体" pitchFamily="49" charset="-122"/>
                <a:cs typeface="Arial" pitchFamily="34" charset="0"/>
              </a:rPr>
              <a:t>=1,2,</a:t>
            </a:r>
            <a:r>
              <a:rPr lang="zh-CN" altLang="en-US" sz="2400" dirty="0" smtClean="0">
                <a:latin typeface="Arial" pitchFamily="34" charset="0"/>
                <a:ea typeface="黑体" pitchFamily="49" charset="-122"/>
                <a:cs typeface="Arial" pitchFamily="34" charset="0"/>
              </a:rPr>
              <a:t>⋯</a:t>
            </a:r>
            <a:r>
              <a:rPr lang="en-US" altLang="zh-CN" sz="2400" dirty="0" smtClean="0">
                <a:latin typeface="Arial" pitchFamily="34" charset="0"/>
                <a:ea typeface="黑体" pitchFamily="49" charset="-122"/>
                <a:cs typeface="Arial" pitchFamily="34" charset="0"/>
              </a:rPr>
              <a:t>,p</a:t>
            </a:r>
            <a:r>
              <a:rPr lang="zh-CN" altLang="en-US" sz="2400" dirty="0" smtClean="0">
                <a:latin typeface="Arial" pitchFamily="34" charset="0"/>
                <a:ea typeface="黑体" pitchFamily="49" charset="-122"/>
                <a:cs typeface="Arial" pitchFamily="34" charset="0"/>
              </a:rPr>
              <a:t>为相应的单位特征向量，且相互正交。则可求得第一主成分为 </a:t>
            </a:r>
            <a:endParaRPr lang="en-US" altLang="zh-CN" sz="2400" dirty="0" smtClean="0">
              <a:latin typeface="Arial" pitchFamily="34" charset="0"/>
              <a:ea typeface="黑体" pitchFamily="49" charset="-122"/>
              <a:cs typeface="Arial" pitchFamily="34" charset="0"/>
            </a:endParaRPr>
          </a:p>
          <a:p>
            <a:pPr lvl="1">
              <a:buNone/>
            </a:pPr>
            <a:r>
              <a:rPr lang="en-US" altLang="zh-CN" sz="2400" dirty="0" smtClean="0">
                <a:latin typeface="Arial" pitchFamily="34" charset="0"/>
                <a:ea typeface="黑体" pitchFamily="49" charset="-122"/>
                <a:cs typeface="Arial" pitchFamily="34" charset="0"/>
              </a:rPr>
              <a:t>			</a:t>
            </a:r>
            <a:r>
              <a:rPr lang="en-US" altLang="zh-CN" sz="2400" i="1" dirty="0" smtClean="0">
                <a:solidFill>
                  <a:srgbClr val="0000CC"/>
                </a:solidFill>
                <a:latin typeface="Arial" pitchFamily="34" charset="0"/>
                <a:ea typeface="黑体" pitchFamily="49" charset="-122"/>
                <a:cs typeface="Arial" pitchFamily="34" charset="0"/>
              </a:rPr>
              <a:t>y</a:t>
            </a:r>
            <a:r>
              <a:rPr lang="en-US" altLang="zh-CN" sz="2400" i="1" baseline="-25000" dirty="0" smtClean="0">
                <a:solidFill>
                  <a:srgbClr val="0000CC"/>
                </a:solidFill>
                <a:latin typeface="Arial" pitchFamily="34" charset="0"/>
                <a:ea typeface="黑体" pitchFamily="49" charset="-122"/>
                <a:cs typeface="Arial" pitchFamily="34" charset="0"/>
              </a:rPr>
              <a:t>1</a:t>
            </a:r>
            <a:r>
              <a:rPr lang="en-US" altLang="zh-CN" sz="2400" i="1" dirty="0" smtClean="0">
                <a:solidFill>
                  <a:srgbClr val="0000CC"/>
                </a:solidFill>
                <a:latin typeface="Arial" pitchFamily="34" charset="0"/>
                <a:ea typeface="黑体" pitchFamily="49" charset="-122"/>
                <a:cs typeface="Arial" pitchFamily="34" charset="0"/>
              </a:rPr>
              <a:t>=t</a:t>
            </a:r>
            <a:r>
              <a:rPr lang="en-US" altLang="zh-CN" sz="2400" i="1" baseline="-25000" dirty="0" smtClean="0">
                <a:solidFill>
                  <a:srgbClr val="0000CC"/>
                </a:solidFill>
                <a:latin typeface="Arial" pitchFamily="34" charset="0"/>
                <a:ea typeface="黑体" pitchFamily="49" charset="-122"/>
                <a:cs typeface="Arial" pitchFamily="34" charset="0"/>
              </a:rPr>
              <a:t>11</a:t>
            </a:r>
            <a:r>
              <a:rPr lang="en-US" altLang="zh-CN" sz="2400" i="1" dirty="0" smtClean="0">
                <a:solidFill>
                  <a:srgbClr val="0000CC"/>
                </a:solidFill>
                <a:latin typeface="Arial" pitchFamily="34" charset="0"/>
                <a:ea typeface="黑体" pitchFamily="49" charset="-122"/>
                <a:cs typeface="Arial" pitchFamily="34" charset="0"/>
              </a:rPr>
              <a:t>x</a:t>
            </a:r>
            <a:r>
              <a:rPr lang="en-US" altLang="zh-CN" sz="2400" i="1" baseline="-25000" dirty="0" smtClean="0">
                <a:solidFill>
                  <a:srgbClr val="0000CC"/>
                </a:solidFill>
                <a:latin typeface="Arial" pitchFamily="34" charset="0"/>
                <a:ea typeface="黑体" pitchFamily="49" charset="-122"/>
                <a:cs typeface="Arial" pitchFamily="34" charset="0"/>
              </a:rPr>
              <a:t>1</a:t>
            </a:r>
            <a:r>
              <a:rPr lang="en-US" altLang="zh-CN" sz="2400" i="1" dirty="0" smtClean="0">
                <a:solidFill>
                  <a:srgbClr val="0000CC"/>
                </a:solidFill>
                <a:latin typeface="Arial" pitchFamily="34" charset="0"/>
                <a:ea typeface="黑体" pitchFamily="49" charset="-122"/>
                <a:cs typeface="Arial" pitchFamily="34" charset="0"/>
              </a:rPr>
              <a:t> + t</a:t>
            </a:r>
            <a:r>
              <a:rPr lang="en-US" altLang="zh-CN" sz="2400" i="1" baseline="-25000" dirty="0" smtClean="0">
                <a:solidFill>
                  <a:srgbClr val="0000CC"/>
                </a:solidFill>
                <a:latin typeface="Arial" pitchFamily="34" charset="0"/>
                <a:ea typeface="黑体" pitchFamily="49" charset="-122"/>
                <a:cs typeface="Arial" pitchFamily="34" charset="0"/>
              </a:rPr>
              <a:t>21</a:t>
            </a:r>
            <a:r>
              <a:rPr lang="en-US" altLang="zh-CN" sz="2400" i="1" dirty="0" smtClean="0">
                <a:solidFill>
                  <a:srgbClr val="0000CC"/>
                </a:solidFill>
                <a:latin typeface="Arial" pitchFamily="34" charset="0"/>
                <a:ea typeface="黑体" pitchFamily="49" charset="-122"/>
                <a:cs typeface="Arial" pitchFamily="34" charset="0"/>
              </a:rPr>
              <a:t>x</a:t>
            </a:r>
            <a:r>
              <a:rPr lang="en-US" altLang="zh-CN" sz="2400" i="1" baseline="-25000" dirty="0" smtClean="0">
                <a:solidFill>
                  <a:srgbClr val="0000CC"/>
                </a:solidFill>
                <a:latin typeface="Arial" pitchFamily="34" charset="0"/>
                <a:ea typeface="黑体" pitchFamily="49" charset="-122"/>
                <a:cs typeface="Arial" pitchFamily="34" charset="0"/>
              </a:rPr>
              <a:t>2</a:t>
            </a:r>
            <a:r>
              <a:rPr lang="en-US" altLang="zh-CN" sz="2400" i="1" dirty="0" smtClean="0">
                <a:solidFill>
                  <a:srgbClr val="0000CC"/>
                </a:solidFill>
                <a:latin typeface="Arial" pitchFamily="34" charset="0"/>
                <a:ea typeface="黑体" pitchFamily="49" charset="-122"/>
                <a:cs typeface="Arial" pitchFamily="34" charset="0"/>
              </a:rPr>
              <a:t> + … + t</a:t>
            </a:r>
            <a:r>
              <a:rPr lang="en-US" altLang="zh-CN" sz="2400" i="1" baseline="-25000" dirty="0" smtClean="0">
                <a:solidFill>
                  <a:srgbClr val="0000CC"/>
                </a:solidFill>
                <a:latin typeface="Arial" pitchFamily="34" charset="0"/>
                <a:ea typeface="黑体" pitchFamily="49" charset="-122"/>
                <a:cs typeface="Arial" pitchFamily="34" charset="0"/>
              </a:rPr>
              <a:t>p1</a:t>
            </a:r>
            <a:r>
              <a:rPr lang="en-US" altLang="zh-CN" sz="2400" i="1" dirty="0" smtClean="0">
                <a:solidFill>
                  <a:srgbClr val="0000CC"/>
                </a:solidFill>
                <a:latin typeface="Arial" pitchFamily="34" charset="0"/>
                <a:ea typeface="黑体" pitchFamily="49" charset="-122"/>
                <a:cs typeface="Arial" pitchFamily="34" charset="0"/>
              </a:rPr>
              <a:t>x</a:t>
            </a:r>
            <a:r>
              <a:rPr lang="en-US" altLang="zh-CN" sz="2400" i="1" baseline="-25000" dirty="0" smtClean="0">
                <a:solidFill>
                  <a:srgbClr val="0000CC"/>
                </a:solidFill>
                <a:latin typeface="Arial" pitchFamily="34" charset="0"/>
                <a:ea typeface="黑体" pitchFamily="49" charset="-122"/>
                <a:cs typeface="Arial" pitchFamily="34" charset="0"/>
              </a:rPr>
              <a:t>p</a:t>
            </a:r>
            <a:r>
              <a:rPr lang="en-US" altLang="zh-CN" sz="2400" i="1" dirty="0" smtClean="0">
                <a:solidFill>
                  <a:srgbClr val="0000CC"/>
                </a:solidFill>
                <a:latin typeface="Arial" pitchFamily="34" charset="0"/>
                <a:ea typeface="黑体" pitchFamily="49" charset="-122"/>
                <a:cs typeface="Arial" pitchFamily="34" charset="0"/>
              </a:rPr>
              <a:t> = t</a:t>
            </a:r>
            <a:r>
              <a:rPr lang="en-US" altLang="zh-CN" sz="2400" i="1" baseline="-25000" dirty="0" smtClean="0">
                <a:solidFill>
                  <a:srgbClr val="0000CC"/>
                </a:solidFill>
                <a:latin typeface="Arial" pitchFamily="34" charset="0"/>
                <a:ea typeface="黑体" pitchFamily="49" charset="-122"/>
                <a:cs typeface="Arial" pitchFamily="34" charset="0"/>
              </a:rPr>
              <a:t>1</a:t>
            </a:r>
            <a:r>
              <a:rPr lang="en-US" altLang="zh-CN" sz="2400" i="1" dirty="0" smtClean="0">
                <a:solidFill>
                  <a:srgbClr val="0000CC"/>
                </a:solidFill>
                <a:latin typeface="Arial" pitchFamily="34" charset="0"/>
                <a:ea typeface="黑体" pitchFamily="49" charset="-122"/>
                <a:cs typeface="Arial" pitchFamily="34" charset="0"/>
              </a:rPr>
              <a:t>’x</a:t>
            </a:r>
            <a:endParaRPr lang="zh-CN" altLang="en-US" sz="2400" i="1" dirty="0" smtClean="0">
              <a:solidFill>
                <a:srgbClr val="0000CC"/>
              </a:solidFill>
              <a:latin typeface="Arial" pitchFamily="34" charset="0"/>
              <a:ea typeface="黑体" pitchFamily="49" charset="-122"/>
              <a:cs typeface="Arial" pitchFamily="34" charset="0"/>
            </a:endParaRPr>
          </a:p>
          <a:p>
            <a:pPr>
              <a:buNone/>
            </a:pPr>
            <a:r>
              <a:rPr lang="zh-CN" altLang="en-US" sz="2400" dirty="0" smtClean="0">
                <a:latin typeface="Arial" pitchFamily="34" charset="0"/>
                <a:ea typeface="黑体" pitchFamily="49" charset="-122"/>
                <a:cs typeface="Arial" pitchFamily="34" charset="0"/>
              </a:rPr>
              <a:t>      它的方差具有最大值</a:t>
            </a:r>
            <a:r>
              <a:rPr lang="el-GR" altLang="zh-CN" sz="2400" i="1" dirty="0" smtClean="0">
                <a:latin typeface="Arial" pitchFamily="34" charset="0"/>
                <a:ea typeface="黑体" pitchFamily="49" charset="-122"/>
                <a:cs typeface="Arial" pitchFamily="34" charset="0"/>
              </a:rPr>
              <a:t>λ</a:t>
            </a:r>
            <a:r>
              <a:rPr lang="el-GR" altLang="zh-CN" sz="2400" i="1" baseline="-25000" dirty="0" smtClean="0">
                <a:latin typeface="Arial" pitchFamily="34" charset="0"/>
                <a:ea typeface="黑体" pitchFamily="49" charset="-122"/>
                <a:cs typeface="Arial" pitchFamily="34" charset="0"/>
              </a:rPr>
              <a:t>1</a:t>
            </a:r>
            <a:endParaRPr lang="en-US" altLang="zh-CN" sz="2400" i="1" dirty="0" smtClean="0">
              <a:latin typeface="Arial" pitchFamily="34" charset="0"/>
              <a:ea typeface="黑体" pitchFamily="49" charset="-122"/>
              <a:cs typeface="Arial" pitchFamily="34" charset="0"/>
            </a:endParaRPr>
          </a:p>
          <a:p>
            <a:r>
              <a:rPr lang="zh-CN" altLang="en-US" sz="2400" dirty="0">
                <a:latin typeface="Arial" pitchFamily="34" charset="0"/>
                <a:ea typeface="黑体" pitchFamily="49" charset="-122"/>
                <a:cs typeface="Arial" pitchFamily="34" charset="0"/>
              </a:rPr>
              <a:t>如果第一主成分所含信息不够多</a:t>
            </a:r>
            <a:r>
              <a:rPr lang="zh-CN" altLang="en-US" sz="2400" dirty="0" smtClean="0">
                <a:latin typeface="Arial" pitchFamily="34" charset="0"/>
                <a:ea typeface="黑体" pitchFamily="49" charset="-122"/>
                <a:cs typeface="Arial" pitchFamily="34" charset="0"/>
              </a:rPr>
              <a:t>，则</a:t>
            </a:r>
            <a:r>
              <a:rPr lang="zh-CN" altLang="en-US" sz="2400" dirty="0">
                <a:latin typeface="Arial" pitchFamily="34" charset="0"/>
                <a:ea typeface="黑体" pitchFamily="49" charset="-122"/>
                <a:cs typeface="Arial" pitchFamily="34" charset="0"/>
              </a:rPr>
              <a:t>需考虑再使用一个综合变量 ，为使</a:t>
            </a:r>
            <a:r>
              <a:rPr lang="en-US" altLang="zh-CN" sz="2400" i="1" dirty="0">
                <a:latin typeface="Arial" pitchFamily="34" charset="0"/>
                <a:ea typeface="黑体" pitchFamily="49" charset="-122"/>
                <a:cs typeface="Arial" pitchFamily="34" charset="0"/>
              </a:rPr>
              <a:t>y</a:t>
            </a:r>
            <a:r>
              <a:rPr lang="en-US" altLang="zh-CN" sz="2400" i="1" baseline="-25000" dirty="0">
                <a:latin typeface="Arial" pitchFamily="34" charset="0"/>
                <a:ea typeface="黑体" pitchFamily="49" charset="-122"/>
                <a:cs typeface="Arial" pitchFamily="34" charset="0"/>
              </a:rPr>
              <a:t>2</a:t>
            </a:r>
            <a:r>
              <a:rPr lang="zh-CN" altLang="en-US" sz="2400" dirty="0">
                <a:latin typeface="Arial" pitchFamily="34" charset="0"/>
                <a:ea typeface="黑体" pitchFamily="49" charset="-122"/>
                <a:cs typeface="Arial" pitchFamily="34" charset="0"/>
              </a:rPr>
              <a:t>所含的信息与</a:t>
            </a:r>
            <a:r>
              <a:rPr lang="en-US" altLang="zh-CN" sz="2400" i="1" dirty="0">
                <a:latin typeface="Arial" pitchFamily="34" charset="0"/>
                <a:ea typeface="黑体" pitchFamily="49" charset="-122"/>
                <a:cs typeface="Arial" pitchFamily="34" charset="0"/>
              </a:rPr>
              <a:t>y</a:t>
            </a:r>
            <a:r>
              <a:rPr lang="en-US" altLang="zh-CN" sz="2400" i="1" baseline="-25000" dirty="0">
                <a:latin typeface="Arial" pitchFamily="34" charset="0"/>
                <a:ea typeface="黑体" pitchFamily="49" charset="-122"/>
                <a:cs typeface="Arial" pitchFamily="34" charset="0"/>
              </a:rPr>
              <a:t>1</a:t>
            </a:r>
            <a:r>
              <a:rPr lang="zh-CN" altLang="en-US" sz="2400" dirty="0">
                <a:latin typeface="Arial" pitchFamily="34" charset="0"/>
                <a:ea typeface="黑体" pitchFamily="49" charset="-122"/>
                <a:cs typeface="Arial" pitchFamily="34" charset="0"/>
              </a:rPr>
              <a:t>不</a:t>
            </a:r>
            <a:r>
              <a:rPr lang="zh-CN" altLang="en-US" sz="2400" dirty="0" smtClean="0">
                <a:latin typeface="Arial" pitchFamily="34" charset="0"/>
                <a:ea typeface="黑体" pitchFamily="49" charset="-122"/>
                <a:cs typeface="Arial" pitchFamily="34" charset="0"/>
              </a:rPr>
              <a:t>重叠，</a:t>
            </a:r>
            <a:r>
              <a:rPr lang="zh-CN" altLang="en-US" sz="2400" dirty="0">
                <a:latin typeface="Arial" pitchFamily="34" charset="0"/>
                <a:ea typeface="黑体" pitchFamily="49" charset="-122"/>
                <a:cs typeface="Arial" pitchFamily="34" charset="0"/>
              </a:rPr>
              <a:t>所求的</a:t>
            </a:r>
            <a:r>
              <a:rPr lang="en-US" altLang="zh-CN" sz="2400" dirty="0">
                <a:latin typeface="Arial" pitchFamily="34" charset="0"/>
                <a:ea typeface="黑体" pitchFamily="49" charset="-122"/>
                <a:cs typeface="Arial" pitchFamily="34" charset="0"/>
              </a:rPr>
              <a:t>y</a:t>
            </a:r>
            <a:r>
              <a:rPr lang="en-US" altLang="zh-CN" sz="2400" baseline="-25000" dirty="0">
                <a:latin typeface="Arial" pitchFamily="34" charset="0"/>
                <a:ea typeface="黑体" pitchFamily="49" charset="-122"/>
                <a:cs typeface="Arial" pitchFamily="34" charset="0"/>
              </a:rPr>
              <a:t>2</a:t>
            </a:r>
            <a:r>
              <a:rPr lang="zh-CN" altLang="en-US" sz="2400" dirty="0">
                <a:latin typeface="Arial" pitchFamily="34" charset="0"/>
                <a:ea typeface="黑体" pitchFamily="49" charset="-122"/>
                <a:cs typeface="Arial" pitchFamily="34" charset="0"/>
              </a:rPr>
              <a:t>称为</a:t>
            </a:r>
            <a:r>
              <a:rPr lang="zh-CN" altLang="en-US" sz="2400" dirty="0">
                <a:solidFill>
                  <a:srgbClr val="FF0000"/>
                </a:solidFill>
                <a:latin typeface="Arial" pitchFamily="34" charset="0"/>
                <a:ea typeface="黑体" pitchFamily="49" charset="-122"/>
                <a:cs typeface="Arial" pitchFamily="34" charset="0"/>
              </a:rPr>
              <a:t>第二</a:t>
            </a:r>
            <a:r>
              <a:rPr lang="zh-CN" altLang="en-US" sz="2400" dirty="0" smtClean="0">
                <a:solidFill>
                  <a:srgbClr val="FF0000"/>
                </a:solidFill>
                <a:latin typeface="Arial" pitchFamily="34" charset="0"/>
                <a:ea typeface="黑体" pitchFamily="49" charset="-122"/>
                <a:cs typeface="Arial" pitchFamily="34" charset="0"/>
              </a:rPr>
              <a:t>主成分</a:t>
            </a:r>
            <a:endParaRPr lang="en-US" altLang="zh-CN" sz="2400" dirty="0" smtClean="0">
              <a:solidFill>
                <a:srgbClr val="FF0000"/>
              </a:solidFill>
              <a:latin typeface="Arial" pitchFamily="34" charset="0"/>
              <a:ea typeface="黑体" pitchFamily="49" charset="-122"/>
              <a:cs typeface="Arial" pitchFamily="34" charset="0"/>
            </a:endParaRPr>
          </a:p>
          <a:p>
            <a:pPr marL="0" indent="0">
              <a:buNone/>
            </a:pPr>
            <a:r>
              <a:rPr lang="en-US" altLang="zh-CN" sz="2400" i="1" dirty="0">
                <a:latin typeface="Arial" pitchFamily="34" charset="0"/>
                <a:ea typeface="黑体" pitchFamily="49" charset="-122"/>
                <a:cs typeface="Arial" pitchFamily="34" charset="0"/>
              </a:rPr>
              <a:t>		</a:t>
            </a:r>
            <a:r>
              <a:rPr lang="en-US" altLang="zh-CN" sz="2400" i="1" dirty="0">
                <a:solidFill>
                  <a:srgbClr val="0000CC"/>
                </a:solidFill>
                <a:latin typeface="Arial" pitchFamily="34" charset="0"/>
                <a:ea typeface="黑体" pitchFamily="49" charset="-122"/>
                <a:cs typeface="Arial" pitchFamily="34" charset="0"/>
              </a:rPr>
              <a:t>y</a:t>
            </a:r>
            <a:r>
              <a:rPr lang="en-US" altLang="zh-CN" sz="2400" i="1" baseline="-25000" dirty="0">
                <a:solidFill>
                  <a:srgbClr val="0000CC"/>
                </a:solidFill>
                <a:latin typeface="Arial" pitchFamily="34" charset="0"/>
                <a:ea typeface="黑体" pitchFamily="49" charset="-122"/>
                <a:cs typeface="Arial" pitchFamily="34" charset="0"/>
              </a:rPr>
              <a:t>2</a:t>
            </a:r>
            <a:r>
              <a:rPr lang="en-US" altLang="zh-CN" sz="2400" i="1" dirty="0">
                <a:solidFill>
                  <a:srgbClr val="0000CC"/>
                </a:solidFill>
                <a:latin typeface="Arial" pitchFamily="34" charset="0"/>
                <a:ea typeface="黑体" pitchFamily="49" charset="-122"/>
                <a:cs typeface="Arial" pitchFamily="34" charset="0"/>
              </a:rPr>
              <a:t>=t</a:t>
            </a:r>
            <a:r>
              <a:rPr lang="en-US" altLang="zh-CN" sz="2400" i="1" baseline="-25000" dirty="0">
                <a:solidFill>
                  <a:srgbClr val="0000CC"/>
                </a:solidFill>
                <a:latin typeface="Arial" pitchFamily="34" charset="0"/>
                <a:ea typeface="黑体" pitchFamily="49" charset="-122"/>
                <a:cs typeface="Arial" pitchFamily="34" charset="0"/>
              </a:rPr>
              <a:t>12</a:t>
            </a:r>
            <a:r>
              <a:rPr lang="en-US" altLang="zh-CN" sz="2400" i="1" dirty="0">
                <a:solidFill>
                  <a:srgbClr val="0000CC"/>
                </a:solidFill>
                <a:latin typeface="Arial" pitchFamily="34" charset="0"/>
                <a:ea typeface="黑体" pitchFamily="49" charset="-122"/>
                <a:cs typeface="Arial" pitchFamily="34" charset="0"/>
              </a:rPr>
              <a:t>x</a:t>
            </a:r>
            <a:r>
              <a:rPr lang="en-US" altLang="zh-CN" sz="2400" i="1" baseline="-25000" dirty="0">
                <a:solidFill>
                  <a:srgbClr val="0000CC"/>
                </a:solidFill>
                <a:latin typeface="Arial" pitchFamily="34" charset="0"/>
                <a:ea typeface="黑体" pitchFamily="49" charset="-122"/>
                <a:cs typeface="Arial" pitchFamily="34" charset="0"/>
              </a:rPr>
              <a:t>1</a:t>
            </a:r>
            <a:r>
              <a:rPr lang="en-US" altLang="zh-CN" sz="2400" i="1" dirty="0">
                <a:solidFill>
                  <a:srgbClr val="0000CC"/>
                </a:solidFill>
                <a:latin typeface="Arial" pitchFamily="34" charset="0"/>
                <a:ea typeface="黑体" pitchFamily="49" charset="-122"/>
                <a:cs typeface="Arial" pitchFamily="34" charset="0"/>
              </a:rPr>
              <a:t> + t</a:t>
            </a:r>
            <a:r>
              <a:rPr lang="en-US" altLang="zh-CN" sz="2400" i="1" baseline="-25000" dirty="0">
                <a:solidFill>
                  <a:srgbClr val="0000CC"/>
                </a:solidFill>
                <a:latin typeface="Arial" pitchFamily="34" charset="0"/>
                <a:ea typeface="黑体" pitchFamily="49" charset="-122"/>
                <a:cs typeface="Arial" pitchFamily="34" charset="0"/>
              </a:rPr>
              <a:t>22</a:t>
            </a:r>
            <a:r>
              <a:rPr lang="en-US" altLang="zh-CN" sz="2400" i="1" dirty="0">
                <a:solidFill>
                  <a:srgbClr val="0000CC"/>
                </a:solidFill>
                <a:latin typeface="Arial" pitchFamily="34" charset="0"/>
                <a:ea typeface="黑体" pitchFamily="49" charset="-122"/>
                <a:cs typeface="Arial" pitchFamily="34" charset="0"/>
              </a:rPr>
              <a:t>x</a:t>
            </a:r>
            <a:r>
              <a:rPr lang="en-US" altLang="zh-CN" sz="2400" i="1" baseline="-25000" dirty="0">
                <a:solidFill>
                  <a:srgbClr val="0000CC"/>
                </a:solidFill>
                <a:latin typeface="Arial" pitchFamily="34" charset="0"/>
                <a:ea typeface="黑体" pitchFamily="49" charset="-122"/>
                <a:cs typeface="Arial" pitchFamily="34" charset="0"/>
              </a:rPr>
              <a:t>2</a:t>
            </a:r>
            <a:r>
              <a:rPr lang="en-US" altLang="zh-CN" sz="2400" i="1" dirty="0">
                <a:solidFill>
                  <a:srgbClr val="0000CC"/>
                </a:solidFill>
                <a:latin typeface="Arial" pitchFamily="34" charset="0"/>
                <a:ea typeface="黑体" pitchFamily="49" charset="-122"/>
                <a:cs typeface="Arial" pitchFamily="34" charset="0"/>
              </a:rPr>
              <a:t> + … + t</a:t>
            </a:r>
            <a:r>
              <a:rPr lang="en-US" altLang="zh-CN" sz="2400" i="1" baseline="-25000" dirty="0">
                <a:solidFill>
                  <a:srgbClr val="0000CC"/>
                </a:solidFill>
                <a:latin typeface="Arial" pitchFamily="34" charset="0"/>
                <a:ea typeface="黑体" pitchFamily="49" charset="-122"/>
                <a:cs typeface="Arial" pitchFamily="34" charset="0"/>
              </a:rPr>
              <a:t>p2</a:t>
            </a:r>
            <a:r>
              <a:rPr lang="en-US" altLang="zh-CN" sz="2400" i="1" dirty="0">
                <a:solidFill>
                  <a:srgbClr val="0000CC"/>
                </a:solidFill>
                <a:latin typeface="Arial" pitchFamily="34" charset="0"/>
                <a:ea typeface="黑体" pitchFamily="49" charset="-122"/>
                <a:cs typeface="Arial" pitchFamily="34" charset="0"/>
              </a:rPr>
              <a:t>x</a:t>
            </a:r>
            <a:r>
              <a:rPr lang="en-US" altLang="zh-CN" sz="2400" i="1" baseline="-25000" dirty="0">
                <a:solidFill>
                  <a:srgbClr val="0000CC"/>
                </a:solidFill>
                <a:latin typeface="Arial" pitchFamily="34" charset="0"/>
                <a:ea typeface="黑体" pitchFamily="49" charset="-122"/>
                <a:cs typeface="Arial" pitchFamily="34" charset="0"/>
              </a:rPr>
              <a:t>p</a:t>
            </a:r>
            <a:r>
              <a:rPr lang="en-US" altLang="zh-CN" sz="2400" i="1" dirty="0">
                <a:solidFill>
                  <a:srgbClr val="0000CC"/>
                </a:solidFill>
                <a:latin typeface="Arial" pitchFamily="34" charset="0"/>
                <a:ea typeface="黑体" pitchFamily="49" charset="-122"/>
                <a:cs typeface="Arial" pitchFamily="34" charset="0"/>
              </a:rPr>
              <a:t> = t</a:t>
            </a:r>
            <a:r>
              <a:rPr lang="en-US" altLang="zh-CN" sz="2400" i="1" baseline="-25000" dirty="0">
                <a:solidFill>
                  <a:srgbClr val="0000CC"/>
                </a:solidFill>
                <a:latin typeface="Arial" pitchFamily="34" charset="0"/>
                <a:ea typeface="黑体" pitchFamily="49" charset="-122"/>
                <a:cs typeface="Arial" pitchFamily="34" charset="0"/>
              </a:rPr>
              <a:t>2</a:t>
            </a:r>
            <a:r>
              <a:rPr lang="en-US" altLang="zh-CN" sz="2400" i="1" dirty="0">
                <a:solidFill>
                  <a:srgbClr val="0000CC"/>
                </a:solidFill>
                <a:latin typeface="Arial" pitchFamily="34" charset="0"/>
                <a:ea typeface="黑体" pitchFamily="49" charset="-122"/>
                <a:cs typeface="Arial" pitchFamily="34" charset="0"/>
              </a:rPr>
              <a:t>’x</a:t>
            </a:r>
          </a:p>
          <a:p>
            <a:pPr marL="0" indent="0">
              <a:buNone/>
            </a:pPr>
            <a:r>
              <a:rPr lang="zh-CN" altLang="en-US" sz="2400" dirty="0" smtClean="0">
                <a:latin typeface="Arial" pitchFamily="34" charset="0"/>
                <a:ea typeface="黑体" pitchFamily="49" charset="-122"/>
                <a:cs typeface="Arial" pitchFamily="34" charset="0"/>
              </a:rPr>
              <a:t>        以此类推</a:t>
            </a:r>
            <a:r>
              <a:rPr lang="en-US" altLang="zh-CN" sz="2400" dirty="0" smtClean="0">
                <a:latin typeface="Arial" pitchFamily="34" charset="0"/>
                <a:ea typeface="黑体" pitchFamily="49" charset="-122"/>
                <a:cs typeface="Arial" pitchFamily="34" charset="0"/>
              </a:rPr>
              <a:t>……</a:t>
            </a:r>
            <a:endParaRPr lang="zh-CN" altLang="en-US" sz="2400" dirty="0">
              <a:latin typeface="Arial" pitchFamily="34" charset="0"/>
              <a:ea typeface="黑体" pitchFamily="49" charset="-122"/>
              <a:cs typeface="Arial"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40</a:t>
            </a:fld>
            <a:endParaRPr lang="zh-CN" alt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0874" y="176061"/>
            <a:ext cx="8784975" cy="1123002"/>
          </a:xfrm>
        </p:spPr>
        <p:txBody>
          <a:bodyPr/>
          <a:lstStyle/>
          <a:p>
            <a:r>
              <a:rPr lang="zh-CN" altLang="en-US" sz="2000" dirty="0" smtClean="0">
                <a:latin typeface="Arial" pitchFamily="34" charset="0"/>
                <a:ea typeface="黑体" pitchFamily="49" charset="-122"/>
                <a:cs typeface="Arial" pitchFamily="34" charset="0"/>
              </a:rPr>
              <a:t>例</a:t>
            </a:r>
            <a:r>
              <a:rPr lang="en-US" altLang="zh-CN" sz="2000" dirty="0" smtClean="0">
                <a:latin typeface="Arial" pitchFamily="34" charset="0"/>
                <a:ea typeface="黑体" pitchFamily="49" charset="-122"/>
                <a:cs typeface="Arial" pitchFamily="34" charset="0"/>
              </a:rPr>
              <a:t>: </a:t>
            </a:r>
            <a:r>
              <a:rPr lang="zh-CN" altLang="en-US" sz="2000" dirty="0" smtClean="0">
                <a:latin typeface="Arial" pitchFamily="34" charset="0"/>
                <a:ea typeface="黑体" pitchFamily="49" charset="-122"/>
                <a:cs typeface="Arial" pitchFamily="34" charset="0"/>
              </a:rPr>
              <a:t>在制定服装标准的过程中，对</a:t>
            </a:r>
            <a:r>
              <a:rPr lang="en-US" altLang="zh-CN" sz="2000" dirty="0" smtClean="0">
                <a:latin typeface="Arial" pitchFamily="34" charset="0"/>
                <a:ea typeface="黑体" pitchFamily="49" charset="-122"/>
                <a:cs typeface="Arial" pitchFamily="34" charset="0"/>
              </a:rPr>
              <a:t>128</a:t>
            </a:r>
            <a:r>
              <a:rPr lang="zh-CN" altLang="en-US" sz="2000" dirty="0" smtClean="0">
                <a:latin typeface="Arial" pitchFamily="34" charset="0"/>
                <a:ea typeface="黑体" pitchFamily="49" charset="-122"/>
                <a:cs typeface="Arial" pitchFamily="34" charset="0"/>
              </a:rPr>
              <a:t>名成年男子的身材进行了测量，每人测得的指标中含有这样六项：身高（</a:t>
            </a:r>
            <a:r>
              <a:rPr lang="en-US" altLang="zh-CN" sz="2000" dirty="0" smtClean="0">
                <a:latin typeface="Arial" pitchFamily="34" charset="0"/>
                <a:ea typeface="黑体" pitchFamily="49" charset="-122"/>
                <a:cs typeface="Arial" pitchFamily="34" charset="0"/>
              </a:rPr>
              <a:t>x</a:t>
            </a:r>
            <a:r>
              <a:rPr lang="en-US" altLang="zh-CN" sz="2000" baseline="-25000" dirty="0" smtClean="0">
                <a:latin typeface="Arial" pitchFamily="34" charset="0"/>
                <a:ea typeface="黑体" pitchFamily="49" charset="-122"/>
                <a:cs typeface="Arial" pitchFamily="34" charset="0"/>
              </a:rPr>
              <a:t>1</a:t>
            </a:r>
            <a:r>
              <a:rPr lang="zh-CN" altLang="en-US" sz="2000" dirty="0" smtClean="0">
                <a:latin typeface="Arial" pitchFamily="34" charset="0"/>
                <a:ea typeface="黑体" pitchFamily="49" charset="-122"/>
                <a:cs typeface="Arial" pitchFamily="34" charset="0"/>
              </a:rPr>
              <a:t>）、坐高（</a:t>
            </a:r>
            <a:r>
              <a:rPr lang="en-US" altLang="zh-CN" sz="2000" dirty="0" smtClean="0">
                <a:latin typeface="Arial" pitchFamily="34" charset="0"/>
                <a:ea typeface="黑体" pitchFamily="49" charset="-122"/>
                <a:cs typeface="Arial" pitchFamily="34" charset="0"/>
              </a:rPr>
              <a:t>x</a:t>
            </a:r>
            <a:r>
              <a:rPr lang="en-US" altLang="zh-CN" sz="2000" baseline="-25000" dirty="0" smtClean="0">
                <a:latin typeface="Arial" pitchFamily="34" charset="0"/>
                <a:ea typeface="黑体" pitchFamily="49" charset="-122"/>
                <a:cs typeface="Arial" pitchFamily="34" charset="0"/>
              </a:rPr>
              <a:t>2</a:t>
            </a:r>
            <a:r>
              <a:rPr lang="zh-CN" altLang="en-US" sz="2000" dirty="0" smtClean="0">
                <a:latin typeface="Arial" pitchFamily="34" charset="0"/>
                <a:ea typeface="黑体" pitchFamily="49" charset="-122"/>
                <a:cs typeface="Arial" pitchFamily="34" charset="0"/>
              </a:rPr>
              <a:t>） 、胸围（</a:t>
            </a:r>
            <a:r>
              <a:rPr lang="en-US" altLang="zh-CN" sz="2000" dirty="0" smtClean="0">
                <a:latin typeface="Arial" pitchFamily="34" charset="0"/>
                <a:ea typeface="黑体" pitchFamily="49" charset="-122"/>
                <a:cs typeface="Arial" pitchFamily="34" charset="0"/>
              </a:rPr>
              <a:t>x</a:t>
            </a:r>
            <a:r>
              <a:rPr lang="en-US" altLang="zh-CN" sz="2000" baseline="-25000" dirty="0" smtClean="0">
                <a:latin typeface="Arial" pitchFamily="34" charset="0"/>
                <a:ea typeface="黑体" pitchFamily="49" charset="-122"/>
                <a:cs typeface="Arial" pitchFamily="34" charset="0"/>
              </a:rPr>
              <a:t>3</a:t>
            </a:r>
            <a:r>
              <a:rPr lang="zh-CN" altLang="en-US" sz="2000" dirty="0" smtClean="0">
                <a:latin typeface="Arial" pitchFamily="34" charset="0"/>
                <a:ea typeface="黑体" pitchFamily="49" charset="-122"/>
                <a:cs typeface="Arial" pitchFamily="34" charset="0"/>
              </a:rPr>
              <a:t>） 、手臂长（</a:t>
            </a:r>
            <a:r>
              <a:rPr lang="en-US" altLang="zh-CN" sz="2000" dirty="0" smtClean="0">
                <a:latin typeface="Arial" pitchFamily="34" charset="0"/>
                <a:ea typeface="黑体" pitchFamily="49" charset="-122"/>
                <a:cs typeface="Arial" pitchFamily="34" charset="0"/>
              </a:rPr>
              <a:t>x</a:t>
            </a:r>
            <a:r>
              <a:rPr lang="en-US" altLang="zh-CN" sz="2000" baseline="-25000" dirty="0" smtClean="0">
                <a:latin typeface="Arial" pitchFamily="34" charset="0"/>
                <a:ea typeface="黑体" pitchFamily="49" charset="-122"/>
                <a:cs typeface="Arial" pitchFamily="34" charset="0"/>
              </a:rPr>
              <a:t>4</a:t>
            </a:r>
            <a:r>
              <a:rPr lang="zh-CN" altLang="en-US" sz="2000" dirty="0" smtClean="0">
                <a:latin typeface="Arial" pitchFamily="34" charset="0"/>
                <a:ea typeface="黑体" pitchFamily="49" charset="-122"/>
                <a:cs typeface="Arial" pitchFamily="34" charset="0"/>
              </a:rPr>
              <a:t>） 、肋围（</a:t>
            </a:r>
            <a:r>
              <a:rPr lang="en-US" altLang="zh-CN" sz="2000" dirty="0" smtClean="0">
                <a:latin typeface="Arial" pitchFamily="34" charset="0"/>
                <a:ea typeface="黑体" pitchFamily="49" charset="-122"/>
                <a:cs typeface="Arial" pitchFamily="34" charset="0"/>
              </a:rPr>
              <a:t>x</a:t>
            </a:r>
            <a:r>
              <a:rPr lang="en-US" altLang="zh-CN" sz="2000" baseline="-25000" dirty="0" smtClean="0">
                <a:latin typeface="Arial" pitchFamily="34" charset="0"/>
                <a:ea typeface="黑体" pitchFamily="49" charset="-122"/>
                <a:cs typeface="Arial" pitchFamily="34" charset="0"/>
              </a:rPr>
              <a:t>5</a:t>
            </a:r>
            <a:r>
              <a:rPr lang="zh-CN" altLang="en-US" sz="2000" dirty="0" smtClean="0">
                <a:latin typeface="Arial" pitchFamily="34" charset="0"/>
                <a:ea typeface="黑体" pitchFamily="49" charset="-122"/>
                <a:cs typeface="Arial" pitchFamily="34" charset="0"/>
              </a:rPr>
              <a:t>）和腰围（</a:t>
            </a:r>
            <a:r>
              <a:rPr lang="en-US" altLang="zh-CN" sz="2000" dirty="0" smtClean="0">
                <a:latin typeface="Arial" pitchFamily="34" charset="0"/>
                <a:ea typeface="黑体" pitchFamily="49" charset="-122"/>
                <a:cs typeface="Arial" pitchFamily="34" charset="0"/>
              </a:rPr>
              <a:t>x</a:t>
            </a:r>
            <a:r>
              <a:rPr lang="en-US" altLang="zh-CN" sz="2000" baseline="-25000" dirty="0" smtClean="0">
                <a:latin typeface="Arial" pitchFamily="34" charset="0"/>
                <a:ea typeface="黑体" pitchFamily="49" charset="-122"/>
                <a:cs typeface="Arial" pitchFamily="34" charset="0"/>
              </a:rPr>
              <a:t>6</a:t>
            </a:r>
            <a:r>
              <a:rPr lang="zh-CN" altLang="en-US" sz="2000" dirty="0" smtClean="0">
                <a:latin typeface="Arial" pitchFamily="34" charset="0"/>
                <a:ea typeface="黑体" pitchFamily="49" charset="-122"/>
                <a:cs typeface="Arial" pitchFamily="34" charset="0"/>
              </a:rPr>
              <a:t>）。</a:t>
            </a:r>
            <a:endParaRPr lang="zh-CN" altLang="en-US" sz="2000" dirty="0">
              <a:latin typeface="Arial" pitchFamily="34" charset="0"/>
              <a:ea typeface="黑体" pitchFamily="49" charset="-122"/>
              <a:cs typeface="Arial"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41</a:t>
            </a:fld>
            <a:endParaRPr lang="zh-CN" altLang="en-US"/>
          </a:p>
        </p:txBody>
      </p:sp>
      <p:pic>
        <p:nvPicPr>
          <p:cNvPr id="6" name="Picture 3"/>
          <p:cNvPicPr>
            <a:picLocks noChangeAspect="1" noChangeArrowheads="1"/>
          </p:cNvPicPr>
          <p:nvPr/>
        </p:nvPicPr>
        <p:blipFill>
          <a:blip r:embed="rId2" cstate="print"/>
          <a:srcRect/>
          <a:stretch>
            <a:fillRect/>
          </a:stretch>
        </p:blipFill>
        <p:spPr bwMode="auto">
          <a:xfrm>
            <a:off x="2472216" y="1383650"/>
            <a:ext cx="6538102" cy="3400923"/>
          </a:xfrm>
          <a:prstGeom prst="rect">
            <a:avLst/>
          </a:prstGeom>
          <a:noFill/>
          <a:ln w="9525">
            <a:noFill/>
            <a:miter lim="800000"/>
            <a:headEnd/>
            <a:tailEnd/>
          </a:ln>
        </p:spPr>
      </p:pic>
      <p:sp>
        <p:nvSpPr>
          <p:cNvPr id="7" name="矩形 6"/>
          <p:cNvSpPr/>
          <p:nvPr/>
        </p:nvSpPr>
        <p:spPr>
          <a:xfrm>
            <a:off x="30874" y="2032375"/>
            <a:ext cx="2596909" cy="1754326"/>
          </a:xfrm>
          <a:prstGeom prst="rect">
            <a:avLst/>
          </a:prstGeom>
        </p:spPr>
        <p:txBody>
          <a:bodyPr wrap="square">
            <a:spAutoFit/>
          </a:bodyPr>
          <a:lstStyle/>
          <a:p>
            <a:r>
              <a:rPr lang="zh-CN" altLang="en-US" dirty="0" smtClean="0">
                <a:latin typeface="Arial" pitchFamily="34" charset="0"/>
                <a:ea typeface="黑体" pitchFamily="49" charset="-122"/>
                <a:cs typeface="Arial" pitchFamily="34" charset="0"/>
              </a:rPr>
              <a:t>前两个主成分的累计贡献率已达</a:t>
            </a:r>
            <a:r>
              <a:rPr lang="en-US" altLang="zh-CN" dirty="0" smtClean="0">
                <a:latin typeface="Arial" pitchFamily="34" charset="0"/>
                <a:ea typeface="黑体" pitchFamily="49" charset="-122"/>
                <a:cs typeface="Arial" pitchFamily="34" charset="0"/>
              </a:rPr>
              <a:t>78.2</a:t>
            </a:r>
            <a:r>
              <a:rPr lang="zh-CN" altLang="en-US" dirty="0" smtClean="0">
                <a:latin typeface="Arial" pitchFamily="34" charset="0"/>
                <a:ea typeface="黑体" pitchFamily="49" charset="-122"/>
                <a:cs typeface="Arial" pitchFamily="34" charset="0"/>
              </a:rPr>
              <a:t>％，前三个主成分的累计贡献率达</a:t>
            </a:r>
            <a:r>
              <a:rPr lang="en-US" altLang="zh-CN" dirty="0" smtClean="0">
                <a:latin typeface="Arial" pitchFamily="34" charset="0"/>
                <a:ea typeface="黑体" pitchFamily="49" charset="-122"/>
                <a:cs typeface="Arial" pitchFamily="34" charset="0"/>
              </a:rPr>
              <a:t>85.9</a:t>
            </a:r>
            <a:r>
              <a:rPr lang="zh-CN" altLang="en-US" dirty="0" smtClean="0">
                <a:latin typeface="Arial" pitchFamily="34" charset="0"/>
                <a:ea typeface="黑体" pitchFamily="49" charset="-122"/>
                <a:cs typeface="Arial" pitchFamily="34" charset="0"/>
              </a:rPr>
              <a:t>％，因此可考虑只取前面两个或三个主成分</a:t>
            </a:r>
            <a:r>
              <a:rPr lang="zh-CN" altLang="en-US" dirty="0">
                <a:latin typeface="Arial" pitchFamily="34" charset="0"/>
                <a:ea typeface="黑体" pitchFamily="49" charset="-122"/>
                <a:cs typeface="Arial" pitchFamily="34" charset="0"/>
              </a:rPr>
              <a:t>即可</a:t>
            </a:r>
            <a:r>
              <a:rPr lang="zh-CN" altLang="en-US" dirty="0" smtClean="0">
                <a:latin typeface="Arial" pitchFamily="34" charset="0"/>
                <a:ea typeface="黑体" pitchFamily="49" charset="-122"/>
                <a:cs typeface="Arial" pitchFamily="34" charset="0"/>
              </a:rPr>
              <a:t>。 </a:t>
            </a:r>
            <a:endParaRPr lang="zh-CN" altLang="en-US" dirty="0">
              <a:latin typeface="Arial" pitchFamily="34" charset="0"/>
              <a:ea typeface="黑体" pitchFamily="49" charset="-122"/>
              <a:cs typeface="Arial" pitchFamily="34" charset="0"/>
            </a:endParaRPr>
          </a:p>
        </p:txBody>
      </p:sp>
      <p:pic>
        <p:nvPicPr>
          <p:cNvPr id="8" name="Picture 4"/>
          <p:cNvPicPr>
            <a:picLocks noChangeAspect="1" noChangeArrowheads="1"/>
          </p:cNvPicPr>
          <p:nvPr/>
        </p:nvPicPr>
        <p:blipFill>
          <a:blip r:embed="rId3" cstate="print"/>
          <a:srcRect/>
          <a:stretch>
            <a:fillRect/>
          </a:stretch>
        </p:blipFill>
        <p:spPr bwMode="auto">
          <a:xfrm>
            <a:off x="251520" y="5360637"/>
            <a:ext cx="6161931" cy="1164707"/>
          </a:xfrm>
          <a:prstGeom prst="rect">
            <a:avLst/>
          </a:prstGeom>
          <a:noFill/>
          <a:ln w="9525">
            <a:noFill/>
            <a:miter lim="800000"/>
            <a:headEnd/>
            <a:tailEnd/>
          </a:ln>
        </p:spPr>
      </p:pic>
      <p:sp>
        <p:nvSpPr>
          <p:cNvPr id="9" name="矩形 8"/>
          <p:cNvSpPr/>
          <p:nvPr/>
        </p:nvSpPr>
        <p:spPr>
          <a:xfrm>
            <a:off x="251520" y="4869160"/>
            <a:ext cx="2952328" cy="400110"/>
          </a:xfrm>
          <a:prstGeom prst="rect">
            <a:avLst/>
          </a:prstGeom>
        </p:spPr>
        <p:txBody>
          <a:bodyPr wrap="square">
            <a:spAutoFit/>
          </a:bodyPr>
          <a:lstStyle/>
          <a:p>
            <a:r>
              <a:rPr lang="zh-CN" altLang="en-US" sz="2000" b="1" dirty="0" smtClean="0">
                <a:solidFill>
                  <a:srgbClr val="C00000"/>
                </a:solidFill>
                <a:latin typeface="黑体" pitchFamily="49" charset="-122"/>
                <a:ea typeface="黑体" pitchFamily="49" charset="-122"/>
              </a:rPr>
              <a:t>前三个主成分分别为： </a:t>
            </a:r>
          </a:p>
        </p:txBody>
      </p:sp>
      <p:sp>
        <p:nvSpPr>
          <p:cNvPr id="10" name="矩形 9"/>
          <p:cNvSpPr/>
          <p:nvPr/>
        </p:nvSpPr>
        <p:spPr>
          <a:xfrm>
            <a:off x="6516216" y="5350784"/>
            <a:ext cx="2627784" cy="1077218"/>
          </a:xfrm>
          <a:prstGeom prst="rect">
            <a:avLst/>
          </a:prstGeom>
        </p:spPr>
        <p:txBody>
          <a:bodyPr wrap="square">
            <a:spAutoFit/>
          </a:bodyPr>
          <a:lstStyle/>
          <a:p>
            <a:r>
              <a:rPr lang="zh-CN" altLang="en-US" sz="1600" dirty="0" smtClean="0">
                <a:latin typeface="Arial" pitchFamily="34" charset="0"/>
                <a:ea typeface="黑体" pitchFamily="49" charset="-122"/>
                <a:cs typeface="Arial" pitchFamily="34" charset="0"/>
              </a:rPr>
              <a:t>由于第三主成分的贡献率不高（</a:t>
            </a:r>
            <a:r>
              <a:rPr lang="en-US" altLang="zh-CN" sz="1600" dirty="0" smtClean="0">
                <a:latin typeface="Arial" pitchFamily="34" charset="0"/>
                <a:ea typeface="黑体" pitchFamily="49" charset="-122"/>
                <a:cs typeface="Arial" pitchFamily="34" charset="0"/>
              </a:rPr>
              <a:t>7.65</a:t>
            </a:r>
            <a:r>
              <a:rPr lang="zh-CN" altLang="en-US" sz="1600" dirty="0" smtClean="0">
                <a:latin typeface="Arial" pitchFamily="34" charset="0"/>
                <a:ea typeface="黑体" pitchFamily="49" charset="-122"/>
                <a:cs typeface="Arial" pitchFamily="34" charset="0"/>
              </a:rPr>
              <a:t>％）且实际意义也不太重要，因此</a:t>
            </a:r>
            <a:r>
              <a:rPr lang="zh-CN" altLang="en-US" sz="1600" dirty="0" smtClean="0">
                <a:solidFill>
                  <a:srgbClr val="FF0000"/>
                </a:solidFill>
                <a:latin typeface="Arial" pitchFamily="34" charset="0"/>
                <a:ea typeface="黑体" pitchFamily="49" charset="-122"/>
                <a:cs typeface="Arial" pitchFamily="34" charset="0"/>
              </a:rPr>
              <a:t>一般可考虑取前两个主成分</a:t>
            </a:r>
            <a:r>
              <a:rPr lang="zh-CN" altLang="en-US" sz="1600" dirty="0" smtClean="0">
                <a:latin typeface="Arial" pitchFamily="34" charset="0"/>
                <a:ea typeface="黑体" pitchFamily="49" charset="-122"/>
                <a:cs typeface="Arial" pitchFamily="34" charset="0"/>
              </a:rPr>
              <a:t>。 </a:t>
            </a:r>
            <a:endParaRPr lang="zh-CN" altLang="en-US" sz="1600" dirty="0">
              <a:latin typeface="Arial" pitchFamily="34" charset="0"/>
              <a:ea typeface="黑体" pitchFamily="49" charset="-122"/>
              <a:cs typeface="Arial" pitchFamily="34"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42</a:t>
            </a:fld>
            <a:endParaRPr lang="zh-CN" altLang="en-US"/>
          </a:p>
        </p:txBody>
      </p:sp>
      <p:pic>
        <p:nvPicPr>
          <p:cNvPr id="78850" name="Picture 2" descr="图片"/>
          <p:cNvPicPr>
            <a:picLocks noChangeAspect="1" noChangeArrowheads="1"/>
          </p:cNvPicPr>
          <p:nvPr/>
        </p:nvPicPr>
        <p:blipFill>
          <a:blip r:embed="rId2" cstate="print"/>
          <a:srcRect/>
          <a:stretch>
            <a:fillRect/>
          </a:stretch>
        </p:blipFill>
        <p:spPr bwMode="auto">
          <a:xfrm>
            <a:off x="107504" y="908720"/>
            <a:ext cx="3863385" cy="3024336"/>
          </a:xfrm>
          <a:prstGeom prst="rect">
            <a:avLst/>
          </a:prstGeom>
          <a:noFill/>
        </p:spPr>
      </p:pic>
      <p:sp>
        <p:nvSpPr>
          <p:cNvPr id="6" name="矩形 5"/>
          <p:cNvSpPr/>
          <p:nvPr/>
        </p:nvSpPr>
        <p:spPr>
          <a:xfrm>
            <a:off x="2411760" y="260648"/>
            <a:ext cx="3619902" cy="461665"/>
          </a:xfrm>
          <a:prstGeom prst="rect">
            <a:avLst/>
          </a:prstGeom>
        </p:spPr>
        <p:txBody>
          <a:bodyPr wrap="none">
            <a:spAutoFit/>
          </a:bodyPr>
          <a:lstStyle/>
          <a:p>
            <a:r>
              <a:rPr lang="zh-CN" altLang="en-US" sz="2400" b="1" dirty="0" smtClean="0">
                <a:solidFill>
                  <a:srgbClr val="C00000"/>
                </a:solidFill>
                <a:latin typeface="Arial" pitchFamily="34" charset="0"/>
                <a:ea typeface="黑体" pitchFamily="49" charset="-122"/>
                <a:cs typeface="Arial" pitchFamily="34" charset="0"/>
              </a:rPr>
              <a:t>实际情况下的</a:t>
            </a:r>
            <a:r>
              <a:rPr lang="en-US" altLang="zh-CN" sz="2400" b="1" dirty="0" smtClean="0">
                <a:solidFill>
                  <a:srgbClr val="C00000"/>
                </a:solidFill>
                <a:latin typeface="Arial" pitchFamily="34" charset="0"/>
                <a:ea typeface="黑体" pitchFamily="49" charset="-122"/>
                <a:cs typeface="Arial" pitchFamily="34" charset="0"/>
              </a:rPr>
              <a:t>PCA</a:t>
            </a:r>
            <a:r>
              <a:rPr lang="zh-CN" altLang="en-US" sz="2400" b="1" dirty="0" smtClean="0">
                <a:solidFill>
                  <a:srgbClr val="C00000"/>
                </a:solidFill>
                <a:latin typeface="Arial" pitchFamily="34" charset="0"/>
                <a:ea typeface="黑体" pitchFamily="49" charset="-122"/>
                <a:cs typeface="Arial" pitchFamily="34" charset="0"/>
              </a:rPr>
              <a:t>结果图</a:t>
            </a:r>
            <a:endParaRPr lang="zh-CN" altLang="en-US" sz="2400" b="1" dirty="0">
              <a:solidFill>
                <a:srgbClr val="C00000"/>
              </a:solidFill>
              <a:latin typeface="Arial" pitchFamily="34" charset="0"/>
              <a:ea typeface="黑体" pitchFamily="49" charset="-122"/>
              <a:cs typeface="Arial" pitchFamily="34" charset="0"/>
            </a:endParaRPr>
          </a:p>
        </p:txBody>
      </p:sp>
      <p:pic>
        <p:nvPicPr>
          <p:cNvPr id="78854" name="Picture 6" descr="https://img0.baidu.com/it/u=3946145592,4196261379&amp;fm=253&amp;fmt=auto&amp;app=138&amp;f=PNG?w=584&amp;h=474"/>
          <p:cNvPicPr>
            <a:picLocks noChangeAspect="1" noChangeArrowheads="1"/>
          </p:cNvPicPr>
          <p:nvPr/>
        </p:nvPicPr>
        <p:blipFill>
          <a:blip r:embed="rId3" cstate="print"/>
          <a:srcRect/>
          <a:stretch>
            <a:fillRect/>
          </a:stretch>
        </p:blipFill>
        <p:spPr bwMode="auto">
          <a:xfrm>
            <a:off x="2843808" y="4005064"/>
            <a:ext cx="3452492" cy="2802194"/>
          </a:xfrm>
          <a:prstGeom prst="rect">
            <a:avLst/>
          </a:prstGeom>
          <a:noFill/>
        </p:spPr>
      </p:pic>
      <p:pic>
        <p:nvPicPr>
          <p:cNvPr id="78856" name="Picture 8" descr="https://img2.baidu.com/it/u=2838380790,1042303594&amp;fm=253&amp;fmt=auto&amp;app=138&amp;f=JPEG?w=645&amp;h=500"/>
          <p:cNvPicPr>
            <a:picLocks noChangeAspect="1" noChangeArrowheads="1"/>
          </p:cNvPicPr>
          <p:nvPr/>
        </p:nvPicPr>
        <p:blipFill>
          <a:blip r:embed="rId4" cstate="print"/>
          <a:srcRect/>
          <a:stretch>
            <a:fillRect/>
          </a:stretch>
        </p:blipFill>
        <p:spPr bwMode="auto">
          <a:xfrm>
            <a:off x="4915486" y="836712"/>
            <a:ext cx="3904986" cy="3024120"/>
          </a:xfrm>
          <a:prstGeom prst="rect">
            <a:avLst/>
          </a:prstGeom>
          <a:noFill/>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504" y="1052736"/>
            <a:ext cx="8856984" cy="4032448"/>
          </a:xfrm>
        </p:spPr>
        <p:txBody>
          <a:bodyPr/>
          <a:lstStyle/>
          <a:p>
            <a:pPr>
              <a:buFont typeface="Wingdings" pitchFamily="2" charset="2"/>
              <a:buChar char="n"/>
            </a:pPr>
            <a:r>
              <a:rPr lang="zh-CN" altLang="en-US" sz="2400" dirty="0" smtClean="0">
                <a:latin typeface="Arial" pitchFamily="34" charset="0"/>
                <a:ea typeface="黑体" pitchFamily="49" charset="-122"/>
                <a:cs typeface="Arial" pitchFamily="34" charset="0"/>
              </a:rPr>
              <a:t>主成分的含义一般多少带有模糊性，不像原始变量的含义那么清楚，这是变量降维过程中不得不付出的代价。提取的主成分个数</a:t>
            </a:r>
            <a:r>
              <a:rPr lang="en-US" altLang="zh-CN" sz="2400" dirty="0" smtClean="0">
                <a:latin typeface="Arial" pitchFamily="34" charset="0"/>
                <a:ea typeface="黑体" pitchFamily="49" charset="-122"/>
                <a:cs typeface="Arial" pitchFamily="34" charset="0"/>
              </a:rPr>
              <a:t>m</a:t>
            </a:r>
            <a:r>
              <a:rPr lang="zh-CN" altLang="en-US" sz="2400" dirty="0" smtClean="0">
                <a:latin typeface="Arial" pitchFamily="34" charset="0"/>
                <a:ea typeface="黑体" pitchFamily="49" charset="-122"/>
                <a:cs typeface="Arial" pitchFamily="34" charset="0"/>
              </a:rPr>
              <a:t>通常应明显小于原始变量个数</a:t>
            </a:r>
            <a:r>
              <a:rPr lang="en-US" altLang="zh-CN" sz="2400" dirty="0" smtClean="0">
                <a:latin typeface="Arial" pitchFamily="34" charset="0"/>
                <a:ea typeface="黑体" pitchFamily="49" charset="-122"/>
                <a:cs typeface="Arial" pitchFamily="34" charset="0"/>
              </a:rPr>
              <a:t>p</a:t>
            </a:r>
            <a:r>
              <a:rPr lang="zh-CN" altLang="en-US" sz="2400" dirty="0" smtClean="0">
                <a:latin typeface="Arial" pitchFamily="34" charset="0"/>
                <a:ea typeface="黑体" pitchFamily="49" charset="-122"/>
                <a:cs typeface="Arial" pitchFamily="34" charset="0"/>
              </a:rPr>
              <a:t>；</a:t>
            </a:r>
          </a:p>
          <a:p>
            <a:pPr>
              <a:buFont typeface="Wingdings" pitchFamily="2" charset="2"/>
              <a:buChar char="n"/>
            </a:pP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zh-CN" altLang="en-US" sz="2400" dirty="0" smtClean="0">
                <a:latin typeface="Arial" pitchFamily="34" charset="0"/>
                <a:ea typeface="黑体" pitchFamily="49" charset="-122"/>
                <a:cs typeface="Arial" pitchFamily="34" charset="0"/>
              </a:rPr>
              <a:t>如果原始变量之间具有较高的相关性，则前面少数几个主成分的累计贡献率通常就能达到一个较高水平；</a:t>
            </a:r>
          </a:p>
          <a:p>
            <a:pPr>
              <a:buNone/>
            </a:pPr>
            <a:endParaRPr lang="zh-CN" altLang="en-US" sz="2400" dirty="0" smtClean="0">
              <a:latin typeface="Arial" pitchFamily="34" charset="0"/>
              <a:ea typeface="黑体" pitchFamily="49" charset="-122"/>
              <a:cs typeface="Arial" pitchFamily="34" charset="0"/>
            </a:endParaRPr>
          </a:p>
          <a:p>
            <a:pPr>
              <a:buFont typeface="Wingdings" pitchFamily="2" charset="2"/>
              <a:buChar char="n"/>
            </a:pPr>
            <a:r>
              <a:rPr lang="zh-CN" altLang="en-US" sz="2400" dirty="0" smtClean="0">
                <a:latin typeface="Arial" pitchFamily="34" charset="0"/>
                <a:ea typeface="黑体" pitchFamily="49" charset="-122"/>
                <a:cs typeface="Arial" pitchFamily="34" charset="0"/>
              </a:rPr>
              <a:t>主成分分析是变量降维的一种重要、常用的方法，该方法要应用得成功，一是靠原始变量的合理选取，二是靠“运气”。 </a:t>
            </a: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43</a:t>
            </a:fld>
            <a:endParaRPr lang="zh-CN" altLang="en-US" dirty="0"/>
          </a:p>
        </p:txBody>
      </p:sp>
      <p:pic>
        <p:nvPicPr>
          <p:cNvPr id="13314" name="Picture 2" descr="https://img-blog.csdnimg.cn/b84f3b95c2814245adcee97685c0615f.png"/>
          <p:cNvPicPr>
            <a:picLocks noChangeAspect="1" noChangeArrowheads="1"/>
          </p:cNvPicPr>
          <p:nvPr/>
        </p:nvPicPr>
        <p:blipFill>
          <a:blip r:embed="rId2" cstate="print"/>
          <a:srcRect/>
          <a:stretch>
            <a:fillRect/>
          </a:stretch>
        </p:blipFill>
        <p:spPr bwMode="auto">
          <a:xfrm>
            <a:off x="1979712" y="4797152"/>
            <a:ext cx="4701790" cy="1863281"/>
          </a:xfrm>
          <a:prstGeom prst="rect">
            <a:avLst/>
          </a:prstGeom>
          <a:noFill/>
        </p:spPr>
      </p:pic>
      <p:sp>
        <p:nvSpPr>
          <p:cNvPr id="7" name="标题 1"/>
          <p:cNvSpPr>
            <a:spLocks noGrp="1"/>
          </p:cNvSpPr>
          <p:nvPr>
            <p:ph type="title"/>
          </p:nvPr>
        </p:nvSpPr>
        <p:spPr>
          <a:xfrm>
            <a:off x="457200" y="260648"/>
            <a:ext cx="8229600" cy="576064"/>
          </a:xfrm>
        </p:spPr>
        <p:txBody>
          <a:bodyPr/>
          <a:lstStyle/>
          <a:p>
            <a:r>
              <a:rPr lang="zh-CN" altLang="en-US" sz="2800" b="1" u="sng" dirty="0" smtClean="0">
                <a:solidFill>
                  <a:srgbClr val="C00000"/>
                </a:solidFill>
                <a:latin typeface="黑体" pitchFamily="49" charset="-122"/>
                <a:ea typeface="黑体" pitchFamily="49" charset="-122"/>
              </a:rPr>
              <a:t>主成分分析的注意点</a:t>
            </a:r>
            <a:endParaRPr lang="zh-CN" altLang="en-US" sz="2800" b="1" u="sng" dirty="0">
              <a:solidFill>
                <a:srgbClr val="C00000"/>
              </a:solidFill>
              <a:latin typeface="黑体" pitchFamily="49" charset="-122"/>
              <a:ea typeface="黑体" pitchFamily="49" charset="-122"/>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980728"/>
            <a:ext cx="8784976" cy="3240360"/>
          </a:xfrm>
        </p:spPr>
        <p:txBody>
          <a:bodyPr/>
          <a:lstStyle/>
          <a:p>
            <a:pPr>
              <a:buFont typeface="Wingdings" panose="05000000000000000000" pitchFamily="2" charset="2"/>
              <a:buChar char="n"/>
            </a:pPr>
            <a:r>
              <a:rPr lang="en-US" altLang="zh-CN" sz="2400" dirty="0" smtClean="0">
                <a:latin typeface="Arial" panose="020B0604020202020204" pitchFamily="34" charset="0"/>
                <a:ea typeface="黑体" panose="02010609060101010101" pitchFamily="49" charset="-122"/>
                <a:cs typeface="Arial" panose="020B0604020202020204" pitchFamily="34" charset="0"/>
              </a:rPr>
              <a:t>LDA</a:t>
            </a:r>
            <a:r>
              <a:rPr lang="zh-CN" altLang="en-US" sz="2400" dirty="0" smtClean="0">
                <a:latin typeface="Arial" panose="020B0604020202020204" pitchFamily="34" charset="0"/>
                <a:ea typeface="黑体" panose="02010609060101010101" pitchFamily="49" charset="-122"/>
                <a:cs typeface="Arial" panose="020B0604020202020204" pitchFamily="34" charset="0"/>
              </a:rPr>
              <a:t>是一种监督学习的降维技术，它的数据集的每个样本是有类别输出的。它追求</a:t>
            </a:r>
            <a:r>
              <a:rPr lang="zh-CN" altLang="en-US" sz="2400" dirty="0">
                <a:latin typeface="Arial" panose="020B0604020202020204" pitchFamily="34" charset="0"/>
                <a:ea typeface="黑体" panose="02010609060101010101" pitchFamily="49" charset="-122"/>
                <a:cs typeface="Arial" panose="020B0604020202020204" pitchFamily="34" charset="0"/>
              </a:rPr>
              <a:t>的目标与</a:t>
            </a:r>
            <a:r>
              <a:rPr lang="en-US" altLang="zh-CN" sz="2400" dirty="0">
                <a:latin typeface="Arial" panose="020B0604020202020204" pitchFamily="34" charset="0"/>
                <a:ea typeface="黑体" panose="02010609060101010101" pitchFamily="49" charset="-122"/>
                <a:cs typeface="Arial" panose="020B0604020202020204" pitchFamily="34" charset="0"/>
              </a:rPr>
              <a:t>PCA</a:t>
            </a:r>
            <a:r>
              <a:rPr lang="zh-CN" altLang="en-US" sz="2400" dirty="0">
                <a:latin typeface="Arial" panose="020B0604020202020204" pitchFamily="34" charset="0"/>
                <a:ea typeface="黑体" panose="02010609060101010101" pitchFamily="49" charset="-122"/>
                <a:cs typeface="Arial" panose="020B0604020202020204" pitchFamily="34" charset="0"/>
              </a:rPr>
              <a:t>不同，不是希望保持数据最多的信息，而是</a:t>
            </a:r>
            <a:r>
              <a:rPr lang="zh-CN" altLang="en-US" sz="2400" dirty="0" smtClean="0">
                <a:latin typeface="Arial" panose="020B0604020202020204" pitchFamily="34" charset="0"/>
                <a:ea typeface="黑体" panose="02010609060101010101" pitchFamily="49" charset="-122"/>
                <a:cs typeface="Arial" panose="020B0604020202020204" pitchFamily="34" charset="0"/>
              </a:rPr>
              <a:t>希望</a:t>
            </a:r>
            <a:r>
              <a:rPr lang="zh-CN" altLang="en-US" sz="2400" dirty="0">
                <a:latin typeface="Arial" panose="020B0604020202020204" pitchFamily="34" charset="0"/>
                <a:ea typeface="黑体" panose="02010609060101010101" pitchFamily="49" charset="-122"/>
                <a:cs typeface="Arial" panose="020B0604020202020204" pitchFamily="34" charset="0"/>
              </a:rPr>
              <a:t>降维后的数据点尽可能地容易被区分</a:t>
            </a:r>
            <a:r>
              <a:rPr lang="zh-CN" altLang="en-US" sz="2400" dirty="0" smtClean="0">
                <a:latin typeface="Arial" panose="020B0604020202020204" pitchFamily="34" charset="0"/>
                <a:ea typeface="黑体" panose="02010609060101010101" pitchFamily="49" charset="-122"/>
                <a:cs typeface="Arial" panose="020B0604020202020204" pitchFamily="34" charset="0"/>
              </a:rPr>
              <a:t>；</a:t>
            </a:r>
            <a:endParaRPr lang="en-US" altLang="zh-CN" sz="2400" dirty="0" smtClean="0">
              <a:latin typeface="Arial" panose="020B0604020202020204" pitchFamily="34" charset="0"/>
              <a:ea typeface="黑体" panose="02010609060101010101" pitchFamily="49" charset="-122"/>
              <a:cs typeface="Arial" panose="020B0604020202020204" pitchFamily="34" charset="0"/>
            </a:endParaRPr>
          </a:p>
          <a:p>
            <a:pPr>
              <a:buFont typeface="Wingdings" panose="05000000000000000000" pitchFamily="2" charset="2"/>
              <a:buChar char="n"/>
            </a:pPr>
            <a:endParaRPr lang="en-US" altLang="zh-CN" sz="2400" dirty="0">
              <a:latin typeface="Arial" panose="020B0604020202020204" pitchFamily="34" charset="0"/>
              <a:ea typeface="黑体" panose="02010609060101010101" pitchFamily="49" charset="-122"/>
              <a:cs typeface="Arial" panose="020B0604020202020204" pitchFamily="34" charset="0"/>
            </a:endParaRPr>
          </a:p>
          <a:p>
            <a:pPr>
              <a:buFont typeface="Wingdings" panose="05000000000000000000" pitchFamily="2" charset="2"/>
              <a:buChar char="n"/>
            </a:pPr>
            <a:r>
              <a:rPr lang="zh-CN" altLang="en-US" sz="2400" dirty="0">
                <a:latin typeface="Arial" panose="020B0604020202020204" pitchFamily="34" charset="0"/>
                <a:ea typeface="黑体" panose="02010609060101010101" pitchFamily="49" charset="-122"/>
                <a:cs typeface="Arial" panose="020B0604020202020204" pitchFamily="34" charset="0"/>
              </a:rPr>
              <a:t>假设原始数据表示为</a:t>
            </a:r>
            <a:r>
              <a:rPr lang="en-US" altLang="zh-CN" sz="2400" dirty="0" smtClean="0">
                <a:latin typeface="Arial" panose="020B0604020202020204" pitchFamily="34" charset="0"/>
                <a:ea typeface="黑体" panose="02010609060101010101" pitchFamily="49" charset="-122"/>
                <a:cs typeface="Arial" panose="020B0604020202020204" pitchFamily="34" charset="0"/>
              </a:rPr>
              <a:t>X</a:t>
            </a:r>
            <a:r>
              <a:rPr lang="zh-CN" altLang="en-US" sz="2400" dirty="0" smtClean="0">
                <a:latin typeface="Arial" panose="020B0604020202020204" pitchFamily="34" charset="0"/>
                <a:ea typeface="黑体" panose="02010609060101010101" pitchFamily="49" charset="-122"/>
                <a:cs typeface="Arial" panose="020B0604020202020204" pitchFamily="34" charset="0"/>
              </a:rPr>
              <a:t>，既然</a:t>
            </a:r>
            <a:r>
              <a:rPr lang="zh-CN" altLang="en-US" sz="2400" dirty="0">
                <a:latin typeface="Arial" panose="020B0604020202020204" pitchFamily="34" charset="0"/>
                <a:ea typeface="黑体" panose="02010609060101010101" pitchFamily="49" charset="-122"/>
                <a:cs typeface="Arial" panose="020B0604020202020204" pitchFamily="34" charset="0"/>
              </a:rPr>
              <a:t>是线性的，那么就是希望找到映射向量</a:t>
            </a:r>
            <a:r>
              <a:rPr lang="en-US" altLang="zh-CN" sz="2400" dirty="0">
                <a:latin typeface="Arial" panose="020B0604020202020204" pitchFamily="34" charset="0"/>
                <a:ea typeface="黑体" panose="02010609060101010101" pitchFamily="49" charset="-122"/>
                <a:cs typeface="Arial" panose="020B0604020202020204" pitchFamily="34" charset="0"/>
              </a:rPr>
              <a:t>a</a:t>
            </a:r>
            <a:r>
              <a:rPr lang="zh-CN" altLang="en-US" sz="2400" dirty="0" smtClean="0">
                <a:latin typeface="Arial" panose="020B0604020202020204" pitchFamily="34" charset="0"/>
                <a:ea typeface="黑体" panose="02010609060101010101" pitchFamily="49" charset="-122"/>
                <a:cs typeface="Arial" panose="020B0604020202020204" pitchFamily="34" charset="0"/>
              </a:rPr>
              <a:t>，使得 </a:t>
            </a:r>
            <a:r>
              <a:rPr lang="en-US" altLang="zh-CN" sz="2400" dirty="0" err="1" smtClean="0">
                <a:latin typeface="Arial" panose="020B0604020202020204" pitchFamily="34" charset="0"/>
                <a:ea typeface="黑体" panose="02010609060101010101" pitchFamily="49" charset="-122"/>
                <a:cs typeface="Arial" panose="020B0604020202020204" pitchFamily="34" charset="0"/>
              </a:rPr>
              <a:t>a’X</a:t>
            </a:r>
            <a:r>
              <a:rPr lang="zh-CN" altLang="en-US" sz="2400" dirty="0">
                <a:latin typeface="Arial" panose="020B0604020202020204" pitchFamily="34" charset="0"/>
                <a:ea typeface="黑体" panose="02010609060101010101" pitchFamily="49" charset="-122"/>
                <a:cs typeface="Arial" panose="020B0604020202020204" pitchFamily="34" charset="0"/>
              </a:rPr>
              <a:t>后的数据点能够保持以下两种性质：</a:t>
            </a:r>
          </a:p>
          <a:p>
            <a:pPr lvl="1">
              <a:buFont typeface="Wingdings" panose="05000000000000000000" pitchFamily="2" charset="2"/>
              <a:buChar char="n"/>
            </a:pPr>
            <a:r>
              <a:rPr lang="zh-CN" altLang="en-US" sz="2000" dirty="0" smtClean="0">
                <a:latin typeface="Arial" panose="020B0604020202020204" pitchFamily="34" charset="0"/>
                <a:ea typeface="黑体" panose="02010609060101010101" pitchFamily="49" charset="-122"/>
                <a:cs typeface="Arial" panose="020B0604020202020204" pitchFamily="34" charset="0"/>
              </a:rPr>
              <a:t>同类</a:t>
            </a:r>
            <a:r>
              <a:rPr lang="zh-CN" altLang="en-US" sz="2000" dirty="0">
                <a:latin typeface="Arial" panose="020B0604020202020204" pitchFamily="34" charset="0"/>
                <a:ea typeface="黑体" panose="02010609060101010101" pitchFamily="49" charset="-122"/>
                <a:cs typeface="Arial" panose="020B0604020202020204" pitchFamily="34" charset="0"/>
              </a:rPr>
              <a:t>的数据点尽可能的接近（</a:t>
            </a:r>
            <a:r>
              <a:rPr lang="en-US" altLang="zh-CN" sz="2000" dirty="0">
                <a:latin typeface="Arial" panose="020B0604020202020204" pitchFamily="34" charset="0"/>
                <a:ea typeface="黑体" panose="02010609060101010101" pitchFamily="49" charset="-122"/>
                <a:cs typeface="Arial" panose="020B0604020202020204" pitchFamily="34" charset="0"/>
              </a:rPr>
              <a:t>within class</a:t>
            </a:r>
            <a:r>
              <a:rPr lang="zh-CN" altLang="en-US" sz="2000" dirty="0">
                <a:latin typeface="Arial" panose="020B0604020202020204" pitchFamily="34" charset="0"/>
                <a:ea typeface="黑体" panose="02010609060101010101" pitchFamily="49" charset="-122"/>
                <a:cs typeface="Arial" panose="020B0604020202020204" pitchFamily="34" charset="0"/>
              </a:rPr>
              <a:t>）</a:t>
            </a:r>
          </a:p>
          <a:p>
            <a:pPr lvl="1">
              <a:buFont typeface="Wingdings" panose="05000000000000000000" pitchFamily="2" charset="2"/>
              <a:buChar char="n"/>
            </a:pPr>
            <a:r>
              <a:rPr lang="zh-CN" altLang="en-US" sz="2000" dirty="0" smtClean="0">
                <a:latin typeface="Arial" panose="020B0604020202020204" pitchFamily="34" charset="0"/>
                <a:ea typeface="黑体" panose="02010609060101010101" pitchFamily="49" charset="-122"/>
                <a:cs typeface="Arial" panose="020B0604020202020204" pitchFamily="34" charset="0"/>
              </a:rPr>
              <a:t>不</a:t>
            </a:r>
            <a:r>
              <a:rPr lang="zh-CN" altLang="en-US" sz="2000" dirty="0">
                <a:latin typeface="Arial" panose="020B0604020202020204" pitchFamily="34" charset="0"/>
                <a:ea typeface="黑体" panose="02010609060101010101" pitchFamily="49" charset="-122"/>
                <a:cs typeface="Arial" panose="020B0604020202020204" pitchFamily="34" charset="0"/>
              </a:rPr>
              <a:t>同类的数据点尽可能的分开（</a:t>
            </a:r>
            <a:r>
              <a:rPr lang="en-US" altLang="zh-CN" sz="2000" dirty="0">
                <a:latin typeface="Arial" panose="020B0604020202020204" pitchFamily="34" charset="0"/>
                <a:ea typeface="黑体" panose="02010609060101010101" pitchFamily="49" charset="-122"/>
                <a:cs typeface="Arial" panose="020B0604020202020204" pitchFamily="34" charset="0"/>
              </a:rPr>
              <a:t>between class</a:t>
            </a:r>
            <a:r>
              <a:rPr lang="zh-CN" altLang="en-US" sz="2000" dirty="0" smtClean="0">
                <a:latin typeface="Arial" panose="020B0604020202020204" pitchFamily="34" charset="0"/>
                <a:ea typeface="黑体" panose="02010609060101010101" pitchFamily="49" charset="-122"/>
                <a:cs typeface="Arial" panose="020B0604020202020204" pitchFamily="34" charset="0"/>
              </a:rPr>
              <a:t>）</a:t>
            </a:r>
            <a:endParaRPr lang="en-US" altLang="zh-CN" sz="2400" dirty="0">
              <a:latin typeface="Arial" panose="020B0604020202020204" pitchFamily="34" charset="0"/>
              <a:ea typeface="黑体" panose="02010609060101010101" pitchFamily="49" charset="-122"/>
              <a:cs typeface="Arial" panose="020B0604020202020204"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44</a:t>
            </a:fld>
            <a:endParaRPr lang="zh-CN" altLang="en-US"/>
          </a:p>
        </p:txBody>
      </p:sp>
      <p:sp>
        <p:nvSpPr>
          <p:cNvPr id="5" name="矩形 4"/>
          <p:cNvSpPr/>
          <p:nvPr/>
        </p:nvSpPr>
        <p:spPr>
          <a:xfrm>
            <a:off x="611560" y="44624"/>
            <a:ext cx="7560840" cy="954107"/>
          </a:xfrm>
          <a:prstGeom prst="rect">
            <a:avLst/>
          </a:prstGeom>
        </p:spPr>
        <p:txBody>
          <a:bodyPr wrap="square">
            <a:spAutoFit/>
          </a:bodyPr>
          <a:lstStyle/>
          <a:p>
            <a:pPr algn="ctr">
              <a:buNone/>
            </a:pPr>
            <a:r>
              <a:rPr lang="zh-CN" altLang="en-US" sz="2800" b="1" dirty="0" smtClean="0">
                <a:solidFill>
                  <a:srgbClr val="FF0000"/>
                </a:solidFill>
                <a:latin typeface="Arial" pitchFamily="34" charset="0"/>
                <a:ea typeface="黑体" pitchFamily="49" charset="-122"/>
                <a:cs typeface="Arial" pitchFamily="34" charset="0"/>
              </a:rPr>
              <a:t>（</a:t>
            </a:r>
            <a:r>
              <a:rPr lang="en-US" altLang="zh-CN" sz="2800" b="1" dirty="0" smtClean="0">
                <a:solidFill>
                  <a:srgbClr val="FF0000"/>
                </a:solidFill>
                <a:latin typeface="Arial" pitchFamily="34" charset="0"/>
                <a:ea typeface="黑体" pitchFamily="49" charset="-122"/>
                <a:cs typeface="Arial" pitchFamily="34" charset="0"/>
              </a:rPr>
              <a:t>2</a:t>
            </a:r>
            <a:r>
              <a:rPr lang="zh-CN" altLang="en-US" sz="2800" b="1" dirty="0" smtClean="0">
                <a:solidFill>
                  <a:srgbClr val="FF0000"/>
                </a:solidFill>
                <a:latin typeface="Arial" pitchFamily="34" charset="0"/>
                <a:ea typeface="黑体" pitchFamily="49" charset="-122"/>
                <a:cs typeface="Arial" pitchFamily="34" charset="0"/>
              </a:rPr>
              <a:t>）线性判别分析</a:t>
            </a:r>
            <a:endParaRPr lang="en-US" altLang="zh-CN" sz="2800" b="1" dirty="0" smtClean="0">
              <a:solidFill>
                <a:srgbClr val="FF0000"/>
              </a:solidFill>
              <a:latin typeface="Arial" pitchFamily="34" charset="0"/>
              <a:ea typeface="黑体" pitchFamily="49" charset="-122"/>
              <a:cs typeface="Arial" pitchFamily="34" charset="0"/>
            </a:endParaRPr>
          </a:p>
          <a:p>
            <a:pPr algn="ctr">
              <a:buNone/>
            </a:pPr>
            <a:r>
              <a:rPr lang="zh-CN" altLang="en-US" sz="2800" b="1" dirty="0" smtClean="0">
                <a:solidFill>
                  <a:srgbClr val="FF0000"/>
                </a:solidFill>
                <a:latin typeface="Arial" pitchFamily="34" charset="0"/>
                <a:ea typeface="黑体" pitchFamily="49" charset="-122"/>
                <a:cs typeface="Arial" pitchFamily="34" charset="0"/>
              </a:rPr>
              <a:t>（</a:t>
            </a:r>
            <a:r>
              <a:rPr lang="en-US" altLang="zh-CN" sz="2800" b="1" dirty="0">
                <a:solidFill>
                  <a:srgbClr val="FF0000"/>
                </a:solidFill>
                <a:latin typeface="Arial" pitchFamily="34" charset="0"/>
                <a:ea typeface="黑体" pitchFamily="49" charset="-122"/>
                <a:cs typeface="Arial" pitchFamily="34" charset="0"/>
              </a:rPr>
              <a:t>Linear Discriminant </a:t>
            </a:r>
            <a:r>
              <a:rPr lang="en-US" altLang="zh-CN" sz="2800" b="1" dirty="0" smtClean="0">
                <a:solidFill>
                  <a:srgbClr val="FF0000"/>
                </a:solidFill>
                <a:latin typeface="Arial" pitchFamily="34" charset="0"/>
                <a:ea typeface="黑体" pitchFamily="49" charset="-122"/>
                <a:cs typeface="Arial" pitchFamily="34" charset="0"/>
              </a:rPr>
              <a:t>Analysis</a:t>
            </a:r>
            <a:r>
              <a:rPr lang="zh-CN" altLang="en-US" sz="2800" b="1" dirty="0" smtClean="0">
                <a:solidFill>
                  <a:srgbClr val="FF0000"/>
                </a:solidFill>
                <a:latin typeface="Arial" pitchFamily="34" charset="0"/>
                <a:ea typeface="黑体" pitchFamily="49" charset="-122"/>
                <a:cs typeface="Arial" pitchFamily="34" charset="0"/>
              </a:rPr>
              <a:t>，</a:t>
            </a:r>
            <a:r>
              <a:rPr lang="en-US" altLang="zh-CN" sz="2800" b="1" dirty="0" smtClean="0">
                <a:solidFill>
                  <a:srgbClr val="FF0000"/>
                </a:solidFill>
                <a:latin typeface="Arial" pitchFamily="34" charset="0"/>
                <a:ea typeface="黑体" pitchFamily="49" charset="-122"/>
                <a:cs typeface="Arial" pitchFamily="34" charset="0"/>
              </a:rPr>
              <a:t>LDA</a:t>
            </a:r>
            <a:r>
              <a:rPr lang="zh-CN" altLang="en-US" sz="2800" b="1" dirty="0" smtClean="0">
                <a:solidFill>
                  <a:srgbClr val="FF0000"/>
                </a:solidFill>
                <a:latin typeface="Arial" pitchFamily="34" charset="0"/>
                <a:ea typeface="黑体" pitchFamily="49" charset="-122"/>
                <a:cs typeface="Arial" pitchFamily="34" charset="0"/>
              </a:rPr>
              <a:t>）</a:t>
            </a:r>
          </a:p>
        </p:txBody>
      </p:sp>
      <p:pic>
        <p:nvPicPr>
          <p:cNvPr id="6146" name="Picture 2" descr="http://www.q235cwfgg.com/uploads/51059d2c.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9592" y="4173972"/>
            <a:ext cx="3036190" cy="2511416"/>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4283968" y="4667998"/>
            <a:ext cx="4776170" cy="1200329"/>
          </a:xfrm>
          <a:prstGeom prst="rect">
            <a:avLst/>
          </a:prstGeom>
        </p:spPr>
        <p:txBody>
          <a:bodyPr wrap="square">
            <a:spAutoFit/>
          </a:bodyPr>
          <a:lstStyle/>
          <a:p>
            <a:r>
              <a:rPr lang="zh-CN" altLang="en-US" dirty="0" smtClean="0">
                <a:solidFill>
                  <a:srgbClr val="0000CC"/>
                </a:solidFill>
                <a:latin typeface="Arial" panose="020B0604020202020204" pitchFamily="34" charset="0"/>
                <a:ea typeface="黑体" panose="02010609060101010101" pitchFamily="49" charset="-122"/>
                <a:cs typeface="Arial" panose="020B0604020202020204" pitchFamily="34" charset="0"/>
              </a:rPr>
              <a:t>图中若使</a:t>
            </a:r>
            <a:r>
              <a:rPr lang="zh-CN" altLang="en-US" dirty="0">
                <a:solidFill>
                  <a:srgbClr val="0000CC"/>
                </a:solidFill>
                <a:latin typeface="Arial" panose="020B0604020202020204" pitchFamily="34" charset="0"/>
                <a:ea typeface="黑体" panose="02010609060101010101" pitchFamily="49" charset="-122"/>
                <a:cs typeface="Arial" panose="020B0604020202020204" pitchFamily="34" charset="0"/>
              </a:rPr>
              <a:t>用</a:t>
            </a:r>
            <a:r>
              <a:rPr lang="en-US" altLang="zh-CN" dirty="0" smtClean="0">
                <a:solidFill>
                  <a:srgbClr val="0000CC"/>
                </a:solidFill>
                <a:latin typeface="Arial" panose="020B0604020202020204" pitchFamily="34" charset="0"/>
                <a:ea typeface="黑体" panose="02010609060101010101" pitchFamily="49" charset="-122"/>
                <a:cs typeface="Arial" panose="020B0604020202020204" pitchFamily="34" charset="0"/>
              </a:rPr>
              <a:t>PCA</a:t>
            </a:r>
            <a:r>
              <a:rPr lang="zh-CN" altLang="en-US" dirty="0" smtClean="0">
                <a:solidFill>
                  <a:srgbClr val="0000CC"/>
                </a:solidFill>
                <a:latin typeface="Arial" panose="020B0604020202020204" pitchFamily="34" charset="0"/>
                <a:ea typeface="黑体" panose="02010609060101010101" pitchFamily="49" charset="-122"/>
                <a:cs typeface="Arial" panose="020B0604020202020204" pitchFamily="34" charset="0"/>
              </a:rPr>
              <a:t>将</a:t>
            </a:r>
            <a:r>
              <a:rPr lang="zh-CN" altLang="en-US" dirty="0">
                <a:solidFill>
                  <a:srgbClr val="0000CC"/>
                </a:solidFill>
                <a:latin typeface="Arial" panose="020B0604020202020204" pitchFamily="34" charset="0"/>
                <a:ea typeface="黑体" panose="02010609060101010101" pitchFamily="49" charset="-122"/>
                <a:cs typeface="Arial" panose="020B0604020202020204" pitchFamily="34" charset="0"/>
              </a:rPr>
              <a:t>数据点投影至一维空间上时，</a:t>
            </a:r>
            <a:r>
              <a:rPr lang="en-US" altLang="zh-CN" dirty="0">
                <a:solidFill>
                  <a:srgbClr val="0000CC"/>
                </a:solidFill>
                <a:latin typeface="Arial" panose="020B0604020202020204" pitchFamily="34" charset="0"/>
                <a:ea typeface="黑体" panose="02010609060101010101" pitchFamily="49" charset="-122"/>
                <a:cs typeface="Arial" panose="020B0604020202020204" pitchFamily="34" charset="0"/>
              </a:rPr>
              <a:t>PCA</a:t>
            </a:r>
            <a:r>
              <a:rPr lang="zh-CN" altLang="en-US" dirty="0">
                <a:solidFill>
                  <a:srgbClr val="0000CC"/>
                </a:solidFill>
                <a:latin typeface="Arial" panose="020B0604020202020204" pitchFamily="34" charset="0"/>
                <a:ea typeface="黑体" panose="02010609060101010101" pitchFamily="49" charset="-122"/>
                <a:cs typeface="Arial" panose="020B0604020202020204" pitchFamily="34" charset="0"/>
              </a:rPr>
              <a:t>会</a:t>
            </a:r>
            <a:r>
              <a:rPr lang="zh-CN" altLang="en-US" dirty="0" smtClean="0">
                <a:solidFill>
                  <a:srgbClr val="0000CC"/>
                </a:solidFill>
                <a:latin typeface="Arial" panose="020B0604020202020204" pitchFamily="34" charset="0"/>
                <a:ea typeface="黑体" panose="02010609060101010101" pitchFamily="49" charset="-122"/>
                <a:cs typeface="Arial" panose="020B0604020202020204" pitchFamily="34" charset="0"/>
              </a:rPr>
              <a:t>选择</a:t>
            </a:r>
            <a:r>
              <a:rPr lang="el-GR" altLang="zh-CN" dirty="0">
                <a:solidFill>
                  <a:srgbClr val="0000CC"/>
                </a:solidFill>
                <a:latin typeface="Arial" panose="020B0604020202020204" pitchFamily="34" charset="0"/>
                <a:ea typeface="黑体" panose="02010609060101010101" pitchFamily="49" charset="-122"/>
                <a:cs typeface="Arial" panose="020B0604020202020204" pitchFamily="34" charset="0"/>
              </a:rPr>
              <a:t>Φ</a:t>
            </a:r>
            <a:r>
              <a:rPr lang="en-US" altLang="zh-CN" dirty="0" smtClean="0">
                <a:solidFill>
                  <a:srgbClr val="0000CC"/>
                </a:solidFill>
                <a:latin typeface="Arial" panose="020B0604020202020204" pitchFamily="34" charset="0"/>
                <a:ea typeface="黑体" panose="02010609060101010101" pitchFamily="49" charset="-122"/>
                <a:cs typeface="Arial" panose="020B0604020202020204" pitchFamily="34" charset="0"/>
              </a:rPr>
              <a:t>2</a:t>
            </a:r>
            <a:r>
              <a:rPr lang="zh-CN" altLang="en-US" dirty="0" smtClean="0">
                <a:solidFill>
                  <a:srgbClr val="0000CC"/>
                </a:solidFill>
                <a:latin typeface="Arial" panose="020B0604020202020204" pitchFamily="34" charset="0"/>
                <a:ea typeface="黑体" panose="02010609060101010101" pitchFamily="49" charset="-122"/>
                <a:cs typeface="Arial" panose="020B0604020202020204" pitchFamily="34" charset="0"/>
              </a:rPr>
              <a:t>轴</a:t>
            </a:r>
            <a:r>
              <a:rPr lang="zh-CN" altLang="en-US" dirty="0">
                <a:solidFill>
                  <a:srgbClr val="0000CC"/>
                </a:solidFill>
                <a:latin typeface="Arial" panose="020B0604020202020204" pitchFamily="34" charset="0"/>
                <a:ea typeface="黑体" panose="02010609060101010101" pitchFamily="49" charset="-122"/>
                <a:cs typeface="Arial" panose="020B0604020202020204" pitchFamily="34" charset="0"/>
              </a:rPr>
              <a:t>，这使得原本很容易区分的两簇点被揉杂在一起变得无法区分；而这时若</a:t>
            </a:r>
            <a:r>
              <a:rPr lang="zh-CN" altLang="en-US" dirty="0" smtClean="0">
                <a:solidFill>
                  <a:srgbClr val="0000CC"/>
                </a:solidFill>
                <a:latin typeface="Arial" panose="020B0604020202020204" pitchFamily="34" charset="0"/>
                <a:ea typeface="黑体" panose="02010609060101010101" pitchFamily="49" charset="-122"/>
                <a:cs typeface="Arial" panose="020B0604020202020204" pitchFamily="34" charset="0"/>
              </a:rPr>
              <a:t>选择</a:t>
            </a:r>
            <a:r>
              <a:rPr lang="el-GR" altLang="zh-CN" dirty="0" smtClean="0">
                <a:solidFill>
                  <a:srgbClr val="0000CC"/>
                </a:solidFill>
                <a:latin typeface="Arial" panose="020B0604020202020204" pitchFamily="34" charset="0"/>
                <a:ea typeface="黑体" panose="02010609060101010101" pitchFamily="49" charset="-122"/>
                <a:cs typeface="Arial" panose="020B0604020202020204" pitchFamily="34" charset="0"/>
              </a:rPr>
              <a:t>Φ</a:t>
            </a:r>
            <a:r>
              <a:rPr lang="en-US" altLang="zh-CN" dirty="0" smtClean="0">
                <a:solidFill>
                  <a:srgbClr val="0000CC"/>
                </a:solidFill>
                <a:latin typeface="Arial" panose="020B0604020202020204" pitchFamily="34" charset="0"/>
                <a:ea typeface="黑体" panose="02010609060101010101" pitchFamily="49" charset="-122"/>
                <a:cs typeface="Arial" panose="020B0604020202020204" pitchFamily="34" charset="0"/>
              </a:rPr>
              <a:t>1</a:t>
            </a:r>
            <a:r>
              <a:rPr lang="zh-CN" altLang="en-US" dirty="0" smtClean="0">
                <a:solidFill>
                  <a:srgbClr val="0000CC"/>
                </a:solidFill>
                <a:latin typeface="Arial" panose="020B0604020202020204" pitchFamily="34" charset="0"/>
                <a:ea typeface="黑体" panose="02010609060101010101" pitchFamily="49" charset="-122"/>
                <a:cs typeface="Arial" panose="020B0604020202020204" pitchFamily="34" charset="0"/>
              </a:rPr>
              <a:t>轴会得到</a:t>
            </a:r>
            <a:r>
              <a:rPr lang="zh-CN" altLang="en-US" dirty="0">
                <a:solidFill>
                  <a:srgbClr val="0000CC"/>
                </a:solidFill>
                <a:latin typeface="Arial" panose="020B0604020202020204" pitchFamily="34" charset="0"/>
                <a:ea typeface="黑体" panose="02010609060101010101" pitchFamily="49" charset="-122"/>
                <a:cs typeface="Arial" panose="020B0604020202020204" pitchFamily="34" charset="0"/>
              </a:rPr>
              <a:t>很好的区分结果。</a:t>
            </a:r>
          </a:p>
        </p:txBody>
      </p:sp>
      <p:sp>
        <p:nvSpPr>
          <p:cNvPr id="7" name="矩形 6"/>
          <p:cNvSpPr/>
          <p:nvPr/>
        </p:nvSpPr>
        <p:spPr>
          <a:xfrm>
            <a:off x="4644008" y="4067780"/>
            <a:ext cx="4339650" cy="369332"/>
          </a:xfrm>
          <a:prstGeom prst="rect">
            <a:avLst/>
          </a:prstGeom>
        </p:spPr>
        <p:txBody>
          <a:bodyPr wrap="none">
            <a:spAutoFit/>
          </a:bodyPr>
          <a:lstStyle/>
          <a:p>
            <a:r>
              <a:rPr lang="zh-CN" altLang="en-US" b="1" dirty="0" smtClean="0">
                <a:solidFill>
                  <a:srgbClr val="FF0000"/>
                </a:solidFill>
                <a:latin typeface="黑体" pitchFamily="49" charset="-122"/>
                <a:ea typeface="黑体" pitchFamily="49" charset="-122"/>
              </a:rPr>
              <a:t>即：投影后类内方差最小，类间方差最大</a:t>
            </a:r>
            <a:endParaRPr lang="zh-CN" altLang="en-US" b="1" dirty="0">
              <a:solidFill>
                <a:srgbClr val="FF0000"/>
              </a:solidFill>
              <a:latin typeface="黑体" pitchFamily="49" charset="-122"/>
              <a:ea typeface="黑体" pitchFamily="49" charset="-122"/>
            </a:endParaRPr>
          </a:p>
        </p:txBody>
      </p:sp>
    </p:spTree>
    <p:extLst>
      <p:ext uri="{BB962C8B-B14F-4D97-AF65-F5344CB8AC3E}">
        <p14:creationId xmlns:p14="http://schemas.microsoft.com/office/powerpoint/2010/main" val="3658710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blinds(horizontal)">
                                      <p:cBhvr>
                                        <p:cTn id="7" dur="500"/>
                                        <p:tgtEl>
                                          <p:spTgt spid="614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45</a:t>
            </a:fld>
            <a:endParaRPr lang="zh-CN" altLang="en-US"/>
          </a:p>
        </p:txBody>
      </p:sp>
      <p:sp>
        <p:nvSpPr>
          <p:cNvPr id="3" name="内容占位符 2"/>
          <p:cNvSpPr txBox="1">
            <a:spLocks/>
          </p:cNvSpPr>
          <p:nvPr/>
        </p:nvSpPr>
        <p:spPr>
          <a:xfrm>
            <a:off x="251520" y="404664"/>
            <a:ext cx="8640960" cy="648072"/>
          </a:xfrm>
          <a:prstGeom prst="rect">
            <a:avLst/>
          </a:prstGeom>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n"/>
            </a:pPr>
            <a:r>
              <a:rPr lang="en-US" altLang="zh-CN" sz="2400" dirty="0" smtClean="0">
                <a:latin typeface="Arial" panose="020B0604020202020204" pitchFamily="34" charset="0"/>
                <a:ea typeface="黑体" panose="02010609060101010101" pitchFamily="49" charset="-122"/>
                <a:cs typeface="Arial" panose="020B0604020202020204" pitchFamily="34" charset="0"/>
              </a:rPr>
              <a:t>LDA</a:t>
            </a:r>
            <a:r>
              <a:rPr lang="zh-CN" altLang="en-US" sz="2400" dirty="0" smtClean="0">
                <a:latin typeface="Arial" panose="020B0604020202020204" pitchFamily="34" charset="0"/>
                <a:ea typeface="黑体" panose="02010609060101010101" pitchFamily="49" charset="-122"/>
                <a:cs typeface="Arial" panose="020B0604020202020204" pitchFamily="34" charset="0"/>
              </a:rPr>
              <a:t>的计算推导</a:t>
            </a:r>
            <a:endParaRPr lang="en-US" altLang="zh-CN" sz="2400" dirty="0">
              <a:latin typeface="Arial" panose="020B0604020202020204" pitchFamily="34" charset="0"/>
              <a:ea typeface="黑体" panose="02010609060101010101" pitchFamily="49" charset="-122"/>
              <a:cs typeface="Arial" panose="020B0604020202020204" pitchFamily="34" charset="0"/>
            </a:endParaRPr>
          </a:p>
        </p:txBody>
      </p:sp>
      <p:pic>
        <p:nvPicPr>
          <p:cNvPr id="7170" name="Picture 2" descr="http://www.q235cwfgg.com/uploads/173c49eef36.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9552" y="1052736"/>
            <a:ext cx="3456384" cy="4288374"/>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http://www.q235cwfgg.com/uploads/d46f925fca225.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99051" y="2240251"/>
            <a:ext cx="4040152" cy="2700917"/>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http://www.q235cwfgg.com/uploads/e4eb80f7c2.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99051" y="874340"/>
            <a:ext cx="2923232" cy="896235"/>
          </a:xfrm>
          <a:prstGeom prst="rect">
            <a:avLst/>
          </a:prstGeom>
          <a:noFill/>
          <a:extLst>
            <a:ext uri="{909E8E84-426E-40DD-AFC4-6F175D3DCCD1}">
              <a14:hiddenFill xmlns:a14="http://schemas.microsoft.com/office/drawing/2010/main">
                <a:solidFill>
                  <a:srgbClr val="FFFFFF"/>
                </a:solidFill>
              </a14:hiddenFill>
            </a:ext>
          </a:extLst>
        </p:spPr>
      </p:pic>
      <p:sp>
        <p:nvSpPr>
          <p:cNvPr id="7" name="内容占位符 2"/>
          <p:cNvSpPr txBox="1">
            <a:spLocks/>
          </p:cNvSpPr>
          <p:nvPr/>
        </p:nvSpPr>
        <p:spPr>
          <a:xfrm>
            <a:off x="251520" y="5400629"/>
            <a:ext cx="8640960" cy="955722"/>
          </a:xfrm>
          <a:prstGeom prst="rect">
            <a:avLst/>
          </a:prstGeom>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n"/>
            </a:pPr>
            <a:r>
              <a:rPr lang="en-US" altLang="zh-CN" sz="2400" dirty="0" smtClean="0">
                <a:latin typeface="Arial" panose="020B0604020202020204" pitchFamily="34" charset="0"/>
                <a:ea typeface="黑体" panose="02010609060101010101" pitchFamily="49" charset="-122"/>
                <a:cs typeface="Arial" panose="020B0604020202020204" pitchFamily="34" charset="0"/>
              </a:rPr>
              <a:t>LDA</a:t>
            </a:r>
            <a:r>
              <a:rPr lang="zh-CN" altLang="en-US" sz="2400" dirty="0">
                <a:latin typeface="Arial" panose="020B0604020202020204" pitchFamily="34" charset="0"/>
                <a:ea typeface="黑体" panose="02010609060101010101" pitchFamily="49" charset="-122"/>
                <a:cs typeface="Arial" panose="020B0604020202020204" pitchFamily="34" charset="0"/>
              </a:rPr>
              <a:t>最后也是转化成为一个求矩阵特征向量的</a:t>
            </a:r>
            <a:r>
              <a:rPr lang="zh-CN" altLang="en-US" sz="2400" dirty="0" smtClean="0">
                <a:latin typeface="Arial" panose="020B0604020202020204" pitchFamily="34" charset="0"/>
                <a:ea typeface="黑体" panose="02010609060101010101" pitchFamily="49" charset="-122"/>
                <a:cs typeface="Arial" panose="020B0604020202020204" pitchFamily="34" charset="0"/>
              </a:rPr>
              <a:t>问题，和</a:t>
            </a:r>
            <a:r>
              <a:rPr lang="en-US" altLang="zh-CN" sz="2400" dirty="0">
                <a:latin typeface="Arial" panose="020B0604020202020204" pitchFamily="34" charset="0"/>
                <a:ea typeface="黑体" panose="02010609060101010101" pitchFamily="49" charset="-122"/>
                <a:cs typeface="Arial" panose="020B0604020202020204" pitchFamily="34" charset="0"/>
              </a:rPr>
              <a:t>PCA</a:t>
            </a:r>
            <a:r>
              <a:rPr lang="zh-CN" altLang="en-US" sz="2400" dirty="0">
                <a:latin typeface="Arial" panose="020B0604020202020204" pitchFamily="34" charset="0"/>
                <a:ea typeface="黑体" panose="02010609060101010101" pitchFamily="49" charset="-122"/>
                <a:cs typeface="Arial" panose="020B0604020202020204" pitchFamily="34" charset="0"/>
              </a:rPr>
              <a:t>很</a:t>
            </a:r>
            <a:r>
              <a:rPr lang="zh-CN" altLang="en-US" sz="2400" dirty="0" smtClean="0">
                <a:latin typeface="Arial" panose="020B0604020202020204" pitchFamily="34" charset="0"/>
                <a:ea typeface="黑体" panose="02010609060101010101" pitchFamily="49" charset="-122"/>
                <a:cs typeface="Arial" panose="020B0604020202020204" pitchFamily="34" charset="0"/>
              </a:rPr>
              <a:t>像；</a:t>
            </a:r>
            <a:r>
              <a:rPr lang="en-US" altLang="zh-CN" sz="2400" b="1" dirty="0" smtClean="0">
                <a:solidFill>
                  <a:srgbClr val="FF0000"/>
                </a:solidFill>
                <a:latin typeface="Arial" panose="020B0604020202020204" pitchFamily="34" charset="0"/>
                <a:ea typeface="黑体" panose="02010609060101010101" pitchFamily="49" charset="-122"/>
                <a:cs typeface="Arial" panose="020B0604020202020204" pitchFamily="34" charset="0"/>
              </a:rPr>
              <a:t>PCA</a:t>
            </a:r>
            <a:r>
              <a:rPr lang="zh-CN" altLang="en-US" sz="2400" b="1" dirty="0">
                <a:solidFill>
                  <a:srgbClr val="FF0000"/>
                </a:solidFill>
                <a:latin typeface="Arial" panose="020B0604020202020204" pitchFamily="34" charset="0"/>
                <a:ea typeface="黑体" panose="02010609060101010101" pitchFamily="49" charset="-122"/>
                <a:cs typeface="Arial" panose="020B0604020202020204" pitchFamily="34" charset="0"/>
              </a:rPr>
              <a:t>和</a:t>
            </a:r>
            <a:r>
              <a:rPr lang="en-US" altLang="zh-CN" sz="2400" b="1" dirty="0" smtClean="0">
                <a:solidFill>
                  <a:srgbClr val="FF0000"/>
                </a:solidFill>
                <a:latin typeface="Arial" panose="020B0604020202020204" pitchFamily="34" charset="0"/>
                <a:ea typeface="黑体" panose="02010609060101010101" pitchFamily="49" charset="-122"/>
                <a:cs typeface="Arial" panose="020B0604020202020204" pitchFamily="34" charset="0"/>
              </a:rPr>
              <a:t>LDA</a:t>
            </a:r>
            <a:r>
              <a:rPr lang="zh-CN" altLang="en-US" sz="2400" b="1" dirty="0" smtClean="0">
                <a:solidFill>
                  <a:srgbClr val="FF0000"/>
                </a:solidFill>
                <a:latin typeface="Arial" panose="020B0604020202020204" pitchFamily="34" charset="0"/>
                <a:ea typeface="黑体" panose="02010609060101010101" pitchFamily="49" charset="-122"/>
                <a:cs typeface="Arial" panose="020B0604020202020204" pitchFamily="34" charset="0"/>
              </a:rPr>
              <a:t>是线性</a:t>
            </a:r>
            <a:r>
              <a:rPr lang="zh-CN" altLang="en-US" sz="2400" b="1" dirty="0">
                <a:solidFill>
                  <a:srgbClr val="FF0000"/>
                </a:solidFill>
                <a:latin typeface="Arial" panose="020B0604020202020204" pitchFamily="34" charset="0"/>
                <a:ea typeface="黑体" panose="02010609060101010101" pitchFamily="49" charset="-122"/>
                <a:cs typeface="Arial" panose="020B0604020202020204" pitchFamily="34" charset="0"/>
              </a:rPr>
              <a:t>降维</a:t>
            </a:r>
            <a:r>
              <a:rPr lang="zh-CN" altLang="en-US" sz="2400" b="1" dirty="0" smtClean="0">
                <a:solidFill>
                  <a:srgbClr val="FF0000"/>
                </a:solidFill>
                <a:latin typeface="Arial" panose="020B0604020202020204" pitchFamily="34" charset="0"/>
                <a:ea typeface="黑体" panose="02010609060101010101" pitchFamily="49" charset="-122"/>
                <a:cs typeface="Arial" panose="020B0604020202020204" pitchFamily="34" charset="0"/>
              </a:rPr>
              <a:t>算法里最</a:t>
            </a:r>
            <a:r>
              <a:rPr lang="zh-CN" altLang="en-US" sz="2400" b="1" dirty="0">
                <a:solidFill>
                  <a:srgbClr val="FF0000"/>
                </a:solidFill>
                <a:latin typeface="Arial" panose="020B0604020202020204" pitchFamily="34" charset="0"/>
                <a:ea typeface="黑体" panose="02010609060101010101" pitchFamily="49" charset="-122"/>
                <a:cs typeface="Arial" panose="020B0604020202020204" pitchFamily="34" charset="0"/>
              </a:rPr>
              <a:t>重要</a:t>
            </a:r>
            <a:r>
              <a:rPr lang="zh-CN" altLang="en-US" sz="2400" b="1" dirty="0" smtClean="0">
                <a:solidFill>
                  <a:srgbClr val="FF0000"/>
                </a:solidFill>
                <a:latin typeface="Arial" panose="020B0604020202020204" pitchFamily="34" charset="0"/>
                <a:ea typeface="黑体" panose="02010609060101010101" pitchFamily="49" charset="-122"/>
                <a:cs typeface="Arial" panose="020B0604020202020204" pitchFamily="34" charset="0"/>
              </a:rPr>
              <a:t>的两种方法</a:t>
            </a:r>
            <a:r>
              <a:rPr lang="zh-CN" altLang="en-US" sz="2400" dirty="0" smtClean="0">
                <a:latin typeface="Arial" panose="020B0604020202020204" pitchFamily="34" charset="0"/>
                <a:ea typeface="黑体" panose="02010609060101010101" pitchFamily="49" charset="-122"/>
                <a:cs typeface="Arial" panose="020B0604020202020204" pitchFamily="34" charset="0"/>
              </a:rPr>
              <a:t>。</a:t>
            </a:r>
            <a:endParaRPr lang="en-US" altLang="zh-CN" sz="2400" dirty="0">
              <a:latin typeface="Arial" panose="020B0604020202020204" pitchFamily="34" charset="0"/>
              <a:ea typeface="黑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118499240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46</a:t>
            </a:fld>
            <a:endParaRPr lang="zh-CN" altLang="en-US"/>
          </a:p>
        </p:txBody>
      </p:sp>
      <p:sp>
        <p:nvSpPr>
          <p:cNvPr id="4" name="标题 1"/>
          <p:cNvSpPr txBox="1">
            <a:spLocks/>
          </p:cNvSpPr>
          <p:nvPr/>
        </p:nvSpPr>
        <p:spPr>
          <a:xfrm>
            <a:off x="457200" y="116632"/>
            <a:ext cx="8229600" cy="576064"/>
          </a:xfrm>
          <a:prstGeom prst="rect">
            <a:avLst/>
          </a:prstGeom>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smtClean="0">
                <a:ln>
                  <a:noFill/>
                </a:ln>
                <a:solidFill>
                  <a:srgbClr val="C00000"/>
                </a:solidFill>
                <a:effectLst/>
                <a:uLnTx/>
                <a:uFillTx/>
                <a:latin typeface="Arial" pitchFamily="34" charset="0"/>
                <a:ea typeface="黑体" pitchFamily="49" charset="-122"/>
                <a:cs typeface="Arial" pitchFamily="34" charset="0"/>
              </a:rPr>
              <a:t>PCA</a:t>
            </a:r>
            <a:r>
              <a:rPr kumimoji="0" lang="zh-CN" altLang="en-US" sz="2800" b="1" i="0" u="none" strike="noStrike" kern="1200" cap="none" spc="0" normalizeH="0" baseline="0" noProof="0" dirty="0" smtClean="0">
                <a:ln>
                  <a:noFill/>
                </a:ln>
                <a:solidFill>
                  <a:srgbClr val="C00000"/>
                </a:solidFill>
                <a:effectLst/>
                <a:uLnTx/>
                <a:uFillTx/>
                <a:latin typeface="Arial" pitchFamily="34" charset="0"/>
                <a:ea typeface="黑体" pitchFamily="49" charset="-122"/>
                <a:cs typeface="Arial" pitchFamily="34" charset="0"/>
              </a:rPr>
              <a:t>和</a:t>
            </a:r>
            <a:r>
              <a:rPr kumimoji="0" lang="en-US" altLang="zh-CN" sz="2800" b="1" i="0" u="none" strike="noStrike" kern="1200" cap="none" spc="0" normalizeH="0" baseline="0" noProof="0" dirty="0" smtClean="0">
                <a:ln>
                  <a:noFill/>
                </a:ln>
                <a:solidFill>
                  <a:srgbClr val="C00000"/>
                </a:solidFill>
                <a:effectLst/>
                <a:uLnTx/>
                <a:uFillTx/>
                <a:latin typeface="Arial" pitchFamily="34" charset="0"/>
                <a:ea typeface="黑体" pitchFamily="49" charset="-122"/>
                <a:cs typeface="Arial" pitchFamily="34" charset="0"/>
              </a:rPr>
              <a:t>LDA</a:t>
            </a:r>
            <a:r>
              <a:rPr kumimoji="0" lang="zh-CN" altLang="en-US" sz="2800" b="1" i="0" u="none" strike="noStrike" kern="1200" cap="none" spc="0" normalizeH="0" baseline="0" noProof="0" dirty="0" smtClean="0">
                <a:ln>
                  <a:noFill/>
                </a:ln>
                <a:solidFill>
                  <a:srgbClr val="C00000"/>
                </a:solidFill>
                <a:effectLst/>
                <a:uLnTx/>
                <a:uFillTx/>
                <a:latin typeface="Arial" pitchFamily="34" charset="0"/>
                <a:ea typeface="黑体" pitchFamily="49" charset="-122"/>
                <a:cs typeface="Arial" pitchFamily="34" charset="0"/>
              </a:rPr>
              <a:t>的比较</a:t>
            </a:r>
            <a:endParaRPr kumimoji="0" lang="zh-CN" altLang="en-US" sz="2800" b="1" i="0" u="none" strike="noStrike" kern="1200" cap="none" spc="0" normalizeH="0" baseline="0" noProof="0" dirty="0">
              <a:ln>
                <a:noFill/>
              </a:ln>
              <a:solidFill>
                <a:srgbClr val="C00000"/>
              </a:solidFill>
              <a:effectLst/>
              <a:uLnTx/>
              <a:uFillTx/>
              <a:latin typeface="Arial" pitchFamily="34" charset="0"/>
              <a:ea typeface="黑体" pitchFamily="49" charset="-122"/>
              <a:cs typeface="Arial" pitchFamily="34" charset="0"/>
            </a:endParaRPr>
          </a:p>
        </p:txBody>
      </p:sp>
      <p:sp>
        <p:nvSpPr>
          <p:cNvPr id="5" name="内容占位符 2"/>
          <p:cNvSpPr txBox="1">
            <a:spLocks/>
          </p:cNvSpPr>
          <p:nvPr/>
        </p:nvSpPr>
        <p:spPr>
          <a:xfrm>
            <a:off x="35496" y="836712"/>
            <a:ext cx="5832648" cy="5544616"/>
          </a:xfrm>
          <a:prstGeom prst="rect">
            <a:avLst/>
          </a:prstGeom>
        </p:spPr>
        <p:txBody>
          <a:bodyPr/>
          <a:lstStyle/>
          <a:p>
            <a:pPr marL="342900" lvl="0" indent="-342900" eaLnBrk="0" hangingPunct="0">
              <a:spcBef>
                <a:spcPct val="20000"/>
              </a:spcBef>
              <a:buFont typeface="Wingdings" pitchFamily="2" charset="2"/>
              <a:buChar char="n"/>
            </a:pPr>
            <a:r>
              <a:rPr lang="zh-CN" altLang="en-US" sz="2400" b="1" dirty="0" smtClean="0">
                <a:solidFill>
                  <a:srgbClr val="FF0000"/>
                </a:solidFill>
                <a:latin typeface="Arial" pitchFamily="34" charset="0"/>
                <a:ea typeface="黑体" pitchFamily="49" charset="-122"/>
                <a:cs typeface="Arial" pitchFamily="34" charset="0"/>
              </a:rPr>
              <a:t>相同点：</a:t>
            </a:r>
            <a:endParaRPr lang="en-US" altLang="zh-CN" sz="2400" b="1" dirty="0" smtClean="0">
              <a:solidFill>
                <a:srgbClr val="FF0000"/>
              </a:solidFill>
              <a:latin typeface="Arial" pitchFamily="34" charset="0"/>
              <a:ea typeface="黑体" pitchFamily="49" charset="-122"/>
              <a:cs typeface="Arial" pitchFamily="34" charset="0"/>
            </a:endParaRPr>
          </a:p>
          <a:p>
            <a:pPr marL="800100" lvl="1" indent="-342900" eaLnBrk="0" hangingPunct="0">
              <a:spcBef>
                <a:spcPct val="20000"/>
              </a:spcBef>
              <a:buFont typeface="Wingdings" pitchFamily="2" charset="2"/>
              <a:buChar char="n"/>
            </a:pPr>
            <a:r>
              <a:rPr lang="zh-CN" altLang="en-US" sz="2000" dirty="0" smtClean="0">
                <a:latin typeface="Arial" pitchFamily="34" charset="0"/>
                <a:ea typeface="黑体" pitchFamily="49" charset="-122"/>
                <a:cs typeface="Arial" pitchFamily="34" charset="0"/>
              </a:rPr>
              <a:t>两者均可以对数据进行降维；</a:t>
            </a:r>
            <a:endParaRPr lang="en-US" altLang="zh-CN" sz="2000" dirty="0" smtClean="0">
              <a:latin typeface="Arial" pitchFamily="34" charset="0"/>
              <a:ea typeface="黑体" pitchFamily="49" charset="-122"/>
              <a:cs typeface="Arial" pitchFamily="34" charset="0"/>
            </a:endParaRPr>
          </a:p>
          <a:p>
            <a:pPr marL="800100" lvl="1" indent="-342900" eaLnBrk="0" hangingPunct="0">
              <a:spcBef>
                <a:spcPct val="20000"/>
              </a:spcBef>
              <a:buFont typeface="Wingdings" pitchFamily="2" charset="2"/>
              <a:buChar char="n"/>
            </a:pPr>
            <a:r>
              <a:rPr lang="zh-CN" altLang="en-US" sz="2000" dirty="0" smtClean="0">
                <a:latin typeface="Arial" pitchFamily="34" charset="0"/>
                <a:ea typeface="黑体" pitchFamily="49" charset="-122"/>
                <a:cs typeface="Arial" pitchFamily="34" charset="0"/>
              </a:rPr>
              <a:t>两者均使用了矩阵特征分解的思想；</a:t>
            </a:r>
            <a:endParaRPr lang="en-US" altLang="zh-CN" sz="2000" dirty="0" smtClean="0">
              <a:latin typeface="Arial" pitchFamily="34" charset="0"/>
              <a:ea typeface="黑体" pitchFamily="49" charset="-122"/>
              <a:cs typeface="Arial" pitchFamily="34" charset="0"/>
            </a:endParaRPr>
          </a:p>
          <a:p>
            <a:pPr marL="800100" lvl="1" indent="-342900" eaLnBrk="0" hangingPunct="0">
              <a:spcBef>
                <a:spcPct val="20000"/>
              </a:spcBef>
              <a:buFont typeface="Wingdings" pitchFamily="2" charset="2"/>
              <a:buChar char="n"/>
            </a:pPr>
            <a:r>
              <a:rPr lang="zh-CN" altLang="en-US" sz="2000" dirty="0" smtClean="0">
                <a:latin typeface="Arial" pitchFamily="34" charset="0"/>
                <a:ea typeface="黑体" pitchFamily="49" charset="-122"/>
                <a:cs typeface="Arial" pitchFamily="34" charset="0"/>
              </a:rPr>
              <a:t>两者都假设数据符合高斯分布。</a:t>
            </a:r>
            <a:endParaRPr lang="en-US" altLang="zh-CN" sz="2400" dirty="0" smtClean="0">
              <a:latin typeface="Arial" pitchFamily="34" charset="0"/>
              <a:ea typeface="黑体" pitchFamily="49" charset="-122"/>
              <a:cs typeface="Arial" pitchFamily="34" charset="0"/>
            </a:endParaRPr>
          </a:p>
          <a:p>
            <a:pPr marL="342900" lvl="0" indent="-342900" eaLnBrk="0" hangingPunct="0">
              <a:spcBef>
                <a:spcPct val="20000"/>
              </a:spcBef>
              <a:buFont typeface="Wingdings" pitchFamily="2" charset="2"/>
              <a:buChar char="n"/>
            </a:pPr>
            <a:r>
              <a:rPr lang="zh-CN" altLang="en-US" sz="2400" b="1" dirty="0" smtClean="0">
                <a:solidFill>
                  <a:srgbClr val="FF0000"/>
                </a:solidFill>
                <a:latin typeface="Arial" pitchFamily="34" charset="0"/>
                <a:ea typeface="黑体" pitchFamily="49" charset="-122"/>
                <a:cs typeface="Arial" pitchFamily="34" charset="0"/>
              </a:rPr>
              <a:t>不同点：</a:t>
            </a:r>
            <a:endParaRPr lang="en-US" altLang="zh-CN" sz="2400" b="1" dirty="0" smtClean="0">
              <a:solidFill>
                <a:srgbClr val="FF0000"/>
              </a:solidFill>
              <a:latin typeface="Arial" pitchFamily="34" charset="0"/>
              <a:ea typeface="黑体" pitchFamily="49" charset="-122"/>
              <a:cs typeface="Arial" pitchFamily="34" charset="0"/>
            </a:endParaRPr>
          </a:p>
          <a:p>
            <a:pPr marL="800100" lvl="1" indent="-342900" eaLnBrk="0" hangingPunct="0">
              <a:spcBef>
                <a:spcPct val="20000"/>
              </a:spcBef>
              <a:buFont typeface="Wingdings" pitchFamily="2" charset="2"/>
              <a:buChar char="n"/>
            </a:pPr>
            <a:r>
              <a:rPr lang="en-US" altLang="zh-CN" sz="2000" dirty="0" smtClean="0">
                <a:latin typeface="Arial" pitchFamily="34" charset="0"/>
                <a:ea typeface="黑体" pitchFamily="49" charset="-122"/>
                <a:cs typeface="Arial" pitchFamily="34" charset="0"/>
              </a:rPr>
              <a:t>PCA</a:t>
            </a:r>
            <a:r>
              <a:rPr lang="zh-CN" altLang="en-US" sz="2000" dirty="0" smtClean="0">
                <a:latin typeface="Arial" pitchFamily="34" charset="0"/>
                <a:ea typeface="黑体" pitchFamily="49" charset="-122"/>
                <a:cs typeface="Arial" pitchFamily="34" charset="0"/>
              </a:rPr>
              <a:t>是无监督的，希望降维之后方差尽可能大；</a:t>
            </a:r>
            <a:r>
              <a:rPr lang="en-US" altLang="zh-CN" sz="2000" dirty="0" smtClean="0">
                <a:latin typeface="Arial" pitchFamily="34" charset="0"/>
                <a:ea typeface="黑体" pitchFamily="49" charset="-122"/>
                <a:cs typeface="Arial" pitchFamily="34" charset="0"/>
              </a:rPr>
              <a:t>LDA</a:t>
            </a:r>
            <a:r>
              <a:rPr lang="zh-CN" altLang="en-US" sz="2000" dirty="0" smtClean="0">
                <a:latin typeface="Arial" pitchFamily="34" charset="0"/>
                <a:ea typeface="黑体" pitchFamily="49" charset="-122"/>
                <a:cs typeface="Arial" pitchFamily="34" charset="0"/>
              </a:rPr>
              <a:t>是有监督的，希望降维之后组内方差小，组间方差大；</a:t>
            </a:r>
          </a:p>
          <a:p>
            <a:pPr marL="800100" lvl="1" indent="-342900" eaLnBrk="0" hangingPunct="0">
              <a:spcBef>
                <a:spcPct val="20000"/>
              </a:spcBef>
              <a:buFont typeface="Wingdings" pitchFamily="2" charset="2"/>
              <a:buChar char="n"/>
            </a:pPr>
            <a:r>
              <a:rPr lang="en-US" altLang="zh-CN" sz="2000" dirty="0" smtClean="0">
                <a:latin typeface="Arial" pitchFamily="34" charset="0"/>
                <a:ea typeface="黑体" pitchFamily="49" charset="-122"/>
                <a:cs typeface="Arial" pitchFamily="34" charset="0"/>
              </a:rPr>
              <a:t>LDA</a:t>
            </a:r>
            <a:r>
              <a:rPr lang="zh-CN" altLang="en-US" sz="2000" dirty="0" smtClean="0">
                <a:latin typeface="Arial" pitchFamily="34" charset="0"/>
                <a:ea typeface="黑体" pitchFamily="49" charset="-122"/>
                <a:cs typeface="Arial" pitchFamily="34" charset="0"/>
              </a:rPr>
              <a:t>降维最多降到类别数</a:t>
            </a:r>
            <a:r>
              <a:rPr lang="en-US" altLang="zh-CN" sz="2000" dirty="0" smtClean="0">
                <a:latin typeface="Arial" pitchFamily="34" charset="0"/>
                <a:ea typeface="黑体" pitchFamily="49" charset="-122"/>
                <a:cs typeface="Arial" pitchFamily="34" charset="0"/>
              </a:rPr>
              <a:t>k-1</a:t>
            </a:r>
            <a:r>
              <a:rPr lang="zh-CN" altLang="en-US" sz="2000" dirty="0" smtClean="0">
                <a:latin typeface="Arial" pitchFamily="34" charset="0"/>
                <a:ea typeface="黑体" pitchFamily="49" charset="-122"/>
                <a:cs typeface="Arial" pitchFamily="34" charset="0"/>
              </a:rPr>
              <a:t>的维数，而</a:t>
            </a:r>
            <a:r>
              <a:rPr lang="en-US" altLang="zh-CN" sz="2000" dirty="0" smtClean="0">
                <a:latin typeface="Arial" pitchFamily="34" charset="0"/>
                <a:ea typeface="黑体" pitchFamily="49" charset="-122"/>
                <a:cs typeface="Arial" pitchFamily="34" charset="0"/>
              </a:rPr>
              <a:t>PCA</a:t>
            </a:r>
            <a:r>
              <a:rPr lang="zh-CN" altLang="en-US" sz="2000" dirty="0" smtClean="0">
                <a:latin typeface="Arial" pitchFamily="34" charset="0"/>
                <a:ea typeface="黑体" pitchFamily="49" charset="-122"/>
                <a:cs typeface="Arial" pitchFamily="34" charset="0"/>
              </a:rPr>
              <a:t>没有这个限制；</a:t>
            </a:r>
            <a:endParaRPr lang="en-US" altLang="zh-CN" sz="2000" dirty="0" smtClean="0">
              <a:latin typeface="Arial" pitchFamily="34" charset="0"/>
              <a:ea typeface="黑体" pitchFamily="49" charset="-122"/>
              <a:cs typeface="Arial" pitchFamily="34" charset="0"/>
            </a:endParaRPr>
          </a:p>
          <a:p>
            <a:pPr marL="800100" lvl="1" indent="-342900" eaLnBrk="0" hangingPunct="0">
              <a:spcBef>
                <a:spcPct val="20000"/>
              </a:spcBef>
              <a:buFont typeface="Wingdings" pitchFamily="2" charset="2"/>
              <a:buChar char="n"/>
            </a:pPr>
            <a:r>
              <a:rPr lang="en-US" altLang="zh-CN" sz="2000" dirty="0" smtClean="0">
                <a:solidFill>
                  <a:srgbClr val="FF0000"/>
                </a:solidFill>
                <a:latin typeface="Arial" pitchFamily="34" charset="0"/>
                <a:ea typeface="黑体" pitchFamily="49" charset="-122"/>
                <a:cs typeface="Arial" pitchFamily="34" charset="0"/>
              </a:rPr>
              <a:t>LDA</a:t>
            </a:r>
            <a:r>
              <a:rPr lang="zh-CN" altLang="en-US" sz="2000" dirty="0" smtClean="0">
                <a:solidFill>
                  <a:srgbClr val="FF0000"/>
                </a:solidFill>
                <a:latin typeface="Arial" pitchFamily="34" charset="0"/>
                <a:ea typeface="黑体" pitchFamily="49" charset="-122"/>
                <a:cs typeface="Arial" pitchFamily="34" charset="0"/>
              </a:rPr>
              <a:t>除了可以用于降维（主要用途），还可以用于分类，而</a:t>
            </a:r>
            <a:r>
              <a:rPr lang="en-US" altLang="zh-CN" sz="2000" dirty="0" smtClean="0">
                <a:solidFill>
                  <a:srgbClr val="FF0000"/>
                </a:solidFill>
                <a:latin typeface="Arial" pitchFamily="34" charset="0"/>
                <a:ea typeface="黑体" pitchFamily="49" charset="-122"/>
                <a:cs typeface="Arial" pitchFamily="34" charset="0"/>
              </a:rPr>
              <a:t>PCA</a:t>
            </a:r>
            <a:r>
              <a:rPr lang="zh-CN" altLang="en-US" sz="2000" dirty="0" smtClean="0">
                <a:solidFill>
                  <a:srgbClr val="FF0000"/>
                </a:solidFill>
                <a:latin typeface="Arial" pitchFamily="34" charset="0"/>
                <a:ea typeface="黑体" pitchFamily="49" charset="-122"/>
                <a:cs typeface="Arial" pitchFamily="34" charset="0"/>
              </a:rPr>
              <a:t>不能用于分类（可以先利用</a:t>
            </a:r>
            <a:r>
              <a:rPr lang="en-US" altLang="zh-CN" sz="2000" dirty="0" smtClean="0">
                <a:solidFill>
                  <a:srgbClr val="FF0000"/>
                </a:solidFill>
                <a:latin typeface="Arial" pitchFamily="34" charset="0"/>
                <a:ea typeface="黑体" pitchFamily="49" charset="-122"/>
                <a:cs typeface="Arial" pitchFamily="34" charset="0"/>
              </a:rPr>
              <a:t>PCA</a:t>
            </a:r>
            <a:r>
              <a:rPr lang="zh-CN" altLang="en-US" sz="2000" dirty="0" smtClean="0">
                <a:solidFill>
                  <a:srgbClr val="FF0000"/>
                </a:solidFill>
                <a:latin typeface="Arial" pitchFamily="34" charset="0"/>
                <a:ea typeface="黑体" pitchFamily="49" charset="-122"/>
                <a:cs typeface="Arial" pitchFamily="34" charset="0"/>
              </a:rPr>
              <a:t>降维，再进行数据分类）；</a:t>
            </a:r>
          </a:p>
          <a:p>
            <a:pPr marL="800100" lvl="1" indent="-342900" eaLnBrk="0" hangingPunct="0">
              <a:spcBef>
                <a:spcPct val="20000"/>
              </a:spcBef>
              <a:buFont typeface="Wingdings" pitchFamily="2" charset="2"/>
              <a:buChar char="n"/>
            </a:pPr>
            <a:r>
              <a:rPr lang="en-US" altLang="zh-CN" sz="2000" dirty="0" smtClean="0">
                <a:latin typeface="Arial" pitchFamily="34" charset="0"/>
                <a:ea typeface="黑体" pitchFamily="49" charset="-122"/>
                <a:cs typeface="Arial" pitchFamily="34" charset="0"/>
              </a:rPr>
              <a:t>LDA</a:t>
            </a:r>
            <a:r>
              <a:rPr lang="zh-CN" altLang="en-US" sz="2000" dirty="0" smtClean="0">
                <a:latin typeface="Arial" pitchFamily="34" charset="0"/>
                <a:ea typeface="黑体" pitchFamily="49" charset="-122"/>
                <a:cs typeface="Arial" pitchFamily="34" charset="0"/>
              </a:rPr>
              <a:t>选择分类性能最好的投影方向，而</a:t>
            </a:r>
            <a:r>
              <a:rPr lang="en-US" altLang="zh-CN" sz="2000" dirty="0" smtClean="0">
                <a:latin typeface="Arial" pitchFamily="34" charset="0"/>
                <a:ea typeface="黑体" pitchFamily="49" charset="-122"/>
                <a:cs typeface="Arial" pitchFamily="34" charset="0"/>
              </a:rPr>
              <a:t>PCA</a:t>
            </a:r>
            <a:r>
              <a:rPr lang="zh-CN" altLang="en-US" sz="2000" dirty="0" smtClean="0">
                <a:latin typeface="Arial" pitchFamily="34" charset="0"/>
                <a:ea typeface="黑体" pitchFamily="49" charset="-122"/>
                <a:cs typeface="Arial" pitchFamily="34" charset="0"/>
              </a:rPr>
              <a:t>选择样本点投影具有最大方差的方向。</a:t>
            </a:r>
            <a:endParaRPr kumimoji="0" lang="zh-CN" altLang="en-US" sz="2000" b="0" i="0" u="none" strike="noStrike" kern="1200" cap="none" spc="0" normalizeH="0" baseline="0" noProof="0" dirty="0" smtClean="0">
              <a:ln>
                <a:noFill/>
              </a:ln>
              <a:solidFill>
                <a:schemeClr val="tx1"/>
              </a:solidFill>
              <a:effectLst/>
              <a:uLnTx/>
              <a:uFillTx/>
              <a:latin typeface="Arial" pitchFamily="34" charset="0"/>
              <a:ea typeface="黑体" pitchFamily="49" charset="-122"/>
              <a:cs typeface="Arial" pitchFamily="34" charset="0"/>
            </a:endParaRPr>
          </a:p>
        </p:txBody>
      </p:sp>
      <p:pic>
        <p:nvPicPr>
          <p:cNvPr id="77831" name="Picture 7"/>
          <p:cNvPicPr>
            <a:picLocks noChangeAspect="1" noChangeArrowheads="1"/>
          </p:cNvPicPr>
          <p:nvPr/>
        </p:nvPicPr>
        <p:blipFill>
          <a:blip r:embed="rId2" cstate="print"/>
          <a:srcRect/>
          <a:stretch>
            <a:fillRect/>
          </a:stretch>
        </p:blipFill>
        <p:spPr bwMode="auto">
          <a:xfrm>
            <a:off x="6156176" y="4437112"/>
            <a:ext cx="2859158" cy="2295070"/>
          </a:xfrm>
          <a:prstGeom prst="rect">
            <a:avLst/>
          </a:prstGeom>
          <a:noFill/>
          <a:ln w="9525">
            <a:noFill/>
            <a:miter lim="800000"/>
            <a:headEnd/>
            <a:tailEnd/>
          </a:ln>
        </p:spPr>
      </p:pic>
      <p:pic>
        <p:nvPicPr>
          <p:cNvPr id="77833" name="Picture 9" descr="https://img-blog.csdnimg.cn/a07bae8978db40359d9499a0cba2b673.png"/>
          <p:cNvPicPr>
            <a:picLocks noChangeAspect="1" noChangeArrowheads="1"/>
          </p:cNvPicPr>
          <p:nvPr/>
        </p:nvPicPr>
        <p:blipFill>
          <a:blip r:embed="rId3" cstate="print"/>
          <a:srcRect r="47848"/>
          <a:stretch>
            <a:fillRect/>
          </a:stretch>
        </p:blipFill>
        <p:spPr bwMode="auto">
          <a:xfrm>
            <a:off x="6172374" y="908720"/>
            <a:ext cx="2720106" cy="3024336"/>
          </a:xfrm>
          <a:prstGeom prst="rect">
            <a:avLst/>
          </a:prstGeom>
          <a:noFill/>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47</a:t>
            </a:fld>
            <a:endParaRPr lang="zh-CN" altLang="en-US"/>
          </a:p>
        </p:txBody>
      </p:sp>
      <p:sp>
        <p:nvSpPr>
          <p:cNvPr id="5" name="矩形 4"/>
          <p:cNvSpPr/>
          <p:nvPr/>
        </p:nvSpPr>
        <p:spPr>
          <a:xfrm>
            <a:off x="611560" y="170637"/>
            <a:ext cx="7560840" cy="954107"/>
          </a:xfrm>
          <a:prstGeom prst="rect">
            <a:avLst/>
          </a:prstGeom>
        </p:spPr>
        <p:txBody>
          <a:bodyPr wrap="square">
            <a:spAutoFit/>
          </a:bodyPr>
          <a:lstStyle/>
          <a:p>
            <a:pPr algn="ctr">
              <a:buNone/>
            </a:pPr>
            <a:r>
              <a:rPr lang="zh-CN" altLang="en-US" sz="2800" b="1" dirty="0" smtClean="0">
                <a:solidFill>
                  <a:srgbClr val="FF0000"/>
                </a:solidFill>
                <a:latin typeface="Arial" pitchFamily="34" charset="0"/>
                <a:ea typeface="黑体" pitchFamily="49" charset="-122"/>
                <a:cs typeface="Arial" pitchFamily="34" charset="0"/>
              </a:rPr>
              <a:t>（</a:t>
            </a:r>
            <a:r>
              <a:rPr lang="en-US" altLang="zh-CN" sz="2800" b="1" dirty="0" smtClean="0">
                <a:solidFill>
                  <a:srgbClr val="FF0000"/>
                </a:solidFill>
                <a:latin typeface="Arial" pitchFamily="34" charset="0"/>
                <a:ea typeface="黑体" pitchFamily="49" charset="-122"/>
                <a:cs typeface="Arial" pitchFamily="34" charset="0"/>
              </a:rPr>
              <a:t>3</a:t>
            </a:r>
            <a:r>
              <a:rPr lang="zh-CN" altLang="en-US" sz="2800" b="1" dirty="0" smtClean="0">
                <a:solidFill>
                  <a:srgbClr val="FF0000"/>
                </a:solidFill>
                <a:latin typeface="Arial" pitchFamily="34" charset="0"/>
                <a:ea typeface="黑体" pitchFamily="49" charset="-122"/>
                <a:cs typeface="Arial" pitchFamily="34" charset="0"/>
              </a:rPr>
              <a:t>）奇异值分解</a:t>
            </a:r>
            <a:endParaRPr lang="en-US" altLang="zh-CN" sz="2800" b="1" dirty="0" smtClean="0">
              <a:solidFill>
                <a:srgbClr val="FF0000"/>
              </a:solidFill>
              <a:latin typeface="Arial" pitchFamily="34" charset="0"/>
              <a:ea typeface="黑体" pitchFamily="49" charset="-122"/>
              <a:cs typeface="Arial" pitchFamily="34" charset="0"/>
            </a:endParaRPr>
          </a:p>
          <a:p>
            <a:pPr algn="ctr">
              <a:buNone/>
            </a:pPr>
            <a:r>
              <a:rPr lang="zh-CN" altLang="en-US" sz="2800" b="1" dirty="0" smtClean="0">
                <a:solidFill>
                  <a:srgbClr val="FF0000"/>
                </a:solidFill>
                <a:latin typeface="Arial" pitchFamily="34" charset="0"/>
                <a:ea typeface="黑体" pitchFamily="49" charset="-122"/>
                <a:cs typeface="Arial" pitchFamily="34" charset="0"/>
              </a:rPr>
              <a:t>（</a:t>
            </a:r>
            <a:r>
              <a:rPr lang="en-US" altLang="zh-CN" sz="2800" b="1" dirty="0" smtClean="0">
                <a:solidFill>
                  <a:srgbClr val="FF0000"/>
                </a:solidFill>
                <a:latin typeface="Arial" pitchFamily="34" charset="0"/>
                <a:ea typeface="黑体" pitchFamily="49" charset="-122"/>
                <a:cs typeface="Arial" pitchFamily="34" charset="0"/>
              </a:rPr>
              <a:t>Singular Value Decomposition, SVD</a:t>
            </a:r>
            <a:r>
              <a:rPr lang="zh-CN" altLang="en-US" sz="2800" b="1" dirty="0" smtClean="0">
                <a:solidFill>
                  <a:srgbClr val="FF0000"/>
                </a:solidFill>
                <a:latin typeface="Arial" pitchFamily="34" charset="0"/>
                <a:ea typeface="黑体" pitchFamily="49" charset="-122"/>
                <a:cs typeface="Arial" pitchFamily="34" charset="0"/>
              </a:rPr>
              <a:t>）</a:t>
            </a:r>
          </a:p>
        </p:txBody>
      </p:sp>
      <p:sp>
        <p:nvSpPr>
          <p:cNvPr id="6" name="内容占位符 2"/>
          <p:cNvSpPr>
            <a:spLocks noGrp="1"/>
          </p:cNvSpPr>
          <p:nvPr>
            <p:ph idx="1"/>
          </p:nvPr>
        </p:nvSpPr>
        <p:spPr>
          <a:xfrm>
            <a:off x="34721" y="1067517"/>
            <a:ext cx="8933492" cy="4793173"/>
          </a:xfrm>
        </p:spPr>
        <p:txBody>
          <a:bodyPr/>
          <a:lstStyle/>
          <a:p>
            <a:pPr>
              <a:buFont typeface="Wingdings" panose="05000000000000000000" pitchFamily="2" charset="2"/>
              <a:buChar char="n"/>
            </a:pPr>
            <a:r>
              <a:rPr lang="en-US" altLang="zh-CN" sz="2400" dirty="0" smtClean="0">
                <a:latin typeface="Arial" pitchFamily="34" charset="0"/>
                <a:ea typeface="黑体" pitchFamily="49" charset="-122"/>
                <a:cs typeface="Arial" pitchFamily="34" charset="0"/>
              </a:rPr>
              <a:t>SVD</a:t>
            </a:r>
            <a:r>
              <a:rPr lang="zh-CN" altLang="en-US" sz="2400" dirty="0">
                <a:latin typeface="Arial" pitchFamily="34" charset="0"/>
                <a:ea typeface="黑体" pitchFamily="49" charset="-122"/>
                <a:cs typeface="Arial" pitchFamily="34" charset="0"/>
              </a:rPr>
              <a:t>是线性代数中一种重要的矩阵</a:t>
            </a:r>
            <a:r>
              <a:rPr lang="zh-CN" altLang="en-US" sz="2400" dirty="0" smtClean="0">
                <a:latin typeface="Arial" pitchFamily="34" charset="0"/>
                <a:ea typeface="黑体" pitchFamily="49" charset="-122"/>
                <a:cs typeface="Arial" pitchFamily="34" charset="0"/>
              </a:rPr>
              <a:t>分解方法，其目的是将</a:t>
            </a:r>
            <a:r>
              <a:rPr lang="zh-CN" altLang="en-US" sz="2400" dirty="0">
                <a:latin typeface="Arial" pitchFamily="34" charset="0"/>
                <a:ea typeface="黑体" pitchFamily="49" charset="-122"/>
                <a:cs typeface="Arial" pitchFamily="34" charset="0"/>
              </a:rPr>
              <a:t>一个比较复杂的矩阵用更小更简单的几个子矩阵的相乘来表示，这些小矩阵描述的</a:t>
            </a:r>
            <a:r>
              <a:rPr lang="zh-CN" altLang="en-US" sz="2400" dirty="0" smtClean="0">
                <a:latin typeface="Arial" pitchFamily="34" charset="0"/>
                <a:ea typeface="黑体" pitchFamily="49" charset="-122"/>
                <a:cs typeface="Arial" pitchFamily="34" charset="0"/>
              </a:rPr>
              <a:t>是矩阵</a:t>
            </a:r>
            <a:r>
              <a:rPr lang="zh-CN" altLang="en-US" sz="2400" dirty="0">
                <a:latin typeface="Arial" pitchFamily="34" charset="0"/>
                <a:ea typeface="黑体" pitchFamily="49" charset="-122"/>
                <a:cs typeface="Arial" pitchFamily="34" charset="0"/>
              </a:rPr>
              <a:t>的</a:t>
            </a:r>
            <a:r>
              <a:rPr lang="zh-CN" altLang="en-US" sz="2400" dirty="0" smtClean="0">
                <a:latin typeface="Arial" pitchFamily="34" charset="0"/>
                <a:ea typeface="黑体" pitchFamily="49" charset="-122"/>
                <a:cs typeface="Arial" pitchFamily="34" charset="0"/>
              </a:rPr>
              <a:t>重要特性；</a:t>
            </a:r>
            <a:endParaRPr lang="en-US" altLang="zh-CN" sz="2400" dirty="0" smtClean="0">
              <a:latin typeface="Arial" pitchFamily="34" charset="0"/>
              <a:ea typeface="黑体" pitchFamily="49" charset="-122"/>
              <a:cs typeface="Arial" pitchFamily="34" charset="0"/>
            </a:endParaRPr>
          </a:p>
          <a:p>
            <a:pPr>
              <a:buFont typeface="Wingdings" panose="05000000000000000000" pitchFamily="2" charset="2"/>
              <a:buChar char="n"/>
            </a:pPr>
            <a:endParaRPr lang="en-US" altLang="zh-CN" sz="2400" dirty="0">
              <a:latin typeface="Arial" pitchFamily="34" charset="0"/>
              <a:ea typeface="黑体" pitchFamily="49" charset="-122"/>
              <a:cs typeface="Arial" pitchFamily="34" charset="0"/>
            </a:endParaRPr>
          </a:p>
          <a:p>
            <a:pPr marL="457200" lvl="1" indent="0">
              <a:buNone/>
            </a:pPr>
            <a:r>
              <a:rPr lang="zh-CN" altLang="en-US" sz="2000" dirty="0">
                <a:latin typeface="Arial" pitchFamily="34" charset="0"/>
                <a:ea typeface="黑体" pitchFamily="49" charset="-122"/>
                <a:cs typeface="Arial" pitchFamily="34" charset="0"/>
              </a:rPr>
              <a:t>例如描述一个人的外貌，往往只要说出几个重要特征，就让别人脑海里面就有一个较为清楚的认识。</a:t>
            </a:r>
            <a:endParaRPr lang="en-US" altLang="zh-CN" sz="2000" dirty="0">
              <a:latin typeface="Arial" pitchFamily="34" charset="0"/>
              <a:ea typeface="黑体" pitchFamily="49" charset="-122"/>
              <a:cs typeface="Arial" pitchFamily="34" charset="0"/>
            </a:endParaRPr>
          </a:p>
          <a:p>
            <a:pPr marL="457200" lvl="1" indent="0">
              <a:buNone/>
            </a:pPr>
            <a:endParaRPr lang="en-US" altLang="zh-CN" sz="2400" dirty="0" smtClean="0">
              <a:latin typeface="Arial" pitchFamily="34" charset="0"/>
              <a:ea typeface="黑体" pitchFamily="49" charset="-122"/>
              <a:cs typeface="Arial" pitchFamily="34" charset="0"/>
            </a:endParaRPr>
          </a:p>
          <a:p>
            <a:pPr>
              <a:buFont typeface="Wingdings" panose="05000000000000000000" pitchFamily="2" charset="2"/>
              <a:buChar char="n"/>
            </a:pPr>
            <a:r>
              <a:rPr lang="en-US" altLang="zh-CN" sz="2400" dirty="0">
                <a:latin typeface="Arial" pitchFamily="34" charset="0"/>
                <a:ea typeface="黑体" pitchFamily="49" charset="-122"/>
                <a:cs typeface="Arial" pitchFamily="34" charset="0"/>
              </a:rPr>
              <a:t>SVD</a:t>
            </a:r>
            <a:r>
              <a:rPr lang="zh-CN" altLang="en-US" sz="2400" dirty="0">
                <a:latin typeface="Arial" pitchFamily="34" charset="0"/>
                <a:ea typeface="黑体" pitchFamily="49" charset="-122"/>
                <a:cs typeface="Arial" pitchFamily="34" charset="0"/>
              </a:rPr>
              <a:t>是在机器学习领域广泛应用的</a:t>
            </a:r>
            <a:r>
              <a:rPr lang="zh-CN" altLang="en-US" sz="2400" dirty="0" smtClean="0">
                <a:latin typeface="Arial" pitchFamily="34" charset="0"/>
                <a:ea typeface="黑体" pitchFamily="49" charset="-122"/>
                <a:cs typeface="Arial" pitchFamily="34" charset="0"/>
              </a:rPr>
              <a:t>算法，更适用于特征数</a:t>
            </a:r>
            <a:r>
              <a:rPr lang="en-US" altLang="zh-CN" sz="2400" dirty="0" smtClean="0">
                <a:latin typeface="Arial" pitchFamily="34" charset="0"/>
                <a:ea typeface="黑体" pitchFamily="49" charset="-122"/>
                <a:cs typeface="Arial" pitchFamily="34" charset="0"/>
              </a:rPr>
              <a:t>&gt;&gt;</a:t>
            </a:r>
            <a:r>
              <a:rPr lang="zh-CN" altLang="en-US" sz="2400" dirty="0" smtClean="0">
                <a:latin typeface="Arial" pitchFamily="34" charset="0"/>
                <a:ea typeface="黑体" pitchFamily="49" charset="-122"/>
                <a:cs typeface="Arial" pitchFamily="34" charset="0"/>
              </a:rPr>
              <a:t>样本数的数据类型。因此，</a:t>
            </a:r>
            <a:r>
              <a:rPr lang="zh-CN" altLang="en-US" sz="2400" dirty="0" smtClean="0">
                <a:solidFill>
                  <a:srgbClr val="FF0000"/>
                </a:solidFill>
                <a:latin typeface="Arial" pitchFamily="34" charset="0"/>
                <a:ea typeface="黑体" pitchFamily="49" charset="-122"/>
                <a:cs typeface="Arial" pitchFamily="34" charset="0"/>
              </a:rPr>
              <a:t>在组学分析里，</a:t>
            </a:r>
            <a:r>
              <a:rPr lang="en-US" altLang="zh-CN" sz="2400" dirty="0" smtClean="0">
                <a:solidFill>
                  <a:srgbClr val="FF0000"/>
                </a:solidFill>
                <a:latin typeface="Arial" pitchFamily="34" charset="0"/>
                <a:ea typeface="黑体" pitchFamily="49" charset="-122"/>
                <a:cs typeface="Arial" pitchFamily="34" charset="0"/>
              </a:rPr>
              <a:t>SVD</a:t>
            </a:r>
            <a:r>
              <a:rPr lang="zh-CN" altLang="en-US" sz="2400" dirty="0" smtClean="0">
                <a:solidFill>
                  <a:srgbClr val="FF0000"/>
                </a:solidFill>
                <a:latin typeface="Arial" pitchFamily="34" charset="0"/>
                <a:ea typeface="黑体" pitchFamily="49" charset="-122"/>
                <a:cs typeface="Arial" pitchFamily="34" charset="0"/>
              </a:rPr>
              <a:t>要优于</a:t>
            </a:r>
            <a:r>
              <a:rPr lang="en-US" altLang="zh-CN" sz="2400" dirty="0" smtClean="0">
                <a:solidFill>
                  <a:srgbClr val="FF0000"/>
                </a:solidFill>
                <a:latin typeface="Arial" pitchFamily="34" charset="0"/>
                <a:ea typeface="黑体" pitchFamily="49" charset="-122"/>
                <a:cs typeface="Arial" pitchFamily="34" charset="0"/>
              </a:rPr>
              <a:t>PCA</a:t>
            </a:r>
            <a:r>
              <a:rPr lang="zh-CN" altLang="en-US" sz="2400" dirty="0" smtClean="0">
                <a:latin typeface="Arial" pitchFamily="34" charset="0"/>
                <a:ea typeface="黑体" pitchFamily="49" charset="-122"/>
                <a:cs typeface="Arial" pitchFamily="34" charset="0"/>
              </a:rPr>
              <a:t>；</a:t>
            </a:r>
            <a:endParaRPr lang="en-US" altLang="zh-CN" sz="2400" dirty="0" smtClean="0">
              <a:latin typeface="Arial" pitchFamily="34" charset="0"/>
              <a:ea typeface="黑体" pitchFamily="49" charset="-122"/>
              <a:cs typeface="Arial" pitchFamily="34" charset="0"/>
            </a:endParaRPr>
          </a:p>
          <a:p>
            <a:pPr>
              <a:buFont typeface="Wingdings" panose="05000000000000000000" pitchFamily="2" charset="2"/>
              <a:buChar char="n"/>
            </a:pPr>
            <a:endParaRPr lang="en-US" altLang="zh-CN" sz="2400" dirty="0" smtClean="0">
              <a:latin typeface="Arial" pitchFamily="34" charset="0"/>
              <a:ea typeface="黑体" pitchFamily="49" charset="-122"/>
              <a:cs typeface="Arial" pitchFamily="34" charset="0"/>
            </a:endParaRPr>
          </a:p>
          <a:p>
            <a:pPr>
              <a:buFont typeface="Wingdings" panose="05000000000000000000" pitchFamily="2" charset="2"/>
              <a:buChar char="n"/>
            </a:pPr>
            <a:r>
              <a:rPr lang="en-US" altLang="zh-CN" sz="2400" dirty="0" smtClean="0">
                <a:latin typeface="Arial" pitchFamily="34" charset="0"/>
                <a:ea typeface="黑体" pitchFamily="49" charset="-122"/>
                <a:cs typeface="Arial" pitchFamily="34" charset="0"/>
              </a:rPr>
              <a:t>SVD</a:t>
            </a:r>
            <a:r>
              <a:rPr lang="zh-CN" altLang="en-US" sz="2400" dirty="0" smtClean="0">
                <a:latin typeface="Arial" pitchFamily="34" charset="0"/>
                <a:ea typeface="黑体" pitchFamily="49" charset="-122"/>
                <a:cs typeface="Arial" pitchFamily="34" charset="0"/>
              </a:rPr>
              <a:t>方法将原数据矩阵分解为</a:t>
            </a:r>
            <a:r>
              <a:rPr lang="en-US" altLang="zh-CN" sz="2400" dirty="0" smtClean="0">
                <a:latin typeface="Arial" pitchFamily="34" charset="0"/>
                <a:ea typeface="黑体" pitchFamily="49" charset="-122"/>
                <a:cs typeface="Arial" pitchFamily="34" charset="0"/>
              </a:rPr>
              <a:t>n</a:t>
            </a:r>
            <a:r>
              <a:rPr lang="zh-CN" altLang="en-US" sz="2400" dirty="0" smtClean="0">
                <a:latin typeface="Arial" pitchFamily="34" charset="0"/>
                <a:ea typeface="黑体" pitchFamily="49" charset="-122"/>
                <a:cs typeface="Arial" pitchFamily="34" charset="0"/>
              </a:rPr>
              <a:t>个矩阵之和，按方差</a:t>
            </a:r>
            <a:r>
              <a:rPr lang="zh-CN" altLang="en-US" sz="2400" dirty="0">
                <a:latin typeface="Arial" pitchFamily="34" charset="0"/>
                <a:ea typeface="黑体" pitchFamily="49" charset="-122"/>
                <a:cs typeface="Arial" pitchFamily="34" charset="0"/>
              </a:rPr>
              <a:t>排序（反映了对应</a:t>
            </a:r>
            <a:r>
              <a:rPr lang="zh-CN" altLang="en-US" sz="2400" dirty="0" smtClean="0">
                <a:latin typeface="Arial" pitchFamily="34" charset="0"/>
                <a:ea typeface="黑体" pitchFamily="49" charset="-122"/>
                <a:cs typeface="Arial" pitchFamily="34" charset="0"/>
              </a:rPr>
              <a:t>项在</a:t>
            </a:r>
            <a:r>
              <a:rPr lang="en-US" altLang="zh-CN" sz="2400" dirty="0">
                <a:latin typeface="Arial" pitchFamily="34" charset="0"/>
                <a:ea typeface="黑体" pitchFamily="49" charset="-122"/>
                <a:cs typeface="Arial" pitchFamily="34" charset="0"/>
              </a:rPr>
              <a:t>A</a:t>
            </a:r>
            <a:r>
              <a:rPr lang="zh-CN" altLang="en-US" sz="2400" dirty="0">
                <a:latin typeface="Arial" pitchFamily="34" charset="0"/>
                <a:ea typeface="黑体" pitchFamily="49" charset="-122"/>
                <a:cs typeface="Arial" pitchFamily="34" charset="0"/>
              </a:rPr>
              <a:t>中的“贡献” </a:t>
            </a:r>
            <a:r>
              <a:rPr lang="zh-CN" altLang="en-US" sz="2400" dirty="0" smtClean="0">
                <a:latin typeface="Arial" pitchFamily="34" charset="0"/>
                <a:ea typeface="黑体" pitchFamily="49" charset="-122"/>
                <a:cs typeface="Arial" pitchFamily="34" charset="0"/>
              </a:rPr>
              <a:t>），组分间彼此正交；</a:t>
            </a:r>
            <a:endParaRPr lang="en-US" altLang="zh-CN" sz="2400" dirty="0" smtClean="0">
              <a:latin typeface="Arial" pitchFamily="34" charset="0"/>
              <a:ea typeface="黑体" pitchFamily="49" charset="-122"/>
              <a:cs typeface="Arial" pitchFamily="34" charset="0"/>
            </a:endParaRPr>
          </a:p>
        </p:txBody>
      </p:sp>
      <p:pic>
        <p:nvPicPr>
          <p:cNvPr id="7" name="图片 6"/>
          <p:cNvPicPr>
            <a:picLocks noChangeAspect="1"/>
          </p:cNvPicPr>
          <p:nvPr/>
        </p:nvPicPr>
        <p:blipFill>
          <a:blip r:embed="rId2" cstate="print"/>
          <a:stretch>
            <a:fillRect/>
          </a:stretch>
        </p:blipFill>
        <p:spPr>
          <a:xfrm>
            <a:off x="3207412" y="2204864"/>
            <a:ext cx="1471664" cy="432048"/>
          </a:xfrm>
          <a:prstGeom prst="rect">
            <a:avLst/>
          </a:prstGeom>
        </p:spPr>
      </p:pic>
      <p:pic>
        <p:nvPicPr>
          <p:cNvPr id="8" name="图片 7"/>
          <p:cNvPicPr>
            <a:picLocks noChangeAspect="1"/>
          </p:cNvPicPr>
          <p:nvPr/>
        </p:nvPicPr>
        <p:blipFill rotWithShape="1">
          <a:blip r:embed="rId3" cstate="print"/>
          <a:srcRect r="16415"/>
          <a:stretch/>
        </p:blipFill>
        <p:spPr>
          <a:xfrm>
            <a:off x="1115616" y="5911254"/>
            <a:ext cx="6183835" cy="837783"/>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04664"/>
            <a:ext cx="8229600" cy="648072"/>
          </a:xfrm>
        </p:spPr>
        <p:txBody>
          <a:bodyPr/>
          <a:lstStyle/>
          <a:p>
            <a:r>
              <a:rPr lang="en-US" altLang="zh-CN" sz="3200" b="1" dirty="0" smtClean="0">
                <a:solidFill>
                  <a:srgbClr val="0000CC"/>
                </a:solidFill>
                <a:latin typeface="Arial" pitchFamily="34" charset="0"/>
                <a:ea typeface="黑体" pitchFamily="49" charset="-122"/>
                <a:cs typeface="Arial" pitchFamily="34" charset="0"/>
              </a:rPr>
              <a:t>SVD</a:t>
            </a:r>
            <a:r>
              <a:rPr lang="zh-CN" altLang="en-US" sz="3200" b="1" dirty="0" smtClean="0">
                <a:solidFill>
                  <a:srgbClr val="0000CC"/>
                </a:solidFill>
                <a:latin typeface="Arial" pitchFamily="34" charset="0"/>
                <a:ea typeface="黑体" pitchFamily="49" charset="-122"/>
                <a:cs typeface="Arial" pitchFamily="34" charset="0"/>
              </a:rPr>
              <a:t>的优势</a:t>
            </a:r>
            <a:endParaRPr lang="zh-CN" altLang="en-US" sz="3200" dirty="0">
              <a:solidFill>
                <a:srgbClr val="0000CC"/>
              </a:solidFill>
              <a:latin typeface="Arial" pitchFamily="34" charset="0"/>
              <a:ea typeface="黑体" pitchFamily="49" charset="-122"/>
              <a:cs typeface="Arial"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48</a:t>
            </a:fld>
            <a:endParaRPr lang="zh-CN" altLang="en-US" dirty="0"/>
          </a:p>
        </p:txBody>
      </p:sp>
      <p:sp>
        <p:nvSpPr>
          <p:cNvPr id="6" name="内容占位符 2"/>
          <p:cNvSpPr>
            <a:spLocks noGrp="1"/>
          </p:cNvSpPr>
          <p:nvPr>
            <p:ph idx="1"/>
          </p:nvPr>
        </p:nvSpPr>
        <p:spPr>
          <a:xfrm>
            <a:off x="205680" y="1412776"/>
            <a:ext cx="8686800" cy="4608512"/>
          </a:xfrm>
        </p:spPr>
        <p:txBody>
          <a:bodyPr/>
          <a:lstStyle/>
          <a:p>
            <a:pPr>
              <a:buFont typeface="Wingdings" pitchFamily="2" charset="2"/>
              <a:buChar char="n"/>
            </a:pPr>
            <a:r>
              <a:rPr lang="zh-CN" altLang="en-US" sz="2400" dirty="0" smtClean="0">
                <a:latin typeface="Arial" pitchFamily="34" charset="0"/>
                <a:ea typeface="黑体" pitchFamily="49" charset="-122"/>
                <a:cs typeface="Arial" pitchFamily="34" charset="0"/>
              </a:rPr>
              <a:t>与其他降维方法相比，</a:t>
            </a:r>
            <a:r>
              <a:rPr lang="en-US" altLang="zh-CN" sz="2400" dirty="0" smtClean="0">
                <a:latin typeface="Arial" pitchFamily="34" charset="0"/>
                <a:ea typeface="黑体" pitchFamily="49" charset="-122"/>
                <a:cs typeface="Arial" pitchFamily="34" charset="0"/>
              </a:rPr>
              <a:t>SVD</a:t>
            </a:r>
            <a:r>
              <a:rPr lang="zh-CN" altLang="en-US" sz="2400" dirty="0" smtClean="0">
                <a:latin typeface="Arial" pitchFamily="34" charset="0"/>
                <a:ea typeface="黑体" pitchFamily="49" charset="-122"/>
                <a:cs typeface="Arial" pitchFamily="34" charset="0"/>
              </a:rPr>
              <a:t>具有很多优点：</a:t>
            </a:r>
            <a:endParaRPr lang="en-US" altLang="zh-CN" sz="2400" dirty="0" smtClean="0">
              <a:latin typeface="Arial" pitchFamily="34" charset="0"/>
              <a:ea typeface="黑体" pitchFamily="49" charset="-122"/>
              <a:cs typeface="Arial" pitchFamily="34" charset="0"/>
            </a:endParaRPr>
          </a:p>
          <a:p>
            <a:pPr lvl="1">
              <a:buFont typeface="Wingdings" pitchFamily="2" charset="2"/>
              <a:buChar char="n"/>
            </a:pPr>
            <a:r>
              <a:rPr lang="en-US" altLang="zh-CN" sz="2200" dirty="0" smtClean="0">
                <a:latin typeface="Arial" pitchFamily="34" charset="0"/>
                <a:ea typeface="黑体" pitchFamily="49" charset="-122"/>
                <a:cs typeface="Arial" pitchFamily="34" charset="0"/>
              </a:rPr>
              <a:t>SVD</a:t>
            </a:r>
            <a:r>
              <a:rPr lang="zh-CN" altLang="en-US" sz="2200" dirty="0" smtClean="0">
                <a:latin typeface="Arial" pitchFamily="34" charset="0"/>
                <a:ea typeface="黑体" pitchFamily="49" charset="-122"/>
                <a:cs typeface="Arial" pitchFamily="34" charset="0"/>
              </a:rPr>
              <a:t>可将维数减少到</a:t>
            </a:r>
            <a:r>
              <a:rPr lang="en-US" altLang="zh-CN" sz="2200" dirty="0" smtClean="0">
                <a:latin typeface="Arial" pitchFamily="34" charset="0"/>
                <a:ea typeface="黑体" pitchFamily="49" charset="-122"/>
                <a:cs typeface="Arial" pitchFamily="34" charset="0"/>
              </a:rPr>
              <a:t>~10-20</a:t>
            </a:r>
            <a:r>
              <a:rPr lang="zh-CN" altLang="en-US" sz="2200" dirty="0" smtClean="0">
                <a:latin typeface="Arial" pitchFamily="34" charset="0"/>
                <a:ea typeface="黑体" pitchFamily="49" charset="-122"/>
                <a:cs typeface="Arial" pitchFamily="34" charset="0"/>
              </a:rPr>
              <a:t>个组分；</a:t>
            </a:r>
            <a:endParaRPr lang="en-US" altLang="zh-CN" sz="2200" dirty="0" smtClean="0">
              <a:latin typeface="Arial" pitchFamily="34" charset="0"/>
              <a:ea typeface="黑体" pitchFamily="49" charset="-122"/>
              <a:cs typeface="Arial" pitchFamily="34" charset="0"/>
            </a:endParaRPr>
          </a:p>
          <a:p>
            <a:pPr lvl="1">
              <a:buFont typeface="Wingdings" pitchFamily="2" charset="2"/>
              <a:buChar char="n"/>
            </a:pPr>
            <a:r>
              <a:rPr lang="en-US" altLang="zh-CN" sz="2200" dirty="0" smtClean="0">
                <a:latin typeface="Arial" pitchFamily="34" charset="0"/>
                <a:ea typeface="黑体" pitchFamily="49" charset="-122"/>
                <a:cs typeface="Arial" pitchFamily="34" charset="0"/>
              </a:rPr>
              <a:t>SVD</a:t>
            </a:r>
            <a:r>
              <a:rPr lang="zh-CN" altLang="en-US" sz="2200" dirty="0" smtClean="0">
                <a:latin typeface="Arial" pitchFamily="34" charset="0"/>
                <a:ea typeface="黑体" pitchFamily="49" charset="-122"/>
                <a:cs typeface="Arial" pitchFamily="34" charset="0"/>
              </a:rPr>
              <a:t>避免了多重检验的问题；</a:t>
            </a:r>
            <a:endParaRPr lang="en-US" altLang="zh-CN" sz="2200" dirty="0" smtClean="0">
              <a:latin typeface="Arial" pitchFamily="34" charset="0"/>
              <a:ea typeface="黑体" pitchFamily="49" charset="-122"/>
              <a:cs typeface="Arial" pitchFamily="34" charset="0"/>
            </a:endParaRPr>
          </a:p>
          <a:p>
            <a:pPr lvl="1">
              <a:buFont typeface="Wingdings" pitchFamily="2" charset="2"/>
              <a:buChar char="n"/>
            </a:pPr>
            <a:r>
              <a:rPr lang="en-US" altLang="zh-CN" sz="2200" dirty="0" smtClean="0">
                <a:latin typeface="Arial" pitchFamily="34" charset="0"/>
                <a:ea typeface="黑体" pitchFamily="49" charset="-122"/>
                <a:cs typeface="Arial" pitchFamily="34" charset="0"/>
              </a:rPr>
              <a:t>SVD</a:t>
            </a:r>
            <a:r>
              <a:rPr lang="zh-CN" altLang="en-US" sz="2200" dirty="0" smtClean="0">
                <a:latin typeface="Arial" pitchFamily="34" charset="0"/>
                <a:ea typeface="黑体" pitchFamily="49" charset="-122"/>
                <a:cs typeface="Arial" pitchFamily="34" charset="0"/>
              </a:rPr>
              <a:t>去除了潜在的特征冗余；</a:t>
            </a:r>
            <a:endParaRPr lang="en-US" altLang="zh-CN" sz="2200" dirty="0" smtClean="0">
              <a:latin typeface="Arial" pitchFamily="34" charset="0"/>
              <a:ea typeface="黑体" pitchFamily="49" charset="-122"/>
              <a:cs typeface="Arial" pitchFamily="34" charset="0"/>
            </a:endParaRPr>
          </a:p>
          <a:p>
            <a:pPr lvl="1">
              <a:buFont typeface="Wingdings" pitchFamily="2" charset="2"/>
              <a:buChar char="n"/>
            </a:pPr>
            <a:r>
              <a:rPr lang="en-US" altLang="zh-CN" sz="2200" dirty="0" smtClean="0">
                <a:latin typeface="Arial" pitchFamily="34" charset="0"/>
                <a:ea typeface="黑体" pitchFamily="49" charset="-122"/>
                <a:cs typeface="Arial" pitchFamily="34" charset="0"/>
              </a:rPr>
              <a:t>SVD </a:t>
            </a:r>
            <a:r>
              <a:rPr lang="zh-CN" altLang="en-US" sz="2200" dirty="0" smtClean="0">
                <a:latin typeface="Arial" pitchFamily="34" charset="0"/>
                <a:ea typeface="黑体" pitchFamily="49" charset="-122"/>
                <a:cs typeface="Arial" pitchFamily="34" charset="0"/>
              </a:rPr>
              <a:t>提供了更稳当的特征选择。</a:t>
            </a:r>
            <a:endParaRPr lang="en-US" altLang="zh-CN" sz="2200" i="1" dirty="0" smtClean="0">
              <a:latin typeface="Arial" pitchFamily="34" charset="0"/>
              <a:ea typeface="黑体" pitchFamily="49" charset="-122"/>
              <a:cs typeface="Arial" pitchFamily="34" charset="0"/>
            </a:endParaRPr>
          </a:p>
          <a:p>
            <a:pPr>
              <a:buFont typeface="Wingdings" pitchFamily="2" charset="2"/>
              <a:buChar char="n"/>
            </a:pP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zh-CN" altLang="en-US" sz="2400" dirty="0" smtClean="0">
                <a:solidFill>
                  <a:srgbClr val="C00000"/>
                </a:solidFill>
                <a:latin typeface="Arial" pitchFamily="34" charset="0"/>
                <a:ea typeface="黑体" pitchFamily="49" charset="-122"/>
                <a:cs typeface="Arial" pitchFamily="34" charset="0"/>
              </a:rPr>
              <a:t>更重要的是，</a:t>
            </a:r>
            <a:r>
              <a:rPr lang="en-US" altLang="zh-CN" sz="2400" dirty="0" smtClean="0">
                <a:latin typeface="Arial" pitchFamily="34" charset="0"/>
                <a:ea typeface="黑体" pitchFamily="49" charset="-122"/>
                <a:cs typeface="Arial" pitchFamily="34" charset="0"/>
              </a:rPr>
              <a:t>SVD</a:t>
            </a:r>
            <a:r>
              <a:rPr lang="zh-CN" altLang="en-US" sz="2400" dirty="0" smtClean="0">
                <a:latin typeface="Arial" pitchFamily="34" charset="0"/>
                <a:ea typeface="黑体" pitchFamily="49" charset="-122"/>
                <a:cs typeface="Arial" pitchFamily="34" charset="0"/>
              </a:rPr>
              <a:t>可以量化每个组分的变异量，并对信噪比（</a:t>
            </a:r>
            <a:r>
              <a:rPr lang="en-US" altLang="zh-CN" sz="2400" dirty="0" smtClean="0">
                <a:latin typeface="Arial" pitchFamily="34" charset="0"/>
                <a:ea typeface="黑体" pitchFamily="49" charset="-122"/>
                <a:cs typeface="Arial" pitchFamily="34" charset="0"/>
              </a:rPr>
              <a:t>SNR</a:t>
            </a:r>
            <a:r>
              <a:rPr lang="zh-CN" altLang="en-US" sz="2400" dirty="0" smtClean="0">
                <a:latin typeface="Arial" pitchFamily="34" charset="0"/>
                <a:ea typeface="黑体" pitchFamily="49" charset="-122"/>
                <a:cs typeface="Arial" pitchFamily="34" charset="0"/>
              </a:rPr>
              <a:t>）进行定量分析，分析鉴别与技术因素相关的变异</a:t>
            </a:r>
            <a:r>
              <a:rPr lang="en-US" altLang="zh-CN" sz="2400" dirty="0" smtClean="0">
                <a:latin typeface="Arial" pitchFamily="34" charset="0"/>
                <a:ea typeface="黑体" pitchFamily="49" charset="-122"/>
                <a:cs typeface="Arial" pitchFamily="34" charset="0"/>
              </a:rPr>
              <a:t> (</a:t>
            </a:r>
            <a:r>
              <a:rPr lang="zh-CN" altLang="en-US" sz="2400" dirty="0" smtClean="0">
                <a:latin typeface="Arial" pitchFamily="34" charset="0"/>
                <a:ea typeface="黑体" pitchFamily="49" charset="-122"/>
                <a:cs typeface="Arial" pitchFamily="34" charset="0"/>
              </a:rPr>
              <a:t>如批次效应</a:t>
            </a:r>
            <a:r>
              <a:rPr lang="en-US" altLang="zh-CN" sz="2400" dirty="0" smtClean="0">
                <a:latin typeface="Arial" pitchFamily="34" charset="0"/>
                <a:ea typeface="黑体" pitchFamily="49" charset="-122"/>
                <a:cs typeface="Arial" pitchFamily="34" charset="0"/>
              </a:rPr>
              <a:t>)</a:t>
            </a:r>
          </a:p>
          <a:p>
            <a:pPr lvl="1">
              <a:buNone/>
            </a:pPr>
            <a:r>
              <a:rPr lang="en-US" altLang="zh-CN" sz="2400" dirty="0" smtClean="0">
                <a:solidFill>
                  <a:srgbClr val="FF0000"/>
                </a:solidFill>
                <a:latin typeface="Arial" pitchFamily="34" charset="0"/>
                <a:cs typeface="Arial" pitchFamily="34" charset="0"/>
              </a:rPr>
              <a:t>   “Diagnostic” SVD algorithm</a:t>
            </a:r>
            <a:endParaRPr lang="zh-CN" altLang="en-US" sz="2400" dirty="0">
              <a:latin typeface="Arial" pitchFamily="34" charset="0"/>
              <a:ea typeface="黑体" pitchFamily="49" charset="-122"/>
              <a:cs typeface="Arial" pitchFamily="34"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49</a:t>
            </a:fld>
            <a:endParaRPr lang="zh-CN" altLang="en-US"/>
          </a:p>
        </p:txBody>
      </p:sp>
      <p:sp>
        <p:nvSpPr>
          <p:cNvPr id="3" name="矩形 2"/>
          <p:cNvSpPr/>
          <p:nvPr/>
        </p:nvSpPr>
        <p:spPr>
          <a:xfrm>
            <a:off x="611560" y="170637"/>
            <a:ext cx="7560840" cy="523220"/>
          </a:xfrm>
          <a:prstGeom prst="rect">
            <a:avLst/>
          </a:prstGeom>
        </p:spPr>
        <p:txBody>
          <a:bodyPr wrap="square">
            <a:spAutoFit/>
          </a:bodyPr>
          <a:lstStyle/>
          <a:p>
            <a:pPr algn="ctr">
              <a:buNone/>
            </a:pPr>
            <a:r>
              <a:rPr lang="zh-CN" altLang="en-US" sz="2800" b="1" dirty="0" smtClean="0">
                <a:solidFill>
                  <a:srgbClr val="FF0000"/>
                </a:solidFill>
                <a:latin typeface="Arial" pitchFamily="34" charset="0"/>
                <a:ea typeface="黑体" pitchFamily="49" charset="-122"/>
                <a:cs typeface="Arial" pitchFamily="34" charset="0"/>
              </a:rPr>
              <a:t>（</a:t>
            </a:r>
            <a:r>
              <a:rPr lang="en-US" altLang="zh-CN" sz="2800" b="1" dirty="0" smtClean="0">
                <a:solidFill>
                  <a:srgbClr val="FF0000"/>
                </a:solidFill>
                <a:latin typeface="Arial" pitchFamily="34" charset="0"/>
                <a:ea typeface="黑体" pitchFamily="49" charset="-122"/>
                <a:cs typeface="Arial" pitchFamily="34" charset="0"/>
              </a:rPr>
              <a:t>4</a:t>
            </a:r>
            <a:r>
              <a:rPr lang="zh-CN" altLang="en-US" sz="2800" b="1" dirty="0">
                <a:solidFill>
                  <a:srgbClr val="FF0000"/>
                </a:solidFill>
                <a:latin typeface="Arial" pitchFamily="34" charset="0"/>
                <a:ea typeface="黑体" pitchFamily="49" charset="-122"/>
                <a:cs typeface="Arial" pitchFamily="34" charset="0"/>
              </a:rPr>
              <a:t>）其他降维算法</a:t>
            </a:r>
            <a:endParaRPr lang="zh-CN" altLang="en-US" sz="2800" b="1" dirty="0" smtClean="0">
              <a:solidFill>
                <a:srgbClr val="FF0000"/>
              </a:solidFill>
              <a:latin typeface="Arial" pitchFamily="34" charset="0"/>
              <a:ea typeface="黑体" pitchFamily="49" charset="-122"/>
              <a:cs typeface="Arial" pitchFamily="34" charset="0"/>
            </a:endParaRPr>
          </a:p>
        </p:txBody>
      </p:sp>
      <p:sp>
        <p:nvSpPr>
          <p:cNvPr id="4" name="内容占位符 2"/>
          <p:cNvSpPr txBox="1">
            <a:spLocks/>
          </p:cNvSpPr>
          <p:nvPr/>
        </p:nvSpPr>
        <p:spPr>
          <a:xfrm>
            <a:off x="107504" y="801288"/>
            <a:ext cx="9036496" cy="1979640"/>
          </a:xfrm>
          <a:prstGeom prst="rect">
            <a:avLst/>
          </a:prstGeom>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Char char="n"/>
            </a:pPr>
            <a:r>
              <a:rPr lang="zh-CN" altLang="en-US" sz="2400" dirty="0">
                <a:solidFill>
                  <a:srgbClr val="000099"/>
                </a:solidFill>
                <a:latin typeface="Arial" panose="020B0604020202020204" pitchFamily="34" charset="0"/>
                <a:ea typeface="黑体" panose="02010609060101010101" pitchFamily="49" charset="-122"/>
                <a:cs typeface="Arial" panose="020B0604020202020204" pitchFamily="34" charset="0"/>
              </a:rPr>
              <a:t>局部线性</a:t>
            </a:r>
            <a:r>
              <a:rPr lang="zh-CN" altLang="en-US" sz="2400" dirty="0" smtClean="0">
                <a:solidFill>
                  <a:srgbClr val="000099"/>
                </a:solidFill>
                <a:latin typeface="Arial" panose="020B0604020202020204" pitchFamily="34" charset="0"/>
                <a:ea typeface="黑体" panose="02010609060101010101" pitchFamily="49" charset="-122"/>
                <a:cs typeface="Arial" panose="020B0604020202020204" pitchFamily="34" charset="0"/>
              </a:rPr>
              <a:t>嵌入（</a:t>
            </a:r>
            <a:r>
              <a:rPr lang="en-US" altLang="zh-CN" sz="2400" dirty="0">
                <a:solidFill>
                  <a:srgbClr val="000099"/>
                </a:solidFill>
                <a:latin typeface="Arial" panose="020B0604020202020204" pitchFamily="34" charset="0"/>
                <a:ea typeface="黑体" panose="02010609060101010101" pitchFamily="49" charset="-122"/>
                <a:cs typeface="Arial" panose="020B0604020202020204" pitchFamily="34" charset="0"/>
              </a:rPr>
              <a:t>Locally linear </a:t>
            </a:r>
            <a:r>
              <a:rPr lang="en-US" altLang="zh-CN" sz="2400" dirty="0" smtClean="0">
                <a:solidFill>
                  <a:srgbClr val="000099"/>
                </a:solidFill>
                <a:latin typeface="Arial" panose="020B0604020202020204" pitchFamily="34" charset="0"/>
                <a:ea typeface="黑体" panose="02010609060101010101" pitchFamily="49" charset="-122"/>
                <a:cs typeface="Arial" panose="020B0604020202020204" pitchFamily="34" charset="0"/>
              </a:rPr>
              <a:t>embedding</a:t>
            </a:r>
            <a:r>
              <a:rPr lang="zh-CN" altLang="en-US" sz="2400" dirty="0" smtClean="0">
                <a:solidFill>
                  <a:srgbClr val="000099"/>
                </a:solidFill>
                <a:latin typeface="Arial" panose="020B0604020202020204" pitchFamily="34" charset="0"/>
                <a:ea typeface="黑体" panose="02010609060101010101" pitchFamily="49" charset="-122"/>
                <a:cs typeface="Arial" panose="020B0604020202020204" pitchFamily="34" charset="0"/>
              </a:rPr>
              <a:t>，</a:t>
            </a:r>
            <a:r>
              <a:rPr lang="en-US" altLang="zh-CN" sz="2400" dirty="0" smtClean="0">
                <a:solidFill>
                  <a:srgbClr val="000099"/>
                </a:solidFill>
                <a:latin typeface="Arial" panose="020B0604020202020204" pitchFamily="34" charset="0"/>
                <a:ea typeface="黑体" panose="02010609060101010101" pitchFamily="49" charset="-122"/>
                <a:cs typeface="Arial" panose="020B0604020202020204" pitchFamily="34" charset="0"/>
              </a:rPr>
              <a:t>LLE</a:t>
            </a:r>
            <a:r>
              <a:rPr lang="zh-CN" altLang="en-US" sz="2400" dirty="0" smtClean="0">
                <a:solidFill>
                  <a:srgbClr val="000099"/>
                </a:solidFill>
                <a:latin typeface="Arial" panose="020B0604020202020204" pitchFamily="34" charset="0"/>
                <a:ea typeface="黑体" panose="02010609060101010101" pitchFamily="49" charset="-122"/>
                <a:cs typeface="Arial" panose="020B0604020202020204" pitchFamily="34" charset="0"/>
              </a:rPr>
              <a:t>）</a:t>
            </a:r>
            <a:r>
              <a:rPr lang="zh-CN" altLang="en-US" sz="2400" dirty="0">
                <a:latin typeface="Arial" panose="020B0604020202020204" pitchFamily="34" charset="0"/>
                <a:ea typeface="黑体" panose="02010609060101010101" pitchFamily="49" charset="-122"/>
                <a:cs typeface="Arial" panose="020B0604020202020204" pitchFamily="34" charset="0"/>
              </a:rPr>
              <a:t>是一种非线性降维算法，它能够使降维后的数据较好地保持</a:t>
            </a:r>
            <a:r>
              <a:rPr lang="zh-CN" altLang="en-US" sz="2400" dirty="0" smtClean="0">
                <a:latin typeface="Arial" panose="020B0604020202020204" pitchFamily="34" charset="0"/>
                <a:ea typeface="黑体" panose="02010609060101010101" pitchFamily="49" charset="-122"/>
                <a:cs typeface="Arial" panose="020B0604020202020204" pitchFamily="34" charset="0"/>
              </a:rPr>
              <a:t>原有流形</a:t>
            </a:r>
            <a:r>
              <a:rPr lang="zh-CN" altLang="en-US" sz="2400" dirty="0">
                <a:latin typeface="Arial" panose="020B0604020202020204" pitchFamily="34" charset="0"/>
                <a:ea typeface="黑体" panose="02010609060101010101" pitchFamily="49" charset="-122"/>
                <a:cs typeface="Arial" panose="020B0604020202020204" pitchFamily="34" charset="0"/>
              </a:rPr>
              <a:t>结构 </a:t>
            </a:r>
            <a:r>
              <a:rPr lang="zh-CN" altLang="en-US" sz="2400" dirty="0" smtClean="0">
                <a:latin typeface="Arial" panose="020B0604020202020204" pitchFamily="34" charset="0"/>
                <a:ea typeface="黑体" panose="02010609060101010101" pitchFamily="49" charset="-122"/>
                <a:cs typeface="Arial" panose="020B0604020202020204" pitchFamily="34" charset="0"/>
              </a:rPr>
              <a:t>，可以</a:t>
            </a:r>
            <a:r>
              <a:rPr lang="zh-CN" altLang="en-US" sz="2400" dirty="0">
                <a:latin typeface="Arial" panose="020B0604020202020204" pitchFamily="34" charset="0"/>
                <a:ea typeface="黑体" panose="02010609060101010101" pitchFamily="49" charset="-122"/>
                <a:cs typeface="Arial" panose="020B0604020202020204" pitchFamily="34" charset="0"/>
              </a:rPr>
              <a:t>说是流形学习方法最经典的工作</a:t>
            </a:r>
            <a:r>
              <a:rPr lang="zh-CN" altLang="en-US" sz="2400" dirty="0" smtClean="0">
                <a:latin typeface="Arial" panose="020B0604020202020204" pitchFamily="34" charset="0"/>
                <a:ea typeface="黑体" panose="02010609060101010101" pitchFamily="49" charset="-122"/>
                <a:cs typeface="Arial" panose="020B0604020202020204" pitchFamily="34" charset="0"/>
              </a:rPr>
              <a:t>之一；</a:t>
            </a:r>
            <a:endParaRPr lang="en-US" altLang="zh-CN" sz="2400" dirty="0">
              <a:latin typeface="Arial" panose="020B0604020202020204" pitchFamily="34" charset="0"/>
              <a:ea typeface="黑体" panose="02010609060101010101" pitchFamily="49" charset="-122"/>
              <a:cs typeface="Arial" panose="020B0604020202020204" pitchFamily="34" charset="0"/>
            </a:endParaRPr>
          </a:p>
          <a:p>
            <a:pPr marL="457200" lvl="1" indent="0">
              <a:buNone/>
            </a:pPr>
            <a:r>
              <a:rPr lang="en-US" altLang="zh-CN" sz="2000" dirty="0" smtClean="0">
                <a:latin typeface="Arial" panose="020B0604020202020204" pitchFamily="34" charset="0"/>
                <a:ea typeface="黑体" panose="02010609060101010101" pitchFamily="49" charset="-122"/>
                <a:cs typeface="Arial" panose="020B0604020202020204" pitchFamily="34" charset="0"/>
              </a:rPr>
              <a:t>  LLE</a:t>
            </a:r>
            <a:r>
              <a:rPr lang="zh-CN" altLang="en-US" sz="2000" dirty="0">
                <a:latin typeface="Arial" panose="020B0604020202020204" pitchFamily="34" charset="0"/>
                <a:ea typeface="黑体" panose="02010609060101010101" pitchFamily="49" charset="-122"/>
                <a:cs typeface="Arial" panose="020B0604020202020204" pitchFamily="34" charset="0"/>
              </a:rPr>
              <a:t>算法认为每一个数据点都可以由其近邻点的线性加权组合构造</a:t>
            </a:r>
            <a:r>
              <a:rPr lang="zh-CN" altLang="en-US" sz="2000" dirty="0" smtClean="0">
                <a:latin typeface="Arial" panose="020B0604020202020204" pitchFamily="34" charset="0"/>
                <a:ea typeface="黑体" panose="02010609060101010101" pitchFamily="49" charset="-122"/>
                <a:cs typeface="Arial" panose="020B0604020202020204" pitchFamily="34" charset="0"/>
              </a:rPr>
              <a:t>得到。</a:t>
            </a:r>
            <a:endParaRPr lang="en-US" altLang="zh-CN" sz="2000" dirty="0" smtClean="0">
              <a:latin typeface="Arial" panose="020B0604020202020204" pitchFamily="34" charset="0"/>
              <a:ea typeface="黑体" panose="02010609060101010101" pitchFamily="49" charset="-122"/>
              <a:cs typeface="Arial" panose="020B0604020202020204" pitchFamily="34" charset="0"/>
            </a:endParaRPr>
          </a:p>
          <a:p>
            <a:pPr>
              <a:buFont typeface="Wingdings" pitchFamily="2" charset="2"/>
              <a:buChar char="n"/>
            </a:pPr>
            <a:endParaRPr lang="en-US" altLang="zh-CN" sz="2400" dirty="0">
              <a:latin typeface="Arial" panose="020B0604020202020204" pitchFamily="34" charset="0"/>
              <a:ea typeface="黑体" panose="02010609060101010101" pitchFamily="49" charset="-122"/>
              <a:cs typeface="Arial" panose="020B0604020202020204" pitchFamily="34" charset="0"/>
            </a:endParaRPr>
          </a:p>
          <a:p>
            <a:pPr>
              <a:buFont typeface="Wingdings" pitchFamily="2" charset="2"/>
              <a:buChar char="n"/>
            </a:pPr>
            <a:endParaRPr lang="en-US" altLang="zh-CN" sz="2400" dirty="0" smtClean="0">
              <a:latin typeface="Arial" panose="020B0604020202020204" pitchFamily="34" charset="0"/>
              <a:ea typeface="黑体" panose="02010609060101010101" pitchFamily="49" charset="-122"/>
              <a:cs typeface="Arial" panose="020B0604020202020204" pitchFamily="34" charset="0"/>
            </a:endParaRPr>
          </a:p>
        </p:txBody>
      </p:sp>
      <p:pic>
        <p:nvPicPr>
          <p:cNvPr id="8194" name="Picture 2" descr="http://www.q235cwfgg.com/uploads/f4b9c0e7.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609" y="2708920"/>
            <a:ext cx="8690619" cy="2880320"/>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356217" y="5746030"/>
            <a:ext cx="8608271" cy="923330"/>
          </a:xfrm>
          <a:prstGeom prst="rect">
            <a:avLst/>
          </a:prstGeom>
        </p:spPr>
        <p:txBody>
          <a:bodyPr wrap="square">
            <a:spAutoFit/>
          </a:bodyPr>
          <a:lstStyle/>
          <a:p>
            <a:r>
              <a:rPr lang="zh-CN" altLang="en-US" dirty="0" smtClean="0">
                <a:latin typeface="Arial" panose="020B0604020202020204" pitchFamily="34" charset="0"/>
                <a:ea typeface="黑体" panose="02010609060101010101" pitchFamily="49" charset="-122"/>
                <a:cs typeface="Arial" panose="020B0604020202020204" pitchFamily="34" charset="0"/>
              </a:rPr>
              <a:t>见上图，</a:t>
            </a:r>
            <a:r>
              <a:rPr lang="zh-CN" altLang="en-US" dirty="0">
                <a:latin typeface="Arial" panose="020B0604020202020204" pitchFamily="34" charset="0"/>
                <a:ea typeface="黑体" panose="02010609060101010101" pitchFamily="49" charset="-122"/>
                <a:cs typeface="Arial" panose="020B0604020202020204" pitchFamily="34" charset="0"/>
              </a:rPr>
              <a:t>使用LLE将三维数据（b）映射到二维（c）之后，映射后的数据仍能保持原有的数据流形（红色的点互相接近，蓝色的也互相接近），说明LLE有效地保持了数据原有的流行结构。</a:t>
            </a:r>
          </a:p>
        </p:txBody>
      </p:sp>
    </p:spTree>
    <p:extLst>
      <p:ext uri="{BB962C8B-B14F-4D97-AF65-F5344CB8AC3E}">
        <p14:creationId xmlns:p14="http://schemas.microsoft.com/office/powerpoint/2010/main" val="303789851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50</a:t>
            </a:fld>
            <a:endParaRPr lang="zh-CN" altLang="en-US"/>
          </a:p>
        </p:txBody>
      </p:sp>
      <p:sp>
        <p:nvSpPr>
          <p:cNvPr id="3" name="内容占位符 2"/>
          <p:cNvSpPr txBox="1">
            <a:spLocks/>
          </p:cNvSpPr>
          <p:nvPr/>
        </p:nvSpPr>
        <p:spPr>
          <a:xfrm>
            <a:off x="107504" y="404664"/>
            <a:ext cx="8928992" cy="2016224"/>
          </a:xfrm>
          <a:prstGeom prst="rect">
            <a:avLst/>
          </a:prstGeom>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Char char="n"/>
            </a:pPr>
            <a:r>
              <a:rPr lang="zh-CN" altLang="en-US" sz="2400" dirty="0">
                <a:solidFill>
                  <a:srgbClr val="000099"/>
                </a:solidFill>
                <a:latin typeface="Arial" panose="020B0604020202020204" pitchFamily="34" charset="0"/>
                <a:ea typeface="黑体" panose="02010609060101010101" pitchFamily="49" charset="-122"/>
                <a:cs typeface="Arial" panose="020B0604020202020204" pitchFamily="34" charset="0"/>
              </a:rPr>
              <a:t>拉普拉斯特征</a:t>
            </a:r>
            <a:r>
              <a:rPr lang="zh-CN" altLang="en-US" sz="2400" dirty="0" smtClean="0">
                <a:solidFill>
                  <a:srgbClr val="000099"/>
                </a:solidFill>
                <a:latin typeface="Arial" panose="020B0604020202020204" pitchFamily="34" charset="0"/>
                <a:ea typeface="黑体" panose="02010609060101010101" pitchFamily="49" charset="-122"/>
                <a:cs typeface="Arial" panose="020B0604020202020204" pitchFamily="34" charset="0"/>
              </a:rPr>
              <a:t>映射（</a:t>
            </a:r>
            <a:r>
              <a:rPr lang="en-US" altLang="zh-CN" sz="2400" dirty="0" smtClean="0">
                <a:solidFill>
                  <a:srgbClr val="000099"/>
                </a:solidFill>
                <a:latin typeface="Arial" panose="020B0604020202020204" pitchFamily="34" charset="0"/>
                <a:ea typeface="黑体" panose="02010609060101010101" pitchFamily="49" charset="-122"/>
                <a:cs typeface="Arial" panose="020B0604020202020204" pitchFamily="34" charset="0"/>
              </a:rPr>
              <a:t>Laplacian </a:t>
            </a:r>
            <a:r>
              <a:rPr lang="en-US" altLang="zh-CN" sz="2400" dirty="0" err="1" smtClean="0">
                <a:solidFill>
                  <a:srgbClr val="000099"/>
                </a:solidFill>
                <a:latin typeface="Arial" panose="020B0604020202020204" pitchFamily="34" charset="0"/>
                <a:ea typeface="黑体" panose="02010609060101010101" pitchFamily="49" charset="-122"/>
                <a:cs typeface="Arial" panose="020B0604020202020204" pitchFamily="34" charset="0"/>
              </a:rPr>
              <a:t>Eigenmap</a:t>
            </a:r>
            <a:r>
              <a:rPr lang="zh-CN" altLang="en-US" sz="2400" dirty="0" smtClean="0">
                <a:solidFill>
                  <a:srgbClr val="000099"/>
                </a:solidFill>
                <a:latin typeface="Arial" panose="020B0604020202020204" pitchFamily="34" charset="0"/>
                <a:ea typeface="黑体" panose="02010609060101010101" pitchFamily="49" charset="-122"/>
                <a:cs typeface="Arial" panose="020B0604020202020204" pitchFamily="34" charset="0"/>
              </a:rPr>
              <a:t>）</a:t>
            </a:r>
            <a:r>
              <a:rPr lang="zh-CN" altLang="en-US" sz="2400" dirty="0" smtClean="0">
                <a:latin typeface="Arial" panose="020B0604020202020204" pitchFamily="34" charset="0"/>
                <a:ea typeface="黑体" panose="02010609060101010101" pitchFamily="49" charset="-122"/>
                <a:cs typeface="Arial" panose="020B0604020202020204" pitchFamily="34" charset="0"/>
              </a:rPr>
              <a:t>是</a:t>
            </a:r>
            <a:r>
              <a:rPr lang="zh-CN" altLang="en-US" sz="2400" dirty="0">
                <a:latin typeface="Arial" panose="020B0604020202020204" pitchFamily="34" charset="0"/>
                <a:ea typeface="黑体" panose="02010609060101010101" pitchFamily="49" charset="-122"/>
                <a:cs typeface="Arial" panose="020B0604020202020204" pitchFamily="34" charset="0"/>
              </a:rPr>
              <a:t>一种不太常见的降维算法</a:t>
            </a:r>
            <a:r>
              <a:rPr lang="zh-CN" altLang="en-US" sz="2400" dirty="0" smtClean="0">
                <a:latin typeface="Arial" panose="020B0604020202020204" pitchFamily="34" charset="0"/>
                <a:ea typeface="黑体" panose="02010609060101010101" pitchFamily="49" charset="-122"/>
                <a:cs typeface="Arial" panose="020B0604020202020204" pitchFamily="34" charset="0"/>
              </a:rPr>
              <a:t>，是</a:t>
            </a:r>
            <a:r>
              <a:rPr lang="zh-CN" altLang="en-US" sz="2400" dirty="0">
                <a:latin typeface="Arial" panose="020B0604020202020204" pitchFamily="34" charset="0"/>
                <a:ea typeface="黑体" panose="02010609060101010101" pitchFamily="49" charset="-122"/>
                <a:cs typeface="Arial" panose="020B0604020202020204" pitchFamily="34" charset="0"/>
              </a:rPr>
              <a:t>从局部的角度去构建数据之间的</a:t>
            </a:r>
            <a:r>
              <a:rPr lang="zh-CN" altLang="en-US" sz="2400" dirty="0" smtClean="0">
                <a:latin typeface="Arial" panose="020B0604020202020204" pitchFamily="34" charset="0"/>
                <a:ea typeface="黑体" panose="02010609060101010101" pitchFamily="49" charset="-122"/>
                <a:cs typeface="Arial" panose="020B0604020202020204" pitchFamily="34" charset="0"/>
              </a:rPr>
              <a:t>关系；这是</a:t>
            </a:r>
            <a:r>
              <a:rPr lang="zh-CN" altLang="en-US" sz="2400" dirty="0">
                <a:latin typeface="Arial" panose="020B0604020202020204" pitchFamily="34" charset="0"/>
                <a:ea typeface="黑体" panose="02010609060101010101" pitchFamily="49" charset="-122"/>
                <a:cs typeface="Arial" panose="020B0604020202020204" pitchFamily="34" charset="0"/>
              </a:rPr>
              <a:t>一种基于图的降维算法，它希望相互间有关系的点（在图中相连的点）在降维后的空间中</a:t>
            </a:r>
            <a:r>
              <a:rPr lang="zh-CN" altLang="en-US" sz="2400" dirty="0" smtClean="0">
                <a:latin typeface="Arial" panose="020B0604020202020204" pitchFamily="34" charset="0"/>
                <a:ea typeface="黑体" panose="02010609060101010101" pitchFamily="49" charset="-122"/>
                <a:cs typeface="Arial" panose="020B0604020202020204" pitchFamily="34" charset="0"/>
              </a:rPr>
              <a:t>尽可能靠近</a:t>
            </a:r>
            <a:r>
              <a:rPr lang="zh-CN" altLang="en-US" sz="2400" dirty="0">
                <a:latin typeface="Arial" panose="020B0604020202020204" pitchFamily="34" charset="0"/>
                <a:ea typeface="黑体" panose="02010609060101010101" pitchFamily="49" charset="-122"/>
                <a:cs typeface="Arial" panose="020B0604020202020204" pitchFamily="34" charset="0"/>
              </a:rPr>
              <a:t>，从而在降维后仍能保持原有的数据结构。 </a:t>
            </a:r>
          </a:p>
        </p:txBody>
      </p:sp>
      <p:pic>
        <p:nvPicPr>
          <p:cNvPr id="9218" name="Picture 2" descr="http://www.q235cwfgg.com/uploads/788198eaaefd3.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23830" y="2420888"/>
            <a:ext cx="6596170" cy="2915346"/>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323528" y="5373216"/>
            <a:ext cx="8712968" cy="1200329"/>
          </a:xfrm>
          <a:prstGeom prst="rect">
            <a:avLst/>
          </a:prstGeom>
        </p:spPr>
        <p:txBody>
          <a:bodyPr wrap="square">
            <a:spAutoFit/>
          </a:bodyPr>
          <a:lstStyle/>
          <a:p>
            <a:r>
              <a:rPr lang="zh-CN" altLang="en-US" dirty="0" smtClean="0">
                <a:latin typeface="Arial" panose="020B0604020202020204" pitchFamily="34" charset="0"/>
                <a:ea typeface="黑体" panose="02010609060101010101" pitchFamily="49" charset="-122"/>
                <a:cs typeface="Arial" panose="020B0604020202020204" pitchFamily="34" charset="0"/>
              </a:rPr>
              <a:t>见</a:t>
            </a:r>
            <a:r>
              <a:rPr lang="zh-CN" altLang="en-US" dirty="0">
                <a:latin typeface="Arial" panose="020B0604020202020204" pitchFamily="34" charset="0"/>
                <a:ea typeface="黑体" panose="02010609060101010101" pitchFamily="49" charset="-122"/>
                <a:cs typeface="Arial" panose="020B0604020202020204" pitchFamily="34" charset="0"/>
              </a:rPr>
              <a:t>上图</a:t>
            </a:r>
            <a:r>
              <a:rPr lang="zh-CN" altLang="en-US" dirty="0" smtClean="0">
                <a:latin typeface="Arial" panose="020B0604020202020204" pitchFamily="34" charset="0"/>
                <a:ea typeface="黑体" panose="02010609060101010101" pitchFamily="49" charset="-122"/>
                <a:cs typeface="Arial" panose="020B0604020202020204" pitchFamily="34" charset="0"/>
              </a:rPr>
              <a:t>所</a:t>
            </a:r>
            <a:r>
              <a:rPr lang="zh-CN" altLang="en-US" dirty="0">
                <a:latin typeface="Arial" panose="020B0604020202020204" pitchFamily="34" charset="0"/>
                <a:ea typeface="黑体" panose="02010609060101010101" pitchFamily="49" charset="-122"/>
                <a:cs typeface="Arial" panose="020B0604020202020204" pitchFamily="34" charset="0"/>
              </a:rPr>
              <a:t>示，左边的图表示有两类数据点（数据是图片），中间图表示采用Laplacian Eigenmap降维后每个数据点在二维空间中的位置，右边的图表示采用PCA并取前两个主要方向投影后的</a:t>
            </a:r>
            <a:r>
              <a:rPr lang="zh-CN" altLang="en-US" dirty="0" smtClean="0">
                <a:latin typeface="Arial" panose="020B0604020202020204" pitchFamily="34" charset="0"/>
                <a:ea typeface="黑体" panose="02010609060101010101" pitchFamily="49" charset="-122"/>
                <a:cs typeface="Arial" panose="020B0604020202020204" pitchFamily="34" charset="0"/>
              </a:rPr>
              <a:t>结果。可以</a:t>
            </a:r>
            <a:r>
              <a:rPr lang="zh-CN" altLang="en-US" dirty="0">
                <a:latin typeface="Arial" panose="020B0604020202020204" pitchFamily="34" charset="0"/>
                <a:ea typeface="黑体" panose="02010609060101010101" pitchFamily="49" charset="-122"/>
                <a:cs typeface="Arial" panose="020B0604020202020204" pitchFamily="34" charset="0"/>
              </a:rPr>
              <a:t>清楚地看到，在此分类</a:t>
            </a:r>
            <a:r>
              <a:rPr lang="zh-CN" altLang="en-US" dirty="0" smtClean="0">
                <a:latin typeface="Arial" panose="020B0604020202020204" pitchFamily="34" charset="0"/>
                <a:ea typeface="黑体" panose="02010609060101010101" pitchFamily="49" charset="-122"/>
                <a:cs typeface="Arial" panose="020B0604020202020204" pitchFamily="34" charset="0"/>
              </a:rPr>
              <a:t>问题上</a:t>
            </a:r>
            <a:r>
              <a:rPr lang="zh-CN" altLang="en-US" dirty="0">
                <a:latin typeface="Arial" panose="020B0604020202020204" pitchFamily="34" charset="0"/>
                <a:ea typeface="黑体" panose="02010609060101010101" pitchFamily="49" charset="-122"/>
                <a:cs typeface="Arial" panose="020B0604020202020204" pitchFamily="34" charset="0"/>
              </a:rPr>
              <a:t>，Laplacian Eigenmap的结果明显优于PCA</a:t>
            </a:r>
            <a:r>
              <a:rPr lang="zh-CN" altLang="en-US" dirty="0" smtClean="0">
                <a:latin typeface="Arial" panose="020B0604020202020204" pitchFamily="34" charset="0"/>
                <a:ea typeface="黑体" panose="02010609060101010101" pitchFamily="49" charset="-122"/>
                <a:cs typeface="Arial" panose="020B0604020202020204" pitchFamily="34" charset="0"/>
              </a:rPr>
              <a:t>。</a:t>
            </a:r>
            <a:endParaRPr lang="zh-CN" altLang="en-US" dirty="0">
              <a:latin typeface="Arial" panose="020B0604020202020204" pitchFamily="34" charset="0"/>
              <a:ea typeface="黑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262671793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51</a:t>
            </a:fld>
            <a:endParaRPr lang="zh-CN" altLang="en-US"/>
          </a:p>
        </p:txBody>
      </p:sp>
      <p:sp>
        <p:nvSpPr>
          <p:cNvPr id="3" name="标题 1"/>
          <p:cNvSpPr txBox="1">
            <a:spLocks/>
          </p:cNvSpPr>
          <p:nvPr/>
        </p:nvSpPr>
        <p:spPr>
          <a:xfrm>
            <a:off x="0" y="116632"/>
            <a:ext cx="9144000" cy="1008112"/>
          </a:xfrm>
          <a:prstGeom prst="rect">
            <a:avLst/>
          </a:prstGeom>
        </p:spPr>
        <p:txBody>
          <a:bodyPr/>
          <a:lstStyle/>
          <a:p>
            <a:pPr algn="ctr" eaLnBrk="0" hangingPunct="0"/>
            <a:r>
              <a:rPr kumimoji="0" lang="en-US" altLang="zh-CN" sz="3200" b="1" i="0" u="none" strike="noStrike" kern="1200" cap="none" spc="0" normalizeH="0" baseline="0" noProof="0" dirty="0" smtClean="0">
                <a:ln>
                  <a:noFill/>
                </a:ln>
                <a:solidFill>
                  <a:srgbClr val="FF0000"/>
                </a:solidFill>
                <a:effectLst/>
                <a:uLnTx/>
                <a:uFillTx/>
                <a:latin typeface="Arial" pitchFamily="34" charset="0"/>
                <a:ea typeface="黑体" pitchFamily="49" charset="-122"/>
                <a:cs typeface="Arial" pitchFamily="34" charset="0"/>
              </a:rPr>
              <a:t>8. </a:t>
            </a:r>
            <a:r>
              <a:rPr lang="zh-CN" altLang="en-US" sz="3200" b="1" dirty="0" smtClean="0">
                <a:solidFill>
                  <a:srgbClr val="FF0000"/>
                </a:solidFill>
                <a:latin typeface="Arial" pitchFamily="34" charset="0"/>
                <a:ea typeface="黑体" pitchFamily="49" charset="-122"/>
                <a:cs typeface="Arial" pitchFamily="34" charset="0"/>
              </a:rPr>
              <a:t>临床预测模型</a:t>
            </a:r>
            <a:r>
              <a:rPr lang="en-US" altLang="zh-CN" sz="3200" b="1" dirty="0" smtClean="0">
                <a:solidFill>
                  <a:srgbClr val="FF0000"/>
                </a:solidFill>
                <a:latin typeface="Arial" pitchFamily="34" charset="0"/>
                <a:ea typeface="黑体" pitchFamily="49" charset="-122"/>
                <a:cs typeface="Arial" pitchFamily="34" charset="0"/>
              </a:rPr>
              <a:t>— LASSO</a:t>
            </a:r>
            <a:r>
              <a:rPr lang="zh-CN" altLang="en-US" sz="3200" b="1" dirty="0" smtClean="0">
                <a:solidFill>
                  <a:srgbClr val="FF0000"/>
                </a:solidFill>
                <a:latin typeface="Arial" pitchFamily="34" charset="0"/>
                <a:ea typeface="黑体" pitchFamily="49" charset="-122"/>
                <a:cs typeface="Arial" pitchFamily="34" charset="0"/>
              </a:rPr>
              <a:t>回归</a:t>
            </a:r>
            <a:r>
              <a:rPr lang="en-US" altLang="zh-CN" sz="2800" b="1" dirty="0" smtClean="0">
                <a:solidFill>
                  <a:srgbClr val="FF0000"/>
                </a:solidFill>
                <a:latin typeface="Arial" pitchFamily="34" charset="0"/>
                <a:ea typeface="黑体" pitchFamily="49" charset="-122"/>
                <a:cs typeface="Arial" pitchFamily="34" charset="0"/>
              </a:rPr>
              <a:t/>
            </a:r>
            <a:br>
              <a:rPr lang="en-US" altLang="zh-CN" sz="2800" b="1" dirty="0" smtClean="0">
                <a:solidFill>
                  <a:srgbClr val="FF0000"/>
                </a:solidFill>
                <a:latin typeface="Arial" pitchFamily="34" charset="0"/>
                <a:ea typeface="黑体" pitchFamily="49" charset="-122"/>
                <a:cs typeface="Arial" pitchFamily="34" charset="0"/>
              </a:rPr>
            </a:br>
            <a:r>
              <a:rPr lang="en-US" altLang="zh-CN" sz="2800" b="1" dirty="0" smtClean="0">
                <a:solidFill>
                  <a:srgbClr val="FF0000"/>
                </a:solidFill>
                <a:latin typeface="Arial" pitchFamily="34" charset="0"/>
                <a:ea typeface="黑体" pitchFamily="49" charset="-122"/>
                <a:cs typeface="Arial" pitchFamily="34" charset="0"/>
              </a:rPr>
              <a:t>(Least absolute shrinkage and selection operator)</a:t>
            </a:r>
            <a:endParaRPr kumimoji="0" lang="zh-CN" altLang="en-US" sz="2800" b="0" i="0" u="none" strike="noStrike" kern="1200" cap="none" spc="0" normalizeH="0" baseline="0" noProof="0" dirty="0">
              <a:ln>
                <a:noFill/>
              </a:ln>
              <a:solidFill>
                <a:srgbClr val="FF0000"/>
              </a:solidFill>
              <a:effectLst/>
              <a:uLnTx/>
              <a:uFillTx/>
              <a:latin typeface="Arial" pitchFamily="34" charset="0"/>
              <a:ea typeface="黑体" pitchFamily="49" charset="-122"/>
              <a:cs typeface="Arial" pitchFamily="34" charset="0"/>
            </a:endParaRPr>
          </a:p>
        </p:txBody>
      </p:sp>
      <p:sp>
        <p:nvSpPr>
          <p:cNvPr id="5" name="内容占位符 2"/>
          <p:cNvSpPr txBox="1">
            <a:spLocks/>
          </p:cNvSpPr>
          <p:nvPr/>
        </p:nvSpPr>
        <p:spPr>
          <a:xfrm>
            <a:off x="0" y="1196752"/>
            <a:ext cx="9108504" cy="5616624"/>
          </a:xfrm>
          <a:prstGeom prst="rect">
            <a:avLst/>
          </a:prstGeom>
        </p:spPr>
        <p:txBody>
          <a:bodyPr/>
          <a:lstStyle/>
          <a:p>
            <a:pPr marL="342900" lvl="0" indent="-342900" eaLnBrk="0" hangingPunct="0">
              <a:spcBef>
                <a:spcPct val="20000"/>
              </a:spcBef>
              <a:buFont typeface="Wingdings" pitchFamily="2" charset="2"/>
              <a:buChar char="n"/>
            </a:pPr>
            <a:r>
              <a:rPr lang="en-US" altLang="zh-CN" sz="2400" dirty="0" smtClean="0">
                <a:latin typeface="Arial" pitchFamily="34" charset="0"/>
                <a:ea typeface="黑体" pitchFamily="49" charset="-122"/>
                <a:cs typeface="Arial" pitchFamily="34" charset="0"/>
              </a:rPr>
              <a:t>LASSO</a:t>
            </a:r>
            <a:r>
              <a:rPr lang="zh-CN" altLang="en-US" sz="2400" dirty="0" smtClean="0">
                <a:latin typeface="Arial" pitchFamily="34" charset="0"/>
                <a:ea typeface="黑体" pitchFamily="49" charset="-122"/>
                <a:cs typeface="Arial" pitchFamily="34" charset="0"/>
              </a:rPr>
              <a:t>回归（又称套索回归）是以缩小变量集为思想的压缩估计算法和策略。它通过构造一个</a:t>
            </a:r>
            <a:r>
              <a:rPr lang="zh-CN" altLang="en-US" sz="2400" dirty="0" smtClean="0">
                <a:solidFill>
                  <a:srgbClr val="FF0000"/>
                </a:solidFill>
                <a:latin typeface="Arial" pitchFamily="34" charset="0"/>
                <a:ea typeface="黑体" pitchFamily="49" charset="-122"/>
                <a:cs typeface="Arial" pitchFamily="34" charset="0"/>
              </a:rPr>
              <a:t>惩罚函数</a:t>
            </a:r>
            <a:r>
              <a:rPr lang="zh-CN" altLang="en-US" sz="2400" dirty="0" smtClean="0">
                <a:latin typeface="Arial" pitchFamily="34" charset="0"/>
                <a:ea typeface="黑体" pitchFamily="49" charset="-122"/>
                <a:cs typeface="Arial" pitchFamily="34" charset="0"/>
              </a:rPr>
              <a:t>，可以将变量的系数进行压缩并使某些回归系数变为</a:t>
            </a:r>
            <a:r>
              <a:rPr lang="en-US" altLang="zh-CN" sz="2400" dirty="0" smtClean="0">
                <a:latin typeface="Arial" pitchFamily="34" charset="0"/>
                <a:ea typeface="黑体" pitchFamily="49" charset="-122"/>
                <a:cs typeface="Arial" pitchFamily="34" charset="0"/>
              </a:rPr>
              <a:t>0</a:t>
            </a:r>
            <a:r>
              <a:rPr lang="zh-CN" altLang="en-US" sz="2400" dirty="0" smtClean="0">
                <a:latin typeface="Arial" pitchFamily="34" charset="0"/>
                <a:ea typeface="黑体" pitchFamily="49" charset="-122"/>
                <a:cs typeface="Arial" pitchFamily="34" charset="0"/>
              </a:rPr>
              <a:t>，进而达到</a:t>
            </a:r>
            <a:r>
              <a:rPr lang="zh-CN" altLang="en-US" sz="2400" dirty="0" smtClean="0">
                <a:solidFill>
                  <a:srgbClr val="FF0000"/>
                </a:solidFill>
                <a:latin typeface="Arial" pitchFamily="34" charset="0"/>
                <a:ea typeface="黑体" pitchFamily="49" charset="-122"/>
                <a:cs typeface="Arial" pitchFamily="34" charset="0"/>
              </a:rPr>
              <a:t>变量选择</a:t>
            </a:r>
            <a:r>
              <a:rPr lang="zh-CN" altLang="en-US" sz="2400" dirty="0" smtClean="0">
                <a:latin typeface="Arial" pitchFamily="34" charset="0"/>
                <a:ea typeface="黑体" pitchFamily="49" charset="-122"/>
                <a:cs typeface="Arial" pitchFamily="34" charset="0"/>
              </a:rPr>
              <a:t>的目的；</a:t>
            </a:r>
            <a:endParaRPr lang="en-US" altLang="zh-CN" sz="2400" dirty="0" smtClean="0">
              <a:latin typeface="Arial" pitchFamily="34" charset="0"/>
              <a:ea typeface="黑体" pitchFamily="49" charset="-122"/>
              <a:cs typeface="Arial" pitchFamily="34" charset="0"/>
            </a:endParaRPr>
          </a:p>
          <a:p>
            <a:pPr marL="342900" lvl="0" indent="-342900" eaLnBrk="0" hangingPunct="0">
              <a:spcBef>
                <a:spcPct val="20000"/>
              </a:spcBef>
              <a:buFont typeface="Wingdings" pitchFamily="2" charset="2"/>
              <a:buChar char="n"/>
            </a:pPr>
            <a:endParaRPr lang="en-US" altLang="zh-CN" sz="2400" dirty="0" smtClean="0">
              <a:latin typeface="Arial" pitchFamily="34" charset="0"/>
              <a:ea typeface="黑体" pitchFamily="49" charset="-122"/>
              <a:cs typeface="Arial" pitchFamily="34" charset="0"/>
            </a:endParaRPr>
          </a:p>
          <a:p>
            <a:pPr marL="342900" lvl="0" indent="-342900" eaLnBrk="0" hangingPunct="0">
              <a:spcBef>
                <a:spcPct val="20000"/>
              </a:spcBef>
              <a:buFont typeface="Wingdings" pitchFamily="2" charset="2"/>
              <a:buChar char="n"/>
            </a:pPr>
            <a:r>
              <a:rPr lang="en-US" altLang="zh-CN" sz="2400" dirty="0" smtClean="0">
                <a:latin typeface="Arial" pitchFamily="34" charset="0"/>
                <a:ea typeface="黑体" pitchFamily="49" charset="-122"/>
                <a:cs typeface="Arial" pitchFamily="34" charset="0"/>
              </a:rPr>
              <a:t>LASSO </a:t>
            </a:r>
            <a:r>
              <a:rPr lang="zh-CN" altLang="en-US" sz="2400" dirty="0" smtClean="0">
                <a:latin typeface="Arial" pitchFamily="34" charset="0"/>
                <a:ea typeface="黑体" pitchFamily="49" charset="-122"/>
                <a:cs typeface="Arial" pitchFamily="34" charset="0"/>
              </a:rPr>
              <a:t>回归的特点是在拟合广义线性模型的同时进行</a:t>
            </a:r>
            <a:r>
              <a:rPr lang="zh-CN" altLang="en-US" sz="2400" dirty="0" smtClean="0">
                <a:solidFill>
                  <a:srgbClr val="FF0000"/>
                </a:solidFill>
                <a:latin typeface="Arial" pitchFamily="34" charset="0"/>
                <a:ea typeface="黑体" pitchFamily="49" charset="-122"/>
                <a:cs typeface="Arial" pitchFamily="34" charset="0"/>
              </a:rPr>
              <a:t>变量筛选（</a:t>
            </a:r>
            <a:r>
              <a:rPr lang="en-US" altLang="zh-CN" sz="2400" dirty="0" smtClean="0">
                <a:solidFill>
                  <a:srgbClr val="FF0000"/>
                </a:solidFill>
                <a:latin typeface="Arial" pitchFamily="34" charset="0"/>
                <a:ea typeface="黑体" pitchFamily="49" charset="-122"/>
                <a:cs typeface="Arial" pitchFamily="34" charset="0"/>
              </a:rPr>
              <a:t>variable selection</a:t>
            </a:r>
            <a:r>
              <a:rPr lang="zh-CN" altLang="en-US" sz="2400" dirty="0" smtClean="0">
                <a:solidFill>
                  <a:srgbClr val="FF0000"/>
                </a:solidFill>
                <a:latin typeface="Arial" pitchFamily="34" charset="0"/>
                <a:ea typeface="黑体" pitchFamily="49" charset="-122"/>
                <a:cs typeface="Arial" pitchFamily="34" charset="0"/>
              </a:rPr>
              <a:t>）和复杂度调整（</a:t>
            </a:r>
            <a:r>
              <a:rPr lang="en-US" altLang="zh-CN" sz="2400" dirty="0" smtClean="0">
                <a:solidFill>
                  <a:srgbClr val="FF0000"/>
                </a:solidFill>
                <a:latin typeface="Arial" pitchFamily="34" charset="0"/>
                <a:ea typeface="黑体" pitchFamily="49" charset="-122"/>
                <a:cs typeface="Arial" pitchFamily="34" charset="0"/>
              </a:rPr>
              <a:t>regularization</a:t>
            </a:r>
            <a:r>
              <a:rPr lang="zh-CN" altLang="en-US" sz="2400" dirty="0" smtClean="0">
                <a:solidFill>
                  <a:srgbClr val="FF0000"/>
                </a:solidFill>
                <a:latin typeface="Arial" pitchFamily="34" charset="0"/>
                <a:ea typeface="黑体" pitchFamily="49" charset="-122"/>
                <a:cs typeface="Arial" pitchFamily="34" charset="0"/>
              </a:rPr>
              <a:t>）</a:t>
            </a:r>
            <a:r>
              <a:rPr lang="zh-CN" altLang="en-US" sz="2400" dirty="0" smtClean="0">
                <a:latin typeface="Arial" pitchFamily="34" charset="0"/>
                <a:ea typeface="黑体" pitchFamily="49" charset="-122"/>
                <a:cs typeface="Arial" pitchFamily="34" charset="0"/>
              </a:rPr>
              <a:t>。因此不论目标因变量是连续的，还是二元或者多元离散的，都可以用 </a:t>
            </a:r>
            <a:r>
              <a:rPr lang="en-US" altLang="zh-CN" sz="2400" dirty="0" smtClean="0">
                <a:latin typeface="Arial" pitchFamily="34" charset="0"/>
                <a:ea typeface="黑体" pitchFamily="49" charset="-122"/>
                <a:cs typeface="Arial" pitchFamily="34" charset="0"/>
              </a:rPr>
              <a:t>LASSO </a:t>
            </a:r>
            <a:r>
              <a:rPr lang="zh-CN" altLang="en-US" sz="2400" dirty="0" smtClean="0">
                <a:latin typeface="Arial" pitchFamily="34" charset="0"/>
                <a:ea typeface="黑体" pitchFamily="49" charset="-122"/>
                <a:cs typeface="Arial" pitchFamily="34" charset="0"/>
              </a:rPr>
              <a:t>回归建模然后预测；</a:t>
            </a:r>
            <a:endParaRPr lang="en-US" altLang="zh-CN" sz="2400" dirty="0" smtClean="0">
              <a:latin typeface="Arial" pitchFamily="34" charset="0"/>
              <a:ea typeface="黑体" pitchFamily="49" charset="-122"/>
              <a:cs typeface="Arial" pitchFamily="34" charset="0"/>
            </a:endParaRPr>
          </a:p>
          <a:p>
            <a:pPr marL="800100" lvl="1" indent="-342900" eaLnBrk="0" hangingPunct="0">
              <a:spcBef>
                <a:spcPct val="20000"/>
              </a:spcBef>
              <a:buFont typeface="Wingdings" pitchFamily="2" charset="2"/>
              <a:buChar char="n"/>
            </a:pPr>
            <a:r>
              <a:rPr lang="zh-CN" altLang="en-US" sz="2000" dirty="0" smtClean="0">
                <a:solidFill>
                  <a:srgbClr val="0000CC"/>
                </a:solidFill>
                <a:latin typeface="Arial" pitchFamily="34" charset="0"/>
                <a:ea typeface="黑体" pitchFamily="49" charset="-122"/>
                <a:cs typeface="Arial" pitchFamily="34" charset="0"/>
              </a:rPr>
              <a:t>变量筛选</a:t>
            </a:r>
            <a:r>
              <a:rPr lang="zh-CN" altLang="en-US" sz="2000" dirty="0" smtClean="0">
                <a:latin typeface="Arial" pitchFamily="34" charset="0"/>
                <a:ea typeface="黑体" pitchFamily="49" charset="-122"/>
                <a:cs typeface="Arial" pitchFamily="34" charset="0"/>
              </a:rPr>
              <a:t>是指有选择的把变量放入模型从而得到更好的性能；</a:t>
            </a:r>
            <a:endParaRPr lang="en-US" altLang="zh-CN" sz="2000" dirty="0" smtClean="0">
              <a:latin typeface="Arial" pitchFamily="34" charset="0"/>
              <a:ea typeface="黑体" pitchFamily="49" charset="-122"/>
              <a:cs typeface="Arial" pitchFamily="34" charset="0"/>
            </a:endParaRPr>
          </a:p>
          <a:p>
            <a:pPr marL="800100" lvl="1" indent="-342900" eaLnBrk="0" hangingPunct="0">
              <a:spcBef>
                <a:spcPct val="20000"/>
              </a:spcBef>
              <a:buFont typeface="Wingdings" pitchFamily="2" charset="2"/>
              <a:buChar char="n"/>
            </a:pPr>
            <a:r>
              <a:rPr lang="zh-CN" altLang="en-US" sz="2000" dirty="0" smtClean="0">
                <a:solidFill>
                  <a:srgbClr val="0000CC"/>
                </a:solidFill>
                <a:latin typeface="Arial" pitchFamily="34" charset="0"/>
                <a:ea typeface="黑体" pitchFamily="49" charset="-122"/>
                <a:cs typeface="Arial" pitchFamily="34" charset="0"/>
              </a:rPr>
              <a:t>复杂度调整</a:t>
            </a:r>
            <a:r>
              <a:rPr lang="zh-CN" altLang="en-US" sz="2000" dirty="0" smtClean="0">
                <a:latin typeface="Arial" pitchFamily="34" charset="0"/>
                <a:ea typeface="黑体" pitchFamily="49" charset="-122"/>
                <a:cs typeface="Arial" pitchFamily="34" charset="0"/>
              </a:rPr>
              <a:t>是指通过一系列参数控制模型的复杂度，从而避免过拟合（</a:t>
            </a:r>
            <a:r>
              <a:rPr lang="en-US" altLang="zh-CN" sz="2000" dirty="0" smtClean="0">
                <a:latin typeface="Arial" pitchFamily="34" charset="0"/>
                <a:ea typeface="黑体" pitchFamily="49" charset="-122"/>
                <a:cs typeface="Arial" pitchFamily="34" charset="0"/>
              </a:rPr>
              <a:t>over-fitting</a:t>
            </a:r>
            <a:r>
              <a:rPr lang="zh-CN" altLang="en-US" sz="2000" dirty="0" smtClean="0">
                <a:latin typeface="Arial" pitchFamily="34" charset="0"/>
                <a:ea typeface="黑体" pitchFamily="49" charset="-122"/>
                <a:cs typeface="Arial" pitchFamily="34" charset="0"/>
              </a:rPr>
              <a:t>）。</a:t>
            </a:r>
            <a:endParaRPr lang="en-US" altLang="zh-CN" sz="2400" dirty="0" smtClean="0">
              <a:latin typeface="Arial" pitchFamily="34" charset="0"/>
              <a:ea typeface="黑体" pitchFamily="49" charset="-122"/>
              <a:cs typeface="Arial" pitchFamily="34" charset="0"/>
            </a:endParaRPr>
          </a:p>
          <a:p>
            <a:pPr marL="800100" lvl="1" indent="-342900" eaLnBrk="0" hangingPunct="0">
              <a:spcBef>
                <a:spcPct val="20000"/>
              </a:spcBef>
              <a:buFont typeface="Wingdings" pitchFamily="2" charset="2"/>
              <a:buChar char="n"/>
            </a:pPr>
            <a:endParaRPr kumimoji="0" lang="en-US" altLang="zh-CN" sz="2400" b="0" i="0" u="none" strike="noStrike" kern="1200" cap="none" spc="0" normalizeH="0" baseline="0" noProof="0" dirty="0" smtClean="0">
              <a:ln>
                <a:noFill/>
              </a:ln>
              <a:solidFill>
                <a:schemeClr val="tx1"/>
              </a:solidFill>
              <a:effectLst/>
              <a:uLnTx/>
              <a:uFillTx/>
              <a:latin typeface="Arial" pitchFamily="34" charset="0"/>
              <a:ea typeface="黑体" pitchFamily="49" charset="-122"/>
              <a:cs typeface="Arial" pitchFamily="34" charset="0"/>
            </a:endParaRPr>
          </a:p>
          <a:p>
            <a:pPr marL="342900" lvl="0" indent="-342900" eaLnBrk="0" hangingPunct="0">
              <a:spcBef>
                <a:spcPct val="20000"/>
              </a:spcBef>
              <a:buFont typeface="Wingdings" pitchFamily="2" charset="2"/>
              <a:buChar char="n"/>
            </a:pPr>
            <a:r>
              <a:rPr lang="zh-CN" altLang="en-US" sz="2400" dirty="0" smtClean="0">
                <a:solidFill>
                  <a:srgbClr val="C00000"/>
                </a:solidFill>
                <a:latin typeface="Arial" pitchFamily="34" charset="0"/>
                <a:ea typeface="黑体" pitchFamily="49" charset="-122"/>
                <a:cs typeface="Arial" pitchFamily="34" charset="0"/>
              </a:rPr>
              <a:t>疾病预测领域，</a:t>
            </a:r>
            <a:r>
              <a:rPr lang="en-US" altLang="zh-CN" sz="2400" dirty="0" smtClean="0">
                <a:solidFill>
                  <a:srgbClr val="C00000"/>
                </a:solidFill>
                <a:latin typeface="Arial" pitchFamily="34" charset="0"/>
                <a:ea typeface="黑体" pitchFamily="49" charset="-122"/>
                <a:cs typeface="Arial" pitchFamily="34" charset="0"/>
              </a:rPr>
              <a:t>LASSO</a:t>
            </a:r>
            <a:r>
              <a:rPr lang="zh-CN" altLang="en-US" sz="2400" dirty="0" smtClean="0">
                <a:solidFill>
                  <a:srgbClr val="C00000"/>
                </a:solidFill>
                <a:latin typeface="Arial" pitchFamily="34" charset="0"/>
                <a:ea typeface="黑体" pitchFamily="49" charset="-122"/>
                <a:cs typeface="Arial" pitchFamily="34" charset="0"/>
              </a:rPr>
              <a:t>回归在决定哪些因素可以纳入预测模型并提高模型稳健性，以及在做生物标志物筛选时，效果非常好！</a:t>
            </a:r>
            <a:endParaRPr lang="en-US" altLang="zh-CN" sz="2400" dirty="0" smtClean="0">
              <a:solidFill>
                <a:srgbClr val="C00000"/>
              </a:solidFill>
              <a:latin typeface="Arial" pitchFamily="34" charset="0"/>
              <a:ea typeface="黑体" pitchFamily="49" charset="-122"/>
              <a:cs typeface="Arial" pitchFamily="34" charset="0"/>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52</a:t>
            </a:fld>
            <a:endParaRPr lang="zh-CN" altLang="en-US"/>
          </a:p>
        </p:txBody>
      </p:sp>
      <p:sp>
        <p:nvSpPr>
          <p:cNvPr id="4" name="内容占位符 2"/>
          <p:cNvSpPr txBox="1">
            <a:spLocks/>
          </p:cNvSpPr>
          <p:nvPr/>
        </p:nvSpPr>
        <p:spPr>
          <a:xfrm>
            <a:off x="0" y="188640"/>
            <a:ext cx="9108504" cy="1656184"/>
          </a:xfrm>
          <a:prstGeom prst="rect">
            <a:avLst/>
          </a:prstGeom>
        </p:spPr>
        <p:txBody>
          <a:bodyPr/>
          <a:lstStyle/>
          <a:p>
            <a:pPr marL="342900" lvl="0" indent="-342900" eaLnBrk="0" hangingPunct="0">
              <a:spcBef>
                <a:spcPct val="20000"/>
              </a:spcBef>
              <a:buFont typeface="Wingdings" pitchFamily="2" charset="2"/>
              <a:buChar char="n"/>
            </a:pPr>
            <a:r>
              <a:rPr lang="en-US" altLang="zh-CN" sz="2400" dirty="0" smtClean="0">
                <a:latin typeface="Arial" pitchFamily="34" charset="0"/>
                <a:ea typeface="黑体" pitchFamily="49" charset="-122"/>
                <a:cs typeface="Arial" pitchFamily="34" charset="0"/>
              </a:rPr>
              <a:t>LASSO</a:t>
            </a:r>
            <a:r>
              <a:rPr lang="zh-CN" altLang="en-US" sz="2400" dirty="0" smtClean="0">
                <a:latin typeface="Arial" pitchFamily="34" charset="0"/>
                <a:ea typeface="黑体" pitchFamily="49" charset="-122"/>
                <a:cs typeface="Arial" pitchFamily="34" charset="0"/>
              </a:rPr>
              <a:t>回归的实际应用结果，</a:t>
            </a:r>
            <a:r>
              <a:rPr lang="zh-CN" altLang="en-US" sz="2400" b="1" dirty="0" smtClean="0">
                <a:solidFill>
                  <a:srgbClr val="FF0000"/>
                </a:solidFill>
                <a:latin typeface="Arial" pitchFamily="34" charset="0"/>
                <a:ea typeface="黑体" pitchFamily="49" charset="-122"/>
                <a:cs typeface="Arial" pitchFamily="34" charset="0"/>
              </a:rPr>
              <a:t>主要通过两个图展现</a:t>
            </a:r>
            <a:endParaRPr lang="en-US" altLang="zh-CN" sz="2400" b="1" dirty="0" smtClean="0">
              <a:solidFill>
                <a:srgbClr val="FF0000"/>
              </a:solidFill>
              <a:latin typeface="Arial" pitchFamily="34" charset="0"/>
              <a:ea typeface="黑体" pitchFamily="49" charset="-122"/>
              <a:cs typeface="Arial" pitchFamily="34" charset="0"/>
            </a:endParaRPr>
          </a:p>
          <a:p>
            <a:pPr marL="800100" lvl="1" indent="-342900" eaLnBrk="0" hangingPunct="0">
              <a:spcBef>
                <a:spcPct val="20000"/>
              </a:spcBef>
              <a:buFont typeface="Wingdings" pitchFamily="2" charset="2"/>
              <a:buChar char="n"/>
            </a:pPr>
            <a:r>
              <a:rPr lang="zh-CN" altLang="en-US" sz="2200" dirty="0">
                <a:latin typeface="Arial" pitchFamily="34" charset="0"/>
                <a:ea typeface="黑体" pitchFamily="49" charset="-122"/>
                <a:cs typeface="Arial" pitchFamily="34" charset="0"/>
              </a:rPr>
              <a:t>第一张图是</a:t>
            </a:r>
            <a:r>
              <a:rPr lang="zh-CN" altLang="en-US" sz="2200" dirty="0">
                <a:solidFill>
                  <a:srgbClr val="FF0000"/>
                </a:solidFill>
                <a:latin typeface="Arial" pitchFamily="34" charset="0"/>
                <a:ea typeface="黑体" pitchFamily="49" charset="-122"/>
                <a:cs typeface="Arial" pitchFamily="34" charset="0"/>
              </a:rPr>
              <a:t>系数分布图</a:t>
            </a:r>
            <a:r>
              <a:rPr lang="zh-CN" altLang="en-US" sz="2200" dirty="0">
                <a:latin typeface="Arial" pitchFamily="34" charset="0"/>
                <a:ea typeface="黑体" pitchFamily="49" charset="-122"/>
                <a:cs typeface="Arial" pitchFamily="34" charset="0"/>
              </a:rPr>
              <a:t>：一条线就代表一个变量（如基因、蛋白），这些变量的末尾指向一个纵坐标，这个纵坐标就是系数，</a:t>
            </a:r>
            <a:r>
              <a:rPr lang="en-US" altLang="zh-CN" sz="2200" dirty="0">
                <a:latin typeface="Arial" pitchFamily="34" charset="0"/>
                <a:ea typeface="黑体" pitchFamily="49" charset="-122"/>
                <a:cs typeface="Arial" pitchFamily="34" charset="0"/>
              </a:rPr>
              <a:t>LASSO</a:t>
            </a:r>
            <a:r>
              <a:rPr lang="zh-CN" altLang="en-US" sz="2200" dirty="0">
                <a:latin typeface="Arial" pitchFamily="34" charset="0"/>
                <a:ea typeface="黑体" pitchFamily="49" charset="-122"/>
                <a:cs typeface="Arial" pitchFamily="34" charset="0"/>
              </a:rPr>
              <a:t>会为每一个变量计算一个系数。</a:t>
            </a:r>
            <a:endParaRPr lang="zh-CN" altLang="en-US" sz="2400" dirty="0">
              <a:latin typeface="黑体" pitchFamily="49" charset="-122"/>
              <a:ea typeface="黑体" pitchFamily="49" charset="-122"/>
              <a:cs typeface="Arial" pitchFamily="34" charset="0"/>
            </a:endParaRPr>
          </a:p>
        </p:txBody>
      </p:sp>
      <p:pic>
        <p:nvPicPr>
          <p:cNvPr id="1028" name="Picture 4" descr="https://img-blog.csdnimg.cn/20201225172446782.png?x-oss-process=image/watermark,type_ZmFuZ3poZW5naGVpdGk,shadow_10,text_aHR0cHM6Ly9ibG9nLmNzZG4ubmV0L2RlZ2U4NTc=,size_16,color_FFFFFF,t_70"/>
          <p:cNvPicPr>
            <a:picLocks noChangeAspect="1" noChangeArrowheads="1"/>
          </p:cNvPicPr>
          <p:nvPr/>
        </p:nvPicPr>
        <p:blipFill>
          <a:blip r:embed="rId2" cstate="print"/>
          <a:srcRect t="8443"/>
          <a:stretch>
            <a:fillRect/>
          </a:stretch>
        </p:blipFill>
        <p:spPr bwMode="auto">
          <a:xfrm>
            <a:off x="1753956" y="1844824"/>
            <a:ext cx="5122300" cy="3267657"/>
          </a:xfrm>
          <a:prstGeom prst="rect">
            <a:avLst/>
          </a:prstGeom>
          <a:noFill/>
        </p:spPr>
      </p:pic>
      <p:sp>
        <p:nvSpPr>
          <p:cNvPr id="7" name="矩形 6"/>
          <p:cNvSpPr/>
          <p:nvPr/>
        </p:nvSpPr>
        <p:spPr>
          <a:xfrm>
            <a:off x="107504" y="5038144"/>
            <a:ext cx="9036496" cy="1631216"/>
          </a:xfrm>
          <a:prstGeom prst="rect">
            <a:avLst/>
          </a:prstGeom>
        </p:spPr>
        <p:txBody>
          <a:bodyPr wrap="square">
            <a:spAutoFit/>
          </a:bodyPr>
          <a:lstStyle/>
          <a:p>
            <a:pPr>
              <a:buFont typeface="Arial" pitchFamily="34" charset="0"/>
              <a:buChar char="•"/>
            </a:pPr>
            <a:r>
              <a:rPr lang="zh-CN" altLang="en-US" sz="2000" dirty="0" smtClean="0">
                <a:latin typeface="Arial" pitchFamily="34" charset="0"/>
                <a:ea typeface="黑体" pitchFamily="49" charset="-122"/>
                <a:cs typeface="Arial" pitchFamily="34" charset="0"/>
              </a:rPr>
              <a:t> 下横坐标是</a:t>
            </a:r>
            <a:r>
              <a:rPr lang="en-US" altLang="zh-CN" sz="2000" dirty="0" smtClean="0">
                <a:latin typeface="Arial" pitchFamily="34" charset="0"/>
                <a:ea typeface="黑体" pitchFamily="49" charset="-122"/>
                <a:cs typeface="Arial" pitchFamily="34" charset="0"/>
              </a:rPr>
              <a:t>Log Lambda</a:t>
            </a:r>
            <a:r>
              <a:rPr lang="zh-CN" altLang="en-US" sz="2000" dirty="0" smtClean="0">
                <a:latin typeface="Arial" pitchFamily="34" charset="0"/>
                <a:ea typeface="黑体" pitchFamily="49" charset="-122"/>
                <a:cs typeface="Arial" pitchFamily="34" charset="0"/>
              </a:rPr>
              <a:t>值（</a:t>
            </a:r>
            <a:r>
              <a:rPr lang="zh-CN" altLang="en-US" sz="2000" dirty="0" smtClean="0">
                <a:solidFill>
                  <a:srgbClr val="FF0000"/>
                </a:solidFill>
                <a:latin typeface="Arial" pitchFamily="34" charset="0"/>
                <a:ea typeface="黑体" pitchFamily="49" charset="-122"/>
                <a:cs typeface="Arial" pitchFamily="34" charset="0"/>
              </a:rPr>
              <a:t>惩罚系数</a:t>
            </a:r>
            <a:r>
              <a:rPr lang="zh-CN" altLang="en-US" sz="2000" dirty="0" smtClean="0">
                <a:latin typeface="Arial" pitchFamily="34" charset="0"/>
                <a:ea typeface="黑体" pitchFamily="49" charset="-122"/>
                <a:cs typeface="Arial" pitchFamily="34" charset="0"/>
              </a:rPr>
              <a:t>，控制</a:t>
            </a:r>
            <a:r>
              <a:rPr lang="en-US" altLang="zh-CN" sz="2000" dirty="0" smtClean="0">
                <a:latin typeface="Arial" pitchFamily="34" charset="0"/>
                <a:ea typeface="黑体" pitchFamily="49" charset="-122"/>
                <a:cs typeface="Arial" pitchFamily="34" charset="0"/>
              </a:rPr>
              <a:t>Lasso</a:t>
            </a:r>
            <a:r>
              <a:rPr lang="zh-CN" altLang="en-US" sz="2000" dirty="0" smtClean="0">
                <a:latin typeface="Arial" pitchFamily="34" charset="0"/>
                <a:ea typeface="黑体" pitchFamily="49" charset="-122"/>
                <a:cs typeface="Arial" pitchFamily="34" charset="0"/>
              </a:rPr>
              <a:t>回归的复杂度，</a:t>
            </a:r>
            <a:r>
              <a:rPr lang="en-US" altLang="zh-CN" sz="2000" dirty="0" smtClean="0">
                <a:latin typeface="Arial" pitchFamily="34" charset="0"/>
                <a:ea typeface="黑体" pitchFamily="49" charset="-122"/>
                <a:cs typeface="Arial" pitchFamily="34" charset="0"/>
              </a:rPr>
              <a:t>Lambda</a:t>
            </a:r>
            <a:r>
              <a:rPr lang="zh-CN" altLang="en-US" sz="2000" dirty="0" smtClean="0">
                <a:latin typeface="Arial" pitchFamily="34" charset="0"/>
                <a:ea typeface="黑体" pitchFamily="49" charset="-122"/>
                <a:cs typeface="Arial" pitchFamily="34" charset="0"/>
              </a:rPr>
              <a:t>值越大，惩罚力度越大），上横坐标是此时模型中非零系数的个数，纵坐标为变量系数；</a:t>
            </a:r>
            <a:endParaRPr lang="en-US" altLang="zh-CN" sz="2000" dirty="0" smtClean="0">
              <a:latin typeface="Arial" pitchFamily="34" charset="0"/>
              <a:ea typeface="黑体" pitchFamily="49" charset="-122"/>
              <a:cs typeface="Arial" pitchFamily="34" charset="0"/>
            </a:endParaRPr>
          </a:p>
          <a:p>
            <a:pPr>
              <a:buFont typeface="Arial" pitchFamily="34" charset="0"/>
              <a:buChar char="•"/>
            </a:pPr>
            <a:r>
              <a:rPr lang="zh-CN" altLang="en-US" sz="2000" dirty="0" smtClean="0">
                <a:latin typeface="Arial" pitchFamily="34" charset="0"/>
                <a:ea typeface="黑体" pitchFamily="49" charset="-122"/>
                <a:cs typeface="Arial" pitchFamily="34" charset="0"/>
              </a:rPr>
              <a:t> 随着</a:t>
            </a:r>
            <a:r>
              <a:rPr lang="en-US" altLang="zh-CN" sz="2000" dirty="0" smtClean="0">
                <a:latin typeface="Arial" pitchFamily="34" charset="0"/>
                <a:ea typeface="黑体" pitchFamily="49" charset="-122"/>
                <a:cs typeface="Arial" pitchFamily="34" charset="0"/>
              </a:rPr>
              <a:t>lambda</a:t>
            </a:r>
            <a:r>
              <a:rPr lang="zh-CN" altLang="en-US" sz="2000" dirty="0" smtClean="0">
                <a:latin typeface="Arial" pitchFamily="34" charset="0"/>
                <a:ea typeface="黑体" pitchFamily="49" charset="-122"/>
                <a:cs typeface="Arial" pitchFamily="34" charset="0"/>
              </a:rPr>
              <a:t>增加，变量系数不断减少，许多变量系数变为</a:t>
            </a:r>
            <a:r>
              <a:rPr lang="en-US" altLang="zh-CN" sz="2000" dirty="0" smtClean="0">
                <a:latin typeface="Arial" pitchFamily="34" charset="0"/>
                <a:ea typeface="黑体" pitchFamily="49" charset="-122"/>
                <a:cs typeface="Arial" pitchFamily="34" charset="0"/>
              </a:rPr>
              <a:t>0</a:t>
            </a:r>
            <a:r>
              <a:rPr lang="zh-CN" altLang="en-US" sz="2000" dirty="0" smtClean="0">
                <a:latin typeface="Arial" pitchFamily="34" charset="0"/>
                <a:ea typeface="黑体" pitchFamily="49" charset="-122"/>
                <a:cs typeface="Arial" pitchFamily="34" charset="0"/>
              </a:rPr>
              <a:t>（相当于没有这个变量了），</a:t>
            </a:r>
            <a:r>
              <a:rPr lang="zh-CN" altLang="en-US" sz="2000" dirty="0" smtClean="0">
                <a:solidFill>
                  <a:srgbClr val="FF0000"/>
                </a:solidFill>
                <a:latin typeface="Arial" pitchFamily="34" charset="0"/>
                <a:ea typeface="黑体" pitchFamily="49" charset="-122"/>
                <a:cs typeface="Arial" pitchFamily="34" charset="0"/>
              </a:rPr>
              <a:t>系数越晚被压缩为</a:t>
            </a:r>
            <a:r>
              <a:rPr lang="en-US" altLang="zh-CN" sz="2000" dirty="0" smtClean="0">
                <a:solidFill>
                  <a:srgbClr val="FF0000"/>
                </a:solidFill>
                <a:latin typeface="Arial" pitchFamily="34" charset="0"/>
                <a:ea typeface="黑体" pitchFamily="49" charset="-122"/>
                <a:cs typeface="Arial" pitchFamily="34" charset="0"/>
              </a:rPr>
              <a:t>0</a:t>
            </a:r>
            <a:r>
              <a:rPr lang="zh-CN" altLang="en-US" sz="2000" dirty="0" smtClean="0">
                <a:solidFill>
                  <a:srgbClr val="FF0000"/>
                </a:solidFill>
                <a:latin typeface="Arial" pitchFamily="34" charset="0"/>
                <a:ea typeface="黑体" pitchFamily="49" charset="-122"/>
                <a:cs typeface="Arial" pitchFamily="34" charset="0"/>
              </a:rPr>
              <a:t>的变量越重要</a:t>
            </a:r>
            <a:r>
              <a:rPr lang="zh-CN" altLang="en-US" sz="2000" dirty="0" smtClean="0">
                <a:latin typeface="Arial" pitchFamily="34" charset="0"/>
                <a:ea typeface="黑体" pitchFamily="49" charset="-122"/>
                <a:cs typeface="Arial" pitchFamily="34" charset="0"/>
              </a:rPr>
              <a:t>。</a:t>
            </a:r>
            <a:endParaRPr lang="zh-CN" altLang="en-US" sz="2000" dirty="0">
              <a:latin typeface="Arial" pitchFamily="34" charset="0"/>
              <a:ea typeface="黑体" pitchFamily="49" charset="-122"/>
              <a:cs typeface="Arial" pitchFamily="34" charset="0"/>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53</a:t>
            </a:fld>
            <a:endParaRPr lang="zh-CN" altLang="en-US"/>
          </a:p>
        </p:txBody>
      </p:sp>
      <p:sp>
        <p:nvSpPr>
          <p:cNvPr id="3" name="内容占位符 2"/>
          <p:cNvSpPr txBox="1">
            <a:spLocks/>
          </p:cNvSpPr>
          <p:nvPr/>
        </p:nvSpPr>
        <p:spPr>
          <a:xfrm>
            <a:off x="0" y="260648"/>
            <a:ext cx="9108504" cy="648072"/>
          </a:xfrm>
          <a:prstGeom prst="rect">
            <a:avLst/>
          </a:prstGeom>
        </p:spPr>
        <p:txBody>
          <a:bodyPr/>
          <a:lstStyle/>
          <a:p>
            <a:pPr marL="800100" lvl="1" indent="-342900" eaLnBrk="0" hangingPunct="0">
              <a:spcBef>
                <a:spcPct val="20000"/>
              </a:spcBef>
              <a:buFont typeface="Wingdings" pitchFamily="2" charset="2"/>
              <a:buChar char="n"/>
            </a:pPr>
            <a:r>
              <a:rPr lang="zh-CN" altLang="en-US" sz="2200" dirty="0" smtClean="0">
                <a:latin typeface="Arial" pitchFamily="34" charset="0"/>
                <a:ea typeface="黑体" pitchFamily="49" charset="-122"/>
                <a:cs typeface="Arial" pitchFamily="34" charset="0"/>
              </a:rPr>
              <a:t>第二张图是</a:t>
            </a:r>
            <a:r>
              <a:rPr lang="zh-CN" altLang="en-US" sz="2200" dirty="0" smtClean="0">
                <a:solidFill>
                  <a:srgbClr val="FF0000"/>
                </a:solidFill>
                <a:latin typeface="Arial" pitchFamily="34" charset="0"/>
                <a:ea typeface="黑体" pitchFamily="49" charset="-122"/>
                <a:cs typeface="Arial" pitchFamily="34" charset="0"/>
              </a:rPr>
              <a:t>交叉验证曲线图：</a:t>
            </a:r>
            <a:r>
              <a:rPr lang="zh-CN" altLang="en-US" sz="2200" dirty="0" smtClean="0">
                <a:latin typeface="Arial" pitchFamily="34" charset="0"/>
                <a:ea typeface="黑体" pitchFamily="49" charset="-122"/>
                <a:cs typeface="Arial" pitchFamily="34" charset="0"/>
              </a:rPr>
              <a:t>用于确定参数的阈值。</a:t>
            </a:r>
            <a:endParaRPr lang="zh-CN" altLang="en-US" sz="2400" dirty="0" smtClean="0">
              <a:latin typeface="黑体" pitchFamily="49" charset="-122"/>
              <a:ea typeface="黑体" pitchFamily="49" charset="-122"/>
              <a:cs typeface="Arial" pitchFamily="34" charset="0"/>
            </a:endParaRPr>
          </a:p>
        </p:txBody>
      </p:sp>
      <p:sp>
        <p:nvSpPr>
          <p:cNvPr id="5" name="矩形 4"/>
          <p:cNvSpPr/>
          <p:nvPr/>
        </p:nvSpPr>
        <p:spPr>
          <a:xfrm>
            <a:off x="179512" y="4725144"/>
            <a:ext cx="8856984" cy="1938992"/>
          </a:xfrm>
          <a:prstGeom prst="rect">
            <a:avLst/>
          </a:prstGeom>
        </p:spPr>
        <p:txBody>
          <a:bodyPr wrap="square">
            <a:spAutoFit/>
          </a:bodyPr>
          <a:lstStyle/>
          <a:p>
            <a:pPr>
              <a:buFont typeface="Arial" pitchFamily="34" charset="0"/>
              <a:buChar char="•"/>
            </a:pPr>
            <a:r>
              <a:rPr lang="zh-CN" altLang="en-US" sz="2000" dirty="0" smtClean="0">
                <a:latin typeface="Arial" pitchFamily="34" charset="0"/>
                <a:ea typeface="黑体" pitchFamily="49" charset="-122"/>
                <a:cs typeface="Arial" pitchFamily="34" charset="0"/>
              </a:rPr>
              <a:t> 横坐标是</a:t>
            </a:r>
            <a:r>
              <a:rPr lang="en-US" altLang="zh-CN" sz="2000" dirty="0" smtClean="0">
                <a:latin typeface="Arial" pitchFamily="34" charset="0"/>
                <a:ea typeface="黑体" pitchFamily="49" charset="-122"/>
                <a:cs typeface="Arial" pitchFamily="34" charset="0"/>
              </a:rPr>
              <a:t>log(Lambda)</a:t>
            </a:r>
            <a:r>
              <a:rPr lang="zh-CN" altLang="en-US" sz="2000" dirty="0" smtClean="0">
                <a:latin typeface="Arial" pitchFamily="34" charset="0"/>
                <a:ea typeface="黑体" pitchFamily="49" charset="-122"/>
                <a:cs typeface="Arial" pitchFamily="34" charset="0"/>
              </a:rPr>
              <a:t>，纵坐标为</a:t>
            </a:r>
            <a:r>
              <a:rPr lang="en-US" altLang="zh-CN" sz="2000" dirty="0" smtClean="0">
                <a:latin typeface="Arial" pitchFamily="34" charset="0"/>
                <a:ea typeface="黑体" pitchFamily="49" charset="-122"/>
                <a:cs typeface="Arial" pitchFamily="34" charset="0"/>
              </a:rPr>
              <a:t>Binomial Deviance (</a:t>
            </a:r>
            <a:r>
              <a:rPr lang="zh-CN" altLang="en-US" sz="2000" dirty="0" smtClean="0">
                <a:latin typeface="Arial" pitchFamily="34" charset="0"/>
                <a:ea typeface="黑体" pitchFamily="49" charset="-122"/>
                <a:cs typeface="Arial" pitchFamily="34" charset="0"/>
              </a:rPr>
              <a:t>二分类异常</a:t>
            </a:r>
            <a:r>
              <a:rPr lang="en-US" altLang="zh-CN" sz="2000" dirty="0" smtClean="0">
                <a:latin typeface="Arial" pitchFamily="34" charset="0"/>
                <a:ea typeface="黑体" pitchFamily="49" charset="-122"/>
                <a:cs typeface="Arial" pitchFamily="34" charset="0"/>
              </a:rPr>
              <a:t>)</a:t>
            </a:r>
            <a:r>
              <a:rPr lang="zh-CN" altLang="en-US" sz="2000" dirty="0" smtClean="0">
                <a:latin typeface="Arial" pitchFamily="34" charset="0"/>
                <a:ea typeface="黑体" pitchFamily="49" charset="-122"/>
                <a:cs typeface="Arial" pitchFamily="34" charset="0"/>
              </a:rPr>
              <a:t>，可以理解为模型的交叉验证误差大小；</a:t>
            </a:r>
            <a:endParaRPr lang="en-US" altLang="zh-CN" sz="2000" dirty="0" smtClean="0">
              <a:latin typeface="Arial" pitchFamily="34" charset="0"/>
              <a:ea typeface="黑体" pitchFamily="49" charset="-122"/>
              <a:cs typeface="Arial" pitchFamily="34" charset="0"/>
            </a:endParaRPr>
          </a:p>
          <a:p>
            <a:pPr>
              <a:buFont typeface="Arial" pitchFamily="34" charset="0"/>
              <a:buChar char="•"/>
            </a:pPr>
            <a:r>
              <a:rPr lang="zh-CN" altLang="en-US" sz="2000" dirty="0" smtClean="0">
                <a:latin typeface="Arial" pitchFamily="34" charset="0"/>
                <a:ea typeface="黑体" pitchFamily="49" charset="-122"/>
                <a:cs typeface="Arial" pitchFamily="34" charset="0"/>
              </a:rPr>
              <a:t> 在实际分析中，</a:t>
            </a:r>
            <a:r>
              <a:rPr lang="zh-CN" altLang="en-US" sz="2000" dirty="0" smtClean="0">
                <a:solidFill>
                  <a:srgbClr val="FF0000"/>
                </a:solidFill>
                <a:latin typeface="Arial" pitchFamily="34" charset="0"/>
                <a:ea typeface="黑体" pitchFamily="49" charset="-122"/>
                <a:cs typeface="Arial" pitchFamily="34" charset="0"/>
              </a:rPr>
              <a:t>我们的目标是要选择出变量特征尽量少，误差尽量小所对应的</a:t>
            </a:r>
            <a:r>
              <a:rPr lang="en-US" altLang="zh-CN" sz="2000" dirty="0" smtClean="0">
                <a:solidFill>
                  <a:srgbClr val="FF0000"/>
                </a:solidFill>
                <a:latin typeface="Arial" pitchFamily="34" charset="0"/>
                <a:ea typeface="黑体" pitchFamily="49" charset="-122"/>
                <a:cs typeface="Arial" pitchFamily="34" charset="0"/>
              </a:rPr>
              <a:t>λ</a:t>
            </a:r>
            <a:r>
              <a:rPr lang="zh-CN" altLang="en-US" sz="2000" dirty="0" smtClean="0">
                <a:solidFill>
                  <a:srgbClr val="FF0000"/>
                </a:solidFill>
                <a:latin typeface="Arial" pitchFamily="34" charset="0"/>
                <a:ea typeface="黑体" pitchFamily="49" charset="-122"/>
                <a:cs typeface="Arial" pitchFamily="34" charset="0"/>
              </a:rPr>
              <a:t>的模型</a:t>
            </a:r>
            <a:r>
              <a:rPr lang="zh-CN" altLang="en-US" sz="2000" dirty="0" smtClean="0">
                <a:latin typeface="Arial" pitchFamily="34" charset="0"/>
                <a:ea typeface="黑体" pitchFamily="49" charset="-122"/>
                <a:cs typeface="Arial" pitchFamily="34" charset="0"/>
              </a:rPr>
              <a:t>；图中有两条数值的虚线，左边为误差最低的线，</a:t>
            </a:r>
            <a:r>
              <a:rPr lang="zh-CN" altLang="en-US" sz="2000" dirty="0" smtClean="0">
                <a:solidFill>
                  <a:srgbClr val="FF0000"/>
                </a:solidFill>
                <a:latin typeface="Arial" pitchFamily="34" charset="0"/>
                <a:ea typeface="黑体" pitchFamily="49" charset="-122"/>
                <a:cs typeface="Arial" pitchFamily="34" charset="0"/>
              </a:rPr>
              <a:t>一般会选择这条虚线对应的参数</a:t>
            </a:r>
            <a:r>
              <a:rPr lang="zh-CN" altLang="en-US" sz="2000" dirty="0" smtClean="0">
                <a:latin typeface="Arial" pitchFamily="34" charset="0"/>
                <a:ea typeface="黑体" pitchFamily="49" charset="-122"/>
                <a:cs typeface="Arial" pitchFamily="34" charset="0"/>
              </a:rPr>
              <a:t>，这个参数被称为</a:t>
            </a:r>
            <a:r>
              <a:rPr lang="en-US" altLang="zh-CN" sz="2000" dirty="0" smtClean="0">
                <a:latin typeface="Arial" pitchFamily="34" charset="0"/>
                <a:ea typeface="黑体" pitchFamily="49" charset="-122"/>
                <a:cs typeface="Arial" pitchFamily="34" charset="0"/>
              </a:rPr>
              <a:t>lambda.min</a:t>
            </a:r>
            <a:r>
              <a:rPr lang="zh-CN" altLang="en-US" sz="2000" dirty="0" smtClean="0">
                <a:latin typeface="Arial" pitchFamily="34" charset="0"/>
                <a:ea typeface="黑体" pitchFamily="49" charset="-122"/>
                <a:cs typeface="Arial" pitchFamily="34" charset="0"/>
              </a:rPr>
              <a:t>；右边</a:t>
            </a:r>
            <a:r>
              <a:rPr lang="en-US" altLang="zh-CN" sz="2000" dirty="0" smtClean="0">
                <a:latin typeface="Arial" pitchFamily="34" charset="0"/>
                <a:ea typeface="黑体" pitchFamily="49" charset="-122"/>
                <a:cs typeface="Arial" pitchFamily="34" charset="0"/>
              </a:rPr>
              <a:t>lambda.1se</a:t>
            </a:r>
            <a:r>
              <a:rPr lang="zh-CN" altLang="en-US" sz="2000" dirty="0" smtClean="0">
                <a:latin typeface="Arial" pitchFamily="34" charset="0"/>
                <a:ea typeface="黑体" pitchFamily="49" charset="-122"/>
                <a:cs typeface="Arial" pitchFamily="34" charset="0"/>
              </a:rPr>
              <a:t>是指在 </a:t>
            </a:r>
            <a:r>
              <a:rPr lang="en-US" altLang="zh-CN" sz="2000" dirty="0" smtClean="0">
                <a:latin typeface="Arial" pitchFamily="34" charset="0"/>
                <a:ea typeface="黑体" pitchFamily="49" charset="-122"/>
                <a:cs typeface="Arial" pitchFamily="34" charset="0"/>
              </a:rPr>
              <a:t>lambda.min</a:t>
            </a:r>
            <a:r>
              <a:rPr lang="zh-CN" altLang="en-US" sz="2000" dirty="0" smtClean="0">
                <a:latin typeface="Arial" pitchFamily="34" charset="0"/>
                <a:ea typeface="黑体" pitchFamily="49" charset="-122"/>
                <a:cs typeface="Arial" pitchFamily="34" charset="0"/>
              </a:rPr>
              <a:t>一个方差范围内得到最简单模型的那一个</a:t>
            </a:r>
            <a:r>
              <a:rPr lang="en-US" altLang="zh-CN" sz="2000" dirty="0" smtClean="0">
                <a:latin typeface="Arial" pitchFamily="34" charset="0"/>
                <a:ea typeface="黑体" pitchFamily="49" charset="-122"/>
                <a:cs typeface="Arial" pitchFamily="34" charset="0"/>
              </a:rPr>
              <a:t>λ</a:t>
            </a:r>
            <a:r>
              <a:rPr lang="zh-CN" altLang="en-US" sz="2000" dirty="0" smtClean="0">
                <a:latin typeface="Arial" pitchFamily="34" charset="0"/>
                <a:ea typeface="黑体" pitchFamily="49" charset="-122"/>
                <a:cs typeface="Arial" pitchFamily="34" charset="0"/>
              </a:rPr>
              <a:t>值；</a:t>
            </a:r>
            <a:endParaRPr lang="en-US" altLang="zh-CN" sz="2000" dirty="0" smtClean="0">
              <a:latin typeface="Arial" pitchFamily="34" charset="0"/>
              <a:ea typeface="黑体" pitchFamily="49" charset="-122"/>
              <a:cs typeface="Arial" pitchFamily="34" charset="0"/>
            </a:endParaRPr>
          </a:p>
        </p:txBody>
      </p:sp>
      <p:pic>
        <p:nvPicPr>
          <p:cNvPr id="69636" name="Picture 4" descr="https://pic2.zhimg.com/80/v2-86719b97839af9fcb5094bb70bcdd299_720w.webp"/>
          <p:cNvPicPr>
            <a:picLocks noChangeAspect="1" noChangeArrowheads="1"/>
          </p:cNvPicPr>
          <p:nvPr/>
        </p:nvPicPr>
        <p:blipFill>
          <a:blip r:embed="rId2" cstate="print"/>
          <a:srcRect b="9377"/>
          <a:stretch>
            <a:fillRect/>
          </a:stretch>
        </p:blipFill>
        <p:spPr bwMode="auto">
          <a:xfrm>
            <a:off x="467544" y="908720"/>
            <a:ext cx="7602454" cy="3240360"/>
          </a:xfrm>
          <a:prstGeom prst="rect">
            <a:avLst/>
          </a:prstGeom>
          <a:noFill/>
        </p:spPr>
      </p:pic>
      <p:sp>
        <p:nvSpPr>
          <p:cNvPr id="7" name="矩形 6"/>
          <p:cNvSpPr/>
          <p:nvPr/>
        </p:nvSpPr>
        <p:spPr>
          <a:xfrm>
            <a:off x="4447358" y="4221088"/>
            <a:ext cx="628698" cy="307777"/>
          </a:xfrm>
          <a:prstGeom prst="rect">
            <a:avLst/>
          </a:prstGeom>
        </p:spPr>
        <p:txBody>
          <a:bodyPr wrap="none">
            <a:spAutoFit/>
          </a:bodyPr>
          <a:lstStyle/>
          <a:p>
            <a:r>
              <a:rPr lang="en-US" altLang="zh-CN" sz="1400" dirty="0" smtClean="0">
                <a:latin typeface="Arial" pitchFamily="34" charset="0"/>
                <a:ea typeface="黑体" pitchFamily="49" charset="-122"/>
                <a:cs typeface="Arial" pitchFamily="34" charset="0"/>
              </a:rPr>
              <a:t>log(</a:t>
            </a:r>
            <a:r>
              <a:rPr lang="el-GR" altLang="zh-CN" sz="1400" dirty="0" smtClean="0">
                <a:latin typeface="Arial" pitchFamily="34" charset="0"/>
                <a:ea typeface="黑体" pitchFamily="49" charset="-122"/>
                <a:cs typeface="Arial" pitchFamily="34" charset="0"/>
              </a:rPr>
              <a:t>λ</a:t>
            </a:r>
            <a:r>
              <a:rPr lang="en-US" altLang="zh-CN" sz="1400" dirty="0" smtClean="0">
                <a:latin typeface="Arial" pitchFamily="34" charset="0"/>
                <a:ea typeface="黑体" pitchFamily="49" charset="-122"/>
                <a:cs typeface="Arial" pitchFamily="34" charset="0"/>
              </a:rPr>
              <a:t>)</a:t>
            </a:r>
            <a:endParaRPr lang="zh-CN" altLang="en-US" sz="14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54</a:t>
            </a:fld>
            <a:endParaRPr lang="zh-CN" altLang="en-US"/>
          </a:p>
        </p:txBody>
      </p:sp>
      <p:sp>
        <p:nvSpPr>
          <p:cNvPr id="4" name="内容占位符 2"/>
          <p:cNvSpPr txBox="1">
            <a:spLocks/>
          </p:cNvSpPr>
          <p:nvPr/>
        </p:nvSpPr>
        <p:spPr>
          <a:xfrm>
            <a:off x="107504" y="476672"/>
            <a:ext cx="8928992" cy="6381328"/>
          </a:xfrm>
          <a:prstGeom prst="rect">
            <a:avLst/>
          </a:prstGeom>
        </p:spPr>
        <p:txBody>
          <a:bodyPr/>
          <a:lstStyle/>
          <a:p>
            <a:pPr marL="342900" lvl="0" indent="-342900" eaLnBrk="0" hangingPunct="0">
              <a:spcBef>
                <a:spcPct val="20000"/>
              </a:spcBef>
              <a:buFont typeface="Wingdings" pitchFamily="2" charset="2"/>
              <a:buChar char="n"/>
            </a:pPr>
            <a:r>
              <a:rPr lang="zh-CN" altLang="en-US" sz="2200" dirty="0" smtClean="0">
                <a:latin typeface="Arial" pitchFamily="34" charset="0"/>
                <a:ea typeface="黑体" pitchFamily="49" charset="-122"/>
                <a:cs typeface="Arial" pitchFamily="34" charset="0"/>
              </a:rPr>
              <a:t>疾病案例：</a:t>
            </a:r>
            <a:r>
              <a:rPr lang="zh-CN" altLang="en-US" sz="2200" dirty="0" smtClean="0">
                <a:solidFill>
                  <a:srgbClr val="0000CC"/>
                </a:solidFill>
                <a:latin typeface="Arial" pitchFamily="34" charset="0"/>
                <a:ea typeface="黑体" pitchFamily="49" charset="-122"/>
                <a:cs typeface="Arial" pitchFamily="34" charset="0"/>
              </a:rPr>
              <a:t>前列腺癌；</a:t>
            </a:r>
            <a:endParaRPr lang="en-US" altLang="zh-CN" sz="2200" dirty="0" smtClean="0">
              <a:solidFill>
                <a:srgbClr val="0000CC"/>
              </a:solidFill>
              <a:latin typeface="Arial" pitchFamily="34" charset="0"/>
              <a:ea typeface="黑体" pitchFamily="49" charset="-122"/>
              <a:cs typeface="Arial" pitchFamily="34" charset="0"/>
            </a:endParaRPr>
          </a:p>
          <a:p>
            <a:pPr marL="342900" lvl="0" indent="-342900" eaLnBrk="0" hangingPunct="0">
              <a:spcBef>
                <a:spcPct val="20000"/>
              </a:spcBef>
              <a:buFont typeface="Wingdings" pitchFamily="2" charset="2"/>
              <a:buChar char="n"/>
            </a:pPr>
            <a:endParaRPr lang="en-US" altLang="zh-CN" sz="2200" dirty="0" smtClean="0">
              <a:latin typeface="Arial" pitchFamily="34" charset="0"/>
              <a:ea typeface="黑体" pitchFamily="49" charset="-122"/>
              <a:cs typeface="Arial" pitchFamily="34" charset="0"/>
            </a:endParaRPr>
          </a:p>
          <a:p>
            <a:pPr marL="342900" lvl="0" indent="-342900" eaLnBrk="0" hangingPunct="0">
              <a:spcBef>
                <a:spcPct val="20000"/>
              </a:spcBef>
              <a:buFont typeface="Wingdings" pitchFamily="2" charset="2"/>
              <a:buChar char="n"/>
            </a:pPr>
            <a:r>
              <a:rPr lang="zh-CN" altLang="en-US" sz="2200" dirty="0" smtClean="0">
                <a:latin typeface="Arial" pitchFamily="34" charset="0"/>
                <a:ea typeface="黑体" pitchFamily="49" charset="-122"/>
                <a:cs typeface="Arial" pitchFamily="34" charset="0"/>
              </a:rPr>
              <a:t>样本和变量：斯坦福大学医疗中心提供的</a:t>
            </a:r>
            <a:r>
              <a:rPr lang="en-US" altLang="zh-CN" sz="2200" dirty="0" smtClean="0">
                <a:solidFill>
                  <a:srgbClr val="FF0000"/>
                </a:solidFill>
                <a:latin typeface="Arial" pitchFamily="34" charset="0"/>
                <a:ea typeface="黑体" pitchFamily="49" charset="-122"/>
                <a:cs typeface="Arial" pitchFamily="34" charset="0"/>
              </a:rPr>
              <a:t>97</a:t>
            </a:r>
            <a:r>
              <a:rPr lang="zh-CN" altLang="en-US" sz="2200" dirty="0" smtClean="0">
                <a:solidFill>
                  <a:srgbClr val="FF0000"/>
                </a:solidFill>
                <a:latin typeface="Arial" pitchFamily="34" charset="0"/>
                <a:ea typeface="黑体" pitchFamily="49" charset="-122"/>
                <a:cs typeface="Arial" pitchFamily="34" charset="0"/>
              </a:rPr>
              <a:t>个病人</a:t>
            </a:r>
            <a:r>
              <a:rPr lang="zh-CN" altLang="en-US" sz="2200" dirty="0" smtClean="0">
                <a:latin typeface="Arial" pitchFamily="34" charset="0"/>
                <a:ea typeface="黑体" pitchFamily="49" charset="-122"/>
                <a:cs typeface="Arial" pitchFamily="34" charset="0"/>
              </a:rPr>
              <a:t>的前列腺特异性抗原（</a:t>
            </a:r>
            <a:r>
              <a:rPr lang="en-US" altLang="zh-CN" sz="2200" dirty="0" smtClean="0">
                <a:latin typeface="Arial" pitchFamily="34" charset="0"/>
                <a:ea typeface="黑体" pitchFamily="49" charset="-122"/>
                <a:cs typeface="Arial" pitchFamily="34" charset="0"/>
              </a:rPr>
              <a:t>PSA</a:t>
            </a:r>
            <a:r>
              <a:rPr lang="zh-CN" altLang="en-US" sz="2200" dirty="0" smtClean="0">
                <a:latin typeface="Arial" pitchFamily="34" charset="0"/>
                <a:ea typeface="黑体" pitchFamily="49" charset="-122"/>
                <a:cs typeface="Arial" pitchFamily="34" charset="0"/>
              </a:rPr>
              <a:t>）等</a:t>
            </a:r>
            <a:r>
              <a:rPr lang="zh-CN" altLang="en-US" sz="2200" dirty="0" smtClean="0">
                <a:solidFill>
                  <a:srgbClr val="FF0000"/>
                </a:solidFill>
                <a:latin typeface="Arial" pitchFamily="34" charset="0"/>
                <a:ea typeface="黑体" pitchFamily="49" charset="-122"/>
                <a:cs typeface="Arial" pitchFamily="34" charset="0"/>
              </a:rPr>
              <a:t>临床检测数据</a:t>
            </a:r>
            <a:r>
              <a:rPr lang="zh-CN" altLang="en-US" sz="2200" dirty="0" smtClean="0">
                <a:latin typeface="Arial" pitchFamily="34" charset="0"/>
                <a:ea typeface="黑体" pitchFamily="49" charset="-122"/>
                <a:cs typeface="Arial" pitchFamily="34" charset="0"/>
              </a:rPr>
              <a:t>（来自 </a:t>
            </a:r>
            <a:r>
              <a:rPr lang="en-US" altLang="zh-CN" sz="2200" dirty="0" smtClean="0">
                <a:latin typeface="Arial" pitchFamily="34" charset="0"/>
                <a:ea typeface="黑体" pitchFamily="49" charset="-122"/>
                <a:cs typeface="Arial" pitchFamily="34" charset="0"/>
              </a:rPr>
              <a:t>R</a:t>
            </a:r>
            <a:r>
              <a:rPr lang="zh-CN" altLang="en-US" sz="2200" dirty="0" smtClean="0">
                <a:latin typeface="Arial" pitchFamily="34" charset="0"/>
                <a:ea typeface="黑体" pitchFamily="49" charset="-122"/>
                <a:cs typeface="Arial" pitchFamily="34" charset="0"/>
              </a:rPr>
              <a:t>语言的包</a:t>
            </a:r>
            <a:r>
              <a:rPr lang="en-US" altLang="zh-CN" sz="2200" dirty="0" err="1" smtClean="0">
                <a:latin typeface="Arial" pitchFamily="34" charset="0"/>
                <a:ea typeface="黑体" pitchFamily="49" charset="-122"/>
                <a:cs typeface="Arial" pitchFamily="34" charset="0"/>
              </a:rPr>
              <a:t>ElemStatLearn</a:t>
            </a:r>
            <a:r>
              <a:rPr lang="zh-CN" altLang="en-US" sz="2200" dirty="0" smtClean="0">
                <a:latin typeface="Arial" pitchFamily="34" charset="0"/>
                <a:ea typeface="黑体" pitchFamily="49" charset="-122"/>
                <a:cs typeface="Arial" pitchFamily="34" charset="0"/>
              </a:rPr>
              <a:t>）；</a:t>
            </a:r>
            <a:endParaRPr lang="en-US" altLang="zh-CN" sz="2200" dirty="0" smtClean="0">
              <a:latin typeface="Arial" pitchFamily="34" charset="0"/>
              <a:ea typeface="黑体" pitchFamily="49" charset="-122"/>
              <a:cs typeface="Arial" pitchFamily="34" charset="0"/>
            </a:endParaRPr>
          </a:p>
          <a:p>
            <a:pPr marL="800100" lvl="1" indent="-342900" eaLnBrk="0" hangingPunct="0">
              <a:spcBef>
                <a:spcPct val="20000"/>
              </a:spcBef>
              <a:buFont typeface="Wingdings" pitchFamily="2" charset="2"/>
              <a:buChar char="n"/>
            </a:pPr>
            <a:r>
              <a:rPr lang="en-US" altLang="zh-CN" dirty="0" err="1" smtClean="0">
                <a:latin typeface="Arial" pitchFamily="34" charset="0"/>
                <a:ea typeface="黑体" pitchFamily="49" charset="-122"/>
                <a:cs typeface="Arial" pitchFamily="34" charset="0"/>
              </a:rPr>
              <a:t>lcavol</a:t>
            </a:r>
            <a:r>
              <a:rPr lang="zh-CN" altLang="en-US" dirty="0" smtClean="0">
                <a:latin typeface="Arial" pitchFamily="34" charset="0"/>
                <a:ea typeface="黑体" pitchFamily="49" charset="-122"/>
                <a:cs typeface="Arial" pitchFamily="34" charset="0"/>
              </a:rPr>
              <a:t>：肿瘤体积的对数值；</a:t>
            </a:r>
          </a:p>
          <a:p>
            <a:pPr marL="800100" lvl="1" indent="-342900" eaLnBrk="0" hangingPunct="0">
              <a:spcBef>
                <a:spcPct val="20000"/>
              </a:spcBef>
              <a:buFont typeface="Wingdings" pitchFamily="2" charset="2"/>
              <a:buChar char="n"/>
            </a:pPr>
            <a:r>
              <a:rPr lang="en-US" altLang="zh-CN" dirty="0" err="1" smtClean="0">
                <a:latin typeface="Arial" pitchFamily="34" charset="0"/>
                <a:ea typeface="黑体" pitchFamily="49" charset="-122"/>
                <a:cs typeface="Arial" pitchFamily="34" charset="0"/>
              </a:rPr>
              <a:t>lweight</a:t>
            </a:r>
            <a:r>
              <a:rPr lang="zh-CN" altLang="en-US" dirty="0" smtClean="0">
                <a:latin typeface="Arial" pitchFamily="34" charset="0"/>
                <a:ea typeface="黑体" pitchFamily="49" charset="-122"/>
                <a:cs typeface="Arial" pitchFamily="34" charset="0"/>
              </a:rPr>
              <a:t>：前列腺重量的对数值；</a:t>
            </a:r>
          </a:p>
          <a:p>
            <a:pPr marL="800100" lvl="1" indent="-342900" eaLnBrk="0" hangingPunct="0">
              <a:spcBef>
                <a:spcPct val="20000"/>
              </a:spcBef>
              <a:buFont typeface="Wingdings" pitchFamily="2" charset="2"/>
              <a:buChar char="n"/>
            </a:pPr>
            <a:r>
              <a:rPr lang="en-US" altLang="zh-CN" dirty="0" smtClean="0">
                <a:latin typeface="Arial" pitchFamily="34" charset="0"/>
                <a:ea typeface="黑体" pitchFamily="49" charset="-122"/>
                <a:cs typeface="Arial" pitchFamily="34" charset="0"/>
              </a:rPr>
              <a:t>age</a:t>
            </a:r>
            <a:r>
              <a:rPr lang="zh-CN" altLang="en-US" dirty="0" smtClean="0">
                <a:latin typeface="Arial" pitchFamily="34" charset="0"/>
                <a:ea typeface="黑体" pitchFamily="49" charset="-122"/>
                <a:cs typeface="Arial" pitchFamily="34" charset="0"/>
              </a:rPr>
              <a:t>：患者年龄（以年计）；</a:t>
            </a:r>
          </a:p>
          <a:p>
            <a:pPr marL="800100" lvl="1" indent="-342900" eaLnBrk="0" hangingPunct="0">
              <a:spcBef>
                <a:spcPct val="20000"/>
              </a:spcBef>
              <a:buFont typeface="Wingdings" pitchFamily="2" charset="2"/>
              <a:buChar char="n"/>
            </a:pPr>
            <a:r>
              <a:rPr lang="en-US" altLang="zh-CN" dirty="0" err="1" smtClean="0">
                <a:latin typeface="Arial" pitchFamily="34" charset="0"/>
                <a:ea typeface="黑体" pitchFamily="49" charset="-122"/>
                <a:cs typeface="Arial" pitchFamily="34" charset="0"/>
              </a:rPr>
              <a:t>bph</a:t>
            </a:r>
            <a:r>
              <a:rPr lang="zh-CN" altLang="en-US" dirty="0" smtClean="0">
                <a:latin typeface="Arial" pitchFamily="34" charset="0"/>
                <a:ea typeface="黑体" pitchFamily="49" charset="-122"/>
                <a:cs typeface="Arial" pitchFamily="34" charset="0"/>
              </a:rPr>
              <a:t>：良性前列腺增生（</a:t>
            </a:r>
            <a:r>
              <a:rPr lang="en-US" altLang="zh-CN" dirty="0" smtClean="0">
                <a:latin typeface="Arial" pitchFamily="34" charset="0"/>
                <a:ea typeface="黑体" pitchFamily="49" charset="-122"/>
                <a:cs typeface="Arial" pitchFamily="34" charset="0"/>
              </a:rPr>
              <a:t>BPH</a:t>
            </a:r>
            <a:r>
              <a:rPr lang="zh-CN" altLang="en-US" dirty="0" smtClean="0">
                <a:latin typeface="Arial" pitchFamily="34" charset="0"/>
                <a:ea typeface="黑体" pitchFamily="49" charset="-122"/>
                <a:cs typeface="Arial" pitchFamily="34" charset="0"/>
              </a:rPr>
              <a:t>）量的对数值，非癌症性质的前列腺增生；</a:t>
            </a:r>
          </a:p>
          <a:p>
            <a:pPr marL="800100" lvl="1" indent="-342900" eaLnBrk="0" hangingPunct="0">
              <a:spcBef>
                <a:spcPct val="20000"/>
              </a:spcBef>
              <a:buFont typeface="Wingdings" pitchFamily="2" charset="2"/>
              <a:buChar char="n"/>
            </a:pPr>
            <a:r>
              <a:rPr lang="en-US" altLang="zh-CN" dirty="0" err="1" smtClean="0">
                <a:latin typeface="Arial" pitchFamily="34" charset="0"/>
                <a:ea typeface="黑体" pitchFamily="49" charset="-122"/>
                <a:cs typeface="Arial" pitchFamily="34" charset="0"/>
              </a:rPr>
              <a:t>svi</a:t>
            </a:r>
            <a:r>
              <a:rPr lang="zh-CN" altLang="en-US" dirty="0" smtClean="0">
                <a:latin typeface="Arial" pitchFamily="34" charset="0"/>
                <a:ea typeface="黑体" pitchFamily="49" charset="-122"/>
                <a:cs typeface="Arial" pitchFamily="34" charset="0"/>
              </a:rPr>
              <a:t>：一个指标变量，表示癌细胞是否已透过前列腺壁侵入精囊腺；</a:t>
            </a:r>
          </a:p>
          <a:p>
            <a:pPr marL="800100" lvl="1" indent="-342900" eaLnBrk="0" hangingPunct="0">
              <a:spcBef>
                <a:spcPct val="20000"/>
              </a:spcBef>
              <a:buFont typeface="Wingdings" pitchFamily="2" charset="2"/>
              <a:buChar char="n"/>
            </a:pPr>
            <a:r>
              <a:rPr lang="en-US" altLang="zh-CN" dirty="0" err="1" smtClean="0">
                <a:latin typeface="Arial" pitchFamily="34" charset="0"/>
                <a:ea typeface="黑体" pitchFamily="49" charset="-122"/>
                <a:cs typeface="Arial" pitchFamily="34" charset="0"/>
              </a:rPr>
              <a:t>lcp</a:t>
            </a:r>
            <a:r>
              <a:rPr lang="zh-CN" altLang="en-US" dirty="0" smtClean="0">
                <a:latin typeface="Arial" pitchFamily="34" charset="0"/>
                <a:ea typeface="黑体" pitchFamily="49" charset="-122"/>
                <a:cs typeface="Arial" pitchFamily="34" charset="0"/>
              </a:rPr>
              <a:t>：包膜穿透度的对数值，表示癌细胞扩散到前列腺包膜之外的程度；</a:t>
            </a:r>
          </a:p>
          <a:p>
            <a:pPr marL="800100" lvl="1" indent="-342900" eaLnBrk="0" hangingPunct="0">
              <a:spcBef>
                <a:spcPct val="20000"/>
              </a:spcBef>
              <a:buFont typeface="Wingdings" pitchFamily="2" charset="2"/>
              <a:buChar char="n"/>
            </a:pPr>
            <a:r>
              <a:rPr lang="en-US" altLang="zh-CN" dirty="0" err="1" smtClean="0">
                <a:latin typeface="Arial" pitchFamily="34" charset="0"/>
                <a:ea typeface="黑体" pitchFamily="49" charset="-122"/>
                <a:cs typeface="Arial" pitchFamily="34" charset="0"/>
              </a:rPr>
              <a:t>leason</a:t>
            </a:r>
            <a:r>
              <a:rPr lang="zh-CN" altLang="en-US" dirty="0" smtClean="0">
                <a:latin typeface="Arial" pitchFamily="34" charset="0"/>
                <a:ea typeface="黑体" pitchFamily="49" charset="-122"/>
                <a:cs typeface="Arial" pitchFamily="34" charset="0"/>
              </a:rPr>
              <a:t>：患者的</a:t>
            </a:r>
            <a:r>
              <a:rPr lang="en-US" altLang="zh-CN" dirty="0" smtClean="0">
                <a:latin typeface="Arial" pitchFamily="34" charset="0"/>
                <a:ea typeface="黑体" pitchFamily="49" charset="-122"/>
                <a:cs typeface="Arial" pitchFamily="34" charset="0"/>
              </a:rPr>
              <a:t>Gleason</a:t>
            </a:r>
            <a:r>
              <a:rPr lang="zh-CN" altLang="en-US" dirty="0" smtClean="0">
                <a:latin typeface="Arial" pitchFamily="34" charset="0"/>
                <a:ea typeface="黑体" pitchFamily="49" charset="-122"/>
                <a:cs typeface="Arial" pitchFamily="34" charset="0"/>
              </a:rPr>
              <a:t>评分，表示癌细胞的变异程度；</a:t>
            </a:r>
          </a:p>
          <a:p>
            <a:pPr marL="800100" lvl="1" indent="-342900" eaLnBrk="0" hangingPunct="0">
              <a:spcBef>
                <a:spcPct val="20000"/>
              </a:spcBef>
              <a:buFont typeface="Wingdings" pitchFamily="2" charset="2"/>
              <a:buChar char="n"/>
            </a:pPr>
            <a:r>
              <a:rPr lang="en-US" altLang="zh-CN" dirty="0" smtClean="0">
                <a:latin typeface="Arial" pitchFamily="34" charset="0"/>
                <a:ea typeface="黑体" pitchFamily="49" charset="-122"/>
                <a:cs typeface="Arial" pitchFamily="34" charset="0"/>
              </a:rPr>
              <a:t>pgg45</a:t>
            </a:r>
            <a:r>
              <a:rPr lang="zh-CN" altLang="en-US" dirty="0" smtClean="0">
                <a:latin typeface="Arial" pitchFamily="34" charset="0"/>
                <a:ea typeface="黑体" pitchFamily="49" charset="-122"/>
                <a:cs typeface="Arial" pitchFamily="34" charset="0"/>
              </a:rPr>
              <a:t>：</a:t>
            </a:r>
            <a:r>
              <a:rPr lang="en-US" altLang="zh-CN" dirty="0" smtClean="0">
                <a:latin typeface="Arial" pitchFamily="34" charset="0"/>
                <a:ea typeface="黑体" pitchFamily="49" charset="-122"/>
                <a:cs typeface="Arial" pitchFamily="34" charset="0"/>
              </a:rPr>
              <a:t>Gleason</a:t>
            </a:r>
            <a:r>
              <a:rPr lang="zh-CN" altLang="en-US" dirty="0" smtClean="0">
                <a:latin typeface="Arial" pitchFamily="34" charset="0"/>
                <a:ea typeface="黑体" pitchFamily="49" charset="-122"/>
                <a:cs typeface="Arial" pitchFamily="34" charset="0"/>
              </a:rPr>
              <a:t>评分为</a:t>
            </a:r>
            <a:r>
              <a:rPr lang="en-US" altLang="zh-CN" dirty="0" smtClean="0">
                <a:latin typeface="Arial" pitchFamily="34" charset="0"/>
                <a:ea typeface="黑体" pitchFamily="49" charset="-122"/>
                <a:cs typeface="Arial" pitchFamily="34" charset="0"/>
              </a:rPr>
              <a:t>4</a:t>
            </a:r>
            <a:r>
              <a:rPr lang="zh-CN" altLang="en-US" dirty="0" smtClean="0">
                <a:latin typeface="Arial" pitchFamily="34" charset="0"/>
                <a:ea typeface="黑体" pitchFamily="49" charset="-122"/>
                <a:cs typeface="Arial" pitchFamily="34" charset="0"/>
              </a:rPr>
              <a:t>或</a:t>
            </a:r>
            <a:r>
              <a:rPr lang="en-US" altLang="zh-CN" dirty="0" smtClean="0">
                <a:latin typeface="Arial" pitchFamily="34" charset="0"/>
                <a:ea typeface="黑体" pitchFamily="49" charset="-122"/>
                <a:cs typeface="Arial" pitchFamily="34" charset="0"/>
              </a:rPr>
              <a:t>5</a:t>
            </a:r>
            <a:r>
              <a:rPr lang="zh-CN" altLang="en-US" dirty="0" smtClean="0">
                <a:latin typeface="Arial" pitchFamily="34" charset="0"/>
                <a:ea typeface="黑体" pitchFamily="49" charset="-122"/>
                <a:cs typeface="Arial" pitchFamily="34" charset="0"/>
              </a:rPr>
              <a:t>所占的百分比；</a:t>
            </a:r>
          </a:p>
          <a:p>
            <a:pPr marL="800100" lvl="1" indent="-342900" eaLnBrk="0" hangingPunct="0">
              <a:spcBef>
                <a:spcPct val="20000"/>
              </a:spcBef>
              <a:buFont typeface="Wingdings" pitchFamily="2" charset="2"/>
              <a:buChar char="n"/>
            </a:pPr>
            <a:r>
              <a:rPr lang="en-US" altLang="zh-CN" dirty="0" err="1" smtClean="0">
                <a:latin typeface="Arial" pitchFamily="34" charset="0"/>
                <a:ea typeface="黑体" pitchFamily="49" charset="-122"/>
                <a:cs typeface="Arial" pitchFamily="34" charset="0"/>
              </a:rPr>
              <a:t>lpsa</a:t>
            </a:r>
            <a:r>
              <a:rPr lang="zh-CN" altLang="en-US" dirty="0" smtClean="0">
                <a:latin typeface="Arial" pitchFamily="34" charset="0"/>
                <a:ea typeface="黑体" pitchFamily="49" charset="-122"/>
                <a:cs typeface="Arial" pitchFamily="34" charset="0"/>
              </a:rPr>
              <a:t>：</a:t>
            </a:r>
            <a:r>
              <a:rPr lang="en-US" altLang="zh-CN" dirty="0" smtClean="0">
                <a:latin typeface="Arial" pitchFamily="34" charset="0"/>
                <a:ea typeface="黑体" pitchFamily="49" charset="-122"/>
                <a:cs typeface="Arial" pitchFamily="34" charset="0"/>
              </a:rPr>
              <a:t>PSA</a:t>
            </a:r>
            <a:r>
              <a:rPr lang="zh-CN" altLang="en-US" dirty="0" smtClean="0">
                <a:latin typeface="Arial" pitchFamily="34" charset="0"/>
                <a:ea typeface="黑体" pitchFamily="49" charset="-122"/>
                <a:cs typeface="Arial" pitchFamily="34" charset="0"/>
              </a:rPr>
              <a:t>值的对数值，响应变量；</a:t>
            </a:r>
            <a:endParaRPr lang="en-US" altLang="zh-CN" dirty="0" smtClean="0">
              <a:latin typeface="Arial" pitchFamily="34" charset="0"/>
              <a:ea typeface="黑体" pitchFamily="49" charset="-122"/>
              <a:cs typeface="Arial" pitchFamily="34" charset="0"/>
            </a:endParaRPr>
          </a:p>
          <a:p>
            <a:pPr marL="800100" lvl="1" indent="-342900" eaLnBrk="0" hangingPunct="0">
              <a:spcBef>
                <a:spcPct val="20000"/>
              </a:spcBef>
              <a:buFont typeface="Wingdings" pitchFamily="2" charset="2"/>
              <a:buChar char="n"/>
            </a:pPr>
            <a:r>
              <a:rPr lang="en-US" altLang="zh-CN" dirty="0" smtClean="0">
                <a:latin typeface="Arial" pitchFamily="34" charset="0"/>
                <a:ea typeface="黑体" pitchFamily="49" charset="-122"/>
                <a:cs typeface="Arial" pitchFamily="34" charset="0"/>
              </a:rPr>
              <a:t>train</a:t>
            </a:r>
            <a:r>
              <a:rPr lang="zh-CN" altLang="en-US" dirty="0" smtClean="0">
                <a:latin typeface="Arial" pitchFamily="34" charset="0"/>
                <a:ea typeface="黑体" pitchFamily="49" charset="-122"/>
                <a:cs typeface="Arial" pitchFamily="34" charset="0"/>
              </a:rPr>
              <a:t>：一个逻辑向量（</a:t>
            </a:r>
            <a:r>
              <a:rPr lang="en-US" altLang="zh-CN" dirty="0" smtClean="0">
                <a:latin typeface="Arial" pitchFamily="34" charset="0"/>
                <a:ea typeface="黑体" pitchFamily="49" charset="-122"/>
                <a:cs typeface="Arial" pitchFamily="34" charset="0"/>
              </a:rPr>
              <a:t>TRUE</a:t>
            </a:r>
            <a:r>
              <a:rPr lang="zh-CN" altLang="en-US" dirty="0" smtClean="0">
                <a:latin typeface="Arial" pitchFamily="34" charset="0"/>
                <a:ea typeface="黑体" pitchFamily="49" charset="-122"/>
                <a:cs typeface="Arial" pitchFamily="34" charset="0"/>
              </a:rPr>
              <a:t>或</a:t>
            </a:r>
            <a:r>
              <a:rPr lang="en-US" altLang="zh-CN" dirty="0" smtClean="0">
                <a:latin typeface="Arial" pitchFamily="34" charset="0"/>
                <a:ea typeface="黑体" pitchFamily="49" charset="-122"/>
                <a:cs typeface="Arial" pitchFamily="34" charset="0"/>
              </a:rPr>
              <a:t>FALSE</a:t>
            </a:r>
            <a:r>
              <a:rPr lang="zh-CN" altLang="en-US" dirty="0" smtClean="0">
                <a:latin typeface="Arial" pitchFamily="34" charset="0"/>
                <a:ea typeface="黑体" pitchFamily="49" charset="-122"/>
                <a:cs typeface="Arial" pitchFamily="34" charset="0"/>
              </a:rPr>
              <a:t>，用来区分训练数据和测试数据）。</a:t>
            </a:r>
            <a:endParaRPr lang="en-US" altLang="zh-CN" dirty="0" smtClean="0">
              <a:latin typeface="Arial" pitchFamily="34" charset="0"/>
              <a:ea typeface="黑体" pitchFamily="49" charset="-122"/>
              <a:cs typeface="Arial" pitchFamily="34" charset="0"/>
            </a:endParaRPr>
          </a:p>
          <a:p>
            <a:pPr marL="342900" lvl="0" indent="-342900" eaLnBrk="0" hangingPunct="0">
              <a:spcBef>
                <a:spcPct val="20000"/>
              </a:spcBef>
              <a:buFont typeface="Wingdings" pitchFamily="2" charset="2"/>
              <a:buChar char="n"/>
            </a:pPr>
            <a:endParaRPr lang="en-US" altLang="zh-CN" sz="2200" dirty="0" smtClean="0">
              <a:latin typeface="Arial" pitchFamily="34" charset="0"/>
              <a:ea typeface="黑体" pitchFamily="49" charset="-122"/>
              <a:cs typeface="Arial" pitchFamily="34" charset="0"/>
            </a:endParaRPr>
          </a:p>
          <a:p>
            <a:pPr marL="342900" lvl="0" indent="-342900" eaLnBrk="0" hangingPunct="0">
              <a:spcBef>
                <a:spcPct val="20000"/>
              </a:spcBef>
              <a:buFont typeface="Wingdings" pitchFamily="2" charset="2"/>
              <a:buChar char="n"/>
            </a:pPr>
            <a:r>
              <a:rPr lang="zh-CN" altLang="en-US" sz="2200" dirty="0" smtClean="0">
                <a:latin typeface="Arial" pitchFamily="34" charset="0"/>
                <a:ea typeface="黑体" pitchFamily="49" charset="-122"/>
                <a:cs typeface="Arial" pitchFamily="34" charset="0"/>
              </a:rPr>
              <a:t>目标：通过临床检测提供的数据建立一个预测模型预测患者术后</a:t>
            </a:r>
            <a:r>
              <a:rPr lang="en-US" altLang="zh-CN" sz="2200" dirty="0" smtClean="0">
                <a:latin typeface="Arial" pitchFamily="34" charset="0"/>
                <a:ea typeface="黑体" pitchFamily="49" charset="-122"/>
                <a:cs typeface="Arial" pitchFamily="34" charset="0"/>
              </a:rPr>
              <a:t>PSA</a:t>
            </a:r>
            <a:r>
              <a:rPr lang="zh-CN" altLang="en-US" sz="2200" dirty="0" smtClean="0">
                <a:latin typeface="Arial" pitchFamily="34" charset="0"/>
                <a:ea typeface="黑体" pitchFamily="49" charset="-122"/>
                <a:cs typeface="Arial" pitchFamily="34" charset="0"/>
              </a:rPr>
              <a:t>水平。对于患者在手术后能够恢复到什么程度， </a:t>
            </a:r>
            <a:r>
              <a:rPr lang="en-US" altLang="zh-CN" sz="2200" dirty="0" smtClean="0">
                <a:latin typeface="Arial" pitchFamily="34" charset="0"/>
                <a:ea typeface="黑体" pitchFamily="49" charset="-122"/>
                <a:cs typeface="Arial" pitchFamily="34" charset="0"/>
              </a:rPr>
              <a:t>PSA</a:t>
            </a:r>
            <a:r>
              <a:rPr lang="zh-CN" altLang="en-US" sz="2200" dirty="0" smtClean="0">
                <a:latin typeface="Arial" pitchFamily="34" charset="0"/>
                <a:ea typeface="黑体" pitchFamily="49" charset="-122"/>
                <a:cs typeface="Arial" pitchFamily="34" charset="0"/>
              </a:rPr>
              <a:t>水平是一个较为有效的预后指标。</a:t>
            </a:r>
          </a:p>
        </p:txBody>
      </p:sp>
      <p:sp>
        <p:nvSpPr>
          <p:cNvPr id="5" name="矩形 4"/>
          <p:cNvSpPr/>
          <p:nvPr/>
        </p:nvSpPr>
        <p:spPr>
          <a:xfrm>
            <a:off x="3635896" y="44624"/>
            <a:ext cx="1627369" cy="523220"/>
          </a:xfrm>
          <a:prstGeom prst="rect">
            <a:avLst/>
          </a:prstGeom>
        </p:spPr>
        <p:txBody>
          <a:bodyPr wrap="none">
            <a:spAutoFit/>
          </a:bodyPr>
          <a:lstStyle/>
          <a:p>
            <a:r>
              <a:rPr lang="zh-CN" altLang="en-US" sz="2800" b="1" dirty="0" smtClean="0">
                <a:solidFill>
                  <a:srgbClr val="C00000"/>
                </a:solidFill>
                <a:latin typeface="黑体" pitchFamily="49" charset="-122"/>
                <a:ea typeface="黑体" pitchFamily="49" charset="-122"/>
              </a:rPr>
              <a:t>实例解析</a:t>
            </a:r>
            <a:endParaRPr lang="zh-CN" altLang="en-US" sz="2800" dirty="0">
              <a:solidFill>
                <a:srgbClr val="C00000"/>
              </a:solidFill>
              <a:latin typeface="黑体" pitchFamily="49" charset="-122"/>
              <a:ea typeface="黑体" pitchFamily="49" charset="-122"/>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55</a:t>
            </a:fld>
            <a:endParaRPr lang="zh-CN" altLang="en-US"/>
          </a:p>
        </p:txBody>
      </p:sp>
      <p:sp>
        <p:nvSpPr>
          <p:cNvPr id="4" name="内容占位符 2"/>
          <p:cNvSpPr txBox="1">
            <a:spLocks/>
          </p:cNvSpPr>
          <p:nvPr/>
        </p:nvSpPr>
        <p:spPr>
          <a:xfrm>
            <a:off x="0" y="260648"/>
            <a:ext cx="9108504" cy="936104"/>
          </a:xfrm>
          <a:prstGeom prst="rect">
            <a:avLst/>
          </a:prstGeom>
        </p:spPr>
        <p:txBody>
          <a:bodyPr/>
          <a:lstStyle/>
          <a:p>
            <a:pPr marL="342900" indent="-342900" eaLnBrk="0" hangingPunct="0">
              <a:spcBef>
                <a:spcPct val="20000"/>
              </a:spcBef>
              <a:buFont typeface="Wingdings" pitchFamily="2" charset="2"/>
              <a:buChar char="n"/>
            </a:pPr>
            <a:r>
              <a:rPr lang="zh-CN" altLang="en-US" sz="2400" dirty="0" smtClean="0">
                <a:latin typeface="Arial" pitchFamily="34" charset="0"/>
                <a:ea typeface="黑体" pitchFamily="49" charset="-122"/>
                <a:cs typeface="Arial" pitchFamily="34" charset="0"/>
              </a:rPr>
              <a:t>首先要下载</a:t>
            </a:r>
            <a:r>
              <a:rPr lang="en-US" altLang="zh-CN" sz="2400" dirty="0" smtClean="0">
                <a:latin typeface="Arial" pitchFamily="34" charset="0"/>
                <a:ea typeface="黑体" pitchFamily="49" charset="-122"/>
                <a:cs typeface="Arial" pitchFamily="34" charset="0"/>
              </a:rPr>
              <a:t>R</a:t>
            </a:r>
            <a:r>
              <a:rPr lang="zh-CN" altLang="en-US" sz="2400" dirty="0" smtClean="0">
                <a:latin typeface="Arial" pitchFamily="34" charset="0"/>
                <a:ea typeface="黑体" pitchFamily="49" charset="-122"/>
                <a:cs typeface="Arial" pitchFamily="34" charset="0"/>
              </a:rPr>
              <a:t>的</a:t>
            </a:r>
            <a:r>
              <a:rPr lang="en-US" altLang="zh-CN" sz="2400" dirty="0" err="1" smtClean="0">
                <a:solidFill>
                  <a:srgbClr val="FF0000"/>
                </a:solidFill>
                <a:latin typeface="Arial" pitchFamily="34" charset="0"/>
                <a:ea typeface="黑体" pitchFamily="49" charset="-122"/>
                <a:cs typeface="Arial" pitchFamily="34" charset="0"/>
              </a:rPr>
              <a:t>glmnet</a:t>
            </a:r>
            <a:r>
              <a:rPr lang="zh-CN" altLang="en-US" sz="2400" dirty="0" smtClean="0">
                <a:solidFill>
                  <a:srgbClr val="FF0000"/>
                </a:solidFill>
                <a:latin typeface="Arial" pitchFamily="34" charset="0"/>
                <a:ea typeface="黑体" pitchFamily="49" charset="-122"/>
                <a:cs typeface="Arial" pitchFamily="34" charset="0"/>
              </a:rPr>
              <a:t>包</a:t>
            </a:r>
            <a:r>
              <a:rPr lang="zh-CN" altLang="en-US" sz="2400" dirty="0" smtClean="0">
                <a:latin typeface="Arial" pitchFamily="34" charset="0"/>
                <a:ea typeface="黑体" pitchFamily="49" charset="-122"/>
                <a:cs typeface="Arial" pitchFamily="34" charset="0"/>
              </a:rPr>
              <a:t>：由 </a:t>
            </a:r>
            <a:r>
              <a:rPr lang="en-US" altLang="zh-CN" sz="2400" dirty="0" smtClean="0">
                <a:latin typeface="Arial" pitchFamily="34" charset="0"/>
                <a:ea typeface="黑体" pitchFamily="49" charset="-122"/>
                <a:cs typeface="Arial" pitchFamily="34" charset="0"/>
              </a:rPr>
              <a:t>LASSO </a:t>
            </a:r>
            <a:r>
              <a:rPr lang="zh-CN" altLang="en-US" sz="2400" dirty="0" smtClean="0">
                <a:latin typeface="Arial" pitchFamily="34" charset="0"/>
                <a:ea typeface="黑体" pitchFamily="49" charset="-122"/>
                <a:cs typeface="Arial" pitchFamily="34" charset="0"/>
              </a:rPr>
              <a:t>回归的发明人，斯坦福统计学家</a:t>
            </a:r>
            <a:r>
              <a:rPr lang="en-US" altLang="zh-CN" sz="2400" dirty="0" smtClean="0">
                <a:latin typeface="Arial" pitchFamily="34" charset="0"/>
                <a:ea typeface="黑体" pitchFamily="49" charset="-122"/>
                <a:cs typeface="Arial" pitchFamily="34" charset="0"/>
              </a:rPr>
              <a:t>Trevor Hastie</a:t>
            </a:r>
            <a:r>
              <a:rPr lang="zh-CN" altLang="en-US" sz="2400" dirty="0" smtClean="0">
                <a:latin typeface="Arial" pitchFamily="34" charset="0"/>
                <a:ea typeface="黑体" pitchFamily="49" charset="-122"/>
                <a:cs typeface="Arial" pitchFamily="34" charset="0"/>
              </a:rPr>
              <a:t>领衔开发；</a:t>
            </a:r>
          </a:p>
        </p:txBody>
      </p:sp>
      <p:pic>
        <p:nvPicPr>
          <p:cNvPr id="70658" name="Picture 2"/>
          <p:cNvPicPr>
            <a:picLocks noChangeAspect="1" noChangeArrowheads="1"/>
          </p:cNvPicPr>
          <p:nvPr/>
        </p:nvPicPr>
        <p:blipFill>
          <a:blip r:embed="rId2" cstate="print"/>
          <a:srcRect r="7115"/>
          <a:stretch>
            <a:fillRect/>
          </a:stretch>
        </p:blipFill>
        <p:spPr bwMode="auto">
          <a:xfrm>
            <a:off x="107504" y="1628800"/>
            <a:ext cx="4557452" cy="4248472"/>
          </a:xfrm>
          <a:prstGeom prst="rect">
            <a:avLst/>
          </a:prstGeom>
          <a:noFill/>
          <a:ln w="9525">
            <a:noFill/>
            <a:miter lim="800000"/>
            <a:headEnd/>
            <a:tailEnd/>
          </a:ln>
        </p:spPr>
      </p:pic>
      <p:pic>
        <p:nvPicPr>
          <p:cNvPr id="70659" name="Picture 3"/>
          <p:cNvPicPr>
            <a:picLocks noChangeAspect="1" noChangeArrowheads="1"/>
          </p:cNvPicPr>
          <p:nvPr/>
        </p:nvPicPr>
        <p:blipFill>
          <a:blip r:embed="rId3" cstate="print"/>
          <a:srcRect/>
          <a:stretch>
            <a:fillRect/>
          </a:stretch>
        </p:blipFill>
        <p:spPr bwMode="auto">
          <a:xfrm>
            <a:off x="4768206" y="2204864"/>
            <a:ext cx="4258966" cy="316835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56</a:t>
            </a:fld>
            <a:endParaRPr lang="zh-CN" altLang="en-US"/>
          </a:p>
        </p:txBody>
      </p:sp>
      <p:pic>
        <p:nvPicPr>
          <p:cNvPr id="72709" name="Picture 5"/>
          <p:cNvPicPr>
            <a:picLocks noChangeAspect="1" noChangeArrowheads="1"/>
          </p:cNvPicPr>
          <p:nvPr/>
        </p:nvPicPr>
        <p:blipFill>
          <a:blip r:embed="rId2" cstate="print"/>
          <a:srcRect/>
          <a:stretch>
            <a:fillRect/>
          </a:stretch>
        </p:blipFill>
        <p:spPr bwMode="auto">
          <a:xfrm>
            <a:off x="2123728" y="260648"/>
            <a:ext cx="4176464" cy="3378837"/>
          </a:xfrm>
          <a:prstGeom prst="rect">
            <a:avLst/>
          </a:prstGeom>
          <a:noFill/>
          <a:ln w="9525">
            <a:noFill/>
            <a:miter lim="800000"/>
            <a:headEnd/>
            <a:tailEnd/>
          </a:ln>
        </p:spPr>
      </p:pic>
      <p:pic>
        <p:nvPicPr>
          <p:cNvPr id="72711" name="Picture 7" descr="https://pic3.zhimg.com/80/v2-1514251a632a2543cf19dcc6ec283b92_720w.webp"/>
          <p:cNvPicPr>
            <a:picLocks noChangeAspect="1" noChangeArrowheads="1"/>
          </p:cNvPicPr>
          <p:nvPr/>
        </p:nvPicPr>
        <p:blipFill>
          <a:blip r:embed="rId3" cstate="print"/>
          <a:srcRect/>
          <a:stretch>
            <a:fillRect/>
          </a:stretch>
        </p:blipFill>
        <p:spPr bwMode="auto">
          <a:xfrm>
            <a:off x="1259632" y="4005064"/>
            <a:ext cx="6330677" cy="2637255"/>
          </a:xfrm>
          <a:prstGeom prst="rect">
            <a:avLst/>
          </a:prstGeom>
          <a:noFill/>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57</a:t>
            </a:fld>
            <a:endParaRPr lang="zh-CN" altLang="en-US"/>
          </a:p>
        </p:txBody>
      </p:sp>
      <p:sp>
        <p:nvSpPr>
          <p:cNvPr id="5" name="矩形 4"/>
          <p:cNvSpPr/>
          <p:nvPr/>
        </p:nvSpPr>
        <p:spPr>
          <a:xfrm>
            <a:off x="2123728" y="1052736"/>
            <a:ext cx="5472608" cy="954107"/>
          </a:xfrm>
          <a:prstGeom prst="rect">
            <a:avLst/>
          </a:prstGeom>
        </p:spPr>
        <p:txBody>
          <a:bodyPr wrap="square">
            <a:spAutoFit/>
          </a:bodyPr>
          <a:lstStyle/>
          <a:p>
            <a:r>
              <a:rPr lang="en-US" altLang="zh-CN" sz="1400" dirty="0" smtClean="0"/>
              <a:t>train &lt;- subset(prostate, train == TRUE)[, 1:9]</a:t>
            </a:r>
          </a:p>
          <a:p>
            <a:r>
              <a:rPr lang="en-US" altLang="zh-CN" sz="1400" dirty="0" err="1" smtClean="0"/>
              <a:t>str</a:t>
            </a:r>
            <a:r>
              <a:rPr lang="en-US" altLang="zh-CN" sz="1400" dirty="0" smtClean="0"/>
              <a:t>(train)</a:t>
            </a:r>
          </a:p>
          <a:p>
            <a:r>
              <a:rPr lang="en-US" altLang="zh-CN" sz="1400" dirty="0" smtClean="0"/>
              <a:t>test = subset(prostate, train==FALSE)[,1:9]</a:t>
            </a:r>
          </a:p>
          <a:p>
            <a:r>
              <a:rPr lang="en-US" altLang="zh-CN" sz="1400" dirty="0" err="1" smtClean="0"/>
              <a:t>str</a:t>
            </a:r>
            <a:r>
              <a:rPr lang="en-US" altLang="zh-CN" sz="1400" dirty="0" smtClean="0"/>
              <a:t>(test)</a:t>
            </a:r>
            <a:endParaRPr lang="zh-CN" altLang="en-US" sz="1400" dirty="0"/>
          </a:p>
        </p:txBody>
      </p:sp>
      <p:sp>
        <p:nvSpPr>
          <p:cNvPr id="6" name="内容占位符 2"/>
          <p:cNvSpPr txBox="1">
            <a:spLocks/>
          </p:cNvSpPr>
          <p:nvPr/>
        </p:nvSpPr>
        <p:spPr>
          <a:xfrm>
            <a:off x="35496" y="260648"/>
            <a:ext cx="8856984" cy="792088"/>
          </a:xfrm>
          <a:prstGeom prst="rect">
            <a:avLst/>
          </a:prstGeom>
        </p:spPr>
        <p:txBody>
          <a:bodyPr/>
          <a:lstStyle/>
          <a:p>
            <a:pPr marL="342900" indent="-342900" eaLnBrk="0" hangingPunct="0">
              <a:spcBef>
                <a:spcPct val="20000"/>
              </a:spcBef>
              <a:buFont typeface="Wingdings" pitchFamily="2" charset="2"/>
              <a:buChar char="n"/>
            </a:pPr>
            <a:r>
              <a:rPr lang="zh-CN" altLang="en-US" sz="2200" dirty="0" smtClean="0">
                <a:latin typeface="Arial" pitchFamily="34" charset="0"/>
                <a:ea typeface="黑体" pitchFamily="49" charset="-122"/>
                <a:cs typeface="Arial" pitchFamily="34" charset="0"/>
              </a:rPr>
              <a:t>将数据切割，分成训练集和测试集（如</a:t>
            </a:r>
            <a:r>
              <a:rPr lang="en-US" altLang="zh-CN" sz="2200" dirty="0" smtClean="0">
                <a:latin typeface="Arial" pitchFamily="34" charset="0"/>
                <a:ea typeface="黑体" pitchFamily="49" charset="-122"/>
                <a:cs typeface="Arial" pitchFamily="34" charset="0"/>
              </a:rPr>
              <a:t>7</a:t>
            </a:r>
            <a:r>
              <a:rPr lang="zh-CN" altLang="en-US" sz="2200" dirty="0" smtClean="0">
                <a:latin typeface="Arial" pitchFamily="34" charset="0"/>
                <a:ea typeface="黑体" pitchFamily="49" charset="-122"/>
                <a:cs typeface="Arial" pitchFamily="34" charset="0"/>
              </a:rPr>
              <a:t>：</a:t>
            </a:r>
            <a:r>
              <a:rPr lang="en-US" altLang="zh-CN" sz="2200" dirty="0" smtClean="0">
                <a:latin typeface="Arial" pitchFamily="34" charset="0"/>
                <a:ea typeface="黑体" pitchFamily="49" charset="-122"/>
                <a:cs typeface="Arial" pitchFamily="34" charset="0"/>
              </a:rPr>
              <a:t>3</a:t>
            </a:r>
            <a:r>
              <a:rPr lang="zh-CN" altLang="en-US" sz="2200" dirty="0" smtClean="0">
                <a:latin typeface="Arial" pitchFamily="34" charset="0"/>
                <a:ea typeface="黑体" pitchFamily="49" charset="-122"/>
                <a:cs typeface="Arial" pitchFamily="34" charset="0"/>
              </a:rPr>
              <a:t>的方式），用训练集建立模型之后就可以对其进行测试；</a:t>
            </a:r>
          </a:p>
        </p:txBody>
      </p:sp>
      <p:sp>
        <p:nvSpPr>
          <p:cNvPr id="8" name="内容占位符 2"/>
          <p:cNvSpPr txBox="1">
            <a:spLocks/>
          </p:cNvSpPr>
          <p:nvPr/>
        </p:nvSpPr>
        <p:spPr>
          <a:xfrm>
            <a:off x="35496" y="2132856"/>
            <a:ext cx="9001000" cy="792088"/>
          </a:xfrm>
          <a:prstGeom prst="rect">
            <a:avLst/>
          </a:prstGeom>
        </p:spPr>
        <p:txBody>
          <a:bodyPr/>
          <a:lstStyle/>
          <a:p>
            <a:pPr marL="342900" indent="-342900" eaLnBrk="0" hangingPunct="0">
              <a:spcBef>
                <a:spcPct val="20000"/>
              </a:spcBef>
              <a:buFont typeface="Wingdings" pitchFamily="2" charset="2"/>
              <a:buChar char="n"/>
            </a:pPr>
            <a:r>
              <a:rPr lang="zh-CN" altLang="en-US" sz="2200" dirty="0" smtClean="0">
                <a:latin typeface="Arial" pitchFamily="34" charset="0"/>
                <a:ea typeface="黑体" pitchFamily="49" charset="-122"/>
                <a:cs typeface="Arial" pitchFamily="34" charset="0"/>
              </a:rPr>
              <a:t>构造 </a:t>
            </a:r>
            <a:r>
              <a:rPr lang="en-US" altLang="zh-CN" sz="2200" dirty="0" err="1" smtClean="0">
                <a:latin typeface="Arial" pitchFamily="34" charset="0"/>
                <a:ea typeface="黑体" pitchFamily="49" charset="-122"/>
                <a:cs typeface="Arial" pitchFamily="34" charset="0"/>
              </a:rPr>
              <a:t>glmnet</a:t>
            </a:r>
            <a:r>
              <a:rPr lang="en-US" altLang="zh-CN" sz="2200" dirty="0" smtClean="0">
                <a:latin typeface="Arial" pitchFamily="34" charset="0"/>
                <a:ea typeface="黑体" pitchFamily="49" charset="-122"/>
                <a:cs typeface="Arial" pitchFamily="34" charset="0"/>
              </a:rPr>
              <a:t> </a:t>
            </a:r>
            <a:r>
              <a:rPr lang="zh-CN" altLang="en-US" sz="2200" dirty="0" smtClean="0">
                <a:latin typeface="Arial" pitchFamily="34" charset="0"/>
                <a:ea typeface="黑体" pitchFamily="49" charset="-122"/>
                <a:cs typeface="Arial" pitchFamily="34" charset="0"/>
              </a:rPr>
              <a:t>读取所需要的格式文件，</a:t>
            </a:r>
            <a:r>
              <a:rPr lang="en-US" altLang="zh-CN" sz="2200" dirty="0" smtClean="0">
                <a:latin typeface="Arial" pitchFamily="34" charset="0"/>
                <a:ea typeface="黑体" pitchFamily="49" charset="-122"/>
                <a:cs typeface="Arial" pitchFamily="34" charset="0"/>
              </a:rPr>
              <a:t>x</a:t>
            </a:r>
            <a:r>
              <a:rPr lang="zh-CN" altLang="en-US" sz="2200" dirty="0" smtClean="0">
                <a:latin typeface="Arial" pitchFamily="34" charset="0"/>
                <a:ea typeface="黑体" pitchFamily="49" charset="-122"/>
                <a:cs typeface="Arial" pitchFamily="34" charset="0"/>
              </a:rPr>
              <a:t>为一个数值矩阵，</a:t>
            </a:r>
            <a:r>
              <a:rPr lang="en-US" altLang="zh-CN" sz="2200" dirty="0" smtClean="0">
                <a:latin typeface="Arial" pitchFamily="34" charset="0"/>
                <a:ea typeface="黑体" pitchFamily="49" charset="-122"/>
                <a:cs typeface="Arial" pitchFamily="34" charset="0"/>
              </a:rPr>
              <a:t>y</a:t>
            </a:r>
            <a:r>
              <a:rPr lang="zh-CN" altLang="en-US" sz="2200" dirty="0" smtClean="0">
                <a:latin typeface="Arial" pitchFamily="34" charset="0"/>
                <a:ea typeface="黑体" pitchFamily="49" charset="-122"/>
                <a:cs typeface="Arial" pitchFamily="34" charset="0"/>
              </a:rPr>
              <a:t>为一个响应变量，并建模和交叉验证 （</a:t>
            </a:r>
            <a:r>
              <a:rPr lang="en-US" altLang="zh-CN" sz="2200" dirty="0" err="1" smtClean="0">
                <a:latin typeface="Arial" pitchFamily="34" charset="0"/>
                <a:ea typeface="黑体" pitchFamily="49" charset="-122"/>
                <a:cs typeface="Arial" pitchFamily="34" charset="0"/>
              </a:rPr>
              <a:t>cv.glmnet</a:t>
            </a:r>
            <a:r>
              <a:rPr lang="zh-CN" altLang="en-US" sz="2200" dirty="0" smtClean="0">
                <a:latin typeface="Arial" pitchFamily="34" charset="0"/>
                <a:ea typeface="黑体" pitchFamily="49" charset="-122"/>
                <a:cs typeface="Arial" pitchFamily="34" charset="0"/>
              </a:rPr>
              <a:t>）：</a:t>
            </a:r>
          </a:p>
        </p:txBody>
      </p:sp>
      <p:sp>
        <p:nvSpPr>
          <p:cNvPr id="9" name="矩形 8"/>
          <p:cNvSpPr/>
          <p:nvPr/>
        </p:nvSpPr>
        <p:spPr>
          <a:xfrm>
            <a:off x="2195736" y="2986494"/>
            <a:ext cx="5040560" cy="3754874"/>
          </a:xfrm>
          <a:prstGeom prst="rect">
            <a:avLst/>
          </a:prstGeom>
        </p:spPr>
        <p:txBody>
          <a:bodyPr wrap="square">
            <a:spAutoFit/>
          </a:bodyPr>
          <a:lstStyle/>
          <a:p>
            <a:r>
              <a:rPr lang="en-US" altLang="zh-CN" sz="1400" dirty="0" smtClean="0"/>
              <a:t>x &lt;- </a:t>
            </a:r>
            <a:r>
              <a:rPr lang="en-US" altLang="zh-CN" sz="1400" dirty="0" err="1" smtClean="0"/>
              <a:t>as.matrix</a:t>
            </a:r>
            <a:r>
              <a:rPr lang="en-US" altLang="zh-CN" sz="1400" dirty="0" smtClean="0"/>
              <a:t>(train[, 1:8])</a:t>
            </a:r>
          </a:p>
          <a:p>
            <a:r>
              <a:rPr lang="en-US" altLang="zh-CN" sz="1400" dirty="0" smtClean="0"/>
              <a:t>y &lt;- train[, 9]</a:t>
            </a:r>
          </a:p>
          <a:p>
            <a:r>
              <a:rPr lang="en-US" altLang="zh-CN" sz="1400" dirty="0" smtClean="0"/>
              <a:t>lasso &lt;- </a:t>
            </a:r>
            <a:r>
              <a:rPr lang="en-US" altLang="zh-CN" sz="1400" dirty="0" err="1" smtClean="0"/>
              <a:t>glmnet</a:t>
            </a:r>
            <a:r>
              <a:rPr lang="en-US" altLang="zh-CN" sz="1400" dirty="0" smtClean="0"/>
              <a:t>(x, y, family = "</a:t>
            </a:r>
            <a:r>
              <a:rPr lang="en-US" altLang="zh-CN" sz="1400" dirty="0" err="1" smtClean="0"/>
              <a:t>gaussian</a:t>
            </a:r>
            <a:r>
              <a:rPr lang="en-US" altLang="zh-CN" sz="1400" dirty="0" smtClean="0"/>
              <a:t>", alpha = 1)</a:t>
            </a:r>
          </a:p>
          <a:p>
            <a:r>
              <a:rPr lang="en-US" altLang="zh-CN" sz="1400" dirty="0" smtClean="0"/>
              <a:t>print(lasso)</a:t>
            </a:r>
          </a:p>
          <a:p>
            <a:r>
              <a:rPr lang="en-US" altLang="zh-CN" sz="1400" dirty="0" smtClean="0"/>
              <a:t>Call:  </a:t>
            </a:r>
            <a:r>
              <a:rPr lang="en-US" altLang="zh-CN" sz="1400" dirty="0" err="1" smtClean="0"/>
              <a:t>glmnet</a:t>
            </a:r>
            <a:r>
              <a:rPr lang="en-US" altLang="zh-CN" sz="1400" dirty="0" smtClean="0"/>
              <a:t>(x = x, y = y, family = "</a:t>
            </a:r>
            <a:r>
              <a:rPr lang="en-US" altLang="zh-CN" sz="1400" dirty="0" err="1" smtClean="0"/>
              <a:t>gaussian</a:t>
            </a:r>
            <a:r>
              <a:rPr lang="en-US" altLang="zh-CN" sz="1400" dirty="0" smtClean="0"/>
              <a:t>", alpha = 1) </a:t>
            </a:r>
          </a:p>
          <a:p>
            <a:endParaRPr lang="en-US" altLang="zh-CN" sz="1400" dirty="0" smtClean="0"/>
          </a:p>
          <a:p>
            <a:r>
              <a:rPr lang="en-US" altLang="zh-CN" sz="1400" dirty="0" smtClean="0"/>
              <a:t>   </a:t>
            </a:r>
            <a:r>
              <a:rPr lang="en-US" altLang="zh-CN" sz="1400" dirty="0" err="1" smtClean="0"/>
              <a:t>Df</a:t>
            </a:r>
            <a:r>
              <a:rPr lang="en-US" altLang="zh-CN" sz="1400" dirty="0" smtClean="0"/>
              <a:t>  %Dev  Lambda</a:t>
            </a:r>
          </a:p>
          <a:p>
            <a:r>
              <a:rPr lang="en-US" altLang="zh-CN" sz="1400" dirty="0" smtClean="0"/>
              <a:t>1   0   0.00    0.88400</a:t>
            </a:r>
          </a:p>
          <a:p>
            <a:r>
              <a:rPr lang="en-US" altLang="zh-CN" sz="1400" dirty="0" smtClean="0"/>
              <a:t>2   2   4.39    0.80540</a:t>
            </a:r>
          </a:p>
          <a:p>
            <a:r>
              <a:rPr lang="en-US" altLang="zh-CN" sz="1400" dirty="0" smtClean="0"/>
              <a:t>3   2   8.71    0.73390</a:t>
            </a:r>
          </a:p>
          <a:p>
            <a:r>
              <a:rPr lang="en-US" altLang="zh-CN" sz="1400" dirty="0" smtClean="0"/>
              <a:t>4   2  12.30   0.66870</a:t>
            </a:r>
          </a:p>
          <a:p>
            <a:pPr marL="342900" indent="-342900"/>
            <a:r>
              <a:rPr lang="en-US" altLang="zh-CN" sz="1400" dirty="0" smtClean="0"/>
              <a:t>5   2  15.28   0.60930</a:t>
            </a:r>
          </a:p>
          <a:p>
            <a:pPr marL="342900" indent="-342900"/>
            <a:r>
              <a:rPr lang="en-US" altLang="zh-CN" sz="1400" dirty="0" smtClean="0"/>
              <a:t>……</a:t>
            </a:r>
          </a:p>
          <a:p>
            <a:pPr marL="342900" indent="-342900"/>
            <a:r>
              <a:rPr lang="en-US" altLang="zh-CN" sz="1400" dirty="0" smtClean="0"/>
              <a:t>72  8   31.82  0.00120</a:t>
            </a:r>
          </a:p>
          <a:p>
            <a:pPr marL="342900" indent="-342900"/>
            <a:r>
              <a:rPr lang="en-US" altLang="zh-CN" sz="1400" dirty="0" smtClean="0"/>
              <a:t>73  8   31.82  0.00109</a:t>
            </a:r>
          </a:p>
          <a:p>
            <a:pPr marL="342900" indent="-342900"/>
            <a:r>
              <a:rPr lang="en-US" altLang="zh-CN" sz="1400" dirty="0" smtClean="0"/>
              <a:t>par(</a:t>
            </a:r>
            <a:r>
              <a:rPr lang="en-US" altLang="zh-CN" sz="1400" dirty="0" err="1" smtClean="0"/>
              <a:t>mfrow</a:t>
            </a:r>
            <a:r>
              <a:rPr lang="en-US" altLang="zh-CN" sz="1400" dirty="0" smtClean="0"/>
              <a:t>=c(1,2))</a:t>
            </a:r>
          </a:p>
          <a:p>
            <a:pPr marL="342900" indent="-342900"/>
            <a:r>
              <a:rPr lang="en-US" altLang="zh-CN" sz="1400" dirty="0" smtClean="0"/>
              <a:t>plot(lasso, </a:t>
            </a:r>
            <a:r>
              <a:rPr lang="en-US" altLang="zh-CN" sz="1400" dirty="0" err="1" smtClean="0"/>
              <a:t>xvar</a:t>
            </a:r>
            <a:r>
              <a:rPr lang="en-US" altLang="zh-CN" sz="1400" dirty="0" smtClean="0"/>
              <a:t> = "lambda", label = TRUE) </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58</a:t>
            </a:fld>
            <a:endParaRPr lang="zh-CN" altLang="en-US"/>
          </a:p>
        </p:txBody>
      </p:sp>
      <p:pic>
        <p:nvPicPr>
          <p:cNvPr id="74754" name="Picture 2" descr="https://pic4.zhimg.com/80/v2-ed2a8bff9b1476d0cad1d476c3ca9d6b_720w.webp"/>
          <p:cNvPicPr>
            <a:picLocks noChangeAspect="1" noChangeArrowheads="1"/>
          </p:cNvPicPr>
          <p:nvPr/>
        </p:nvPicPr>
        <p:blipFill>
          <a:blip r:embed="rId2" cstate="print"/>
          <a:srcRect/>
          <a:stretch>
            <a:fillRect/>
          </a:stretch>
        </p:blipFill>
        <p:spPr bwMode="auto">
          <a:xfrm>
            <a:off x="971600" y="332656"/>
            <a:ext cx="6582238" cy="5904656"/>
          </a:xfrm>
          <a:prstGeom prst="rect">
            <a:avLst/>
          </a:prstGeom>
          <a:noFill/>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59</a:t>
            </a:fld>
            <a:endParaRPr lang="zh-CN" altLang="en-US"/>
          </a:p>
        </p:txBody>
      </p:sp>
      <p:sp>
        <p:nvSpPr>
          <p:cNvPr id="4" name="内容占位符 2"/>
          <p:cNvSpPr txBox="1">
            <a:spLocks/>
          </p:cNvSpPr>
          <p:nvPr/>
        </p:nvSpPr>
        <p:spPr>
          <a:xfrm>
            <a:off x="35496" y="260648"/>
            <a:ext cx="8856984" cy="504056"/>
          </a:xfrm>
          <a:prstGeom prst="rect">
            <a:avLst/>
          </a:prstGeom>
        </p:spPr>
        <p:txBody>
          <a:bodyPr/>
          <a:lstStyle/>
          <a:p>
            <a:pPr marL="342900" indent="-342900" eaLnBrk="0" hangingPunct="0">
              <a:spcBef>
                <a:spcPct val="20000"/>
              </a:spcBef>
              <a:buFont typeface="Wingdings" pitchFamily="2" charset="2"/>
              <a:buChar char="n"/>
            </a:pPr>
            <a:r>
              <a:rPr lang="zh-CN" altLang="en-US" sz="2400" dirty="0" smtClean="0">
                <a:latin typeface="Arial" pitchFamily="34" charset="0"/>
                <a:ea typeface="黑体" pitchFamily="49" charset="-122"/>
                <a:cs typeface="Arial" pitchFamily="34" charset="0"/>
              </a:rPr>
              <a:t>利用上述模型进行对测试集进行预测</a:t>
            </a:r>
            <a:endParaRPr lang="zh-CN" altLang="en-US" sz="2200" dirty="0" smtClean="0">
              <a:latin typeface="Arial" pitchFamily="34" charset="0"/>
              <a:ea typeface="黑体" pitchFamily="49" charset="-122"/>
              <a:cs typeface="Arial" pitchFamily="34" charset="0"/>
            </a:endParaRPr>
          </a:p>
        </p:txBody>
      </p:sp>
      <p:sp>
        <p:nvSpPr>
          <p:cNvPr id="5" name="矩形 4"/>
          <p:cNvSpPr/>
          <p:nvPr/>
        </p:nvSpPr>
        <p:spPr>
          <a:xfrm>
            <a:off x="144016" y="908720"/>
            <a:ext cx="5220072" cy="4708981"/>
          </a:xfrm>
          <a:prstGeom prst="rect">
            <a:avLst/>
          </a:prstGeom>
        </p:spPr>
        <p:txBody>
          <a:bodyPr wrap="square">
            <a:spAutoFit/>
          </a:bodyPr>
          <a:lstStyle/>
          <a:p>
            <a:r>
              <a:rPr lang="en-US" altLang="zh-CN" sz="1500" dirty="0" err="1" smtClean="0"/>
              <a:t>lasso.coef</a:t>
            </a:r>
            <a:r>
              <a:rPr lang="en-US" altLang="zh-CN" sz="1500" dirty="0" smtClean="0"/>
              <a:t> &lt;- predict(lasso, s = 0.045, type = "coefficients")</a:t>
            </a:r>
          </a:p>
          <a:p>
            <a:r>
              <a:rPr lang="en-US" altLang="zh-CN" sz="1500" dirty="0" err="1" smtClean="0"/>
              <a:t>lasso.coef</a:t>
            </a:r>
            <a:endParaRPr lang="en-US" altLang="zh-CN" sz="1500" dirty="0" smtClean="0"/>
          </a:p>
          <a:p>
            <a:r>
              <a:rPr lang="en-US" altLang="zh-CN" sz="1500" dirty="0" smtClean="0"/>
              <a:t>9 x 1 sparse Matrix of class "</a:t>
            </a:r>
            <a:r>
              <a:rPr lang="en-US" altLang="zh-CN" sz="1500" dirty="0" err="1" smtClean="0"/>
              <a:t>dgCMatrix</a:t>
            </a:r>
            <a:r>
              <a:rPr lang="en-US" altLang="zh-CN" sz="1500" dirty="0" smtClean="0"/>
              <a:t>"</a:t>
            </a:r>
          </a:p>
          <a:p>
            <a:r>
              <a:rPr lang="en-US" altLang="zh-CN" sz="1500" dirty="0" smtClean="0"/>
              <a:t>                      	 	s1</a:t>
            </a:r>
          </a:p>
          <a:p>
            <a:r>
              <a:rPr lang="en-US" altLang="zh-CN" sz="1500" dirty="0" smtClean="0"/>
              <a:t>(Intercept)		-0.1305900670</a:t>
            </a:r>
          </a:p>
          <a:p>
            <a:r>
              <a:rPr lang="en-US" altLang="zh-CN" sz="1500" dirty="0" err="1" smtClean="0"/>
              <a:t>lcavol</a:t>
            </a:r>
            <a:r>
              <a:rPr lang="en-US" altLang="zh-CN" sz="1500" dirty="0" smtClean="0"/>
              <a:t>       		0.4479592050</a:t>
            </a:r>
          </a:p>
          <a:p>
            <a:r>
              <a:rPr lang="en-US" altLang="zh-CN" sz="1500" dirty="0" err="1" smtClean="0"/>
              <a:t>lweight</a:t>
            </a:r>
            <a:r>
              <a:rPr lang="en-US" altLang="zh-CN" sz="1500" dirty="0" smtClean="0"/>
              <a:t>      		0.5910476764</a:t>
            </a:r>
          </a:p>
          <a:p>
            <a:r>
              <a:rPr lang="en-US" altLang="zh-CN" sz="1500" dirty="0" smtClean="0"/>
              <a:t>age         		-0.0073162861</a:t>
            </a:r>
          </a:p>
          <a:p>
            <a:r>
              <a:rPr lang="en-US" altLang="zh-CN" sz="1500" dirty="0" err="1" smtClean="0"/>
              <a:t>lbph</a:t>
            </a:r>
            <a:r>
              <a:rPr lang="en-US" altLang="zh-CN" sz="1500" dirty="0" smtClean="0"/>
              <a:t>         		0.0974103575</a:t>
            </a:r>
          </a:p>
          <a:p>
            <a:r>
              <a:rPr lang="en-US" altLang="zh-CN" sz="1500" dirty="0" err="1" smtClean="0"/>
              <a:t>svi</a:t>
            </a:r>
            <a:r>
              <a:rPr lang="en-US" altLang="zh-CN" sz="1500" dirty="0" smtClean="0"/>
              <a:t>          		0.4746790830</a:t>
            </a:r>
          </a:p>
          <a:p>
            <a:r>
              <a:rPr lang="en-US" altLang="zh-CN" sz="1500" dirty="0" err="1" smtClean="0"/>
              <a:t>lcp</a:t>
            </a:r>
            <a:r>
              <a:rPr lang="en-US" altLang="zh-CN" sz="1500" dirty="0" smtClean="0"/>
              <a:t>          		.           </a:t>
            </a:r>
          </a:p>
          <a:p>
            <a:r>
              <a:rPr lang="en-US" altLang="zh-CN" sz="1500" dirty="0" err="1" smtClean="0"/>
              <a:t>gleason</a:t>
            </a:r>
            <a:r>
              <a:rPr lang="en-US" altLang="zh-CN" sz="1500" dirty="0" smtClean="0"/>
              <a:t>     	0.2968768129</a:t>
            </a:r>
          </a:p>
          <a:p>
            <a:r>
              <a:rPr lang="en-US" altLang="zh-CN" sz="1500" dirty="0" smtClean="0"/>
              <a:t>pgg45        	0.0009788059</a:t>
            </a:r>
          </a:p>
          <a:p>
            <a:r>
              <a:rPr lang="en-US" altLang="zh-CN" sz="1500" dirty="0" err="1" smtClean="0"/>
              <a:t>lasso.y</a:t>
            </a:r>
            <a:r>
              <a:rPr lang="en-US" altLang="zh-CN" sz="1500" dirty="0" smtClean="0"/>
              <a:t> &lt;- predict(lasso, </a:t>
            </a:r>
            <a:r>
              <a:rPr lang="en-US" altLang="zh-CN" sz="1500" dirty="0" err="1" smtClean="0"/>
              <a:t>newx</a:t>
            </a:r>
            <a:r>
              <a:rPr lang="en-US" altLang="zh-CN" sz="1500" dirty="0" smtClean="0"/>
              <a:t> = </a:t>
            </a:r>
            <a:r>
              <a:rPr lang="en-US" altLang="zh-CN" sz="1500" dirty="0" err="1" smtClean="0"/>
              <a:t>newx</a:t>
            </a:r>
            <a:r>
              <a:rPr lang="en-US" altLang="zh-CN" sz="1500" dirty="0" smtClean="0"/>
              <a:t>, type = "response", s = 0.045)</a:t>
            </a:r>
          </a:p>
          <a:p>
            <a:r>
              <a:rPr lang="en-US" altLang="zh-CN" sz="1500" dirty="0" smtClean="0"/>
              <a:t>plot(</a:t>
            </a:r>
            <a:r>
              <a:rPr lang="en-US" altLang="zh-CN" sz="1500" dirty="0" err="1" smtClean="0"/>
              <a:t>lasso.y</a:t>
            </a:r>
            <a:r>
              <a:rPr lang="en-US" altLang="zh-CN" sz="1500" dirty="0" smtClean="0"/>
              <a:t>, </a:t>
            </a:r>
            <a:r>
              <a:rPr lang="en-US" altLang="zh-CN" sz="1500" dirty="0" err="1" smtClean="0"/>
              <a:t>test$lpsa</a:t>
            </a:r>
            <a:r>
              <a:rPr lang="en-US" altLang="zh-CN" sz="1500" dirty="0" smtClean="0"/>
              <a:t>, </a:t>
            </a:r>
            <a:r>
              <a:rPr lang="en-US" altLang="zh-CN" sz="1500" dirty="0" err="1" smtClean="0"/>
              <a:t>xlab</a:t>
            </a:r>
            <a:r>
              <a:rPr lang="en-US" altLang="zh-CN" sz="1500" dirty="0" smtClean="0"/>
              <a:t> = "Predicted", </a:t>
            </a:r>
            <a:r>
              <a:rPr lang="en-US" altLang="zh-CN" sz="1500" dirty="0" err="1" smtClean="0"/>
              <a:t>ylab</a:t>
            </a:r>
            <a:r>
              <a:rPr lang="en-US" altLang="zh-CN" sz="1500" dirty="0" smtClean="0"/>
              <a:t> = "Actual", main = "LASSO")</a:t>
            </a:r>
          </a:p>
          <a:p>
            <a:r>
              <a:rPr lang="en-US" altLang="zh-CN" sz="1500" dirty="0" err="1" smtClean="0"/>
              <a:t>lasso.resid</a:t>
            </a:r>
            <a:r>
              <a:rPr lang="en-US" altLang="zh-CN" sz="1500" dirty="0" smtClean="0"/>
              <a:t> &lt;- </a:t>
            </a:r>
            <a:r>
              <a:rPr lang="en-US" altLang="zh-CN" sz="1500" dirty="0" err="1" smtClean="0"/>
              <a:t>lasso.y</a:t>
            </a:r>
            <a:r>
              <a:rPr lang="en-US" altLang="zh-CN" sz="1500" dirty="0" smtClean="0"/>
              <a:t> - </a:t>
            </a:r>
            <a:r>
              <a:rPr lang="en-US" altLang="zh-CN" sz="1500" dirty="0" err="1" smtClean="0"/>
              <a:t>test$lpsa</a:t>
            </a:r>
            <a:endParaRPr lang="en-US" altLang="zh-CN" sz="1500" dirty="0" smtClean="0"/>
          </a:p>
          <a:p>
            <a:r>
              <a:rPr lang="en-US" altLang="zh-CN" sz="1500" dirty="0" smtClean="0"/>
              <a:t>mean(lasso.resid^2)</a:t>
            </a:r>
          </a:p>
          <a:p>
            <a:r>
              <a:rPr lang="en-US" altLang="zh-CN" sz="1500" dirty="0" smtClean="0"/>
              <a:t>[1] </a:t>
            </a:r>
            <a:r>
              <a:rPr lang="en-US" altLang="zh-CN" sz="1500" dirty="0" err="1" smtClean="0"/>
              <a:t>NaN</a:t>
            </a:r>
            <a:endParaRPr lang="zh-CN" altLang="en-US" sz="1500" dirty="0"/>
          </a:p>
        </p:txBody>
      </p:sp>
      <p:grpSp>
        <p:nvGrpSpPr>
          <p:cNvPr id="8" name="组合 7"/>
          <p:cNvGrpSpPr/>
          <p:nvPr/>
        </p:nvGrpSpPr>
        <p:grpSpPr>
          <a:xfrm>
            <a:off x="5364088" y="1412776"/>
            <a:ext cx="3528392" cy="3624531"/>
            <a:chOff x="5148064" y="1772816"/>
            <a:chExt cx="3583415" cy="3552523"/>
          </a:xfrm>
        </p:grpSpPr>
        <p:pic>
          <p:nvPicPr>
            <p:cNvPr id="75778" name="Picture 2" descr="https://pic3.zhimg.com/80/v2-aff9f5327acc0b8f2c171825fe93f8ca_720w.webp"/>
            <p:cNvPicPr>
              <a:picLocks noChangeAspect="1" noChangeArrowheads="1"/>
            </p:cNvPicPr>
            <p:nvPr/>
          </p:nvPicPr>
          <p:blipFill>
            <a:blip r:embed="rId2" cstate="print"/>
            <a:srcRect/>
            <a:stretch>
              <a:fillRect/>
            </a:stretch>
          </p:blipFill>
          <p:spPr bwMode="auto">
            <a:xfrm>
              <a:off x="5148064" y="1772816"/>
              <a:ext cx="3583415" cy="3552523"/>
            </a:xfrm>
            <a:prstGeom prst="rect">
              <a:avLst/>
            </a:prstGeom>
            <a:noFill/>
          </p:spPr>
        </p:pic>
        <p:sp>
          <p:nvSpPr>
            <p:cNvPr id="7" name="矩形 6"/>
            <p:cNvSpPr/>
            <p:nvPr/>
          </p:nvSpPr>
          <p:spPr>
            <a:xfrm>
              <a:off x="8028384" y="5013176"/>
              <a:ext cx="648072"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矩形 8"/>
          <p:cNvSpPr/>
          <p:nvPr/>
        </p:nvSpPr>
        <p:spPr>
          <a:xfrm>
            <a:off x="107504" y="5733256"/>
            <a:ext cx="8928992" cy="646331"/>
          </a:xfrm>
          <a:prstGeom prst="rect">
            <a:avLst/>
          </a:prstGeom>
        </p:spPr>
        <p:txBody>
          <a:bodyPr wrap="square">
            <a:spAutoFit/>
          </a:bodyPr>
          <a:lstStyle/>
          <a:p>
            <a:r>
              <a:rPr lang="zh-CN" altLang="en-US" dirty="0" smtClean="0">
                <a:solidFill>
                  <a:srgbClr val="C00000"/>
                </a:solidFill>
                <a:latin typeface="Arial" pitchFamily="34" charset="0"/>
                <a:ea typeface="黑体" pitchFamily="49" charset="-122"/>
                <a:cs typeface="Arial" pitchFamily="34" charset="0"/>
              </a:rPr>
              <a:t>从上面可以看出，有三个参数（ </a:t>
            </a:r>
            <a:r>
              <a:rPr lang="en-US" altLang="zh-CN" b="1" dirty="0" smtClean="0">
                <a:solidFill>
                  <a:srgbClr val="C00000"/>
                </a:solidFill>
                <a:latin typeface="Arial" pitchFamily="34" charset="0"/>
                <a:ea typeface="黑体" pitchFamily="49" charset="-122"/>
                <a:cs typeface="Arial" pitchFamily="34" charset="0"/>
              </a:rPr>
              <a:t>age, </a:t>
            </a:r>
            <a:r>
              <a:rPr lang="en-US" altLang="zh-CN" b="1" dirty="0" err="1" smtClean="0">
                <a:solidFill>
                  <a:srgbClr val="C00000"/>
                </a:solidFill>
                <a:latin typeface="Arial" pitchFamily="34" charset="0"/>
                <a:ea typeface="黑体" pitchFamily="49" charset="-122"/>
                <a:cs typeface="Arial" pitchFamily="34" charset="0"/>
              </a:rPr>
              <a:t>lcp</a:t>
            </a:r>
            <a:r>
              <a:rPr lang="en-US" altLang="zh-CN" b="1" dirty="0" smtClean="0">
                <a:solidFill>
                  <a:srgbClr val="C00000"/>
                </a:solidFill>
                <a:latin typeface="Arial" pitchFamily="34" charset="0"/>
                <a:ea typeface="黑体" pitchFamily="49" charset="-122"/>
                <a:cs typeface="Arial" pitchFamily="34" charset="0"/>
              </a:rPr>
              <a:t>, pgg45</a:t>
            </a:r>
            <a:r>
              <a:rPr lang="zh-CN" altLang="en-US" dirty="0" smtClean="0">
                <a:solidFill>
                  <a:srgbClr val="C00000"/>
                </a:solidFill>
                <a:latin typeface="Arial" pitchFamily="34" charset="0"/>
                <a:ea typeface="黑体" pitchFamily="49" charset="-122"/>
                <a:cs typeface="Arial" pitchFamily="34" charset="0"/>
              </a:rPr>
              <a:t>）的系数趋向于 </a:t>
            </a:r>
            <a:r>
              <a:rPr lang="en-US" altLang="zh-CN" dirty="0" smtClean="0">
                <a:solidFill>
                  <a:srgbClr val="C00000"/>
                </a:solidFill>
                <a:latin typeface="Arial" pitchFamily="34" charset="0"/>
                <a:ea typeface="黑体" pitchFamily="49" charset="-122"/>
                <a:cs typeface="Arial" pitchFamily="34" charset="0"/>
              </a:rPr>
              <a:t>0</a:t>
            </a:r>
            <a:r>
              <a:rPr lang="zh-CN" altLang="en-US" dirty="0" smtClean="0">
                <a:solidFill>
                  <a:srgbClr val="C00000"/>
                </a:solidFill>
                <a:latin typeface="Arial" pitchFamily="34" charset="0"/>
                <a:ea typeface="黑体" pitchFamily="49" charset="-122"/>
                <a:cs typeface="Arial" pitchFamily="34" charset="0"/>
              </a:rPr>
              <a:t>，等同于无意义，所以可去掉这几个参数，达到模型的最优化。</a:t>
            </a:r>
            <a:endParaRPr lang="zh-CN" altLang="en-US" dirty="0">
              <a:solidFill>
                <a:srgbClr val="C00000"/>
              </a:solidFill>
              <a:latin typeface="Arial" pitchFamily="34" charset="0"/>
              <a:ea typeface="黑体" pitchFamily="49" charset="-122"/>
              <a:cs typeface="Arial" pitchFamily="34" charset="0"/>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60</a:t>
            </a:fld>
            <a:endParaRPr lang="zh-CN" altLang="en-US"/>
          </a:p>
        </p:txBody>
      </p:sp>
      <p:sp>
        <p:nvSpPr>
          <p:cNvPr id="3" name="内容占位符 2"/>
          <p:cNvSpPr txBox="1">
            <a:spLocks/>
          </p:cNvSpPr>
          <p:nvPr/>
        </p:nvSpPr>
        <p:spPr>
          <a:xfrm>
            <a:off x="35496" y="260648"/>
            <a:ext cx="8856984" cy="936104"/>
          </a:xfrm>
          <a:prstGeom prst="rect">
            <a:avLst/>
          </a:prstGeom>
        </p:spPr>
        <p:txBody>
          <a:bodyPr/>
          <a:lstStyle/>
          <a:p>
            <a:pPr marL="342900" indent="-342900" eaLnBrk="0" hangingPunct="0">
              <a:spcBef>
                <a:spcPct val="20000"/>
              </a:spcBef>
              <a:buFont typeface="Wingdings" pitchFamily="2" charset="2"/>
              <a:buChar char="n"/>
            </a:pPr>
            <a:r>
              <a:rPr lang="zh-CN" altLang="en-US" sz="2400" dirty="0" smtClean="0">
                <a:latin typeface="Arial" pitchFamily="34" charset="0"/>
                <a:ea typeface="黑体" pitchFamily="49" charset="-122"/>
                <a:cs typeface="Arial" pitchFamily="34" charset="0"/>
              </a:rPr>
              <a:t>交叉验证：拿出大部分样本用于建模型，留小部分样本用刚建立的模型进行预测</a:t>
            </a:r>
            <a:endParaRPr lang="zh-CN" altLang="en-US" sz="2200" dirty="0" smtClean="0">
              <a:latin typeface="Arial" pitchFamily="34" charset="0"/>
              <a:ea typeface="黑体" pitchFamily="49" charset="-122"/>
              <a:cs typeface="Arial" pitchFamily="34" charset="0"/>
            </a:endParaRPr>
          </a:p>
        </p:txBody>
      </p:sp>
      <p:sp>
        <p:nvSpPr>
          <p:cNvPr id="4" name="矩形 3"/>
          <p:cNvSpPr/>
          <p:nvPr/>
        </p:nvSpPr>
        <p:spPr>
          <a:xfrm>
            <a:off x="827584" y="1052736"/>
            <a:ext cx="7632848" cy="2308324"/>
          </a:xfrm>
          <a:prstGeom prst="rect">
            <a:avLst/>
          </a:prstGeom>
        </p:spPr>
        <p:txBody>
          <a:bodyPr wrap="square">
            <a:spAutoFit/>
          </a:bodyPr>
          <a:lstStyle/>
          <a:p>
            <a:r>
              <a:rPr lang="en-US" altLang="zh-CN" sz="1600" dirty="0" err="1" smtClean="0"/>
              <a:t>set.seed</a:t>
            </a:r>
            <a:r>
              <a:rPr lang="en-US" altLang="zh-CN" sz="1600" dirty="0" smtClean="0"/>
              <a:t>(317)</a:t>
            </a:r>
          </a:p>
          <a:p>
            <a:r>
              <a:rPr lang="en-US" altLang="zh-CN" sz="1600" dirty="0" smtClean="0"/>
              <a:t>lasso.cv = </a:t>
            </a:r>
            <a:r>
              <a:rPr lang="en-US" altLang="zh-CN" sz="1600" dirty="0" err="1" smtClean="0"/>
              <a:t>cv.glmnet</a:t>
            </a:r>
            <a:r>
              <a:rPr lang="en-US" altLang="zh-CN" sz="1600" dirty="0" smtClean="0"/>
              <a:t>(x=x, y=y, </a:t>
            </a:r>
            <a:r>
              <a:rPr lang="en-US" altLang="zh-CN" sz="1600" dirty="0" err="1" smtClean="0"/>
              <a:t>nlambda</a:t>
            </a:r>
            <a:r>
              <a:rPr lang="en-US" altLang="zh-CN" sz="1600" dirty="0" smtClean="0"/>
              <a:t> = 200,alpha = 1)</a:t>
            </a:r>
          </a:p>
          <a:p>
            <a:r>
              <a:rPr lang="en-US" altLang="zh-CN" sz="1600" dirty="0" smtClean="0"/>
              <a:t>plot(lasso.cv)</a:t>
            </a:r>
          </a:p>
          <a:p>
            <a:r>
              <a:rPr lang="en-US" altLang="zh-CN" sz="1600" dirty="0" err="1" smtClean="0"/>
              <a:t>lasso.cv$lambda.min</a:t>
            </a:r>
            <a:r>
              <a:rPr lang="en-US" altLang="zh-CN" sz="1600" dirty="0" smtClean="0"/>
              <a:t> #minimum</a:t>
            </a:r>
          </a:p>
          <a:p>
            <a:r>
              <a:rPr lang="en-US" altLang="zh-CN" sz="1600" dirty="0" smtClean="0"/>
              <a:t>lasso.cv$lambda.1se #one standard error away</a:t>
            </a:r>
          </a:p>
          <a:p>
            <a:r>
              <a:rPr lang="en-US" altLang="zh-CN" sz="1600" dirty="0" err="1" smtClean="0"/>
              <a:t>coef</a:t>
            </a:r>
            <a:r>
              <a:rPr lang="en-US" altLang="zh-CN" sz="1600" dirty="0" smtClean="0"/>
              <a:t>(lasso.cv, s = "lambda.1se")</a:t>
            </a:r>
          </a:p>
          <a:p>
            <a:r>
              <a:rPr lang="en-US" altLang="zh-CN" sz="1600" dirty="0" smtClean="0"/>
              <a:t>lasso.y.cv = predict(lasso.cv, </a:t>
            </a:r>
            <a:r>
              <a:rPr lang="en-US" altLang="zh-CN" sz="1600" dirty="0" err="1" smtClean="0"/>
              <a:t>newx</a:t>
            </a:r>
            <a:r>
              <a:rPr lang="en-US" altLang="zh-CN" sz="1600" dirty="0" smtClean="0"/>
              <a:t>=</a:t>
            </a:r>
            <a:r>
              <a:rPr lang="en-US" altLang="zh-CN" sz="1600" dirty="0" err="1" smtClean="0"/>
              <a:t>newx</a:t>
            </a:r>
            <a:r>
              <a:rPr lang="en-US" altLang="zh-CN" sz="1600" dirty="0" smtClean="0"/>
              <a:t>, type = "response", s = "lambda.1se")</a:t>
            </a:r>
          </a:p>
          <a:p>
            <a:r>
              <a:rPr lang="en-US" altLang="zh-CN" sz="1600" dirty="0" err="1" smtClean="0"/>
              <a:t>lasso.cv.resid</a:t>
            </a:r>
            <a:r>
              <a:rPr lang="en-US" altLang="zh-CN" sz="1600" dirty="0" smtClean="0"/>
              <a:t> = lasso.y.cv - </a:t>
            </a:r>
            <a:r>
              <a:rPr lang="en-US" altLang="zh-CN" sz="1600" dirty="0" err="1" smtClean="0"/>
              <a:t>test$lpsa</a:t>
            </a:r>
            <a:endParaRPr lang="en-US" altLang="zh-CN" sz="1600" dirty="0" smtClean="0"/>
          </a:p>
          <a:p>
            <a:r>
              <a:rPr lang="en-US" altLang="zh-CN" sz="1600" dirty="0" smtClean="0"/>
              <a:t>mean(lasso.cv.resid^2)</a:t>
            </a:r>
            <a:endParaRPr lang="zh-CN" altLang="en-US" sz="1600" dirty="0"/>
          </a:p>
        </p:txBody>
      </p:sp>
      <p:pic>
        <p:nvPicPr>
          <p:cNvPr id="76802" name="Picture 2" descr="https://pic1.zhimg.com/80/v2-fa722dd6f996f551974d53bbaff2d488_720w.webp"/>
          <p:cNvPicPr>
            <a:picLocks noChangeAspect="1" noChangeArrowheads="1"/>
          </p:cNvPicPr>
          <p:nvPr/>
        </p:nvPicPr>
        <p:blipFill>
          <a:blip r:embed="rId2" cstate="print"/>
          <a:srcRect/>
          <a:stretch>
            <a:fillRect/>
          </a:stretch>
        </p:blipFill>
        <p:spPr bwMode="auto">
          <a:xfrm>
            <a:off x="2123728" y="3347251"/>
            <a:ext cx="4536504" cy="3394117"/>
          </a:xfrm>
          <a:prstGeom prst="rect">
            <a:avLst/>
          </a:prstGeom>
          <a:noFill/>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5"/>
          <p:cNvSpPr>
            <a:spLocks noChangeArrowheads="1"/>
          </p:cNvSpPr>
          <p:nvPr/>
        </p:nvSpPr>
        <p:spPr bwMode="auto">
          <a:xfrm>
            <a:off x="1835696" y="1988840"/>
            <a:ext cx="5897563" cy="1752600"/>
          </a:xfrm>
          <a:prstGeom prst="rect">
            <a:avLst/>
          </a:prstGeom>
          <a:noFill/>
          <a:ln w="9525">
            <a:noFill/>
            <a:miter lim="800000"/>
            <a:headEnd/>
            <a:tailEnd/>
          </a:ln>
        </p:spPr>
        <p:txBody>
          <a:bodyPr/>
          <a:lstStyle/>
          <a:p>
            <a:pPr marL="342900" indent="-342900" algn="ctr">
              <a:spcBef>
                <a:spcPct val="20000"/>
              </a:spcBef>
              <a:buClr>
                <a:schemeClr val="bg2"/>
              </a:buClr>
              <a:buSzPct val="75000"/>
              <a:buFont typeface="Wingdings" pitchFamily="2" charset="2"/>
              <a:buNone/>
            </a:pPr>
            <a:r>
              <a:rPr lang="zh-CN" altLang="en-US" sz="9600" b="1" dirty="0">
                <a:solidFill>
                  <a:srgbClr val="C00000"/>
                </a:solidFill>
                <a:latin typeface="黑体" pitchFamily="49" charset="-122"/>
                <a:ea typeface="黑体" pitchFamily="49" charset="-122"/>
              </a:rPr>
              <a:t>谢 谢！</a:t>
            </a:r>
            <a:endParaRPr lang="en-US" altLang="zh-CN" sz="9600" b="1" dirty="0">
              <a:solidFill>
                <a:srgbClr val="C00000"/>
              </a:solidFill>
              <a:latin typeface="黑体" pitchFamily="49" charset="-122"/>
              <a:ea typeface="黑体" pitchFamily="49" charset="-122"/>
            </a:endParaRPr>
          </a:p>
        </p:txBody>
      </p:sp>
      <p:sp>
        <p:nvSpPr>
          <p:cNvPr id="3" name="灯片编号占位符 2"/>
          <p:cNvSpPr>
            <a:spLocks noGrp="1"/>
          </p:cNvSpPr>
          <p:nvPr>
            <p:ph type="sldNum" sz="quarter" idx="12"/>
          </p:nvPr>
        </p:nvSpPr>
        <p:spPr/>
        <p:txBody>
          <a:bodyPr/>
          <a:lstStyle/>
          <a:p>
            <a:pPr>
              <a:defRPr/>
            </a:pPr>
            <a:fld id="{32EFD499-0DDF-4D77-A30F-389FB99F8BD1}" type="slidenum">
              <a:rPr lang="zh-CN" altLang="en-US" smtClean="0"/>
              <a:pPr>
                <a:defRPr/>
              </a:pPr>
              <a:t>61</a:t>
            </a:fld>
            <a:endParaRPr lang="zh-CN" alt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15623</TotalTime>
  <Words>5447</Words>
  <Application>Microsoft Office PowerPoint</Application>
  <PresentationFormat>全屏显示(4:3)</PresentationFormat>
  <Paragraphs>488</Paragraphs>
  <Slides>61</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61</vt:i4>
      </vt:variant>
    </vt:vector>
  </HeadingPairs>
  <TitlesOfParts>
    <vt:vector size="67" baseType="lpstr">
      <vt:lpstr>黑体</vt:lpstr>
      <vt:lpstr>宋体</vt:lpstr>
      <vt:lpstr>Arial</vt:lpstr>
      <vt:lpstr>Calibri</vt:lpstr>
      <vt:lpstr>Wingdings</vt:lpstr>
      <vt:lpstr>Office 主题</vt:lpstr>
      <vt:lpstr>PowerPoint 演示文稿</vt:lpstr>
      <vt:lpstr>大数据时代下的统计学</vt:lpstr>
      <vt:lpstr>PowerPoint 演示文稿</vt:lpstr>
      <vt:lpstr>Outline</vt:lpstr>
      <vt:lpstr>1. Motivation</vt:lpstr>
      <vt:lpstr>PowerPoint 演示文稿</vt:lpstr>
      <vt:lpstr>PowerPoint 演示文稿</vt:lpstr>
      <vt:lpstr>2. 统计检验的选择: 二元表型（binary phenotype）</vt:lpstr>
      <vt:lpstr>（1）Student’s (unpaired) t-test</vt:lpstr>
      <vt:lpstr>检验正态性分布的一般方法</vt:lpstr>
      <vt:lpstr>（2）Wilcoxon rank sum test (unpaired)</vt:lpstr>
      <vt:lpstr>（3）混淆矩阵、ROC曲线和AUC面积</vt:lpstr>
      <vt:lpstr>PowerPoint 演示文稿</vt:lpstr>
      <vt:lpstr>PowerPoint 演示文稿</vt:lpstr>
      <vt:lpstr>PowerPoint 演示文稿</vt:lpstr>
      <vt:lpstr>PowerPoint 演示文稿</vt:lpstr>
      <vt:lpstr>PowerPoint 演示文稿</vt:lpstr>
      <vt:lpstr>3. 连续表型的统计检验</vt:lpstr>
      <vt:lpstr>4. 多重检验纠正 （The multiple-testing correction）</vt:lpstr>
      <vt:lpstr>调整p值</vt:lpstr>
      <vt:lpstr>The false discovery rate (FDR)</vt:lpstr>
      <vt:lpstr>基于FDR来确定差异表达基因的举例</vt:lpstr>
      <vt:lpstr>PowerPoint 演示文稿</vt:lpstr>
      <vt:lpstr>5. 检验效能计算（Power calculation）</vt:lpstr>
      <vt:lpstr>PowerPoint 演示文稿</vt:lpstr>
      <vt:lpstr>R语言中的检验效能分析</vt:lpstr>
      <vt:lpstr>An example: t-test</vt:lpstr>
      <vt:lpstr>PowerPoint 演示文稿</vt:lpstr>
      <vt:lpstr>6. 基因集富集分析  (Gene Set Enrichment Analysis, GSEA)</vt:lpstr>
      <vt:lpstr>Method</vt:lpstr>
      <vt:lpstr>PowerPoint 演示文稿</vt:lpstr>
      <vt:lpstr>GSEA分析的注意点</vt:lpstr>
      <vt:lpstr>7. 数据降维（ Dimensionality reduction）</vt:lpstr>
      <vt:lpstr>Example</vt:lpstr>
      <vt:lpstr>降维的方法</vt:lpstr>
      <vt:lpstr>（1）主成分分析 (Principal Component Analysis，PCA)</vt:lpstr>
      <vt:lpstr>PowerPoint 演示文稿</vt:lpstr>
      <vt:lpstr>PowerPoint 演示文稿</vt:lpstr>
      <vt:lpstr>PowerPoint 演示文稿</vt:lpstr>
      <vt:lpstr>主成分的定义及导出</vt:lpstr>
      <vt:lpstr>PowerPoint 演示文稿</vt:lpstr>
      <vt:lpstr>PowerPoint 演示文稿</vt:lpstr>
      <vt:lpstr>主成分分析的注意点</vt:lpstr>
      <vt:lpstr>PowerPoint 演示文稿</vt:lpstr>
      <vt:lpstr>PowerPoint 演示文稿</vt:lpstr>
      <vt:lpstr>PowerPoint 演示文稿</vt:lpstr>
      <vt:lpstr>PowerPoint 演示文稿</vt:lpstr>
      <vt:lpstr>SVD的优势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yzhang</dc:creator>
  <cp:lastModifiedBy>Zhang Y</cp:lastModifiedBy>
  <cp:revision>1341</cp:revision>
  <dcterms:created xsi:type="dcterms:W3CDTF">2016-02-28T03:47:57Z</dcterms:created>
  <dcterms:modified xsi:type="dcterms:W3CDTF">2026-04-10T02:22:47Z</dcterms:modified>
</cp:coreProperties>
</file>