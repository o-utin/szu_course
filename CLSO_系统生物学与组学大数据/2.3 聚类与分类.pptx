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2"/>
  </p:notesMasterIdLst>
  <p:handoutMasterIdLst>
    <p:handoutMasterId r:id="rId73"/>
  </p:handoutMasterIdLst>
  <p:sldIdLst>
    <p:sldId id="256" r:id="rId2"/>
    <p:sldId id="500" r:id="rId3"/>
    <p:sldId id="428" r:id="rId4"/>
    <p:sldId id="429" r:id="rId5"/>
    <p:sldId id="395" r:id="rId6"/>
    <p:sldId id="461" r:id="rId7"/>
    <p:sldId id="396" r:id="rId8"/>
    <p:sldId id="397" r:id="rId9"/>
    <p:sldId id="398" r:id="rId10"/>
    <p:sldId id="399" r:id="rId11"/>
    <p:sldId id="400" r:id="rId12"/>
    <p:sldId id="401" r:id="rId13"/>
    <p:sldId id="402" r:id="rId14"/>
    <p:sldId id="404" r:id="rId15"/>
    <p:sldId id="406" r:id="rId16"/>
    <p:sldId id="463" r:id="rId17"/>
    <p:sldId id="480" r:id="rId18"/>
    <p:sldId id="481" r:id="rId19"/>
    <p:sldId id="453" r:id="rId20"/>
    <p:sldId id="451" r:id="rId21"/>
    <p:sldId id="452" r:id="rId22"/>
    <p:sldId id="454" r:id="rId23"/>
    <p:sldId id="407" r:id="rId24"/>
    <p:sldId id="410" r:id="rId25"/>
    <p:sldId id="412" r:id="rId26"/>
    <p:sldId id="457" r:id="rId27"/>
    <p:sldId id="482" r:id="rId28"/>
    <p:sldId id="484" r:id="rId29"/>
    <p:sldId id="501" r:id="rId30"/>
    <p:sldId id="502" r:id="rId31"/>
    <p:sldId id="503" r:id="rId32"/>
    <p:sldId id="486" r:id="rId33"/>
    <p:sldId id="414" r:id="rId34"/>
    <p:sldId id="415" r:id="rId35"/>
    <p:sldId id="416" r:id="rId36"/>
    <p:sldId id="417" r:id="rId37"/>
    <p:sldId id="418" r:id="rId38"/>
    <p:sldId id="419" r:id="rId39"/>
    <p:sldId id="420" r:id="rId40"/>
    <p:sldId id="487" r:id="rId41"/>
    <p:sldId id="504" r:id="rId42"/>
    <p:sldId id="460" r:id="rId43"/>
    <p:sldId id="489" r:id="rId44"/>
    <p:sldId id="421" r:id="rId45"/>
    <p:sldId id="496" r:id="rId46"/>
    <p:sldId id="497" r:id="rId47"/>
    <p:sldId id="430" r:id="rId48"/>
    <p:sldId id="431" r:id="rId49"/>
    <p:sldId id="432" r:id="rId50"/>
    <p:sldId id="433" r:id="rId51"/>
    <p:sldId id="434" r:id="rId52"/>
    <p:sldId id="435" r:id="rId53"/>
    <p:sldId id="436" r:id="rId54"/>
    <p:sldId id="490" r:id="rId55"/>
    <p:sldId id="491" r:id="rId56"/>
    <p:sldId id="440" r:id="rId57"/>
    <p:sldId id="505" r:id="rId58"/>
    <p:sldId id="475" r:id="rId59"/>
    <p:sldId id="492" r:id="rId60"/>
    <p:sldId id="474" r:id="rId61"/>
    <p:sldId id="441" r:id="rId62"/>
    <p:sldId id="443" r:id="rId63"/>
    <p:sldId id="498" r:id="rId64"/>
    <p:sldId id="445" r:id="rId65"/>
    <p:sldId id="494" r:id="rId66"/>
    <p:sldId id="495" r:id="rId67"/>
    <p:sldId id="479" r:id="rId68"/>
    <p:sldId id="478" r:id="rId69"/>
    <p:sldId id="499" r:id="rId70"/>
    <p:sldId id="493" r:id="rId71"/>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0099"/>
    <a:srgbClr val="006600"/>
    <a:srgbClr val="003399"/>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7" d="100"/>
          <a:sy n="107" d="100"/>
        </p:scale>
        <p:origin x="1734" y="11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DDC792F-CACA-49BA-8C29-B399984240E8}" type="datetimeFigureOut">
              <a:rPr lang="zh-CN" altLang="en-US" smtClean="0"/>
              <a:pPr/>
              <a:t>2026/4/2</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8427C24-956B-426F-855B-846E51EB6949}" type="slidenum">
              <a:rPr lang="zh-CN" altLang="en-US" smtClean="0"/>
              <a:pPr/>
              <a:t>‹#›</a:t>
            </a:fld>
            <a:endParaRPr lang="zh-CN" altLang="en-US"/>
          </a:p>
        </p:txBody>
      </p:sp>
    </p:spTree>
    <p:extLst>
      <p:ext uri="{BB962C8B-B14F-4D97-AF65-F5344CB8AC3E}">
        <p14:creationId xmlns:p14="http://schemas.microsoft.com/office/powerpoint/2010/main" val="300921841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65C337B9-D3E8-4E6B-A45F-61830157D79E}" type="datetimeFigureOut">
              <a:rPr lang="zh-CN" altLang="en-US"/>
              <a:pPr>
                <a:defRPr/>
              </a:pPr>
              <a:t>2026/4/2</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charset="0"/>
              </a:defRPr>
            </a:lvl1pPr>
          </a:lstStyle>
          <a:p>
            <a:pPr>
              <a:defRPr/>
            </a:pPr>
            <a:fld id="{BA109D9A-6C06-4BC0-A0C2-B09B33C33D37}" type="slidenum">
              <a:rPr lang="zh-CN" altLang="en-US"/>
              <a:pPr>
                <a:defRPr/>
              </a:pPr>
              <a:t>‹#›</a:t>
            </a:fld>
            <a:endParaRPr lang="zh-CN" altLang="en-US"/>
          </a:p>
        </p:txBody>
      </p:sp>
    </p:spTree>
    <p:extLst>
      <p:ext uri="{BB962C8B-B14F-4D97-AF65-F5344CB8AC3E}">
        <p14:creationId xmlns:p14="http://schemas.microsoft.com/office/powerpoint/2010/main" val="1613429077"/>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329E5E4B-90F0-4FAB-957C-45DAE3273B8E}" type="datetime1">
              <a:rPr lang="zh-CN" altLang="en-US" smtClean="0"/>
              <a:pPr>
                <a:defRPr/>
              </a:pPr>
              <a:t>2026/4/2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4168ED12-4FE5-422D-A958-A130304769BB}" type="slidenum">
              <a:rPr lang="zh-CN" altLang="en-US"/>
              <a:pPr>
                <a:defRPr/>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426877BC-FF77-4DDD-A0EF-1814132F8DC1}" type="datetime1">
              <a:rPr lang="zh-CN" altLang="en-US" smtClean="0"/>
              <a:pPr>
                <a:defRPr/>
              </a:pPr>
              <a:t>2026/4/2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6C75756-0271-488A-B748-639BD5BFB0CE}" type="slidenum">
              <a:rPr lang="zh-CN" altLang="en-US"/>
              <a:pPr>
                <a:defRPr/>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fld id="{755FAAEC-ACD8-4C2E-8F44-8AE29438401A}" type="datetime1">
              <a:rPr lang="zh-CN" altLang="en-US" smtClean="0"/>
              <a:pPr>
                <a:defRPr/>
              </a:pPr>
              <a:t>2026/4/2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8F688CE-FDF3-4BC1-8870-CD09A9111845}"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AA925F07-7FBC-4268-8E8A-1068F4FC4155}" type="datetime1">
              <a:rPr lang="zh-CN" altLang="en-US" smtClean="0"/>
              <a:pPr>
                <a:defRPr/>
              </a:pPr>
              <a:t>2026/4/2</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816EEC1E-4FF0-4722-8E06-71640E2DD417}"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67F5EA86-187D-4593-9EA1-94988571AD6A}" type="datetime1">
              <a:rPr lang="zh-CN" altLang="en-US" smtClean="0"/>
              <a:pPr>
                <a:defRPr/>
              </a:pPr>
              <a:t>2026/4/2</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0A85F29F-0A15-4E5E-AD7D-A701FB4CA749}"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EF3110E1-0B11-4227-A12E-879E1F2EC9EA}" type="datetime1">
              <a:rPr lang="zh-CN" altLang="en-US" smtClean="0"/>
              <a:pPr>
                <a:defRPr/>
              </a:pPr>
              <a:t>2026/4/2</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405EDB96-AA87-4427-B239-0E327665BF76}"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EB61D3B0-D126-4A12-8D92-33C62D7BE315}" type="datetime1">
              <a:rPr lang="zh-CN" altLang="en-US" smtClean="0"/>
              <a:pPr>
                <a:defRPr/>
              </a:pPr>
              <a:t>2026/4/2</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F68A2D20-FAEA-4A40-97C8-F47E5928D6EB}"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927BF960-ACF9-47E1-9389-67DED372F202}" type="datetime1">
              <a:rPr lang="zh-CN" altLang="en-US" smtClean="0"/>
              <a:pPr>
                <a:defRPr/>
              </a:pPr>
              <a:t>2026/4/2</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68F5C685-5603-43DE-8BAA-BB587CACE7C3}"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C731BF2B-B772-46B0-A1DB-CF8F4B942A1B}" type="datetime1">
              <a:rPr lang="zh-CN" altLang="en-US" smtClean="0"/>
              <a:pPr>
                <a:defRPr/>
              </a:pPr>
              <a:t>2026/4/2</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8CCCEDA6-BF85-45FF-9F05-4CCA7868B261}"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73FAEA7B-2EB5-4734-AB7A-2E09A9CB8B4E}" type="datetime1">
              <a:rPr lang="zh-CN" altLang="en-US" smtClean="0"/>
              <a:pPr>
                <a:defRPr/>
              </a:pPr>
              <a:t>2026/4/2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5290EFB-B44B-4ED0-8ECC-256AA2314905}"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A5A2F404-F33E-405D-A315-EA8EA8C69F3A}" type="datetime1">
              <a:rPr lang="zh-CN" altLang="en-US" smtClean="0"/>
              <a:pPr>
                <a:defRPr/>
              </a:pPr>
              <a:t>2026/4/2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2A72334-FA11-40E2-8EAB-5C10D2EE80E0}"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标题占位符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43" name="文本占位符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01147FEF-FEF9-4BD5-96A5-F43B424A3A69}" type="datetime1">
              <a:rPr lang="zh-CN" altLang="en-US" smtClean="0"/>
              <a:pPr>
                <a:defRPr/>
              </a:pPr>
              <a:t>2026/4/2</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5F13783D-75EA-4F22-899F-FC32B3E894E4}"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6.jpeg"/><Relationship Id="rId7"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gi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4.gif"/><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47.png"/></Relationships>
</file>

<file path=ppt/slides/_rels/slide42.xml.rels><?xml version="1.0" encoding="UTF-8" standalone="yes"?>
<Relationships xmlns="http://schemas.openxmlformats.org/package/2006/relationships"><Relationship Id="rId3" Type="http://schemas.openxmlformats.org/officeDocument/2006/relationships/image" Target="../media/image50.gif"/><Relationship Id="rId2" Type="http://schemas.openxmlformats.org/officeDocument/2006/relationships/image" Target="../media/image49.gif"/><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gi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gif"/><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63.gif"/><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srcRect/>
          <a:tile tx="0" ty="0" sx="100000" sy="100000" flip="none" algn="tl"/>
        </a:blipFill>
        <a:effectLst/>
      </p:bgPr>
    </p:bg>
    <p:spTree>
      <p:nvGrpSpPr>
        <p:cNvPr id="1" name=""/>
        <p:cNvGrpSpPr/>
        <p:nvPr/>
      </p:nvGrpSpPr>
      <p:grpSpPr>
        <a:xfrm>
          <a:off x="0" y="0"/>
          <a:ext cx="0" cy="0"/>
          <a:chOff x="0" y="0"/>
          <a:chExt cx="0" cy="0"/>
        </a:xfrm>
      </p:grpSpPr>
      <p:pic>
        <p:nvPicPr>
          <p:cNvPr id="17412" name="Picture 4" descr="https://timgsa.baidu.com/timg?image&amp;quality=80&amp;size=b9999_10000&amp;sec=1530526205334&amp;di=3ddcd7edc770b2d03cb8161c23c6411a&amp;imgtype=jpg&amp;src=http%3A%2F%2Fimg3.imgtn.bdimg.com%2Fit%2Fu%3D3778561948%2C3588866049%26fm%3D214%26gp%3D0.jpg"/>
          <p:cNvPicPr>
            <a:picLocks noChangeAspect="1" noChangeArrowheads="1"/>
          </p:cNvPicPr>
          <p:nvPr/>
        </p:nvPicPr>
        <p:blipFill>
          <a:blip r:embed="rId3" cstate="print"/>
          <a:srcRect/>
          <a:stretch>
            <a:fillRect/>
          </a:stretch>
        </p:blipFill>
        <p:spPr bwMode="auto">
          <a:xfrm>
            <a:off x="5087449" y="3712391"/>
            <a:ext cx="3228967" cy="2884961"/>
          </a:xfrm>
          <a:prstGeom prst="rect">
            <a:avLst/>
          </a:prstGeom>
          <a:noFill/>
        </p:spPr>
      </p:pic>
      <p:pic>
        <p:nvPicPr>
          <p:cNvPr id="17414" name="Picture 6" descr="https://timgsa.baidu.com/timg?image&amp;quality=80&amp;size=b9999_10000&amp;sec=1530526234098&amp;di=7f88c6e0dda98bd328f6eb2d79c71962&amp;imgtype=0&amp;src=http%3A%2F%2Fwww.personalbio.cn%2Fueditor%2Fnet%2Fupload%2Fimage%2F20180221%2F6365484612442972516849947.png"/>
          <p:cNvPicPr>
            <a:picLocks noChangeAspect="1" noChangeArrowheads="1"/>
          </p:cNvPicPr>
          <p:nvPr/>
        </p:nvPicPr>
        <p:blipFill>
          <a:blip r:embed="rId4" cstate="print"/>
          <a:srcRect/>
          <a:stretch>
            <a:fillRect/>
          </a:stretch>
        </p:blipFill>
        <p:spPr bwMode="auto">
          <a:xfrm>
            <a:off x="827584" y="3645024"/>
            <a:ext cx="2950891" cy="2950891"/>
          </a:xfrm>
          <a:prstGeom prst="rect">
            <a:avLst/>
          </a:prstGeom>
          <a:noFill/>
        </p:spPr>
      </p:pic>
      <p:sp>
        <p:nvSpPr>
          <p:cNvPr id="6" name="矩形 5"/>
          <p:cNvSpPr/>
          <p:nvPr/>
        </p:nvSpPr>
        <p:spPr>
          <a:xfrm>
            <a:off x="86226" y="119534"/>
            <a:ext cx="8302198" cy="1077218"/>
          </a:xfrm>
          <a:prstGeom prst="rect">
            <a:avLst/>
          </a:prstGeom>
        </p:spPr>
        <p:txBody>
          <a:bodyPr wrap="square">
            <a:spAutoFit/>
          </a:bodyPr>
          <a:lstStyle/>
          <a:p>
            <a:r>
              <a:rPr lang="zh-CN" altLang="en-US" sz="3200" b="1" dirty="0" smtClean="0">
                <a:solidFill>
                  <a:srgbClr val="FF0000"/>
                </a:solidFill>
                <a:latin typeface="Arial" pitchFamily="34" charset="0"/>
                <a:ea typeface="黑体" pitchFamily="49" charset="-122"/>
                <a:cs typeface="Arial" pitchFamily="34" charset="0"/>
              </a:rPr>
              <a:t>系统生物学与组学大数据</a:t>
            </a:r>
            <a:endParaRPr lang="en-US" altLang="zh-CN" sz="3200" b="1" dirty="0" smtClean="0">
              <a:solidFill>
                <a:srgbClr val="FF0000"/>
              </a:solidFill>
              <a:latin typeface="Arial" pitchFamily="34" charset="0"/>
              <a:ea typeface="黑体" pitchFamily="49" charset="-122"/>
              <a:cs typeface="Arial" pitchFamily="34" charset="0"/>
            </a:endParaRPr>
          </a:p>
          <a:p>
            <a:r>
              <a:rPr lang="en-US" sz="3200" b="1" dirty="0" smtClean="0">
                <a:solidFill>
                  <a:srgbClr val="FF0000"/>
                </a:solidFill>
                <a:latin typeface="Arial" pitchFamily="34" charset="0"/>
                <a:ea typeface="黑体" pitchFamily="49" charset="-122"/>
                <a:cs typeface="Arial" pitchFamily="34" charset="0"/>
              </a:rPr>
              <a:t>(Systems Biology </a:t>
            </a:r>
            <a:r>
              <a:rPr lang="en-US" altLang="zh-CN" sz="3200" b="1" dirty="0" smtClean="0">
                <a:solidFill>
                  <a:srgbClr val="FF0000"/>
                </a:solidFill>
                <a:latin typeface="Arial" pitchFamily="34" charset="0"/>
                <a:ea typeface="黑体" pitchFamily="49" charset="-122"/>
                <a:cs typeface="Arial" pitchFamily="34" charset="0"/>
              </a:rPr>
              <a:t>&amp; </a:t>
            </a:r>
            <a:r>
              <a:rPr lang="en-US" altLang="zh-CN" sz="3200" b="1" dirty="0" err="1" smtClean="0">
                <a:solidFill>
                  <a:srgbClr val="FF0000"/>
                </a:solidFill>
                <a:latin typeface="Arial" pitchFamily="34" charset="0"/>
                <a:ea typeface="黑体" pitchFamily="49" charset="-122"/>
                <a:cs typeface="Arial" pitchFamily="34" charset="0"/>
              </a:rPr>
              <a:t>Omics</a:t>
            </a:r>
            <a:r>
              <a:rPr lang="en-US" altLang="zh-CN" sz="3200" b="1" dirty="0" smtClean="0">
                <a:solidFill>
                  <a:srgbClr val="FF0000"/>
                </a:solidFill>
                <a:latin typeface="Arial" pitchFamily="34" charset="0"/>
                <a:ea typeface="黑体" pitchFamily="49" charset="-122"/>
                <a:cs typeface="Arial" pitchFamily="34" charset="0"/>
              </a:rPr>
              <a:t> Big Data</a:t>
            </a:r>
            <a:r>
              <a:rPr lang="en-US" sz="3200" b="1" dirty="0" smtClean="0">
                <a:solidFill>
                  <a:srgbClr val="FF0000"/>
                </a:solidFill>
                <a:latin typeface="Arial" pitchFamily="34" charset="0"/>
                <a:ea typeface="黑体" pitchFamily="49" charset="-122"/>
                <a:cs typeface="Arial" pitchFamily="34" charset="0"/>
              </a:rPr>
              <a:t>)</a:t>
            </a:r>
            <a:endParaRPr lang="zh-CN" altLang="en-US" sz="3200" b="1" dirty="0">
              <a:solidFill>
                <a:srgbClr val="FF0000"/>
              </a:solidFill>
              <a:latin typeface="Arial" pitchFamily="34" charset="0"/>
              <a:ea typeface="黑体" pitchFamily="49" charset="-122"/>
              <a:cs typeface="Arial" pitchFamily="34" charset="0"/>
            </a:endParaRPr>
          </a:p>
        </p:txBody>
      </p:sp>
      <p:sp>
        <p:nvSpPr>
          <p:cNvPr id="7" name="矩形 6"/>
          <p:cNvSpPr/>
          <p:nvPr/>
        </p:nvSpPr>
        <p:spPr>
          <a:xfrm>
            <a:off x="-1406" y="1445215"/>
            <a:ext cx="6229590" cy="523220"/>
          </a:xfrm>
          <a:prstGeom prst="rect">
            <a:avLst/>
          </a:prstGeom>
        </p:spPr>
        <p:txBody>
          <a:bodyPr wrap="none">
            <a:spAutoFit/>
          </a:bodyPr>
          <a:lstStyle/>
          <a:p>
            <a:r>
              <a:rPr lang="zh-CN" altLang="en-US" sz="2800" u="sng" dirty="0" smtClean="0">
                <a:latin typeface="Arial" pitchFamily="34" charset="0"/>
                <a:ea typeface="黑体" pitchFamily="49" charset="-122"/>
                <a:cs typeface="Arial" pitchFamily="34" charset="0"/>
              </a:rPr>
              <a:t>第</a:t>
            </a:r>
            <a:r>
              <a:rPr lang="en-US" altLang="zh-CN" sz="2800" u="sng" dirty="0" smtClean="0">
                <a:latin typeface="Arial" pitchFamily="34" charset="0"/>
                <a:ea typeface="黑体" pitchFamily="49" charset="-122"/>
                <a:cs typeface="Arial" pitchFamily="34" charset="0"/>
              </a:rPr>
              <a:t>2</a:t>
            </a:r>
            <a:r>
              <a:rPr lang="zh-CN" altLang="en-US" sz="2800" u="sng" dirty="0" smtClean="0">
                <a:latin typeface="Arial" pitchFamily="34" charset="0"/>
                <a:ea typeface="黑体" pitchFamily="49" charset="-122"/>
                <a:cs typeface="Arial" pitchFamily="34" charset="0"/>
              </a:rPr>
              <a:t>章 </a:t>
            </a:r>
            <a:r>
              <a:rPr lang="zh-CN" altLang="zh-CN" sz="2800" u="sng" dirty="0" smtClean="0">
                <a:latin typeface="Arial" pitchFamily="34" charset="0"/>
                <a:ea typeface="黑体" pitchFamily="49" charset="-122"/>
                <a:cs typeface="Arial" pitchFamily="34" charset="0"/>
              </a:rPr>
              <a:t>相关</a:t>
            </a:r>
            <a:r>
              <a:rPr lang="zh-CN" altLang="zh-CN" sz="2800" u="sng" dirty="0">
                <a:latin typeface="Arial" pitchFamily="34" charset="0"/>
                <a:ea typeface="黑体" pitchFamily="49" charset="-122"/>
                <a:cs typeface="Arial" pitchFamily="34" charset="0"/>
              </a:rPr>
              <a:t>的生物信息学</a:t>
            </a:r>
            <a:r>
              <a:rPr lang="zh-CN" altLang="en-US" sz="2800" u="sng" dirty="0">
                <a:latin typeface="Arial" pitchFamily="34" charset="0"/>
                <a:ea typeface="黑体" pitchFamily="49" charset="-122"/>
                <a:cs typeface="Arial" pitchFamily="34" charset="0"/>
              </a:rPr>
              <a:t>与统计学</a:t>
            </a:r>
            <a:r>
              <a:rPr lang="zh-CN" altLang="zh-CN" sz="2800" u="sng" dirty="0">
                <a:latin typeface="Arial" pitchFamily="34" charset="0"/>
                <a:ea typeface="黑体" pitchFamily="49" charset="-122"/>
                <a:cs typeface="Arial" pitchFamily="34" charset="0"/>
              </a:rPr>
              <a:t>基础</a:t>
            </a:r>
            <a:endParaRPr lang="en-US" altLang="zh-CN" sz="2800" u="sng" dirty="0">
              <a:latin typeface="Arial" pitchFamily="34" charset="0"/>
              <a:ea typeface="黑体" pitchFamily="49" charset="-122"/>
              <a:cs typeface="Arial" pitchFamily="34" charset="0"/>
            </a:endParaRPr>
          </a:p>
        </p:txBody>
      </p:sp>
      <p:sp>
        <p:nvSpPr>
          <p:cNvPr id="8" name="矩形 7"/>
          <p:cNvSpPr/>
          <p:nvPr/>
        </p:nvSpPr>
        <p:spPr>
          <a:xfrm>
            <a:off x="1907704" y="2420888"/>
            <a:ext cx="5112568" cy="769441"/>
          </a:xfrm>
          <a:prstGeom prst="rect">
            <a:avLst/>
          </a:prstGeom>
        </p:spPr>
        <p:txBody>
          <a:bodyPr wrap="square">
            <a:spAutoFit/>
          </a:bodyPr>
          <a:lstStyle/>
          <a:p>
            <a:pPr algn="ctr"/>
            <a:r>
              <a:rPr lang="en-US" altLang="zh-CN" sz="4400" b="1" dirty="0" smtClean="0">
                <a:solidFill>
                  <a:srgbClr val="0000CC"/>
                </a:solidFill>
                <a:latin typeface="Arial" panose="020B0604020202020204" pitchFamily="34" charset="0"/>
                <a:ea typeface="黑体" pitchFamily="49" charset="-122"/>
                <a:cs typeface="Arial" panose="020B0604020202020204" pitchFamily="34" charset="0"/>
              </a:rPr>
              <a:t>2.3 </a:t>
            </a:r>
            <a:r>
              <a:rPr lang="zh-CN" altLang="en-US" sz="4400" b="1" dirty="0" smtClean="0">
                <a:solidFill>
                  <a:srgbClr val="0000CC"/>
                </a:solidFill>
                <a:latin typeface="Arial" panose="020B0604020202020204" pitchFamily="34" charset="0"/>
                <a:ea typeface="黑体" pitchFamily="49" charset="-122"/>
                <a:cs typeface="Arial" panose="020B0604020202020204" pitchFamily="34" charset="0"/>
              </a:rPr>
              <a:t>聚类与分类</a:t>
            </a:r>
            <a:endParaRPr lang="zh-CN" altLang="en-US" sz="4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764704"/>
            <a:ext cx="8568952" cy="2620888"/>
          </a:xfrm>
        </p:spPr>
        <p:txBody>
          <a:bodyPr/>
          <a:lstStyle/>
          <a:p>
            <a:pPr>
              <a:buFont typeface="Wingdings" pitchFamily="2" charset="2"/>
              <a:buChar char="l"/>
            </a:pPr>
            <a:r>
              <a:rPr lang="zh-CN" altLang="en-US" sz="2800" dirty="0" smtClean="0">
                <a:latin typeface="黑体" pitchFamily="49" charset="-122"/>
                <a:ea typeface="黑体" pitchFamily="49" charset="-122"/>
              </a:rPr>
              <a:t>聚类与分类是我们认识世界的</a:t>
            </a:r>
            <a:r>
              <a:rPr lang="zh-CN" altLang="en-US" sz="2800" dirty="0" smtClean="0">
                <a:solidFill>
                  <a:srgbClr val="FF0000"/>
                </a:solidFill>
                <a:latin typeface="黑体" pitchFamily="49" charset="-122"/>
                <a:ea typeface="黑体" pitchFamily="49" charset="-122"/>
              </a:rPr>
              <a:t>两大本能级工具</a:t>
            </a:r>
            <a:r>
              <a:rPr lang="zh-CN" altLang="en-US" sz="2800" dirty="0" smtClean="0">
                <a:latin typeface="黑体" pitchFamily="49" charset="-122"/>
                <a:ea typeface="黑体" pitchFamily="49" charset="-122"/>
              </a:rPr>
              <a:t>，也反映了人类认识世界的两个阶段；</a:t>
            </a:r>
            <a:endParaRPr lang="en-US" altLang="zh-CN" sz="2800" dirty="0" smtClean="0">
              <a:latin typeface="黑体" pitchFamily="49" charset="-122"/>
              <a:ea typeface="黑体" pitchFamily="49" charset="-122"/>
            </a:endParaRPr>
          </a:p>
          <a:p>
            <a:pPr>
              <a:buNone/>
            </a:pPr>
            <a:endParaRPr lang="en-US" altLang="zh-CN" sz="2800" dirty="0" smtClean="0">
              <a:latin typeface="黑体" pitchFamily="49" charset="-122"/>
              <a:ea typeface="黑体" pitchFamily="49" charset="-122"/>
            </a:endParaRPr>
          </a:p>
          <a:p>
            <a:pPr>
              <a:buFont typeface="Wingdings" pitchFamily="2" charset="2"/>
              <a:buChar char="l"/>
            </a:pPr>
            <a:r>
              <a:rPr lang="zh-CN" altLang="en-US" sz="2800" dirty="0" smtClean="0">
                <a:latin typeface="黑体" pitchFamily="49" charset="-122"/>
                <a:ea typeface="黑体" pitchFamily="49" charset="-122"/>
              </a:rPr>
              <a:t>在组学大数据研究领域，聚类与分类是</a:t>
            </a:r>
            <a:r>
              <a:rPr lang="zh-CN" altLang="en-US" sz="2800" dirty="0" smtClean="0">
                <a:solidFill>
                  <a:srgbClr val="FF0000"/>
                </a:solidFill>
                <a:latin typeface="黑体" pitchFamily="49" charset="-122"/>
                <a:ea typeface="黑体" pitchFamily="49" charset="-122"/>
              </a:rPr>
              <a:t>两种重要的统计数据分析技术</a:t>
            </a:r>
            <a:r>
              <a:rPr lang="zh-CN" altLang="en-US" sz="2800" dirty="0" smtClean="0">
                <a:latin typeface="黑体" pitchFamily="49" charset="-122"/>
                <a:ea typeface="黑体" pitchFamily="49" charset="-122"/>
              </a:rPr>
              <a:t>，应用频率非常高。</a:t>
            </a:r>
            <a:endParaRPr lang="en-US" altLang="zh-CN" sz="2800" dirty="0" smtClean="0">
              <a:latin typeface="黑体" pitchFamily="49" charset="-122"/>
              <a:ea typeface="黑体" pitchFamily="49" charset="-122"/>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2</a:t>
            </a:fld>
            <a:endParaRPr lang="zh-CN" altLang="en-US"/>
          </a:p>
        </p:txBody>
      </p:sp>
      <p:pic>
        <p:nvPicPr>
          <p:cNvPr id="68610" name="Picture 2" descr="https://pic4.zhimg.com/v2-ea53a2b32b8cfa3303be3e2c6f2e3f27_r.jpg"/>
          <p:cNvPicPr>
            <a:picLocks noChangeAspect="1" noChangeArrowheads="1"/>
          </p:cNvPicPr>
          <p:nvPr/>
        </p:nvPicPr>
        <p:blipFill>
          <a:blip r:embed="rId2" cstate="print"/>
          <a:srcRect l="9301" r="8541" b="10935"/>
          <a:stretch>
            <a:fillRect/>
          </a:stretch>
        </p:blipFill>
        <p:spPr bwMode="auto">
          <a:xfrm>
            <a:off x="2555776" y="3861048"/>
            <a:ext cx="3816424" cy="2645278"/>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a:spLocks noGrp="1"/>
          </p:cNvSpPr>
          <p:nvPr>
            <p:ph idx="1"/>
          </p:nvPr>
        </p:nvSpPr>
        <p:spPr>
          <a:xfrm>
            <a:off x="457200" y="2348880"/>
            <a:ext cx="8229600" cy="1944216"/>
          </a:xfrm>
        </p:spPr>
        <p:txBody>
          <a:bodyPr/>
          <a:lstStyle/>
          <a:p>
            <a:pPr>
              <a:buSzPct val="60000"/>
              <a:buFont typeface="Wingdings" pitchFamily="2" charset="2"/>
              <a:buChar char="n"/>
            </a:pPr>
            <a:r>
              <a:rPr lang="zh-CN" altLang="en-US" sz="3600" b="1" dirty="0" smtClean="0">
                <a:solidFill>
                  <a:srgbClr val="000099"/>
                </a:solidFill>
                <a:latin typeface="黑体" pitchFamily="49" charset="-122"/>
                <a:ea typeface="黑体" pitchFamily="49" charset="-122"/>
              </a:rPr>
              <a:t>聚类分析</a:t>
            </a:r>
            <a:endParaRPr lang="en-US" altLang="zh-CN" sz="3600" b="1" dirty="0" smtClean="0">
              <a:solidFill>
                <a:srgbClr val="000099"/>
              </a:solidFill>
              <a:latin typeface="黑体" pitchFamily="49" charset="-122"/>
              <a:ea typeface="黑体" pitchFamily="49" charset="-122"/>
            </a:endParaRPr>
          </a:p>
          <a:p>
            <a:pPr>
              <a:buSzPct val="60000"/>
              <a:buFont typeface="Wingdings" pitchFamily="2" charset="2"/>
              <a:buChar char="n"/>
            </a:pPr>
            <a:r>
              <a:rPr lang="zh-CN" altLang="en-US" sz="3600" b="1" dirty="0" smtClean="0">
                <a:solidFill>
                  <a:srgbClr val="000099"/>
                </a:solidFill>
                <a:latin typeface="黑体" pitchFamily="49" charset="-122"/>
                <a:ea typeface="黑体" pitchFamily="49" charset="-122"/>
              </a:rPr>
              <a:t>分类与预测</a:t>
            </a:r>
          </a:p>
        </p:txBody>
      </p:sp>
      <p:sp>
        <p:nvSpPr>
          <p:cNvPr id="3" name="标题 1"/>
          <p:cNvSpPr>
            <a:spLocks noGrp="1"/>
          </p:cNvSpPr>
          <p:nvPr>
            <p:ph type="title"/>
          </p:nvPr>
        </p:nvSpPr>
        <p:spPr>
          <a:xfrm>
            <a:off x="1885960" y="274638"/>
            <a:ext cx="4757742" cy="796908"/>
          </a:xfrm>
        </p:spPr>
        <p:txBody>
          <a:bodyPr/>
          <a:lstStyle/>
          <a:p>
            <a:r>
              <a:rPr lang="en-US" altLang="zh-CN" sz="4000" b="1" dirty="0" smtClean="0">
                <a:latin typeface="Arial" pitchFamily="34" charset="0"/>
                <a:cs typeface="Arial" pitchFamily="34" charset="0"/>
              </a:rPr>
              <a:t>Outline</a:t>
            </a:r>
            <a:endParaRPr lang="zh-CN" altLang="en-US" sz="4000"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a:spLocks noGrp="1"/>
          </p:cNvSpPr>
          <p:nvPr>
            <p:ph idx="1"/>
          </p:nvPr>
        </p:nvSpPr>
        <p:spPr>
          <a:xfrm>
            <a:off x="457200" y="2348880"/>
            <a:ext cx="8229600" cy="1944216"/>
          </a:xfrm>
        </p:spPr>
        <p:txBody>
          <a:bodyPr/>
          <a:lstStyle/>
          <a:p>
            <a:pPr>
              <a:buSzPct val="60000"/>
              <a:buFont typeface="Wingdings" pitchFamily="2" charset="2"/>
              <a:buChar char="n"/>
            </a:pPr>
            <a:r>
              <a:rPr lang="zh-CN" altLang="en-US" sz="3600" b="1" dirty="0" smtClean="0">
                <a:solidFill>
                  <a:srgbClr val="000099"/>
                </a:solidFill>
                <a:latin typeface="黑体" pitchFamily="49" charset="-122"/>
                <a:ea typeface="黑体" pitchFamily="49" charset="-122"/>
              </a:rPr>
              <a:t>聚类分析</a:t>
            </a:r>
            <a:endParaRPr lang="en-US" altLang="zh-CN" sz="3600" b="1" dirty="0" smtClean="0">
              <a:solidFill>
                <a:srgbClr val="000099"/>
              </a:solidFill>
              <a:latin typeface="黑体" pitchFamily="49" charset="-122"/>
              <a:ea typeface="黑体" pitchFamily="49" charset="-122"/>
            </a:endParaRPr>
          </a:p>
          <a:p>
            <a:pPr>
              <a:buSzPct val="60000"/>
              <a:buFont typeface="Wingdings" pitchFamily="2" charset="2"/>
              <a:buChar char="n"/>
            </a:pPr>
            <a:r>
              <a:rPr lang="zh-CN" altLang="en-US" sz="3600" b="1" dirty="0" smtClean="0">
                <a:solidFill>
                  <a:schemeClr val="bg1">
                    <a:lumMod val="85000"/>
                  </a:schemeClr>
                </a:solidFill>
                <a:latin typeface="黑体" pitchFamily="49" charset="-122"/>
                <a:ea typeface="黑体" pitchFamily="49" charset="-122"/>
              </a:rPr>
              <a:t>分类与预测</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16632"/>
            <a:ext cx="8229600" cy="778098"/>
          </a:xfrm>
        </p:spPr>
        <p:txBody>
          <a:bodyPr/>
          <a:lstStyle/>
          <a:p>
            <a:r>
              <a:rPr lang="zh-CN" altLang="en-US" sz="4000" b="1" dirty="0" smtClean="0">
                <a:solidFill>
                  <a:srgbClr val="000099"/>
                </a:solidFill>
                <a:latin typeface="Arial" pitchFamily="34" charset="0"/>
                <a:ea typeface="黑体" pitchFamily="49" charset="-122"/>
                <a:cs typeface="Arial" pitchFamily="34" charset="0"/>
              </a:rPr>
              <a:t>一</a:t>
            </a:r>
            <a:r>
              <a:rPr lang="en-US" altLang="zh-CN" sz="4000" b="1" dirty="0" smtClean="0">
                <a:solidFill>
                  <a:srgbClr val="000099"/>
                </a:solidFill>
                <a:latin typeface="Arial" pitchFamily="34" charset="0"/>
                <a:ea typeface="黑体" pitchFamily="49" charset="-122"/>
                <a:cs typeface="Arial" pitchFamily="34" charset="0"/>
              </a:rPr>
              <a:t>. </a:t>
            </a:r>
            <a:r>
              <a:rPr lang="zh-CN" altLang="en-US" sz="4000" b="1" dirty="0" smtClean="0">
                <a:solidFill>
                  <a:srgbClr val="000099"/>
                </a:solidFill>
                <a:latin typeface="Arial" pitchFamily="34" charset="0"/>
                <a:ea typeface="黑体" pitchFamily="49" charset="-122"/>
                <a:cs typeface="Arial" pitchFamily="34" charset="0"/>
              </a:rPr>
              <a:t>什么是聚类</a:t>
            </a:r>
            <a:endParaRPr lang="zh-CN" altLang="en-US" sz="4000" b="1" dirty="0">
              <a:solidFill>
                <a:srgbClr val="000099"/>
              </a:solidFill>
              <a:latin typeface="Arial" pitchFamily="34" charset="0"/>
              <a:ea typeface="黑体" pitchFamily="49" charset="-122"/>
              <a:cs typeface="Arial" pitchFamily="34" charset="0"/>
            </a:endParaRPr>
          </a:p>
        </p:txBody>
      </p:sp>
      <p:sp>
        <p:nvSpPr>
          <p:cNvPr id="3" name="内容占位符 2"/>
          <p:cNvSpPr>
            <a:spLocks noGrp="1"/>
          </p:cNvSpPr>
          <p:nvPr>
            <p:ph idx="1"/>
          </p:nvPr>
        </p:nvSpPr>
        <p:spPr>
          <a:xfrm>
            <a:off x="35496" y="908720"/>
            <a:ext cx="9036496" cy="2808312"/>
          </a:xfrm>
        </p:spPr>
        <p:txBody>
          <a:bodyPr/>
          <a:lstStyle/>
          <a:p>
            <a:pPr>
              <a:buFont typeface="Wingdings" pitchFamily="2" charset="2"/>
              <a:buChar char="n"/>
            </a:pPr>
            <a:r>
              <a:rPr lang="zh-CN" altLang="en-US" sz="2800" b="1" dirty="0" smtClean="0">
                <a:solidFill>
                  <a:srgbClr val="FF0000"/>
                </a:solidFill>
                <a:latin typeface="Arial" pitchFamily="34" charset="0"/>
                <a:ea typeface="黑体" pitchFamily="49" charset="-122"/>
                <a:cs typeface="Arial" pitchFamily="34" charset="0"/>
              </a:rPr>
              <a:t>聚类（</a:t>
            </a:r>
            <a:r>
              <a:rPr lang="en-US" altLang="zh-CN" sz="2800" b="1" dirty="0" smtClean="0">
                <a:solidFill>
                  <a:srgbClr val="FF0000"/>
                </a:solidFill>
                <a:latin typeface="Arial" pitchFamily="34" charset="0"/>
                <a:ea typeface="黑体" pitchFamily="49" charset="-122"/>
                <a:cs typeface="Arial" pitchFamily="34" charset="0"/>
              </a:rPr>
              <a:t>Clustering</a:t>
            </a:r>
            <a:r>
              <a:rPr lang="zh-CN" altLang="en-US" sz="2800" b="1" dirty="0" smtClean="0">
                <a:solidFill>
                  <a:srgbClr val="FF0000"/>
                </a:solidFill>
                <a:latin typeface="Arial" pitchFamily="34" charset="0"/>
                <a:ea typeface="黑体" pitchFamily="49" charset="-122"/>
                <a:cs typeface="Arial" pitchFamily="34" charset="0"/>
              </a:rPr>
              <a:t>）：</a:t>
            </a:r>
            <a:r>
              <a:rPr lang="zh-CN" altLang="en-US" sz="2800" dirty="0" smtClean="0">
                <a:latin typeface="Arial" pitchFamily="34" charset="0"/>
                <a:ea typeface="黑体" pitchFamily="49" charset="-122"/>
                <a:cs typeface="Arial" pitchFamily="34" charset="0"/>
              </a:rPr>
              <a:t>根据样本之间的相似度将整个样本集合聚集成若干个类的过程。是一种典型的</a:t>
            </a:r>
            <a:r>
              <a:rPr lang="zh-CN" altLang="en-US" sz="2800" dirty="0" smtClean="0">
                <a:solidFill>
                  <a:srgbClr val="C00000"/>
                </a:solidFill>
                <a:latin typeface="Arial" pitchFamily="34" charset="0"/>
                <a:ea typeface="黑体" pitchFamily="49" charset="-122"/>
                <a:cs typeface="Arial" pitchFamily="34" charset="0"/>
              </a:rPr>
              <a:t>无监督学习方法</a:t>
            </a:r>
            <a:r>
              <a:rPr lang="zh-CN" altLang="en-US" sz="2800" dirty="0" smtClean="0">
                <a:latin typeface="Arial" pitchFamily="34" charset="0"/>
                <a:ea typeface="黑体" pitchFamily="49" charset="-122"/>
                <a:cs typeface="Arial" pitchFamily="34" charset="0"/>
              </a:rPr>
              <a:t>；</a:t>
            </a:r>
            <a:endParaRPr lang="en-US" altLang="zh-CN" sz="2800" dirty="0" smtClean="0">
              <a:latin typeface="Arial" pitchFamily="34" charset="0"/>
              <a:ea typeface="黑体" pitchFamily="49" charset="-122"/>
              <a:cs typeface="Arial" pitchFamily="34" charset="0"/>
            </a:endParaRPr>
          </a:p>
          <a:p>
            <a:pPr>
              <a:buFont typeface="Wingdings" pitchFamily="2" charset="2"/>
              <a:buChar char="n"/>
            </a:pPr>
            <a:endParaRPr lang="zh-CN" altLang="en-US" sz="2800" dirty="0" smtClean="0">
              <a:latin typeface="Arial" pitchFamily="34" charset="0"/>
              <a:ea typeface="黑体" pitchFamily="49" charset="-122"/>
              <a:cs typeface="Arial" pitchFamily="34" charset="0"/>
            </a:endParaRPr>
          </a:p>
          <a:p>
            <a:pPr>
              <a:buFont typeface="Wingdings" pitchFamily="2" charset="2"/>
              <a:buChar char="n"/>
            </a:pPr>
            <a:r>
              <a:rPr lang="zh-CN" altLang="en-US" sz="2800" dirty="0" smtClean="0">
                <a:latin typeface="Arial" pitchFamily="34" charset="0"/>
                <a:ea typeface="黑体" pitchFamily="49" charset="-122"/>
                <a:cs typeface="Arial" pitchFamily="34" charset="0"/>
              </a:rPr>
              <a:t>早在孩提时代，一个人就会通过不断改进潜意识中的聚类模式来学会如何区分猫和狗、动物和植物等。</a:t>
            </a: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latin typeface="Arial" pitchFamily="34" charset="0"/>
                <a:ea typeface="黑体" pitchFamily="49" charset="-122"/>
                <a:cs typeface="Arial" pitchFamily="34" charset="0"/>
              </a:rPr>
              <a:pPr>
                <a:defRPr/>
              </a:pPr>
              <a:t>5</a:t>
            </a:fld>
            <a:endParaRPr lang="zh-CN" altLang="en-US">
              <a:latin typeface="Arial" pitchFamily="34" charset="0"/>
              <a:ea typeface="黑体" pitchFamily="49" charset="-122"/>
              <a:cs typeface="Arial" pitchFamily="34" charset="0"/>
            </a:endParaRPr>
          </a:p>
        </p:txBody>
      </p:sp>
      <p:pic>
        <p:nvPicPr>
          <p:cNvPr id="65538" name="Picture 2" descr="640?wx_fmt=png"/>
          <p:cNvPicPr>
            <a:picLocks noChangeAspect="1" noChangeArrowheads="1"/>
          </p:cNvPicPr>
          <p:nvPr/>
        </p:nvPicPr>
        <p:blipFill rotWithShape="1">
          <a:blip r:embed="rId2" cstate="print"/>
          <a:srcRect r="50416"/>
          <a:stretch/>
        </p:blipFill>
        <p:spPr bwMode="auto">
          <a:xfrm>
            <a:off x="781984" y="3933056"/>
            <a:ext cx="2637888" cy="2736304"/>
          </a:xfrm>
          <a:prstGeom prst="rect">
            <a:avLst/>
          </a:prstGeom>
          <a:noFill/>
        </p:spPr>
      </p:pic>
      <p:grpSp>
        <p:nvGrpSpPr>
          <p:cNvPr id="5" name="组合 4"/>
          <p:cNvGrpSpPr/>
          <p:nvPr/>
        </p:nvGrpSpPr>
        <p:grpSpPr>
          <a:xfrm>
            <a:off x="4283968" y="3983835"/>
            <a:ext cx="3659756" cy="2613517"/>
            <a:chOff x="4427984" y="3765710"/>
            <a:chExt cx="3875780" cy="2708855"/>
          </a:xfrm>
        </p:grpSpPr>
        <p:pic>
          <p:nvPicPr>
            <p:cNvPr id="1026" name="Picture 2" descr="https://timgsa.baidu.com/timg?image&amp;quality=80&amp;size=b9999_10000&amp;sec=1585112665326&amp;di=17f5efa5556557225d0aecffc29f9cbb&amp;imgtype=0&amp;src=http%3A%2F%2Fwww.xlgtx.com%2Fuploads%2Fallimg%2Fc170916%2F150549223E60-25351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38085" y="3778532"/>
              <a:ext cx="1393504" cy="131221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timgsa.baidu.com/timg?image&amp;quality=80&amp;size=b9999_10000&amp;sec=1585112713719&amp;di=5fa9bbc9111a6859421940a461ab5b56&amp;imgtype=0&amp;src=http%3A%2F%2Fd.hiphotos.baidu.com%2Fzhidao%2Fwh%3D450%2C600%2Fsign%3D4dd1ee2ebb389b5038aae856b005c9eb%2F472309f790529822090ecdf3d5ca7bcb0a46d4c5.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6074" r="8195"/>
            <a:stretch/>
          </p:blipFill>
          <p:spPr bwMode="auto">
            <a:xfrm>
              <a:off x="5831589" y="3776154"/>
              <a:ext cx="1296144" cy="131459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timgsa.baidu.com/timg?image&amp;quality=80&amp;size=b9999_10000&amp;sec=1585112759927&amp;di=3119bcab5fde9d84a74facdb5869fd05&amp;imgtype=0&amp;src=http%3A%2F%2Fb.img.youboy.com%2F201010%2F12%2Fg3_6579449.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137834" y="3765710"/>
              <a:ext cx="1080120" cy="132503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s://timgsa.baidu.com/timg?image&amp;quality=80&amp;size=b9999_10000&amp;sec=1585112818655&amp;di=90eaa69eb6759bbe7fdf93d233d92c40&amp;imgtype=0&amp;src=http%3A%2F%2Fbpic.588ku.com%2Felement_origin_min_pic%2F17%2F05%2F16%2Fc046553059da80a05153c5c6a89a0cc4.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841690" y="5101557"/>
              <a:ext cx="1333128" cy="136220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https://timgsa.baidu.com/timg?image&amp;quality=80&amp;size=b9999_10000&amp;sec=1585112873636&amp;di=4bc3edb62688e0bdb01f3260cf04c0f9&amp;imgtype=0&amp;src=http%3A%2F%2Fimage3.rayliimg.cn%2F0007%2F2012-03-01%2Fimages%2F201231211925861.jpg"/>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r="11637" b="3693"/>
            <a:stretch/>
          </p:blipFill>
          <p:spPr bwMode="auto">
            <a:xfrm>
              <a:off x="4427984" y="5090749"/>
              <a:ext cx="1409426" cy="1373008"/>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https://timgsa.baidu.com/timg?image&amp;quality=80&amp;size=b9999_10000&amp;sec=1585112990732&amp;di=ce3fec4372ec6cd058721a6adf89d6ee&amp;imgtype=0&amp;src=http%3A%2F%2Fimagev2.xmcdn.com%2Fgroup28%2FM02%2F51%2F47%2FwKgJXFkzPK7ivFMYAAIX2GjS9is137.jpg%3Fop_type%3D3%26device_type%3Dios%26name%3Dweb_meduim%26columns%3D72%26rows%3D72"/>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14330"/>
            <a:stretch/>
          </p:blipFill>
          <p:spPr bwMode="auto">
            <a:xfrm>
              <a:off x="7127733" y="5101815"/>
              <a:ext cx="1176031" cy="1372750"/>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994122"/>
          </a:xfrm>
        </p:spPr>
        <p:txBody>
          <a:bodyPr/>
          <a:lstStyle/>
          <a:p>
            <a:r>
              <a:rPr lang="zh-CN" altLang="en-US" sz="3600" b="1" dirty="0" smtClean="0">
                <a:solidFill>
                  <a:srgbClr val="C00000"/>
                </a:solidFill>
                <a:latin typeface="Arial" pitchFamily="34" charset="0"/>
                <a:ea typeface="黑体" pitchFamily="49" charset="-122"/>
                <a:cs typeface="Arial" pitchFamily="34" charset="0"/>
              </a:rPr>
              <a:t>聚类分析</a:t>
            </a:r>
            <a:endParaRPr lang="zh-CN" altLang="en-US" sz="3600" dirty="0">
              <a:solidFill>
                <a:srgbClr val="C00000"/>
              </a:solidFill>
            </a:endParaRPr>
          </a:p>
        </p:txBody>
      </p:sp>
      <p:sp>
        <p:nvSpPr>
          <p:cNvPr id="3" name="内容占位符 2"/>
          <p:cNvSpPr>
            <a:spLocks noGrp="1"/>
          </p:cNvSpPr>
          <p:nvPr>
            <p:ph idx="1"/>
          </p:nvPr>
        </p:nvSpPr>
        <p:spPr>
          <a:xfrm>
            <a:off x="179512" y="1412776"/>
            <a:ext cx="8784976" cy="4824536"/>
          </a:xfrm>
        </p:spPr>
        <p:txBody>
          <a:bodyPr/>
          <a:lstStyle/>
          <a:p>
            <a:pPr>
              <a:buFont typeface="Wingdings" pitchFamily="2" charset="2"/>
              <a:buChar char="n"/>
            </a:pPr>
            <a:r>
              <a:rPr lang="zh-CN" altLang="en-US" sz="2800" dirty="0" smtClean="0">
                <a:latin typeface="Arial" pitchFamily="34" charset="0"/>
                <a:ea typeface="黑体" pitchFamily="49" charset="-122"/>
                <a:cs typeface="Arial" pitchFamily="34" charset="0"/>
              </a:rPr>
              <a:t>根据事物本身的特性研究个体分类的统计方法。</a:t>
            </a:r>
            <a:r>
              <a:rPr lang="zh-CN" altLang="en-US" sz="2800" dirty="0" smtClean="0">
                <a:solidFill>
                  <a:srgbClr val="0000CC"/>
                </a:solidFill>
                <a:latin typeface="Arial" pitchFamily="34" charset="0"/>
                <a:ea typeface="黑体" pitchFamily="49" charset="-122"/>
                <a:cs typeface="Arial" pitchFamily="34" charset="0"/>
              </a:rPr>
              <a:t>原则是让同一个类别内的个体之间具有较高的相似度，不同类别之间具有较大的差异性；</a:t>
            </a:r>
            <a:endParaRPr lang="en-US" altLang="zh-CN" sz="2800" dirty="0" smtClean="0">
              <a:solidFill>
                <a:srgbClr val="0000CC"/>
              </a:solidFill>
              <a:latin typeface="Arial" pitchFamily="34" charset="0"/>
              <a:ea typeface="黑体" pitchFamily="49" charset="-122"/>
              <a:cs typeface="Arial" pitchFamily="34" charset="0"/>
            </a:endParaRPr>
          </a:p>
          <a:p>
            <a:pPr>
              <a:buFont typeface="Wingdings" pitchFamily="2" charset="2"/>
              <a:buChar char="n"/>
            </a:pPr>
            <a:endParaRPr lang="en-US" altLang="zh-CN" dirty="0" smtClean="0">
              <a:latin typeface="Arial" pitchFamily="34" charset="0"/>
              <a:ea typeface="黑体" pitchFamily="49" charset="-122"/>
              <a:cs typeface="Arial" pitchFamily="34" charset="0"/>
            </a:endParaRPr>
          </a:p>
          <a:p>
            <a:pPr>
              <a:buFont typeface="Wingdings" pitchFamily="2" charset="2"/>
              <a:buChar char="n"/>
            </a:pPr>
            <a:r>
              <a:rPr lang="zh-CN" altLang="en-US" sz="2800" dirty="0" smtClean="0">
                <a:latin typeface="Arial" pitchFamily="34" charset="0"/>
                <a:ea typeface="黑体" pitchFamily="49" charset="-122"/>
                <a:cs typeface="Arial" pitchFamily="34" charset="0"/>
              </a:rPr>
              <a:t>根据对象的不同，分为样本聚类和变量聚类两种： </a:t>
            </a:r>
            <a:endParaRPr lang="en-US" altLang="zh-CN" sz="2800" dirty="0" smtClean="0">
              <a:latin typeface="Arial" pitchFamily="34" charset="0"/>
              <a:ea typeface="黑体" pitchFamily="49" charset="-122"/>
              <a:cs typeface="Arial" pitchFamily="34" charset="0"/>
            </a:endParaRPr>
          </a:p>
          <a:p>
            <a:pPr lvl="1"/>
            <a:r>
              <a:rPr lang="zh-CN" altLang="en-US" sz="2400" dirty="0" smtClean="0">
                <a:solidFill>
                  <a:srgbClr val="FF0000"/>
                </a:solidFill>
                <a:latin typeface="Arial" pitchFamily="34" charset="0"/>
                <a:ea typeface="黑体" pitchFamily="49" charset="-122"/>
                <a:cs typeface="Arial" pitchFamily="34" charset="0"/>
              </a:rPr>
              <a:t>样本聚类</a:t>
            </a:r>
            <a:r>
              <a:rPr lang="zh-CN" altLang="en-US" sz="2400" dirty="0" smtClean="0">
                <a:latin typeface="Arial" pitchFamily="34" charset="0"/>
                <a:ea typeface="黑体" pitchFamily="49" charset="-122"/>
                <a:cs typeface="Arial" pitchFamily="34" charset="0"/>
              </a:rPr>
              <a:t>：对观测量</a:t>
            </a:r>
            <a:r>
              <a:rPr lang="en-US" altLang="zh-CN" sz="2400" dirty="0" smtClean="0">
                <a:latin typeface="Arial" pitchFamily="34" charset="0"/>
                <a:ea typeface="黑体" pitchFamily="49" charset="-122"/>
                <a:cs typeface="Arial" pitchFamily="34" charset="0"/>
              </a:rPr>
              <a:t>(Case)</a:t>
            </a:r>
            <a:r>
              <a:rPr lang="zh-CN" altLang="en-US" sz="2400" dirty="0" smtClean="0">
                <a:latin typeface="Arial" pitchFamily="34" charset="0"/>
                <a:ea typeface="黑体" pitchFamily="49" charset="-122"/>
                <a:cs typeface="Arial" pitchFamily="34" charset="0"/>
              </a:rPr>
              <a:t>进行聚类；</a:t>
            </a:r>
          </a:p>
          <a:p>
            <a:pPr lvl="1"/>
            <a:r>
              <a:rPr lang="zh-CN" altLang="en-US" sz="2400" dirty="0" smtClean="0">
                <a:solidFill>
                  <a:srgbClr val="FF0000"/>
                </a:solidFill>
                <a:latin typeface="Arial" pitchFamily="34" charset="0"/>
                <a:ea typeface="黑体" pitchFamily="49" charset="-122"/>
                <a:cs typeface="Arial" pitchFamily="34" charset="0"/>
              </a:rPr>
              <a:t>变量聚类</a:t>
            </a:r>
            <a:r>
              <a:rPr lang="zh-CN" altLang="en-US" sz="2400" dirty="0" smtClean="0">
                <a:latin typeface="Arial" pitchFamily="34" charset="0"/>
                <a:ea typeface="黑体" pitchFamily="49" charset="-122"/>
                <a:cs typeface="Arial" pitchFamily="34" charset="0"/>
              </a:rPr>
              <a:t>：找出彼此独立且有代表性的自变量，而又不丢失大部分信息。</a:t>
            </a:r>
            <a:endParaRPr lang="en-US" altLang="zh-CN" sz="2400" dirty="0" smtClean="0">
              <a:latin typeface="Arial" pitchFamily="34" charset="0"/>
              <a:ea typeface="黑体" pitchFamily="49" charset="-122"/>
              <a:cs typeface="Arial" pitchFamily="34" charset="0"/>
            </a:endParaRPr>
          </a:p>
          <a:p>
            <a:pPr lvl="1"/>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zh-CN" altLang="en-US" sz="2800" dirty="0" smtClean="0">
                <a:latin typeface="Arial" pitchFamily="34" charset="0"/>
                <a:ea typeface="黑体" pitchFamily="49" charset="-122"/>
                <a:cs typeface="Arial" pitchFamily="34" charset="0"/>
              </a:rPr>
              <a:t>是生物大数据分析中最常用的方法之一。</a:t>
            </a:r>
            <a:endParaRPr lang="en-US" altLang="zh-CN" sz="2800" dirty="0" smtClean="0">
              <a:latin typeface="Arial" pitchFamily="34" charset="0"/>
              <a:ea typeface="黑体" pitchFamily="49" charset="-122"/>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6</a:t>
            </a:fld>
            <a:endParaRPr lang="zh-CN" alt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922114"/>
          </a:xfrm>
        </p:spPr>
        <p:txBody>
          <a:bodyPr/>
          <a:lstStyle/>
          <a:p>
            <a:r>
              <a:rPr lang="zh-CN" altLang="en-US" sz="3600" b="1" dirty="0" smtClean="0">
                <a:solidFill>
                  <a:srgbClr val="C00000"/>
                </a:solidFill>
                <a:latin typeface="Arial" pitchFamily="34" charset="0"/>
                <a:ea typeface="黑体" pitchFamily="49" charset="-122"/>
                <a:cs typeface="Arial" pitchFamily="34" charset="0"/>
              </a:rPr>
              <a:t>聚类分析原理介绍</a:t>
            </a:r>
            <a:endParaRPr lang="zh-CN" altLang="en-US" sz="3600" b="1" dirty="0">
              <a:solidFill>
                <a:srgbClr val="C00000"/>
              </a:solidFill>
              <a:latin typeface="Arial" pitchFamily="34" charset="0"/>
              <a:ea typeface="黑体" pitchFamily="49" charset="-122"/>
              <a:cs typeface="Arial" pitchFamily="34" charset="0"/>
            </a:endParaRPr>
          </a:p>
        </p:txBody>
      </p:sp>
      <p:sp>
        <p:nvSpPr>
          <p:cNvPr id="3" name="内容占位符 2"/>
          <p:cNvSpPr>
            <a:spLocks noGrp="1"/>
          </p:cNvSpPr>
          <p:nvPr>
            <p:ph idx="1"/>
          </p:nvPr>
        </p:nvSpPr>
        <p:spPr>
          <a:xfrm>
            <a:off x="179512" y="1379909"/>
            <a:ext cx="8712968" cy="4497363"/>
          </a:xfrm>
        </p:spPr>
        <p:txBody>
          <a:bodyPr/>
          <a:lstStyle/>
          <a:p>
            <a:pPr>
              <a:buFont typeface="Wingdings" pitchFamily="2" charset="2"/>
              <a:buChar char="n"/>
            </a:pPr>
            <a:r>
              <a:rPr lang="zh-CN" altLang="en-US" sz="2800" dirty="0" smtClean="0">
                <a:latin typeface="Arial" pitchFamily="34" charset="0"/>
                <a:ea typeface="黑体" pitchFamily="49" charset="-122"/>
                <a:cs typeface="Arial" pitchFamily="34" charset="0"/>
              </a:rPr>
              <a:t>聚类分析中“类”的特征：</a:t>
            </a:r>
            <a:endParaRPr lang="en-US" altLang="zh-CN" sz="2800" dirty="0" smtClean="0">
              <a:latin typeface="Arial" pitchFamily="34" charset="0"/>
              <a:ea typeface="黑体" pitchFamily="49" charset="-122"/>
              <a:cs typeface="Arial" pitchFamily="34" charset="0"/>
            </a:endParaRPr>
          </a:p>
          <a:p>
            <a:pPr lvl="1">
              <a:buFont typeface="Wingdings" pitchFamily="2" charset="2"/>
              <a:buChar char="n"/>
            </a:pPr>
            <a:r>
              <a:rPr lang="zh-CN" altLang="en-US" sz="2400" dirty="0" smtClean="0">
                <a:latin typeface="Arial" pitchFamily="34" charset="0"/>
                <a:ea typeface="黑体" pitchFamily="49" charset="-122"/>
                <a:cs typeface="Arial" pitchFamily="34" charset="0"/>
              </a:rPr>
              <a:t>聚类所说的类不是事先给定的，而是根据数据的相似性和距离来划分；</a:t>
            </a:r>
            <a:endParaRPr lang="zh-CN" altLang="en-US" sz="2800" dirty="0" smtClean="0">
              <a:latin typeface="Arial" pitchFamily="34" charset="0"/>
              <a:ea typeface="黑体" pitchFamily="49" charset="-122"/>
              <a:cs typeface="Arial" pitchFamily="34" charset="0"/>
            </a:endParaRPr>
          </a:p>
          <a:p>
            <a:pPr lvl="1">
              <a:buFont typeface="Wingdings" pitchFamily="2" charset="2"/>
              <a:buChar char="n"/>
            </a:pPr>
            <a:r>
              <a:rPr lang="zh-CN" altLang="en-US" sz="2400" dirty="0" smtClean="0">
                <a:latin typeface="Arial" pitchFamily="34" charset="0"/>
                <a:ea typeface="黑体" pitchFamily="49" charset="-122"/>
                <a:cs typeface="Arial" pitchFamily="34" charset="0"/>
              </a:rPr>
              <a:t>聚类的数目和结构都没有事先假定；</a:t>
            </a:r>
          </a:p>
          <a:p>
            <a:pPr>
              <a:buFont typeface="Wingdings" pitchFamily="2" charset="2"/>
              <a:buChar char="n"/>
            </a:pPr>
            <a:endParaRPr lang="zh-CN" altLang="en-US" sz="2800" dirty="0" smtClean="0">
              <a:latin typeface="Arial" pitchFamily="34" charset="0"/>
              <a:ea typeface="黑体" pitchFamily="49" charset="-122"/>
              <a:cs typeface="Arial" pitchFamily="34" charset="0"/>
            </a:endParaRPr>
          </a:p>
          <a:p>
            <a:pPr>
              <a:buFont typeface="Wingdings" pitchFamily="2" charset="2"/>
              <a:buChar char="n"/>
            </a:pPr>
            <a:r>
              <a:rPr lang="zh-CN" altLang="en-US" sz="2800" dirty="0" smtClean="0">
                <a:latin typeface="Arial" pitchFamily="34" charset="0"/>
                <a:ea typeface="黑体" pitchFamily="49" charset="-122"/>
                <a:cs typeface="Arial" pitchFamily="34" charset="0"/>
              </a:rPr>
              <a:t>聚类方法的目的是寻找数据中</a:t>
            </a:r>
            <a:endParaRPr lang="en-US" altLang="zh-CN" sz="2800" dirty="0" smtClean="0">
              <a:latin typeface="Arial" pitchFamily="34" charset="0"/>
              <a:ea typeface="黑体" pitchFamily="49" charset="-122"/>
              <a:cs typeface="Arial" pitchFamily="34" charset="0"/>
            </a:endParaRPr>
          </a:p>
          <a:p>
            <a:pPr lvl="1">
              <a:buFont typeface="Wingdings" pitchFamily="2" charset="2"/>
              <a:buChar char="n"/>
            </a:pPr>
            <a:r>
              <a:rPr lang="zh-CN" altLang="en-US" sz="2400" dirty="0" smtClean="0">
                <a:latin typeface="Arial" pitchFamily="34" charset="0"/>
                <a:ea typeface="黑体" pitchFamily="49" charset="-122"/>
                <a:cs typeface="Arial" pitchFamily="34" charset="0"/>
              </a:rPr>
              <a:t>潜在的自然分组结构（</a:t>
            </a:r>
            <a:r>
              <a:rPr lang="en-US" altLang="zh-CN" sz="2400" dirty="0" smtClean="0">
                <a:latin typeface="Arial" pitchFamily="34" charset="0"/>
                <a:ea typeface="黑体" pitchFamily="49" charset="-122"/>
                <a:cs typeface="Arial" pitchFamily="34" charset="0"/>
              </a:rPr>
              <a:t>a structure of “natural” grouping</a:t>
            </a:r>
            <a:r>
              <a:rPr lang="zh-CN" altLang="en-US" sz="2400" dirty="0" smtClean="0">
                <a:latin typeface="Arial" pitchFamily="34" charset="0"/>
                <a:ea typeface="黑体" pitchFamily="49" charset="-122"/>
                <a:cs typeface="Arial" pitchFamily="34" charset="0"/>
              </a:rPr>
              <a:t>）</a:t>
            </a:r>
            <a:r>
              <a:rPr lang="en-US" altLang="zh-CN" sz="2400" dirty="0" smtClean="0">
                <a:latin typeface="Arial" pitchFamily="34" charset="0"/>
                <a:ea typeface="黑体" pitchFamily="49" charset="-122"/>
                <a:cs typeface="Arial" pitchFamily="34" charset="0"/>
              </a:rPr>
              <a:t> </a:t>
            </a:r>
          </a:p>
          <a:p>
            <a:pPr lvl="1">
              <a:buFont typeface="Wingdings" pitchFamily="2" charset="2"/>
              <a:buChar char="n"/>
            </a:pPr>
            <a:r>
              <a:rPr lang="zh-CN" altLang="en-US" sz="2400" dirty="0" smtClean="0">
                <a:latin typeface="Arial" pitchFamily="34" charset="0"/>
                <a:ea typeface="黑体" pitchFamily="49" charset="-122"/>
                <a:cs typeface="Arial" pitchFamily="34" charset="0"/>
              </a:rPr>
              <a:t>感兴趣的关系（</a:t>
            </a:r>
            <a:r>
              <a:rPr lang="en-US" altLang="zh-CN" sz="2400" dirty="0" smtClean="0">
                <a:latin typeface="Arial" pitchFamily="34" charset="0"/>
                <a:ea typeface="黑体" pitchFamily="49" charset="-122"/>
                <a:cs typeface="Arial" pitchFamily="34" charset="0"/>
              </a:rPr>
              <a:t> relationship</a:t>
            </a:r>
            <a:r>
              <a:rPr lang="zh-CN" altLang="en-US" sz="2400" dirty="0" smtClean="0">
                <a:latin typeface="Arial" pitchFamily="34" charset="0"/>
                <a:ea typeface="黑体" pitchFamily="49" charset="-122"/>
                <a:cs typeface="Arial" pitchFamily="34" charset="0"/>
              </a:rPr>
              <a:t>）</a:t>
            </a:r>
            <a:endParaRPr lang="en-US" altLang="zh-CN" sz="2400" dirty="0" smtClean="0">
              <a:latin typeface="Arial" pitchFamily="34" charset="0"/>
              <a:ea typeface="黑体" pitchFamily="49" charset="-122"/>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latin typeface="Arial" pitchFamily="34" charset="0"/>
                <a:ea typeface="黑体" pitchFamily="49" charset="-122"/>
                <a:cs typeface="Arial" pitchFamily="34" charset="0"/>
              </a:rPr>
              <a:pPr>
                <a:defRPr/>
              </a:pPr>
              <a:t>7</a:t>
            </a:fld>
            <a:endParaRPr lang="zh-CN" altLang="en-US">
              <a:latin typeface="Arial" pitchFamily="34" charset="0"/>
              <a:ea typeface="黑体" pitchFamily="49" charset="-122"/>
              <a:cs typeface="Arial"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052737"/>
            <a:ext cx="8136904" cy="720080"/>
          </a:xfrm>
        </p:spPr>
        <p:txBody>
          <a:bodyPr/>
          <a:lstStyle/>
          <a:p>
            <a:pPr>
              <a:buNone/>
            </a:pPr>
            <a:r>
              <a:rPr lang="zh-CN" altLang="en-US" sz="2800" dirty="0" smtClean="0">
                <a:latin typeface="Arial" pitchFamily="34" charset="0"/>
                <a:ea typeface="黑体" pitchFamily="49" charset="-122"/>
                <a:cs typeface="Arial" pitchFamily="34" charset="0"/>
              </a:rPr>
              <a:t>有</a:t>
            </a:r>
            <a:r>
              <a:rPr lang="en-US" altLang="zh-CN" sz="2800" dirty="0" smtClean="0">
                <a:latin typeface="Arial" pitchFamily="34" charset="0"/>
                <a:ea typeface="黑体" pitchFamily="49" charset="-122"/>
                <a:cs typeface="Arial" pitchFamily="34" charset="0"/>
              </a:rPr>
              <a:t>16</a:t>
            </a:r>
            <a:r>
              <a:rPr lang="zh-CN" altLang="en-US" sz="2800" dirty="0" smtClean="0">
                <a:latin typeface="Arial" pitchFamily="34" charset="0"/>
                <a:ea typeface="黑体" pitchFamily="49" charset="-122"/>
                <a:cs typeface="Arial" pitchFamily="34" charset="0"/>
              </a:rPr>
              <a:t>张牌，如何将他们分为不同组别的呢？</a:t>
            </a:r>
            <a:endParaRPr lang="zh-CN" altLang="en-US" sz="2800" dirty="0">
              <a:latin typeface="Arial" pitchFamily="34" charset="0"/>
              <a:ea typeface="黑体" pitchFamily="49" charset="-122"/>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8</a:t>
            </a:fld>
            <a:endParaRPr lang="zh-CN" altLang="en-US"/>
          </a:p>
        </p:txBody>
      </p:sp>
      <p:sp>
        <p:nvSpPr>
          <p:cNvPr id="5" name="矩形 4"/>
          <p:cNvSpPr/>
          <p:nvPr/>
        </p:nvSpPr>
        <p:spPr>
          <a:xfrm>
            <a:off x="683568" y="476672"/>
            <a:ext cx="3057247" cy="523220"/>
          </a:xfrm>
          <a:prstGeom prst="rect">
            <a:avLst/>
          </a:prstGeom>
        </p:spPr>
        <p:txBody>
          <a:bodyPr wrap="none">
            <a:spAutoFit/>
          </a:bodyPr>
          <a:lstStyle/>
          <a:p>
            <a:r>
              <a:rPr lang="zh-CN" altLang="en-US" sz="2800" b="1" dirty="0" smtClean="0">
                <a:solidFill>
                  <a:srgbClr val="C00000"/>
                </a:solidFill>
                <a:latin typeface="黑体" pitchFamily="49" charset="-122"/>
                <a:ea typeface="黑体" pitchFamily="49" charset="-122"/>
              </a:rPr>
              <a:t>自然分组结构举例</a:t>
            </a:r>
            <a:endParaRPr lang="zh-CN" altLang="en-US" sz="2800" b="1" dirty="0">
              <a:solidFill>
                <a:srgbClr val="C00000"/>
              </a:solidFill>
              <a:latin typeface="黑体" pitchFamily="49" charset="-122"/>
              <a:ea typeface="黑体" pitchFamily="49" charset="-122"/>
            </a:endParaRPr>
          </a:p>
        </p:txBody>
      </p:sp>
      <p:pic>
        <p:nvPicPr>
          <p:cNvPr id="155651" name="Picture 3"/>
          <p:cNvPicPr>
            <a:picLocks noChangeAspect="1" noChangeArrowheads="1"/>
          </p:cNvPicPr>
          <p:nvPr/>
        </p:nvPicPr>
        <p:blipFill>
          <a:blip r:embed="rId2" cstate="print"/>
          <a:srcRect/>
          <a:stretch>
            <a:fillRect/>
          </a:stretch>
        </p:blipFill>
        <p:spPr bwMode="auto">
          <a:xfrm>
            <a:off x="1835696" y="2204864"/>
            <a:ext cx="4985805" cy="393878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9</a:t>
            </a:fld>
            <a:endParaRPr lang="zh-CN" altLang="en-US"/>
          </a:p>
        </p:txBody>
      </p:sp>
      <p:sp>
        <p:nvSpPr>
          <p:cNvPr id="5" name="矩形 4"/>
          <p:cNvSpPr/>
          <p:nvPr/>
        </p:nvSpPr>
        <p:spPr>
          <a:xfrm>
            <a:off x="323528" y="764704"/>
            <a:ext cx="1944216" cy="707886"/>
          </a:xfrm>
          <a:prstGeom prst="rect">
            <a:avLst/>
          </a:prstGeom>
        </p:spPr>
        <p:txBody>
          <a:bodyPr wrap="square">
            <a:spAutoFit/>
          </a:bodyPr>
          <a:lstStyle/>
          <a:p>
            <a:r>
              <a:rPr lang="zh-CN" altLang="en-US" sz="2000" b="1" dirty="0" smtClean="0">
                <a:latin typeface="Arial" pitchFamily="34" charset="0"/>
                <a:ea typeface="黑体" pitchFamily="49" charset="-122"/>
                <a:cs typeface="Arial" pitchFamily="34" charset="0"/>
              </a:rPr>
              <a:t>分成四组</a:t>
            </a:r>
          </a:p>
          <a:p>
            <a:r>
              <a:rPr lang="zh-CN" altLang="en-US" sz="2000" dirty="0" smtClean="0">
                <a:latin typeface="Arial" pitchFamily="34" charset="0"/>
                <a:ea typeface="黑体" pitchFamily="49" charset="-122"/>
                <a:cs typeface="Arial" pitchFamily="34" charset="0"/>
              </a:rPr>
              <a:t>每组花色相同</a:t>
            </a:r>
          </a:p>
        </p:txBody>
      </p:sp>
      <p:sp>
        <p:nvSpPr>
          <p:cNvPr id="7" name="矩形 6"/>
          <p:cNvSpPr/>
          <p:nvPr/>
        </p:nvSpPr>
        <p:spPr>
          <a:xfrm>
            <a:off x="3131840" y="821503"/>
            <a:ext cx="2520280" cy="707886"/>
          </a:xfrm>
          <a:prstGeom prst="rect">
            <a:avLst/>
          </a:prstGeom>
        </p:spPr>
        <p:txBody>
          <a:bodyPr wrap="square">
            <a:spAutoFit/>
          </a:bodyPr>
          <a:lstStyle/>
          <a:p>
            <a:r>
              <a:rPr lang="zh-CN" altLang="en-US" sz="2000" b="1" dirty="0" smtClean="0">
                <a:latin typeface="Arial" pitchFamily="34" charset="0"/>
                <a:ea typeface="黑体" pitchFamily="49" charset="-122"/>
                <a:cs typeface="Arial" pitchFamily="34" charset="0"/>
              </a:rPr>
              <a:t>分成四组</a:t>
            </a:r>
          </a:p>
          <a:p>
            <a:r>
              <a:rPr lang="zh-CN" altLang="en-US" sz="2000" dirty="0" smtClean="0">
                <a:latin typeface="Arial" pitchFamily="34" charset="0"/>
                <a:ea typeface="黑体" pitchFamily="49" charset="-122"/>
                <a:cs typeface="Arial" pitchFamily="34" charset="0"/>
              </a:rPr>
              <a:t>每组符号相同</a:t>
            </a:r>
          </a:p>
        </p:txBody>
      </p:sp>
      <p:sp>
        <p:nvSpPr>
          <p:cNvPr id="9" name="矩形 8"/>
          <p:cNvSpPr/>
          <p:nvPr/>
        </p:nvSpPr>
        <p:spPr>
          <a:xfrm>
            <a:off x="6228184" y="833697"/>
            <a:ext cx="2592288" cy="707886"/>
          </a:xfrm>
          <a:prstGeom prst="rect">
            <a:avLst/>
          </a:prstGeom>
        </p:spPr>
        <p:txBody>
          <a:bodyPr wrap="square">
            <a:spAutoFit/>
          </a:bodyPr>
          <a:lstStyle/>
          <a:p>
            <a:r>
              <a:rPr lang="zh-CN" altLang="en-US" sz="2000" b="1" dirty="0" smtClean="0">
                <a:latin typeface="Arial" pitchFamily="34" charset="0"/>
                <a:ea typeface="黑体" pitchFamily="49" charset="-122"/>
                <a:cs typeface="Arial" pitchFamily="34" charset="0"/>
              </a:rPr>
              <a:t>分成两组</a:t>
            </a:r>
            <a:endParaRPr lang="en-US" altLang="zh-CN" sz="2000" b="1" dirty="0" smtClean="0">
              <a:latin typeface="Arial" pitchFamily="34" charset="0"/>
              <a:ea typeface="黑体" pitchFamily="49" charset="-122"/>
              <a:cs typeface="Arial" pitchFamily="34" charset="0"/>
            </a:endParaRPr>
          </a:p>
          <a:p>
            <a:r>
              <a:rPr lang="zh-CN" altLang="en-US" sz="2000" dirty="0" smtClean="0">
                <a:latin typeface="Arial" pitchFamily="34" charset="0"/>
                <a:ea typeface="黑体" pitchFamily="49" charset="-122"/>
                <a:cs typeface="Arial" pitchFamily="34" charset="0"/>
              </a:rPr>
              <a:t>颜色相同的牌为一组</a:t>
            </a:r>
          </a:p>
        </p:txBody>
      </p:sp>
      <p:pic>
        <p:nvPicPr>
          <p:cNvPr id="156674" name="Picture 2"/>
          <p:cNvPicPr>
            <a:picLocks noChangeAspect="1" noChangeArrowheads="1"/>
          </p:cNvPicPr>
          <p:nvPr/>
        </p:nvPicPr>
        <p:blipFill>
          <a:blip r:embed="rId2" cstate="print"/>
          <a:srcRect/>
          <a:stretch>
            <a:fillRect/>
          </a:stretch>
        </p:blipFill>
        <p:spPr bwMode="auto">
          <a:xfrm>
            <a:off x="251520" y="1892875"/>
            <a:ext cx="2160240" cy="1680141"/>
          </a:xfrm>
          <a:prstGeom prst="rect">
            <a:avLst/>
          </a:prstGeom>
          <a:noFill/>
          <a:ln w="9525">
            <a:noFill/>
            <a:miter lim="800000"/>
            <a:headEnd/>
            <a:tailEnd/>
          </a:ln>
        </p:spPr>
      </p:pic>
      <p:pic>
        <p:nvPicPr>
          <p:cNvPr id="156675" name="Picture 3"/>
          <p:cNvPicPr>
            <a:picLocks noChangeAspect="1" noChangeArrowheads="1"/>
          </p:cNvPicPr>
          <p:nvPr/>
        </p:nvPicPr>
        <p:blipFill>
          <a:blip r:embed="rId3" cstate="print"/>
          <a:srcRect/>
          <a:stretch>
            <a:fillRect/>
          </a:stretch>
        </p:blipFill>
        <p:spPr bwMode="auto">
          <a:xfrm>
            <a:off x="2987824" y="1757607"/>
            <a:ext cx="2257395" cy="1800200"/>
          </a:xfrm>
          <a:prstGeom prst="rect">
            <a:avLst/>
          </a:prstGeom>
          <a:noFill/>
          <a:ln w="9525">
            <a:noFill/>
            <a:miter lim="800000"/>
            <a:headEnd/>
            <a:tailEnd/>
          </a:ln>
        </p:spPr>
      </p:pic>
      <p:pic>
        <p:nvPicPr>
          <p:cNvPr id="156676" name="Picture 4"/>
          <p:cNvPicPr>
            <a:picLocks noChangeAspect="1" noChangeArrowheads="1"/>
          </p:cNvPicPr>
          <p:nvPr/>
        </p:nvPicPr>
        <p:blipFill>
          <a:blip r:embed="rId4" cstate="print"/>
          <a:srcRect/>
          <a:stretch>
            <a:fillRect/>
          </a:stretch>
        </p:blipFill>
        <p:spPr bwMode="auto">
          <a:xfrm>
            <a:off x="6316058" y="1757607"/>
            <a:ext cx="2288390" cy="1815409"/>
          </a:xfrm>
          <a:prstGeom prst="rect">
            <a:avLst/>
          </a:prstGeom>
          <a:noFill/>
          <a:ln w="9525">
            <a:noFill/>
            <a:miter lim="800000"/>
            <a:headEnd/>
            <a:tailEnd/>
          </a:ln>
        </p:spPr>
      </p:pic>
      <p:sp>
        <p:nvSpPr>
          <p:cNvPr id="17" name="矩形 16"/>
          <p:cNvSpPr/>
          <p:nvPr/>
        </p:nvSpPr>
        <p:spPr>
          <a:xfrm>
            <a:off x="395536" y="4707141"/>
            <a:ext cx="8424936" cy="954107"/>
          </a:xfrm>
          <a:prstGeom prst="rect">
            <a:avLst/>
          </a:prstGeom>
        </p:spPr>
        <p:txBody>
          <a:bodyPr wrap="square">
            <a:spAutoFit/>
          </a:bodyPr>
          <a:lstStyle/>
          <a:p>
            <a:r>
              <a:rPr lang="zh-CN" altLang="en-US" sz="2800" dirty="0" smtClean="0">
                <a:latin typeface="Arial" pitchFamily="34" charset="0"/>
                <a:ea typeface="黑体" pitchFamily="49" charset="-122"/>
                <a:cs typeface="Arial" pitchFamily="34" charset="0"/>
              </a:rPr>
              <a:t>这个例子告诉我们，分组的意义在于我们怎么定义并度量</a:t>
            </a:r>
            <a:r>
              <a:rPr lang="zh-CN" altLang="en-US" sz="2800" b="1" dirty="0" smtClean="0">
                <a:solidFill>
                  <a:srgbClr val="FF0000"/>
                </a:solidFill>
                <a:latin typeface="Arial" pitchFamily="34" charset="0"/>
                <a:ea typeface="黑体" pitchFamily="49" charset="-122"/>
                <a:cs typeface="Arial" pitchFamily="34" charset="0"/>
              </a:rPr>
              <a:t>“相似性（</a:t>
            </a:r>
            <a:r>
              <a:rPr lang="en-US" altLang="zh-CN" sz="2800" b="1" dirty="0" smtClean="0">
                <a:solidFill>
                  <a:srgbClr val="FF0000"/>
                </a:solidFill>
                <a:latin typeface="Arial" pitchFamily="34" charset="0"/>
                <a:ea typeface="黑体" pitchFamily="49" charset="-122"/>
                <a:cs typeface="Arial" pitchFamily="34" charset="0"/>
              </a:rPr>
              <a:t>Similarity</a:t>
            </a:r>
            <a:r>
              <a:rPr lang="zh-CN" altLang="en-US" sz="2800" b="1" dirty="0" smtClean="0">
                <a:solidFill>
                  <a:srgbClr val="FF0000"/>
                </a:solidFill>
                <a:latin typeface="Arial" pitchFamily="34" charset="0"/>
                <a:ea typeface="黑体" pitchFamily="49" charset="-122"/>
                <a:cs typeface="Arial" pitchFamily="34" charset="0"/>
              </a:rPr>
              <a:t>）</a:t>
            </a:r>
            <a:r>
              <a:rPr lang="en-US" altLang="zh-CN" sz="2800" b="1" dirty="0" smtClean="0">
                <a:solidFill>
                  <a:srgbClr val="FF0000"/>
                </a:solidFill>
                <a:latin typeface="Arial" pitchFamily="34" charset="0"/>
                <a:ea typeface="黑体" pitchFamily="49" charset="-122"/>
                <a:cs typeface="Arial" pitchFamily="34" charset="0"/>
              </a:rPr>
              <a:t>”</a:t>
            </a:r>
            <a:r>
              <a:rPr lang="zh-CN" altLang="en-US" sz="2800" b="1" dirty="0" smtClean="0">
                <a:solidFill>
                  <a:srgbClr val="FF0000"/>
                </a:solidFill>
                <a:latin typeface="Arial" pitchFamily="34" charset="0"/>
                <a:ea typeface="黑体" pitchFamily="49" charset="-122"/>
                <a:cs typeface="Arial" pitchFamily="34" charset="0"/>
              </a:rPr>
              <a:t>！</a:t>
            </a:r>
            <a:endParaRPr lang="zh-CN" altLang="en-US" sz="2800" dirty="0" smtClean="0">
              <a:latin typeface="Arial" pitchFamily="34" charset="0"/>
              <a:ea typeface="黑体" pitchFamily="49" charset="-122"/>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1354162"/>
          </a:xfrm>
        </p:spPr>
        <p:txBody>
          <a:bodyPr/>
          <a:lstStyle/>
          <a:p>
            <a:r>
              <a:rPr lang="zh-CN" altLang="en-US" sz="4000" b="1" dirty="0" smtClean="0">
                <a:solidFill>
                  <a:srgbClr val="000099"/>
                </a:solidFill>
                <a:latin typeface="Arial" pitchFamily="34" charset="0"/>
                <a:ea typeface="黑体" pitchFamily="49" charset="-122"/>
                <a:cs typeface="Arial" pitchFamily="34" charset="0"/>
              </a:rPr>
              <a:t>二</a:t>
            </a:r>
            <a:r>
              <a:rPr lang="en-US" altLang="zh-CN" sz="4000" b="1" dirty="0" smtClean="0">
                <a:solidFill>
                  <a:srgbClr val="000099"/>
                </a:solidFill>
                <a:latin typeface="Arial" pitchFamily="34" charset="0"/>
                <a:ea typeface="黑体" pitchFamily="49" charset="-122"/>
                <a:cs typeface="Arial" pitchFamily="34" charset="0"/>
              </a:rPr>
              <a:t>. </a:t>
            </a:r>
            <a:r>
              <a:rPr lang="zh-CN" altLang="en-US" sz="4000" b="1" dirty="0" smtClean="0">
                <a:solidFill>
                  <a:srgbClr val="000099"/>
                </a:solidFill>
                <a:latin typeface="Arial" pitchFamily="34" charset="0"/>
                <a:ea typeface="黑体" pitchFamily="49" charset="-122"/>
                <a:cs typeface="Arial" pitchFamily="34" charset="0"/>
              </a:rPr>
              <a:t>聚类分析基本步骤</a:t>
            </a:r>
            <a:r>
              <a:rPr lang="en-US" altLang="zh-CN" sz="4000" b="1" dirty="0" smtClean="0">
                <a:solidFill>
                  <a:srgbClr val="000099"/>
                </a:solidFill>
                <a:latin typeface="Arial" pitchFamily="34" charset="0"/>
                <a:ea typeface="黑体" pitchFamily="49" charset="-122"/>
                <a:cs typeface="Arial" pitchFamily="34" charset="0"/>
              </a:rPr>
              <a:t/>
            </a:r>
            <a:br>
              <a:rPr lang="en-US" altLang="zh-CN" sz="4000" b="1" dirty="0" smtClean="0">
                <a:solidFill>
                  <a:srgbClr val="000099"/>
                </a:solidFill>
                <a:latin typeface="Arial" pitchFamily="34" charset="0"/>
                <a:ea typeface="黑体" pitchFamily="49" charset="-122"/>
                <a:cs typeface="Arial" pitchFamily="34" charset="0"/>
              </a:rPr>
            </a:br>
            <a:r>
              <a:rPr lang="zh-CN" altLang="en-US" sz="3200" b="1" dirty="0" smtClean="0">
                <a:solidFill>
                  <a:srgbClr val="000099"/>
                </a:solidFill>
                <a:latin typeface="Arial" pitchFamily="34" charset="0"/>
                <a:ea typeface="黑体" pitchFamily="49" charset="-122"/>
                <a:cs typeface="Arial" pitchFamily="34" charset="0"/>
              </a:rPr>
              <a:t>（</a:t>
            </a:r>
            <a:r>
              <a:rPr lang="zh-CN" altLang="en-US" sz="3200" b="1" dirty="0" smtClean="0">
                <a:solidFill>
                  <a:srgbClr val="006600"/>
                </a:solidFill>
                <a:latin typeface="Arial" pitchFamily="34" charset="0"/>
                <a:ea typeface="黑体" pitchFamily="49" charset="-122"/>
                <a:cs typeface="Arial" pitchFamily="34" charset="0"/>
              </a:rPr>
              <a:t>以基因表达数据聚类为例</a:t>
            </a:r>
            <a:r>
              <a:rPr lang="zh-CN" altLang="en-US" sz="3200" b="1" dirty="0" smtClean="0">
                <a:solidFill>
                  <a:srgbClr val="000099"/>
                </a:solidFill>
                <a:latin typeface="Arial" pitchFamily="34" charset="0"/>
                <a:ea typeface="黑体" pitchFamily="49" charset="-122"/>
                <a:cs typeface="Arial" pitchFamily="34" charset="0"/>
              </a:rPr>
              <a:t>）</a:t>
            </a:r>
            <a:endParaRPr lang="zh-CN" altLang="en-US" sz="3200" b="1" dirty="0">
              <a:solidFill>
                <a:srgbClr val="000099"/>
              </a:solidFill>
              <a:latin typeface="Arial" pitchFamily="34" charset="0"/>
              <a:ea typeface="黑体" pitchFamily="49" charset="-122"/>
              <a:cs typeface="Arial" pitchFamily="34" charset="0"/>
            </a:endParaRPr>
          </a:p>
        </p:txBody>
      </p:sp>
      <p:sp>
        <p:nvSpPr>
          <p:cNvPr id="3" name="内容占位符 2"/>
          <p:cNvSpPr>
            <a:spLocks noGrp="1"/>
          </p:cNvSpPr>
          <p:nvPr>
            <p:ph idx="1"/>
          </p:nvPr>
        </p:nvSpPr>
        <p:spPr>
          <a:xfrm>
            <a:off x="467544" y="1916832"/>
            <a:ext cx="8229600" cy="4392488"/>
          </a:xfrm>
        </p:spPr>
        <p:txBody>
          <a:bodyPr/>
          <a:lstStyle/>
          <a:p>
            <a:pPr marL="514350" indent="-514350">
              <a:buFont typeface="+mj-lt"/>
              <a:buAutoNum type="arabicPeriod"/>
            </a:pPr>
            <a:r>
              <a:rPr lang="zh-CN" altLang="en-US" sz="2800" dirty="0" smtClean="0">
                <a:latin typeface="Arial" pitchFamily="34" charset="0"/>
                <a:ea typeface="黑体" pitchFamily="49" charset="-122"/>
                <a:cs typeface="Arial" pitchFamily="34" charset="0"/>
              </a:rPr>
              <a:t>确定需要聚类的数据；</a:t>
            </a:r>
            <a:endParaRPr lang="en-US" altLang="zh-CN" sz="2800" dirty="0" smtClean="0">
              <a:latin typeface="Arial" pitchFamily="34" charset="0"/>
              <a:ea typeface="黑体" pitchFamily="49" charset="-122"/>
              <a:cs typeface="Arial" pitchFamily="34" charset="0"/>
            </a:endParaRPr>
          </a:p>
          <a:p>
            <a:pPr marL="514350" indent="-514350">
              <a:buFont typeface="+mj-lt"/>
              <a:buAutoNum type="arabicPeriod"/>
            </a:pPr>
            <a:endParaRPr lang="zh-CN" altLang="en-US" sz="2800" dirty="0" smtClean="0">
              <a:latin typeface="Arial" pitchFamily="34" charset="0"/>
              <a:ea typeface="黑体" pitchFamily="49" charset="-122"/>
              <a:cs typeface="Arial" pitchFamily="34" charset="0"/>
            </a:endParaRPr>
          </a:p>
          <a:p>
            <a:pPr marL="514350" indent="-514350">
              <a:buFont typeface="+mj-lt"/>
              <a:buAutoNum type="arabicPeriod"/>
            </a:pPr>
            <a:r>
              <a:rPr lang="zh-CN" altLang="en-US" sz="2800" dirty="0" smtClean="0">
                <a:latin typeface="Arial" pitchFamily="34" charset="0"/>
                <a:ea typeface="黑体" pitchFamily="49" charset="-122"/>
                <a:cs typeface="Arial" pitchFamily="34" charset="0"/>
              </a:rPr>
              <a:t>定义相似性：</a:t>
            </a:r>
            <a:r>
              <a:rPr lang="zh-CN" altLang="en-US" sz="2800" dirty="0" smtClean="0">
                <a:solidFill>
                  <a:srgbClr val="FF0000"/>
                </a:solidFill>
                <a:latin typeface="Arial" pitchFamily="34" charset="0"/>
                <a:ea typeface="黑体" pitchFamily="49" charset="-122"/>
                <a:cs typeface="Arial" pitchFamily="34" charset="0"/>
              </a:rPr>
              <a:t>计算相似性矩阵</a:t>
            </a:r>
            <a:r>
              <a:rPr lang="zh-CN" altLang="en-US" sz="2800" dirty="0" smtClean="0">
                <a:latin typeface="Arial" pitchFamily="34" charset="0"/>
                <a:ea typeface="黑体" pitchFamily="49" charset="-122"/>
                <a:cs typeface="Arial" pitchFamily="34" charset="0"/>
              </a:rPr>
              <a:t>；</a:t>
            </a:r>
            <a:endParaRPr lang="en-US" altLang="zh-CN" sz="2800" dirty="0" smtClean="0">
              <a:latin typeface="Arial" pitchFamily="34" charset="0"/>
              <a:ea typeface="黑体" pitchFamily="49" charset="-122"/>
              <a:cs typeface="Arial" pitchFamily="34" charset="0"/>
            </a:endParaRPr>
          </a:p>
          <a:p>
            <a:pPr marL="514350" indent="-514350">
              <a:buFont typeface="+mj-lt"/>
              <a:buAutoNum type="arabicPeriod"/>
            </a:pPr>
            <a:endParaRPr lang="zh-CN" altLang="en-US" sz="2800" dirty="0" smtClean="0">
              <a:latin typeface="Arial" pitchFamily="34" charset="0"/>
              <a:ea typeface="黑体" pitchFamily="49" charset="-122"/>
              <a:cs typeface="Arial" pitchFamily="34" charset="0"/>
            </a:endParaRPr>
          </a:p>
          <a:p>
            <a:pPr marL="514350" indent="-514350">
              <a:buFont typeface="+mj-lt"/>
              <a:buAutoNum type="arabicPeriod"/>
            </a:pPr>
            <a:r>
              <a:rPr lang="zh-CN" altLang="en-US" sz="2800" dirty="0" smtClean="0">
                <a:latin typeface="Arial" pitchFamily="34" charset="0"/>
                <a:ea typeface="黑体" pitchFamily="49" charset="-122"/>
                <a:cs typeface="Arial" pitchFamily="34" charset="0"/>
              </a:rPr>
              <a:t>选择算法进行聚类分析；</a:t>
            </a:r>
            <a:endParaRPr lang="en-US" altLang="zh-CN" sz="2800" dirty="0" smtClean="0">
              <a:latin typeface="Arial" pitchFamily="34" charset="0"/>
              <a:ea typeface="黑体" pitchFamily="49" charset="-122"/>
              <a:cs typeface="Arial" pitchFamily="34" charset="0"/>
            </a:endParaRPr>
          </a:p>
          <a:p>
            <a:pPr marL="514350" indent="-514350">
              <a:buFont typeface="+mj-lt"/>
              <a:buAutoNum type="arabicPeriod"/>
            </a:pPr>
            <a:endParaRPr lang="zh-CN" altLang="en-US" sz="2800" dirty="0" smtClean="0">
              <a:latin typeface="Arial" pitchFamily="34" charset="0"/>
              <a:ea typeface="黑体" pitchFamily="49" charset="-122"/>
              <a:cs typeface="Arial" pitchFamily="34" charset="0"/>
            </a:endParaRPr>
          </a:p>
          <a:p>
            <a:pPr marL="514350" indent="-514350">
              <a:buFont typeface="+mj-lt"/>
              <a:buAutoNum type="arabicPeriod"/>
            </a:pPr>
            <a:r>
              <a:rPr lang="zh-CN" altLang="en-US" sz="2800" dirty="0" smtClean="0">
                <a:latin typeface="Arial" pitchFamily="34" charset="0"/>
                <a:ea typeface="黑体" pitchFamily="49" charset="-122"/>
                <a:cs typeface="Arial" pitchFamily="34" charset="0"/>
              </a:rPr>
              <a:t>显示并分析结果。</a:t>
            </a:r>
            <a:endParaRPr lang="zh-CN" altLang="en-US" sz="2800" dirty="0" smtClean="0">
              <a:latin typeface="Arial" pitchFamily="34" charset="0"/>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10</a:t>
            </a:fld>
            <a:endParaRPr lang="zh-CN" alt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16632"/>
            <a:ext cx="8229600" cy="1224136"/>
          </a:xfrm>
        </p:spPr>
        <p:txBody>
          <a:bodyPr/>
          <a:lstStyle/>
          <a:p>
            <a:r>
              <a:rPr lang="en-US" altLang="zh-CN" sz="3600" b="1" u="sng" dirty="0" smtClean="0">
                <a:solidFill>
                  <a:srgbClr val="C00000"/>
                </a:solidFill>
                <a:latin typeface="黑体" pitchFamily="49" charset="-122"/>
                <a:ea typeface="黑体" pitchFamily="49" charset="-122"/>
              </a:rPr>
              <a:t>1. </a:t>
            </a:r>
            <a:r>
              <a:rPr lang="zh-CN" altLang="en-US" sz="3600" b="1" u="sng" dirty="0" smtClean="0">
                <a:solidFill>
                  <a:srgbClr val="C00000"/>
                </a:solidFill>
                <a:latin typeface="黑体" pitchFamily="49" charset="-122"/>
                <a:ea typeface="黑体" pitchFamily="49" charset="-122"/>
              </a:rPr>
              <a:t>确定需要聚类的数据</a:t>
            </a:r>
            <a:r>
              <a:rPr lang="en-US" altLang="zh-CN" sz="3600" b="1" dirty="0" smtClean="0">
                <a:solidFill>
                  <a:srgbClr val="C00000"/>
                </a:solidFill>
                <a:latin typeface="黑体" pitchFamily="49" charset="-122"/>
                <a:ea typeface="黑体" pitchFamily="49" charset="-122"/>
              </a:rPr>
              <a:t/>
            </a:r>
            <a:br>
              <a:rPr lang="en-US" altLang="zh-CN" sz="3600" b="1" dirty="0" smtClean="0">
                <a:solidFill>
                  <a:srgbClr val="C00000"/>
                </a:solidFill>
                <a:latin typeface="黑体" pitchFamily="49" charset="-122"/>
                <a:ea typeface="黑体" pitchFamily="49" charset="-122"/>
              </a:rPr>
            </a:br>
            <a:r>
              <a:rPr lang="zh-CN" altLang="en-US" sz="3200" b="1" dirty="0" smtClean="0">
                <a:latin typeface="黑体" pitchFamily="49" charset="-122"/>
                <a:ea typeface="黑体" pitchFamily="49" charset="-122"/>
              </a:rPr>
              <a:t>（如不同组织中的基因表达数据）</a:t>
            </a:r>
            <a:endParaRPr lang="zh-CN" altLang="en-US" sz="3200" b="1" dirty="0">
              <a:latin typeface="黑体" pitchFamily="49" charset="-122"/>
              <a:ea typeface="黑体" pitchFamily="49" charset="-122"/>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11</a:t>
            </a:fld>
            <a:endParaRPr lang="zh-CN" altLang="en-US"/>
          </a:p>
        </p:txBody>
      </p:sp>
      <p:pic>
        <p:nvPicPr>
          <p:cNvPr id="157698" name="Picture 2"/>
          <p:cNvPicPr>
            <a:picLocks noChangeAspect="1" noChangeArrowheads="1"/>
          </p:cNvPicPr>
          <p:nvPr/>
        </p:nvPicPr>
        <p:blipFill>
          <a:blip r:embed="rId2" cstate="print"/>
          <a:srcRect/>
          <a:stretch>
            <a:fillRect/>
          </a:stretch>
        </p:blipFill>
        <p:spPr bwMode="auto">
          <a:xfrm>
            <a:off x="107504" y="1484784"/>
            <a:ext cx="8899636" cy="151216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8" name="Picture 4"/>
          <p:cNvPicPr>
            <a:picLocks noChangeAspect="1" noChangeArrowheads="1"/>
          </p:cNvPicPr>
          <p:nvPr/>
        </p:nvPicPr>
        <p:blipFill>
          <a:blip r:embed="rId3" cstate="print"/>
          <a:srcRect/>
          <a:stretch>
            <a:fillRect/>
          </a:stretch>
        </p:blipFill>
        <p:spPr bwMode="auto">
          <a:xfrm>
            <a:off x="323528" y="3068960"/>
            <a:ext cx="7717906" cy="364502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066726"/>
            <a:ext cx="8229600" cy="634082"/>
          </a:xfrm>
        </p:spPr>
        <p:txBody>
          <a:bodyPr/>
          <a:lstStyle/>
          <a:p>
            <a:r>
              <a:rPr lang="zh-CN" altLang="en-US" sz="3200" b="1" dirty="0" smtClean="0">
                <a:solidFill>
                  <a:srgbClr val="0000CC"/>
                </a:solidFill>
                <a:latin typeface="黑体" pitchFamily="49" charset="-122"/>
                <a:ea typeface="黑体" pitchFamily="49" charset="-122"/>
              </a:rPr>
              <a:t>对各变量的数据作标准化处理</a:t>
            </a:r>
            <a:endParaRPr lang="zh-CN" altLang="en-US" sz="3200" b="1" dirty="0">
              <a:solidFill>
                <a:srgbClr val="0000CC"/>
              </a:solidFill>
              <a:latin typeface="黑体" pitchFamily="49" charset="-122"/>
              <a:ea typeface="黑体" pitchFamily="49" charset="-122"/>
            </a:endParaRPr>
          </a:p>
        </p:txBody>
      </p:sp>
      <p:sp>
        <p:nvSpPr>
          <p:cNvPr id="3" name="内容占位符 2"/>
          <p:cNvSpPr>
            <a:spLocks noGrp="1"/>
          </p:cNvSpPr>
          <p:nvPr>
            <p:ph idx="1"/>
          </p:nvPr>
        </p:nvSpPr>
        <p:spPr>
          <a:xfrm>
            <a:off x="313184" y="1844824"/>
            <a:ext cx="8363272" cy="2232248"/>
          </a:xfrm>
        </p:spPr>
        <p:txBody>
          <a:bodyPr/>
          <a:lstStyle/>
          <a:p>
            <a:pPr>
              <a:buFont typeface="Wingdings" pitchFamily="2" charset="2"/>
              <a:buChar char="n"/>
            </a:pPr>
            <a:r>
              <a:rPr lang="zh-CN" altLang="en-US" sz="2800" dirty="0" smtClean="0">
                <a:latin typeface="黑体" pitchFamily="49" charset="-122"/>
                <a:ea typeface="黑体" pitchFamily="49" charset="-122"/>
              </a:rPr>
              <a:t>当各变量的单位不同或测量值范围相差很大时，应先对各变量的数据作</a:t>
            </a:r>
            <a:r>
              <a:rPr lang="zh-CN" altLang="en-US" sz="2800" dirty="0" smtClean="0">
                <a:solidFill>
                  <a:srgbClr val="FF0000"/>
                </a:solidFill>
                <a:latin typeface="黑体" pitchFamily="49" charset="-122"/>
                <a:ea typeface="黑体" pitchFamily="49" charset="-122"/>
              </a:rPr>
              <a:t>标准化处理</a:t>
            </a:r>
            <a:r>
              <a:rPr lang="zh-CN" altLang="en-US"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a:p>
            <a:pPr>
              <a:buFont typeface="Wingdings" pitchFamily="2" charset="2"/>
              <a:buChar char="n"/>
            </a:pPr>
            <a:endParaRPr lang="en-US" altLang="zh-CN" sz="2800" dirty="0" smtClean="0">
              <a:latin typeface="黑体" pitchFamily="49" charset="-122"/>
              <a:ea typeface="黑体" pitchFamily="49" charset="-122"/>
            </a:endParaRPr>
          </a:p>
          <a:p>
            <a:pPr>
              <a:buFont typeface="Wingdings" pitchFamily="2" charset="2"/>
              <a:buChar char="n"/>
            </a:pPr>
            <a:r>
              <a:rPr lang="zh-CN" altLang="en-US" sz="2800" dirty="0" smtClean="0">
                <a:latin typeface="黑体" pitchFamily="49" charset="-122"/>
                <a:ea typeface="黑体" pitchFamily="49" charset="-122"/>
              </a:rPr>
              <a:t>最常用的标准化处理是：</a:t>
            </a: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12</a:t>
            </a:fld>
            <a:endParaRPr lang="zh-CN" altLang="en-US"/>
          </a:p>
        </p:txBody>
      </p:sp>
      <p:pic>
        <p:nvPicPr>
          <p:cNvPr id="158723" name="Picture 3"/>
          <p:cNvPicPr>
            <a:picLocks noChangeAspect="1" noChangeArrowheads="1"/>
          </p:cNvPicPr>
          <p:nvPr/>
        </p:nvPicPr>
        <p:blipFill>
          <a:blip r:embed="rId2" cstate="print"/>
          <a:srcRect/>
          <a:stretch>
            <a:fillRect/>
          </a:stretch>
        </p:blipFill>
        <p:spPr bwMode="auto">
          <a:xfrm>
            <a:off x="683568" y="4140278"/>
            <a:ext cx="7560840" cy="2169042"/>
          </a:xfrm>
          <a:prstGeom prst="rect">
            <a:avLst/>
          </a:prstGeom>
          <a:noFill/>
          <a:ln w="9525">
            <a:noFill/>
            <a:miter lim="800000"/>
            <a:headEnd/>
            <a:tailEnd/>
          </a:ln>
        </p:spPr>
      </p:pic>
      <p:sp>
        <p:nvSpPr>
          <p:cNvPr id="7" name="矩形 6"/>
          <p:cNvSpPr/>
          <p:nvPr/>
        </p:nvSpPr>
        <p:spPr>
          <a:xfrm>
            <a:off x="2483768" y="260648"/>
            <a:ext cx="3929281" cy="646331"/>
          </a:xfrm>
          <a:prstGeom prst="rect">
            <a:avLst/>
          </a:prstGeom>
        </p:spPr>
        <p:txBody>
          <a:bodyPr wrap="none">
            <a:spAutoFit/>
          </a:bodyPr>
          <a:lstStyle/>
          <a:p>
            <a:r>
              <a:rPr lang="en-US" altLang="zh-CN" sz="3600" b="1" u="sng" dirty="0" smtClean="0">
                <a:solidFill>
                  <a:srgbClr val="C00000"/>
                </a:solidFill>
                <a:latin typeface="Arial" pitchFamily="34" charset="0"/>
                <a:ea typeface="黑体" pitchFamily="49" charset="-122"/>
                <a:cs typeface="Arial" pitchFamily="34" charset="0"/>
              </a:rPr>
              <a:t>2. </a:t>
            </a:r>
            <a:r>
              <a:rPr lang="zh-CN" altLang="en-US" sz="3600" b="1" u="sng" dirty="0" smtClean="0">
                <a:solidFill>
                  <a:srgbClr val="C00000"/>
                </a:solidFill>
                <a:latin typeface="Arial" pitchFamily="34" charset="0"/>
                <a:ea typeface="黑体" pitchFamily="49" charset="-122"/>
                <a:cs typeface="Arial" pitchFamily="34" charset="0"/>
              </a:rPr>
              <a:t>计算相似性矩阵</a:t>
            </a:r>
            <a:endParaRPr lang="zh-CN" altLang="en-US" sz="3600" b="1" u="sng" dirty="0">
              <a:solidFill>
                <a:srgbClr val="C00000"/>
              </a:solidFill>
              <a:latin typeface="Arial" pitchFamily="34" charset="0"/>
              <a:ea typeface="黑体" pitchFamily="49" charset="-122"/>
              <a:cs typeface="Arial"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504" y="1052736"/>
            <a:ext cx="8820472" cy="2952328"/>
          </a:xfrm>
        </p:spPr>
        <p:txBody>
          <a:bodyPr/>
          <a:lstStyle/>
          <a:p>
            <a:pPr>
              <a:buFont typeface="Wingdings" pitchFamily="2" charset="2"/>
              <a:buChar char="n"/>
            </a:pPr>
            <a:r>
              <a:rPr lang="zh-CN" altLang="en-US" sz="2800" dirty="0" smtClean="0">
                <a:latin typeface="黑体" pitchFamily="49" charset="-122"/>
                <a:ea typeface="黑体" pitchFamily="49" charset="-122"/>
              </a:rPr>
              <a:t>对基因表达数据进行聚类分析之前，必须进行相似程度分析，并且对结果进行量化；</a:t>
            </a:r>
            <a:endParaRPr lang="en-US" altLang="zh-CN" sz="2800" dirty="0" smtClean="0">
              <a:latin typeface="黑体" pitchFamily="49" charset="-122"/>
              <a:ea typeface="黑体" pitchFamily="49" charset="-122"/>
            </a:endParaRPr>
          </a:p>
          <a:p>
            <a:pPr>
              <a:buNone/>
            </a:pPr>
            <a:endParaRPr lang="en-US" altLang="zh-CN" sz="2800" dirty="0" smtClean="0">
              <a:latin typeface="黑体" pitchFamily="49" charset="-122"/>
              <a:ea typeface="黑体" pitchFamily="49" charset="-122"/>
            </a:endParaRPr>
          </a:p>
          <a:p>
            <a:pPr>
              <a:buFont typeface="Wingdings" pitchFamily="2" charset="2"/>
              <a:buChar char="n"/>
            </a:pPr>
            <a:r>
              <a:rPr lang="zh-CN" altLang="en-US" sz="2800" dirty="0" smtClean="0">
                <a:latin typeface="黑体" pitchFamily="49" charset="-122"/>
                <a:ea typeface="黑体" pitchFamily="49" charset="-122"/>
              </a:rPr>
              <a:t>在实际计算中，</a:t>
            </a:r>
            <a:r>
              <a:rPr lang="zh-CN" altLang="en-US" sz="2800" b="1" dirty="0" smtClean="0">
                <a:solidFill>
                  <a:srgbClr val="FF0000"/>
                </a:solidFill>
                <a:latin typeface="黑体" pitchFamily="49" charset="-122"/>
                <a:ea typeface="黑体" pitchFamily="49" charset="-122"/>
              </a:rPr>
              <a:t>往往以距离代替相似的概念</a:t>
            </a:r>
            <a:r>
              <a:rPr lang="zh-CN" altLang="en-US" sz="2800" dirty="0" smtClean="0">
                <a:latin typeface="黑体" pitchFamily="49" charset="-122"/>
                <a:ea typeface="黑体" pitchFamily="49" charset="-122"/>
              </a:rPr>
              <a:t>，相似性度量被转化为两个基因表达模式之间的距离。距离越小，表达模式越相似，反之，则表达模式差异大。</a:t>
            </a: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13</a:t>
            </a:fld>
            <a:endParaRPr lang="zh-CN" altLang="en-US"/>
          </a:p>
        </p:txBody>
      </p:sp>
      <p:pic>
        <p:nvPicPr>
          <p:cNvPr id="159746" name="Picture 2"/>
          <p:cNvPicPr>
            <a:picLocks noChangeAspect="1" noChangeArrowheads="1"/>
          </p:cNvPicPr>
          <p:nvPr/>
        </p:nvPicPr>
        <p:blipFill>
          <a:blip r:embed="rId2" cstate="print"/>
          <a:srcRect/>
          <a:stretch>
            <a:fillRect/>
          </a:stretch>
        </p:blipFill>
        <p:spPr bwMode="auto">
          <a:xfrm>
            <a:off x="1331640" y="4189273"/>
            <a:ext cx="6519124" cy="2408543"/>
          </a:xfrm>
          <a:prstGeom prst="rect">
            <a:avLst/>
          </a:prstGeom>
          <a:noFill/>
          <a:ln w="9525">
            <a:noFill/>
            <a:miter lim="800000"/>
            <a:headEnd/>
            <a:tailEnd/>
          </a:ln>
        </p:spPr>
      </p:pic>
      <p:sp>
        <p:nvSpPr>
          <p:cNvPr id="7" name="矩形 6"/>
          <p:cNvSpPr/>
          <p:nvPr/>
        </p:nvSpPr>
        <p:spPr>
          <a:xfrm>
            <a:off x="2771800" y="323945"/>
            <a:ext cx="3467616" cy="584775"/>
          </a:xfrm>
          <a:prstGeom prst="rect">
            <a:avLst/>
          </a:prstGeom>
        </p:spPr>
        <p:txBody>
          <a:bodyPr wrap="none">
            <a:spAutoFit/>
          </a:bodyPr>
          <a:lstStyle/>
          <a:p>
            <a:r>
              <a:rPr lang="zh-CN" altLang="en-US" sz="3200" b="1" dirty="0" smtClean="0">
                <a:solidFill>
                  <a:srgbClr val="0000CC"/>
                </a:solidFill>
                <a:latin typeface="黑体" pitchFamily="49" charset="-122"/>
                <a:ea typeface="黑体" pitchFamily="49" charset="-122"/>
              </a:rPr>
              <a:t>相似性的不同定义</a:t>
            </a:r>
            <a:endParaRPr lang="zh-CN" altLang="en-US" sz="3200" b="1" dirty="0">
              <a:solidFill>
                <a:srgbClr val="0000CC"/>
              </a:solidFill>
              <a:latin typeface="黑体" pitchFamily="49" charset="-122"/>
              <a:ea typeface="黑体" pitchFamily="49"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476672"/>
            <a:ext cx="8856984" cy="5976664"/>
          </a:xfrm>
        </p:spPr>
        <p:txBody>
          <a:bodyPr/>
          <a:lstStyle/>
          <a:p>
            <a:pPr>
              <a:buFont typeface="Wingdings" pitchFamily="2" charset="2"/>
              <a:buChar char="n"/>
            </a:pPr>
            <a:r>
              <a:rPr lang="zh-CN" altLang="en-US" sz="2800" dirty="0" smtClean="0">
                <a:latin typeface="Arial" pitchFamily="34" charset="0"/>
                <a:ea typeface="黑体" pitchFamily="49" charset="-122"/>
                <a:cs typeface="Arial" pitchFamily="34" charset="0"/>
              </a:rPr>
              <a:t>按照距离远近程度来聚类，需要明确两个概念：一个是</a:t>
            </a:r>
            <a:r>
              <a:rPr lang="zh-CN" altLang="en-US" sz="2800" dirty="0" smtClean="0">
                <a:solidFill>
                  <a:srgbClr val="FF0000"/>
                </a:solidFill>
                <a:latin typeface="Arial" pitchFamily="34" charset="0"/>
                <a:ea typeface="黑体" pitchFamily="49" charset="-122"/>
                <a:cs typeface="Arial" pitchFamily="34" charset="0"/>
              </a:rPr>
              <a:t>点和点之间的距离</a:t>
            </a:r>
            <a:r>
              <a:rPr lang="zh-CN" altLang="en-US" sz="2800" dirty="0" smtClean="0">
                <a:latin typeface="Arial" pitchFamily="34" charset="0"/>
                <a:ea typeface="黑体" pitchFamily="49" charset="-122"/>
                <a:cs typeface="Arial" pitchFamily="34" charset="0"/>
              </a:rPr>
              <a:t>，一个是</a:t>
            </a:r>
            <a:r>
              <a:rPr lang="zh-CN" altLang="en-US" sz="2800" dirty="0" smtClean="0">
                <a:solidFill>
                  <a:srgbClr val="FF0000"/>
                </a:solidFill>
                <a:latin typeface="Arial" pitchFamily="34" charset="0"/>
                <a:ea typeface="黑体" pitchFamily="49" charset="-122"/>
                <a:cs typeface="Arial" pitchFamily="34" charset="0"/>
              </a:rPr>
              <a:t>类和类之间的距离</a:t>
            </a:r>
            <a:r>
              <a:rPr lang="zh-CN" altLang="en-US" sz="2800" dirty="0" smtClean="0">
                <a:latin typeface="Arial" pitchFamily="34" charset="0"/>
                <a:ea typeface="黑体" pitchFamily="49" charset="-122"/>
                <a:cs typeface="Arial" pitchFamily="34" charset="0"/>
              </a:rPr>
              <a:t>；</a:t>
            </a:r>
            <a:endParaRPr lang="en-US" altLang="zh-CN" sz="2800" dirty="0" smtClean="0">
              <a:latin typeface="Arial" pitchFamily="34" charset="0"/>
              <a:ea typeface="黑体" pitchFamily="49" charset="-122"/>
              <a:cs typeface="Arial" pitchFamily="34" charset="0"/>
            </a:endParaRPr>
          </a:p>
          <a:p>
            <a:pPr>
              <a:buFont typeface="Wingdings" pitchFamily="2" charset="2"/>
              <a:buChar char="n"/>
            </a:pPr>
            <a:endParaRPr lang="zh-CN" altLang="en-US" sz="2800" dirty="0" smtClean="0">
              <a:latin typeface="Arial" pitchFamily="34" charset="0"/>
              <a:ea typeface="黑体" pitchFamily="49" charset="-122"/>
              <a:cs typeface="Arial" pitchFamily="34" charset="0"/>
            </a:endParaRPr>
          </a:p>
          <a:p>
            <a:pPr>
              <a:buFont typeface="Wingdings" pitchFamily="2" charset="2"/>
              <a:buChar char="n"/>
            </a:pPr>
            <a:r>
              <a:rPr lang="zh-CN" altLang="en-US" sz="2800" dirty="0" smtClean="0">
                <a:latin typeface="Arial" pitchFamily="34" charset="0"/>
                <a:ea typeface="黑体" pitchFamily="49" charset="-122"/>
                <a:cs typeface="Arial" pitchFamily="34" charset="0"/>
              </a:rPr>
              <a:t>点间距离有很多定义方式：</a:t>
            </a:r>
            <a:r>
              <a:rPr lang="zh-CN" altLang="en-US" sz="2800" dirty="0" smtClean="0">
                <a:solidFill>
                  <a:srgbClr val="FF0000"/>
                </a:solidFill>
                <a:latin typeface="Arial" pitchFamily="34" charset="0"/>
                <a:ea typeface="黑体" pitchFamily="49" charset="-122"/>
                <a:cs typeface="Arial" pitchFamily="34" charset="0"/>
              </a:rPr>
              <a:t>最简单的是欧氏距离；</a:t>
            </a:r>
            <a:endParaRPr lang="en-US" altLang="zh-CN" sz="2800" dirty="0" smtClean="0">
              <a:solidFill>
                <a:srgbClr val="FF0000"/>
              </a:solidFill>
              <a:latin typeface="Arial" pitchFamily="34" charset="0"/>
              <a:ea typeface="黑体" pitchFamily="49" charset="-122"/>
              <a:cs typeface="Arial" pitchFamily="34" charset="0"/>
            </a:endParaRPr>
          </a:p>
          <a:p>
            <a:pPr>
              <a:buFont typeface="Wingdings" pitchFamily="2" charset="2"/>
              <a:buChar char="n"/>
            </a:pPr>
            <a:endParaRPr lang="zh-CN" altLang="en-US" sz="2800" dirty="0" smtClean="0">
              <a:latin typeface="Arial" pitchFamily="34" charset="0"/>
              <a:ea typeface="黑体" pitchFamily="49" charset="-122"/>
              <a:cs typeface="Arial" pitchFamily="34" charset="0"/>
            </a:endParaRPr>
          </a:p>
          <a:p>
            <a:pPr>
              <a:buFont typeface="Wingdings" pitchFamily="2" charset="2"/>
              <a:buChar char="n"/>
            </a:pPr>
            <a:r>
              <a:rPr lang="zh-CN" altLang="en-US" sz="2800" dirty="0" smtClean="0">
                <a:latin typeface="Arial" pitchFamily="34" charset="0"/>
                <a:ea typeface="黑体" pitchFamily="49" charset="-122"/>
                <a:cs typeface="Arial" pitchFamily="34" charset="0"/>
              </a:rPr>
              <a:t>类间距离是基于点间距离定义的，比如</a:t>
            </a:r>
            <a:endParaRPr lang="en-US" altLang="zh-CN" sz="2800" dirty="0" smtClean="0">
              <a:latin typeface="Arial" pitchFamily="34" charset="0"/>
              <a:ea typeface="黑体" pitchFamily="49" charset="-122"/>
              <a:cs typeface="Arial" pitchFamily="34" charset="0"/>
            </a:endParaRPr>
          </a:p>
          <a:p>
            <a:pPr lvl="1">
              <a:buFont typeface="Wingdings" pitchFamily="2" charset="2"/>
              <a:buChar char="n"/>
            </a:pPr>
            <a:r>
              <a:rPr lang="zh-CN" altLang="en-US" sz="2400" dirty="0" smtClean="0">
                <a:latin typeface="Arial" pitchFamily="34" charset="0"/>
                <a:ea typeface="黑体" pitchFamily="49" charset="-122"/>
                <a:cs typeface="Arial" pitchFamily="34" charset="0"/>
              </a:rPr>
              <a:t>两类中最近点之间的距离；</a:t>
            </a:r>
            <a:endParaRPr lang="en-US" altLang="zh-CN" sz="2400" dirty="0" smtClean="0">
              <a:latin typeface="Arial" pitchFamily="34" charset="0"/>
              <a:ea typeface="黑体" pitchFamily="49" charset="-122"/>
              <a:cs typeface="Arial" pitchFamily="34" charset="0"/>
            </a:endParaRPr>
          </a:p>
          <a:p>
            <a:pPr lvl="1">
              <a:buFont typeface="Wingdings" pitchFamily="2" charset="2"/>
              <a:buChar char="n"/>
            </a:pPr>
            <a:r>
              <a:rPr lang="zh-CN" altLang="en-US" sz="2400" dirty="0" smtClean="0">
                <a:latin typeface="Arial" pitchFamily="34" charset="0"/>
                <a:ea typeface="黑体" pitchFamily="49" charset="-122"/>
                <a:cs typeface="Arial" pitchFamily="34" charset="0"/>
              </a:rPr>
              <a:t>两类中最远点之间的距离；</a:t>
            </a:r>
            <a:endParaRPr lang="en-US" altLang="zh-CN" sz="2400" dirty="0" smtClean="0">
              <a:latin typeface="Arial" pitchFamily="34" charset="0"/>
              <a:ea typeface="黑体" pitchFamily="49" charset="-122"/>
              <a:cs typeface="Arial" pitchFamily="34" charset="0"/>
            </a:endParaRPr>
          </a:p>
          <a:p>
            <a:pPr lvl="1">
              <a:buFont typeface="Wingdings" pitchFamily="2" charset="2"/>
              <a:buChar char="n"/>
            </a:pPr>
            <a:r>
              <a:rPr lang="zh-CN" altLang="en-US" sz="2400" dirty="0" smtClean="0">
                <a:latin typeface="Arial" pitchFamily="34" charset="0"/>
                <a:ea typeface="黑体" pitchFamily="49" charset="-122"/>
                <a:cs typeface="Arial" pitchFamily="34" charset="0"/>
              </a:rPr>
              <a:t>各类的中心之间的距离；</a:t>
            </a:r>
            <a:endParaRPr lang="en-US" altLang="zh-CN" sz="2400" dirty="0" smtClean="0">
              <a:latin typeface="Arial" pitchFamily="34" charset="0"/>
              <a:ea typeface="黑体" pitchFamily="49" charset="-122"/>
              <a:cs typeface="Arial" pitchFamily="34" charset="0"/>
            </a:endParaRPr>
          </a:p>
          <a:p>
            <a:pPr>
              <a:buFont typeface="Wingdings" pitchFamily="2" charset="2"/>
              <a:buChar char="n"/>
            </a:pPr>
            <a:endParaRPr lang="en-US" altLang="zh-CN" sz="2800" dirty="0" smtClean="0">
              <a:latin typeface="Arial" pitchFamily="34" charset="0"/>
              <a:ea typeface="黑体" pitchFamily="49" charset="-122"/>
              <a:cs typeface="Arial" pitchFamily="34" charset="0"/>
            </a:endParaRPr>
          </a:p>
          <a:p>
            <a:pPr>
              <a:buFont typeface="Wingdings" pitchFamily="2" charset="2"/>
              <a:buChar char="n"/>
            </a:pPr>
            <a:r>
              <a:rPr lang="zh-CN" altLang="en-US" sz="2800" dirty="0" smtClean="0">
                <a:latin typeface="Arial" pitchFamily="34" charset="0"/>
                <a:ea typeface="黑体" pitchFamily="49" charset="-122"/>
                <a:cs typeface="Arial" pitchFamily="34" charset="0"/>
              </a:rPr>
              <a:t>在计算时，各种点间距离和类间距离的选择是通过统计软件的选项实现的。</a:t>
            </a: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14</a:t>
            </a:fld>
            <a:endParaRPr lang="zh-CN" alt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332656"/>
            <a:ext cx="8229600" cy="724942"/>
          </a:xfrm>
        </p:spPr>
        <p:txBody>
          <a:bodyPr/>
          <a:lstStyle/>
          <a:p>
            <a:r>
              <a:rPr lang="zh-CN" altLang="en-US" sz="3200" b="1" dirty="0" smtClean="0">
                <a:solidFill>
                  <a:srgbClr val="0000CC"/>
                </a:solidFill>
                <a:latin typeface="黑体" pitchFamily="49" charset="-122"/>
                <a:ea typeface="黑体" pitchFamily="49" charset="-122"/>
              </a:rPr>
              <a:t>常用的距离</a:t>
            </a:r>
            <a:endParaRPr lang="zh-CN" altLang="en-US" sz="3200" b="1" dirty="0">
              <a:solidFill>
                <a:srgbClr val="0000CC"/>
              </a:solidFill>
              <a:latin typeface="黑体" pitchFamily="49" charset="-122"/>
              <a:ea typeface="黑体" pitchFamily="49" charset="-122"/>
            </a:endParaRPr>
          </a:p>
        </p:txBody>
      </p:sp>
      <p:sp>
        <p:nvSpPr>
          <p:cNvPr id="3" name="内容占位符 2"/>
          <p:cNvSpPr>
            <a:spLocks noGrp="1"/>
          </p:cNvSpPr>
          <p:nvPr>
            <p:ph idx="1"/>
          </p:nvPr>
        </p:nvSpPr>
        <p:spPr>
          <a:xfrm>
            <a:off x="251520" y="1268761"/>
            <a:ext cx="8496944" cy="5112567"/>
          </a:xfrm>
        </p:spPr>
        <p:txBody>
          <a:bodyPr/>
          <a:lstStyle/>
          <a:p>
            <a:pPr marL="342900" lvl="1" indent="-342900">
              <a:buFont typeface="Wingdings" pitchFamily="2" charset="2"/>
              <a:buChar char="n"/>
            </a:pPr>
            <a:r>
              <a:rPr lang="zh-CN" altLang="en-US" dirty="0" smtClean="0">
                <a:latin typeface="Arial" pitchFamily="34" charset="0"/>
                <a:ea typeface="黑体" pitchFamily="49" charset="-122"/>
                <a:cs typeface="Arial" pitchFamily="34" charset="0"/>
              </a:rPr>
              <a:t>明考夫斯基</a:t>
            </a:r>
            <a:r>
              <a:rPr lang="en-US" altLang="zh-CN" dirty="0" smtClean="0">
                <a:latin typeface="Arial" pitchFamily="34" charset="0"/>
                <a:ea typeface="黑体" pitchFamily="49" charset="-122"/>
                <a:cs typeface="Arial" pitchFamily="34" charset="0"/>
              </a:rPr>
              <a:t>(</a:t>
            </a:r>
            <a:r>
              <a:rPr lang="en-US" altLang="zh-CN" dirty="0" err="1" smtClean="0">
                <a:latin typeface="Arial" pitchFamily="34" charset="0"/>
                <a:ea typeface="黑体" pitchFamily="49" charset="-122"/>
                <a:cs typeface="Arial" pitchFamily="34" charset="0"/>
              </a:rPr>
              <a:t>Minkowski</a:t>
            </a:r>
            <a:r>
              <a:rPr lang="en-US" altLang="zh-CN" dirty="0" smtClean="0">
                <a:latin typeface="Arial" pitchFamily="34" charset="0"/>
                <a:ea typeface="黑体" pitchFamily="49" charset="-122"/>
                <a:cs typeface="Arial" pitchFamily="34" charset="0"/>
              </a:rPr>
              <a:t>)</a:t>
            </a:r>
            <a:r>
              <a:rPr lang="zh-CN" altLang="en-US" dirty="0" smtClean="0">
                <a:latin typeface="Arial" pitchFamily="34" charset="0"/>
                <a:ea typeface="黑体" pitchFamily="49" charset="-122"/>
                <a:cs typeface="Arial" pitchFamily="34" charset="0"/>
              </a:rPr>
              <a:t>距离：</a:t>
            </a:r>
            <a:r>
              <a:rPr lang="zh-CN" altLang="en-US" dirty="0" smtClean="0">
                <a:latin typeface="黑体" pitchFamily="49" charset="-122"/>
                <a:ea typeface="黑体" pitchFamily="49" charset="-122"/>
                <a:cs typeface="Arial" pitchFamily="34" charset="0"/>
              </a:rPr>
              <a:t>包括</a:t>
            </a:r>
            <a:r>
              <a:rPr lang="zh-CN" altLang="en-US" dirty="0" smtClean="0">
                <a:latin typeface="黑体" pitchFamily="49" charset="-122"/>
                <a:ea typeface="黑体" pitchFamily="49" charset="-122"/>
              </a:rPr>
              <a:t>三种特殊形式</a:t>
            </a:r>
            <a:endParaRPr lang="en-US" altLang="zh-CN" dirty="0" smtClean="0">
              <a:latin typeface="黑体" pitchFamily="49" charset="-122"/>
              <a:ea typeface="黑体" pitchFamily="49" charset="-122"/>
            </a:endParaRPr>
          </a:p>
          <a:p>
            <a:pPr marL="742950" lvl="2" indent="-342900">
              <a:buFont typeface="Wingdings" pitchFamily="2" charset="2"/>
              <a:buChar char="n"/>
            </a:pPr>
            <a:r>
              <a:rPr lang="zh-CN" altLang="en-US" dirty="0" smtClean="0">
                <a:latin typeface="Arial" pitchFamily="34" charset="0"/>
                <a:ea typeface="黑体" pitchFamily="49" charset="-122"/>
                <a:cs typeface="Arial" pitchFamily="34" charset="0"/>
              </a:rPr>
              <a:t>绝对值距离</a:t>
            </a:r>
            <a:endParaRPr lang="en-US" altLang="zh-CN" dirty="0" smtClean="0">
              <a:latin typeface="Arial" pitchFamily="34" charset="0"/>
              <a:ea typeface="黑体" pitchFamily="49" charset="-122"/>
              <a:cs typeface="Arial" pitchFamily="34" charset="0"/>
            </a:endParaRPr>
          </a:p>
          <a:p>
            <a:pPr marL="742950" lvl="2" indent="-342900">
              <a:buFont typeface="Wingdings" pitchFamily="2" charset="2"/>
              <a:buChar char="n"/>
            </a:pPr>
            <a:r>
              <a:rPr lang="zh-CN" altLang="en-US" dirty="0" smtClean="0">
                <a:solidFill>
                  <a:srgbClr val="FF0000"/>
                </a:solidFill>
                <a:latin typeface="Arial" pitchFamily="34" charset="0"/>
                <a:ea typeface="黑体" pitchFamily="49" charset="-122"/>
                <a:cs typeface="Arial" pitchFamily="34" charset="0"/>
              </a:rPr>
              <a:t>欧氏距离</a:t>
            </a:r>
            <a:endParaRPr lang="en-US" altLang="zh-CN" dirty="0" smtClean="0">
              <a:solidFill>
                <a:srgbClr val="FF0000"/>
              </a:solidFill>
              <a:latin typeface="Arial" pitchFamily="34" charset="0"/>
              <a:ea typeface="黑体" pitchFamily="49" charset="-122"/>
              <a:cs typeface="Arial" pitchFamily="34" charset="0"/>
            </a:endParaRPr>
          </a:p>
          <a:p>
            <a:pPr marL="742950" lvl="2" indent="-342900">
              <a:buFont typeface="Wingdings" pitchFamily="2" charset="2"/>
              <a:buChar char="n"/>
            </a:pPr>
            <a:r>
              <a:rPr lang="zh-CN" altLang="en-US" dirty="0" smtClean="0">
                <a:latin typeface="Arial" pitchFamily="34" charset="0"/>
                <a:ea typeface="黑体" pitchFamily="49" charset="-122"/>
                <a:cs typeface="Arial" pitchFamily="34" charset="0"/>
              </a:rPr>
              <a:t>切比雪夫距离</a:t>
            </a:r>
            <a:endParaRPr lang="en-US" altLang="zh-CN" dirty="0" smtClean="0">
              <a:latin typeface="Arial" pitchFamily="34" charset="0"/>
              <a:ea typeface="黑体" pitchFamily="49" charset="-122"/>
              <a:cs typeface="Arial" pitchFamily="34" charset="0"/>
            </a:endParaRPr>
          </a:p>
          <a:p>
            <a:pPr>
              <a:buFont typeface="Wingdings" pitchFamily="2" charset="2"/>
              <a:buChar char="n"/>
            </a:pPr>
            <a:endParaRPr lang="zh-CN" altLang="en-US" sz="2800" dirty="0" smtClean="0">
              <a:latin typeface="Arial" pitchFamily="34" charset="0"/>
              <a:ea typeface="黑体" pitchFamily="49" charset="-122"/>
              <a:cs typeface="Arial" pitchFamily="34" charset="0"/>
            </a:endParaRPr>
          </a:p>
          <a:p>
            <a:pPr>
              <a:buFont typeface="Wingdings" pitchFamily="2" charset="2"/>
              <a:buChar char="n"/>
            </a:pPr>
            <a:r>
              <a:rPr lang="zh-CN" altLang="en-US" sz="2800" dirty="0" smtClean="0">
                <a:latin typeface="Arial" pitchFamily="34" charset="0"/>
                <a:ea typeface="黑体" pitchFamily="49" charset="-122"/>
                <a:cs typeface="Arial" pitchFamily="34" charset="0"/>
              </a:rPr>
              <a:t>兰氏</a:t>
            </a:r>
            <a:r>
              <a:rPr lang="en-US" altLang="zh-CN" sz="2800" dirty="0" smtClean="0">
                <a:latin typeface="Arial" pitchFamily="34" charset="0"/>
                <a:ea typeface="黑体" pitchFamily="49" charset="-122"/>
                <a:cs typeface="Arial" pitchFamily="34" charset="0"/>
              </a:rPr>
              <a:t>(Lance</a:t>
            </a:r>
            <a:r>
              <a:rPr lang="zh-CN" altLang="en-US" sz="2800" dirty="0" smtClean="0">
                <a:latin typeface="Arial" pitchFamily="34" charset="0"/>
                <a:ea typeface="黑体" pitchFamily="49" charset="-122"/>
                <a:cs typeface="Arial" pitchFamily="34" charset="0"/>
              </a:rPr>
              <a:t>和</a:t>
            </a:r>
            <a:r>
              <a:rPr lang="en-US" altLang="zh-CN" sz="2800" dirty="0" smtClean="0">
                <a:latin typeface="Arial" pitchFamily="34" charset="0"/>
                <a:ea typeface="黑体" pitchFamily="49" charset="-122"/>
                <a:cs typeface="Arial" pitchFamily="34" charset="0"/>
              </a:rPr>
              <a:t>Williams)</a:t>
            </a:r>
            <a:r>
              <a:rPr lang="zh-CN" altLang="en-US" sz="2800" dirty="0" smtClean="0">
                <a:latin typeface="Arial" pitchFamily="34" charset="0"/>
                <a:ea typeface="黑体" pitchFamily="49" charset="-122"/>
                <a:cs typeface="Arial" pitchFamily="34" charset="0"/>
              </a:rPr>
              <a:t>距离</a:t>
            </a:r>
          </a:p>
          <a:p>
            <a:pPr>
              <a:buFont typeface="Wingdings" pitchFamily="2" charset="2"/>
              <a:buChar char="n"/>
            </a:pPr>
            <a:endParaRPr lang="en-US" altLang="zh-CN" sz="2800" dirty="0" smtClean="0">
              <a:latin typeface="Arial" pitchFamily="34" charset="0"/>
              <a:ea typeface="黑体" pitchFamily="49" charset="-122"/>
              <a:cs typeface="Arial" pitchFamily="34" charset="0"/>
            </a:endParaRPr>
          </a:p>
          <a:p>
            <a:pPr>
              <a:buFont typeface="Wingdings" pitchFamily="2" charset="2"/>
              <a:buChar char="n"/>
            </a:pPr>
            <a:r>
              <a:rPr lang="zh-CN" altLang="en-US" sz="2800" dirty="0" smtClean="0">
                <a:latin typeface="Arial" pitchFamily="34" charset="0"/>
                <a:ea typeface="黑体" pitchFamily="49" charset="-122"/>
                <a:cs typeface="Arial" pitchFamily="34" charset="0"/>
              </a:rPr>
              <a:t>马氏</a:t>
            </a:r>
            <a:r>
              <a:rPr lang="en-US" altLang="zh-CN" sz="2800" dirty="0" smtClean="0">
                <a:latin typeface="Arial" pitchFamily="34" charset="0"/>
                <a:ea typeface="黑体" pitchFamily="49" charset="-122"/>
                <a:cs typeface="Arial" pitchFamily="34" charset="0"/>
              </a:rPr>
              <a:t>(</a:t>
            </a:r>
            <a:r>
              <a:rPr lang="en-US" altLang="zh-CN" sz="2800" dirty="0" err="1" smtClean="0">
                <a:latin typeface="Arial" pitchFamily="34" charset="0"/>
                <a:ea typeface="黑体" pitchFamily="49" charset="-122"/>
                <a:cs typeface="Arial" pitchFamily="34" charset="0"/>
              </a:rPr>
              <a:t>Mahalanobis</a:t>
            </a:r>
            <a:r>
              <a:rPr lang="en-US" altLang="zh-CN" sz="2800" dirty="0" smtClean="0">
                <a:latin typeface="Arial" pitchFamily="34" charset="0"/>
                <a:ea typeface="黑体" pitchFamily="49" charset="-122"/>
                <a:cs typeface="Arial" pitchFamily="34" charset="0"/>
              </a:rPr>
              <a:t>)</a:t>
            </a:r>
            <a:r>
              <a:rPr lang="zh-CN" altLang="en-US" sz="2800" dirty="0" smtClean="0">
                <a:latin typeface="Arial" pitchFamily="34" charset="0"/>
                <a:ea typeface="黑体" pitchFamily="49" charset="-122"/>
                <a:cs typeface="Arial" pitchFamily="34" charset="0"/>
              </a:rPr>
              <a:t>距离</a:t>
            </a:r>
            <a:endParaRPr lang="en-US" altLang="zh-CN" sz="2800" dirty="0" smtClean="0">
              <a:latin typeface="Arial" pitchFamily="34" charset="0"/>
              <a:ea typeface="黑体" pitchFamily="49" charset="-122"/>
              <a:cs typeface="Arial" pitchFamily="34" charset="0"/>
            </a:endParaRPr>
          </a:p>
          <a:p>
            <a:pPr>
              <a:buFont typeface="Wingdings" pitchFamily="2" charset="2"/>
              <a:buChar char="n"/>
            </a:pPr>
            <a:endParaRPr lang="en-US" altLang="zh-CN" sz="2800" dirty="0" smtClean="0">
              <a:latin typeface="Arial" pitchFamily="34" charset="0"/>
              <a:ea typeface="黑体" pitchFamily="49" charset="-122"/>
              <a:cs typeface="Arial" pitchFamily="34" charset="0"/>
            </a:endParaRPr>
          </a:p>
          <a:p>
            <a:pPr>
              <a:buFont typeface="Wingdings" pitchFamily="2" charset="2"/>
              <a:buChar char="n"/>
            </a:pPr>
            <a:r>
              <a:rPr lang="zh-CN" altLang="en-US" sz="2800" dirty="0" smtClean="0">
                <a:latin typeface="Arial" pitchFamily="34" charset="0"/>
                <a:ea typeface="黑体" pitchFamily="49" charset="-122"/>
                <a:cs typeface="Arial" pitchFamily="34" charset="0"/>
              </a:rPr>
              <a:t>其他：如相关性（</a:t>
            </a:r>
            <a:r>
              <a:rPr lang="en-US" altLang="zh-CN" sz="2800" dirty="0" smtClean="0">
                <a:latin typeface="Arial" pitchFamily="34" charset="0"/>
                <a:cs typeface="Arial" pitchFamily="34" charset="0"/>
              </a:rPr>
              <a:t>Pearson correlation</a:t>
            </a:r>
            <a:r>
              <a:rPr lang="zh-CN" altLang="en-US" sz="2800" dirty="0" smtClean="0">
                <a:latin typeface="Arial" pitchFamily="34" charset="0"/>
                <a:cs typeface="Arial" pitchFamily="34" charset="0"/>
              </a:rPr>
              <a:t>）</a:t>
            </a:r>
            <a:r>
              <a:rPr lang="zh-CN" altLang="en-US" sz="2800" dirty="0" smtClean="0">
                <a:latin typeface="黑体" pitchFamily="49" charset="-122"/>
                <a:ea typeface="黑体" pitchFamily="49" charset="-122"/>
                <a:cs typeface="Arial" pitchFamily="34" charset="0"/>
              </a:rPr>
              <a:t>等</a:t>
            </a: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15</a:t>
            </a:fld>
            <a:endParaRPr lang="zh-CN" alt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78098"/>
          </a:xfrm>
        </p:spPr>
        <p:txBody>
          <a:bodyPr/>
          <a:lstStyle/>
          <a:p>
            <a:r>
              <a:rPr lang="zh-CN" altLang="en-US" sz="3200" b="1" dirty="0" smtClean="0">
                <a:solidFill>
                  <a:srgbClr val="FF0000"/>
                </a:solidFill>
                <a:latin typeface="Arial" pitchFamily="34" charset="0"/>
                <a:ea typeface="黑体" pitchFamily="49" charset="-122"/>
                <a:cs typeface="Arial" pitchFamily="34" charset="0"/>
              </a:rPr>
              <a:t>（</a:t>
            </a:r>
            <a:r>
              <a:rPr lang="en-US" altLang="zh-CN" sz="3200" b="1" dirty="0" smtClean="0">
                <a:solidFill>
                  <a:srgbClr val="FF0000"/>
                </a:solidFill>
                <a:latin typeface="Arial" pitchFamily="34" charset="0"/>
                <a:ea typeface="黑体" pitchFamily="49" charset="-122"/>
                <a:cs typeface="Arial" pitchFamily="34" charset="0"/>
              </a:rPr>
              <a:t>1</a:t>
            </a:r>
            <a:r>
              <a:rPr lang="zh-CN" altLang="en-US" sz="3200" b="1" dirty="0" smtClean="0">
                <a:solidFill>
                  <a:srgbClr val="FF0000"/>
                </a:solidFill>
                <a:latin typeface="Arial" pitchFamily="34" charset="0"/>
                <a:ea typeface="黑体" pitchFamily="49" charset="-122"/>
                <a:cs typeface="Arial" pitchFamily="34" charset="0"/>
              </a:rPr>
              <a:t>）明考夫斯基距离</a:t>
            </a:r>
            <a:endParaRPr lang="zh-CN" altLang="en-US" sz="3200" b="1" dirty="0">
              <a:solidFill>
                <a:srgbClr val="FF0000"/>
              </a:solidFill>
              <a:latin typeface="Arial" pitchFamily="34" charset="0"/>
              <a:ea typeface="黑体" pitchFamily="49" charset="-122"/>
              <a:cs typeface="Arial" pitchFamily="34" charset="0"/>
            </a:endParaRPr>
          </a:p>
        </p:txBody>
      </p:sp>
      <p:sp>
        <p:nvSpPr>
          <p:cNvPr id="3" name="内容占位符 2"/>
          <p:cNvSpPr>
            <a:spLocks noGrp="1"/>
          </p:cNvSpPr>
          <p:nvPr>
            <p:ph idx="1"/>
          </p:nvPr>
        </p:nvSpPr>
        <p:spPr>
          <a:xfrm>
            <a:off x="179512" y="1052736"/>
            <a:ext cx="8856984" cy="5400600"/>
          </a:xfrm>
        </p:spPr>
        <p:txBody>
          <a:bodyPr/>
          <a:lstStyle/>
          <a:p>
            <a:pPr>
              <a:buFont typeface="Wingdings" pitchFamily="2" charset="2"/>
              <a:buChar char="n"/>
            </a:pPr>
            <a:r>
              <a:rPr lang="zh-CN" altLang="en-US" sz="2800" dirty="0" smtClean="0">
                <a:latin typeface="Arial" pitchFamily="34" charset="0"/>
                <a:ea typeface="黑体" pitchFamily="49" charset="-122"/>
                <a:cs typeface="Arial" pitchFamily="34" charset="0"/>
              </a:rPr>
              <a:t>第</a:t>
            </a:r>
            <a:r>
              <a:rPr lang="en-US" altLang="zh-CN" sz="2800" dirty="0" err="1" smtClean="0">
                <a:latin typeface="Arial" pitchFamily="34" charset="0"/>
                <a:ea typeface="黑体" pitchFamily="49" charset="-122"/>
                <a:cs typeface="Arial" pitchFamily="34" charset="0"/>
              </a:rPr>
              <a:t>i</a:t>
            </a:r>
            <a:r>
              <a:rPr lang="zh-CN" altLang="en-US" sz="2800" dirty="0" smtClean="0">
                <a:latin typeface="Arial" pitchFamily="34" charset="0"/>
                <a:ea typeface="黑体" pitchFamily="49" charset="-122"/>
                <a:cs typeface="Arial" pitchFamily="34" charset="0"/>
              </a:rPr>
              <a:t>个样本与第</a:t>
            </a:r>
            <a:r>
              <a:rPr lang="en-US" altLang="zh-CN" sz="2800" dirty="0" smtClean="0">
                <a:latin typeface="Arial" pitchFamily="34" charset="0"/>
                <a:ea typeface="黑体" pitchFamily="49" charset="-122"/>
                <a:cs typeface="Arial" pitchFamily="34" charset="0"/>
              </a:rPr>
              <a:t>j</a:t>
            </a:r>
            <a:r>
              <a:rPr lang="zh-CN" altLang="en-US" sz="2800" dirty="0" smtClean="0">
                <a:latin typeface="Arial" pitchFamily="34" charset="0"/>
                <a:ea typeface="黑体" pitchFamily="49" charset="-122"/>
                <a:cs typeface="Arial" pitchFamily="34" charset="0"/>
              </a:rPr>
              <a:t>个样本间的明考夫斯基距离（简称明氏距离）定义为</a:t>
            </a:r>
          </a:p>
          <a:p>
            <a:pPr>
              <a:buFont typeface="Wingdings" pitchFamily="2" charset="2"/>
              <a:buChar char="n"/>
            </a:pPr>
            <a:endParaRPr lang="en-US" altLang="zh-CN" sz="2800" dirty="0" smtClean="0">
              <a:latin typeface="Arial" pitchFamily="34" charset="0"/>
              <a:ea typeface="黑体" pitchFamily="49" charset="-122"/>
              <a:cs typeface="Arial" pitchFamily="34" charset="0"/>
            </a:endParaRPr>
          </a:p>
          <a:p>
            <a:pPr>
              <a:buFont typeface="Wingdings" pitchFamily="2" charset="2"/>
              <a:buChar char="n"/>
            </a:pPr>
            <a:endParaRPr lang="en-US" altLang="zh-CN" sz="2800" dirty="0" smtClean="0">
              <a:latin typeface="Arial" pitchFamily="34" charset="0"/>
              <a:ea typeface="黑体" pitchFamily="49" charset="-122"/>
              <a:cs typeface="Arial" pitchFamily="34" charset="0"/>
            </a:endParaRPr>
          </a:p>
          <a:p>
            <a:pPr>
              <a:buNone/>
            </a:pPr>
            <a:endParaRPr lang="en-US" altLang="zh-CN" sz="2800" dirty="0" smtClean="0">
              <a:latin typeface="Arial" pitchFamily="34" charset="0"/>
              <a:ea typeface="黑体" pitchFamily="49" charset="-122"/>
              <a:cs typeface="Arial" pitchFamily="34" charset="0"/>
            </a:endParaRPr>
          </a:p>
          <a:p>
            <a:pPr>
              <a:buNone/>
            </a:pPr>
            <a:r>
              <a:rPr lang="zh-CN" altLang="en-US" sz="2800" dirty="0" smtClean="0">
                <a:latin typeface="Arial" pitchFamily="34" charset="0"/>
                <a:ea typeface="黑体" pitchFamily="49" charset="-122"/>
                <a:cs typeface="Arial" pitchFamily="34" charset="0"/>
              </a:rPr>
              <a:t> </a:t>
            </a:r>
            <a:r>
              <a:rPr lang="zh-CN" altLang="en-US" sz="2400" dirty="0" smtClean="0">
                <a:latin typeface="Arial" pitchFamily="34" charset="0"/>
                <a:ea typeface="黑体" pitchFamily="49" charset="-122"/>
                <a:cs typeface="Arial" pitchFamily="34" charset="0"/>
              </a:rPr>
              <a:t>这里</a:t>
            </a:r>
            <a:r>
              <a:rPr lang="en-US" altLang="zh-CN" sz="2400" dirty="0" smtClean="0">
                <a:latin typeface="Arial" pitchFamily="34" charset="0"/>
                <a:ea typeface="黑体" pitchFamily="49" charset="-122"/>
                <a:cs typeface="Arial" pitchFamily="34" charset="0"/>
              </a:rPr>
              <a:t>q</a:t>
            </a:r>
            <a:r>
              <a:rPr lang="zh-CN" altLang="en-US" sz="2400" dirty="0" smtClean="0">
                <a:latin typeface="Arial" pitchFamily="34" charset="0"/>
                <a:ea typeface="黑体" pitchFamily="49" charset="-122"/>
                <a:cs typeface="Arial" pitchFamily="34" charset="0"/>
              </a:rPr>
              <a:t>为某一自然数。</a:t>
            </a:r>
            <a:r>
              <a:rPr lang="zh-CN" altLang="en-US" sz="2400" dirty="0" smtClean="0">
                <a:solidFill>
                  <a:srgbClr val="FF0000"/>
                </a:solidFill>
                <a:latin typeface="Arial" pitchFamily="34" charset="0"/>
                <a:ea typeface="黑体" pitchFamily="49" charset="-122"/>
                <a:cs typeface="Arial" pitchFamily="34" charset="0"/>
              </a:rPr>
              <a:t>明氏距离有以下三种特殊形式：</a:t>
            </a:r>
            <a:endParaRPr lang="en-US" altLang="zh-CN" sz="2400" dirty="0" smtClean="0">
              <a:solidFill>
                <a:srgbClr val="FF0000"/>
              </a:solidFill>
              <a:latin typeface="Arial" pitchFamily="34" charset="0"/>
              <a:ea typeface="黑体" pitchFamily="49" charset="-122"/>
              <a:cs typeface="Arial" pitchFamily="34" charset="0"/>
            </a:endParaRPr>
          </a:p>
          <a:p>
            <a:pPr lvl="1">
              <a:buFont typeface="Wingdings" pitchFamily="2" charset="2"/>
              <a:buChar char="n"/>
            </a:pPr>
            <a:r>
              <a:rPr lang="zh-CN" altLang="en-US" sz="2400" dirty="0" smtClean="0">
                <a:latin typeface="Arial" pitchFamily="34" charset="0"/>
                <a:ea typeface="黑体" pitchFamily="49" charset="-122"/>
                <a:cs typeface="Arial" pitchFamily="34" charset="0"/>
              </a:rPr>
              <a:t>当</a:t>
            </a:r>
            <a:r>
              <a:rPr lang="en-US" altLang="zh-CN" sz="2400" dirty="0" smtClean="0">
                <a:latin typeface="Arial" pitchFamily="34" charset="0"/>
                <a:ea typeface="黑体" pitchFamily="49" charset="-122"/>
                <a:cs typeface="Arial" pitchFamily="34" charset="0"/>
              </a:rPr>
              <a:t>q=1</a:t>
            </a:r>
            <a:r>
              <a:rPr lang="zh-CN" altLang="en-US" sz="2400" dirty="0" smtClean="0">
                <a:latin typeface="Arial" pitchFamily="34" charset="0"/>
                <a:ea typeface="黑体" pitchFamily="49" charset="-122"/>
                <a:cs typeface="Arial" pitchFamily="34" charset="0"/>
              </a:rPr>
              <a:t>时，称为绝对值距离（或曼哈顿距离），常被形象地称作“城市街区”距离；</a:t>
            </a:r>
            <a:endParaRPr lang="en-US" altLang="zh-CN" sz="2400" dirty="0" smtClean="0">
              <a:latin typeface="Arial" pitchFamily="34" charset="0"/>
              <a:ea typeface="黑体" pitchFamily="49" charset="-122"/>
              <a:cs typeface="Arial" pitchFamily="34" charset="0"/>
            </a:endParaRPr>
          </a:p>
          <a:p>
            <a:pPr lvl="1">
              <a:buFont typeface="Wingdings" pitchFamily="2" charset="2"/>
              <a:buChar char="n"/>
            </a:pPr>
            <a:r>
              <a:rPr lang="zh-CN" altLang="en-US" sz="2400" dirty="0" smtClean="0">
                <a:latin typeface="Arial" pitchFamily="34" charset="0"/>
                <a:ea typeface="黑体" pitchFamily="49" charset="-122"/>
                <a:cs typeface="Arial" pitchFamily="34" charset="0"/>
              </a:rPr>
              <a:t>当</a:t>
            </a:r>
            <a:r>
              <a:rPr lang="en-US" altLang="zh-CN" sz="2400" dirty="0" smtClean="0">
                <a:latin typeface="Arial" pitchFamily="34" charset="0"/>
                <a:ea typeface="黑体" pitchFamily="49" charset="-122"/>
                <a:cs typeface="Arial" pitchFamily="34" charset="0"/>
              </a:rPr>
              <a:t>q=2</a:t>
            </a:r>
            <a:r>
              <a:rPr lang="zh-CN" altLang="en-US" sz="2400" dirty="0" smtClean="0">
                <a:latin typeface="Arial" pitchFamily="34" charset="0"/>
                <a:ea typeface="黑体" pitchFamily="49" charset="-122"/>
                <a:cs typeface="Arial" pitchFamily="34" charset="0"/>
              </a:rPr>
              <a:t>时，称为</a:t>
            </a:r>
            <a:r>
              <a:rPr lang="zh-CN" altLang="en-US" sz="2400" b="1" dirty="0" smtClean="0">
                <a:solidFill>
                  <a:srgbClr val="FF0000"/>
                </a:solidFill>
                <a:latin typeface="Arial" pitchFamily="34" charset="0"/>
                <a:ea typeface="黑体" pitchFamily="49" charset="-122"/>
                <a:cs typeface="Arial" pitchFamily="34" charset="0"/>
              </a:rPr>
              <a:t>欧氏距离</a:t>
            </a:r>
            <a:r>
              <a:rPr lang="zh-CN" altLang="en-US" sz="2400" dirty="0" smtClean="0">
                <a:latin typeface="Arial" pitchFamily="34" charset="0"/>
                <a:ea typeface="黑体" pitchFamily="49" charset="-122"/>
                <a:cs typeface="Arial" pitchFamily="34" charset="0"/>
              </a:rPr>
              <a:t>，这是聚类分析中最常用的一个距离；</a:t>
            </a:r>
            <a:endParaRPr lang="en-US" altLang="zh-CN" sz="2400" dirty="0" smtClean="0">
              <a:latin typeface="Arial" pitchFamily="34" charset="0"/>
              <a:ea typeface="黑体" pitchFamily="49" charset="-122"/>
              <a:cs typeface="Arial" pitchFamily="34" charset="0"/>
            </a:endParaRPr>
          </a:p>
          <a:p>
            <a:pPr lvl="1">
              <a:buFont typeface="Wingdings" pitchFamily="2" charset="2"/>
              <a:buChar char="n"/>
            </a:pPr>
            <a:r>
              <a:rPr lang="zh-CN" altLang="en-US" sz="2400" dirty="0" smtClean="0">
                <a:latin typeface="Arial" pitchFamily="34" charset="0"/>
                <a:ea typeface="黑体" pitchFamily="49" charset="-122"/>
                <a:cs typeface="Arial" pitchFamily="34" charset="0"/>
              </a:rPr>
              <a:t>当</a:t>
            </a:r>
            <a:r>
              <a:rPr lang="en-US" altLang="zh-CN" sz="2400" dirty="0" smtClean="0">
                <a:latin typeface="Arial" pitchFamily="34" charset="0"/>
                <a:ea typeface="黑体" pitchFamily="49" charset="-122"/>
                <a:cs typeface="Arial" pitchFamily="34" charset="0"/>
              </a:rPr>
              <a:t>q=∞</a:t>
            </a:r>
            <a:r>
              <a:rPr lang="zh-CN" altLang="en-US" sz="2400" dirty="0" smtClean="0">
                <a:latin typeface="Arial" pitchFamily="34" charset="0"/>
                <a:ea typeface="黑体" pitchFamily="49" charset="-122"/>
                <a:cs typeface="Arial" pitchFamily="34" charset="0"/>
              </a:rPr>
              <a:t>时，称为切比雪夫距离。</a:t>
            </a:r>
            <a:endParaRPr lang="zh-CN" altLang="en-US" sz="2400" dirty="0">
              <a:latin typeface="Arial" pitchFamily="34" charset="0"/>
              <a:ea typeface="黑体" pitchFamily="49" charset="-122"/>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16</a:t>
            </a:fld>
            <a:endParaRPr lang="zh-CN" altLang="en-US"/>
          </a:p>
        </p:txBody>
      </p:sp>
      <p:pic>
        <p:nvPicPr>
          <p:cNvPr id="82946" name="Picture 2"/>
          <p:cNvPicPr>
            <a:picLocks noChangeAspect="1" noChangeArrowheads="1"/>
          </p:cNvPicPr>
          <p:nvPr/>
        </p:nvPicPr>
        <p:blipFill>
          <a:blip r:embed="rId2" cstate="print"/>
          <a:srcRect/>
          <a:stretch>
            <a:fillRect/>
          </a:stretch>
        </p:blipFill>
        <p:spPr bwMode="auto">
          <a:xfrm>
            <a:off x="2699792" y="2325807"/>
            <a:ext cx="3251845" cy="95917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17</a:t>
            </a:fld>
            <a:endParaRPr lang="zh-CN" altLang="en-US"/>
          </a:p>
        </p:txBody>
      </p:sp>
      <p:sp>
        <p:nvSpPr>
          <p:cNvPr id="3" name="标题 1"/>
          <p:cNvSpPr txBox="1">
            <a:spLocks/>
          </p:cNvSpPr>
          <p:nvPr/>
        </p:nvSpPr>
        <p:spPr>
          <a:xfrm>
            <a:off x="457200" y="476672"/>
            <a:ext cx="8229600" cy="745058"/>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a:lstStyle>
          <a:p>
            <a:pPr marL="0" lvl="2"/>
            <a:r>
              <a:rPr lang="zh-CN" altLang="en-US" sz="3200" b="1" kern="0" dirty="0" smtClean="0">
                <a:solidFill>
                  <a:srgbClr val="0000CC"/>
                </a:solidFill>
                <a:latin typeface="Arial" pitchFamily="34" charset="0"/>
                <a:ea typeface="黑体" pitchFamily="49" charset="-122"/>
                <a:cs typeface="Arial" pitchFamily="34" charset="0"/>
              </a:rPr>
              <a:t>欧氏距离（</a:t>
            </a:r>
            <a:r>
              <a:rPr lang="en-US" altLang="zh-CN" sz="3200" b="1" kern="0" dirty="0" smtClean="0">
                <a:solidFill>
                  <a:srgbClr val="0000CC"/>
                </a:solidFill>
                <a:latin typeface="Arial" pitchFamily="34" charset="0"/>
                <a:ea typeface="黑体" pitchFamily="49" charset="-122"/>
                <a:cs typeface="Arial" pitchFamily="34" charset="0"/>
              </a:rPr>
              <a:t>Euclidean distance</a:t>
            </a:r>
            <a:r>
              <a:rPr lang="zh-CN" altLang="en-US" sz="3200" b="1" kern="0" dirty="0" smtClean="0">
                <a:solidFill>
                  <a:srgbClr val="0000CC"/>
                </a:solidFill>
                <a:latin typeface="Arial" pitchFamily="34" charset="0"/>
                <a:ea typeface="黑体" pitchFamily="49" charset="-122"/>
                <a:cs typeface="Arial" pitchFamily="34" charset="0"/>
              </a:rPr>
              <a:t>）</a:t>
            </a:r>
            <a:endParaRPr lang="zh-CN" altLang="en-US" sz="3200" b="1" kern="0" dirty="0">
              <a:solidFill>
                <a:srgbClr val="0000CC"/>
              </a:solidFill>
            </a:endParaRPr>
          </a:p>
        </p:txBody>
      </p:sp>
      <p:sp>
        <p:nvSpPr>
          <p:cNvPr id="4" name="内容占位符 2"/>
          <p:cNvSpPr txBox="1">
            <a:spLocks/>
          </p:cNvSpPr>
          <p:nvPr/>
        </p:nvSpPr>
        <p:spPr>
          <a:xfrm>
            <a:off x="107504" y="3645024"/>
            <a:ext cx="8856984" cy="2448272"/>
          </a:xfrm>
          <a:prstGeom prst="rect">
            <a:avLst/>
          </a:prstGeom>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Arial" charset="0"/>
              <a:buNone/>
            </a:pPr>
            <a:r>
              <a:rPr lang="en-US" altLang="zh-CN" sz="2800" dirty="0" smtClean="0">
                <a:latin typeface="Arial" panose="020B0604020202020204" pitchFamily="34" charset="0"/>
                <a:ea typeface="黑体" panose="02010609060101010101" pitchFamily="49" charset="-122"/>
                <a:cs typeface="Arial" panose="020B0604020202020204" pitchFamily="34" charset="0"/>
              </a:rPr>
              <a:t>n </a:t>
            </a:r>
            <a:r>
              <a:rPr lang="zh-CN" altLang="en-US" sz="2800" dirty="0" smtClean="0">
                <a:latin typeface="Arial" panose="020B0604020202020204" pitchFamily="34" charset="0"/>
                <a:ea typeface="黑体" panose="02010609060101010101" pitchFamily="49" charset="-122"/>
                <a:cs typeface="Arial" panose="020B0604020202020204" pitchFamily="34" charset="0"/>
              </a:rPr>
              <a:t>表示数据的维度。</a:t>
            </a:r>
            <a:endParaRPr lang="en-US" altLang="zh-CN" sz="2800" dirty="0" smtClean="0">
              <a:latin typeface="Arial" panose="020B0604020202020204" pitchFamily="34" charset="0"/>
              <a:ea typeface="黑体" panose="02010609060101010101" pitchFamily="49" charset="-122"/>
              <a:cs typeface="Arial" panose="020B0604020202020204" pitchFamily="34" charset="0"/>
            </a:endParaRPr>
          </a:p>
          <a:p>
            <a:pPr>
              <a:buFont typeface="Arial" charset="0"/>
              <a:buNone/>
            </a:pPr>
            <a:r>
              <a:rPr lang="en-US" altLang="zh-CN" sz="2800" dirty="0" smtClean="0">
                <a:latin typeface="黑体" panose="02010609060101010101" pitchFamily="49" charset="-122"/>
                <a:ea typeface="黑体" panose="02010609060101010101" pitchFamily="49" charset="-122"/>
                <a:cs typeface="Arial" pitchFamily="34" charset="0"/>
              </a:rPr>
              <a:t>  </a:t>
            </a:r>
            <a:r>
              <a:rPr lang="zh-CN" altLang="en-US" sz="2800" dirty="0" smtClean="0">
                <a:solidFill>
                  <a:srgbClr val="0000CC"/>
                </a:solidFill>
                <a:latin typeface="黑体" panose="02010609060101010101" pitchFamily="49" charset="-122"/>
                <a:ea typeface="黑体" panose="02010609060101010101" pitchFamily="49" charset="-122"/>
                <a:cs typeface="Arial" pitchFamily="34" charset="0"/>
              </a:rPr>
              <a:t>举例</a:t>
            </a:r>
            <a:r>
              <a:rPr lang="en-US" altLang="zh-CN" sz="2800" dirty="0" smtClean="0">
                <a:solidFill>
                  <a:srgbClr val="0000CC"/>
                </a:solidFill>
                <a:latin typeface="黑体" panose="02010609060101010101" pitchFamily="49" charset="-122"/>
                <a:ea typeface="黑体" panose="02010609060101010101" pitchFamily="49" charset="-122"/>
                <a:cs typeface="Arial" pitchFamily="34" charset="0"/>
              </a:rPr>
              <a:t>:</a:t>
            </a:r>
          </a:p>
          <a:p>
            <a:pPr lvl="1"/>
            <a:r>
              <a:rPr lang="en-US" altLang="zh-CN" sz="2400" dirty="0" smtClean="0">
                <a:latin typeface="Arial" pitchFamily="34" charset="0"/>
                <a:cs typeface="Arial" pitchFamily="34" charset="0"/>
              </a:rPr>
              <a:t>Number of time-points/conditions (when clustering genes)</a:t>
            </a:r>
          </a:p>
          <a:p>
            <a:pPr lvl="1"/>
            <a:r>
              <a:rPr lang="en-US" altLang="zh-CN" sz="2400" dirty="0" smtClean="0">
                <a:latin typeface="Arial" pitchFamily="34" charset="0"/>
                <a:cs typeface="Arial" pitchFamily="34" charset="0"/>
              </a:rPr>
              <a:t>Number of genes (when clustering samples)</a:t>
            </a:r>
            <a:endParaRPr lang="zh-CN" altLang="en-US" sz="2400" dirty="0">
              <a:latin typeface="Arial" pitchFamily="34" charset="0"/>
              <a:cs typeface="Arial" pitchFamily="34" charset="0"/>
            </a:endParaRPr>
          </a:p>
        </p:txBody>
      </p:sp>
      <p:pic>
        <p:nvPicPr>
          <p:cNvPr id="5" name="Picture 2"/>
          <p:cNvPicPr>
            <a:picLocks noChangeAspect="1" noChangeArrowheads="1"/>
          </p:cNvPicPr>
          <p:nvPr/>
        </p:nvPicPr>
        <p:blipFill>
          <a:blip r:embed="rId2" cstate="print"/>
          <a:srcRect/>
          <a:stretch>
            <a:fillRect/>
          </a:stretch>
        </p:blipFill>
        <p:spPr bwMode="auto">
          <a:xfrm>
            <a:off x="1259632" y="1844824"/>
            <a:ext cx="6439247" cy="1538894"/>
          </a:xfrm>
          <a:prstGeom prst="rect">
            <a:avLst/>
          </a:prstGeom>
          <a:noFill/>
          <a:ln w="9525">
            <a:noFill/>
            <a:miter lim="800000"/>
            <a:headEnd/>
            <a:tailEnd/>
          </a:ln>
        </p:spPr>
      </p:pic>
    </p:spTree>
    <p:extLst>
      <p:ext uri="{BB962C8B-B14F-4D97-AF65-F5344CB8AC3E}">
        <p14:creationId xmlns:p14="http://schemas.microsoft.com/office/powerpoint/2010/main" val="174637412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18</a:t>
            </a:fld>
            <a:endParaRPr lang="zh-CN" altLang="en-US"/>
          </a:p>
        </p:txBody>
      </p:sp>
      <p:sp>
        <p:nvSpPr>
          <p:cNvPr id="3" name="标题 1"/>
          <p:cNvSpPr txBox="1">
            <a:spLocks/>
          </p:cNvSpPr>
          <p:nvPr/>
        </p:nvSpPr>
        <p:spPr>
          <a:xfrm>
            <a:off x="446856" y="188640"/>
            <a:ext cx="8229600" cy="706090"/>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a:lstStyle>
          <a:p>
            <a:r>
              <a:rPr lang="zh-CN" altLang="en-US" sz="3200" b="1" dirty="0" smtClean="0">
                <a:solidFill>
                  <a:srgbClr val="FF0000"/>
                </a:solidFill>
                <a:latin typeface="Arial" pitchFamily="34" charset="0"/>
                <a:ea typeface="黑体" pitchFamily="49" charset="-122"/>
                <a:cs typeface="Arial" pitchFamily="34" charset="0"/>
              </a:rPr>
              <a:t>（</a:t>
            </a:r>
            <a:r>
              <a:rPr lang="en-US" altLang="zh-CN" sz="3200" b="1" dirty="0" smtClean="0">
                <a:solidFill>
                  <a:srgbClr val="FF0000"/>
                </a:solidFill>
                <a:latin typeface="Arial" pitchFamily="34" charset="0"/>
                <a:ea typeface="黑体" pitchFamily="49" charset="-122"/>
                <a:cs typeface="Arial" pitchFamily="34" charset="0"/>
              </a:rPr>
              <a:t>2</a:t>
            </a:r>
            <a:r>
              <a:rPr lang="zh-CN" altLang="en-US" sz="3200" b="1" dirty="0" smtClean="0">
                <a:solidFill>
                  <a:srgbClr val="FF0000"/>
                </a:solidFill>
                <a:latin typeface="Arial" pitchFamily="34" charset="0"/>
                <a:ea typeface="黑体" pitchFamily="49" charset="-122"/>
                <a:cs typeface="Arial" pitchFamily="34" charset="0"/>
              </a:rPr>
              <a:t>）兰氏距离</a:t>
            </a:r>
            <a:endParaRPr lang="zh-CN" altLang="en-US" sz="3200" b="1" dirty="0">
              <a:solidFill>
                <a:srgbClr val="FF0000"/>
              </a:solidFill>
              <a:latin typeface="Arial" pitchFamily="34" charset="0"/>
              <a:ea typeface="黑体" pitchFamily="49" charset="-122"/>
              <a:cs typeface="Arial" pitchFamily="34" charset="0"/>
            </a:endParaRPr>
          </a:p>
        </p:txBody>
      </p:sp>
      <p:sp>
        <p:nvSpPr>
          <p:cNvPr id="4" name="内容占位符 2"/>
          <p:cNvSpPr txBox="1">
            <a:spLocks/>
          </p:cNvSpPr>
          <p:nvPr/>
        </p:nvSpPr>
        <p:spPr>
          <a:xfrm>
            <a:off x="179512" y="1124744"/>
            <a:ext cx="8784976" cy="5112568"/>
          </a:xfrm>
          <a:prstGeom prst="rect">
            <a:avLst/>
          </a:prstGeom>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Char char="n"/>
            </a:pPr>
            <a:r>
              <a:rPr lang="zh-CN" altLang="en-US" sz="2800" dirty="0" smtClean="0">
                <a:latin typeface="Arial" pitchFamily="34" charset="0"/>
                <a:ea typeface="黑体" pitchFamily="49" charset="-122"/>
                <a:cs typeface="Arial" pitchFamily="34" charset="0"/>
              </a:rPr>
              <a:t>当</a:t>
            </a:r>
            <a:r>
              <a:rPr lang="en-US" altLang="zh-CN" sz="2800" dirty="0" err="1" smtClean="0">
                <a:latin typeface="Arial" pitchFamily="34" charset="0"/>
                <a:ea typeface="黑体" pitchFamily="49" charset="-122"/>
                <a:cs typeface="Arial" pitchFamily="34" charset="0"/>
              </a:rPr>
              <a:t>x</a:t>
            </a:r>
            <a:r>
              <a:rPr lang="en-US" altLang="zh-CN" sz="2800" i="1" baseline="-25000" dirty="0" err="1" smtClean="0">
                <a:latin typeface="Arial" pitchFamily="34" charset="0"/>
                <a:ea typeface="黑体" pitchFamily="49" charset="-122"/>
                <a:cs typeface="Arial" pitchFamily="34" charset="0"/>
              </a:rPr>
              <a:t>ij</a:t>
            </a:r>
            <a:r>
              <a:rPr lang="zh-CN" altLang="en-US" sz="2800" dirty="0" smtClean="0">
                <a:latin typeface="Arial" pitchFamily="34" charset="0"/>
                <a:ea typeface="黑体" pitchFamily="49" charset="-122"/>
                <a:cs typeface="Arial" pitchFamily="34" charset="0"/>
              </a:rPr>
              <a:t>＞</a:t>
            </a:r>
            <a:r>
              <a:rPr lang="en-US" altLang="zh-CN" sz="2800" dirty="0" smtClean="0">
                <a:latin typeface="Arial" pitchFamily="34" charset="0"/>
                <a:ea typeface="黑体" pitchFamily="49" charset="-122"/>
                <a:cs typeface="Arial" pitchFamily="34" charset="0"/>
              </a:rPr>
              <a:t>0</a:t>
            </a:r>
            <a:r>
              <a:rPr lang="zh-CN" altLang="en-US" sz="2800" dirty="0" smtClean="0">
                <a:latin typeface="Arial" pitchFamily="34" charset="0"/>
                <a:ea typeface="黑体" pitchFamily="49" charset="-122"/>
                <a:cs typeface="Arial" pitchFamily="34" charset="0"/>
              </a:rPr>
              <a:t>，</a:t>
            </a:r>
            <a:r>
              <a:rPr lang="en-US" altLang="zh-CN" sz="2800" i="1" dirty="0" smtClean="0">
                <a:latin typeface="Arial" pitchFamily="34" charset="0"/>
                <a:ea typeface="黑体" pitchFamily="49" charset="-122"/>
                <a:cs typeface="Arial" pitchFamily="34" charset="0"/>
              </a:rPr>
              <a:t>j</a:t>
            </a:r>
            <a:r>
              <a:rPr lang="en-US" altLang="zh-CN" sz="2800" dirty="0" smtClean="0">
                <a:latin typeface="Arial" pitchFamily="34" charset="0"/>
                <a:ea typeface="黑体" pitchFamily="49" charset="-122"/>
                <a:cs typeface="Arial" pitchFamily="34" charset="0"/>
              </a:rPr>
              <a:t>=1,2,</a:t>
            </a:r>
            <a:r>
              <a:rPr lang="zh-CN" altLang="en-US" sz="2800" dirty="0" smtClean="0">
                <a:latin typeface="Arial" pitchFamily="34" charset="0"/>
                <a:ea typeface="黑体" pitchFamily="49" charset="-122"/>
                <a:cs typeface="Arial" pitchFamily="34" charset="0"/>
              </a:rPr>
              <a:t>⋯</a:t>
            </a:r>
            <a:r>
              <a:rPr lang="en-US" altLang="zh-CN" sz="2800" dirty="0" smtClean="0">
                <a:latin typeface="Arial" pitchFamily="34" charset="0"/>
                <a:ea typeface="黑体" pitchFamily="49" charset="-122"/>
                <a:cs typeface="Arial" pitchFamily="34" charset="0"/>
              </a:rPr>
              <a:t>,n</a:t>
            </a:r>
            <a:r>
              <a:rPr lang="zh-CN" altLang="en-US" sz="2800" dirty="0" smtClean="0">
                <a:latin typeface="Arial" pitchFamily="34" charset="0"/>
                <a:ea typeface="黑体" pitchFamily="49" charset="-122"/>
                <a:cs typeface="Arial" pitchFamily="34" charset="0"/>
              </a:rPr>
              <a:t>，</a:t>
            </a:r>
            <a:r>
              <a:rPr lang="en-US" altLang="zh-CN" sz="2800" i="1" dirty="0" err="1" smtClean="0">
                <a:latin typeface="Arial" pitchFamily="34" charset="0"/>
                <a:ea typeface="黑体" pitchFamily="49" charset="-122"/>
                <a:cs typeface="Arial" pitchFamily="34" charset="0"/>
              </a:rPr>
              <a:t>i</a:t>
            </a:r>
            <a:r>
              <a:rPr lang="en-US" altLang="zh-CN" sz="2800" dirty="0" smtClean="0">
                <a:latin typeface="Arial" pitchFamily="34" charset="0"/>
                <a:ea typeface="黑体" pitchFamily="49" charset="-122"/>
                <a:cs typeface="Arial" pitchFamily="34" charset="0"/>
              </a:rPr>
              <a:t>=1,2,</a:t>
            </a:r>
            <a:r>
              <a:rPr lang="zh-CN" altLang="en-US" sz="2800" dirty="0" smtClean="0">
                <a:latin typeface="Arial" pitchFamily="34" charset="0"/>
                <a:ea typeface="黑体" pitchFamily="49" charset="-122"/>
                <a:cs typeface="Arial" pitchFamily="34" charset="0"/>
              </a:rPr>
              <a:t>⋯</a:t>
            </a:r>
            <a:r>
              <a:rPr lang="en-US" altLang="zh-CN" sz="2800" dirty="0" smtClean="0">
                <a:latin typeface="Arial" pitchFamily="34" charset="0"/>
                <a:ea typeface="黑体" pitchFamily="49" charset="-122"/>
                <a:cs typeface="Arial" pitchFamily="34" charset="0"/>
              </a:rPr>
              <a:t>,p</a:t>
            </a:r>
            <a:r>
              <a:rPr lang="zh-CN" altLang="en-US" sz="2800" dirty="0" smtClean="0">
                <a:latin typeface="Arial" pitchFamily="34" charset="0"/>
                <a:ea typeface="黑体" pitchFamily="49" charset="-122"/>
                <a:cs typeface="Arial" pitchFamily="34" charset="0"/>
              </a:rPr>
              <a:t>时，可以定义第</a:t>
            </a:r>
            <a:r>
              <a:rPr lang="en-US" altLang="zh-CN" sz="2800" i="1" dirty="0" err="1" smtClean="0">
                <a:latin typeface="Arial" pitchFamily="34" charset="0"/>
                <a:ea typeface="黑体" pitchFamily="49" charset="-122"/>
                <a:cs typeface="Arial" pitchFamily="34" charset="0"/>
              </a:rPr>
              <a:t>i</a:t>
            </a:r>
            <a:r>
              <a:rPr lang="zh-CN" altLang="en-US" sz="2800" dirty="0" smtClean="0">
                <a:latin typeface="Arial" pitchFamily="34" charset="0"/>
                <a:ea typeface="黑体" pitchFamily="49" charset="-122"/>
                <a:cs typeface="Arial" pitchFamily="34" charset="0"/>
              </a:rPr>
              <a:t>个样本与第</a:t>
            </a:r>
            <a:r>
              <a:rPr lang="en-US" altLang="zh-CN" sz="2800" i="1" dirty="0" smtClean="0">
                <a:latin typeface="Arial" pitchFamily="34" charset="0"/>
                <a:ea typeface="黑体" pitchFamily="49" charset="-122"/>
                <a:cs typeface="Arial" pitchFamily="34" charset="0"/>
              </a:rPr>
              <a:t>j</a:t>
            </a:r>
            <a:r>
              <a:rPr lang="zh-CN" altLang="en-US" sz="2800" dirty="0" smtClean="0">
                <a:latin typeface="Arial" pitchFamily="34" charset="0"/>
                <a:ea typeface="黑体" pitchFamily="49" charset="-122"/>
                <a:cs typeface="Arial" pitchFamily="34" charset="0"/>
              </a:rPr>
              <a:t>个样本间的兰氏距离为</a:t>
            </a:r>
          </a:p>
          <a:p>
            <a:pPr>
              <a:buFont typeface="Arial" charset="0"/>
              <a:buNone/>
            </a:pPr>
            <a:endParaRPr lang="en-US" altLang="zh-CN" sz="2800" dirty="0" smtClean="0">
              <a:latin typeface="Arial" pitchFamily="34" charset="0"/>
              <a:ea typeface="黑体" pitchFamily="49" charset="-122"/>
              <a:cs typeface="Arial" pitchFamily="34" charset="0"/>
            </a:endParaRPr>
          </a:p>
          <a:p>
            <a:pPr>
              <a:buFont typeface="Arial" charset="0"/>
              <a:buNone/>
            </a:pPr>
            <a:endParaRPr lang="en-US" altLang="zh-CN" sz="2800" dirty="0" smtClean="0">
              <a:latin typeface="Arial" pitchFamily="34" charset="0"/>
              <a:ea typeface="黑体" pitchFamily="49" charset="-122"/>
              <a:cs typeface="Arial" pitchFamily="34" charset="0"/>
            </a:endParaRPr>
          </a:p>
          <a:p>
            <a:pPr>
              <a:buFont typeface="Arial" charset="0"/>
              <a:buNone/>
            </a:pPr>
            <a:endParaRPr lang="en-US" altLang="zh-CN" sz="2800" dirty="0" smtClean="0">
              <a:latin typeface="Arial" pitchFamily="34" charset="0"/>
              <a:ea typeface="黑体" pitchFamily="49" charset="-122"/>
              <a:cs typeface="Arial" pitchFamily="34" charset="0"/>
            </a:endParaRPr>
          </a:p>
          <a:p>
            <a:pPr>
              <a:buFont typeface="Wingdings" pitchFamily="2" charset="2"/>
              <a:buChar char="n"/>
            </a:pPr>
            <a:r>
              <a:rPr lang="zh-CN" altLang="en-US" sz="2800" dirty="0" smtClean="0">
                <a:latin typeface="Arial" pitchFamily="34" charset="0"/>
                <a:ea typeface="黑体" pitchFamily="49" charset="-122"/>
                <a:cs typeface="Arial" pitchFamily="34" charset="0"/>
              </a:rPr>
              <a:t>这个距离与各变量的单位无关。由于它对大的异常值不敏感，故</a:t>
            </a:r>
            <a:r>
              <a:rPr lang="zh-CN" altLang="en-US" sz="2800" dirty="0" smtClean="0">
                <a:solidFill>
                  <a:srgbClr val="FF0000"/>
                </a:solidFill>
                <a:latin typeface="Arial" pitchFamily="34" charset="0"/>
                <a:ea typeface="黑体" pitchFamily="49" charset="-122"/>
                <a:cs typeface="Arial" pitchFamily="34" charset="0"/>
              </a:rPr>
              <a:t>适用于高度偏斜的数据</a:t>
            </a:r>
            <a:r>
              <a:rPr lang="zh-CN" altLang="en-US" sz="2800" dirty="0" smtClean="0">
                <a:latin typeface="Arial" pitchFamily="34" charset="0"/>
                <a:ea typeface="黑体" pitchFamily="49" charset="-122"/>
                <a:cs typeface="Arial" pitchFamily="34" charset="0"/>
              </a:rPr>
              <a:t>；</a:t>
            </a:r>
            <a:endParaRPr lang="en-US" altLang="zh-CN" sz="2800" dirty="0" smtClean="0">
              <a:latin typeface="Arial" pitchFamily="34" charset="0"/>
              <a:ea typeface="黑体" pitchFamily="49" charset="-122"/>
              <a:cs typeface="Arial" pitchFamily="34" charset="0"/>
            </a:endParaRPr>
          </a:p>
          <a:p>
            <a:pPr>
              <a:buFont typeface="Wingdings" pitchFamily="2" charset="2"/>
              <a:buChar char="n"/>
            </a:pPr>
            <a:endParaRPr lang="zh-CN" altLang="en-US" sz="2800" dirty="0" smtClean="0">
              <a:latin typeface="Arial" pitchFamily="34" charset="0"/>
              <a:ea typeface="黑体" pitchFamily="49" charset="-122"/>
              <a:cs typeface="Arial" pitchFamily="34" charset="0"/>
            </a:endParaRPr>
          </a:p>
          <a:p>
            <a:pPr>
              <a:buFont typeface="Wingdings" pitchFamily="2" charset="2"/>
              <a:buChar char="n"/>
            </a:pPr>
            <a:r>
              <a:rPr lang="zh-CN" altLang="en-US" sz="2800" dirty="0" smtClean="0">
                <a:latin typeface="Arial" pitchFamily="34" charset="0"/>
                <a:ea typeface="黑体" pitchFamily="49" charset="-122"/>
                <a:cs typeface="Arial" pitchFamily="34" charset="0"/>
              </a:rPr>
              <a:t>明氏距离和兰氏距离</a:t>
            </a:r>
            <a:r>
              <a:rPr lang="zh-CN" altLang="en-US" sz="2800" dirty="0" smtClean="0">
                <a:solidFill>
                  <a:srgbClr val="000099"/>
                </a:solidFill>
                <a:latin typeface="Arial" pitchFamily="34" charset="0"/>
                <a:ea typeface="黑体" pitchFamily="49" charset="-122"/>
                <a:cs typeface="Arial" pitchFamily="34" charset="0"/>
              </a:rPr>
              <a:t>都没有考虑变量间的相关性</a:t>
            </a:r>
            <a:r>
              <a:rPr lang="zh-CN" altLang="en-US" sz="2800" dirty="0" smtClean="0">
                <a:latin typeface="Arial" pitchFamily="34" charset="0"/>
                <a:ea typeface="黑体" pitchFamily="49" charset="-122"/>
                <a:cs typeface="Arial" pitchFamily="34" charset="0"/>
              </a:rPr>
              <a:t>，因此这两种距离更适合各变量之间互不相关的情形。</a:t>
            </a:r>
            <a:endParaRPr lang="zh-CN" altLang="en-US" sz="2800" dirty="0">
              <a:latin typeface="Arial" pitchFamily="34" charset="0"/>
              <a:ea typeface="黑体" pitchFamily="49" charset="-122"/>
              <a:cs typeface="Arial" pitchFamily="34" charset="0"/>
            </a:endParaRPr>
          </a:p>
        </p:txBody>
      </p:sp>
      <p:pic>
        <p:nvPicPr>
          <p:cNvPr id="5" name="Picture 3"/>
          <p:cNvPicPr>
            <a:picLocks noChangeAspect="1" noChangeArrowheads="1"/>
          </p:cNvPicPr>
          <p:nvPr/>
        </p:nvPicPr>
        <p:blipFill>
          <a:blip r:embed="rId2" cstate="print"/>
          <a:srcRect/>
          <a:stretch>
            <a:fillRect/>
          </a:stretch>
        </p:blipFill>
        <p:spPr bwMode="auto">
          <a:xfrm>
            <a:off x="2699793" y="2204865"/>
            <a:ext cx="3168352" cy="1161466"/>
          </a:xfrm>
          <a:prstGeom prst="rect">
            <a:avLst/>
          </a:prstGeom>
          <a:noFill/>
          <a:ln w="9525">
            <a:noFill/>
            <a:miter lim="800000"/>
            <a:headEnd/>
            <a:tailEnd/>
          </a:ln>
        </p:spPr>
      </p:pic>
    </p:spTree>
    <p:extLst>
      <p:ext uri="{BB962C8B-B14F-4D97-AF65-F5344CB8AC3E}">
        <p14:creationId xmlns:p14="http://schemas.microsoft.com/office/powerpoint/2010/main" val="27428052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16632"/>
            <a:ext cx="8229600" cy="850106"/>
          </a:xfrm>
        </p:spPr>
        <p:txBody>
          <a:bodyPr/>
          <a:lstStyle/>
          <a:p>
            <a:r>
              <a:rPr lang="zh-CN" altLang="en-US" sz="3200" b="1" dirty="0" smtClean="0">
                <a:solidFill>
                  <a:srgbClr val="FF0000"/>
                </a:solidFill>
                <a:latin typeface="Arial" pitchFamily="34" charset="0"/>
                <a:ea typeface="黑体" pitchFamily="49" charset="-122"/>
                <a:cs typeface="Arial" pitchFamily="34" charset="0"/>
              </a:rPr>
              <a:t>（</a:t>
            </a:r>
            <a:r>
              <a:rPr lang="en-US" altLang="zh-CN" sz="3200" b="1" dirty="0" smtClean="0">
                <a:solidFill>
                  <a:srgbClr val="FF0000"/>
                </a:solidFill>
                <a:latin typeface="Arial" pitchFamily="34" charset="0"/>
                <a:ea typeface="黑体" pitchFamily="49" charset="-122"/>
                <a:cs typeface="Arial" pitchFamily="34" charset="0"/>
              </a:rPr>
              <a:t>3</a:t>
            </a:r>
            <a:r>
              <a:rPr lang="zh-CN" altLang="en-US" sz="3200" b="1" dirty="0" smtClean="0">
                <a:solidFill>
                  <a:srgbClr val="FF0000"/>
                </a:solidFill>
                <a:latin typeface="Arial" pitchFamily="34" charset="0"/>
                <a:ea typeface="黑体" pitchFamily="49" charset="-122"/>
                <a:cs typeface="Arial" pitchFamily="34" charset="0"/>
              </a:rPr>
              <a:t>）相关性（</a:t>
            </a:r>
            <a:r>
              <a:rPr lang="en-US" altLang="zh-CN" sz="3200" b="1" dirty="0" smtClean="0">
                <a:solidFill>
                  <a:srgbClr val="FF0000"/>
                </a:solidFill>
                <a:latin typeface="Arial" pitchFamily="34" charset="0"/>
                <a:ea typeface="黑体" pitchFamily="49" charset="-122"/>
                <a:cs typeface="Arial" pitchFamily="34" charset="0"/>
              </a:rPr>
              <a:t>Correlation</a:t>
            </a:r>
            <a:r>
              <a:rPr lang="zh-CN" altLang="en-US" sz="3200" b="1" dirty="0" smtClean="0">
                <a:solidFill>
                  <a:srgbClr val="FF0000"/>
                </a:solidFill>
                <a:latin typeface="Arial" pitchFamily="34" charset="0"/>
                <a:ea typeface="黑体" pitchFamily="49" charset="-122"/>
                <a:cs typeface="Arial" pitchFamily="34" charset="0"/>
              </a:rPr>
              <a:t>）</a:t>
            </a:r>
            <a:endParaRPr lang="zh-CN" altLang="en-US" sz="3200" b="1" dirty="0">
              <a:solidFill>
                <a:srgbClr val="FF0000"/>
              </a:solidFill>
              <a:latin typeface="Arial" pitchFamily="34" charset="0"/>
              <a:ea typeface="黑体" pitchFamily="49" charset="-122"/>
              <a:cs typeface="Arial" pitchFamily="34" charset="0"/>
            </a:endParaRPr>
          </a:p>
        </p:txBody>
      </p:sp>
      <p:sp>
        <p:nvSpPr>
          <p:cNvPr id="3" name="内容占位符 2"/>
          <p:cNvSpPr>
            <a:spLocks noGrp="1"/>
          </p:cNvSpPr>
          <p:nvPr>
            <p:ph idx="1"/>
          </p:nvPr>
        </p:nvSpPr>
        <p:spPr>
          <a:xfrm>
            <a:off x="215516" y="1124744"/>
            <a:ext cx="8712968" cy="3096344"/>
          </a:xfrm>
        </p:spPr>
        <p:txBody>
          <a:bodyPr/>
          <a:lstStyle/>
          <a:p>
            <a:pPr>
              <a:buFont typeface="Wingdings" pitchFamily="2" charset="2"/>
              <a:buChar char="n"/>
            </a:pPr>
            <a:r>
              <a:rPr lang="en-US" altLang="zh-CN" sz="2800" dirty="0" smtClean="0">
                <a:latin typeface="Arial" pitchFamily="34" charset="0"/>
                <a:ea typeface="黑体" pitchFamily="49" charset="-122"/>
                <a:cs typeface="Arial" pitchFamily="34" charset="0"/>
              </a:rPr>
              <a:t>We might care more about the overall shape of expression profiles rather than the actual magnitudes</a:t>
            </a:r>
            <a:r>
              <a:rPr lang="zh-CN" altLang="en-US" sz="2800" dirty="0" smtClean="0">
                <a:latin typeface="Arial" pitchFamily="34" charset="0"/>
                <a:ea typeface="黑体" pitchFamily="49" charset="-122"/>
                <a:cs typeface="Arial" pitchFamily="34" charset="0"/>
              </a:rPr>
              <a:t>；</a:t>
            </a:r>
            <a:endParaRPr lang="en-US" altLang="zh-CN" sz="2800" dirty="0" smtClean="0">
              <a:latin typeface="Arial" pitchFamily="34" charset="0"/>
              <a:ea typeface="黑体" pitchFamily="49" charset="-122"/>
              <a:cs typeface="Arial" pitchFamily="34" charset="0"/>
            </a:endParaRPr>
          </a:p>
          <a:p>
            <a:pPr>
              <a:buFont typeface="Wingdings" pitchFamily="2" charset="2"/>
              <a:buChar char="n"/>
            </a:pPr>
            <a:endParaRPr lang="en-US" altLang="zh-CN" sz="2800" dirty="0" smtClean="0">
              <a:latin typeface="Arial" pitchFamily="34" charset="0"/>
              <a:ea typeface="黑体" pitchFamily="49" charset="-122"/>
              <a:cs typeface="Arial" pitchFamily="34" charset="0"/>
            </a:endParaRPr>
          </a:p>
          <a:p>
            <a:pPr>
              <a:buFont typeface="Wingdings" pitchFamily="2" charset="2"/>
              <a:buChar char="n"/>
            </a:pPr>
            <a:r>
              <a:rPr lang="en-US" altLang="zh-CN" sz="2800" dirty="0" smtClean="0">
                <a:latin typeface="Arial" pitchFamily="34" charset="0"/>
                <a:ea typeface="黑体" pitchFamily="49" charset="-122"/>
                <a:cs typeface="Arial" pitchFamily="34" charset="0"/>
              </a:rPr>
              <a:t>That is, we might want to consider genes similar when they are “up” and “down” together</a:t>
            </a:r>
            <a:r>
              <a:rPr lang="zh-CN" altLang="en-US" sz="2800" dirty="0" smtClean="0">
                <a:latin typeface="Arial" pitchFamily="34" charset="0"/>
                <a:ea typeface="黑体" pitchFamily="49" charset="-122"/>
                <a:cs typeface="Arial" pitchFamily="34" charset="0"/>
              </a:rPr>
              <a:t>；</a:t>
            </a:r>
            <a:endParaRPr lang="en-US" altLang="zh-CN" sz="2800" dirty="0" smtClean="0">
              <a:latin typeface="Arial" pitchFamily="34" charset="0"/>
              <a:ea typeface="黑体" pitchFamily="49" charset="-122"/>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19</a:t>
            </a:fld>
            <a:endParaRPr lang="zh-CN" altLang="en-US"/>
          </a:p>
        </p:txBody>
      </p:sp>
      <p:pic>
        <p:nvPicPr>
          <p:cNvPr id="50177" name="Picture 1"/>
          <p:cNvPicPr>
            <a:picLocks noChangeAspect="1" noChangeArrowheads="1"/>
          </p:cNvPicPr>
          <p:nvPr/>
        </p:nvPicPr>
        <p:blipFill>
          <a:blip r:embed="rId2" cstate="print"/>
          <a:srcRect l="2381"/>
          <a:stretch>
            <a:fillRect/>
          </a:stretch>
        </p:blipFill>
        <p:spPr bwMode="auto">
          <a:xfrm>
            <a:off x="2987824" y="4221088"/>
            <a:ext cx="3168352" cy="23556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827584" y="1556792"/>
            <a:ext cx="3367685" cy="2521386"/>
          </a:xfrm>
          <a:prstGeom prst="rect">
            <a:avLst/>
          </a:prstGeom>
          <a:noFill/>
          <a:ln w="9525">
            <a:noFill/>
            <a:miter lim="800000"/>
            <a:headEnd/>
            <a:tailEnd/>
          </a:ln>
        </p:spPr>
      </p:pic>
      <p:pic>
        <p:nvPicPr>
          <p:cNvPr id="3075" name="Picture 3"/>
          <p:cNvPicPr>
            <a:picLocks noChangeAspect="1" noChangeArrowheads="1"/>
          </p:cNvPicPr>
          <p:nvPr/>
        </p:nvPicPr>
        <p:blipFill>
          <a:blip r:embed="rId3" cstate="print"/>
          <a:srcRect/>
          <a:stretch>
            <a:fillRect/>
          </a:stretch>
        </p:blipFill>
        <p:spPr bwMode="auto">
          <a:xfrm>
            <a:off x="5004048" y="1556792"/>
            <a:ext cx="3312688" cy="2480210"/>
          </a:xfrm>
          <a:prstGeom prst="rect">
            <a:avLst/>
          </a:prstGeom>
          <a:noFill/>
          <a:ln w="9525">
            <a:noFill/>
            <a:miter lim="800000"/>
            <a:headEnd/>
            <a:tailEnd/>
          </a:ln>
        </p:spPr>
      </p:pic>
      <p:sp>
        <p:nvSpPr>
          <p:cNvPr id="7" name="矩形 6"/>
          <p:cNvSpPr/>
          <p:nvPr/>
        </p:nvSpPr>
        <p:spPr>
          <a:xfrm>
            <a:off x="1835696" y="1196752"/>
            <a:ext cx="1568058" cy="400110"/>
          </a:xfrm>
          <a:prstGeom prst="rect">
            <a:avLst/>
          </a:prstGeom>
        </p:spPr>
        <p:txBody>
          <a:bodyPr wrap="none">
            <a:spAutoFit/>
          </a:bodyPr>
          <a:lstStyle/>
          <a:p>
            <a:r>
              <a:rPr lang="en-US" altLang="zh-CN" sz="2000" dirty="0" err="1" smtClean="0"/>
              <a:t>d</a:t>
            </a:r>
            <a:r>
              <a:rPr lang="en-US" altLang="zh-CN" sz="2000" baseline="-25000" dirty="0" err="1" smtClean="0"/>
              <a:t>euc</a:t>
            </a:r>
            <a:r>
              <a:rPr lang="en-US" altLang="zh-CN" sz="2000" dirty="0" smtClean="0"/>
              <a:t>=0.5846</a:t>
            </a:r>
            <a:endParaRPr lang="zh-CN" altLang="en-US" sz="2000" dirty="0"/>
          </a:p>
        </p:txBody>
      </p:sp>
      <p:pic>
        <p:nvPicPr>
          <p:cNvPr id="3076" name="Picture 4"/>
          <p:cNvPicPr>
            <a:picLocks noChangeAspect="1" noChangeArrowheads="1"/>
          </p:cNvPicPr>
          <p:nvPr/>
        </p:nvPicPr>
        <p:blipFill>
          <a:blip r:embed="rId4" cstate="print"/>
          <a:srcRect/>
          <a:stretch>
            <a:fillRect/>
          </a:stretch>
        </p:blipFill>
        <p:spPr bwMode="auto">
          <a:xfrm>
            <a:off x="2843808" y="4437112"/>
            <a:ext cx="3251019" cy="2434038"/>
          </a:xfrm>
          <a:prstGeom prst="rect">
            <a:avLst/>
          </a:prstGeom>
          <a:noFill/>
          <a:ln w="9525">
            <a:noFill/>
            <a:miter lim="800000"/>
            <a:headEnd/>
            <a:tailEnd/>
          </a:ln>
        </p:spPr>
      </p:pic>
      <p:sp>
        <p:nvSpPr>
          <p:cNvPr id="9" name="矩形 8"/>
          <p:cNvSpPr/>
          <p:nvPr/>
        </p:nvSpPr>
        <p:spPr>
          <a:xfrm>
            <a:off x="5796136" y="1196752"/>
            <a:ext cx="1568058" cy="400110"/>
          </a:xfrm>
          <a:prstGeom prst="rect">
            <a:avLst/>
          </a:prstGeom>
        </p:spPr>
        <p:txBody>
          <a:bodyPr wrap="none">
            <a:spAutoFit/>
          </a:bodyPr>
          <a:lstStyle/>
          <a:p>
            <a:r>
              <a:rPr lang="en-US" altLang="zh-CN" sz="2000" dirty="0" err="1" smtClean="0"/>
              <a:t>d</a:t>
            </a:r>
            <a:r>
              <a:rPr lang="en-US" altLang="zh-CN" sz="2000" baseline="-25000" dirty="0" err="1" smtClean="0"/>
              <a:t>euc</a:t>
            </a:r>
            <a:r>
              <a:rPr lang="en-US" altLang="zh-CN" sz="2000" dirty="0" smtClean="0"/>
              <a:t>=1.1345</a:t>
            </a:r>
            <a:endParaRPr lang="zh-CN" altLang="en-US" sz="2000" dirty="0"/>
          </a:p>
        </p:txBody>
      </p:sp>
      <p:sp>
        <p:nvSpPr>
          <p:cNvPr id="10" name="矩形 9"/>
          <p:cNvSpPr/>
          <p:nvPr/>
        </p:nvSpPr>
        <p:spPr>
          <a:xfrm>
            <a:off x="3779912" y="4193704"/>
            <a:ext cx="1656184" cy="400110"/>
          </a:xfrm>
          <a:prstGeom prst="rect">
            <a:avLst/>
          </a:prstGeom>
        </p:spPr>
        <p:txBody>
          <a:bodyPr wrap="square">
            <a:spAutoFit/>
          </a:bodyPr>
          <a:lstStyle/>
          <a:p>
            <a:r>
              <a:rPr lang="en-US" altLang="zh-CN" sz="2000" dirty="0" err="1" smtClean="0"/>
              <a:t>d</a:t>
            </a:r>
            <a:r>
              <a:rPr lang="en-US" altLang="zh-CN" sz="2000" baseline="-25000" dirty="0" err="1" smtClean="0"/>
              <a:t>euc</a:t>
            </a:r>
            <a:r>
              <a:rPr lang="en-US" altLang="zh-CN" sz="2000" dirty="0" smtClean="0"/>
              <a:t>=2.6115</a:t>
            </a:r>
            <a:endParaRPr lang="zh-CN" altLang="en-US" sz="2000" dirty="0"/>
          </a:p>
        </p:txBody>
      </p:sp>
      <p:sp>
        <p:nvSpPr>
          <p:cNvPr id="11" name="矩形 10"/>
          <p:cNvSpPr/>
          <p:nvPr/>
        </p:nvSpPr>
        <p:spPr>
          <a:xfrm>
            <a:off x="1907704" y="385500"/>
            <a:ext cx="4896544" cy="523220"/>
          </a:xfrm>
          <a:prstGeom prst="rect">
            <a:avLst/>
          </a:prstGeom>
        </p:spPr>
        <p:txBody>
          <a:bodyPr wrap="square">
            <a:spAutoFit/>
          </a:bodyPr>
          <a:lstStyle/>
          <a:p>
            <a:pPr algn="ctr"/>
            <a:r>
              <a:rPr lang="zh-CN" altLang="en-US" sz="2800" b="1" dirty="0" smtClean="0">
                <a:solidFill>
                  <a:srgbClr val="C00000"/>
                </a:solidFill>
                <a:latin typeface="黑体" pitchFamily="49" charset="-122"/>
                <a:ea typeface="黑体" pitchFamily="49" charset="-122"/>
              </a:rPr>
              <a:t>欧氏距离应用较好的例子</a:t>
            </a:r>
            <a:endParaRPr lang="zh-CN" altLang="en-US" sz="2800" b="1" dirty="0">
              <a:solidFill>
                <a:srgbClr val="C00000"/>
              </a:solidFill>
              <a:latin typeface="黑体" pitchFamily="49" charset="-122"/>
              <a:ea typeface="黑体" pitchFamily="49"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107504" y="1690464"/>
            <a:ext cx="4341797" cy="3250704"/>
          </a:xfrm>
          <a:prstGeom prst="rect">
            <a:avLst/>
          </a:prstGeom>
          <a:noFill/>
          <a:ln w="9525">
            <a:noFill/>
            <a:miter lim="800000"/>
            <a:headEnd/>
            <a:tailEnd/>
          </a:ln>
        </p:spPr>
      </p:pic>
      <p:pic>
        <p:nvPicPr>
          <p:cNvPr id="4099" name="Picture 3"/>
          <p:cNvPicPr>
            <a:picLocks noChangeAspect="1" noChangeArrowheads="1"/>
          </p:cNvPicPr>
          <p:nvPr/>
        </p:nvPicPr>
        <p:blipFill>
          <a:blip r:embed="rId3" cstate="print"/>
          <a:srcRect/>
          <a:stretch>
            <a:fillRect/>
          </a:stretch>
        </p:blipFill>
        <p:spPr bwMode="auto">
          <a:xfrm>
            <a:off x="4716016" y="1762472"/>
            <a:ext cx="4211960" cy="3153495"/>
          </a:xfrm>
          <a:prstGeom prst="rect">
            <a:avLst/>
          </a:prstGeom>
          <a:noFill/>
          <a:ln w="9525">
            <a:noFill/>
            <a:miter lim="800000"/>
            <a:headEnd/>
            <a:tailEnd/>
          </a:ln>
        </p:spPr>
      </p:pic>
      <p:sp>
        <p:nvSpPr>
          <p:cNvPr id="7" name="矩形 6"/>
          <p:cNvSpPr/>
          <p:nvPr/>
        </p:nvSpPr>
        <p:spPr>
          <a:xfrm>
            <a:off x="1547664" y="1330424"/>
            <a:ext cx="1282723" cy="400110"/>
          </a:xfrm>
          <a:prstGeom prst="rect">
            <a:avLst/>
          </a:prstGeom>
        </p:spPr>
        <p:txBody>
          <a:bodyPr wrap="none">
            <a:spAutoFit/>
          </a:bodyPr>
          <a:lstStyle/>
          <a:p>
            <a:r>
              <a:rPr lang="en-US" altLang="zh-CN" sz="2000" dirty="0" err="1" smtClean="0"/>
              <a:t>d</a:t>
            </a:r>
            <a:r>
              <a:rPr lang="en-US" altLang="zh-CN" sz="2000" baseline="-25000" dirty="0" err="1" smtClean="0"/>
              <a:t>euc</a:t>
            </a:r>
            <a:r>
              <a:rPr lang="en-US" altLang="zh-CN" sz="2000" dirty="0" smtClean="0"/>
              <a:t>=1.41</a:t>
            </a:r>
            <a:endParaRPr lang="zh-CN" altLang="en-US" sz="2000" dirty="0"/>
          </a:p>
        </p:txBody>
      </p:sp>
      <p:sp>
        <p:nvSpPr>
          <p:cNvPr id="8" name="矩形 7"/>
          <p:cNvSpPr/>
          <p:nvPr/>
        </p:nvSpPr>
        <p:spPr>
          <a:xfrm>
            <a:off x="6097589" y="1330424"/>
            <a:ext cx="1282723" cy="400110"/>
          </a:xfrm>
          <a:prstGeom prst="rect">
            <a:avLst/>
          </a:prstGeom>
        </p:spPr>
        <p:txBody>
          <a:bodyPr wrap="none">
            <a:spAutoFit/>
          </a:bodyPr>
          <a:lstStyle/>
          <a:p>
            <a:r>
              <a:rPr lang="en-US" altLang="zh-CN" sz="2000" dirty="0" err="1" smtClean="0"/>
              <a:t>d</a:t>
            </a:r>
            <a:r>
              <a:rPr lang="en-US" altLang="zh-CN" sz="2000" baseline="-25000" dirty="0" err="1" smtClean="0"/>
              <a:t>euc</a:t>
            </a:r>
            <a:r>
              <a:rPr lang="en-US" altLang="zh-CN" sz="2000" dirty="0" smtClean="0"/>
              <a:t>=1.22</a:t>
            </a:r>
            <a:endParaRPr lang="zh-CN" altLang="en-US" sz="2000" dirty="0"/>
          </a:p>
        </p:txBody>
      </p:sp>
      <p:sp>
        <p:nvSpPr>
          <p:cNvPr id="10" name="矩形 9"/>
          <p:cNvSpPr/>
          <p:nvPr/>
        </p:nvSpPr>
        <p:spPr>
          <a:xfrm>
            <a:off x="2051720" y="313492"/>
            <a:ext cx="4896544" cy="523220"/>
          </a:xfrm>
          <a:prstGeom prst="rect">
            <a:avLst/>
          </a:prstGeom>
        </p:spPr>
        <p:txBody>
          <a:bodyPr wrap="square">
            <a:spAutoFit/>
          </a:bodyPr>
          <a:lstStyle/>
          <a:p>
            <a:pPr algn="ctr"/>
            <a:r>
              <a:rPr lang="zh-CN" altLang="en-US" sz="2800" b="1" dirty="0" smtClean="0">
                <a:solidFill>
                  <a:srgbClr val="C00000"/>
                </a:solidFill>
                <a:latin typeface="黑体" pitchFamily="49" charset="-122"/>
                <a:ea typeface="黑体" pitchFamily="49" charset="-122"/>
              </a:rPr>
              <a:t>欧氏距离不适合的例子</a:t>
            </a:r>
            <a:endParaRPr lang="zh-CN" altLang="en-US" sz="2800" b="1" dirty="0">
              <a:solidFill>
                <a:srgbClr val="C00000"/>
              </a:solidFill>
              <a:latin typeface="黑体" pitchFamily="49" charset="-122"/>
              <a:ea typeface="黑体" pitchFamily="49"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8229600" cy="994122"/>
          </a:xfrm>
        </p:spPr>
        <p:txBody>
          <a:bodyPr/>
          <a:lstStyle/>
          <a:p>
            <a:r>
              <a:rPr lang="zh-CN" altLang="en-US" sz="2800" b="1" dirty="0" smtClean="0">
                <a:solidFill>
                  <a:srgbClr val="FF0000"/>
                </a:solidFill>
                <a:latin typeface="Arial" pitchFamily="34" charset="0"/>
                <a:ea typeface="黑体" pitchFamily="49" charset="-122"/>
                <a:cs typeface="Arial" pitchFamily="34" charset="0"/>
              </a:rPr>
              <a:t>皮尔逊相关系数</a:t>
            </a:r>
            <a:r>
              <a:rPr lang="en-US" altLang="zh-CN" sz="2800" b="1" dirty="0" smtClean="0">
                <a:solidFill>
                  <a:srgbClr val="FF0000"/>
                </a:solidFill>
                <a:latin typeface="Arial" pitchFamily="34" charset="0"/>
                <a:ea typeface="黑体" pitchFamily="49" charset="-122"/>
                <a:cs typeface="Arial" pitchFamily="34" charset="0"/>
              </a:rPr>
              <a:t/>
            </a:r>
            <a:br>
              <a:rPr lang="en-US" altLang="zh-CN" sz="2800" b="1" dirty="0" smtClean="0">
                <a:solidFill>
                  <a:srgbClr val="FF0000"/>
                </a:solidFill>
                <a:latin typeface="Arial" pitchFamily="34" charset="0"/>
                <a:ea typeface="黑体" pitchFamily="49" charset="-122"/>
                <a:cs typeface="Arial" pitchFamily="34" charset="0"/>
              </a:rPr>
            </a:br>
            <a:r>
              <a:rPr lang="zh-CN" altLang="en-US" sz="2800" b="1" dirty="0" smtClean="0">
                <a:solidFill>
                  <a:srgbClr val="FF0000"/>
                </a:solidFill>
                <a:latin typeface="Arial" pitchFamily="34" charset="0"/>
                <a:ea typeface="黑体" pitchFamily="49" charset="-122"/>
                <a:cs typeface="Arial" pitchFamily="34" charset="0"/>
              </a:rPr>
              <a:t>（</a:t>
            </a:r>
            <a:r>
              <a:rPr lang="en-US" altLang="zh-CN" sz="2800" b="1" dirty="0" smtClean="0">
                <a:solidFill>
                  <a:srgbClr val="FF0000"/>
                </a:solidFill>
                <a:latin typeface="Arial" pitchFamily="34" charset="0"/>
                <a:ea typeface="黑体" pitchFamily="49" charset="-122"/>
                <a:cs typeface="Arial" pitchFamily="34" charset="0"/>
              </a:rPr>
              <a:t>Pearson correlation coefficient</a:t>
            </a:r>
            <a:r>
              <a:rPr lang="zh-CN" altLang="en-US" sz="2800" b="1" dirty="0" smtClean="0">
                <a:solidFill>
                  <a:srgbClr val="FF0000"/>
                </a:solidFill>
                <a:latin typeface="Arial" pitchFamily="34" charset="0"/>
                <a:ea typeface="黑体" pitchFamily="49" charset="-122"/>
                <a:cs typeface="Arial" pitchFamily="34" charset="0"/>
              </a:rPr>
              <a:t>，</a:t>
            </a:r>
            <a:r>
              <a:rPr lang="en-US" altLang="zh-CN" sz="2800" b="1" dirty="0" smtClean="0">
                <a:solidFill>
                  <a:srgbClr val="FF0000"/>
                </a:solidFill>
                <a:latin typeface="Arial" pitchFamily="34" charset="0"/>
                <a:ea typeface="黑体" pitchFamily="49" charset="-122"/>
                <a:cs typeface="Arial" pitchFamily="34" charset="0"/>
              </a:rPr>
              <a:t>PCC</a:t>
            </a:r>
            <a:r>
              <a:rPr lang="zh-CN" altLang="en-US" sz="2800" b="1" dirty="0" smtClean="0">
                <a:solidFill>
                  <a:srgbClr val="FF0000"/>
                </a:solidFill>
                <a:latin typeface="Arial" pitchFamily="34" charset="0"/>
                <a:ea typeface="黑体" pitchFamily="49" charset="-122"/>
                <a:cs typeface="Arial" pitchFamily="34" charset="0"/>
              </a:rPr>
              <a:t>）</a:t>
            </a:r>
            <a:endParaRPr lang="zh-CN" altLang="en-US" sz="2800" b="1" dirty="0">
              <a:solidFill>
                <a:srgbClr val="FF0000"/>
              </a:solidFill>
              <a:latin typeface="Arial" pitchFamily="34" charset="0"/>
              <a:ea typeface="黑体" pitchFamily="49" charset="-122"/>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22</a:t>
            </a:fld>
            <a:endParaRPr lang="zh-CN" altLang="en-US"/>
          </a:p>
        </p:txBody>
      </p:sp>
      <p:pic>
        <p:nvPicPr>
          <p:cNvPr id="6146" name="Picture 2"/>
          <p:cNvPicPr>
            <a:picLocks noChangeAspect="1" noChangeArrowheads="1"/>
          </p:cNvPicPr>
          <p:nvPr/>
        </p:nvPicPr>
        <p:blipFill>
          <a:blip r:embed="rId2" cstate="print"/>
          <a:srcRect/>
          <a:stretch>
            <a:fillRect/>
          </a:stretch>
        </p:blipFill>
        <p:spPr bwMode="auto">
          <a:xfrm>
            <a:off x="4572000" y="1628800"/>
            <a:ext cx="4388027" cy="3240831"/>
          </a:xfrm>
          <a:prstGeom prst="rect">
            <a:avLst/>
          </a:prstGeom>
          <a:noFill/>
          <a:ln w="9525">
            <a:noFill/>
            <a:miter lim="800000"/>
            <a:headEnd/>
            <a:tailEnd/>
          </a:ln>
        </p:spPr>
      </p:pic>
      <p:sp>
        <p:nvSpPr>
          <p:cNvPr id="7" name="内容占位符 2"/>
          <p:cNvSpPr>
            <a:spLocks noGrp="1"/>
          </p:cNvSpPr>
          <p:nvPr>
            <p:ph idx="1"/>
          </p:nvPr>
        </p:nvSpPr>
        <p:spPr>
          <a:xfrm>
            <a:off x="179512" y="1700808"/>
            <a:ext cx="4392488" cy="3528392"/>
          </a:xfrm>
        </p:spPr>
        <p:txBody>
          <a:bodyPr/>
          <a:lstStyle/>
          <a:p>
            <a:pPr>
              <a:buFont typeface="Wingdings" pitchFamily="2" charset="2"/>
              <a:buChar char="n"/>
            </a:pPr>
            <a:r>
              <a:rPr lang="en-US" altLang="zh-CN" sz="2400" dirty="0" smtClean="0">
                <a:latin typeface="Arial" pitchFamily="34" charset="0"/>
                <a:ea typeface="黑体" pitchFamily="49" charset="-122"/>
                <a:cs typeface="Arial" pitchFamily="34" charset="0"/>
              </a:rPr>
              <a:t>PCC</a:t>
            </a:r>
            <a:r>
              <a:rPr lang="zh-CN" altLang="en-US" sz="2400" dirty="0" smtClean="0">
                <a:latin typeface="Arial" pitchFamily="34" charset="0"/>
                <a:ea typeface="黑体" pitchFamily="49" charset="-122"/>
                <a:cs typeface="Arial" pitchFamily="34" charset="0"/>
              </a:rPr>
              <a:t>主要衡量的是“形状”相似性</a:t>
            </a:r>
            <a:r>
              <a:rPr lang="en-US" altLang="zh-CN" sz="2400" dirty="0" smtClean="0">
                <a:latin typeface="Arial" pitchFamily="34" charset="0"/>
                <a:ea typeface="黑体" pitchFamily="49" charset="-122"/>
                <a:cs typeface="Arial" pitchFamily="34" charset="0"/>
              </a:rPr>
              <a:t>;</a:t>
            </a:r>
          </a:p>
          <a:p>
            <a:pPr>
              <a:buFont typeface="Wingdings" pitchFamily="2" charset="2"/>
              <a:buChar char="n"/>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zh-CN" altLang="en-US" sz="2400" dirty="0" smtClean="0">
                <a:latin typeface="Arial" pitchFamily="34" charset="0"/>
                <a:ea typeface="黑体" pitchFamily="49" charset="-122"/>
                <a:cs typeface="Arial" pitchFamily="34" charset="0"/>
              </a:rPr>
              <a:t>取值在</a:t>
            </a:r>
            <a:r>
              <a:rPr lang="en-US" altLang="zh-CN" sz="2400" dirty="0" smtClean="0">
                <a:latin typeface="Arial" pitchFamily="34" charset="0"/>
                <a:ea typeface="黑体" pitchFamily="49" charset="-122"/>
                <a:cs typeface="Arial" pitchFamily="34" charset="0"/>
              </a:rPr>
              <a:t>-1</a:t>
            </a:r>
            <a:r>
              <a:rPr lang="zh-CN" altLang="en-US" sz="2400" dirty="0" smtClean="0">
                <a:latin typeface="Arial" pitchFamily="34" charset="0"/>
                <a:ea typeface="黑体" pitchFamily="49" charset="-122"/>
                <a:cs typeface="Arial" pitchFamily="34" charset="0"/>
              </a:rPr>
              <a:t>与</a:t>
            </a:r>
            <a:r>
              <a:rPr lang="en-US" altLang="zh-CN" sz="2400" dirty="0" smtClean="0">
                <a:latin typeface="Arial" pitchFamily="34" charset="0"/>
                <a:ea typeface="黑体" pitchFamily="49" charset="-122"/>
                <a:cs typeface="Arial" pitchFamily="34" charset="0"/>
              </a:rPr>
              <a:t>+1</a:t>
            </a:r>
            <a:r>
              <a:rPr lang="zh-CN" altLang="en-US" sz="2400" dirty="0" smtClean="0">
                <a:latin typeface="Arial" pitchFamily="34" charset="0"/>
                <a:ea typeface="黑体" pitchFamily="49" charset="-122"/>
                <a:cs typeface="Arial" pitchFamily="34" charset="0"/>
              </a:rPr>
              <a:t>之间；</a:t>
            </a:r>
            <a:endParaRPr lang="en-US" altLang="zh-CN" sz="2400" dirty="0" smtClean="0">
              <a:latin typeface="Arial" pitchFamily="34" charset="0"/>
              <a:ea typeface="黑体" pitchFamily="49" charset="-122"/>
              <a:cs typeface="Arial" pitchFamily="34" charset="0"/>
            </a:endParaRPr>
          </a:p>
          <a:p>
            <a:pPr lvl="1">
              <a:buFont typeface="Wingdings" pitchFamily="2" charset="2"/>
              <a:buChar char="n"/>
            </a:pPr>
            <a:r>
              <a:rPr lang="en-US" altLang="zh-CN" sz="2200" dirty="0" smtClean="0">
                <a:latin typeface="Arial" pitchFamily="34" charset="0"/>
                <a:ea typeface="黑体" pitchFamily="49" charset="-122"/>
                <a:cs typeface="Arial" pitchFamily="34" charset="0"/>
              </a:rPr>
              <a:t>-1</a:t>
            </a:r>
            <a:r>
              <a:rPr lang="zh-CN" altLang="en-US" sz="2200" dirty="0" smtClean="0">
                <a:latin typeface="Arial" pitchFamily="34" charset="0"/>
                <a:ea typeface="黑体" pitchFamily="49" charset="-122"/>
                <a:cs typeface="Arial" pitchFamily="34" charset="0"/>
              </a:rPr>
              <a:t>：完全负相关</a:t>
            </a:r>
            <a:endParaRPr lang="en-US" altLang="zh-CN" sz="2200" dirty="0" smtClean="0">
              <a:latin typeface="Arial" pitchFamily="34" charset="0"/>
              <a:ea typeface="黑体" pitchFamily="49" charset="-122"/>
              <a:cs typeface="Arial" pitchFamily="34" charset="0"/>
            </a:endParaRPr>
          </a:p>
          <a:p>
            <a:pPr lvl="1">
              <a:buFont typeface="Wingdings" pitchFamily="2" charset="2"/>
              <a:buChar char="n"/>
            </a:pPr>
            <a:r>
              <a:rPr lang="en-US" altLang="zh-CN" sz="2200" dirty="0" smtClean="0">
                <a:latin typeface="Arial" pitchFamily="34" charset="0"/>
                <a:ea typeface="黑体" pitchFamily="49" charset="-122"/>
                <a:cs typeface="Arial" pitchFamily="34" charset="0"/>
              </a:rPr>
              <a:t>+1</a:t>
            </a:r>
            <a:r>
              <a:rPr lang="zh-CN" altLang="en-US" sz="2200" dirty="0" smtClean="0">
                <a:latin typeface="Arial" pitchFamily="34" charset="0"/>
                <a:ea typeface="黑体" pitchFamily="49" charset="-122"/>
                <a:cs typeface="Arial" pitchFamily="34" charset="0"/>
              </a:rPr>
              <a:t>：完全正相关</a:t>
            </a:r>
            <a:endParaRPr lang="en-US" altLang="zh-CN" sz="2200" dirty="0" smtClean="0">
              <a:latin typeface="Arial" pitchFamily="34" charset="0"/>
              <a:ea typeface="黑体" pitchFamily="49" charset="-122"/>
              <a:cs typeface="Arial" pitchFamily="34" charset="0"/>
            </a:endParaRPr>
          </a:p>
          <a:p>
            <a:pPr>
              <a:buFont typeface="Wingdings" pitchFamily="2" charset="2"/>
              <a:buChar char="n"/>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zh-CN" altLang="en-US" sz="2400" dirty="0" smtClean="0">
                <a:latin typeface="Arial" pitchFamily="34" charset="0"/>
                <a:ea typeface="黑体" pitchFamily="49" charset="-122"/>
                <a:cs typeface="Arial" pitchFamily="34" charset="0"/>
              </a:rPr>
              <a:t>可转换成类似距离的计算</a:t>
            </a:r>
            <a:endParaRPr lang="zh-CN" altLang="en-US" sz="2400" dirty="0">
              <a:latin typeface="Arial" pitchFamily="34" charset="0"/>
              <a:ea typeface="黑体" pitchFamily="49" charset="-122"/>
              <a:cs typeface="Arial" pitchFamily="34" charset="0"/>
            </a:endParaRPr>
          </a:p>
        </p:txBody>
      </p:sp>
      <p:pic>
        <p:nvPicPr>
          <p:cNvPr id="8" name="Picture 2"/>
          <p:cNvPicPr>
            <a:picLocks noChangeAspect="1" noChangeArrowheads="1"/>
          </p:cNvPicPr>
          <p:nvPr/>
        </p:nvPicPr>
        <p:blipFill>
          <a:blip r:embed="rId3" cstate="print"/>
          <a:srcRect/>
          <a:stretch>
            <a:fillRect/>
          </a:stretch>
        </p:blipFill>
        <p:spPr bwMode="auto">
          <a:xfrm>
            <a:off x="827584" y="5229200"/>
            <a:ext cx="2127774" cy="89781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23</a:t>
            </a:fld>
            <a:endParaRPr lang="zh-CN" altLang="en-US"/>
          </a:p>
        </p:txBody>
      </p:sp>
      <p:sp>
        <p:nvSpPr>
          <p:cNvPr id="5" name="矩形 4"/>
          <p:cNvSpPr/>
          <p:nvPr/>
        </p:nvSpPr>
        <p:spPr>
          <a:xfrm>
            <a:off x="1547664" y="332656"/>
            <a:ext cx="5904656" cy="646331"/>
          </a:xfrm>
          <a:prstGeom prst="rect">
            <a:avLst/>
          </a:prstGeom>
        </p:spPr>
        <p:txBody>
          <a:bodyPr wrap="square">
            <a:spAutoFit/>
          </a:bodyPr>
          <a:lstStyle/>
          <a:p>
            <a:pPr algn="ctr"/>
            <a:r>
              <a:rPr lang="en-US" altLang="zh-CN" sz="3600" b="1" dirty="0" smtClean="0">
                <a:solidFill>
                  <a:srgbClr val="C00000"/>
                </a:solidFill>
                <a:latin typeface="Arial" pitchFamily="34" charset="0"/>
                <a:ea typeface="黑体" pitchFamily="49" charset="-122"/>
                <a:cs typeface="Arial" pitchFamily="34" charset="0"/>
              </a:rPr>
              <a:t>3. </a:t>
            </a:r>
            <a:r>
              <a:rPr lang="zh-CN" altLang="en-US" sz="3600" b="1" dirty="0" smtClean="0">
                <a:solidFill>
                  <a:srgbClr val="C00000"/>
                </a:solidFill>
                <a:latin typeface="Arial" pitchFamily="34" charset="0"/>
                <a:ea typeface="黑体" pitchFamily="49" charset="-122"/>
                <a:cs typeface="Arial" pitchFamily="34" charset="0"/>
              </a:rPr>
              <a:t>选择算法进行聚类分析</a:t>
            </a:r>
            <a:endParaRPr lang="zh-CN" altLang="en-US" sz="3600" b="1" dirty="0">
              <a:solidFill>
                <a:srgbClr val="C00000"/>
              </a:solidFill>
              <a:latin typeface="Arial" pitchFamily="34" charset="0"/>
              <a:ea typeface="黑体" pitchFamily="49" charset="-122"/>
              <a:cs typeface="Arial" pitchFamily="34" charset="0"/>
            </a:endParaRPr>
          </a:p>
        </p:txBody>
      </p:sp>
      <p:sp>
        <p:nvSpPr>
          <p:cNvPr id="6" name="内容占位符 5"/>
          <p:cNvSpPr>
            <a:spLocks noGrp="1"/>
          </p:cNvSpPr>
          <p:nvPr>
            <p:ph idx="1"/>
          </p:nvPr>
        </p:nvSpPr>
        <p:spPr>
          <a:xfrm>
            <a:off x="179512" y="1628800"/>
            <a:ext cx="8783960" cy="2880320"/>
          </a:xfrm>
        </p:spPr>
        <p:txBody>
          <a:bodyPr/>
          <a:lstStyle/>
          <a:p>
            <a:pPr>
              <a:buFont typeface="Wingdings" pitchFamily="2" charset="2"/>
              <a:buChar char="n"/>
            </a:pPr>
            <a:r>
              <a:rPr lang="zh-CN" altLang="en-US" b="1" dirty="0" smtClean="0">
                <a:latin typeface="Arial" pitchFamily="34" charset="0"/>
                <a:ea typeface="黑体" pitchFamily="49" charset="-122"/>
                <a:cs typeface="Arial" pitchFamily="34" charset="0"/>
              </a:rPr>
              <a:t>事先不确定分多少类：</a:t>
            </a:r>
            <a:endParaRPr lang="en-US" altLang="zh-CN" b="1" dirty="0" smtClean="0">
              <a:latin typeface="Arial" pitchFamily="34" charset="0"/>
              <a:ea typeface="黑体" pitchFamily="49" charset="-122"/>
              <a:cs typeface="Arial" pitchFamily="34" charset="0"/>
            </a:endParaRPr>
          </a:p>
          <a:p>
            <a:pPr>
              <a:buNone/>
            </a:pPr>
            <a:r>
              <a:rPr lang="en-US" altLang="zh-CN" dirty="0" smtClean="0">
                <a:solidFill>
                  <a:srgbClr val="FF0000"/>
                </a:solidFill>
                <a:latin typeface="Arial" pitchFamily="34" charset="0"/>
                <a:ea typeface="黑体" pitchFamily="49" charset="-122"/>
                <a:cs typeface="Arial" pitchFamily="34" charset="0"/>
              </a:rPr>
              <a:t>       </a:t>
            </a:r>
            <a:r>
              <a:rPr lang="zh-CN" altLang="en-US" dirty="0" smtClean="0">
                <a:solidFill>
                  <a:srgbClr val="FF0000"/>
                </a:solidFill>
                <a:latin typeface="Arial" pitchFamily="34" charset="0"/>
                <a:ea typeface="黑体" pitchFamily="49" charset="-122"/>
                <a:cs typeface="Arial" pitchFamily="34" charset="0"/>
              </a:rPr>
              <a:t>层次聚类</a:t>
            </a:r>
            <a:endParaRPr lang="en-US" altLang="zh-CN" dirty="0" smtClean="0">
              <a:solidFill>
                <a:srgbClr val="FF0000"/>
              </a:solidFill>
              <a:latin typeface="Arial" pitchFamily="34" charset="0"/>
              <a:ea typeface="黑体" pitchFamily="49" charset="-122"/>
              <a:cs typeface="Arial" pitchFamily="34" charset="0"/>
            </a:endParaRPr>
          </a:p>
          <a:p>
            <a:pPr>
              <a:buNone/>
            </a:pPr>
            <a:endParaRPr lang="en-US" altLang="zh-CN" dirty="0" smtClean="0">
              <a:solidFill>
                <a:srgbClr val="FF0000"/>
              </a:solidFill>
              <a:latin typeface="Arial" pitchFamily="34" charset="0"/>
              <a:ea typeface="黑体" pitchFamily="49" charset="-122"/>
              <a:cs typeface="Arial" pitchFamily="34" charset="0"/>
            </a:endParaRPr>
          </a:p>
          <a:p>
            <a:pPr>
              <a:buFont typeface="Wingdings" pitchFamily="2" charset="2"/>
              <a:buChar char="n"/>
            </a:pPr>
            <a:r>
              <a:rPr lang="zh-CN" altLang="en-US" b="1" dirty="0" smtClean="0">
                <a:latin typeface="Arial" pitchFamily="34" charset="0"/>
                <a:ea typeface="黑体" pitchFamily="49" charset="-122"/>
                <a:cs typeface="Arial" pitchFamily="34" charset="0"/>
              </a:rPr>
              <a:t>事先要确定分多少类：</a:t>
            </a:r>
            <a:endParaRPr lang="en-US" altLang="zh-CN" b="1" dirty="0" smtClean="0">
              <a:latin typeface="Arial" pitchFamily="34" charset="0"/>
              <a:ea typeface="黑体" pitchFamily="49" charset="-122"/>
              <a:cs typeface="Arial" pitchFamily="34" charset="0"/>
            </a:endParaRPr>
          </a:p>
          <a:p>
            <a:pPr>
              <a:buNone/>
            </a:pPr>
            <a:r>
              <a:rPr lang="en-US" altLang="zh-CN" dirty="0" smtClean="0">
                <a:solidFill>
                  <a:srgbClr val="FF0000"/>
                </a:solidFill>
                <a:latin typeface="Arial" pitchFamily="34" charset="0"/>
                <a:ea typeface="黑体" pitchFamily="49" charset="-122"/>
                <a:cs typeface="Arial" pitchFamily="34" charset="0"/>
              </a:rPr>
              <a:t>       K-</a:t>
            </a:r>
            <a:r>
              <a:rPr lang="zh-CN" altLang="en-US" dirty="0" smtClean="0">
                <a:solidFill>
                  <a:srgbClr val="FF0000"/>
                </a:solidFill>
                <a:latin typeface="Arial" pitchFamily="34" charset="0"/>
                <a:ea typeface="黑体" pitchFamily="49" charset="-122"/>
                <a:cs typeface="Arial" pitchFamily="34" charset="0"/>
              </a:rPr>
              <a:t>均值聚类</a:t>
            </a:r>
            <a:endParaRPr lang="en-US" altLang="zh-CN" dirty="0" smtClean="0">
              <a:solidFill>
                <a:srgbClr val="FF0000"/>
              </a:solidFill>
              <a:latin typeface="Arial" pitchFamily="34" charset="0"/>
              <a:ea typeface="黑体" pitchFamily="49" charset="-122"/>
              <a:cs typeface="Arial"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b="1" dirty="0" smtClean="0">
                <a:solidFill>
                  <a:srgbClr val="FF0000"/>
                </a:solidFill>
                <a:latin typeface="黑体" pitchFamily="49" charset="-122"/>
                <a:ea typeface="黑体" pitchFamily="49" charset="-122"/>
              </a:rPr>
              <a:t>几种常用的聚类方法</a:t>
            </a:r>
            <a:endParaRPr lang="zh-CN" altLang="en-US" sz="3200" b="1" dirty="0">
              <a:solidFill>
                <a:srgbClr val="FF0000"/>
              </a:solidFill>
              <a:latin typeface="黑体" pitchFamily="49" charset="-122"/>
              <a:ea typeface="黑体" pitchFamily="49" charset="-122"/>
            </a:endParaRPr>
          </a:p>
        </p:txBody>
      </p:sp>
      <p:sp>
        <p:nvSpPr>
          <p:cNvPr id="3" name="内容占位符 2"/>
          <p:cNvSpPr>
            <a:spLocks noGrp="1"/>
          </p:cNvSpPr>
          <p:nvPr>
            <p:ph idx="1"/>
          </p:nvPr>
        </p:nvSpPr>
        <p:spPr>
          <a:xfrm>
            <a:off x="457200" y="1484784"/>
            <a:ext cx="8291264" cy="4925144"/>
          </a:xfrm>
        </p:spPr>
        <p:txBody>
          <a:bodyPr/>
          <a:lstStyle/>
          <a:p>
            <a:pPr marL="514350" indent="-514350">
              <a:buFont typeface="Wingdings" pitchFamily="2" charset="2"/>
              <a:buChar char="n"/>
            </a:pPr>
            <a:r>
              <a:rPr lang="zh-CN" altLang="en-US" sz="2800" dirty="0" smtClean="0">
                <a:latin typeface="Arial" pitchFamily="34" charset="0"/>
                <a:ea typeface="黑体" pitchFamily="49" charset="-122"/>
                <a:cs typeface="Arial" pitchFamily="34" charset="0"/>
              </a:rPr>
              <a:t>简单聚类</a:t>
            </a:r>
          </a:p>
          <a:p>
            <a:pPr marL="514350" indent="-514350">
              <a:buFont typeface="Wingdings" pitchFamily="2" charset="2"/>
              <a:buChar char="n"/>
            </a:pPr>
            <a:r>
              <a:rPr lang="zh-CN" altLang="en-US" sz="2800" b="1" dirty="0" smtClean="0">
                <a:solidFill>
                  <a:srgbClr val="000099"/>
                </a:solidFill>
                <a:latin typeface="Arial" pitchFamily="34" charset="0"/>
                <a:ea typeface="黑体" pitchFamily="49" charset="-122"/>
                <a:cs typeface="Arial" pitchFamily="34" charset="0"/>
              </a:rPr>
              <a:t>层次聚类</a:t>
            </a:r>
          </a:p>
          <a:p>
            <a:pPr marL="514350" indent="-514350">
              <a:buFont typeface="Wingdings" pitchFamily="2" charset="2"/>
              <a:buChar char="n"/>
            </a:pPr>
            <a:r>
              <a:rPr lang="en-US" altLang="zh-CN" sz="2800" b="1" dirty="0" smtClean="0">
                <a:solidFill>
                  <a:srgbClr val="000099"/>
                </a:solidFill>
                <a:latin typeface="Arial" pitchFamily="34" charset="0"/>
                <a:ea typeface="黑体" pitchFamily="49" charset="-122"/>
                <a:cs typeface="Arial" pitchFamily="34" charset="0"/>
              </a:rPr>
              <a:t>K-</a:t>
            </a:r>
            <a:r>
              <a:rPr lang="zh-CN" altLang="en-US" sz="2800" b="1" dirty="0" smtClean="0">
                <a:solidFill>
                  <a:srgbClr val="000099"/>
                </a:solidFill>
                <a:latin typeface="Arial" pitchFamily="34" charset="0"/>
                <a:ea typeface="黑体" pitchFamily="49" charset="-122"/>
                <a:cs typeface="Arial" pitchFamily="34" charset="0"/>
              </a:rPr>
              <a:t>均值聚类</a:t>
            </a:r>
            <a:endParaRPr lang="en-US" altLang="zh-CN" sz="2800" b="1" dirty="0" smtClean="0">
              <a:solidFill>
                <a:srgbClr val="000099"/>
              </a:solidFill>
              <a:latin typeface="Arial" pitchFamily="34" charset="0"/>
              <a:ea typeface="黑体" pitchFamily="49" charset="-122"/>
              <a:cs typeface="Arial" pitchFamily="34" charset="0"/>
            </a:endParaRPr>
          </a:p>
          <a:p>
            <a:pPr marL="514350" indent="-514350">
              <a:buFont typeface="Wingdings" pitchFamily="2" charset="2"/>
              <a:buChar char="n"/>
            </a:pPr>
            <a:r>
              <a:rPr lang="zh-CN" altLang="en-US" sz="2800" b="1" dirty="0" smtClean="0">
                <a:latin typeface="Arial" pitchFamily="34" charset="0"/>
                <a:ea typeface="黑体" pitchFamily="49" charset="-122"/>
                <a:cs typeface="Arial" pitchFamily="34" charset="0"/>
              </a:rPr>
              <a:t>其他：</a:t>
            </a:r>
            <a:endParaRPr lang="en-US" altLang="zh-CN" sz="2800" b="1" dirty="0" smtClean="0">
              <a:latin typeface="Arial" pitchFamily="34" charset="0"/>
              <a:ea typeface="黑体" pitchFamily="49" charset="-122"/>
              <a:cs typeface="Arial" pitchFamily="34" charset="0"/>
            </a:endParaRPr>
          </a:p>
          <a:p>
            <a:pPr marL="914400" lvl="1" indent="-514350">
              <a:buFont typeface="Wingdings" pitchFamily="2" charset="2"/>
              <a:buChar char="n"/>
            </a:pPr>
            <a:r>
              <a:rPr lang="zh-CN" altLang="en-US" sz="2400" dirty="0" smtClean="0">
                <a:latin typeface="Arial" pitchFamily="34" charset="0"/>
                <a:ea typeface="黑体" pitchFamily="49" charset="-122"/>
                <a:cs typeface="Arial" pitchFamily="34" charset="0"/>
              </a:rPr>
              <a:t>均值漂移聚类</a:t>
            </a:r>
            <a:endParaRPr lang="en-US" altLang="zh-CN" sz="2400" dirty="0" smtClean="0">
              <a:latin typeface="Arial" pitchFamily="34" charset="0"/>
              <a:ea typeface="黑体" pitchFamily="49" charset="-122"/>
              <a:cs typeface="Arial" pitchFamily="34" charset="0"/>
            </a:endParaRPr>
          </a:p>
          <a:p>
            <a:pPr marL="914400" lvl="1" indent="-514350">
              <a:buFont typeface="Wingdings" pitchFamily="2" charset="2"/>
              <a:buChar char="n"/>
            </a:pPr>
            <a:r>
              <a:rPr lang="zh-CN" altLang="en-US" sz="2400" dirty="0" smtClean="0">
                <a:latin typeface="Arial" pitchFamily="34" charset="0"/>
                <a:ea typeface="黑体" pitchFamily="49" charset="-122"/>
                <a:cs typeface="Arial" pitchFamily="34" charset="0"/>
              </a:rPr>
              <a:t>基于密度的聚类方法</a:t>
            </a:r>
            <a:r>
              <a:rPr lang="en-US" altLang="zh-CN" sz="2400" dirty="0" smtClean="0">
                <a:latin typeface="Arial" pitchFamily="34" charset="0"/>
                <a:ea typeface="黑体" pitchFamily="49" charset="-122"/>
                <a:cs typeface="Arial" pitchFamily="34" charset="0"/>
              </a:rPr>
              <a:t>(DBSCAN)</a:t>
            </a:r>
          </a:p>
          <a:p>
            <a:pPr marL="914400" lvl="1" indent="-514350">
              <a:buFont typeface="Wingdings" pitchFamily="2" charset="2"/>
              <a:buChar char="n"/>
            </a:pPr>
            <a:r>
              <a:rPr lang="zh-CN" altLang="en-US" sz="2400" dirty="0" smtClean="0">
                <a:latin typeface="Arial" pitchFamily="34" charset="0"/>
                <a:ea typeface="黑体" pitchFamily="49" charset="-122"/>
                <a:cs typeface="Arial" pitchFamily="34" charset="0"/>
              </a:rPr>
              <a:t>用高斯混合模型（</a:t>
            </a:r>
            <a:r>
              <a:rPr lang="en-US" altLang="zh-CN" sz="2400" dirty="0" smtClean="0">
                <a:latin typeface="Arial" pitchFamily="34" charset="0"/>
                <a:ea typeface="黑体" pitchFamily="49" charset="-122"/>
                <a:cs typeface="Arial" pitchFamily="34" charset="0"/>
              </a:rPr>
              <a:t>GMM</a:t>
            </a:r>
            <a:r>
              <a:rPr lang="zh-CN" altLang="en-US" sz="2400" dirty="0" smtClean="0">
                <a:latin typeface="Arial" pitchFamily="34" charset="0"/>
                <a:ea typeface="黑体" pitchFamily="49" charset="-122"/>
                <a:cs typeface="Arial" pitchFamily="34" charset="0"/>
              </a:rPr>
              <a:t>）的最大期望（</a:t>
            </a:r>
            <a:r>
              <a:rPr lang="en-US" altLang="zh-CN" sz="2400" dirty="0" smtClean="0">
                <a:latin typeface="Arial" pitchFamily="34" charset="0"/>
                <a:ea typeface="黑体" pitchFamily="49" charset="-122"/>
                <a:cs typeface="Arial" pitchFamily="34" charset="0"/>
              </a:rPr>
              <a:t>EM</a:t>
            </a:r>
            <a:r>
              <a:rPr lang="zh-CN" altLang="en-US" sz="2400" dirty="0" smtClean="0">
                <a:latin typeface="Arial" pitchFamily="34" charset="0"/>
                <a:ea typeface="黑体" pitchFamily="49" charset="-122"/>
                <a:cs typeface="Arial" pitchFamily="34" charset="0"/>
              </a:rPr>
              <a:t>）聚类</a:t>
            </a:r>
            <a:endParaRPr lang="en-US" altLang="zh-CN" sz="2400" dirty="0" smtClean="0">
              <a:latin typeface="Arial" pitchFamily="34" charset="0"/>
              <a:ea typeface="黑体" pitchFamily="49" charset="-122"/>
              <a:cs typeface="Arial" pitchFamily="34" charset="0"/>
            </a:endParaRPr>
          </a:p>
          <a:p>
            <a:pPr marL="914400" lvl="1" indent="-514350">
              <a:buFont typeface="Wingdings" pitchFamily="2" charset="2"/>
              <a:buChar char="n"/>
            </a:pPr>
            <a:r>
              <a:rPr lang="zh-CN" altLang="en-US" sz="2400" dirty="0" smtClean="0">
                <a:latin typeface="Arial" pitchFamily="34" charset="0"/>
                <a:ea typeface="黑体" pitchFamily="49" charset="-122"/>
                <a:cs typeface="Arial" pitchFamily="34" charset="0"/>
              </a:rPr>
              <a:t>图团体检测</a:t>
            </a:r>
          </a:p>
          <a:p>
            <a:pPr marL="514350" indent="-514350">
              <a:buFont typeface="+mj-lt"/>
              <a:buAutoNum type="arabicPeriod"/>
            </a:pPr>
            <a:endParaRPr lang="zh-CN" altLang="en-US" sz="2800" b="1" dirty="0" smtClean="0">
              <a:latin typeface="Arial" pitchFamily="34" charset="0"/>
              <a:ea typeface="黑体" pitchFamily="49" charset="-122"/>
              <a:cs typeface="Arial" pitchFamily="34" charset="0"/>
            </a:endParaRPr>
          </a:p>
          <a:p>
            <a:endParaRPr lang="zh-CN" altLang="en-US" sz="2800" dirty="0">
              <a:latin typeface="Arial" pitchFamily="34" charset="0"/>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24</a:t>
            </a:fld>
            <a:endParaRPr lang="zh-CN" alt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457200" y="188640"/>
            <a:ext cx="8229600" cy="1152128"/>
          </a:xfrm>
        </p:spPr>
        <p:txBody>
          <a:bodyPr/>
          <a:lstStyle/>
          <a:p>
            <a:r>
              <a:rPr lang="zh-CN" altLang="en-US" sz="3200" b="1" dirty="0" smtClean="0">
                <a:solidFill>
                  <a:srgbClr val="000099"/>
                </a:solidFill>
                <a:latin typeface="Arial" pitchFamily="34" charset="0"/>
                <a:ea typeface="黑体" pitchFamily="49" charset="-122"/>
                <a:cs typeface="Arial" pitchFamily="34" charset="0"/>
              </a:rPr>
              <a:t>（</a:t>
            </a:r>
            <a:r>
              <a:rPr lang="en-US" altLang="zh-CN" sz="3200" b="1" dirty="0" smtClean="0">
                <a:solidFill>
                  <a:srgbClr val="000099"/>
                </a:solidFill>
                <a:latin typeface="Arial" pitchFamily="34" charset="0"/>
                <a:ea typeface="黑体" pitchFamily="49" charset="-122"/>
                <a:cs typeface="Arial" pitchFamily="34" charset="0"/>
              </a:rPr>
              <a:t>1</a:t>
            </a:r>
            <a:r>
              <a:rPr lang="zh-CN" altLang="en-US" sz="3200" b="1" dirty="0" smtClean="0">
                <a:solidFill>
                  <a:srgbClr val="000099"/>
                </a:solidFill>
                <a:latin typeface="Arial" pitchFamily="34" charset="0"/>
                <a:ea typeface="黑体" pitchFamily="49" charset="-122"/>
                <a:cs typeface="Arial" pitchFamily="34" charset="0"/>
              </a:rPr>
              <a:t>）层次聚类</a:t>
            </a:r>
            <a:r>
              <a:rPr lang="en-US" altLang="zh-CN" sz="3200" b="1" dirty="0" smtClean="0">
                <a:solidFill>
                  <a:srgbClr val="000099"/>
                </a:solidFill>
                <a:latin typeface="Arial" pitchFamily="34" charset="0"/>
                <a:ea typeface="黑体" pitchFamily="49" charset="-122"/>
                <a:cs typeface="Arial" pitchFamily="34" charset="0"/>
              </a:rPr>
              <a:t/>
            </a:r>
            <a:br>
              <a:rPr lang="en-US" altLang="zh-CN" sz="3200" b="1" dirty="0" smtClean="0">
                <a:solidFill>
                  <a:srgbClr val="000099"/>
                </a:solidFill>
                <a:latin typeface="Arial" pitchFamily="34" charset="0"/>
                <a:ea typeface="黑体" pitchFamily="49" charset="-122"/>
                <a:cs typeface="Arial" pitchFamily="34" charset="0"/>
              </a:rPr>
            </a:br>
            <a:r>
              <a:rPr lang="zh-CN" altLang="en-US" sz="3200" b="1" dirty="0" smtClean="0">
                <a:solidFill>
                  <a:srgbClr val="000099"/>
                </a:solidFill>
                <a:latin typeface="Arial" pitchFamily="34" charset="0"/>
                <a:ea typeface="黑体" pitchFamily="49" charset="-122"/>
                <a:cs typeface="Arial" pitchFamily="34" charset="0"/>
              </a:rPr>
              <a:t>（</a:t>
            </a:r>
            <a:r>
              <a:rPr lang="en-US" altLang="zh-CN" sz="3200" b="1" dirty="0" smtClean="0">
                <a:solidFill>
                  <a:srgbClr val="000099"/>
                </a:solidFill>
                <a:latin typeface="Arial" pitchFamily="34" charset="0"/>
                <a:ea typeface="黑体" pitchFamily="49" charset="-122"/>
                <a:cs typeface="Arial" pitchFamily="34" charset="0"/>
              </a:rPr>
              <a:t>Hierarchical Clustering</a:t>
            </a:r>
            <a:r>
              <a:rPr lang="zh-CN" altLang="en-US" sz="3200" b="1" dirty="0" smtClean="0">
                <a:solidFill>
                  <a:srgbClr val="000099"/>
                </a:solidFill>
                <a:latin typeface="Arial" pitchFamily="34" charset="0"/>
                <a:ea typeface="黑体" pitchFamily="49" charset="-122"/>
                <a:cs typeface="Arial" pitchFamily="34" charset="0"/>
              </a:rPr>
              <a:t>）</a:t>
            </a:r>
            <a:endParaRPr lang="zh-CN" altLang="en-US" sz="3200" b="1" dirty="0">
              <a:solidFill>
                <a:srgbClr val="000099"/>
              </a:solidFill>
              <a:latin typeface="Arial" pitchFamily="34" charset="0"/>
              <a:ea typeface="黑体" pitchFamily="49" charset="-122"/>
              <a:cs typeface="Arial" pitchFamily="34" charset="0"/>
            </a:endParaRPr>
          </a:p>
        </p:txBody>
      </p:sp>
      <p:sp>
        <p:nvSpPr>
          <p:cNvPr id="6" name="内容占位符 2"/>
          <p:cNvSpPr>
            <a:spLocks noGrp="1"/>
          </p:cNvSpPr>
          <p:nvPr>
            <p:ph idx="1"/>
          </p:nvPr>
        </p:nvSpPr>
        <p:spPr>
          <a:xfrm>
            <a:off x="72008" y="1628801"/>
            <a:ext cx="9036496" cy="4752527"/>
          </a:xfrm>
        </p:spPr>
        <p:txBody>
          <a:bodyPr/>
          <a:lstStyle/>
          <a:p>
            <a:pPr>
              <a:buFont typeface="Wingdings" pitchFamily="2" charset="2"/>
              <a:buChar char="n"/>
            </a:pPr>
            <a:r>
              <a:rPr lang="zh-CN" altLang="en-US" sz="2800" dirty="0" smtClean="0">
                <a:latin typeface="Arial" pitchFamily="34" charset="0"/>
                <a:ea typeface="黑体" pitchFamily="49" charset="-122"/>
                <a:cs typeface="Arial" pitchFamily="34" charset="0"/>
              </a:rPr>
              <a:t>定义：对给定的数据进行层次的分解；</a:t>
            </a:r>
            <a:endParaRPr lang="en-US" altLang="zh-CN" sz="2800" dirty="0" smtClean="0">
              <a:latin typeface="Arial" pitchFamily="34" charset="0"/>
              <a:ea typeface="黑体" pitchFamily="49" charset="-122"/>
              <a:cs typeface="Arial" pitchFamily="34" charset="0"/>
            </a:endParaRPr>
          </a:p>
          <a:p>
            <a:pPr>
              <a:buFont typeface="Wingdings" pitchFamily="2" charset="2"/>
              <a:buChar char="n"/>
            </a:pPr>
            <a:endParaRPr lang="zh-CN" altLang="en-US" sz="2800" dirty="0" smtClean="0">
              <a:latin typeface="Arial" pitchFamily="34" charset="0"/>
              <a:ea typeface="黑体" pitchFamily="49" charset="-122"/>
              <a:cs typeface="Arial" pitchFamily="34" charset="0"/>
            </a:endParaRPr>
          </a:p>
          <a:p>
            <a:pPr>
              <a:buFont typeface="Wingdings" pitchFamily="2" charset="2"/>
              <a:buChar char="n"/>
            </a:pPr>
            <a:r>
              <a:rPr lang="zh-CN" altLang="en-US" sz="2800" dirty="0" smtClean="0">
                <a:latin typeface="Arial" pitchFamily="34" charset="0"/>
                <a:ea typeface="黑体" pitchFamily="49" charset="-122"/>
                <a:cs typeface="Arial" pitchFamily="34" charset="0"/>
              </a:rPr>
              <a:t>方法分类： </a:t>
            </a:r>
          </a:p>
          <a:p>
            <a:pPr lvl="1">
              <a:buFont typeface="Wingdings" pitchFamily="2" charset="2"/>
              <a:buChar char="n"/>
            </a:pPr>
            <a:r>
              <a:rPr lang="zh-CN" altLang="en-US" sz="2400" dirty="0" smtClean="0">
                <a:solidFill>
                  <a:srgbClr val="FF0000"/>
                </a:solidFill>
                <a:latin typeface="Arial" pitchFamily="34" charset="0"/>
                <a:ea typeface="黑体" pitchFamily="49" charset="-122"/>
                <a:cs typeface="Arial" pitchFamily="34" charset="0"/>
              </a:rPr>
              <a:t>凝聚（</a:t>
            </a:r>
            <a:r>
              <a:rPr lang="en-US" altLang="zh-CN" sz="2400" dirty="0" smtClean="0">
                <a:solidFill>
                  <a:srgbClr val="FF0000"/>
                </a:solidFill>
                <a:latin typeface="Arial" pitchFamily="34" charset="0"/>
                <a:ea typeface="黑体" pitchFamily="49" charset="-122"/>
                <a:cs typeface="Arial" pitchFamily="34" charset="0"/>
              </a:rPr>
              <a:t>agglomerative</a:t>
            </a:r>
            <a:r>
              <a:rPr lang="zh-CN" altLang="en-US" sz="2400" dirty="0" smtClean="0">
                <a:solidFill>
                  <a:srgbClr val="FF0000"/>
                </a:solidFill>
                <a:latin typeface="Arial" pitchFamily="34" charset="0"/>
                <a:ea typeface="黑体" pitchFamily="49" charset="-122"/>
                <a:cs typeface="Arial" pitchFamily="34" charset="0"/>
              </a:rPr>
              <a:t>）方法</a:t>
            </a:r>
            <a:r>
              <a:rPr lang="zh-CN" altLang="en-US" sz="2400" dirty="0" smtClean="0">
                <a:latin typeface="Arial" pitchFamily="34" charset="0"/>
                <a:ea typeface="黑体" pitchFamily="49" charset="-122"/>
                <a:cs typeface="Arial" pitchFamily="34" charset="0"/>
              </a:rPr>
              <a:t>（自底向上）：一开始将每个对象作为单独的一组，然后根据同类相近，异类相异的原则，合并对象，直到所有组合并成一个或达到一个终止条件；</a:t>
            </a:r>
            <a:endParaRPr lang="en-US" altLang="zh-CN" sz="2400" dirty="0" smtClean="0">
              <a:latin typeface="Arial" pitchFamily="34" charset="0"/>
              <a:ea typeface="黑体" pitchFamily="49" charset="-122"/>
              <a:cs typeface="Arial" pitchFamily="34" charset="0"/>
            </a:endParaRPr>
          </a:p>
          <a:p>
            <a:pPr lvl="1">
              <a:buFont typeface="Wingdings" pitchFamily="2" charset="2"/>
              <a:buChar char="n"/>
            </a:pPr>
            <a:endParaRPr lang="en-US" altLang="zh-CN" sz="2400" dirty="0" smtClean="0">
              <a:solidFill>
                <a:srgbClr val="FF0000"/>
              </a:solidFill>
              <a:latin typeface="Arial" pitchFamily="34" charset="0"/>
              <a:ea typeface="黑体" pitchFamily="49" charset="-122"/>
              <a:cs typeface="Arial" pitchFamily="34" charset="0"/>
            </a:endParaRPr>
          </a:p>
          <a:p>
            <a:pPr lvl="1">
              <a:buFont typeface="Wingdings" pitchFamily="2" charset="2"/>
              <a:buChar char="n"/>
            </a:pPr>
            <a:r>
              <a:rPr lang="zh-CN" altLang="en-US" sz="2400" dirty="0" smtClean="0">
                <a:solidFill>
                  <a:srgbClr val="FF0000"/>
                </a:solidFill>
                <a:latin typeface="Arial" pitchFamily="34" charset="0"/>
                <a:ea typeface="黑体" pitchFamily="49" charset="-122"/>
                <a:cs typeface="Arial" pitchFamily="34" charset="0"/>
              </a:rPr>
              <a:t>分裂（</a:t>
            </a:r>
            <a:r>
              <a:rPr lang="en-US" altLang="zh-CN" sz="2400" dirty="0" smtClean="0">
                <a:solidFill>
                  <a:srgbClr val="FF0000"/>
                </a:solidFill>
                <a:latin typeface="Arial" pitchFamily="34" charset="0"/>
                <a:ea typeface="黑体" pitchFamily="49" charset="-122"/>
                <a:cs typeface="Arial" pitchFamily="34" charset="0"/>
              </a:rPr>
              <a:t>divisive</a:t>
            </a:r>
            <a:r>
              <a:rPr lang="zh-CN" altLang="en-US" sz="2400" dirty="0" smtClean="0">
                <a:solidFill>
                  <a:srgbClr val="FF0000"/>
                </a:solidFill>
                <a:latin typeface="Arial" pitchFamily="34" charset="0"/>
                <a:ea typeface="黑体" pitchFamily="49" charset="-122"/>
                <a:cs typeface="Arial" pitchFamily="34" charset="0"/>
              </a:rPr>
              <a:t>）方法</a:t>
            </a:r>
            <a:r>
              <a:rPr lang="zh-CN" altLang="en-US" sz="2400" dirty="0" smtClean="0">
                <a:latin typeface="Arial" pitchFamily="34" charset="0"/>
                <a:ea typeface="黑体" pitchFamily="49" charset="-122"/>
                <a:cs typeface="Arial" pitchFamily="34" charset="0"/>
              </a:rPr>
              <a:t>（自顶向下） ：一开始将所有的对象置于一类，在迭代的每一步中，一个类不断地分为更小的类，直到每个对象在单独的一个类中，或达到一个终止条件。</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26</a:t>
            </a:fld>
            <a:endParaRPr lang="zh-CN" altLang="en-US"/>
          </a:p>
        </p:txBody>
      </p:sp>
      <p:sp>
        <p:nvSpPr>
          <p:cNvPr id="5" name="内容占位符 2"/>
          <p:cNvSpPr>
            <a:spLocks noGrp="1"/>
          </p:cNvSpPr>
          <p:nvPr>
            <p:ph idx="1"/>
          </p:nvPr>
        </p:nvSpPr>
        <p:spPr>
          <a:xfrm>
            <a:off x="251520" y="332656"/>
            <a:ext cx="8568952" cy="3503104"/>
          </a:xfrm>
        </p:spPr>
        <p:txBody>
          <a:bodyPr/>
          <a:lstStyle/>
          <a:p>
            <a:pPr>
              <a:buFont typeface="Wingdings" pitchFamily="2" charset="2"/>
              <a:buChar char="n"/>
            </a:pPr>
            <a:r>
              <a:rPr lang="zh-CN" altLang="en-US" sz="2800" dirty="0" smtClean="0">
                <a:solidFill>
                  <a:srgbClr val="C00000"/>
                </a:solidFill>
                <a:latin typeface="Arial" pitchFamily="34" charset="0"/>
                <a:ea typeface="黑体" pitchFamily="49" charset="-122"/>
                <a:cs typeface="Arial" pitchFamily="34" charset="0"/>
              </a:rPr>
              <a:t>凝聚层次聚类的基本过程</a:t>
            </a:r>
            <a:r>
              <a:rPr lang="zh-CN" altLang="en-US" sz="2800" dirty="0" smtClean="0">
                <a:latin typeface="Arial" pitchFamily="34" charset="0"/>
                <a:ea typeface="黑体" pitchFamily="49" charset="-122"/>
                <a:cs typeface="Arial" pitchFamily="34" charset="0"/>
              </a:rPr>
              <a:t>：</a:t>
            </a:r>
            <a:endParaRPr lang="en-US" altLang="zh-CN" sz="2800" dirty="0" smtClean="0">
              <a:latin typeface="Arial" pitchFamily="34" charset="0"/>
              <a:ea typeface="黑体" pitchFamily="49" charset="-122"/>
              <a:cs typeface="Arial" pitchFamily="34" charset="0"/>
            </a:endParaRPr>
          </a:p>
          <a:p>
            <a:pPr lvl="1">
              <a:buFont typeface="Wingdings" pitchFamily="2" charset="2"/>
              <a:buChar char="n"/>
            </a:pPr>
            <a:r>
              <a:rPr lang="zh-CN" altLang="en-US" sz="2400" dirty="0" smtClean="0">
                <a:latin typeface="Arial" pitchFamily="34" charset="0"/>
                <a:ea typeface="黑体" pitchFamily="49" charset="-122"/>
                <a:cs typeface="Arial" pitchFamily="34" charset="0"/>
              </a:rPr>
              <a:t>开始时，有多少点就是多少类；</a:t>
            </a:r>
            <a:endParaRPr lang="en-US" altLang="zh-CN" sz="2400" dirty="0" smtClean="0">
              <a:latin typeface="Arial" pitchFamily="34" charset="0"/>
              <a:ea typeface="黑体" pitchFamily="49" charset="-122"/>
              <a:cs typeface="Arial" pitchFamily="34" charset="0"/>
            </a:endParaRPr>
          </a:p>
          <a:p>
            <a:pPr lvl="1">
              <a:buFont typeface="Wingdings" pitchFamily="2" charset="2"/>
              <a:buChar char="n"/>
            </a:pPr>
            <a:endParaRPr lang="en-US" altLang="zh-CN" sz="2400" dirty="0" smtClean="0">
              <a:latin typeface="Arial" pitchFamily="34" charset="0"/>
              <a:ea typeface="黑体" pitchFamily="49" charset="-122"/>
              <a:cs typeface="Arial" pitchFamily="34" charset="0"/>
            </a:endParaRPr>
          </a:p>
          <a:p>
            <a:pPr lvl="1">
              <a:buFont typeface="Wingdings" pitchFamily="2" charset="2"/>
              <a:buChar char="n"/>
            </a:pPr>
            <a:r>
              <a:rPr lang="zh-CN" altLang="en-US" sz="2400" dirty="0" smtClean="0">
                <a:latin typeface="Arial" pitchFamily="34" charset="0"/>
                <a:ea typeface="黑体" pitchFamily="49" charset="-122"/>
                <a:cs typeface="Arial" pitchFamily="34" charset="0"/>
              </a:rPr>
              <a:t>该算法第一步先把最近的两类（点）合并成一类，然后再把剩下的最近的两类合并成一类；</a:t>
            </a:r>
            <a:endParaRPr lang="en-US" altLang="zh-CN" sz="2400" dirty="0" smtClean="0">
              <a:latin typeface="Arial" pitchFamily="34" charset="0"/>
              <a:ea typeface="黑体" pitchFamily="49" charset="-122"/>
              <a:cs typeface="Arial" pitchFamily="34" charset="0"/>
            </a:endParaRPr>
          </a:p>
          <a:p>
            <a:pPr lvl="1">
              <a:buFont typeface="Wingdings" pitchFamily="2" charset="2"/>
              <a:buChar char="n"/>
            </a:pPr>
            <a:endParaRPr lang="en-US" altLang="zh-CN" sz="2400" dirty="0" smtClean="0">
              <a:latin typeface="Arial" pitchFamily="34" charset="0"/>
              <a:ea typeface="黑体" pitchFamily="49" charset="-122"/>
              <a:cs typeface="Arial" pitchFamily="34" charset="0"/>
            </a:endParaRPr>
          </a:p>
          <a:p>
            <a:pPr lvl="1">
              <a:buFont typeface="Wingdings" pitchFamily="2" charset="2"/>
              <a:buChar char="n"/>
            </a:pPr>
            <a:r>
              <a:rPr lang="zh-CN" altLang="en-US" sz="2400" dirty="0" smtClean="0">
                <a:latin typeface="Arial" pitchFamily="34" charset="0"/>
                <a:ea typeface="黑体" pitchFamily="49" charset="-122"/>
                <a:cs typeface="Arial" pitchFamily="34" charset="0"/>
              </a:rPr>
              <a:t>这样下去，每次都少一类，直到最后只有一大类为止</a:t>
            </a:r>
            <a:r>
              <a:rPr lang="zh-CN" altLang="en-US" sz="2400" dirty="0">
                <a:latin typeface="Arial" pitchFamily="34" charset="0"/>
                <a:ea typeface="黑体" pitchFamily="49" charset="-122"/>
                <a:cs typeface="Arial" pitchFamily="34" charset="0"/>
              </a:rPr>
              <a:t>。越是后来合并的类，距离就越</a:t>
            </a:r>
            <a:r>
              <a:rPr lang="zh-CN" altLang="en-US" sz="2400" dirty="0" smtClean="0">
                <a:latin typeface="Arial" pitchFamily="34" charset="0"/>
                <a:ea typeface="黑体" pitchFamily="49" charset="-122"/>
                <a:cs typeface="Arial" pitchFamily="34" charset="0"/>
              </a:rPr>
              <a:t>远</a:t>
            </a:r>
            <a:r>
              <a:rPr lang="zh-CN" altLang="en-US" sz="2400" dirty="0">
                <a:latin typeface="Arial" pitchFamily="34" charset="0"/>
                <a:ea typeface="黑体" pitchFamily="49" charset="-122"/>
                <a:cs typeface="Arial" pitchFamily="34" charset="0"/>
              </a:rPr>
              <a:t>。</a:t>
            </a:r>
            <a:endParaRPr lang="en-US" altLang="zh-CN" sz="2400" dirty="0" smtClean="0">
              <a:latin typeface="Arial" pitchFamily="34" charset="0"/>
              <a:ea typeface="黑体" pitchFamily="49" charset="-122"/>
              <a:cs typeface="Arial" pitchFamily="34" charset="0"/>
            </a:endParaRPr>
          </a:p>
          <a:p>
            <a:pPr lvl="1">
              <a:buFont typeface="Wingdings" pitchFamily="2" charset="2"/>
              <a:buChar char="n"/>
            </a:pPr>
            <a:endParaRPr lang="zh-CN" altLang="en-US" sz="2400" dirty="0" smtClean="0">
              <a:latin typeface="Arial" pitchFamily="34" charset="0"/>
              <a:ea typeface="黑体" pitchFamily="49" charset="-122"/>
              <a:cs typeface="Arial" pitchFamily="34" charset="0"/>
            </a:endParaRPr>
          </a:p>
        </p:txBody>
      </p:sp>
      <p:pic>
        <p:nvPicPr>
          <p:cNvPr id="6" name="Picture 3"/>
          <p:cNvPicPr>
            <a:picLocks noChangeAspect="1" noChangeArrowheads="1"/>
          </p:cNvPicPr>
          <p:nvPr/>
        </p:nvPicPr>
        <p:blipFill>
          <a:blip r:embed="rId2" cstate="print"/>
          <a:srcRect/>
          <a:stretch>
            <a:fillRect/>
          </a:stretch>
        </p:blipFill>
        <p:spPr bwMode="auto">
          <a:xfrm>
            <a:off x="179512" y="4293096"/>
            <a:ext cx="5514502" cy="2024998"/>
          </a:xfrm>
          <a:prstGeom prst="rect">
            <a:avLst/>
          </a:prstGeom>
          <a:noFill/>
          <a:ln w="9525">
            <a:noFill/>
            <a:miter lim="800000"/>
            <a:headEnd/>
            <a:tailEnd/>
          </a:ln>
        </p:spPr>
      </p:pic>
      <p:pic>
        <p:nvPicPr>
          <p:cNvPr id="7" name="Picture 2"/>
          <p:cNvPicPr>
            <a:picLocks noChangeAspect="1" noChangeArrowheads="1"/>
          </p:cNvPicPr>
          <p:nvPr/>
        </p:nvPicPr>
        <p:blipFill>
          <a:blip r:embed="rId3" cstate="print"/>
          <a:srcRect l="13462" r="11538"/>
          <a:stretch>
            <a:fillRect/>
          </a:stretch>
        </p:blipFill>
        <p:spPr bwMode="auto">
          <a:xfrm>
            <a:off x="5940152" y="3927408"/>
            <a:ext cx="2880320" cy="259793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27</a:t>
            </a:fld>
            <a:endParaRPr lang="zh-CN" altLang="en-US"/>
          </a:p>
        </p:txBody>
      </p:sp>
      <p:sp>
        <p:nvSpPr>
          <p:cNvPr id="3" name="内容占位符 2"/>
          <p:cNvSpPr txBox="1">
            <a:spLocks/>
          </p:cNvSpPr>
          <p:nvPr/>
        </p:nvSpPr>
        <p:spPr>
          <a:xfrm>
            <a:off x="107504" y="476672"/>
            <a:ext cx="5832648" cy="2160239"/>
          </a:xfrm>
          <a:prstGeom prst="rect">
            <a:avLst/>
          </a:prstGeom>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Char char="n"/>
            </a:pPr>
            <a:r>
              <a:rPr lang="zh-CN" altLang="en-US" sz="2800" dirty="0" smtClean="0">
                <a:latin typeface="Arial" pitchFamily="34" charset="0"/>
                <a:ea typeface="黑体" pitchFamily="49" charset="-122"/>
                <a:cs typeface="Arial" pitchFamily="34" charset="0"/>
              </a:rPr>
              <a:t>特点： </a:t>
            </a:r>
          </a:p>
          <a:p>
            <a:pPr lvl="1">
              <a:buFont typeface="Wingdings" pitchFamily="2" charset="2"/>
              <a:buChar char="n"/>
            </a:pPr>
            <a:r>
              <a:rPr lang="zh-CN" altLang="en-US" sz="2400" dirty="0" smtClean="0">
                <a:latin typeface="Arial" pitchFamily="34" charset="0"/>
                <a:ea typeface="黑体" pitchFamily="49" charset="-122"/>
                <a:cs typeface="Arial" pitchFamily="34" charset="0"/>
              </a:rPr>
              <a:t>类的个数不需事先定好；</a:t>
            </a:r>
          </a:p>
          <a:p>
            <a:pPr lvl="1">
              <a:buFont typeface="Wingdings" pitchFamily="2" charset="2"/>
              <a:buChar char="n"/>
            </a:pPr>
            <a:r>
              <a:rPr lang="zh-CN" altLang="en-US" sz="2400" dirty="0" smtClean="0">
                <a:latin typeface="Arial" pitchFamily="34" charset="0"/>
                <a:ea typeface="黑体" pitchFamily="49" charset="-122"/>
                <a:cs typeface="Arial" pitchFamily="34" charset="0"/>
              </a:rPr>
              <a:t>需确定距离矩阵；</a:t>
            </a:r>
            <a:endParaRPr lang="en-US" altLang="zh-CN" sz="2400" dirty="0" smtClean="0">
              <a:latin typeface="Arial" pitchFamily="34" charset="0"/>
              <a:ea typeface="黑体" pitchFamily="49" charset="-122"/>
              <a:cs typeface="Arial" pitchFamily="34" charset="0"/>
            </a:endParaRPr>
          </a:p>
          <a:p>
            <a:pPr lvl="1">
              <a:buFont typeface="Wingdings" pitchFamily="2" charset="2"/>
              <a:buChar char="n"/>
            </a:pPr>
            <a:r>
              <a:rPr lang="zh-CN" altLang="en-US" sz="2400" dirty="0" smtClean="0">
                <a:latin typeface="Arial" pitchFamily="34" charset="0"/>
                <a:ea typeface="黑体" pitchFamily="49" charset="-122"/>
                <a:cs typeface="Arial" pitchFamily="34" charset="0"/>
              </a:rPr>
              <a:t>运算量大，适用于处理小样本数据。</a:t>
            </a:r>
          </a:p>
        </p:txBody>
      </p:sp>
      <p:pic>
        <p:nvPicPr>
          <p:cNvPr id="4" name="图片 3" descr="20180301171047257.gif"/>
          <p:cNvPicPr>
            <a:picLocks noChangeAspect="1"/>
          </p:cNvPicPr>
          <p:nvPr/>
        </p:nvPicPr>
        <p:blipFill>
          <a:blip r:embed="rId2" cstate="print"/>
          <a:stretch>
            <a:fillRect/>
          </a:stretch>
        </p:blipFill>
        <p:spPr>
          <a:xfrm>
            <a:off x="267522" y="2924944"/>
            <a:ext cx="8480942" cy="3816424"/>
          </a:xfrm>
          <a:prstGeom prst="rect">
            <a:avLst/>
          </a:prstGeom>
        </p:spPr>
      </p:pic>
      <p:pic>
        <p:nvPicPr>
          <p:cNvPr id="5" name="图片 4"/>
          <p:cNvPicPr>
            <a:picLocks noChangeAspect="1"/>
          </p:cNvPicPr>
          <p:nvPr/>
        </p:nvPicPr>
        <p:blipFill>
          <a:blip r:embed="rId3" cstate="print"/>
          <a:stretch>
            <a:fillRect/>
          </a:stretch>
        </p:blipFill>
        <p:spPr>
          <a:xfrm>
            <a:off x="5833814" y="255661"/>
            <a:ext cx="2914650" cy="2381250"/>
          </a:xfrm>
          <a:prstGeom prst="rect">
            <a:avLst/>
          </a:prstGeom>
        </p:spPr>
      </p:pic>
    </p:spTree>
    <p:extLst>
      <p:ext uri="{BB962C8B-B14F-4D97-AF65-F5344CB8AC3E}">
        <p14:creationId xmlns:p14="http://schemas.microsoft.com/office/powerpoint/2010/main" val="416665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74848" y="274638"/>
            <a:ext cx="8229600" cy="778098"/>
          </a:xfrm>
        </p:spPr>
        <p:txBody>
          <a:bodyPr/>
          <a:lstStyle/>
          <a:p>
            <a:r>
              <a:rPr lang="zh-CN" altLang="en-US" sz="3200" b="1" dirty="0" smtClean="0">
                <a:solidFill>
                  <a:srgbClr val="C00000"/>
                </a:solidFill>
                <a:latin typeface="黑体" pitchFamily="49" charset="-122"/>
                <a:ea typeface="黑体" pitchFamily="49" charset="-122"/>
              </a:rPr>
              <a:t>最短距离法</a:t>
            </a:r>
            <a:endParaRPr lang="zh-CN" altLang="en-US" sz="3200" b="1" dirty="0">
              <a:solidFill>
                <a:srgbClr val="C00000"/>
              </a:solidFill>
              <a:latin typeface="黑体" pitchFamily="49" charset="-122"/>
              <a:ea typeface="黑体" pitchFamily="49" charset="-122"/>
            </a:endParaRPr>
          </a:p>
        </p:txBody>
      </p:sp>
      <p:sp>
        <p:nvSpPr>
          <p:cNvPr id="3" name="内容占位符 2"/>
          <p:cNvSpPr>
            <a:spLocks noGrp="1"/>
          </p:cNvSpPr>
          <p:nvPr>
            <p:ph idx="1"/>
          </p:nvPr>
        </p:nvSpPr>
        <p:spPr>
          <a:xfrm>
            <a:off x="107504" y="1124744"/>
            <a:ext cx="8856984" cy="1152128"/>
          </a:xfrm>
        </p:spPr>
        <p:txBody>
          <a:bodyPr/>
          <a:lstStyle/>
          <a:p>
            <a:pPr>
              <a:buFont typeface="Wingdings" pitchFamily="2" charset="2"/>
              <a:buChar char="n"/>
            </a:pPr>
            <a:r>
              <a:rPr lang="zh-CN" altLang="en-US" sz="2800" dirty="0" smtClean="0">
                <a:latin typeface="Arial" pitchFamily="34" charset="0"/>
                <a:ea typeface="黑体" pitchFamily="49" charset="-122"/>
                <a:cs typeface="Arial" pitchFamily="34" charset="0"/>
              </a:rPr>
              <a:t>类与类之间的距离为两类最近样本间的距离，极小异常值在实际中不多出现，</a:t>
            </a:r>
            <a:r>
              <a:rPr lang="zh-CN" altLang="en-US" sz="2800" dirty="0" smtClean="0">
                <a:solidFill>
                  <a:srgbClr val="FF0000"/>
                </a:solidFill>
                <a:latin typeface="Arial" pitchFamily="34" charset="0"/>
                <a:ea typeface="黑体" pitchFamily="49" charset="-122"/>
                <a:cs typeface="Arial" pitchFamily="34" charset="0"/>
              </a:rPr>
              <a:t>避免极大值的影响</a:t>
            </a:r>
            <a:r>
              <a:rPr lang="zh-CN" altLang="en-US" sz="2800" dirty="0" smtClean="0">
                <a:latin typeface="Arial" pitchFamily="34" charset="0"/>
                <a:ea typeface="黑体" pitchFamily="49" charset="-122"/>
                <a:cs typeface="Arial" pitchFamily="34" charset="0"/>
              </a:rPr>
              <a:t>。</a:t>
            </a:r>
          </a:p>
          <a:p>
            <a:pPr>
              <a:buFont typeface="Wingdings" pitchFamily="2" charset="2"/>
              <a:buChar char="n"/>
            </a:pPr>
            <a:endParaRPr lang="zh-CN" altLang="en-US" sz="2800" dirty="0">
              <a:latin typeface="Arial" pitchFamily="34" charset="0"/>
              <a:ea typeface="黑体" pitchFamily="49" charset="-122"/>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28</a:t>
            </a:fld>
            <a:endParaRPr lang="zh-CN" altLang="en-US"/>
          </a:p>
        </p:txBody>
      </p:sp>
      <p:pic>
        <p:nvPicPr>
          <p:cNvPr id="86018" name="Picture 2"/>
          <p:cNvPicPr>
            <a:picLocks noChangeAspect="1" noChangeArrowheads="1"/>
          </p:cNvPicPr>
          <p:nvPr/>
        </p:nvPicPr>
        <p:blipFill>
          <a:blip r:embed="rId2" cstate="print"/>
          <a:srcRect/>
          <a:stretch>
            <a:fillRect/>
          </a:stretch>
        </p:blipFill>
        <p:spPr bwMode="auto">
          <a:xfrm>
            <a:off x="683568" y="2348880"/>
            <a:ext cx="7684393" cy="4002862"/>
          </a:xfrm>
          <a:prstGeom prst="rect">
            <a:avLst/>
          </a:prstGeom>
          <a:noFill/>
          <a:ln w="9525">
            <a:noFill/>
            <a:miter lim="800000"/>
            <a:headEnd/>
            <a:tailEnd/>
          </a:ln>
        </p:spPr>
      </p:pic>
    </p:spTree>
    <p:extLst>
      <p:ext uri="{BB962C8B-B14F-4D97-AF65-F5344CB8AC3E}">
        <p14:creationId xmlns:p14="http://schemas.microsoft.com/office/powerpoint/2010/main" val="238305146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2008" y="404664"/>
            <a:ext cx="8964488" cy="2664296"/>
          </a:xfrm>
        </p:spPr>
        <p:txBody>
          <a:bodyPr/>
          <a:lstStyle/>
          <a:p>
            <a:pPr>
              <a:buFont typeface="Wingdings" pitchFamily="2" charset="2"/>
              <a:buChar char="n"/>
            </a:pPr>
            <a:r>
              <a:rPr lang="zh-CN" altLang="en-US" sz="2800" dirty="0" smtClean="0">
                <a:solidFill>
                  <a:srgbClr val="FF0000"/>
                </a:solidFill>
                <a:latin typeface="Arial" pitchFamily="34" charset="0"/>
                <a:ea typeface="黑体" pitchFamily="49" charset="-122"/>
                <a:cs typeface="Arial" pitchFamily="34" charset="0"/>
              </a:rPr>
              <a:t>例：</a:t>
            </a:r>
            <a:r>
              <a:rPr lang="zh-CN" altLang="en-US" sz="2800" dirty="0" smtClean="0">
                <a:latin typeface="Arial" pitchFamily="34" charset="0"/>
                <a:ea typeface="黑体" pitchFamily="49" charset="-122"/>
                <a:cs typeface="Arial" pitchFamily="34" charset="0"/>
              </a:rPr>
              <a:t> 设有五个样本，每个只测量了一个指标，分别是</a:t>
            </a:r>
            <a:r>
              <a:rPr lang="en-US" altLang="zh-CN" sz="2800" dirty="0" smtClean="0">
                <a:latin typeface="Arial" pitchFamily="34" charset="0"/>
                <a:ea typeface="黑体" pitchFamily="49" charset="-122"/>
                <a:cs typeface="Arial" pitchFamily="34" charset="0"/>
              </a:rPr>
              <a:t>1</a:t>
            </a:r>
            <a:r>
              <a:rPr lang="zh-CN" altLang="en-US" sz="2800" dirty="0" smtClean="0">
                <a:latin typeface="Arial" pitchFamily="34" charset="0"/>
                <a:ea typeface="黑体" pitchFamily="49" charset="-122"/>
                <a:cs typeface="Arial" pitchFamily="34" charset="0"/>
              </a:rPr>
              <a:t>，</a:t>
            </a:r>
            <a:r>
              <a:rPr lang="en-US" altLang="zh-CN" sz="2800" dirty="0" smtClean="0">
                <a:latin typeface="Arial" pitchFamily="34" charset="0"/>
                <a:ea typeface="黑体" pitchFamily="49" charset="-122"/>
                <a:cs typeface="Arial" pitchFamily="34" charset="0"/>
              </a:rPr>
              <a:t>2</a:t>
            </a:r>
            <a:r>
              <a:rPr lang="zh-CN" altLang="en-US" sz="2800" dirty="0" smtClean="0">
                <a:latin typeface="Arial" pitchFamily="34" charset="0"/>
                <a:ea typeface="黑体" pitchFamily="49" charset="-122"/>
                <a:cs typeface="Arial" pitchFamily="34" charset="0"/>
              </a:rPr>
              <a:t>，</a:t>
            </a:r>
            <a:r>
              <a:rPr lang="en-US" altLang="zh-CN" sz="2800" dirty="0" smtClean="0">
                <a:latin typeface="Arial" pitchFamily="34" charset="0"/>
                <a:ea typeface="黑体" pitchFamily="49" charset="-122"/>
                <a:cs typeface="Arial" pitchFamily="34" charset="0"/>
              </a:rPr>
              <a:t>6</a:t>
            </a:r>
            <a:r>
              <a:rPr lang="zh-CN" altLang="en-US" sz="2800" dirty="0" smtClean="0">
                <a:latin typeface="Arial" pitchFamily="34" charset="0"/>
                <a:ea typeface="黑体" pitchFamily="49" charset="-122"/>
                <a:cs typeface="Arial" pitchFamily="34" charset="0"/>
              </a:rPr>
              <a:t>，</a:t>
            </a:r>
            <a:r>
              <a:rPr lang="en-US" altLang="zh-CN" sz="2800" dirty="0" smtClean="0">
                <a:latin typeface="Arial" pitchFamily="34" charset="0"/>
                <a:ea typeface="黑体" pitchFamily="49" charset="-122"/>
                <a:cs typeface="Arial" pitchFamily="34" charset="0"/>
              </a:rPr>
              <a:t>8</a:t>
            </a:r>
            <a:r>
              <a:rPr lang="zh-CN" altLang="en-US" sz="2800" dirty="0" smtClean="0">
                <a:latin typeface="Arial" pitchFamily="34" charset="0"/>
                <a:ea typeface="黑体" pitchFamily="49" charset="-122"/>
                <a:cs typeface="Arial" pitchFamily="34" charset="0"/>
              </a:rPr>
              <a:t>，</a:t>
            </a:r>
            <a:r>
              <a:rPr lang="en-US" altLang="zh-CN" sz="2800" dirty="0" smtClean="0">
                <a:latin typeface="Arial" pitchFamily="34" charset="0"/>
                <a:ea typeface="黑体" pitchFamily="49" charset="-122"/>
                <a:cs typeface="Arial" pitchFamily="34" charset="0"/>
              </a:rPr>
              <a:t>11</a:t>
            </a:r>
            <a:r>
              <a:rPr lang="zh-CN" altLang="en-US" sz="2800" dirty="0" smtClean="0">
                <a:latin typeface="Arial" pitchFamily="34" charset="0"/>
                <a:ea typeface="黑体" pitchFamily="49" charset="-122"/>
                <a:cs typeface="Arial" pitchFamily="34" charset="0"/>
              </a:rPr>
              <a:t>，试用最短距离法将它们分类。</a:t>
            </a:r>
            <a:endParaRPr lang="en-US" altLang="zh-CN" sz="2800" dirty="0" smtClean="0">
              <a:latin typeface="Arial" pitchFamily="34" charset="0"/>
              <a:ea typeface="黑体" pitchFamily="49" charset="-122"/>
              <a:cs typeface="Arial" pitchFamily="34" charset="0"/>
            </a:endParaRPr>
          </a:p>
          <a:p>
            <a:pPr>
              <a:buFont typeface="Wingdings" pitchFamily="2" charset="2"/>
              <a:buChar char="n"/>
            </a:pPr>
            <a:endParaRPr lang="zh-CN" altLang="en-US" sz="2800" dirty="0" smtClean="0">
              <a:latin typeface="Arial" pitchFamily="34" charset="0"/>
              <a:ea typeface="黑体" pitchFamily="49" charset="-122"/>
              <a:cs typeface="Arial" pitchFamily="34" charset="0"/>
            </a:endParaRPr>
          </a:p>
          <a:p>
            <a:pPr>
              <a:buNone/>
            </a:pPr>
            <a:r>
              <a:rPr lang="zh-CN" altLang="en-US" sz="2400" dirty="0" smtClean="0">
                <a:latin typeface="Arial" pitchFamily="34" charset="0"/>
                <a:ea typeface="黑体" pitchFamily="49" charset="-122"/>
                <a:cs typeface="Arial" pitchFamily="34" charset="0"/>
              </a:rPr>
              <a:t>     记</a:t>
            </a:r>
            <a:r>
              <a:rPr lang="en-US" altLang="zh-CN" sz="2400" dirty="0" smtClean="0">
                <a:latin typeface="Arial" pitchFamily="34" charset="0"/>
                <a:ea typeface="黑体" pitchFamily="49" charset="-122"/>
                <a:cs typeface="Arial" pitchFamily="34" charset="0"/>
              </a:rPr>
              <a:t>G</a:t>
            </a:r>
            <a:r>
              <a:rPr lang="en-US" altLang="zh-CN" sz="2400" baseline="-25000" dirty="0" smtClean="0">
                <a:latin typeface="Arial" pitchFamily="34" charset="0"/>
                <a:ea typeface="黑体" pitchFamily="49" charset="-122"/>
                <a:cs typeface="Arial" pitchFamily="34" charset="0"/>
              </a:rPr>
              <a:t>1</a:t>
            </a:r>
            <a:r>
              <a:rPr lang="en-US" altLang="zh-CN" sz="2400" dirty="0" smtClean="0">
                <a:latin typeface="Arial" pitchFamily="34" charset="0"/>
                <a:ea typeface="黑体" pitchFamily="49" charset="-122"/>
                <a:cs typeface="Arial" pitchFamily="34" charset="0"/>
              </a:rPr>
              <a:t>={1}</a:t>
            </a:r>
            <a:r>
              <a:rPr lang="zh-CN" altLang="en-US" sz="2400" dirty="0" smtClean="0">
                <a:latin typeface="Arial" pitchFamily="34" charset="0"/>
                <a:ea typeface="黑体" pitchFamily="49" charset="-122"/>
                <a:cs typeface="Arial" pitchFamily="34" charset="0"/>
              </a:rPr>
              <a:t>，</a:t>
            </a:r>
            <a:r>
              <a:rPr lang="en-US" altLang="zh-CN" sz="2400" dirty="0" smtClean="0">
                <a:latin typeface="Arial" pitchFamily="34" charset="0"/>
                <a:ea typeface="黑体" pitchFamily="49" charset="-122"/>
                <a:cs typeface="Arial" pitchFamily="34" charset="0"/>
              </a:rPr>
              <a:t>G</a:t>
            </a:r>
            <a:r>
              <a:rPr lang="en-US" altLang="zh-CN" sz="2400" baseline="-25000" dirty="0" smtClean="0">
                <a:latin typeface="Arial" pitchFamily="34" charset="0"/>
                <a:ea typeface="黑体" pitchFamily="49" charset="-122"/>
                <a:cs typeface="Arial" pitchFamily="34" charset="0"/>
              </a:rPr>
              <a:t>2</a:t>
            </a:r>
            <a:r>
              <a:rPr lang="en-US" altLang="zh-CN" sz="2400" dirty="0" smtClean="0">
                <a:latin typeface="Arial" pitchFamily="34" charset="0"/>
                <a:ea typeface="黑体" pitchFamily="49" charset="-122"/>
                <a:cs typeface="Arial" pitchFamily="34" charset="0"/>
              </a:rPr>
              <a:t>={2}</a:t>
            </a:r>
            <a:r>
              <a:rPr lang="zh-CN" altLang="en-US" sz="2400" dirty="0" smtClean="0">
                <a:latin typeface="Arial" pitchFamily="34" charset="0"/>
                <a:ea typeface="黑体" pitchFamily="49" charset="-122"/>
                <a:cs typeface="Arial" pitchFamily="34" charset="0"/>
              </a:rPr>
              <a:t>，</a:t>
            </a:r>
            <a:r>
              <a:rPr lang="en-US" altLang="zh-CN" sz="2400" dirty="0" smtClean="0">
                <a:latin typeface="Arial" pitchFamily="34" charset="0"/>
                <a:ea typeface="黑体" pitchFamily="49" charset="-122"/>
                <a:cs typeface="Arial" pitchFamily="34" charset="0"/>
              </a:rPr>
              <a:t>G</a:t>
            </a:r>
            <a:r>
              <a:rPr lang="en-US" altLang="zh-CN" sz="2400" baseline="-25000" dirty="0" smtClean="0">
                <a:latin typeface="Arial" pitchFamily="34" charset="0"/>
                <a:ea typeface="黑体" pitchFamily="49" charset="-122"/>
                <a:cs typeface="Arial" pitchFamily="34" charset="0"/>
              </a:rPr>
              <a:t>3</a:t>
            </a:r>
            <a:r>
              <a:rPr lang="en-US" altLang="zh-CN" sz="2400" dirty="0" smtClean="0">
                <a:latin typeface="Arial" pitchFamily="34" charset="0"/>
                <a:ea typeface="黑体" pitchFamily="49" charset="-122"/>
                <a:cs typeface="Arial" pitchFamily="34" charset="0"/>
              </a:rPr>
              <a:t>={6}</a:t>
            </a:r>
            <a:r>
              <a:rPr lang="zh-CN" altLang="en-US" sz="2400" dirty="0" smtClean="0">
                <a:latin typeface="Arial" pitchFamily="34" charset="0"/>
                <a:ea typeface="黑体" pitchFamily="49" charset="-122"/>
                <a:cs typeface="Arial" pitchFamily="34" charset="0"/>
              </a:rPr>
              <a:t>，</a:t>
            </a:r>
            <a:r>
              <a:rPr lang="en-US" altLang="zh-CN" sz="2400" dirty="0" smtClean="0">
                <a:latin typeface="Arial" pitchFamily="34" charset="0"/>
                <a:ea typeface="黑体" pitchFamily="49" charset="-122"/>
                <a:cs typeface="Arial" pitchFamily="34" charset="0"/>
              </a:rPr>
              <a:t>G</a:t>
            </a:r>
            <a:r>
              <a:rPr lang="en-US" altLang="zh-CN" sz="2400" baseline="-25000" dirty="0" smtClean="0">
                <a:latin typeface="Arial" pitchFamily="34" charset="0"/>
                <a:ea typeface="黑体" pitchFamily="49" charset="-122"/>
                <a:cs typeface="Arial" pitchFamily="34" charset="0"/>
              </a:rPr>
              <a:t>4</a:t>
            </a:r>
            <a:r>
              <a:rPr lang="en-US" altLang="zh-CN" sz="2400" dirty="0" smtClean="0">
                <a:latin typeface="Arial" pitchFamily="34" charset="0"/>
                <a:ea typeface="黑体" pitchFamily="49" charset="-122"/>
                <a:cs typeface="Arial" pitchFamily="34" charset="0"/>
              </a:rPr>
              <a:t>={8}</a:t>
            </a:r>
            <a:r>
              <a:rPr lang="zh-CN" altLang="en-US" sz="2400" dirty="0" smtClean="0">
                <a:latin typeface="Arial" pitchFamily="34" charset="0"/>
                <a:ea typeface="黑体" pitchFamily="49" charset="-122"/>
                <a:cs typeface="Arial" pitchFamily="34" charset="0"/>
              </a:rPr>
              <a:t>，</a:t>
            </a:r>
            <a:r>
              <a:rPr lang="en-US" altLang="zh-CN" sz="2400" dirty="0" smtClean="0">
                <a:latin typeface="Arial" pitchFamily="34" charset="0"/>
                <a:ea typeface="黑体" pitchFamily="49" charset="-122"/>
                <a:cs typeface="Arial" pitchFamily="34" charset="0"/>
              </a:rPr>
              <a:t>G</a:t>
            </a:r>
            <a:r>
              <a:rPr lang="en-US" altLang="zh-CN" sz="2400" baseline="-25000" dirty="0" smtClean="0">
                <a:latin typeface="Arial" pitchFamily="34" charset="0"/>
                <a:ea typeface="黑体" pitchFamily="49" charset="-122"/>
                <a:cs typeface="Arial" pitchFamily="34" charset="0"/>
              </a:rPr>
              <a:t>5</a:t>
            </a:r>
            <a:r>
              <a:rPr lang="en-US" altLang="zh-CN" sz="2400" dirty="0" smtClean="0">
                <a:latin typeface="Arial" pitchFamily="34" charset="0"/>
                <a:ea typeface="黑体" pitchFamily="49" charset="-122"/>
                <a:cs typeface="Arial" pitchFamily="34" charset="0"/>
              </a:rPr>
              <a:t>={11}</a:t>
            </a:r>
            <a:r>
              <a:rPr lang="zh-CN" altLang="en-US" sz="2400" dirty="0" smtClean="0">
                <a:latin typeface="Arial" pitchFamily="34" charset="0"/>
                <a:ea typeface="黑体" pitchFamily="49" charset="-122"/>
                <a:cs typeface="Arial" pitchFamily="34" charset="0"/>
              </a:rPr>
              <a:t>，样本间采用绝对值距离。</a:t>
            </a:r>
          </a:p>
          <a:p>
            <a:pPr>
              <a:buFont typeface="Wingdings" pitchFamily="2" charset="2"/>
              <a:buChar char="n"/>
            </a:pPr>
            <a:endParaRPr lang="zh-CN" altLang="en-US" sz="2800" dirty="0">
              <a:latin typeface="Arial" pitchFamily="34" charset="0"/>
              <a:ea typeface="黑体" pitchFamily="49" charset="-122"/>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29</a:t>
            </a:fld>
            <a:endParaRPr lang="zh-CN" altLang="en-US"/>
          </a:p>
        </p:txBody>
      </p:sp>
      <p:graphicFrame>
        <p:nvGraphicFramePr>
          <p:cNvPr id="5" name="表格 4"/>
          <p:cNvGraphicFramePr>
            <a:graphicFrameLocks noGrp="1"/>
          </p:cNvGraphicFramePr>
          <p:nvPr/>
        </p:nvGraphicFramePr>
        <p:xfrm>
          <a:off x="683568" y="3717030"/>
          <a:ext cx="7776864" cy="2520282"/>
        </p:xfrm>
        <a:graphic>
          <a:graphicData uri="http://schemas.openxmlformats.org/drawingml/2006/table">
            <a:tbl>
              <a:tblPr firstRow="1" bandRow="1">
                <a:tableStyleId>{2D5ABB26-0587-4C30-8999-92F81FD0307C}</a:tableStyleId>
              </a:tblPr>
              <a:tblGrid>
                <a:gridCol w="1296144">
                  <a:extLst>
                    <a:ext uri="{9D8B030D-6E8A-4147-A177-3AD203B41FA5}">
                      <a16:colId xmlns:a16="http://schemas.microsoft.com/office/drawing/2014/main" val="20000"/>
                    </a:ext>
                  </a:extLst>
                </a:gridCol>
                <a:gridCol w="1296144">
                  <a:extLst>
                    <a:ext uri="{9D8B030D-6E8A-4147-A177-3AD203B41FA5}">
                      <a16:colId xmlns:a16="http://schemas.microsoft.com/office/drawing/2014/main" val="20001"/>
                    </a:ext>
                  </a:extLst>
                </a:gridCol>
                <a:gridCol w="1296144">
                  <a:extLst>
                    <a:ext uri="{9D8B030D-6E8A-4147-A177-3AD203B41FA5}">
                      <a16:colId xmlns:a16="http://schemas.microsoft.com/office/drawing/2014/main" val="20002"/>
                    </a:ext>
                  </a:extLst>
                </a:gridCol>
                <a:gridCol w="1296144">
                  <a:extLst>
                    <a:ext uri="{9D8B030D-6E8A-4147-A177-3AD203B41FA5}">
                      <a16:colId xmlns:a16="http://schemas.microsoft.com/office/drawing/2014/main" val="20003"/>
                    </a:ext>
                  </a:extLst>
                </a:gridCol>
                <a:gridCol w="1296144">
                  <a:extLst>
                    <a:ext uri="{9D8B030D-6E8A-4147-A177-3AD203B41FA5}">
                      <a16:colId xmlns:a16="http://schemas.microsoft.com/office/drawing/2014/main" val="20004"/>
                    </a:ext>
                  </a:extLst>
                </a:gridCol>
                <a:gridCol w="1296144">
                  <a:extLst>
                    <a:ext uri="{9D8B030D-6E8A-4147-A177-3AD203B41FA5}">
                      <a16:colId xmlns:a16="http://schemas.microsoft.com/office/drawing/2014/main" val="20005"/>
                    </a:ext>
                  </a:extLst>
                </a:gridCol>
              </a:tblGrid>
              <a:tr h="420047">
                <a:tc>
                  <a:txBody>
                    <a:bodyPr/>
                    <a:lstStyle/>
                    <a:p>
                      <a:pPr algn="ct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itchFamily="34" charset="0"/>
                          <a:cs typeface="Arial" pitchFamily="34" charset="0"/>
                        </a:rPr>
                        <a:t>G</a:t>
                      </a:r>
                      <a:r>
                        <a:rPr lang="en-US" altLang="zh-CN" sz="2000" baseline="-25000" dirty="0" smtClean="0">
                          <a:latin typeface="Arial" pitchFamily="34" charset="0"/>
                          <a:cs typeface="Arial" pitchFamily="34" charset="0"/>
                        </a:rPr>
                        <a:t>1</a:t>
                      </a:r>
                      <a:endParaRPr lang="zh-CN" altLang="en-US" sz="2000" baseline="-25000" dirty="0" smtClean="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itchFamily="34" charset="0"/>
                          <a:cs typeface="Arial" pitchFamily="34" charset="0"/>
                        </a:rPr>
                        <a:t>G</a:t>
                      </a:r>
                      <a:r>
                        <a:rPr lang="en-US" altLang="zh-CN" sz="2000" baseline="-25000" dirty="0" smtClean="0">
                          <a:latin typeface="Arial" pitchFamily="34" charset="0"/>
                          <a:cs typeface="Arial" pitchFamily="34" charset="0"/>
                        </a:rPr>
                        <a:t>2</a:t>
                      </a:r>
                      <a:endParaRPr lang="zh-CN" altLang="en-US" sz="2000" baseline="-25000" dirty="0" smtClean="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itchFamily="34" charset="0"/>
                          <a:cs typeface="Arial" pitchFamily="34" charset="0"/>
                        </a:rPr>
                        <a:t>G</a:t>
                      </a:r>
                      <a:r>
                        <a:rPr lang="en-US" altLang="zh-CN" sz="2000" baseline="-25000" dirty="0" smtClean="0">
                          <a:latin typeface="Arial" pitchFamily="34" charset="0"/>
                          <a:cs typeface="Arial" pitchFamily="34" charset="0"/>
                        </a:rPr>
                        <a:t>3</a:t>
                      </a:r>
                      <a:endParaRPr lang="zh-CN" altLang="en-US" sz="2000" baseline="-25000" dirty="0" smtClean="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itchFamily="34" charset="0"/>
                          <a:cs typeface="Arial" pitchFamily="34" charset="0"/>
                        </a:rPr>
                        <a:t>G</a:t>
                      </a:r>
                      <a:r>
                        <a:rPr lang="en-US" altLang="zh-CN" sz="2000" baseline="-25000" dirty="0" smtClean="0">
                          <a:latin typeface="Arial" pitchFamily="34" charset="0"/>
                          <a:cs typeface="Arial" pitchFamily="34" charset="0"/>
                        </a:rPr>
                        <a:t>4</a:t>
                      </a:r>
                      <a:endParaRPr lang="zh-CN" altLang="en-US" sz="2000" baseline="-25000" dirty="0" smtClean="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itchFamily="34" charset="0"/>
                          <a:cs typeface="Arial" pitchFamily="34" charset="0"/>
                        </a:rPr>
                        <a:t>G</a:t>
                      </a:r>
                      <a:r>
                        <a:rPr lang="en-US" altLang="zh-CN" sz="2000" baseline="-25000" dirty="0" smtClean="0">
                          <a:latin typeface="Arial" pitchFamily="34" charset="0"/>
                          <a:cs typeface="Arial" pitchFamily="34" charset="0"/>
                        </a:rPr>
                        <a:t>5</a:t>
                      </a:r>
                      <a:endParaRPr lang="zh-CN" altLang="en-US" sz="2000" baseline="-25000" dirty="0" smtClean="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20047">
                <a:tc>
                  <a:txBody>
                    <a:bodyPr/>
                    <a:lstStyle/>
                    <a:p>
                      <a:pPr algn="ctr"/>
                      <a:r>
                        <a:rPr lang="en-US" altLang="zh-CN" sz="2000" dirty="0" smtClean="0">
                          <a:latin typeface="Arial" pitchFamily="34" charset="0"/>
                          <a:cs typeface="Arial" pitchFamily="34" charset="0"/>
                        </a:rPr>
                        <a:t>G</a:t>
                      </a:r>
                      <a:r>
                        <a:rPr lang="en-US" altLang="zh-CN" sz="2000" baseline="-25000" dirty="0" smtClean="0">
                          <a:latin typeface="Arial" pitchFamily="34" charset="0"/>
                          <a:cs typeface="Arial" pitchFamily="34" charset="0"/>
                        </a:rPr>
                        <a:t>1</a:t>
                      </a:r>
                      <a:endParaRPr lang="zh-CN" altLang="en-US" sz="2000" baseline="-25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0</a:t>
                      </a:r>
                      <a:endParaRPr lang="zh-CN" altLang="en-US" sz="20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200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itchFamily="34" charset="0"/>
                          <a:cs typeface="Arial" pitchFamily="34" charset="0"/>
                        </a:rPr>
                        <a:t>G</a:t>
                      </a:r>
                      <a:r>
                        <a:rPr lang="en-US" altLang="zh-CN" sz="2000" baseline="-25000" dirty="0" smtClean="0">
                          <a:latin typeface="Arial" pitchFamily="34" charset="0"/>
                          <a:cs typeface="Arial" pitchFamily="34" charset="0"/>
                        </a:rPr>
                        <a:t>2</a:t>
                      </a:r>
                      <a:endParaRPr lang="zh-CN" altLang="en-US" sz="2000" baseline="-25000" dirty="0" smtClean="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1</a:t>
                      </a:r>
                      <a:endParaRPr lang="zh-CN" altLang="en-US" sz="20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0</a:t>
                      </a: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200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itchFamily="34" charset="0"/>
                          <a:cs typeface="Arial" pitchFamily="34" charset="0"/>
                        </a:rPr>
                        <a:t>G</a:t>
                      </a:r>
                      <a:r>
                        <a:rPr lang="en-US" altLang="zh-CN" sz="2000" baseline="-25000" dirty="0" smtClean="0">
                          <a:latin typeface="Arial" pitchFamily="34" charset="0"/>
                          <a:cs typeface="Arial" pitchFamily="34" charset="0"/>
                        </a:rPr>
                        <a:t>3</a:t>
                      </a:r>
                      <a:endParaRPr lang="zh-CN" altLang="en-US" sz="2000" baseline="-25000" dirty="0" smtClean="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5</a:t>
                      </a:r>
                      <a:endParaRPr lang="zh-CN" altLang="en-US" sz="20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4</a:t>
                      </a: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0</a:t>
                      </a: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200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itchFamily="34" charset="0"/>
                          <a:cs typeface="Arial" pitchFamily="34" charset="0"/>
                        </a:rPr>
                        <a:t>G</a:t>
                      </a:r>
                      <a:r>
                        <a:rPr lang="en-US" altLang="zh-CN" sz="2000" baseline="-25000" dirty="0" smtClean="0">
                          <a:latin typeface="Arial" pitchFamily="34" charset="0"/>
                          <a:cs typeface="Arial" pitchFamily="34" charset="0"/>
                        </a:rPr>
                        <a:t>4</a:t>
                      </a:r>
                      <a:endParaRPr lang="zh-CN" altLang="en-US" sz="2000" baseline="-25000" dirty="0" smtClean="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7</a:t>
                      </a:r>
                      <a:endParaRPr lang="zh-CN" altLang="en-US" sz="20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6</a:t>
                      </a: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2</a:t>
                      </a: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0</a:t>
                      </a: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200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itchFamily="34" charset="0"/>
                          <a:cs typeface="Arial" pitchFamily="34" charset="0"/>
                        </a:rPr>
                        <a:t>G</a:t>
                      </a:r>
                      <a:r>
                        <a:rPr lang="en-US" altLang="zh-CN" sz="2000" baseline="-25000" dirty="0" smtClean="0">
                          <a:latin typeface="Arial" pitchFamily="34" charset="0"/>
                          <a:cs typeface="Arial" pitchFamily="34" charset="0"/>
                        </a:rPr>
                        <a:t>5</a:t>
                      </a:r>
                      <a:endParaRPr lang="zh-CN" altLang="en-US" sz="2000" baseline="-25000" dirty="0" smtClean="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10</a:t>
                      </a:r>
                      <a:endParaRPr lang="zh-CN" altLang="en-US" sz="20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9</a:t>
                      </a: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5</a:t>
                      </a: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3</a:t>
                      </a: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0</a:t>
                      </a: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6" name="矩形 5"/>
          <p:cNvSpPr/>
          <p:nvPr/>
        </p:nvSpPr>
        <p:spPr>
          <a:xfrm>
            <a:off x="4139952" y="3039343"/>
            <a:ext cx="744114" cy="461665"/>
          </a:xfrm>
          <a:prstGeom prst="rect">
            <a:avLst/>
          </a:prstGeom>
        </p:spPr>
        <p:txBody>
          <a:bodyPr wrap="none">
            <a:spAutoFit/>
          </a:bodyPr>
          <a:lstStyle/>
          <a:p>
            <a:r>
              <a:rPr lang="en-US" altLang="zh-CN" sz="2400" b="1" dirty="0" smtClean="0">
                <a:solidFill>
                  <a:srgbClr val="FF0000"/>
                </a:solidFill>
              </a:rPr>
              <a:t>D</a:t>
            </a:r>
            <a:r>
              <a:rPr lang="en-US" altLang="zh-CN" sz="2400" b="1" baseline="-25000" dirty="0" smtClean="0">
                <a:solidFill>
                  <a:srgbClr val="FF0000"/>
                </a:solidFill>
              </a:rPr>
              <a:t>(0)</a:t>
            </a:r>
            <a:r>
              <a:rPr lang="en-US" altLang="zh-CN" sz="2400" b="1" dirty="0" smtClean="0">
                <a:solidFill>
                  <a:srgbClr val="FF0000"/>
                </a:solidFill>
              </a:rPr>
              <a:t> </a:t>
            </a:r>
            <a:endParaRPr lang="zh-CN" altLang="en-US" sz="2400" dirty="0">
              <a:solidFill>
                <a:srgbClr val="FF0000"/>
              </a:solidFill>
            </a:endParaRPr>
          </a:p>
        </p:txBody>
      </p:sp>
      <p:sp>
        <p:nvSpPr>
          <p:cNvPr id="7" name="椭圆 6"/>
          <p:cNvSpPr/>
          <p:nvPr/>
        </p:nvSpPr>
        <p:spPr>
          <a:xfrm>
            <a:off x="2267744" y="4509120"/>
            <a:ext cx="720080" cy="4320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30</a:t>
            </a:fld>
            <a:endParaRPr lang="zh-CN" altLang="en-US" dirty="0"/>
          </a:p>
        </p:txBody>
      </p:sp>
      <p:graphicFrame>
        <p:nvGraphicFramePr>
          <p:cNvPr id="5" name="表格 4"/>
          <p:cNvGraphicFramePr>
            <a:graphicFrameLocks noGrp="1"/>
          </p:cNvGraphicFramePr>
          <p:nvPr/>
        </p:nvGraphicFramePr>
        <p:xfrm>
          <a:off x="1233768" y="404664"/>
          <a:ext cx="6480720" cy="2100235"/>
        </p:xfrm>
        <a:graphic>
          <a:graphicData uri="http://schemas.openxmlformats.org/drawingml/2006/table">
            <a:tbl>
              <a:tblPr firstRow="1" bandRow="1">
                <a:tableStyleId>{2D5ABB26-0587-4C30-8999-92F81FD0307C}</a:tableStyleId>
              </a:tblPr>
              <a:tblGrid>
                <a:gridCol w="1296144">
                  <a:extLst>
                    <a:ext uri="{9D8B030D-6E8A-4147-A177-3AD203B41FA5}">
                      <a16:colId xmlns:a16="http://schemas.microsoft.com/office/drawing/2014/main" val="20000"/>
                    </a:ext>
                  </a:extLst>
                </a:gridCol>
                <a:gridCol w="1296144">
                  <a:extLst>
                    <a:ext uri="{9D8B030D-6E8A-4147-A177-3AD203B41FA5}">
                      <a16:colId xmlns:a16="http://schemas.microsoft.com/office/drawing/2014/main" val="20001"/>
                    </a:ext>
                  </a:extLst>
                </a:gridCol>
                <a:gridCol w="1296144">
                  <a:extLst>
                    <a:ext uri="{9D8B030D-6E8A-4147-A177-3AD203B41FA5}">
                      <a16:colId xmlns:a16="http://schemas.microsoft.com/office/drawing/2014/main" val="20002"/>
                    </a:ext>
                  </a:extLst>
                </a:gridCol>
                <a:gridCol w="1296144">
                  <a:extLst>
                    <a:ext uri="{9D8B030D-6E8A-4147-A177-3AD203B41FA5}">
                      <a16:colId xmlns:a16="http://schemas.microsoft.com/office/drawing/2014/main" val="20003"/>
                    </a:ext>
                  </a:extLst>
                </a:gridCol>
                <a:gridCol w="1296144">
                  <a:extLst>
                    <a:ext uri="{9D8B030D-6E8A-4147-A177-3AD203B41FA5}">
                      <a16:colId xmlns:a16="http://schemas.microsoft.com/office/drawing/2014/main" val="20004"/>
                    </a:ext>
                  </a:extLst>
                </a:gridCol>
              </a:tblGrid>
              <a:tr h="420047">
                <a:tc>
                  <a:txBody>
                    <a:bodyPr/>
                    <a:lstStyle/>
                    <a:p>
                      <a:pPr algn="ct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itchFamily="34" charset="0"/>
                          <a:cs typeface="Arial" pitchFamily="34" charset="0"/>
                        </a:rPr>
                        <a:t>G</a:t>
                      </a:r>
                      <a:r>
                        <a:rPr lang="en-US" altLang="zh-CN" sz="2000" baseline="-25000" dirty="0" smtClean="0">
                          <a:latin typeface="Arial" pitchFamily="34" charset="0"/>
                          <a:cs typeface="Arial" pitchFamily="34" charset="0"/>
                        </a:rPr>
                        <a:t>6</a:t>
                      </a:r>
                      <a:endParaRPr lang="zh-CN" altLang="en-US" sz="2000" baseline="-25000" dirty="0" smtClean="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itchFamily="34" charset="0"/>
                          <a:cs typeface="Arial" pitchFamily="34" charset="0"/>
                        </a:rPr>
                        <a:t>G</a:t>
                      </a:r>
                      <a:r>
                        <a:rPr lang="en-US" altLang="zh-CN" sz="2000" baseline="-25000" dirty="0" smtClean="0">
                          <a:latin typeface="Arial" pitchFamily="34" charset="0"/>
                          <a:cs typeface="Arial" pitchFamily="34" charset="0"/>
                        </a:rPr>
                        <a:t>3</a:t>
                      </a:r>
                      <a:endParaRPr lang="zh-CN" altLang="en-US" sz="2000" baseline="-25000" dirty="0" smtClean="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itchFamily="34" charset="0"/>
                          <a:cs typeface="Arial" pitchFamily="34" charset="0"/>
                        </a:rPr>
                        <a:t>G</a:t>
                      </a:r>
                      <a:r>
                        <a:rPr lang="en-US" altLang="zh-CN" sz="2000" baseline="-25000" dirty="0" smtClean="0">
                          <a:latin typeface="Arial" pitchFamily="34" charset="0"/>
                          <a:cs typeface="Arial" pitchFamily="34" charset="0"/>
                        </a:rPr>
                        <a:t>4</a:t>
                      </a:r>
                      <a:endParaRPr lang="zh-CN" altLang="en-US" sz="2000" baseline="-25000" dirty="0" smtClean="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itchFamily="34" charset="0"/>
                          <a:cs typeface="Arial" pitchFamily="34" charset="0"/>
                        </a:rPr>
                        <a:t>G</a:t>
                      </a:r>
                      <a:r>
                        <a:rPr lang="en-US" altLang="zh-CN" sz="2000" baseline="-25000" dirty="0" smtClean="0">
                          <a:latin typeface="Arial" pitchFamily="34" charset="0"/>
                          <a:cs typeface="Arial" pitchFamily="34" charset="0"/>
                        </a:rPr>
                        <a:t>5</a:t>
                      </a:r>
                      <a:endParaRPr lang="zh-CN" altLang="en-US" sz="2000" baseline="-25000" dirty="0" smtClean="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20047">
                <a:tc>
                  <a:txBody>
                    <a:bodyPr/>
                    <a:lstStyle/>
                    <a:p>
                      <a:pPr algn="ctr"/>
                      <a:r>
                        <a:rPr lang="en-US" altLang="zh-CN" sz="2000" dirty="0" smtClean="0">
                          <a:latin typeface="Arial" pitchFamily="34" charset="0"/>
                          <a:cs typeface="Arial" pitchFamily="34" charset="0"/>
                        </a:rPr>
                        <a:t>G</a:t>
                      </a:r>
                      <a:r>
                        <a:rPr lang="en-US" altLang="zh-CN" sz="2000" baseline="-25000" dirty="0" smtClean="0">
                          <a:latin typeface="Arial" pitchFamily="34" charset="0"/>
                          <a:cs typeface="Arial" pitchFamily="34" charset="0"/>
                        </a:rPr>
                        <a:t>6</a:t>
                      </a:r>
                      <a:endParaRPr lang="zh-CN" altLang="en-US" sz="2000" baseline="-25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0</a:t>
                      </a:r>
                      <a:endParaRPr lang="zh-CN" altLang="en-US" sz="20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200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itchFamily="34" charset="0"/>
                          <a:cs typeface="Arial" pitchFamily="34" charset="0"/>
                        </a:rPr>
                        <a:t>G</a:t>
                      </a:r>
                      <a:r>
                        <a:rPr lang="en-US" altLang="zh-CN" sz="2000" baseline="-25000" dirty="0" smtClean="0">
                          <a:latin typeface="Arial" pitchFamily="34" charset="0"/>
                          <a:cs typeface="Arial" pitchFamily="34" charset="0"/>
                        </a:rPr>
                        <a:t>3</a:t>
                      </a:r>
                      <a:endParaRPr lang="zh-CN" altLang="en-US" sz="2000" baseline="-25000" dirty="0" smtClean="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4</a:t>
                      </a:r>
                      <a:endParaRPr lang="zh-CN" altLang="en-US" sz="20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0</a:t>
                      </a: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200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itchFamily="34" charset="0"/>
                          <a:cs typeface="Arial" pitchFamily="34" charset="0"/>
                        </a:rPr>
                        <a:t>G</a:t>
                      </a:r>
                      <a:r>
                        <a:rPr lang="en-US" altLang="zh-CN" sz="2000" baseline="-25000" dirty="0" smtClean="0">
                          <a:latin typeface="Arial" pitchFamily="34" charset="0"/>
                          <a:cs typeface="Arial" pitchFamily="34" charset="0"/>
                        </a:rPr>
                        <a:t>4</a:t>
                      </a:r>
                      <a:endParaRPr lang="zh-CN" altLang="en-US" sz="2000" baseline="-25000" dirty="0" smtClean="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6</a:t>
                      </a:r>
                      <a:endParaRPr lang="zh-CN" altLang="en-US" sz="20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2</a:t>
                      </a: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0</a:t>
                      </a: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200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itchFamily="34" charset="0"/>
                          <a:cs typeface="Arial" pitchFamily="34" charset="0"/>
                        </a:rPr>
                        <a:t>G</a:t>
                      </a:r>
                      <a:r>
                        <a:rPr lang="en-US" altLang="zh-CN" sz="2000" baseline="-25000" dirty="0" smtClean="0">
                          <a:latin typeface="Arial" pitchFamily="34" charset="0"/>
                          <a:cs typeface="Arial" pitchFamily="34" charset="0"/>
                        </a:rPr>
                        <a:t>5</a:t>
                      </a:r>
                      <a:endParaRPr lang="zh-CN" altLang="en-US" sz="2000" baseline="-25000" dirty="0" smtClean="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9</a:t>
                      </a:r>
                      <a:endParaRPr lang="zh-CN" altLang="en-US" sz="20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5</a:t>
                      </a: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3</a:t>
                      </a: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0</a:t>
                      </a: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6" name="矩形 5"/>
          <p:cNvSpPr/>
          <p:nvPr/>
        </p:nvSpPr>
        <p:spPr>
          <a:xfrm>
            <a:off x="441680" y="879105"/>
            <a:ext cx="744114" cy="461665"/>
          </a:xfrm>
          <a:prstGeom prst="rect">
            <a:avLst/>
          </a:prstGeom>
        </p:spPr>
        <p:txBody>
          <a:bodyPr wrap="none">
            <a:spAutoFit/>
          </a:bodyPr>
          <a:lstStyle/>
          <a:p>
            <a:r>
              <a:rPr lang="en-US" altLang="zh-CN" sz="2400" b="1" dirty="0" smtClean="0">
                <a:solidFill>
                  <a:srgbClr val="FF0000"/>
                </a:solidFill>
              </a:rPr>
              <a:t>D</a:t>
            </a:r>
            <a:r>
              <a:rPr lang="en-US" altLang="zh-CN" sz="2400" b="1" baseline="-25000" dirty="0" smtClean="0">
                <a:solidFill>
                  <a:srgbClr val="FF0000"/>
                </a:solidFill>
              </a:rPr>
              <a:t>(1)</a:t>
            </a:r>
            <a:r>
              <a:rPr lang="en-US" altLang="zh-CN" sz="2400" b="1" dirty="0" smtClean="0">
                <a:solidFill>
                  <a:srgbClr val="FF0000"/>
                </a:solidFill>
              </a:rPr>
              <a:t> </a:t>
            </a:r>
            <a:endParaRPr lang="zh-CN" altLang="en-US" sz="2400" dirty="0">
              <a:solidFill>
                <a:srgbClr val="FF0000"/>
              </a:solidFill>
            </a:endParaRPr>
          </a:p>
        </p:txBody>
      </p:sp>
      <p:sp>
        <p:nvSpPr>
          <p:cNvPr id="7" name="矩形 6"/>
          <p:cNvSpPr/>
          <p:nvPr/>
        </p:nvSpPr>
        <p:spPr>
          <a:xfrm>
            <a:off x="6418344" y="1383159"/>
            <a:ext cx="2762168" cy="400110"/>
          </a:xfrm>
          <a:prstGeom prst="rect">
            <a:avLst/>
          </a:prstGeom>
        </p:spPr>
        <p:txBody>
          <a:bodyPr wrap="square">
            <a:spAutoFit/>
          </a:bodyPr>
          <a:lstStyle/>
          <a:p>
            <a:r>
              <a:rPr lang="zh-CN" altLang="en-US" sz="2000" b="1" dirty="0" smtClean="0">
                <a:solidFill>
                  <a:srgbClr val="FF0000"/>
                </a:solidFill>
                <a:latin typeface="Arial" pitchFamily="34" charset="0"/>
                <a:ea typeface="黑体" pitchFamily="49" charset="-122"/>
                <a:cs typeface="Arial" pitchFamily="34" charset="0"/>
              </a:rPr>
              <a:t>其中</a:t>
            </a:r>
            <a:r>
              <a:rPr lang="en-US" altLang="zh-CN" sz="2000" b="1" dirty="0" smtClean="0">
                <a:solidFill>
                  <a:srgbClr val="FF0000"/>
                </a:solidFill>
                <a:latin typeface="Arial" pitchFamily="34" charset="0"/>
                <a:ea typeface="黑体" pitchFamily="49" charset="-122"/>
                <a:cs typeface="Arial" pitchFamily="34" charset="0"/>
              </a:rPr>
              <a:t>G</a:t>
            </a:r>
            <a:r>
              <a:rPr lang="en-US" altLang="zh-CN" sz="2000" b="1" baseline="-25000" dirty="0" smtClean="0">
                <a:solidFill>
                  <a:srgbClr val="FF0000"/>
                </a:solidFill>
                <a:latin typeface="Arial" pitchFamily="34" charset="0"/>
                <a:ea typeface="黑体" pitchFamily="49" charset="-122"/>
                <a:cs typeface="Arial" pitchFamily="34" charset="0"/>
              </a:rPr>
              <a:t>6</a:t>
            </a:r>
            <a:r>
              <a:rPr lang="en-US" altLang="zh-CN" sz="2000" b="1" dirty="0" smtClean="0">
                <a:solidFill>
                  <a:srgbClr val="FF0000"/>
                </a:solidFill>
                <a:latin typeface="Arial" pitchFamily="34" charset="0"/>
                <a:ea typeface="黑体" pitchFamily="49" charset="-122"/>
                <a:cs typeface="Arial" pitchFamily="34" charset="0"/>
              </a:rPr>
              <a:t>= G</a:t>
            </a:r>
            <a:r>
              <a:rPr lang="en-US" altLang="zh-CN" sz="2000" b="1" baseline="-25000" dirty="0" smtClean="0">
                <a:solidFill>
                  <a:srgbClr val="FF0000"/>
                </a:solidFill>
                <a:latin typeface="Arial" pitchFamily="34" charset="0"/>
                <a:ea typeface="黑体" pitchFamily="49" charset="-122"/>
                <a:cs typeface="Arial" pitchFamily="34" charset="0"/>
              </a:rPr>
              <a:t>1</a:t>
            </a:r>
            <a:r>
              <a:rPr lang="en-US" altLang="zh-CN" sz="2000" b="1" dirty="0" smtClean="0">
                <a:solidFill>
                  <a:srgbClr val="FF0000"/>
                </a:solidFill>
                <a:latin typeface="Arial" pitchFamily="34" charset="0"/>
                <a:ea typeface="黑体" pitchFamily="49" charset="-122"/>
                <a:cs typeface="Arial" pitchFamily="34" charset="0"/>
              </a:rPr>
              <a:t>∪G</a:t>
            </a:r>
            <a:r>
              <a:rPr lang="en-US" altLang="zh-CN" sz="2000" b="1" baseline="-25000" dirty="0" smtClean="0">
                <a:solidFill>
                  <a:srgbClr val="FF0000"/>
                </a:solidFill>
                <a:latin typeface="Arial" pitchFamily="34" charset="0"/>
                <a:ea typeface="黑体" pitchFamily="49" charset="-122"/>
                <a:cs typeface="Arial" pitchFamily="34" charset="0"/>
              </a:rPr>
              <a:t>2</a:t>
            </a:r>
            <a:r>
              <a:rPr lang="en-US" altLang="zh-CN" sz="2000" b="1" dirty="0" smtClean="0">
                <a:solidFill>
                  <a:srgbClr val="FF0000"/>
                </a:solidFill>
                <a:latin typeface="Arial" pitchFamily="34" charset="0"/>
                <a:ea typeface="黑体" pitchFamily="49" charset="-122"/>
                <a:cs typeface="Arial" pitchFamily="34" charset="0"/>
              </a:rPr>
              <a:t> </a:t>
            </a:r>
            <a:endParaRPr lang="zh-CN" altLang="en-US" sz="2000" b="1" dirty="0">
              <a:solidFill>
                <a:srgbClr val="FF0000"/>
              </a:solidFill>
              <a:latin typeface="Arial" pitchFamily="34" charset="0"/>
              <a:ea typeface="黑体" pitchFamily="49" charset="-122"/>
              <a:cs typeface="Arial" pitchFamily="34" charset="0"/>
            </a:endParaRPr>
          </a:p>
        </p:txBody>
      </p:sp>
      <p:sp>
        <p:nvSpPr>
          <p:cNvPr id="8" name="椭圆 7"/>
          <p:cNvSpPr/>
          <p:nvPr/>
        </p:nvSpPr>
        <p:spPr>
          <a:xfrm>
            <a:off x="4114088" y="1628800"/>
            <a:ext cx="720080" cy="4320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9" name="表格 8"/>
          <p:cNvGraphicFramePr>
            <a:graphicFrameLocks noGrp="1"/>
          </p:cNvGraphicFramePr>
          <p:nvPr/>
        </p:nvGraphicFramePr>
        <p:xfrm>
          <a:off x="1818737" y="3068960"/>
          <a:ext cx="5184576" cy="1680188"/>
        </p:xfrm>
        <a:graphic>
          <a:graphicData uri="http://schemas.openxmlformats.org/drawingml/2006/table">
            <a:tbl>
              <a:tblPr firstRow="1" bandRow="1">
                <a:tableStyleId>{2D5ABB26-0587-4C30-8999-92F81FD0307C}</a:tableStyleId>
              </a:tblPr>
              <a:tblGrid>
                <a:gridCol w="1296144">
                  <a:extLst>
                    <a:ext uri="{9D8B030D-6E8A-4147-A177-3AD203B41FA5}">
                      <a16:colId xmlns:a16="http://schemas.microsoft.com/office/drawing/2014/main" val="20000"/>
                    </a:ext>
                  </a:extLst>
                </a:gridCol>
                <a:gridCol w="1296144">
                  <a:extLst>
                    <a:ext uri="{9D8B030D-6E8A-4147-A177-3AD203B41FA5}">
                      <a16:colId xmlns:a16="http://schemas.microsoft.com/office/drawing/2014/main" val="20001"/>
                    </a:ext>
                  </a:extLst>
                </a:gridCol>
                <a:gridCol w="1296144">
                  <a:extLst>
                    <a:ext uri="{9D8B030D-6E8A-4147-A177-3AD203B41FA5}">
                      <a16:colId xmlns:a16="http://schemas.microsoft.com/office/drawing/2014/main" val="20002"/>
                    </a:ext>
                  </a:extLst>
                </a:gridCol>
                <a:gridCol w="1296144">
                  <a:extLst>
                    <a:ext uri="{9D8B030D-6E8A-4147-A177-3AD203B41FA5}">
                      <a16:colId xmlns:a16="http://schemas.microsoft.com/office/drawing/2014/main" val="20003"/>
                    </a:ext>
                  </a:extLst>
                </a:gridCol>
              </a:tblGrid>
              <a:tr h="420047">
                <a:tc>
                  <a:txBody>
                    <a:bodyPr/>
                    <a:lstStyle/>
                    <a:p>
                      <a:pPr algn="ct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itchFamily="34" charset="0"/>
                          <a:cs typeface="Arial" pitchFamily="34" charset="0"/>
                        </a:rPr>
                        <a:t>G</a:t>
                      </a:r>
                      <a:r>
                        <a:rPr lang="en-US" altLang="zh-CN" sz="2000" baseline="-25000" dirty="0" smtClean="0">
                          <a:latin typeface="Arial" pitchFamily="34" charset="0"/>
                          <a:cs typeface="Arial" pitchFamily="34" charset="0"/>
                        </a:rPr>
                        <a:t>6</a:t>
                      </a:r>
                      <a:endParaRPr lang="zh-CN" altLang="en-US" sz="2000" baseline="-25000" dirty="0" smtClean="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itchFamily="34" charset="0"/>
                          <a:cs typeface="Arial" pitchFamily="34" charset="0"/>
                        </a:rPr>
                        <a:t>G</a:t>
                      </a:r>
                      <a:r>
                        <a:rPr lang="en-US" altLang="zh-CN" sz="2000" baseline="-25000" dirty="0" smtClean="0">
                          <a:latin typeface="Arial" pitchFamily="34" charset="0"/>
                          <a:cs typeface="Arial" pitchFamily="34" charset="0"/>
                        </a:rPr>
                        <a:t>7</a:t>
                      </a:r>
                      <a:endParaRPr lang="zh-CN" altLang="en-US" sz="2000" baseline="-25000" dirty="0" smtClean="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itchFamily="34" charset="0"/>
                          <a:cs typeface="Arial" pitchFamily="34" charset="0"/>
                        </a:rPr>
                        <a:t>G</a:t>
                      </a:r>
                      <a:r>
                        <a:rPr lang="en-US" altLang="zh-CN" sz="2000" baseline="-25000" dirty="0" smtClean="0">
                          <a:latin typeface="Arial" pitchFamily="34" charset="0"/>
                          <a:cs typeface="Arial" pitchFamily="34" charset="0"/>
                        </a:rPr>
                        <a:t>5</a:t>
                      </a:r>
                      <a:endParaRPr lang="zh-CN" altLang="en-US" sz="2000" baseline="-25000" dirty="0" smtClean="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20047">
                <a:tc>
                  <a:txBody>
                    <a:bodyPr/>
                    <a:lstStyle/>
                    <a:p>
                      <a:pPr algn="ctr"/>
                      <a:r>
                        <a:rPr lang="en-US" altLang="zh-CN" sz="2000" dirty="0" smtClean="0">
                          <a:latin typeface="Arial" pitchFamily="34" charset="0"/>
                          <a:cs typeface="Arial" pitchFamily="34" charset="0"/>
                        </a:rPr>
                        <a:t>G</a:t>
                      </a:r>
                      <a:r>
                        <a:rPr lang="en-US" altLang="zh-CN" sz="2000" baseline="-25000" dirty="0" smtClean="0">
                          <a:latin typeface="Arial" pitchFamily="34" charset="0"/>
                          <a:cs typeface="Arial" pitchFamily="34" charset="0"/>
                        </a:rPr>
                        <a:t>6</a:t>
                      </a:r>
                      <a:endParaRPr lang="zh-CN" altLang="en-US" sz="2000" baseline="-25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0</a:t>
                      </a:r>
                      <a:endParaRPr lang="zh-CN" altLang="en-US" sz="20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200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itchFamily="34" charset="0"/>
                          <a:cs typeface="Arial" pitchFamily="34" charset="0"/>
                        </a:rPr>
                        <a:t>G</a:t>
                      </a:r>
                      <a:r>
                        <a:rPr lang="en-US" altLang="zh-CN" sz="2000" baseline="-25000" dirty="0" smtClean="0">
                          <a:latin typeface="Arial" pitchFamily="34" charset="0"/>
                          <a:cs typeface="Arial" pitchFamily="34" charset="0"/>
                        </a:rPr>
                        <a:t>7</a:t>
                      </a:r>
                      <a:endParaRPr lang="zh-CN" altLang="en-US" sz="2000" baseline="-25000" dirty="0" smtClean="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4</a:t>
                      </a:r>
                      <a:endParaRPr lang="zh-CN" altLang="en-US" sz="20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0</a:t>
                      </a: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200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itchFamily="34" charset="0"/>
                          <a:cs typeface="Arial" pitchFamily="34" charset="0"/>
                        </a:rPr>
                        <a:t>G</a:t>
                      </a:r>
                      <a:r>
                        <a:rPr lang="en-US" altLang="zh-CN" sz="2000" baseline="-25000" dirty="0" smtClean="0">
                          <a:latin typeface="Arial" pitchFamily="34" charset="0"/>
                          <a:cs typeface="Arial" pitchFamily="34" charset="0"/>
                        </a:rPr>
                        <a:t>5</a:t>
                      </a:r>
                      <a:endParaRPr lang="zh-CN" altLang="en-US" sz="2000" baseline="-25000" dirty="0" smtClean="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9</a:t>
                      </a:r>
                      <a:endParaRPr lang="zh-CN" altLang="en-US" sz="20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3</a:t>
                      </a: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0</a:t>
                      </a: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10" name="矩形 9"/>
          <p:cNvSpPr/>
          <p:nvPr/>
        </p:nvSpPr>
        <p:spPr>
          <a:xfrm>
            <a:off x="450585" y="3657027"/>
            <a:ext cx="744114" cy="461665"/>
          </a:xfrm>
          <a:prstGeom prst="rect">
            <a:avLst/>
          </a:prstGeom>
        </p:spPr>
        <p:txBody>
          <a:bodyPr wrap="none">
            <a:spAutoFit/>
          </a:bodyPr>
          <a:lstStyle/>
          <a:p>
            <a:r>
              <a:rPr lang="en-US" altLang="zh-CN" sz="2400" b="1" dirty="0" smtClean="0">
                <a:solidFill>
                  <a:srgbClr val="FF0000"/>
                </a:solidFill>
              </a:rPr>
              <a:t>D</a:t>
            </a:r>
            <a:r>
              <a:rPr lang="en-US" altLang="zh-CN" sz="2400" b="1" baseline="-25000" dirty="0" smtClean="0">
                <a:solidFill>
                  <a:srgbClr val="FF0000"/>
                </a:solidFill>
              </a:rPr>
              <a:t>(2)</a:t>
            </a:r>
            <a:r>
              <a:rPr lang="en-US" altLang="zh-CN" sz="2400" b="1" dirty="0" smtClean="0">
                <a:solidFill>
                  <a:srgbClr val="FF0000"/>
                </a:solidFill>
              </a:rPr>
              <a:t> </a:t>
            </a:r>
            <a:endParaRPr lang="zh-CN" altLang="en-US" sz="2400" dirty="0">
              <a:solidFill>
                <a:srgbClr val="FF0000"/>
              </a:solidFill>
            </a:endParaRPr>
          </a:p>
        </p:txBody>
      </p:sp>
      <p:sp>
        <p:nvSpPr>
          <p:cNvPr id="12" name="矩形 11"/>
          <p:cNvSpPr/>
          <p:nvPr/>
        </p:nvSpPr>
        <p:spPr>
          <a:xfrm>
            <a:off x="6499257" y="3801043"/>
            <a:ext cx="2177199" cy="400110"/>
          </a:xfrm>
          <a:prstGeom prst="rect">
            <a:avLst/>
          </a:prstGeom>
        </p:spPr>
        <p:txBody>
          <a:bodyPr wrap="none">
            <a:spAutoFit/>
          </a:bodyPr>
          <a:lstStyle/>
          <a:p>
            <a:r>
              <a:rPr lang="zh-CN" altLang="en-US" sz="2000" b="1" dirty="0" smtClean="0">
                <a:solidFill>
                  <a:srgbClr val="FF0000"/>
                </a:solidFill>
                <a:latin typeface="Arial" pitchFamily="34" charset="0"/>
                <a:ea typeface="黑体" pitchFamily="49" charset="-122"/>
                <a:cs typeface="Arial" pitchFamily="34" charset="0"/>
              </a:rPr>
              <a:t>其中</a:t>
            </a:r>
            <a:r>
              <a:rPr lang="en-US" altLang="zh-CN" sz="2000" b="1" dirty="0" smtClean="0">
                <a:solidFill>
                  <a:srgbClr val="FF0000"/>
                </a:solidFill>
                <a:latin typeface="Arial" pitchFamily="34" charset="0"/>
                <a:ea typeface="黑体" pitchFamily="49" charset="-122"/>
                <a:cs typeface="Arial" pitchFamily="34" charset="0"/>
              </a:rPr>
              <a:t>G</a:t>
            </a:r>
            <a:r>
              <a:rPr lang="en-US" altLang="zh-CN" sz="2000" b="1" baseline="-25000" dirty="0" smtClean="0">
                <a:solidFill>
                  <a:srgbClr val="FF0000"/>
                </a:solidFill>
                <a:latin typeface="Arial" pitchFamily="34" charset="0"/>
                <a:ea typeface="黑体" pitchFamily="49" charset="-122"/>
                <a:cs typeface="Arial" pitchFamily="34" charset="0"/>
              </a:rPr>
              <a:t>7</a:t>
            </a:r>
            <a:r>
              <a:rPr lang="en-US" altLang="zh-CN" sz="2000" b="1" dirty="0" smtClean="0">
                <a:solidFill>
                  <a:srgbClr val="FF0000"/>
                </a:solidFill>
                <a:latin typeface="Arial" pitchFamily="34" charset="0"/>
                <a:ea typeface="黑体" pitchFamily="49" charset="-122"/>
                <a:cs typeface="Arial" pitchFamily="34" charset="0"/>
              </a:rPr>
              <a:t>= G</a:t>
            </a:r>
            <a:r>
              <a:rPr lang="en-US" altLang="zh-CN" sz="2000" b="1" baseline="-25000" dirty="0" smtClean="0">
                <a:solidFill>
                  <a:srgbClr val="FF0000"/>
                </a:solidFill>
                <a:latin typeface="Arial" pitchFamily="34" charset="0"/>
                <a:ea typeface="黑体" pitchFamily="49" charset="-122"/>
                <a:cs typeface="Arial" pitchFamily="34" charset="0"/>
              </a:rPr>
              <a:t>3</a:t>
            </a:r>
            <a:r>
              <a:rPr lang="en-US" altLang="zh-CN" sz="2000" b="1" dirty="0" smtClean="0">
                <a:solidFill>
                  <a:srgbClr val="FF0000"/>
                </a:solidFill>
                <a:latin typeface="Arial" pitchFamily="34" charset="0"/>
                <a:ea typeface="黑体" pitchFamily="49" charset="-122"/>
                <a:cs typeface="Arial" pitchFamily="34" charset="0"/>
              </a:rPr>
              <a:t>∪G</a:t>
            </a:r>
            <a:r>
              <a:rPr lang="en-US" altLang="zh-CN" sz="2000" b="1" baseline="-25000" dirty="0" smtClean="0">
                <a:solidFill>
                  <a:srgbClr val="FF0000"/>
                </a:solidFill>
                <a:latin typeface="Arial" pitchFamily="34" charset="0"/>
                <a:ea typeface="黑体" pitchFamily="49" charset="-122"/>
                <a:cs typeface="Arial" pitchFamily="34" charset="0"/>
              </a:rPr>
              <a:t>4</a:t>
            </a:r>
            <a:r>
              <a:rPr lang="en-US" altLang="zh-CN" sz="2000" b="1" dirty="0" smtClean="0">
                <a:solidFill>
                  <a:srgbClr val="FF0000"/>
                </a:solidFill>
                <a:latin typeface="Arial" pitchFamily="34" charset="0"/>
                <a:ea typeface="黑体" pitchFamily="49" charset="-122"/>
                <a:cs typeface="Arial" pitchFamily="34" charset="0"/>
              </a:rPr>
              <a:t> </a:t>
            </a:r>
            <a:endParaRPr lang="zh-CN" altLang="en-US" sz="2000" b="1" dirty="0">
              <a:solidFill>
                <a:srgbClr val="FF0000"/>
              </a:solidFill>
              <a:latin typeface="Arial" pitchFamily="34" charset="0"/>
              <a:ea typeface="黑体" pitchFamily="49" charset="-122"/>
              <a:cs typeface="Arial" pitchFamily="34" charset="0"/>
            </a:endParaRPr>
          </a:p>
        </p:txBody>
      </p:sp>
      <p:graphicFrame>
        <p:nvGraphicFramePr>
          <p:cNvPr id="13" name="表格 12"/>
          <p:cNvGraphicFramePr>
            <a:graphicFrameLocks noGrp="1"/>
          </p:cNvGraphicFramePr>
          <p:nvPr/>
        </p:nvGraphicFramePr>
        <p:xfrm>
          <a:off x="2627784" y="5337211"/>
          <a:ext cx="3888432" cy="1260141"/>
        </p:xfrm>
        <a:graphic>
          <a:graphicData uri="http://schemas.openxmlformats.org/drawingml/2006/table">
            <a:tbl>
              <a:tblPr firstRow="1" bandRow="1">
                <a:tableStyleId>{2D5ABB26-0587-4C30-8999-92F81FD0307C}</a:tableStyleId>
              </a:tblPr>
              <a:tblGrid>
                <a:gridCol w="1296144">
                  <a:extLst>
                    <a:ext uri="{9D8B030D-6E8A-4147-A177-3AD203B41FA5}">
                      <a16:colId xmlns:a16="http://schemas.microsoft.com/office/drawing/2014/main" val="20000"/>
                    </a:ext>
                  </a:extLst>
                </a:gridCol>
                <a:gridCol w="1296144">
                  <a:extLst>
                    <a:ext uri="{9D8B030D-6E8A-4147-A177-3AD203B41FA5}">
                      <a16:colId xmlns:a16="http://schemas.microsoft.com/office/drawing/2014/main" val="20001"/>
                    </a:ext>
                  </a:extLst>
                </a:gridCol>
                <a:gridCol w="1296144">
                  <a:extLst>
                    <a:ext uri="{9D8B030D-6E8A-4147-A177-3AD203B41FA5}">
                      <a16:colId xmlns:a16="http://schemas.microsoft.com/office/drawing/2014/main" val="20002"/>
                    </a:ext>
                  </a:extLst>
                </a:gridCol>
              </a:tblGrid>
              <a:tr h="420047">
                <a:tc>
                  <a:txBody>
                    <a:bodyPr/>
                    <a:lstStyle/>
                    <a:p>
                      <a:pPr algn="ct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itchFamily="34" charset="0"/>
                          <a:cs typeface="Arial" pitchFamily="34" charset="0"/>
                        </a:rPr>
                        <a:t>G</a:t>
                      </a:r>
                      <a:r>
                        <a:rPr lang="en-US" altLang="zh-CN" sz="2000" baseline="-25000" dirty="0" smtClean="0">
                          <a:latin typeface="Arial" pitchFamily="34" charset="0"/>
                          <a:cs typeface="Arial" pitchFamily="34" charset="0"/>
                        </a:rPr>
                        <a:t>6</a:t>
                      </a:r>
                      <a:endParaRPr lang="zh-CN" altLang="en-US" sz="2000" baseline="-25000" dirty="0" smtClean="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itchFamily="34" charset="0"/>
                          <a:cs typeface="Arial" pitchFamily="34" charset="0"/>
                        </a:rPr>
                        <a:t>G</a:t>
                      </a:r>
                      <a:r>
                        <a:rPr lang="en-US" altLang="zh-CN" sz="2000" baseline="-25000" dirty="0" smtClean="0">
                          <a:latin typeface="Arial" pitchFamily="34" charset="0"/>
                          <a:cs typeface="Arial" pitchFamily="34" charset="0"/>
                        </a:rPr>
                        <a:t>8</a:t>
                      </a:r>
                      <a:endParaRPr lang="zh-CN" altLang="en-US" sz="2000" baseline="-25000" dirty="0" smtClean="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20047">
                <a:tc>
                  <a:txBody>
                    <a:bodyPr/>
                    <a:lstStyle/>
                    <a:p>
                      <a:pPr algn="ctr"/>
                      <a:r>
                        <a:rPr lang="en-US" altLang="zh-CN" sz="2000" dirty="0" smtClean="0">
                          <a:latin typeface="Arial" pitchFamily="34" charset="0"/>
                          <a:cs typeface="Arial" pitchFamily="34" charset="0"/>
                        </a:rPr>
                        <a:t>G</a:t>
                      </a:r>
                      <a:r>
                        <a:rPr lang="en-US" altLang="zh-CN" sz="2000" baseline="-25000" dirty="0" smtClean="0">
                          <a:latin typeface="Arial" pitchFamily="34" charset="0"/>
                          <a:cs typeface="Arial" pitchFamily="34" charset="0"/>
                        </a:rPr>
                        <a:t>6</a:t>
                      </a:r>
                      <a:endParaRPr lang="zh-CN" altLang="en-US" sz="2000" baseline="-25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0</a:t>
                      </a:r>
                      <a:endParaRPr lang="zh-CN" altLang="en-US" sz="20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200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itchFamily="34" charset="0"/>
                          <a:cs typeface="Arial" pitchFamily="34" charset="0"/>
                        </a:rPr>
                        <a:t>G</a:t>
                      </a:r>
                      <a:r>
                        <a:rPr lang="en-US" altLang="zh-CN" sz="2000" baseline="-25000" dirty="0" smtClean="0">
                          <a:latin typeface="Arial" pitchFamily="34" charset="0"/>
                          <a:cs typeface="Arial" pitchFamily="34" charset="0"/>
                        </a:rPr>
                        <a:t>8</a:t>
                      </a:r>
                      <a:endParaRPr lang="zh-CN" altLang="en-US" sz="2000" baseline="-25000" dirty="0" smtClean="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4</a:t>
                      </a:r>
                      <a:endParaRPr lang="zh-CN" altLang="en-US" sz="20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latin typeface="Arial" pitchFamily="34" charset="0"/>
                          <a:cs typeface="Arial" pitchFamily="34" charset="0"/>
                        </a:rPr>
                        <a:t>0</a:t>
                      </a:r>
                      <a:endParaRPr lang="zh-CN" altLang="en-US" sz="2000" dirty="0">
                        <a:latin typeface="Arial" pitchFamily="34" charset="0"/>
                        <a:cs typeface="Arial"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14" name="椭圆 13"/>
          <p:cNvSpPr/>
          <p:nvPr/>
        </p:nvSpPr>
        <p:spPr>
          <a:xfrm>
            <a:off x="4699057" y="4293096"/>
            <a:ext cx="720080" cy="4320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6372200" y="5805264"/>
            <a:ext cx="2177199" cy="400110"/>
          </a:xfrm>
          <a:prstGeom prst="rect">
            <a:avLst/>
          </a:prstGeom>
        </p:spPr>
        <p:txBody>
          <a:bodyPr wrap="none">
            <a:spAutoFit/>
          </a:bodyPr>
          <a:lstStyle/>
          <a:p>
            <a:r>
              <a:rPr lang="zh-CN" altLang="en-US" sz="2000" b="1" dirty="0" smtClean="0">
                <a:solidFill>
                  <a:srgbClr val="FF0000"/>
                </a:solidFill>
                <a:latin typeface="Arial" pitchFamily="34" charset="0"/>
                <a:ea typeface="黑体" pitchFamily="49" charset="-122"/>
                <a:cs typeface="Arial" pitchFamily="34" charset="0"/>
              </a:rPr>
              <a:t>其中</a:t>
            </a:r>
            <a:r>
              <a:rPr lang="en-US" altLang="zh-CN" sz="2000" b="1" dirty="0" smtClean="0">
                <a:solidFill>
                  <a:srgbClr val="FF0000"/>
                </a:solidFill>
                <a:latin typeface="Arial" pitchFamily="34" charset="0"/>
                <a:ea typeface="黑体" pitchFamily="49" charset="-122"/>
                <a:cs typeface="Arial" pitchFamily="34" charset="0"/>
              </a:rPr>
              <a:t>G</a:t>
            </a:r>
            <a:r>
              <a:rPr lang="en-US" altLang="zh-CN" sz="2000" b="1" baseline="-25000" dirty="0" smtClean="0">
                <a:solidFill>
                  <a:srgbClr val="FF0000"/>
                </a:solidFill>
                <a:latin typeface="Arial" pitchFamily="34" charset="0"/>
                <a:ea typeface="黑体" pitchFamily="49" charset="-122"/>
                <a:cs typeface="Arial" pitchFamily="34" charset="0"/>
              </a:rPr>
              <a:t>8</a:t>
            </a:r>
            <a:r>
              <a:rPr lang="en-US" altLang="zh-CN" sz="2000" b="1" dirty="0" smtClean="0">
                <a:solidFill>
                  <a:srgbClr val="FF0000"/>
                </a:solidFill>
                <a:latin typeface="Arial" pitchFamily="34" charset="0"/>
                <a:ea typeface="黑体" pitchFamily="49" charset="-122"/>
                <a:cs typeface="Arial" pitchFamily="34" charset="0"/>
              </a:rPr>
              <a:t>= G</a:t>
            </a:r>
            <a:r>
              <a:rPr lang="en-US" altLang="zh-CN" sz="2000" b="1" baseline="-25000" dirty="0" smtClean="0">
                <a:solidFill>
                  <a:srgbClr val="FF0000"/>
                </a:solidFill>
                <a:latin typeface="Arial" pitchFamily="34" charset="0"/>
                <a:ea typeface="黑体" pitchFamily="49" charset="-122"/>
                <a:cs typeface="Arial" pitchFamily="34" charset="0"/>
              </a:rPr>
              <a:t>5</a:t>
            </a:r>
            <a:r>
              <a:rPr lang="en-US" altLang="zh-CN" sz="2000" b="1" dirty="0" smtClean="0">
                <a:solidFill>
                  <a:srgbClr val="FF0000"/>
                </a:solidFill>
                <a:latin typeface="Arial" pitchFamily="34" charset="0"/>
                <a:ea typeface="黑体" pitchFamily="49" charset="-122"/>
                <a:cs typeface="Arial" pitchFamily="34" charset="0"/>
              </a:rPr>
              <a:t>∪G</a:t>
            </a:r>
            <a:r>
              <a:rPr lang="en-US" altLang="zh-CN" sz="2000" b="1" baseline="-25000" dirty="0" smtClean="0">
                <a:solidFill>
                  <a:srgbClr val="FF0000"/>
                </a:solidFill>
                <a:latin typeface="Arial" pitchFamily="34" charset="0"/>
                <a:ea typeface="黑体" pitchFamily="49" charset="-122"/>
                <a:cs typeface="Arial" pitchFamily="34" charset="0"/>
              </a:rPr>
              <a:t>7</a:t>
            </a:r>
            <a:r>
              <a:rPr lang="en-US" altLang="zh-CN" sz="2000" b="1" dirty="0" smtClean="0">
                <a:solidFill>
                  <a:srgbClr val="FF0000"/>
                </a:solidFill>
                <a:latin typeface="Arial" pitchFamily="34" charset="0"/>
                <a:ea typeface="黑体" pitchFamily="49" charset="-122"/>
                <a:cs typeface="Arial" pitchFamily="34" charset="0"/>
              </a:rPr>
              <a:t> </a:t>
            </a:r>
            <a:endParaRPr lang="zh-CN" altLang="en-US" sz="2000" b="1" dirty="0">
              <a:solidFill>
                <a:srgbClr val="FF0000"/>
              </a:solidFill>
              <a:latin typeface="Arial" pitchFamily="34" charset="0"/>
              <a:ea typeface="黑体" pitchFamily="49" charset="-122"/>
              <a:cs typeface="Arial" pitchFamily="34" charset="0"/>
            </a:endParaRPr>
          </a:p>
        </p:txBody>
      </p:sp>
      <p:sp>
        <p:nvSpPr>
          <p:cNvPr id="16" name="矩形 15"/>
          <p:cNvSpPr/>
          <p:nvPr/>
        </p:nvSpPr>
        <p:spPr>
          <a:xfrm>
            <a:off x="683568" y="5697251"/>
            <a:ext cx="744114" cy="461665"/>
          </a:xfrm>
          <a:prstGeom prst="rect">
            <a:avLst/>
          </a:prstGeom>
        </p:spPr>
        <p:txBody>
          <a:bodyPr wrap="none">
            <a:spAutoFit/>
          </a:bodyPr>
          <a:lstStyle/>
          <a:p>
            <a:r>
              <a:rPr lang="en-US" altLang="zh-CN" sz="2400" b="1" dirty="0" smtClean="0">
                <a:solidFill>
                  <a:srgbClr val="FF0000"/>
                </a:solidFill>
              </a:rPr>
              <a:t>D</a:t>
            </a:r>
            <a:r>
              <a:rPr lang="en-US" altLang="zh-CN" sz="2400" b="1" baseline="-25000" dirty="0" smtClean="0">
                <a:solidFill>
                  <a:srgbClr val="FF0000"/>
                </a:solidFill>
              </a:rPr>
              <a:t>(3)</a:t>
            </a:r>
            <a:r>
              <a:rPr lang="en-US" altLang="zh-CN" sz="2400" b="1" dirty="0" smtClean="0">
                <a:solidFill>
                  <a:srgbClr val="FF0000"/>
                </a:solidFill>
              </a:rPr>
              <a:t> </a:t>
            </a:r>
            <a:endParaRPr lang="zh-CN" altLang="en-US" sz="24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linds(horizontal)">
                                      <p:cBhvr>
                                        <p:cTn id="15" dur="500"/>
                                        <p:tgtEl>
                                          <p:spTgt spid="10"/>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blinds(horizontal)">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blinds(horizontal)">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blinds(horizontal)">
                                      <p:cBhvr>
                                        <p:cTn id="28" dur="500"/>
                                        <p:tgtEl>
                                          <p:spTgt spid="16"/>
                                        </p:tgtEl>
                                      </p:cBhvr>
                                    </p:animEffect>
                                  </p:childTnLst>
                                </p:cTn>
                              </p:par>
                              <p:par>
                                <p:cTn id="29" presetID="3" presetClass="entr" presetSubtype="1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blinds(horizontal)">
                                      <p:cBhvr>
                                        <p:cTn id="31" dur="500"/>
                                        <p:tgtEl>
                                          <p:spTgt spid="13"/>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blinds(horizontal)">
                                      <p:cBhvr>
                                        <p:cTn id="3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P spid="12" grpId="0"/>
      <p:bldP spid="14" grpId="0" animBg="1"/>
      <p:bldP spid="15" grpId="0"/>
      <p:bldP spid="1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2"/>
          <p:cNvPicPr>
            <a:picLocks noChangeAspect="1" noChangeArrowheads="1"/>
          </p:cNvPicPr>
          <p:nvPr/>
        </p:nvPicPr>
        <p:blipFill>
          <a:blip r:embed="rId2" cstate="print"/>
          <a:srcRect/>
          <a:stretch>
            <a:fillRect/>
          </a:stretch>
        </p:blipFill>
        <p:spPr bwMode="auto">
          <a:xfrm>
            <a:off x="611560" y="590128"/>
            <a:ext cx="7858125" cy="5791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32</a:t>
            </a:fld>
            <a:endParaRPr lang="zh-CN" altLang="en-US"/>
          </a:p>
        </p:txBody>
      </p:sp>
      <p:sp>
        <p:nvSpPr>
          <p:cNvPr id="3" name="内容占位符 2"/>
          <p:cNvSpPr txBox="1">
            <a:spLocks/>
          </p:cNvSpPr>
          <p:nvPr/>
        </p:nvSpPr>
        <p:spPr>
          <a:xfrm>
            <a:off x="107504" y="1052736"/>
            <a:ext cx="8964488" cy="1152128"/>
          </a:xfrm>
          <a:prstGeom prst="rect">
            <a:avLst/>
          </a:prstGeom>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Char char="n"/>
            </a:pPr>
            <a:r>
              <a:rPr lang="zh-CN" altLang="en-US" sz="2800" dirty="0" smtClean="0">
                <a:latin typeface="Arial" pitchFamily="34" charset="0"/>
                <a:ea typeface="黑体" pitchFamily="49" charset="-122"/>
                <a:cs typeface="Arial" pitchFamily="34" charset="0"/>
              </a:rPr>
              <a:t>类与类之间的距离为两类最远样本间的距离，</a:t>
            </a:r>
            <a:r>
              <a:rPr lang="zh-CN" altLang="en-US" sz="2800" dirty="0" smtClean="0">
                <a:solidFill>
                  <a:srgbClr val="FF0000"/>
                </a:solidFill>
                <a:latin typeface="Arial" pitchFamily="34" charset="0"/>
                <a:ea typeface="黑体" pitchFamily="49" charset="-122"/>
                <a:cs typeface="Arial" pitchFamily="34" charset="0"/>
              </a:rPr>
              <a:t>可能被极大值扭曲</a:t>
            </a:r>
            <a:r>
              <a:rPr lang="zh-CN" altLang="en-US" sz="2800" dirty="0" smtClean="0">
                <a:latin typeface="Arial" pitchFamily="34" charset="0"/>
                <a:ea typeface="黑体" pitchFamily="49" charset="-122"/>
                <a:cs typeface="Arial" pitchFamily="34" charset="0"/>
              </a:rPr>
              <a:t>，一般将</a:t>
            </a:r>
            <a:r>
              <a:rPr lang="zh-CN" altLang="en-US" sz="2800" dirty="0">
                <a:latin typeface="Arial" pitchFamily="34" charset="0"/>
                <a:ea typeface="黑体" pitchFamily="49" charset="-122"/>
                <a:cs typeface="Arial" pitchFamily="34" charset="0"/>
              </a:rPr>
              <a:t>这些</a:t>
            </a:r>
            <a:r>
              <a:rPr lang="zh-CN" altLang="en-US" sz="2800" dirty="0" smtClean="0">
                <a:latin typeface="Arial" pitchFamily="34" charset="0"/>
                <a:ea typeface="黑体" pitchFamily="49" charset="-122"/>
                <a:cs typeface="Arial" pitchFamily="34" charset="0"/>
              </a:rPr>
              <a:t>异常值</a:t>
            </a:r>
            <a:r>
              <a:rPr lang="zh-CN" altLang="en-US" sz="2800" dirty="0">
                <a:latin typeface="Arial" pitchFamily="34" charset="0"/>
                <a:ea typeface="黑体" pitchFamily="49" charset="-122"/>
                <a:cs typeface="Arial" pitchFamily="34" charset="0"/>
              </a:rPr>
              <a:t>删除</a:t>
            </a:r>
            <a:r>
              <a:rPr lang="zh-CN" altLang="en-US" sz="2800" dirty="0" smtClean="0">
                <a:latin typeface="Arial" pitchFamily="34" charset="0"/>
                <a:ea typeface="黑体" pitchFamily="49" charset="-122"/>
                <a:cs typeface="Arial" pitchFamily="34" charset="0"/>
              </a:rPr>
              <a:t>后</a:t>
            </a:r>
            <a:r>
              <a:rPr lang="zh-CN" altLang="en-US" sz="2800" dirty="0">
                <a:latin typeface="Arial" pitchFamily="34" charset="0"/>
                <a:ea typeface="黑体" pitchFamily="49" charset="-122"/>
                <a:cs typeface="Arial" pitchFamily="34" charset="0"/>
              </a:rPr>
              <a:t>再进行聚类</a:t>
            </a:r>
            <a:r>
              <a:rPr lang="zh-CN" altLang="en-US" sz="2800" dirty="0" smtClean="0">
                <a:latin typeface="Arial" pitchFamily="34" charset="0"/>
                <a:ea typeface="黑体" pitchFamily="49" charset="-122"/>
                <a:cs typeface="Arial" pitchFamily="34" charset="0"/>
              </a:rPr>
              <a:t>。</a:t>
            </a:r>
          </a:p>
          <a:p>
            <a:pPr>
              <a:buFont typeface="Wingdings" pitchFamily="2" charset="2"/>
              <a:buChar char="n"/>
            </a:pPr>
            <a:endParaRPr lang="zh-CN" altLang="en-US" sz="2800" dirty="0">
              <a:latin typeface="Arial" pitchFamily="34" charset="0"/>
              <a:ea typeface="黑体" pitchFamily="49" charset="-122"/>
              <a:cs typeface="Arial" pitchFamily="34" charset="0"/>
            </a:endParaRPr>
          </a:p>
        </p:txBody>
      </p:sp>
      <p:sp>
        <p:nvSpPr>
          <p:cNvPr id="4" name="标题 1"/>
          <p:cNvSpPr txBox="1">
            <a:spLocks/>
          </p:cNvSpPr>
          <p:nvPr/>
        </p:nvSpPr>
        <p:spPr>
          <a:xfrm>
            <a:off x="457200" y="274638"/>
            <a:ext cx="8229600" cy="778098"/>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a:lstStyle>
          <a:p>
            <a:r>
              <a:rPr lang="zh-CN" altLang="en-US" sz="3200" b="1" smtClean="0">
                <a:solidFill>
                  <a:srgbClr val="C00000"/>
                </a:solidFill>
                <a:latin typeface="黑体" pitchFamily="49" charset="-122"/>
                <a:ea typeface="黑体" pitchFamily="49" charset="-122"/>
              </a:rPr>
              <a:t>最长距离法</a:t>
            </a:r>
            <a:endParaRPr lang="zh-CN" altLang="en-US" sz="3200" b="1" dirty="0">
              <a:solidFill>
                <a:srgbClr val="C00000"/>
              </a:solidFill>
              <a:latin typeface="黑体" pitchFamily="49" charset="-122"/>
              <a:ea typeface="黑体" pitchFamily="49" charset="-122"/>
            </a:endParaRPr>
          </a:p>
        </p:txBody>
      </p:sp>
      <p:pic>
        <p:nvPicPr>
          <p:cNvPr id="5" name="Picture 2"/>
          <p:cNvPicPr>
            <a:picLocks noChangeAspect="1" noChangeArrowheads="1"/>
          </p:cNvPicPr>
          <p:nvPr/>
        </p:nvPicPr>
        <p:blipFill>
          <a:blip r:embed="rId2" cstate="print"/>
          <a:srcRect/>
          <a:stretch>
            <a:fillRect/>
          </a:stretch>
        </p:blipFill>
        <p:spPr bwMode="auto">
          <a:xfrm>
            <a:off x="763091" y="2204864"/>
            <a:ext cx="7553325" cy="4171950"/>
          </a:xfrm>
          <a:prstGeom prst="rect">
            <a:avLst/>
          </a:prstGeom>
          <a:noFill/>
          <a:ln w="9525">
            <a:noFill/>
            <a:miter lim="800000"/>
            <a:headEnd/>
            <a:tailEnd/>
          </a:ln>
        </p:spPr>
      </p:pic>
    </p:spTree>
    <p:extLst>
      <p:ext uri="{BB962C8B-B14F-4D97-AF65-F5344CB8AC3E}">
        <p14:creationId xmlns:p14="http://schemas.microsoft.com/office/powerpoint/2010/main" val="64527099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33</a:t>
            </a:fld>
            <a:endParaRPr lang="zh-CN" altLang="en-US"/>
          </a:p>
        </p:txBody>
      </p:sp>
      <p:sp>
        <p:nvSpPr>
          <p:cNvPr id="5" name="标题 1"/>
          <p:cNvSpPr>
            <a:spLocks noGrp="1"/>
          </p:cNvSpPr>
          <p:nvPr>
            <p:ph type="title"/>
          </p:nvPr>
        </p:nvSpPr>
        <p:spPr>
          <a:xfrm>
            <a:off x="457200" y="188640"/>
            <a:ext cx="8229600" cy="1224136"/>
          </a:xfrm>
        </p:spPr>
        <p:txBody>
          <a:bodyPr/>
          <a:lstStyle/>
          <a:p>
            <a:r>
              <a:rPr lang="zh-CN" altLang="en-US" sz="3200" b="1" dirty="0" smtClean="0">
                <a:solidFill>
                  <a:srgbClr val="000099"/>
                </a:solidFill>
                <a:latin typeface="Arial" pitchFamily="34" charset="0"/>
                <a:ea typeface="黑体" pitchFamily="49" charset="-122"/>
                <a:cs typeface="Arial" pitchFamily="34" charset="0"/>
              </a:rPr>
              <a:t>（</a:t>
            </a:r>
            <a:r>
              <a:rPr lang="en-US" altLang="zh-CN" sz="3200" b="1" dirty="0" smtClean="0">
                <a:solidFill>
                  <a:srgbClr val="000099"/>
                </a:solidFill>
                <a:latin typeface="Arial" pitchFamily="34" charset="0"/>
                <a:ea typeface="黑体" pitchFamily="49" charset="-122"/>
                <a:cs typeface="Arial" pitchFamily="34" charset="0"/>
              </a:rPr>
              <a:t>2</a:t>
            </a:r>
            <a:r>
              <a:rPr lang="zh-CN" altLang="en-US" sz="3200" b="1" dirty="0" smtClean="0">
                <a:solidFill>
                  <a:srgbClr val="000099"/>
                </a:solidFill>
                <a:latin typeface="Arial" pitchFamily="34" charset="0"/>
                <a:ea typeface="黑体" pitchFamily="49" charset="-122"/>
                <a:cs typeface="Arial" pitchFamily="34" charset="0"/>
              </a:rPr>
              <a:t>）</a:t>
            </a:r>
            <a:r>
              <a:rPr lang="en-US" altLang="zh-CN" sz="3200" b="1" dirty="0" smtClean="0">
                <a:solidFill>
                  <a:srgbClr val="000099"/>
                </a:solidFill>
                <a:latin typeface="Arial" pitchFamily="34" charset="0"/>
                <a:ea typeface="黑体" pitchFamily="49" charset="-122"/>
                <a:cs typeface="Arial" pitchFamily="34" charset="0"/>
              </a:rPr>
              <a:t>K</a:t>
            </a:r>
            <a:r>
              <a:rPr lang="zh-CN" altLang="en-US" sz="3200" b="1" dirty="0" smtClean="0">
                <a:solidFill>
                  <a:srgbClr val="000099"/>
                </a:solidFill>
                <a:latin typeface="Arial" pitchFamily="34" charset="0"/>
                <a:ea typeface="黑体" pitchFamily="49" charset="-122"/>
                <a:cs typeface="Arial" pitchFamily="34" charset="0"/>
              </a:rPr>
              <a:t>均值聚类</a:t>
            </a:r>
            <a:r>
              <a:rPr lang="en-US" altLang="zh-CN" sz="3200" b="1" dirty="0" smtClean="0">
                <a:solidFill>
                  <a:srgbClr val="000099"/>
                </a:solidFill>
                <a:latin typeface="Arial" pitchFamily="34" charset="0"/>
                <a:ea typeface="黑体" pitchFamily="49" charset="-122"/>
                <a:cs typeface="Arial" pitchFamily="34" charset="0"/>
              </a:rPr>
              <a:t/>
            </a:r>
            <a:br>
              <a:rPr lang="en-US" altLang="zh-CN" sz="3200" b="1" dirty="0" smtClean="0">
                <a:solidFill>
                  <a:srgbClr val="000099"/>
                </a:solidFill>
                <a:latin typeface="Arial" pitchFamily="34" charset="0"/>
                <a:ea typeface="黑体" pitchFamily="49" charset="-122"/>
                <a:cs typeface="Arial" pitchFamily="34" charset="0"/>
              </a:rPr>
            </a:br>
            <a:r>
              <a:rPr lang="zh-CN" altLang="en-US" sz="3200" b="1" dirty="0" smtClean="0">
                <a:solidFill>
                  <a:srgbClr val="000099"/>
                </a:solidFill>
                <a:latin typeface="Arial" pitchFamily="34" charset="0"/>
                <a:ea typeface="黑体" pitchFamily="49" charset="-122"/>
                <a:cs typeface="Arial" pitchFamily="34" charset="0"/>
              </a:rPr>
              <a:t>（</a:t>
            </a:r>
            <a:r>
              <a:rPr lang="en-US" altLang="zh-CN" sz="3200" b="1" dirty="0" smtClean="0">
                <a:solidFill>
                  <a:srgbClr val="000099"/>
                </a:solidFill>
                <a:latin typeface="Arial" pitchFamily="34" charset="0"/>
                <a:ea typeface="黑体" pitchFamily="49" charset="-122"/>
                <a:cs typeface="Arial" pitchFamily="34" charset="0"/>
              </a:rPr>
              <a:t>K-Means Clustering</a:t>
            </a:r>
            <a:r>
              <a:rPr lang="zh-CN" altLang="en-US" sz="3200" b="1" dirty="0" smtClean="0">
                <a:solidFill>
                  <a:srgbClr val="000099"/>
                </a:solidFill>
                <a:latin typeface="Arial" pitchFamily="34" charset="0"/>
                <a:ea typeface="黑体" pitchFamily="49" charset="-122"/>
                <a:cs typeface="Arial" pitchFamily="34" charset="0"/>
              </a:rPr>
              <a:t>）</a:t>
            </a:r>
            <a:endParaRPr lang="zh-CN" altLang="en-US" sz="3200" b="1" dirty="0">
              <a:solidFill>
                <a:srgbClr val="000099"/>
              </a:solidFill>
              <a:latin typeface="Arial" pitchFamily="34" charset="0"/>
              <a:ea typeface="黑体" pitchFamily="49" charset="-122"/>
              <a:cs typeface="Arial" pitchFamily="34" charset="0"/>
            </a:endParaRPr>
          </a:p>
        </p:txBody>
      </p:sp>
      <p:sp>
        <p:nvSpPr>
          <p:cNvPr id="6" name="内容占位符 2"/>
          <p:cNvSpPr>
            <a:spLocks noGrp="1"/>
          </p:cNvSpPr>
          <p:nvPr>
            <p:ph idx="1"/>
          </p:nvPr>
        </p:nvSpPr>
        <p:spPr>
          <a:xfrm>
            <a:off x="72008" y="1556792"/>
            <a:ext cx="9036496" cy="4896544"/>
          </a:xfrm>
        </p:spPr>
        <p:txBody>
          <a:bodyPr/>
          <a:lstStyle/>
          <a:p>
            <a:pPr>
              <a:buFont typeface="Wingdings" pitchFamily="2" charset="2"/>
              <a:buChar char="n"/>
            </a:pPr>
            <a:r>
              <a:rPr lang="zh-CN" altLang="en-US" sz="2400" dirty="0" smtClean="0">
                <a:latin typeface="Arial" pitchFamily="34" charset="0"/>
                <a:ea typeface="黑体" pitchFamily="49" charset="-122"/>
                <a:cs typeface="Arial" pitchFamily="34" charset="0"/>
              </a:rPr>
              <a:t>首先我们选择一些类</a:t>
            </a:r>
            <a:r>
              <a:rPr lang="en-US" altLang="zh-CN" sz="2400" dirty="0" smtClean="0">
                <a:latin typeface="Arial" pitchFamily="34" charset="0"/>
                <a:ea typeface="黑体" pitchFamily="49" charset="-122"/>
                <a:cs typeface="Arial" pitchFamily="34" charset="0"/>
              </a:rPr>
              <a:t>/</a:t>
            </a:r>
            <a:r>
              <a:rPr lang="zh-CN" altLang="en-US" sz="2400" dirty="0" smtClean="0">
                <a:latin typeface="Arial" pitchFamily="34" charset="0"/>
                <a:ea typeface="黑体" pitchFamily="49" charset="-122"/>
                <a:cs typeface="Arial" pitchFamily="34" charset="0"/>
              </a:rPr>
              <a:t>组，并随机初始化它们各自的</a:t>
            </a:r>
            <a:r>
              <a:rPr lang="zh-CN" altLang="en-US" sz="2400" dirty="0">
                <a:latin typeface="Arial" pitchFamily="34" charset="0"/>
                <a:ea typeface="黑体" pitchFamily="49" charset="-122"/>
                <a:cs typeface="Arial" pitchFamily="34" charset="0"/>
              </a:rPr>
              <a:t>中心点（如均值</a:t>
            </a:r>
            <a:r>
              <a:rPr lang="zh-CN" altLang="en-US" sz="2400" dirty="0" smtClean="0">
                <a:latin typeface="Arial" pitchFamily="34" charset="0"/>
                <a:ea typeface="黑体" pitchFamily="49" charset="-122"/>
                <a:cs typeface="Arial" pitchFamily="34" charset="0"/>
              </a:rPr>
              <a:t>）。这需要我们</a:t>
            </a:r>
            <a:r>
              <a:rPr lang="zh-CN" altLang="en-US" sz="2400" dirty="0" smtClean="0">
                <a:solidFill>
                  <a:srgbClr val="FF0000"/>
                </a:solidFill>
                <a:latin typeface="Arial" pitchFamily="34" charset="0"/>
                <a:ea typeface="黑体" pitchFamily="49" charset="-122"/>
                <a:cs typeface="Arial" pitchFamily="34" charset="0"/>
              </a:rPr>
              <a:t>提前预知类的数量</a:t>
            </a:r>
            <a:r>
              <a:rPr lang="en-US" altLang="zh-CN" sz="2400" dirty="0" smtClean="0">
                <a:latin typeface="Arial" pitchFamily="34" charset="0"/>
                <a:ea typeface="黑体" pitchFamily="49" charset="-122"/>
                <a:cs typeface="Arial" pitchFamily="34" charset="0"/>
              </a:rPr>
              <a:t>(</a:t>
            </a:r>
            <a:r>
              <a:rPr lang="zh-CN" altLang="en-US" sz="2400" dirty="0" smtClean="0">
                <a:latin typeface="Arial" pitchFamily="34" charset="0"/>
                <a:ea typeface="黑体" pitchFamily="49" charset="-122"/>
                <a:cs typeface="Arial" pitchFamily="34" charset="0"/>
              </a:rPr>
              <a:t>即中心点的数量</a:t>
            </a:r>
            <a:r>
              <a:rPr lang="en-US" altLang="zh-CN" sz="2400" dirty="0" smtClean="0">
                <a:latin typeface="Arial" pitchFamily="34" charset="0"/>
                <a:ea typeface="黑体" pitchFamily="49" charset="-122"/>
                <a:cs typeface="Arial" pitchFamily="34" charset="0"/>
              </a:rPr>
              <a:t>)</a:t>
            </a:r>
            <a:r>
              <a:rPr lang="zh-CN" altLang="en-US" sz="2400" dirty="0" smtClean="0">
                <a:latin typeface="Arial" pitchFamily="34" charset="0"/>
                <a:ea typeface="黑体" pitchFamily="49" charset="-122"/>
                <a:cs typeface="Arial" pitchFamily="34" charset="0"/>
              </a:rPr>
              <a:t>；</a:t>
            </a:r>
            <a:endParaRPr lang="en-US" altLang="zh-CN" sz="2400" dirty="0" smtClean="0">
              <a:latin typeface="Arial" pitchFamily="34" charset="0"/>
              <a:ea typeface="黑体" pitchFamily="49" charset="-122"/>
              <a:cs typeface="Arial" pitchFamily="34" charset="0"/>
            </a:endParaRPr>
          </a:p>
          <a:p>
            <a:pPr>
              <a:buFont typeface="Wingdings" pitchFamily="2" charset="2"/>
              <a:buChar char="n"/>
            </a:pPr>
            <a:endParaRPr lang="zh-CN" altLang="en-US" sz="2400" dirty="0" smtClean="0">
              <a:latin typeface="Arial" pitchFamily="34" charset="0"/>
              <a:ea typeface="黑体" pitchFamily="49" charset="-122"/>
              <a:cs typeface="Arial" pitchFamily="34" charset="0"/>
            </a:endParaRPr>
          </a:p>
          <a:p>
            <a:pPr>
              <a:buFont typeface="Wingdings" pitchFamily="2" charset="2"/>
              <a:buChar char="n"/>
            </a:pPr>
            <a:r>
              <a:rPr lang="zh-CN" altLang="en-US" sz="2400" dirty="0" smtClean="0">
                <a:latin typeface="Arial" pitchFamily="34" charset="0"/>
                <a:ea typeface="黑体" pitchFamily="49" charset="-122"/>
                <a:cs typeface="Arial" pitchFamily="34" charset="0"/>
              </a:rPr>
              <a:t>计算每个数据点到中心点的距离，数据点距离哪个中心点最近就划分到哪一类中；</a:t>
            </a:r>
            <a:endParaRPr lang="en-US" altLang="zh-CN" sz="2400" dirty="0" smtClean="0">
              <a:latin typeface="Arial" pitchFamily="34" charset="0"/>
              <a:ea typeface="黑体" pitchFamily="49" charset="-122"/>
              <a:cs typeface="Arial" pitchFamily="34" charset="0"/>
            </a:endParaRPr>
          </a:p>
          <a:p>
            <a:pPr>
              <a:buFont typeface="Wingdings" pitchFamily="2" charset="2"/>
              <a:buChar char="n"/>
            </a:pPr>
            <a:endParaRPr lang="zh-CN" altLang="en-US" sz="2400" dirty="0" smtClean="0">
              <a:latin typeface="Arial" pitchFamily="34" charset="0"/>
              <a:ea typeface="黑体" pitchFamily="49" charset="-122"/>
              <a:cs typeface="Arial" pitchFamily="34" charset="0"/>
            </a:endParaRPr>
          </a:p>
          <a:p>
            <a:pPr>
              <a:buFont typeface="Wingdings" pitchFamily="2" charset="2"/>
              <a:buChar char="n"/>
            </a:pPr>
            <a:r>
              <a:rPr lang="zh-CN" altLang="en-US" sz="2400" dirty="0" smtClean="0">
                <a:latin typeface="Arial" pitchFamily="34" charset="0"/>
                <a:ea typeface="黑体" pitchFamily="49" charset="-122"/>
                <a:cs typeface="Arial" pitchFamily="34" charset="0"/>
              </a:rPr>
              <a:t>计算每一类中心点作为新的中心点；</a:t>
            </a:r>
            <a:endParaRPr lang="en-US" altLang="zh-CN" sz="2400" dirty="0" smtClean="0">
              <a:latin typeface="Arial" pitchFamily="34" charset="0"/>
              <a:ea typeface="黑体" pitchFamily="49" charset="-122"/>
              <a:cs typeface="Arial" pitchFamily="34" charset="0"/>
            </a:endParaRPr>
          </a:p>
          <a:p>
            <a:pPr>
              <a:buFont typeface="Wingdings" pitchFamily="2" charset="2"/>
              <a:buChar char="n"/>
            </a:pPr>
            <a:endParaRPr lang="zh-CN" altLang="en-US" sz="2400" dirty="0" smtClean="0">
              <a:latin typeface="Arial" pitchFamily="34" charset="0"/>
              <a:ea typeface="黑体" pitchFamily="49" charset="-122"/>
              <a:cs typeface="Arial" pitchFamily="34" charset="0"/>
            </a:endParaRPr>
          </a:p>
          <a:p>
            <a:pPr>
              <a:buFont typeface="Wingdings" pitchFamily="2" charset="2"/>
              <a:buChar char="n"/>
            </a:pPr>
            <a:r>
              <a:rPr lang="zh-CN" altLang="en-US" sz="2400" dirty="0" smtClean="0">
                <a:latin typeface="Arial" pitchFamily="34" charset="0"/>
                <a:ea typeface="黑体" pitchFamily="49" charset="-122"/>
                <a:cs typeface="Arial" pitchFamily="34" charset="0"/>
              </a:rPr>
              <a:t>重复以上步骤，直到每一类中心在每次迭代后变化不大为止。也可以多次随机初始化中心点，然后选择结果最好的一个。</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6914" name="Picture 2"/>
          <p:cNvPicPr>
            <a:picLocks noChangeAspect="1" noChangeArrowheads="1"/>
          </p:cNvPicPr>
          <p:nvPr/>
        </p:nvPicPr>
        <p:blipFill>
          <a:blip r:embed="rId2" cstate="print"/>
          <a:srcRect/>
          <a:stretch>
            <a:fillRect/>
          </a:stretch>
        </p:blipFill>
        <p:spPr bwMode="auto">
          <a:xfrm>
            <a:off x="1081088" y="881063"/>
            <a:ext cx="6981825" cy="50958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35</a:t>
            </a:fld>
            <a:endParaRPr lang="zh-CN" altLang="en-US"/>
          </a:p>
        </p:txBody>
      </p:sp>
      <p:pic>
        <p:nvPicPr>
          <p:cNvPr id="167938" name="Picture 2"/>
          <p:cNvPicPr>
            <a:picLocks noChangeAspect="1" noChangeArrowheads="1"/>
          </p:cNvPicPr>
          <p:nvPr/>
        </p:nvPicPr>
        <p:blipFill>
          <a:blip r:embed="rId2" cstate="print"/>
          <a:srcRect/>
          <a:stretch>
            <a:fillRect/>
          </a:stretch>
        </p:blipFill>
        <p:spPr bwMode="auto">
          <a:xfrm>
            <a:off x="1185863" y="1138238"/>
            <a:ext cx="6772275" cy="45815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36</a:t>
            </a:fld>
            <a:endParaRPr lang="zh-CN" altLang="en-US"/>
          </a:p>
        </p:txBody>
      </p:sp>
      <p:pic>
        <p:nvPicPr>
          <p:cNvPr id="168962" name="Picture 2"/>
          <p:cNvPicPr>
            <a:picLocks noChangeAspect="1" noChangeArrowheads="1"/>
          </p:cNvPicPr>
          <p:nvPr/>
        </p:nvPicPr>
        <p:blipFill>
          <a:blip r:embed="rId2" cstate="print"/>
          <a:srcRect/>
          <a:stretch>
            <a:fillRect/>
          </a:stretch>
        </p:blipFill>
        <p:spPr bwMode="auto">
          <a:xfrm>
            <a:off x="1157288" y="1066800"/>
            <a:ext cx="6829425" cy="4724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37</a:t>
            </a:fld>
            <a:endParaRPr lang="zh-CN" altLang="en-US"/>
          </a:p>
        </p:txBody>
      </p:sp>
      <p:pic>
        <p:nvPicPr>
          <p:cNvPr id="169986" name="Picture 2"/>
          <p:cNvPicPr>
            <a:picLocks noChangeAspect="1" noChangeArrowheads="1"/>
          </p:cNvPicPr>
          <p:nvPr/>
        </p:nvPicPr>
        <p:blipFill>
          <a:blip r:embed="rId2" cstate="print"/>
          <a:srcRect/>
          <a:stretch>
            <a:fillRect/>
          </a:stretch>
        </p:blipFill>
        <p:spPr bwMode="auto">
          <a:xfrm>
            <a:off x="1109663" y="1152525"/>
            <a:ext cx="6924675" cy="45529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38</a:t>
            </a:fld>
            <a:endParaRPr lang="zh-CN" altLang="en-US"/>
          </a:p>
        </p:txBody>
      </p:sp>
      <p:pic>
        <p:nvPicPr>
          <p:cNvPr id="171010" name="Picture 2"/>
          <p:cNvPicPr>
            <a:picLocks noChangeAspect="1" noChangeArrowheads="1"/>
          </p:cNvPicPr>
          <p:nvPr/>
        </p:nvPicPr>
        <p:blipFill>
          <a:blip r:embed="rId2" cstate="print"/>
          <a:srcRect/>
          <a:stretch>
            <a:fillRect/>
          </a:stretch>
        </p:blipFill>
        <p:spPr bwMode="auto">
          <a:xfrm>
            <a:off x="1181100" y="1123950"/>
            <a:ext cx="6781800" cy="46101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39</a:t>
            </a:fld>
            <a:endParaRPr lang="zh-CN" altLang="en-US"/>
          </a:p>
        </p:txBody>
      </p:sp>
      <p:pic>
        <p:nvPicPr>
          <p:cNvPr id="172034" name="Picture 2"/>
          <p:cNvPicPr>
            <a:picLocks noChangeAspect="1" noChangeArrowheads="1"/>
          </p:cNvPicPr>
          <p:nvPr/>
        </p:nvPicPr>
        <p:blipFill>
          <a:blip r:embed="rId2" cstate="print"/>
          <a:srcRect/>
          <a:stretch>
            <a:fillRect/>
          </a:stretch>
        </p:blipFill>
        <p:spPr bwMode="auto">
          <a:xfrm>
            <a:off x="933450" y="1000125"/>
            <a:ext cx="7277100" cy="48577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40</a:t>
            </a:fld>
            <a:endParaRPr lang="zh-CN" altLang="en-US"/>
          </a:p>
        </p:txBody>
      </p:sp>
      <p:sp>
        <p:nvSpPr>
          <p:cNvPr id="3" name="矩形 2"/>
          <p:cNvSpPr/>
          <p:nvPr/>
        </p:nvSpPr>
        <p:spPr>
          <a:xfrm>
            <a:off x="1115616" y="392893"/>
            <a:ext cx="6840760" cy="461665"/>
          </a:xfrm>
          <a:prstGeom prst="rect">
            <a:avLst/>
          </a:prstGeom>
        </p:spPr>
        <p:txBody>
          <a:bodyPr wrap="square">
            <a:spAutoFit/>
          </a:bodyPr>
          <a:lstStyle/>
          <a:p>
            <a:pPr algn="ctr"/>
            <a:r>
              <a:rPr lang="en-US" altLang="zh-CN" sz="2400" b="1" dirty="0" smtClean="0">
                <a:solidFill>
                  <a:srgbClr val="C00000"/>
                </a:solidFill>
                <a:latin typeface="Arial" pitchFamily="34" charset="0"/>
                <a:ea typeface="黑体" pitchFamily="49" charset="-122"/>
                <a:cs typeface="Arial" pitchFamily="34" charset="0"/>
              </a:rPr>
              <a:t>K-Means</a:t>
            </a:r>
            <a:r>
              <a:rPr lang="zh-CN" altLang="en-US" sz="2400" b="1" dirty="0" smtClean="0">
                <a:solidFill>
                  <a:srgbClr val="C00000"/>
                </a:solidFill>
                <a:latin typeface="Arial" pitchFamily="34" charset="0"/>
                <a:ea typeface="黑体" pitchFamily="49" charset="-122"/>
                <a:cs typeface="Arial" pitchFamily="34" charset="0"/>
              </a:rPr>
              <a:t>进行聚类（</a:t>
            </a:r>
            <a:r>
              <a:rPr lang="en-US" altLang="zh-CN" sz="2400" b="1" dirty="0" smtClean="0">
                <a:solidFill>
                  <a:srgbClr val="C00000"/>
                </a:solidFill>
                <a:latin typeface="Arial" pitchFamily="34" charset="0"/>
                <a:ea typeface="黑体" pitchFamily="49" charset="-122"/>
                <a:cs typeface="Arial" pitchFamily="34" charset="0"/>
              </a:rPr>
              <a:t>3</a:t>
            </a:r>
            <a:r>
              <a:rPr lang="zh-CN" altLang="en-US" sz="2400" b="1" dirty="0" smtClean="0">
                <a:solidFill>
                  <a:srgbClr val="C00000"/>
                </a:solidFill>
                <a:latin typeface="Arial" pitchFamily="34" charset="0"/>
                <a:ea typeface="黑体" pitchFamily="49" charset="-122"/>
                <a:cs typeface="Arial" pitchFamily="34" charset="0"/>
              </a:rPr>
              <a:t>类）的动态过程</a:t>
            </a:r>
            <a:endParaRPr lang="zh-CN" altLang="en-US" sz="2400" b="1" dirty="0">
              <a:solidFill>
                <a:srgbClr val="C00000"/>
              </a:solidFill>
              <a:latin typeface="Arial" pitchFamily="34" charset="0"/>
              <a:ea typeface="黑体" pitchFamily="49" charset="-122"/>
              <a:cs typeface="Arial" pitchFamily="34" charset="0"/>
            </a:endParaRPr>
          </a:p>
        </p:txBody>
      </p:sp>
      <p:pic>
        <p:nvPicPr>
          <p:cNvPr id="4" name="图片 3" descr="20180228115245278.gif"/>
          <p:cNvPicPr>
            <a:picLocks noChangeAspect="1"/>
          </p:cNvPicPr>
          <p:nvPr/>
        </p:nvPicPr>
        <p:blipFill>
          <a:blip r:embed="rId2" cstate="print"/>
          <a:stretch>
            <a:fillRect/>
          </a:stretch>
        </p:blipFill>
        <p:spPr>
          <a:xfrm>
            <a:off x="1763688" y="836712"/>
            <a:ext cx="5958408" cy="5958408"/>
          </a:xfrm>
          <a:prstGeom prst="rect">
            <a:avLst/>
          </a:prstGeom>
        </p:spPr>
      </p:pic>
    </p:spTree>
    <p:extLst>
      <p:ext uri="{BB962C8B-B14F-4D97-AF65-F5344CB8AC3E}">
        <p14:creationId xmlns:p14="http://schemas.microsoft.com/office/powerpoint/2010/main" val="405211701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41</a:t>
            </a:fld>
            <a:endParaRPr lang="zh-CN" altLang="en-US"/>
          </a:p>
        </p:txBody>
      </p:sp>
      <p:sp>
        <p:nvSpPr>
          <p:cNvPr id="3" name="灯片编号占位符 1"/>
          <p:cNvSpPr txBox="1">
            <a:spLocks/>
          </p:cNvSpPr>
          <p:nvPr/>
        </p:nvSpPr>
        <p:spPr>
          <a:xfrm>
            <a:off x="6553200" y="6356350"/>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F68A2D20-FAEA-4A40-97C8-F47E5928D6EB}"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1"/>
          <p:cNvSpPr txBox="1">
            <a:spLocks/>
          </p:cNvSpPr>
          <p:nvPr/>
        </p:nvSpPr>
        <p:spPr>
          <a:xfrm>
            <a:off x="6553200" y="6356350"/>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F68A2D20-FAEA-4A40-97C8-F47E5928D6EB}"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矩形 4"/>
          <p:cNvSpPr/>
          <p:nvPr/>
        </p:nvSpPr>
        <p:spPr>
          <a:xfrm>
            <a:off x="107504" y="332656"/>
            <a:ext cx="8928992" cy="954107"/>
          </a:xfrm>
          <a:prstGeom prst="rect">
            <a:avLst/>
          </a:prstGeom>
        </p:spPr>
        <p:txBody>
          <a:bodyPr wrap="square">
            <a:spAutoFit/>
          </a:bodyPr>
          <a:lstStyle/>
          <a:p>
            <a:r>
              <a:rPr lang="zh-CN" altLang="en-US" sz="2800" dirty="0" smtClean="0">
                <a:solidFill>
                  <a:srgbClr val="FF0000"/>
                </a:solidFill>
                <a:latin typeface="Arial" pitchFamily="34" charset="0"/>
                <a:ea typeface="黑体" pitchFamily="49" charset="-122"/>
                <a:cs typeface="Arial" pitchFamily="34" charset="0"/>
              </a:rPr>
              <a:t>例</a:t>
            </a:r>
            <a:r>
              <a:rPr lang="en-US" altLang="zh-CN" sz="2800" dirty="0" smtClean="0">
                <a:solidFill>
                  <a:srgbClr val="FF0000"/>
                </a:solidFill>
                <a:latin typeface="Arial" pitchFamily="34" charset="0"/>
                <a:ea typeface="黑体" pitchFamily="49" charset="-122"/>
                <a:cs typeface="Arial" pitchFamily="34" charset="0"/>
              </a:rPr>
              <a:t>:</a:t>
            </a:r>
            <a:r>
              <a:rPr lang="zh-CN" altLang="en-US" sz="2800" dirty="0" smtClean="0">
                <a:latin typeface="Arial" pitchFamily="34" charset="0"/>
                <a:ea typeface="黑体" pitchFamily="49" charset="-122"/>
                <a:cs typeface="Arial" pitchFamily="34" charset="0"/>
              </a:rPr>
              <a:t>设有五个样本，每个只测量了一个指标，分别是</a:t>
            </a:r>
            <a:r>
              <a:rPr lang="en-US" altLang="zh-CN" sz="2800" dirty="0" smtClean="0">
                <a:latin typeface="Arial" pitchFamily="34" charset="0"/>
                <a:ea typeface="黑体" pitchFamily="49" charset="-122"/>
                <a:cs typeface="Arial" pitchFamily="34" charset="0"/>
              </a:rPr>
              <a:t>1</a:t>
            </a:r>
            <a:r>
              <a:rPr lang="zh-CN" altLang="en-US" sz="2800" dirty="0" smtClean="0">
                <a:latin typeface="Arial" pitchFamily="34" charset="0"/>
                <a:ea typeface="黑体" pitchFamily="49" charset="-122"/>
                <a:cs typeface="Arial" pitchFamily="34" charset="0"/>
              </a:rPr>
              <a:t>，</a:t>
            </a:r>
            <a:r>
              <a:rPr lang="en-US" altLang="zh-CN" sz="2800" dirty="0" smtClean="0">
                <a:latin typeface="Arial" pitchFamily="34" charset="0"/>
                <a:ea typeface="黑体" pitchFamily="49" charset="-122"/>
                <a:cs typeface="Arial" pitchFamily="34" charset="0"/>
              </a:rPr>
              <a:t>2</a:t>
            </a:r>
            <a:r>
              <a:rPr lang="zh-CN" altLang="en-US" sz="2800" dirty="0" smtClean="0">
                <a:latin typeface="Arial" pitchFamily="34" charset="0"/>
                <a:ea typeface="黑体" pitchFamily="49" charset="-122"/>
                <a:cs typeface="Arial" pitchFamily="34" charset="0"/>
              </a:rPr>
              <a:t>，</a:t>
            </a:r>
            <a:r>
              <a:rPr lang="en-US" altLang="zh-CN" sz="2800" dirty="0" smtClean="0">
                <a:latin typeface="Arial" pitchFamily="34" charset="0"/>
                <a:ea typeface="黑体" pitchFamily="49" charset="-122"/>
                <a:cs typeface="Arial" pitchFamily="34" charset="0"/>
              </a:rPr>
              <a:t>6</a:t>
            </a:r>
            <a:r>
              <a:rPr lang="zh-CN" altLang="en-US" sz="2800" dirty="0" smtClean="0">
                <a:latin typeface="Arial" pitchFamily="34" charset="0"/>
                <a:ea typeface="黑体" pitchFamily="49" charset="-122"/>
                <a:cs typeface="Arial" pitchFamily="34" charset="0"/>
              </a:rPr>
              <a:t>，</a:t>
            </a:r>
            <a:r>
              <a:rPr lang="en-US" altLang="zh-CN" sz="2800" dirty="0" smtClean="0">
                <a:latin typeface="Arial" pitchFamily="34" charset="0"/>
                <a:ea typeface="黑体" pitchFamily="49" charset="-122"/>
                <a:cs typeface="Arial" pitchFamily="34" charset="0"/>
              </a:rPr>
              <a:t>8</a:t>
            </a:r>
            <a:r>
              <a:rPr lang="zh-CN" altLang="en-US" sz="2800" dirty="0" smtClean="0">
                <a:latin typeface="Arial" pitchFamily="34" charset="0"/>
                <a:ea typeface="黑体" pitchFamily="49" charset="-122"/>
                <a:cs typeface="Arial" pitchFamily="34" charset="0"/>
              </a:rPr>
              <a:t>，</a:t>
            </a:r>
            <a:r>
              <a:rPr lang="en-US" altLang="zh-CN" sz="2800" dirty="0" smtClean="0">
                <a:latin typeface="Arial" pitchFamily="34" charset="0"/>
                <a:ea typeface="黑体" pitchFamily="49" charset="-122"/>
                <a:cs typeface="Arial" pitchFamily="34" charset="0"/>
              </a:rPr>
              <a:t>11</a:t>
            </a:r>
            <a:r>
              <a:rPr lang="zh-CN" altLang="en-US" sz="2800" dirty="0" smtClean="0">
                <a:latin typeface="Arial" pitchFamily="34" charset="0"/>
                <a:ea typeface="黑体" pitchFamily="49" charset="-122"/>
                <a:cs typeface="Arial" pitchFamily="34" charset="0"/>
              </a:rPr>
              <a:t>，采用</a:t>
            </a:r>
            <a:r>
              <a:rPr lang="en-US" altLang="zh-CN" sz="2800" dirty="0" smtClean="0">
                <a:latin typeface="Arial" pitchFamily="34" charset="0"/>
                <a:ea typeface="黑体" pitchFamily="49" charset="-122"/>
                <a:cs typeface="Arial" pitchFamily="34" charset="0"/>
              </a:rPr>
              <a:t>k</a:t>
            </a:r>
            <a:r>
              <a:rPr lang="zh-CN" altLang="en-US" sz="2800" dirty="0" smtClean="0">
                <a:latin typeface="Arial" pitchFamily="34" charset="0"/>
                <a:ea typeface="黑体" pitchFamily="49" charset="-122"/>
                <a:cs typeface="Arial" pitchFamily="34" charset="0"/>
              </a:rPr>
              <a:t>均值法聚类，指定</a:t>
            </a:r>
            <a:r>
              <a:rPr lang="en-US" altLang="zh-CN" sz="2800" dirty="0" smtClean="0">
                <a:latin typeface="Arial" pitchFamily="34" charset="0"/>
                <a:ea typeface="黑体" pitchFamily="49" charset="-122"/>
                <a:cs typeface="Arial" pitchFamily="34" charset="0"/>
              </a:rPr>
              <a:t>k=2</a:t>
            </a:r>
            <a:r>
              <a:rPr lang="zh-CN" altLang="en-US" sz="2800" dirty="0" smtClean="0">
                <a:latin typeface="Arial" pitchFamily="34" charset="0"/>
                <a:ea typeface="黑体" pitchFamily="49" charset="-122"/>
                <a:cs typeface="Arial" pitchFamily="34" charset="0"/>
              </a:rPr>
              <a:t>，步骤如下： </a:t>
            </a:r>
            <a:endParaRPr lang="zh-CN" altLang="en-US" sz="2800" dirty="0">
              <a:latin typeface="Arial" pitchFamily="34" charset="0"/>
              <a:ea typeface="黑体" pitchFamily="49" charset="-122"/>
              <a:cs typeface="Arial" pitchFamily="34" charset="0"/>
            </a:endParaRPr>
          </a:p>
        </p:txBody>
      </p:sp>
      <p:pic>
        <p:nvPicPr>
          <p:cNvPr id="6" name="Picture 2"/>
          <p:cNvPicPr>
            <a:picLocks noChangeAspect="1" noChangeArrowheads="1"/>
          </p:cNvPicPr>
          <p:nvPr/>
        </p:nvPicPr>
        <p:blipFill>
          <a:blip r:embed="rId2" cstate="print"/>
          <a:srcRect/>
          <a:stretch>
            <a:fillRect/>
          </a:stretch>
        </p:blipFill>
        <p:spPr bwMode="auto">
          <a:xfrm>
            <a:off x="2899370" y="2492896"/>
            <a:ext cx="4552950" cy="590550"/>
          </a:xfrm>
          <a:prstGeom prst="rect">
            <a:avLst/>
          </a:prstGeom>
          <a:noFill/>
          <a:ln w="9525">
            <a:noFill/>
            <a:miter lim="800000"/>
            <a:headEnd/>
            <a:tailEnd/>
          </a:ln>
        </p:spPr>
      </p:pic>
      <p:sp>
        <p:nvSpPr>
          <p:cNvPr id="7" name="矩形 6"/>
          <p:cNvSpPr/>
          <p:nvPr/>
        </p:nvSpPr>
        <p:spPr>
          <a:xfrm>
            <a:off x="467544" y="1556792"/>
            <a:ext cx="8496944" cy="461665"/>
          </a:xfrm>
          <a:prstGeom prst="rect">
            <a:avLst/>
          </a:prstGeom>
        </p:spPr>
        <p:txBody>
          <a:bodyPr wrap="square">
            <a:spAutoFit/>
          </a:bodyPr>
          <a:lstStyle/>
          <a:p>
            <a:r>
              <a:rPr lang="zh-CN" altLang="en-US" sz="2400" dirty="0" smtClean="0">
                <a:latin typeface="Arial" pitchFamily="34" charset="0"/>
                <a:ea typeface="黑体" pitchFamily="49" charset="-122"/>
                <a:cs typeface="Arial" pitchFamily="34" charset="0"/>
              </a:rPr>
              <a:t>随意将这些样本分成两类：</a:t>
            </a:r>
            <a:r>
              <a:rPr lang="en-US" altLang="zh-CN" sz="2400" dirty="0" smtClean="0">
                <a:latin typeface="Arial" pitchFamily="34" charset="0"/>
                <a:ea typeface="黑体" pitchFamily="49" charset="-122"/>
                <a:cs typeface="Arial" pitchFamily="34" charset="0"/>
              </a:rPr>
              <a:t>G(0) = {1, 6, 8}, G(1) = {2, 11}.</a:t>
            </a:r>
            <a:endParaRPr lang="zh-CN" altLang="en-US" sz="2400" dirty="0">
              <a:latin typeface="Arial" pitchFamily="34" charset="0"/>
              <a:ea typeface="黑体" pitchFamily="49" charset="-122"/>
              <a:cs typeface="Arial" pitchFamily="34" charset="0"/>
            </a:endParaRPr>
          </a:p>
        </p:txBody>
      </p:sp>
      <p:pic>
        <p:nvPicPr>
          <p:cNvPr id="8" name="Picture 3"/>
          <p:cNvPicPr>
            <a:picLocks noChangeAspect="1" noChangeArrowheads="1"/>
          </p:cNvPicPr>
          <p:nvPr/>
        </p:nvPicPr>
        <p:blipFill>
          <a:blip r:embed="rId3" cstate="print"/>
          <a:srcRect/>
          <a:stretch>
            <a:fillRect/>
          </a:stretch>
        </p:blipFill>
        <p:spPr bwMode="auto">
          <a:xfrm>
            <a:off x="2951196" y="3429000"/>
            <a:ext cx="4438650" cy="628650"/>
          </a:xfrm>
          <a:prstGeom prst="rect">
            <a:avLst/>
          </a:prstGeom>
          <a:noFill/>
          <a:ln w="9525">
            <a:noFill/>
            <a:miter lim="800000"/>
            <a:headEnd/>
            <a:tailEnd/>
          </a:ln>
        </p:spPr>
      </p:pic>
      <p:pic>
        <p:nvPicPr>
          <p:cNvPr id="9" name="Picture 4"/>
          <p:cNvPicPr>
            <a:picLocks noChangeAspect="1" noChangeArrowheads="1"/>
          </p:cNvPicPr>
          <p:nvPr/>
        </p:nvPicPr>
        <p:blipFill>
          <a:blip r:embed="rId4" cstate="print"/>
          <a:srcRect/>
          <a:stretch>
            <a:fillRect/>
          </a:stretch>
        </p:blipFill>
        <p:spPr bwMode="auto">
          <a:xfrm>
            <a:off x="2951196" y="4293096"/>
            <a:ext cx="4457700" cy="609600"/>
          </a:xfrm>
          <a:prstGeom prst="rect">
            <a:avLst/>
          </a:prstGeom>
          <a:noFill/>
          <a:ln w="9525">
            <a:noFill/>
            <a:miter lim="800000"/>
            <a:headEnd/>
            <a:tailEnd/>
          </a:ln>
        </p:spPr>
      </p:pic>
      <p:pic>
        <p:nvPicPr>
          <p:cNvPr id="10" name="Picture 5"/>
          <p:cNvPicPr>
            <a:picLocks noChangeAspect="1" noChangeArrowheads="1"/>
          </p:cNvPicPr>
          <p:nvPr/>
        </p:nvPicPr>
        <p:blipFill>
          <a:blip r:embed="rId5" cstate="print"/>
          <a:srcRect/>
          <a:stretch>
            <a:fillRect/>
          </a:stretch>
        </p:blipFill>
        <p:spPr bwMode="auto">
          <a:xfrm>
            <a:off x="2960721" y="5157192"/>
            <a:ext cx="4448175" cy="600075"/>
          </a:xfrm>
          <a:prstGeom prst="rect">
            <a:avLst/>
          </a:prstGeom>
          <a:noFill/>
          <a:ln w="9525">
            <a:noFill/>
            <a:miter lim="800000"/>
            <a:headEnd/>
            <a:tailEnd/>
          </a:ln>
        </p:spPr>
      </p:pic>
      <p:sp>
        <p:nvSpPr>
          <p:cNvPr id="11" name="矩形 10"/>
          <p:cNvSpPr/>
          <p:nvPr/>
        </p:nvSpPr>
        <p:spPr>
          <a:xfrm>
            <a:off x="798676" y="2555612"/>
            <a:ext cx="1569660" cy="369332"/>
          </a:xfrm>
          <a:prstGeom prst="rect">
            <a:avLst/>
          </a:prstGeom>
        </p:spPr>
        <p:txBody>
          <a:bodyPr wrap="none">
            <a:spAutoFit/>
          </a:bodyPr>
          <a:lstStyle/>
          <a:p>
            <a:r>
              <a:rPr lang="zh-CN" altLang="en-US" dirty="0" smtClean="0">
                <a:latin typeface="Arial" pitchFamily="34" charset="0"/>
                <a:ea typeface="黑体" pitchFamily="49" charset="-122"/>
                <a:cs typeface="Arial" pitchFamily="34" charset="0"/>
              </a:rPr>
              <a:t>初始类的均值</a:t>
            </a:r>
            <a:endParaRPr lang="zh-CN" altLang="en-US" dirty="0">
              <a:latin typeface="Arial" pitchFamily="34" charset="0"/>
              <a:ea typeface="黑体" pitchFamily="49" charset="-122"/>
              <a:cs typeface="Arial" pitchFamily="34" charset="0"/>
            </a:endParaRPr>
          </a:p>
        </p:txBody>
      </p:sp>
      <p:sp>
        <p:nvSpPr>
          <p:cNvPr id="12" name="矩形 11"/>
          <p:cNvSpPr/>
          <p:nvPr/>
        </p:nvSpPr>
        <p:spPr>
          <a:xfrm>
            <a:off x="496128" y="3068960"/>
            <a:ext cx="2592288" cy="369332"/>
          </a:xfrm>
          <a:prstGeom prst="rect">
            <a:avLst/>
          </a:prstGeom>
        </p:spPr>
        <p:txBody>
          <a:bodyPr wrap="square">
            <a:spAutoFit/>
          </a:bodyPr>
          <a:lstStyle/>
          <a:p>
            <a:r>
              <a:rPr lang="zh-CN" altLang="en-US" dirty="0" smtClean="0">
                <a:latin typeface="Arial" pitchFamily="34" charset="0"/>
                <a:ea typeface="黑体" pitchFamily="49" charset="-122"/>
                <a:cs typeface="Arial" pitchFamily="34" charset="0"/>
              </a:rPr>
              <a:t>计算</a:t>
            </a:r>
            <a:r>
              <a:rPr lang="en-US" altLang="zh-CN" dirty="0" smtClean="0">
                <a:latin typeface="Arial" pitchFamily="34" charset="0"/>
                <a:ea typeface="黑体" pitchFamily="49" charset="-122"/>
                <a:cs typeface="Arial" pitchFamily="34" charset="0"/>
              </a:rPr>
              <a:t>1</a:t>
            </a:r>
            <a:r>
              <a:rPr lang="zh-CN" altLang="en-US" dirty="0" smtClean="0">
                <a:latin typeface="Arial" pitchFamily="34" charset="0"/>
                <a:ea typeface="黑体" pitchFamily="49" charset="-122"/>
                <a:cs typeface="Arial" pitchFamily="34" charset="0"/>
              </a:rPr>
              <a:t>到两个类的距离</a:t>
            </a:r>
          </a:p>
        </p:txBody>
      </p:sp>
      <p:sp>
        <p:nvSpPr>
          <p:cNvPr id="13" name="矩形 12"/>
          <p:cNvSpPr/>
          <p:nvPr/>
        </p:nvSpPr>
        <p:spPr>
          <a:xfrm>
            <a:off x="489882" y="3573016"/>
            <a:ext cx="2492990" cy="369332"/>
          </a:xfrm>
          <a:prstGeom prst="rect">
            <a:avLst/>
          </a:prstGeom>
        </p:spPr>
        <p:txBody>
          <a:bodyPr wrap="none">
            <a:spAutoFit/>
          </a:bodyPr>
          <a:lstStyle/>
          <a:p>
            <a:r>
              <a:rPr lang="zh-CN" altLang="en-US" dirty="0" smtClean="0">
                <a:latin typeface="Arial" pitchFamily="34" charset="0"/>
                <a:ea typeface="黑体" pitchFamily="49" charset="-122"/>
                <a:cs typeface="Arial" pitchFamily="34" charset="0"/>
              </a:rPr>
              <a:t>计算</a:t>
            </a:r>
            <a:r>
              <a:rPr lang="en-US" altLang="zh-CN" dirty="0" smtClean="0">
                <a:latin typeface="Arial" pitchFamily="34" charset="0"/>
                <a:ea typeface="黑体" pitchFamily="49" charset="-122"/>
                <a:cs typeface="Arial" pitchFamily="34" charset="0"/>
              </a:rPr>
              <a:t>6</a:t>
            </a:r>
            <a:r>
              <a:rPr lang="zh-CN" altLang="en-US" dirty="0" smtClean="0">
                <a:latin typeface="Arial" pitchFamily="34" charset="0"/>
                <a:ea typeface="黑体" pitchFamily="49" charset="-122"/>
                <a:cs typeface="Arial" pitchFamily="34" charset="0"/>
              </a:rPr>
              <a:t>到两个类的距离 </a:t>
            </a:r>
            <a:endParaRPr lang="zh-CN" altLang="en-US" dirty="0">
              <a:latin typeface="Arial" pitchFamily="34" charset="0"/>
              <a:ea typeface="黑体" pitchFamily="49" charset="-122"/>
              <a:cs typeface="Arial" pitchFamily="34" charset="0"/>
            </a:endParaRPr>
          </a:p>
        </p:txBody>
      </p:sp>
      <p:sp>
        <p:nvSpPr>
          <p:cNvPr id="14" name="矩形 13"/>
          <p:cNvSpPr/>
          <p:nvPr/>
        </p:nvSpPr>
        <p:spPr>
          <a:xfrm>
            <a:off x="496128" y="4293096"/>
            <a:ext cx="2492990" cy="369332"/>
          </a:xfrm>
          <a:prstGeom prst="rect">
            <a:avLst/>
          </a:prstGeom>
        </p:spPr>
        <p:txBody>
          <a:bodyPr wrap="none">
            <a:spAutoFit/>
          </a:bodyPr>
          <a:lstStyle/>
          <a:p>
            <a:r>
              <a:rPr lang="zh-CN" altLang="en-US" dirty="0" smtClean="0">
                <a:latin typeface="Arial" pitchFamily="34" charset="0"/>
                <a:ea typeface="黑体" pitchFamily="49" charset="-122"/>
                <a:cs typeface="Arial" pitchFamily="34" charset="0"/>
              </a:rPr>
              <a:t>计算</a:t>
            </a:r>
            <a:r>
              <a:rPr lang="en-US" altLang="zh-CN" dirty="0" smtClean="0">
                <a:latin typeface="Arial" pitchFamily="34" charset="0"/>
                <a:ea typeface="黑体" pitchFamily="49" charset="-122"/>
                <a:cs typeface="Arial" pitchFamily="34" charset="0"/>
              </a:rPr>
              <a:t>8</a:t>
            </a:r>
            <a:r>
              <a:rPr lang="zh-CN" altLang="en-US" dirty="0" smtClean="0">
                <a:latin typeface="Arial" pitchFamily="34" charset="0"/>
                <a:ea typeface="黑体" pitchFamily="49" charset="-122"/>
                <a:cs typeface="Arial" pitchFamily="34" charset="0"/>
              </a:rPr>
              <a:t>到两个类的距离 </a:t>
            </a:r>
            <a:endParaRPr lang="zh-CN" altLang="en-US" dirty="0">
              <a:latin typeface="Arial" pitchFamily="34" charset="0"/>
              <a:ea typeface="黑体" pitchFamily="49" charset="-122"/>
              <a:cs typeface="Arial" pitchFamily="34" charset="0"/>
            </a:endParaRPr>
          </a:p>
        </p:txBody>
      </p:sp>
      <p:sp>
        <p:nvSpPr>
          <p:cNvPr id="15" name="矩形 14"/>
          <p:cNvSpPr/>
          <p:nvPr/>
        </p:nvSpPr>
        <p:spPr>
          <a:xfrm>
            <a:off x="496128" y="5157192"/>
            <a:ext cx="2492990" cy="369332"/>
          </a:xfrm>
          <a:prstGeom prst="rect">
            <a:avLst/>
          </a:prstGeom>
        </p:spPr>
        <p:txBody>
          <a:bodyPr wrap="none">
            <a:spAutoFit/>
          </a:bodyPr>
          <a:lstStyle/>
          <a:p>
            <a:r>
              <a:rPr lang="zh-CN" altLang="en-US" dirty="0" smtClean="0">
                <a:latin typeface="Arial" pitchFamily="34" charset="0"/>
                <a:ea typeface="黑体" pitchFamily="49" charset="-122"/>
                <a:cs typeface="Arial" pitchFamily="34" charset="0"/>
              </a:rPr>
              <a:t>计算</a:t>
            </a:r>
            <a:r>
              <a:rPr lang="en-US" altLang="zh-CN" dirty="0" smtClean="0">
                <a:latin typeface="Arial" pitchFamily="34" charset="0"/>
                <a:ea typeface="黑体" pitchFamily="49" charset="-122"/>
                <a:cs typeface="Arial" pitchFamily="34" charset="0"/>
              </a:rPr>
              <a:t>2</a:t>
            </a:r>
            <a:r>
              <a:rPr lang="zh-CN" altLang="en-US" dirty="0" smtClean="0">
                <a:latin typeface="Arial" pitchFamily="34" charset="0"/>
                <a:ea typeface="黑体" pitchFamily="49" charset="-122"/>
                <a:cs typeface="Arial" pitchFamily="34" charset="0"/>
              </a:rPr>
              <a:t>到两个类的距离 </a:t>
            </a:r>
            <a:endParaRPr lang="zh-CN" altLang="en-US" dirty="0">
              <a:latin typeface="Arial" pitchFamily="34" charset="0"/>
              <a:ea typeface="黑体" pitchFamily="49" charset="-122"/>
              <a:cs typeface="Arial" pitchFamily="34" charset="0"/>
            </a:endParaRPr>
          </a:p>
        </p:txBody>
      </p:sp>
      <p:sp>
        <p:nvSpPr>
          <p:cNvPr id="16" name="矩形 15"/>
          <p:cNvSpPr/>
          <p:nvPr/>
        </p:nvSpPr>
        <p:spPr>
          <a:xfrm>
            <a:off x="467544" y="6011996"/>
            <a:ext cx="3647152" cy="369332"/>
          </a:xfrm>
          <a:prstGeom prst="rect">
            <a:avLst/>
          </a:prstGeom>
        </p:spPr>
        <p:txBody>
          <a:bodyPr wrap="none">
            <a:spAutoFit/>
          </a:bodyPr>
          <a:lstStyle/>
          <a:p>
            <a:r>
              <a:rPr lang="zh-CN" altLang="en-US" dirty="0" smtClean="0">
                <a:latin typeface="Arial" pitchFamily="34" charset="0"/>
                <a:ea typeface="黑体" pitchFamily="49" charset="-122"/>
                <a:cs typeface="Arial" pitchFamily="34" charset="0"/>
              </a:rPr>
              <a:t>再次计算每个样本到类均值的距离</a:t>
            </a:r>
            <a:endParaRPr lang="zh-CN" altLang="en-US" dirty="0">
              <a:latin typeface="Arial" pitchFamily="34" charset="0"/>
              <a:ea typeface="黑体" pitchFamily="49" charset="-122"/>
              <a:cs typeface="Arial" pitchFamily="34" charset="0"/>
            </a:endParaRPr>
          </a:p>
        </p:txBody>
      </p:sp>
      <p:sp>
        <p:nvSpPr>
          <p:cNvPr id="17" name="矩形 16"/>
          <p:cNvSpPr/>
          <p:nvPr/>
        </p:nvSpPr>
        <p:spPr>
          <a:xfrm>
            <a:off x="5123561" y="6021288"/>
            <a:ext cx="3836499" cy="400110"/>
          </a:xfrm>
          <a:prstGeom prst="rect">
            <a:avLst/>
          </a:prstGeom>
        </p:spPr>
        <p:txBody>
          <a:bodyPr wrap="none">
            <a:spAutoFit/>
          </a:bodyPr>
          <a:lstStyle/>
          <a:p>
            <a:r>
              <a:rPr lang="zh-CN" altLang="en-US" sz="2000" dirty="0" smtClean="0">
                <a:latin typeface="Arial" pitchFamily="34" charset="0"/>
                <a:ea typeface="黑体" pitchFamily="49" charset="-122"/>
                <a:cs typeface="Arial" pitchFamily="34" charset="0"/>
              </a:rPr>
              <a:t>最终两个类为</a:t>
            </a:r>
            <a:r>
              <a:rPr lang="en-US" altLang="zh-CN" sz="2000" dirty="0" smtClean="0">
                <a:latin typeface="Arial" pitchFamily="34" charset="0"/>
                <a:ea typeface="黑体" pitchFamily="49" charset="-122"/>
                <a:cs typeface="Arial" pitchFamily="34" charset="0"/>
              </a:rPr>
              <a:t>{1, 2}</a:t>
            </a:r>
            <a:r>
              <a:rPr lang="zh-CN" altLang="en-US" sz="2000" dirty="0" smtClean="0">
                <a:latin typeface="Arial" pitchFamily="34" charset="0"/>
                <a:ea typeface="黑体" pitchFamily="49" charset="-122"/>
                <a:cs typeface="Arial" pitchFamily="34" charset="0"/>
              </a:rPr>
              <a:t>和</a:t>
            </a:r>
            <a:r>
              <a:rPr lang="en-US" altLang="zh-CN" sz="2000" dirty="0" smtClean="0">
                <a:latin typeface="Arial" pitchFamily="34" charset="0"/>
                <a:ea typeface="黑体" pitchFamily="49" charset="-122"/>
                <a:cs typeface="Arial" pitchFamily="34" charset="0"/>
              </a:rPr>
              <a:t>{6, 8, 11}</a:t>
            </a:r>
            <a:r>
              <a:rPr lang="zh-CN" altLang="en-US" sz="2000" dirty="0" smtClean="0">
                <a:latin typeface="Arial" pitchFamily="34" charset="0"/>
                <a:ea typeface="黑体" pitchFamily="49" charset="-122"/>
                <a:cs typeface="Arial" pitchFamily="34" charset="0"/>
              </a:rPr>
              <a:t>。</a:t>
            </a:r>
            <a:endParaRPr lang="zh-CN" altLang="en-US" sz="2000" dirty="0">
              <a:latin typeface="Arial" pitchFamily="34" charset="0"/>
              <a:ea typeface="黑体" pitchFamily="49" charset="-122"/>
              <a:cs typeface="Arial" pitchFamily="34" charset="0"/>
            </a:endParaRPr>
          </a:p>
        </p:txBody>
      </p:sp>
      <p:cxnSp>
        <p:nvCxnSpPr>
          <p:cNvPr id="18" name="直接箭头连接符 17"/>
          <p:cNvCxnSpPr/>
          <p:nvPr/>
        </p:nvCxnSpPr>
        <p:spPr>
          <a:xfrm>
            <a:off x="323528" y="2636912"/>
            <a:ext cx="0" cy="3600400"/>
          </a:xfrm>
          <a:prstGeom prst="straightConnector1">
            <a:avLst/>
          </a:prstGeom>
          <a:ln w="57150">
            <a:solidFill>
              <a:srgbClr val="0000CC"/>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19" name="右箭头 18"/>
          <p:cNvSpPr/>
          <p:nvPr/>
        </p:nvSpPr>
        <p:spPr>
          <a:xfrm>
            <a:off x="4283968" y="5949280"/>
            <a:ext cx="720080" cy="504056"/>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3779912" y="2276872"/>
            <a:ext cx="327334" cy="400110"/>
          </a:xfrm>
          <a:prstGeom prst="rect">
            <a:avLst/>
          </a:prstGeom>
        </p:spPr>
        <p:txBody>
          <a:bodyPr wrap="none">
            <a:spAutoFit/>
          </a:bodyPr>
          <a:lstStyle/>
          <a:p>
            <a:r>
              <a:rPr lang="en-US" altLang="zh-CN" sz="2000" b="1" dirty="0" smtClean="0">
                <a:latin typeface="Arial" pitchFamily="34" charset="0"/>
                <a:ea typeface="黑体" pitchFamily="49" charset="-122"/>
                <a:cs typeface="Arial" pitchFamily="34" charset="0"/>
              </a:rPr>
              <a:t>1</a:t>
            </a:r>
            <a:endParaRPr lang="zh-CN" altLang="en-US" sz="2000" b="1" dirty="0"/>
          </a:p>
        </p:txBody>
      </p:sp>
      <p:sp>
        <p:nvSpPr>
          <p:cNvPr id="21" name="矩形 20"/>
          <p:cNvSpPr/>
          <p:nvPr/>
        </p:nvSpPr>
        <p:spPr>
          <a:xfrm>
            <a:off x="4139952" y="2276872"/>
            <a:ext cx="327334" cy="400110"/>
          </a:xfrm>
          <a:prstGeom prst="rect">
            <a:avLst/>
          </a:prstGeom>
        </p:spPr>
        <p:txBody>
          <a:bodyPr wrap="none">
            <a:spAutoFit/>
          </a:bodyPr>
          <a:lstStyle/>
          <a:p>
            <a:r>
              <a:rPr lang="en-US" altLang="zh-CN" sz="2000" b="1" dirty="0" smtClean="0">
                <a:latin typeface="Arial" pitchFamily="34" charset="0"/>
                <a:ea typeface="黑体" pitchFamily="49" charset="-122"/>
                <a:cs typeface="Arial" pitchFamily="34" charset="0"/>
              </a:rPr>
              <a:t>2</a:t>
            </a:r>
            <a:endParaRPr lang="zh-CN" altLang="en-US" sz="2000" b="1" dirty="0"/>
          </a:p>
        </p:txBody>
      </p:sp>
      <p:sp>
        <p:nvSpPr>
          <p:cNvPr id="22" name="矩形 21"/>
          <p:cNvSpPr/>
          <p:nvPr/>
        </p:nvSpPr>
        <p:spPr>
          <a:xfrm>
            <a:off x="5220072" y="2267580"/>
            <a:ext cx="327334" cy="400110"/>
          </a:xfrm>
          <a:prstGeom prst="rect">
            <a:avLst/>
          </a:prstGeom>
        </p:spPr>
        <p:txBody>
          <a:bodyPr wrap="none">
            <a:spAutoFit/>
          </a:bodyPr>
          <a:lstStyle/>
          <a:p>
            <a:r>
              <a:rPr lang="en-US" altLang="zh-CN" sz="2000" b="1" dirty="0" smtClean="0">
                <a:latin typeface="Arial" pitchFamily="34" charset="0"/>
                <a:ea typeface="黑体" pitchFamily="49" charset="-122"/>
                <a:cs typeface="Arial" pitchFamily="34" charset="0"/>
              </a:rPr>
              <a:t>6</a:t>
            </a:r>
            <a:endParaRPr lang="zh-CN" altLang="en-US" sz="2000" b="1" dirty="0"/>
          </a:p>
        </p:txBody>
      </p:sp>
      <p:sp>
        <p:nvSpPr>
          <p:cNvPr id="23" name="矩形 22"/>
          <p:cNvSpPr/>
          <p:nvPr/>
        </p:nvSpPr>
        <p:spPr>
          <a:xfrm>
            <a:off x="5724128" y="2267580"/>
            <a:ext cx="327334" cy="400110"/>
          </a:xfrm>
          <a:prstGeom prst="rect">
            <a:avLst/>
          </a:prstGeom>
        </p:spPr>
        <p:txBody>
          <a:bodyPr wrap="none">
            <a:spAutoFit/>
          </a:bodyPr>
          <a:lstStyle/>
          <a:p>
            <a:r>
              <a:rPr lang="en-US" altLang="zh-CN" sz="2000" b="1" dirty="0" smtClean="0">
                <a:latin typeface="Arial" pitchFamily="34" charset="0"/>
                <a:ea typeface="黑体" pitchFamily="49" charset="-122"/>
                <a:cs typeface="Arial" pitchFamily="34" charset="0"/>
              </a:rPr>
              <a:t>8</a:t>
            </a:r>
            <a:endParaRPr lang="zh-CN" altLang="en-US" sz="2000" b="1" dirty="0"/>
          </a:p>
        </p:txBody>
      </p:sp>
      <p:sp>
        <p:nvSpPr>
          <p:cNvPr id="24" name="矩形 23"/>
          <p:cNvSpPr/>
          <p:nvPr/>
        </p:nvSpPr>
        <p:spPr>
          <a:xfrm>
            <a:off x="6516216" y="2276872"/>
            <a:ext cx="496035" cy="400110"/>
          </a:xfrm>
          <a:prstGeom prst="rect">
            <a:avLst/>
          </a:prstGeom>
        </p:spPr>
        <p:txBody>
          <a:bodyPr wrap="square">
            <a:spAutoFit/>
          </a:bodyPr>
          <a:lstStyle/>
          <a:p>
            <a:r>
              <a:rPr lang="en-US" altLang="zh-CN" sz="2000" b="1" dirty="0" smtClean="0">
                <a:latin typeface="Arial" pitchFamily="34" charset="0"/>
                <a:ea typeface="黑体" pitchFamily="49" charset="-122"/>
                <a:cs typeface="Arial" pitchFamily="34" charset="0"/>
              </a:rPr>
              <a:t>11</a:t>
            </a:r>
            <a:endParaRPr lang="zh-CN" altLang="en-US"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par>
                                <p:cTn id="13" presetID="3" presetClass="entr" presetSubtype="1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par>
                                <p:cTn id="16" presetID="3" presetClass="entr" presetSubtype="1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cTn>
                              </p:par>
                              <p:par>
                                <p:cTn id="19" presetID="3" presetClass="entr" presetSubtype="1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linds(horizontal)">
                                      <p:cBhvr>
                                        <p:cTn id="21" dur="500"/>
                                        <p:tgtEl>
                                          <p:spTgt spid="10"/>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blinds(horizontal)">
                                      <p:cBhvr>
                                        <p:cTn id="24" dur="500"/>
                                        <p:tgtEl>
                                          <p:spTgt spid="11"/>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linds(horizontal)">
                                      <p:cBhvr>
                                        <p:cTn id="27" dur="500"/>
                                        <p:tgtEl>
                                          <p:spTgt spid="12"/>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blinds(horizontal)">
                                      <p:cBhvr>
                                        <p:cTn id="30" dur="500"/>
                                        <p:tgtEl>
                                          <p:spTgt spid="13"/>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blinds(horizontal)">
                                      <p:cBhvr>
                                        <p:cTn id="33" dur="500"/>
                                        <p:tgtEl>
                                          <p:spTgt spid="14"/>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blinds(horizontal)">
                                      <p:cBhvr>
                                        <p:cTn id="36" dur="500"/>
                                        <p:tgtEl>
                                          <p:spTgt spid="15"/>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blinds(horizontal)">
                                      <p:cBhvr>
                                        <p:cTn id="39" dur="500"/>
                                        <p:tgtEl>
                                          <p:spTgt spid="16"/>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blinds(horizontal)">
                                      <p:cBhvr>
                                        <p:cTn id="42" dur="500"/>
                                        <p:tgtEl>
                                          <p:spTgt spid="17"/>
                                        </p:tgtEl>
                                      </p:cBhvr>
                                    </p:animEffect>
                                  </p:childTnLst>
                                </p:cTn>
                              </p:par>
                              <p:par>
                                <p:cTn id="43" presetID="3" presetClass="entr" presetSubtype="10" fill="hold"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blinds(horizontal)">
                                      <p:cBhvr>
                                        <p:cTn id="45" dur="500"/>
                                        <p:tgtEl>
                                          <p:spTgt spid="18"/>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blinds(horizontal)">
                                      <p:cBhvr>
                                        <p:cTn id="48" dur="500"/>
                                        <p:tgtEl>
                                          <p:spTgt spid="19"/>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blinds(horizontal)">
                                      <p:cBhvr>
                                        <p:cTn id="51" dur="500"/>
                                        <p:tgtEl>
                                          <p:spTgt spid="20"/>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blinds(horizontal)">
                                      <p:cBhvr>
                                        <p:cTn id="54" dur="500"/>
                                        <p:tgtEl>
                                          <p:spTgt spid="21"/>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blinds(horizontal)">
                                      <p:cBhvr>
                                        <p:cTn id="57" dur="500"/>
                                        <p:tgtEl>
                                          <p:spTgt spid="22"/>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blinds(horizontal)">
                                      <p:cBhvr>
                                        <p:cTn id="60" dur="500"/>
                                        <p:tgtEl>
                                          <p:spTgt spid="23"/>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blinds(horizontal)">
                                      <p:cBhvr>
                                        <p:cTn id="6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2" grpId="0"/>
      <p:bldP spid="13" grpId="0"/>
      <p:bldP spid="14" grpId="0"/>
      <p:bldP spid="15" grpId="0"/>
      <p:bldP spid="16" grpId="0"/>
      <p:bldP spid="17" grpId="0"/>
      <p:bldP spid="19" grpId="0" animBg="1"/>
      <p:bldP spid="20" grpId="0"/>
      <p:bldP spid="21" grpId="0"/>
      <p:bldP spid="22" grpId="0"/>
      <p:bldP spid="23" grpId="0"/>
      <p:bldP spid="2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42</a:t>
            </a:fld>
            <a:endParaRPr lang="zh-CN" altLang="en-US"/>
          </a:p>
        </p:txBody>
      </p:sp>
      <p:sp>
        <p:nvSpPr>
          <p:cNvPr id="5" name="标题 1"/>
          <p:cNvSpPr>
            <a:spLocks noGrp="1"/>
          </p:cNvSpPr>
          <p:nvPr>
            <p:ph type="title"/>
          </p:nvPr>
        </p:nvSpPr>
        <p:spPr>
          <a:xfrm>
            <a:off x="457200" y="130622"/>
            <a:ext cx="8229600" cy="706090"/>
          </a:xfrm>
        </p:spPr>
        <p:txBody>
          <a:bodyPr/>
          <a:lstStyle/>
          <a:p>
            <a:r>
              <a:rPr lang="zh-CN" altLang="en-US" sz="3200" b="1" dirty="0" smtClean="0">
                <a:solidFill>
                  <a:srgbClr val="000099"/>
                </a:solidFill>
                <a:latin typeface="Arial" pitchFamily="34" charset="0"/>
                <a:ea typeface="黑体" pitchFamily="49" charset="-122"/>
                <a:cs typeface="Arial" pitchFamily="34" charset="0"/>
              </a:rPr>
              <a:t>（</a:t>
            </a:r>
            <a:r>
              <a:rPr lang="en-US" altLang="zh-CN" sz="3200" b="1" dirty="0" smtClean="0">
                <a:solidFill>
                  <a:srgbClr val="000099"/>
                </a:solidFill>
                <a:latin typeface="Arial" pitchFamily="34" charset="0"/>
                <a:ea typeface="黑体" pitchFamily="49" charset="-122"/>
                <a:cs typeface="Arial" pitchFamily="34" charset="0"/>
              </a:rPr>
              <a:t>3</a:t>
            </a:r>
            <a:r>
              <a:rPr lang="zh-CN" altLang="en-US" sz="3200" b="1" dirty="0" smtClean="0">
                <a:solidFill>
                  <a:srgbClr val="000099"/>
                </a:solidFill>
                <a:latin typeface="Arial" pitchFamily="34" charset="0"/>
                <a:ea typeface="黑体" pitchFamily="49" charset="-122"/>
                <a:cs typeface="Arial" pitchFamily="34" charset="0"/>
              </a:rPr>
              <a:t>）其他聚类算法</a:t>
            </a:r>
            <a:endParaRPr lang="zh-CN" altLang="en-US" sz="3200" b="1" dirty="0">
              <a:solidFill>
                <a:srgbClr val="000099"/>
              </a:solidFill>
              <a:latin typeface="Arial" pitchFamily="34" charset="0"/>
              <a:ea typeface="黑体" pitchFamily="49" charset="-122"/>
              <a:cs typeface="Arial" pitchFamily="34" charset="0"/>
            </a:endParaRPr>
          </a:p>
        </p:txBody>
      </p:sp>
      <p:sp>
        <p:nvSpPr>
          <p:cNvPr id="6" name="矩形 5"/>
          <p:cNvSpPr/>
          <p:nvPr/>
        </p:nvSpPr>
        <p:spPr>
          <a:xfrm>
            <a:off x="1043608" y="3748970"/>
            <a:ext cx="1733167" cy="400110"/>
          </a:xfrm>
          <a:prstGeom prst="rect">
            <a:avLst/>
          </a:prstGeom>
        </p:spPr>
        <p:txBody>
          <a:bodyPr wrap="none">
            <a:spAutoFit/>
          </a:bodyPr>
          <a:lstStyle/>
          <a:p>
            <a:pPr latinLnBrk="1"/>
            <a:r>
              <a:rPr lang="zh-CN" altLang="en-US" sz="2000" b="1" dirty="0" smtClean="0">
                <a:latin typeface="Arial" pitchFamily="34" charset="0"/>
                <a:ea typeface="黑体" pitchFamily="49" charset="-122"/>
                <a:cs typeface="Arial" pitchFamily="34" charset="0"/>
              </a:rPr>
              <a:t>均值漂移聚类</a:t>
            </a:r>
            <a:endParaRPr lang="zh-CN" altLang="en-US" sz="2000" b="1" dirty="0">
              <a:latin typeface="Arial" pitchFamily="34" charset="0"/>
              <a:ea typeface="黑体" pitchFamily="49" charset="-122"/>
              <a:cs typeface="Arial" pitchFamily="34" charset="0"/>
            </a:endParaRPr>
          </a:p>
        </p:txBody>
      </p:sp>
      <p:pic>
        <p:nvPicPr>
          <p:cNvPr id="7" name="图片 6" descr="2018022816141991.gif"/>
          <p:cNvPicPr>
            <a:picLocks noChangeAspect="1"/>
          </p:cNvPicPr>
          <p:nvPr/>
        </p:nvPicPr>
        <p:blipFill>
          <a:blip r:embed="rId2" cstate="print"/>
          <a:stretch>
            <a:fillRect/>
          </a:stretch>
        </p:blipFill>
        <p:spPr>
          <a:xfrm>
            <a:off x="107504" y="1340768"/>
            <a:ext cx="2005980" cy="2005980"/>
          </a:xfrm>
          <a:prstGeom prst="rect">
            <a:avLst/>
          </a:prstGeom>
        </p:spPr>
      </p:pic>
      <p:pic>
        <p:nvPicPr>
          <p:cNvPr id="8" name="图片 7" descr="201802281615434.gif"/>
          <p:cNvPicPr>
            <a:picLocks noChangeAspect="1"/>
          </p:cNvPicPr>
          <p:nvPr/>
        </p:nvPicPr>
        <p:blipFill>
          <a:blip r:embed="rId3" cstate="print"/>
          <a:stretch>
            <a:fillRect/>
          </a:stretch>
        </p:blipFill>
        <p:spPr>
          <a:xfrm>
            <a:off x="2051720" y="1124744"/>
            <a:ext cx="2417440" cy="2417440"/>
          </a:xfrm>
          <a:prstGeom prst="rect">
            <a:avLst/>
          </a:prstGeom>
        </p:spPr>
      </p:pic>
      <p:sp>
        <p:nvSpPr>
          <p:cNvPr id="9" name="矩形 8"/>
          <p:cNvSpPr/>
          <p:nvPr/>
        </p:nvSpPr>
        <p:spPr>
          <a:xfrm>
            <a:off x="6654798" y="3933056"/>
            <a:ext cx="1085554" cy="400110"/>
          </a:xfrm>
          <a:prstGeom prst="rect">
            <a:avLst/>
          </a:prstGeom>
        </p:spPr>
        <p:txBody>
          <a:bodyPr wrap="none">
            <a:spAutoFit/>
          </a:bodyPr>
          <a:lstStyle/>
          <a:p>
            <a:pPr latinLnBrk="1"/>
            <a:r>
              <a:rPr lang="en-US" altLang="zh-CN" sz="2000" b="1" dirty="0" smtClean="0">
                <a:latin typeface="Arial" pitchFamily="34" charset="0"/>
                <a:ea typeface="黑体" pitchFamily="49" charset="-122"/>
                <a:cs typeface="Arial" pitchFamily="34" charset="0"/>
              </a:rPr>
              <a:t>EM</a:t>
            </a:r>
            <a:r>
              <a:rPr lang="zh-CN" altLang="en-US" sz="2000" b="1" dirty="0" smtClean="0">
                <a:latin typeface="Arial" pitchFamily="34" charset="0"/>
                <a:ea typeface="黑体" pitchFamily="49" charset="-122"/>
                <a:cs typeface="Arial" pitchFamily="34" charset="0"/>
              </a:rPr>
              <a:t>聚类</a:t>
            </a:r>
            <a:endParaRPr lang="zh-CN" altLang="en-US" sz="2000" b="1" dirty="0">
              <a:latin typeface="Arial" pitchFamily="34" charset="0"/>
              <a:ea typeface="黑体" pitchFamily="49" charset="-122"/>
              <a:cs typeface="Arial" pitchFamily="34" charset="0"/>
            </a:endParaRPr>
          </a:p>
        </p:txBody>
      </p:sp>
      <p:pic>
        <p:nvPicPr>
          <p:cNvPr id="10" name="图片 9" descr="20180301110131231.gif"/>
          <p:cNvPicPr>
            <a:picLocks noChangeAspect="1"/>
          </p:cNvPicPr>
          <p:nvPr/>
        </p:nvPicPr>
        <p:blipFill>
          <a:blip r:embed="rId4" cstate="print"/>
          <a:stretch>
            <a:fillRect/>
          </a:stretch>
        </p:blipFill>
        <p:spPr>
          <a:xfrm>
            <a:off x="5319464" y="979630"/>
            <a:ext cx="3356992" cy="2881418"/>
          </a:xfrm>
          <a:prstGeom prst="rect">
            <a:avLst/>
          </a:prstGeom>
        </p:spPr>
      </p:pic>
      <p:sp>
        <p:nvSpPr>
          <p:cNvPr id="11" name="矩形 10"/>
          <p:cNvSpPr/>
          <p:nvPr/>
        </p:nvSpPr>
        <p:spPr>
          <a:xfrm>
            <a:off x="3851920" y="6300028"/>
            <a:ext cx="1475084" cy="400110"/>
          </a:xfrm>
          <a:prstGeom prst="rect">
            <a:avLst/>
          </a:prstGeom>
        </p:spPr>
        <p:txBody>
          <a:bodyPr wrap="none">
            <a:spAutoFit/>
          </a:bodyPr>
          <a:lstStyle/>
          <a:p>
            <a:pPr latinLnBrk="1"/>
            <a:r>
              <a:rPr lang="zh-CN" altLang="en-US" sz="2000" b="1" dirty="0" smtClean="0">
                <a:latin typeface="Arial" pitchFamily="34" charset="0"/>
                <a:ea typeface="黑体" pitchFamily="49" charset="-122"/>
                <a:cs typeface="Arial" pitchFamily="34" charset="0"/>
              </a:rPr>
              <a:t>图团体检测</a:t>
            </a:r>
            <a:endParaRPr lang="zh-CN" altLang="en-US" sz="2000" b="1" dirty="0">
              <a:latin typeface="Arial" pitchFamily="34" charset="0"/>
              <a:ea typeface="黑体" pitchFamily="49" charset="-122"/>
              <a:cs typeface="Arial" pitchFamily="34" charset="0"/>
            </a:endParaRPr>
          </a:p>
        </p:txBody>
      </p:sp>
      <p:pic>
        <p:nvPicPr>
          <p:cNvPr id="13" name="图片 12" descr="20180301163648779.png"/>
          <p:cNvPicPr>
            <a:picLocks noChangeAspect="1"/>
          </p:cNvPicPr>
          <p:nvPr/>
        </p:nvPicPr>
        <p:blipFill>
          <a:blip r:embed="rId5" cstate="print"/>
          <a:stretch>
            <a:fillRect/>
          </a:stretch>
        </p:blipFill>
        <p:spPr>
          <a:xfrm>
            <a:off x="3114498" y="4005064"/>
            <a:ext cx="2817950" cy="2270977"/>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43</a:t>
            </a:fld>
            <a:endParaRPr lang="zh-CN" altLang="en-US"/>
          </a:p>
        </p:txBody>
      </p:sp>
      <p:sp>
        <p:nvSpPr>
          <p:cNvPr id="3" name="标题 1"/>
          <p:cNvSpPr txBox="1">
            <a:spLocks/>
          </p:cNvSpPr>
          <p:nvPr/>
        </p:nvSpPr>
        <p:spPr>
          <a:xfrm>
            <a:off x="539552" y="188640"/>
            <a:ext cx="8229600" cy="706090"/>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a:lstStyle>
          <a:p>
            <a:r>
              <a:rPr lang="zh-CN" altLang="en-US" sz="3200" b="1" dirty="0" smtClean="0">
                <a:solidFill>
                  <a:srgbClr val="000099"/>
                </a:solidFill>
                <a:latin typeface="黑体" pitchFamily="49" charset="-122"/>
                <a:ea typeface="黑体" pitchFamily="49" charset="-122"/>
              </a:rPr>
              <a:t>（</a:t>
            </a:r>
            <a:r>
              <a:rPr lang="en-US" altLang="zh-CN" sz="3200" b="1" dirty="0" smtClean="0">
                <a:solidFill>
                  <a:srgbClr val="000099"/>
                </a:solidFill>
                <a:latin typeface="黑体" pitchFamily="49" charset="-122"/>
                <a:ea typeface="黑体" pitchFamily="49" charset="-122"/>
              </a:rPr>
              <a:t>4</a:t>
            </a:r>
            <a:r>
              <a:rPr lang="zh-CN" altLang="en-US" sz="3200" b="1" dirty="0" smtClean="0">
                <a:solidFill>
                  <a:srgbClr val="000099"/>
                </a:solidFill>
                <a:latin typeface="黑体" pitchFamily="49" charset="-122"/>
                <a:ea typeface="黑体" pitchFamily="49" charset="-122"/>
              </a:rPr>
              <a:t>）聚类分析时需要注意的问题</a:t>
            </a:r>
            <a:endParaRPr lang="zh-CN" altLang="en-US" sz="3200" b="1" dirty="0">
              <a:solidFill>
                <a:srgbClr val="000099"/>
              </a:solidFill>
              <a:latin typeface="黑体" pitchFamily="49" charset="-122"/>
              <a:ea typeface="黑体" pitchFamily="49" charset="-122"/>
            </a:endParaRPr>
          </a:p>
        </p:txBody>
      </p:sp>
      <p:sp>
        <p:nvSpPr>
          <p:cNvPr id="4" name="内容占位符 2"/>
          <p:cNvSpPr txBox="1">
            <a:spLocks/>
          </p:cNvSpPr>
          <p:nvPr/>
        </p:nvSpPr>
        <p:spPr>
          <a:xfrm>
            <a:off x="188912" y="792088"/>
            <a:ext cx="8775576" cy="5949280"/>
          </a:xfrm>
          <a:prstGeom prst="rect">
            <a:avLst/>
          </a:prstGeom>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Char char="n"/>
            </a:pPr>
            <a:r>
              <a:rPr lang="zh-CN" altLang="en-US" sz="2400" b="1" dirty="0" smtClean="0">
                <a:solidFill>
                  <a:srgbClr val="C00000"/>
                </a:solidFill>
                <a:latin typeface="Arial" pitchFamily="34" charset="0"/>
                <a:ea typeface="黑体" pitchFamily="49" charset="-122"/>
                <a:cs typeface="Arial" pitchFamily="34" charset="0"/>
              </a:rPr>
              <a:t>聚类结果主要受所选择的变量影响</a:t>
            </a:r>
            <a:endParaRPr lang="en-US" altLang="zh-CN" sz="2400" b="1" dirty="0" smtClean="0">
              <a:solidFill>
                <a:srgbClr val="C00000"/>
              </a:solidFill>
              <a:latin typeface="Arial" pitchFamily="34" charset="0"/>
              <a:ea typeface="黑体" pitchFamily="49" charset="-122"/>
              <a:cs typeface="Arial" pitchFamily="34" charset="0"/>
            </a:endParaRPr>
          </a:p>
          <a:p>
            <a:pPr lvl="1">
              <a:buFont typeface="Wingdings" pitchFamily="2" charset="2"/>
              <a:buChar char="n"/>
            </a:pPr>
            <a:r>
              <a:rPr lang="zh-CN" altLang="en-US" sz="2000" dirty="0" smtClean="0">
                <a:latin typeface="Arial" pitchFamily="34" charset="0"/>
                <a:ea typeface="黑体" pitchFamily="49" charset="-122"/>
                <a:cs typeface="Arial" pitchFamily="34" charset="0"/>
              </a:rPr>
              <a:t>聚类之前一定要明确目标，选择有意义的变量；</a:t>
            </a:r>
            <a:endParaRPr lang="en-US" altLang="zh-CN" sz="2000" dirty="0" smtClean="0">
              <a:latin typeface="Arial" pitchFamily="34" charset="0"/>
              <a:ea typeface="黑体" pitchFamily="49" charset="-122"/>
              <a:cs typeface="Arial" pitchFamily="34" charset="0"/>
            </a:endParaRPr>
          </a:p>
          <a:p>
            <a:pPr lvl="1">
              <a:buFont typeface="Wingdings" pitchFamily="2" charset="2"/>
              <a:buChar char="n"/>
            </a:pPr>
            <a:r>
              <a:rPr lang="zh-CN" altLang="en-US" sz="2000" dirty="0" smtClean="0">
                <a:latin typeface="Arial" pitchFamily="34" charset="0"/>
                <a:ea typeface="黑体" pitchFamily="49" charset="-122"/>
                <a:cs typeface="Arial" pitchFamily="34" charset="0"/>
              </a:rPr>
              <a:t>变量之间的相关性也会影响结果，可先把众多变量压缩（如降维），再聚类。</a:t>
            </a:r>
          </a:p>
          <a:p>
            <a:pPr>
              <a:buFont typeface="Wingdings" pitchFamily="2" charset="2"/>
              <a:buChar char="n"/>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zh-CN" altLang="en-US" sz="2400" b="1" dirty="0" smtClean="0">
                <a:solidFill>
                  <a:srgbClr val="C00000"/>
                </a:solidFill>
                <a:latin typeface="Arial" pitchFamily="34" charset="0"/>
                <a:ea typeface="黑体" pitchFamily="49" charset="-122"/>
                <a:cs typeface="Arial" pitchFamily="34" charset="0"/>
              </a:rPr>
              <a:t>聚类的质量难以控制</a:t>
            </a:r>
          </a:p>
          <a:p>
            <a:pPr lvl="1">
              <a:buFont typeface="Wingdings" pitchFamily="2" charset="2"/>
              <a:buChar char="n"/>
            </a:pPr>
            <a:r>
              <a:rPr lang="zh-CN" altLang="en-US" sz="2000" dirty="0" smtClean="0">
                <a:latin typeface="Arial" pitchFamily="34" charset="0"/>
                <a:ea typeface="黑体" pitchFamily="49" charset="-122"/>
                <a:cs typeface="Arial" pitchFamily="34" charset="0"/>
              </a:rPr>
              <a:t>很多聚类算法要求输入一定的参数（如类的个数等）；</a:t>
            </a:r>
            <a:endParaRPr lang="en-US" altLang="zh-CN" sz="2000" dirty="0" smtClean="0">
              <a:latin typeface="Arial" pitchFamily="34" charset="0"/>
              <a:ea typeface="黑体" pitchFamily="49" charset="-122"/>
              <a:cs typeface="Arial" pitchFamily="34" charset="0"/>
            </a:endParaRPr>
          </a:p>
          <a:p>
            <a:pPr lvl="1">
              <a:buFont typeface="Wingdings" pitchFamily="2" charset="2"/>
              <a:buChar char="n"/>
            </a:pPr>
            <a:r>
              <a:rPr lang="zh-CN" altLang="en-US" sz="2000" dirty="0" smtClean="0">
                <a:latin typeface="Arial" pitchFamily="34" charset="0"/>
                <a:ea typeface="黑体" pitchFamily="49" charset="-122"/>
                <a:cs typeface="Arial" pitchFamily="34" charset="0"/>
              </a:rPr>
              <a:t>要使各个类之间的距离尽可能远，结果要有令人信服的解释；</a:t>
            </a:r>
            <a:endParaRPr lang="en-US" altLang="zh-CN" sz="2000" dirty="0" smtClean="0">
              <a:latin typeface="Arial" pitchFamily="34" charset="0"/>
              <a:ea typeface="黑体" pitchFamily="49" charset="-122"/>
              <a:cs typeface="Arial" pitchFamily="34" charset="0"/>
            </a:endParaRPr>
          </a:p>
          <a:p>
            <a:pPr lvl="1">
              <a:buFont typeface="Wingdings" pitchFamily="2" charset="2"/>
              <a:buChar char="n"/>
            </a:pPr>
            <a:r>
              <a:rPr lang="zh-CN" altLang="en-US" sz="2000" dirty="0" smtClean="0">
                <a:latin typeface="Arial" pitchFamily="34" charset="0"/>
                <a:ea typeface="黑体" pitchFamily="49" charset="-122"/>
                <a:cs typeface="Arial" pitchFamily="34" charset="0"/>
              </a:rPr>
              <a:t>在实际操作中主要凭经验来确定类的数目，测试不同聚类效果。</a:t>
            </a:r>
            <a:endParaRPr lang="en-US" altLang="zh-CN" sz="2000" dirty="0" smtClean="0">
              <a:latin typeface="Arial" pitchFamily="34" charset="0"/>
              <a:ea typeface="黑体" pitchFamily="49" charset="-122"/>
              <a:cs typeface="Arial" pitchFamily="34" charset="0"/>
            </a:endParaRPr>
          </a:p>
          <a:p>
            <a:pPr>
              <a:buFont typeface="Wingdings" pitchFamily="2" charset="2"/>
              <a:buChar char="n"/>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zh-CN" altLang="en-US" sz="2400" b="1" dirty="0" smtClean="0">
                <a:solidFill>
                  <a:srgbClr val="C00000"/>
                </a:solidFill>
                <a:latin typeface="Arial" pitchFamily="34" charset="0"/>
                <a:ea typeface="黑体" pitchFamily="49" charset="-122"/>
                <a:cs typeface="Arial" pitchFamily="34" charset="0"/>
              </a:rPr>
              <a:t>算法的选择没有绝对</a:t>
            </a:r>
            <a:endParaRPr lang="en-US" altLang="zh-CN" sz="2400" b="1" dirty="0" smtClean="0">
              <a:solidFill>
                <a:srgbClr val="C00000"/>
              </a:solidFill>
              <a:latin typeface="Arial" pitchFamily="34" charset="0"/>
              <a:ea typeface="黑体" pitchFamily="49" charset="-122"/>
              <a:cs typeface="Arial" pitchFamily="34" charset="0"/>
            </a:endParaRPr>
          </a:p>
          <a:p>
            <a:pPr lvl="1">
              <a:buFont typeface="Wingdings" pitchFamily="2" charset="2"/>
              <a:buChar char="n"/>
            </a:pPr>
            <a:r>
              <a:rPr lang="zh-CN" altLang="en-US" sz="2000" dirty="0" smtClean="0">
                <a:latin typeface="Arial" pitchFamily="34" charset="0"/>
                <a:ea typeface="黑体" pitchFamily="49" charset="-122"/>
                <a:cs typeface="Arial" pitchFamily="34" charset="0"/>
              </a:rPr>
              <a:t>可以对同样的数据尝试多种算法，综合考虑聚类结果的准确性；</a:t>
            </a:r>
            <a:endParaRPr lang="en-US" altLang="zh-CN" sz="2000" dirty="0" smtClean="0">
              <a:latin typeface="Arial" pitchFamily="34" charset="0"/>
              <a:ea typeface="黑体" pitchFamily="49" charset="-122"/>
              <a:cs typeface="Arial" pitchFamily="34" charset="0"/>
            </a:endParaRPr>
          </a:p>
          <a:p>
            <a:pPr>
              <a:buFont typeface="Wingdings" pitchFamily="2" charset="2"/>
              <a:buChar char="n"/>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zh-CN" altLang="en-US" sz="2400" b="1" dirty="0" smtClean="0">
                <a:solidFill>
                  <a:srgbClr val="C00000"/>
                </a:solidFill>
                <a:latin typeface="Arial" pitchFamily="34" charset="0"/>
                <a:ea typeface="黑体" pitchFamily="49" charset="-122"/>
                <a:cs typeface="Arial" pitchFamily="34" charset="0"/>
              </a:rPr>
              <a:t>聚类分析中权重的确定</a:t>
            </a:r>
            <a:endParaRPr lang="en-US" altLang="zh-CN" sz="2400" b="1" dirty="0" smtClean="0">
              <a:solidFill>
                <a:srgbClr val="C00000"/>
              </a:solidFill>
              <a:latin typeface="Arial" pitchFamily="34" charset="0"/>
              <a:ea typeface="黑体" pitchFamily="49" charset="-122"/>
              <a:cs typeface="Arial" pitchFamily="34" charset="0"/>
            </a:endParaRPr>
          </a:p>
          <a:p>
            <a:pPr lvl="1">
              <a:buFont typeface="Wingdings" pitchFamily="2" charset="2"/>
              <a:buChar char="n"/>
            </a:pPr>
            <a:r>
              <a:rPr lang="zh-CN" altLang="en-US" sz="2000" dirty="0" smtClean="0">
                <a:latin typeface="Arial" pitchFamily="34" charset="0"/>
                <a:ea typeface="黑体" pitchFamily="49" charset="-122"/>
                <a:cs typeface="Arial" pitchFamily="34" charset="0"/>
              </a:rPr>
              <a:t>当各指标（变量）重要性不同的时候，需要根据需要调整权重。</a:t>
            </a:r>
            <a:endParaRPr lang="zh-CN" altLang="en-US" sz="2000" dirty="0">
              <a:latin typeface="Arial" pitchFamily="34" charset="0"/>
              <a:ea typeface="黑体" pitchFamily="49" charset="-122"/>
              <a:cs typeface="Arial" pitchFamily="34" charset="0"/>
            </a:endParaRPr>
          </a:p>
        </p:txBody>
      </p:sp>
    </p:spTree>
    <p:extLst>
      <p:ext uri="{BB962C8B-B14F-4D97-AF65-F5344CB8AC3E}">
        <p14:creationId xmlns:p14="http://schemas.microsoft.com/office/powerpoint/2010/main" val="132425666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44</a:t>
            </a:fld>
            <a:endParaRPr lang="zh-CN" altLang="en-US"/>
          </a:p>
        </p:txBody>
      </p:sp>
      <p:sp>
        <p:nvSpPr>
          <p:cNvPr id="6" name="矩形 5"/>
          <p:cNvSpPr/>
          <p:nvPr/>
        </p:nvSpPr>
        <p:spPr>
          <a:xfrm>
            <a:off x="2445555" y="118373"/>
            <a:ext cx="4068743" cy="646331"/>
          </a:xfrm>
          <a:prstGeom prst="rect">
            <a:avLst/>
          </a:prstGeom>
        </p:spPr>
        <p:txBody>
          <a:bodyPr wrap="none">
            <a:spAutoFit/>
          </a:bodyPr>
          <a:lstStyle/>
          <a:p>
            <a:r>
              <a:rPr lang="en-US" altLang="zh-CN" sz="3600" b="1" dirty="0" smtClean="0">
                <a:solidFill>
                  <a:srgbClr val="C00000"/>
                </a:solidFill>
                <a:latin typeface="Arial" pitchFamily="34" charset="0"/>
                <a:ea typeface="黑体" pitchFamily="49" charset="-122"/>
                <a:cs typeface="Arial" pitchFamily="34" charset="0"/>
              </a:rPr>
              <a:t>4. </a:t>
            </a:r>
            <a:r>
              <a:rPr lang="zh-CN" altLang="en-US" sz="3600" b="1" dirty="0" smtClean="0">
                <a:solidFill>
                  <a:srgbClr val="C00000"/>
                </a:solidFill>
                <a:latin typeface="Arial" pitchFamily="34" charset="0"/>
                <a:ea typeface="黑体" pitchFamily="49" charset="-122"/>
                <a:cs typeface="Arial" pitchFamily="34" charset="0"/>
              </a:rPr>
              <a:t>聚类结果可视化 </a:t>
            </a:r>
            <a:endParaRPr lang="zh-CN" altLang="en-US" sz="3600" b="1" dirty="0">
              <a:solidFill>
                <a:srgbClr val="C00000"/>
              </a:solidFill>
              <a:latin typeface="Arial" pitchFamily="34" charset="0"/>
              <a:ea typeface="黑体" pitchFamily="49" charset="-122"/>
              <a:cs typeface="Arial" pitchFamily="34" charset="0"/>
            </a:endParaRPr>
          </a:p>
        </p:txBody>
      </p:sp>
      <p:pic>
        <p:nvPicPr>
          <p:cNvPr id="7" name="Picture 2"/>
          <p:cNvPicPr>
            <a:picLocks noChangeAspect="1" noChangeArrowheads="1"/>
          </p:cNvPicPr>
          <p:nvPr/>
        </p:nvPicPr>
        <p:blipFill>
          <a:blip r:embed="rId2" cstate="print"/>
          <a:srcRect/>
          <a:stretch>
            <a:fillRect/>
          </a:stretch>
        </p:blipFill>
        <p:spPr bwMode="auto">
          <a:xfrm>
            <a:off x="1691680" y="2280549"/>
            <a:ext cx="5468410" cy="4101308"/>
          </a:xfrm>
          <a:prstGeom prst="rect">
            <a:avLst/>
          </a:prstGeom>
          <a:noFill/>
          <a:ln w="9525">
            <a:noFill/>
            <a:miter lim="800000"/>
            <a:headEnd/>
            <a:tailEnd/>
          </a:ln>
        </p:spPr>
      </p:pic>
      <p:sp>
        <p:nvSpPr>
          <p:cNvPr id="8" name="矩形 7"/>
          <p:cNvSpPr/>
          <p:nvPr/>
        </p:nvSpPr>
        <p:spPr>
          <a:xfrm>
            <a:off x="2782247" y="6413266"/>
            <a:ext cx="3877985" cy="400110"/>
          </a:xfrm>
          <a:prstGeom prst="rect">
            <a:avLst/>
          </a:prstGeom>
        </p:spPr>
        <p:txBody>
          <a:bodyPr wrap="none">
            <a:spAutoFit/>
          </a:bodyPr>
          <a:lstStyle/>
          <a:p>
            <a:r>
              <a:rPr lang="zh-CN" altLang="en-US" sz="2000" dirty="0" smtClean="0">
                <a:latin typeface="黑体" pitchFamily="49" charset="-122"/>
                <a:ea typeface="黑体" pitchFamily="49" charset="-122"/>
              </a:rPr>
              <a:t>基因表达聚类结果的热图显示	</a:t>
            </a:r>
          </a:p>
        </p:txBody>
      </p:sp>
      <p:sp>
        <p:nvSpPr>
          <p:cNvPr id="9" name="矩形 8"/>
          <p:cNvSpPr/>
          <p:nvPr/>
        </p:nvSpPr>
        <p:spPr>
          <a:xfrm>
            <a:off x="179512" y="764704"/>
            <a:ext cx="8435280" cy="1446550"/>
          </a:xfrm>
          <a:prstGeom prst="rect">
            <a:avLst/>
          </a:prstGeom>
        </p:spPr>
        <p:txBody>
          <a:bodyPr wrap="square">
            <a:spAutoFit/>
          </a:bodyPr>
          <a:lstStyle/>
          <a:p>
            <a:pPr marL="342900" indent="-342900">
              <a:buFont typeface="Wingdings" panose="05000000000000000000" pitchFamily="2" charset="2"/>
              <a:buChar char="Ø"/>
            </a:pPr>
            <a:r>
              <a:rPr lang="zh-CN" altLang="en-US" sz="2200" dirty="0" smtClean="0">
                <a:solidFill>
                  <a:srgbClr val="FF0000"/>
                </a:solidFill>
                <a:latin typeface="Arial" panose="020B0604020202020204" pitchFamily="34" charset="0"/>
                <a:ea typeface="黑体" panose="02010609060101010101" pitchFamily="49" charset="-122"/>
                <a:cs typeface="Arial" panose="020B0604020202020204" pitchFamily="34" charset="0"/>
              </a:rPr>
              <a:t>谱系图与彩色</a:t>
            </a:r>
            <a:r>
              <a:rPr lang="zh-CN" altLang="en-US" sz="2200" dirty="0">
                <a:solidFill>
                  <a:srgbClr val="FF0000"/>
                </a:solidFill>
                <a:latin typeface="Arial" panose="020B0604020202020204" pitchFamily="34" charset="0"/>
                <a:ea typeface="黑体" panose="02010609060101010101" pitchFamily="49" charset="-122"/>
                <a:cs typeface="Arial" panose="020B0604020202020204" pitchFamily="34" charset="0"/>
              </a:rPr>
              <a:t>盒图结合的热</a:t>
            </a:r>
            <a:r>
              <a:rPr lang="zh-CN" altLang="en-US" sz="2200" dirty="0" smtClean="0">
                <a:solidFill>
                  <a:srgbClr val="FF0000"/>
                </a:solidFill>
                <a:latin typeface="Arial" panose="020B0604020202020204" pitchFamily="34" charset="0"/>
                <a:ea typeface="黑体" panose="02010609060101010101" pitchFamily="49" charset="-122"/>
                <a:cs typeface="Arial" panose="020B0604020202020204" pitchFamily="34" charset="0"/>
              </a:rPr>
              <a:t>图；</a:t>
            </a:r>
            <a:endParaRPr lang="en-US" altLang="zh-CN" sz="2200" dirty="0" smtClean="0">
              <a:solidFill>
                <a:srgbClr val="FF0000"/>
              </a:solidFill>
              <a:latin typeface="Arial" panose="020B0604020202020204" pitchFamily="34" charset="0"/>
              <a:ea typeface="黑体" panose="02010609060101010101" pitchFamily="49" charset="-122"/>
              <a:cs typeface="Arial" panose="020B0604020202020204" pitchFamily="34" charset="0"/>
            </a:endParaRPr>
          </a:p>
          <a:p>
            <a:pPr marL="342900" indent="-342900">
              <a:buFont typeface="Wingdings" panose="05000000000000000000" pitchFamily="2" charset="2"/>
              <a:buChar char="Ø"/>
            </a:pPr>
            <a:r>
              <a:rPr lang="zh-CN" altLang="en-US" sz="2200" dirty="0" smtClean="0">
                <a:latin typeface="Arial" panose="020B0604020202020204" pitchFamily="34" charset="0"/>
                <a:ea typeface="黑体" panose="02010609060101010101" pitchFamily="49" charset="-122"/>
                <a:cs typeface="Arial" panose="020B0604020202020204" pitchFamily="34" charset="0"/>
              </a:rPr>
              <a:t>表示</a:t>
            </a:r>
            <a:r>
              <a:rPr lang="zh-CN" altLang="en-US" sz="2200" dirty="0">
                <a:latin typeface="Arial" panose="020B0604020202020204" pitchFamily="34" charset="0"/>
                <a:ea typeface="黑体" panose="02010609060101010101" pitchFamily="49" charset="-122"/>
                <a:cs typeface="Arial" panose="020B0604020202020204" pitchFamily="34" charset="0"/>
              </a:rPr>
              <a:t>随条件变化的表达</a:t>
            </a:r>
            <a:r>
              <a:rPr lang="zh-CN" altLang="en-US" sz="2200" dirty="0" smtClean="0">
                <a:latin typeface="Arial" panose="020B0604020202020204" pitchFamily="34" charset="0"/>
                <a:ea typeface="黑体" panose="02010609060101010101" pitchFamily="49" charset="-122"/>
                <a:cs typeface="Arial" panose="020B0604020202020204" pitchFamily="34" charset="0"/>
              </a:rPr>
              <a:t>趋势的</a:t>
            </a:r>
            <a:r>
              <a:rPr lang="zh-CN" altLang="en-US" sz="2200" dirty="0">
                <a:latin typeface="Arial" panose="020B0604020202020204" pitchFamily="34" charset="0"/>
                <a:ea typeface="黑体" panose="02010609060101010101" pitchFamily="49" charset="-122"/>
                <a:cs typeface="Arial" panose="020B0604020202020204" pitchFamily="34" charset="0"/>
              </a:rPr>
              <a:t>点线</a:t>
            </a:r>
            <a:r>
              <a:rPr lang="zh-CN" altLang="en-US" sz="2200" dirty="0" smtClean="0">
                <a:latin typeface="Arial" panose="020B0604020202020204" pitchFamily="34" charset="0"/>
                <a:ea typeface="黑体" panose="02010609060101010101" pitchFamily="49" charset="-122"/>
                <a:cs typeface="Arial" panose="020B0604020202020204" pitchFamily="34" charset="0"/>
              </a:rPr>
              <a:t>图；</a:t>
            </a:r>
            <a:endParaRPr lang="en-US" altLang="zh-CN" sz="2200" dirty="0" smtClean="0">
              <a:latin typeface="Arial" panose="020B0604020202020204" pitchFamily="34" charset="0"/>
              <a:ea typeface="黑体" panose="02010609060101010101" pitchFamily="49" charset="-122"/>
              <a:cs typeface="Arial" panose="020B0604020202020204" pitchFamily="34" charset="0"/>
            </a:endParaRPr>
          </a:p>
          <a:p>
            <a:pPr marL="342900" indent="-342900">
              <a:buFont typeface="Wingdings" panose="05000000000000000000" pitchFamily="2" charset="2"/>
              <a:buChar char="Ø"/>
            </a:pPr>
            <a:r>
              <a:rPr lang="zh-CN" altLang="en-US" sz="2200" dirty="0" smtClean="0">
                <a:latin typeface="Arial" panose="020B0604020202020204" pitchFamily="34" charset="0"/>
                <a:ea typeface="黑体" panose="02010609060101010101" pitchFamily="49" charset="-122"/>
                <a:cs typeface="Arial" panose="020B0604020202020204" pitchFamily="34" charset="0"/>
              </a:rPr>
              <a:t>多维</a:t>
            </a:r>
            <a:r>
              <a:rPr lang="zh-CN" altLang="en-US" sz="2200" dirty="0">
                <a:latin typeface="Arial" panose="020B0604020202020204" pitchFamily="34" charset="0"/>
                <a:ea typeface="黑体" panose="02010609060101010101" pitchFamily="49" charset="-122"/>
                <a:cs typeface="Arial" panose="020B0604020202020204" pitchFamily="34" charset="0"/>
              </a:rPr>
              <a:t>数据在二维平面上表示的</a:t>
            </a:r>
            <a:r>
              <a:rPr lang="zh-CN" altLang="en-US" sz="2200" dirty="0" smtClean="0">
                <a:latin typeface="Arial" panose="020B0604020202020204" pitchFamily="34" charset="0"/>
                <a:ea typeface="黑体" panose="02010609060101010101" pitchFamily="49" charset="-122"/>
                <a:cs typeface="Arial" panose="020B0604020202020204" pitchFamily="34" charset="0"/>
              </a:rPr>
              <a:t>平行坐标图；</a:t>
            </a:r>
            <a:endParaRPr lang="en-US" altLang="zh-CN" sz="2200" dirty="0" smtClean="0">
              <a:latin typeface="Arial" panose="020B0604020202020204" pitchFamily="34" charset="0"/>
              <a:ea typeface="黑体" panose="02010609060101010101" pitchFamily="49" charset="-122"/>
              <a:cs typeface="Arial" panose="020B0604020202020204" pitchFamily="34" charset="0"/>
            </a:endParaRPr>
          </a:p>
          <a:p>
            <a:pPr marL="342900" indent="-342900">
              <a:buFont typeface="Wingdings" panose="05000000000000000000" pitchFamily="2" charset="2"/>
              <a:buChar char="Ø"/>
            </a:pPr>
            <a:r>
              <a:rPr lang="zh-CN" altLang="en-US" sz="2200" dirty="0" smtClean="0">
                <a:latin typeface="Arial" panose="020B0604020202020204" pitchFamily="34" charset="0"/>
                <a:ea typeface="黑体" panose="02010609060101010101" pitchFamily="49" charset="-122"/>
                <a:cs typeface="Arial" panose="020B0604020202020204" pitchFamily="34" charset="0"/>
              </a:rPr>
              <a:t>其他：波形</a:t>
            </a:r>
            <a:r>
              <a:rPr lang="zh-CN" altLang="en-US" sz="2200" dirty="0">
                <a:latin typeface="Arial" panose="020B0604020202020204" pitchFamily="34" charset="0"/>
                <a:ea typeface="黑体" panose="02010609060101010101" pitchFamily="49" charset="-122"/>
                <a:cs typeface="Arial" panose="020B0604020202020204" pitchFamily="34" charset="0"/>
              </a:rPr>
              <a:t>图、网络图、剪影图和动态靶样图等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45</a:t>
            </a:fld>
            <a:endParaRPr lang="zh-CN" altLang="en-US"/>
          </a:p>
        </p:txBody>
      </p:sp>
      <p:sp>
        <p:nvSpPr>
          <p:cNvPr id="3" name="矩形 2"/>
          <p:cNvSpPr/>
          <p:nvPr/>
        </p:nvSpPr>
        <p:spPr>
          <a:xfrm>
            <a:off x="1259632" y="334397"/>
            <a:ext cx="6256841" cy="646331"/>
          </a:xfrm>
          <a:prstGeom prst="rect">
            <a:avLst/>
          </a:prstGeom>
        </p:spPr>
        <p:txBody>
          <a:bodyPr wrap="none">
            <a:spAutoFit/>
          </a:bodyPr>
          <a:lstStyle/>
          <a:p>
            <a:r>
              <a:rPr lang="en-US" altLang="zh-CN" sz="3600" b="1" dirty="0" smtClean="0">
                <a:solidFill>
                  <a:srgbClr val="C00000"/>
                </a:solidFill>
                <a:latin typeface="Arial" pitchFamily="34" charset="0"/>
                <a:ea typeface="黑体" pitchFamily="49" charset="-122"/>
                <a:cs typeface="Arial" pitchFamily="34" charset="0"/>
              </a:rPr>
              <a:t>5. </a:t>
            </a:r>
            <a:r>
              <a:rPr lang="zh-CN" altLang="en-US" sz="3600" b="1" dirty="0" smtClean="0">
                <a:solidFill>
                  <a:srgbClr val="C00000"/>
                </a:solidFill>
                <a:latin typeface="Arial" pitchFamily="34" charset="0"/>
                <a:ea typeface="黑体" pitchFamily="49" charset="-122"/>
                <a:cs typeface="Arial" pitchFamily="34" charset="0"/>
              </a:rPr>
              <a:t>聚类结果的生物学高级分析</a:t>
            </a:r>
            <a:endParaRPr lang="zh-CN" altLang="en-US" sz="3600" b="1" dirty="0">
              <a:solidFill>
                <a:srgbClr val="C00000"/>
              </a:solidFill>
              <a:latin typeface="Arial" pitchFamily="34" charset="0"/>
              <a:ea typeface="黑体" pitchFamily="49" charset="-122"/>
              <a:cs typeface="Arial" pitchFamily="34" charset="0"/>
            </a:endParaRPr>
          </a:p>
        </p:txBody>
      </p:sp>
      <p:sp>
        <p:nvSpPr>
          <p:cNvPr id="4" name="矩形 3"/>
          <p:cNvSpPr/>
          <p:nvPr/>
        </p:nvSpPr>
        <p:spPr>
          <a:xfrm>
            <a:off x="155137" y="1196752"/>
            <a:ext cx="8737343" cy="2308324"/>
          </a:xfrm>
          <a:prstGeom prst="rect">
            <a:avLst/>
          </a:prstGeom>
        </p:spPr>
        <p:txBody>
          <a:bodyPr wrap="square">
            <a:spAutoFit/>
          </a:bodyPr>
          <a:lstStyle/>
          <a:p>
            <a:pPr marL="285750" indent="-285750">
              <a:buFont typeface="Wingdings" panose="05000000000000000000" pitchFamily="2" charset="2"/>
              <a:buChar char="n"/>
            </a:pPr>
            <a:r>
              <a:rPr lang="zh-CN" altLang="en-US" sz="2400" dirty="0" smtClean="0">
                <a:latin typeface="Arial" panose="020B0604020202020204" pitchFamily="34" charset="0"/>
                <a:ea typeface="黑体" panose="02010609060101010101" pitchFamily="49" charset="-122"/>
                <a:cs typeface="Arial" panose="020B0604020202020204" pitchFamily="34" charset="0"/>
              </a:rPr>
              <a:t>富集分析：</a:t>
            </a:r>
            <a:r>
              <a:rPr lang="en-US" altLang="zh-CN" sz="2400" dirty="0">
                <a:latin typeface="Arial" panose="020B0604020202020204" pitchFamily="34" charset="0"/>
                <a:ea typeface="黑体" panose="02010609060101010101" pitchFamily="49" charset="-122"/>
                <a:cs typeface="Arial" panose="020B0604020202020204" pitchFamily="34" charset="0"/>
              </a:rPr>
              <a:t> </a:t>
            </a:r>
            <a:r>
              <a:rPr lang="en-US" altLang="zh-CN" sz="2400" dirty="0" smtClean="0">
                <a:latin typeface="Arial" panose="020B0604020202020204" pitchFamily="34" charset="0"/>
                <a:ea typeface="黑体" panose="02010609060101010101" pitchFamily="49" charset="-122"/>
                <a:cs typeface="Arial" panose="020B0604020202020204" pitchFamily="34" charset="0"/>
              </a:rPr>
              <a:t>GO</a:t>
            </a:r>
            <a:r>
              <a:rPr lang="zh-CN" altLang="en-US" sz="2400" dirty="0" smtClean="0">
                <a:latin typeface="Arial" panose="020B0604020202020204" pitchFamily="34" charset="0"/>
                <a:ea typeface="黑体" panose="02010609060101010101" pitchFamily="49" charset="-122"/>
                <a:cs typeface="Arial" panose="020B0604020202020204" pitchFamily="34" charset="0"/>
              </a:rPr>
              <a:t>（</a:t>
            </a:r>
            <a:r>
              <a:rPr lang="en-US" altLang="zh-CN" sz="2400" dirty="0" smtClean="0">
                <a:latin typeface="Arial" panose="020B0604020202020204" pitchFamily="34" charset="0"/>
                <a:ea typeface="黑体" panose="02010609060101010101" pitchFamily="49" charset="-122"/>
                <a:cs typeface="Arial" panose="020B0604020202020204" pitchFamily="34" charset="0"/>
              </a:rPr>
              <a:t>Gene Ontology</a:t>
            </a:r>
            <a:r>
              <a:rPr lang="zh-CN" altLang="en-US" sz="2400" dirty="0" smtClean="0">
                <a:latin typeface="Arial" panose="020B0604020202020204" pitchFamily="34" charset="0"/>
                <a:ea typeface="黑体" panose="02010609060101010101" pitchFamily="49" charset="-122"/>
                <a:cs typeface="Arial" panose="020B0604020202020204" pitchFamily="34" charset="0"/>
              </a:rPr>
              <a:t>）注释与分析；</a:t>
            </a:r>
            <a:endParaRPr lang="en-US" altLang="zh-CN" sz="2400" dirty="0" smtClean="0">
              <a:latin typeface="Arial" panose="020B0604020202020204" pitchFamily="34" charset="0"/>
              <a:ea typeface="黑体" panose="02010609060101010101" pitchFamily="49" charset="-122"/>
              <a:cs typeface="Arial" panose="020B0604020202020204" pitchFamily="34" charset="0"/>
            </a:endParaRPr>
          </a:p>
          <a:p>
            <a:pPr marL="285750" indent="-285750">
              <a:buFont typeface="Wingdings" panose="05000000000000000000" pitchFamily="2" charset="2"/>
              <a:buChar char="n"/>
            </a:pPr>
            <a:endParaRPr lang="en-US" altLang="zh-CN" sz="2400" dirty="0" smtClean="0">
              <a:latin typeface="Arial" panose="020B0604020202020204" pitchFamily="34" charset="0"/>
              <a:ea typeface="黑体" panose="02010609060101010101" pitchFamily="49" charset="-122"/>
              <a:cs typeface="Arial" panose="020B0604020202020204" pitchFamily="34" charset="0"/>
            </a:endParaRPr>
          </a:p>
          <a:p>
            <a:pPr marL="285750" indent="-285750">
              <a:buFont typeface="Wingdings" panose="05000000000000000000" pitchFamily="2" charset="2"/>
              <a:buChar char="n"/>
            </a:pPr>
            <a:r>
              <a:rPr lang="zh-CN" altLang="en-US" sz="2400" dirty="0" smtClean="0">
                <a:latin typeface="Arial" panose="020B0604020202020204" pitchFamily="34" charset="0"/>
                <a:ea typeface="黑体" panose="02010609060101010101" pitchFamily="49" charset="-122"/>
                <a:cs typeface="Arial" panose="020B0604020202020204" pitchFamily="34" charset="0"/>
              </a:rPr>
              <a:t>通路分析；</a:t>
            </a:r>
            <a:r>
              <a:rPr lang="en-US" altLang="zh-CN" sz="2400" dirty="0">
                <a:latin typeface="Arial" panose="020B0604020202020204" pitchFamily="34" charset="0"/>
                <a:ea typeface="黑体" panose="02010609060101010101" pitchFamily="49" charset="-122"/>
                <a:cs typeface="Arial" panose="020B0604020202020204" pitchFamily="34" charset="0"/>
              </a:rPr>
              <a:t> </a:t>
            </a:r>
            <a:r>
              <a:rPr lang="en-US" altLang="zh-CN" sz="2400" dirty="0" smtClean="0">
                <a:latin typeface="Arial" panose="020B0604020202020204" pitchFamily="34" charset="0"/>
                <a:ea typeface="黑体" panose="02010609060101010101" pitchFamily="49" charset="-122"/>
                <a:cs typeface="Arial" panose="020B0604020202020204" pitchFamily="34" charset="0"/>
              </a:rPr>
              <a:t>KEGG</a:t>
            </a:r>
            <a:r>
              <a:rPr lang="zh-CN" altLang="en-US" sz="2400" dirty="0" smtClean="0">
                <a:latin typeface="Arial" panose="020B0604020202020204" pitchFamily="34" charset="0"/>
                <a:ea typeface="黑体" panose="02010609060101010101" pitchFamily="49" charset="-122"/>
                <a:cs typeface="Arial" panose="020B0604020202020204" pitchFamily="34" charset="0"/>
              </a:rPr>
              <a:t>（</a:t>
            </a:r>
            <a:r>
              <a:rPr lang="en-US" altLang="zh-CN" sz="2400" dirty="0" smtClean="0">
                <a:latin typeface="Arial" panose="020B0604020202020204" pitchFamily="34" charset="0"/>
                <a:ea typeface="黑体" panose="02010609060101010101" pitchFamily="49" charset="-122"/>
                <a:cs typeface="Arial" panose="020B0604020202020204" pitchFamily="34" charset="0"/>
              </a:rPr>
              <a:t>Kyoto </a:t>
            </a:r>
            <a:r>
              <a:rPr lang="en-US" altLang="zh-CN" sz="2400" dirty="0">
                <a:latin typeface="Arial" panose="020B0604020202020204" pitchFamily="34" charset="0"/>
                <a:ea typeface="黑体" panose="02010609060101010101" pitchFamily="49" charset="-122"/>
                <a:cs typeface="Arial" panose="020B0604020202020204" pitchFamily="34" charset="0"/>
              </a:rPr>
              <a:t>Encyclopedia of Genes and </a:t>
            </a:r>
            <a:r>
              <a:rPr lang="en-US" altLang="zh-CN" sz="2400" dirty="0" smtClean="0">
                <a:latin typeface="Arial" panose="020B0604020202020204" pitchFamily="34" charset="0"/>
                <a:ea typeface="黑体" panose="02010609060101010101" pitchFamily="49" charset="-122"/>
                <a:cs typeface="Arial" panose="020B0604020202020204" pitchFamily="34" charset="0"/>
              </a:rPr>
              <a:t>Genomes</a:t>
            </a:r>
            <a:r>
              <a:rPr lang="zh-CN" altLang="en-US" sz="2400" dirty="0" smtClean="0">
                <a:latin typeface="Arial" panose="020B0604020202020204" pitchFamily="34" charset="0"/>
                <a:ea typeface="黑体" panose="02010609060101010101" pitchFamily="49" charset="-122"/>
                <a:cs typeface="Arial" panose="020B0604020202020204" pitchFamily="34" charset="0"/>
              </a:rPr>
              <a:t>）数据库中的各种</a:t>
            </a:r>
            <a:r>
              <a:rPr lang="zh-CN" altLang="en-US" sz="2400" dirty="0">
                <a:latin typeface="Arial" panose="020B0604020202020204" pitchFamily="34" charset="0"/>
                <a:ea typeface="黑体" panose="02010609060101010101" pitchFamily="49" charset="-122"/>
                <a:cs typeface="Arial" panose="020B0604020202020204" pitchFamily="34" charset="0"/>
              </a:rPr>
              <a:t>代谢和调节通路</a:t>
            </a:r>
            <a:r>
              <a:rPr lang="zh-CN" altLang="en-US" sz="2400" dirty="0" smtClean="0">
                <a:latin typeface="Arial" panose="020B0604020202020204" pitchFamily="34" charset="0"/>
                <a:ea typeface="黑体" panose="02010609060101010101" pitchFamily="49" charset="-122"/>
                <a:cs typeface="Arial" panose="020B0604020202020204" pitchFamily="34" charset="0"/>
              </a:rPr>
              <a:t>分析；</a:t>
            </a:r>
            <a:endParaRPr lang="en-US" altLang="zh-CN" sz="2400" dirty="0" smtClean="0">
              <a:latin typeface="Arial" panose="020B0604020202020204" pitchFamily="34" charset="0"/>
              <a:ea typeface="黑体" panose="02010609060101010101" pitchFamily="49" charset="-122"/>
              <a:cs typeface="Arial" panose="020B0604020202020204" pitchFamily="34" charset="0"/>
            </a:endParaRPr>
          </a:p>
          <a:p>
            <a:pPr marL="285750" indent="-285750">
              <a:buFont typeface="Wingdings" panose="05000000000000000000" pitchFamily="2" charset="2"/>
              <a:buChar char="n"/>
            </a:pPr>
            <a:endParaRPr lang="en-US" altLang="zh-CN" sz="2400" dirty="0" smtClean="0">
              <a:latin typeface="Arial" panose="020B0604020202020204" pitchFamily="34" charset="0"/>
              <a:ea typeface="黑体" panose="02010609060101010101" pitchFamily="49" charset="-122"/>
              <a:cs typeface="Arial" panose="020B0604020202020204" pitchFamily="34" charset="0"/>
            </a:endParaRPr>
          </a:p>
          <a:p>
            <a:pPr marL="285750" indent="-285750">
              <a:buFont typeface="Wingdings" panose="05000000000000000000" pitchFamily="2" charset="2"/>
              <a:buChar char="n"/>
            </a:pPr>
            <a:r>
              <a:rPr lang="zh-CN" altLang="en-US" sz="2400" dirty="0" smtClean="0">
                <a:latin typeface="Arial" panose="020B0604020202020204" pitchFamily="34" charset="0"/>
                <a:ea typeface="黑体" panose="02010609060101010101" pitchFamily="49" charset="-122"/>
                <a:cs typeface="Arial" panose="020B0604020202020204" pitchFamily="34" charset="0"/>
              </a:rPr>
              <a:t>基因</a:t>
            </a:r>
            <a:r>
              <a:rPr lang="zh-CN" altLang="en-US" sz="2400" dirty="0">
                <a:latin typeface="Arial" panose="020B0604020202020204" pitchFamily="34" charset="0"/>
                <a:ea typeface="黑体" panose="02010609060101010101" pitchFamily="49" charset="-122"/>
                <a:cs typeface="Arial" panose="020B0604020202020204" pitchFamily="34" charset="0"/>
              </a:rPr>
              <a:t>调控网络</a:t>
            </a:r>
            <a:r>
              <a:rPr lang="zh-CN" altLang="en-US" sz="2400" dirty="0" smtClean="0">
                <a:latin typeface="Arial" panose="020B0604020202020204" pitchFamily="34" charset="0"/>
                <a:ea typeface="黑体" panose="02010609060101010101" pitchFamily="49" charset="-122"/>
                <a:cs typeface="Arial" panose="020B0604020202020204" pitchFamily="34" charset="0"/>
              </a:rPr>
              <a:t>构建与分析等。</a:t>
            </a:r>
            <a:endParaRPr lang="en-US" altLang="zh-CN" sz="2400" dirty="0" smtClean="0">
              <a:latin typeface="Arial" panose="020B0604020202020204" pitchFamily="34" charset="0"/>
              <a:ea typeface="黑体" panose="02010609060101010101" pitchFamily="49" charset="-122"/>
              <a:cs typeface="Arial" panose="020B0604020202020204" pitchFamily="34" charset="0"/>
            </a:endParaRPr>
          </a:p>
        </p:txBody>
      </p:sp>
      <p:pic>
        <p:nvPicPr>
          <p:cNvPr id="7" name="Picture 2" descr="https://timgsa.baidu.com/timg?image&amp;quality=80&amp;size=b9999_10000&amp;sec=1584860964242&amp;di=82490fe084b9180e60e3d6194fcaa295&amp;imgtype=0&amp;src=http%3A%2F%2Fwww.acebiox.cn%2Fimages%2Fbi_service%2Fbi_09.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73156" y="4075703"/>
            <a:ext cx="3091332" cy="216160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https://timgsa.baidu.com/timg?image&amp;quality=80&amp;size=b9999_10000&amp;sec=1584860993442&amp;di=47763a0314d02d015c8ee96774b8edc8&amp;imgtype=0&amp;src=http%3A%2F%2Fwww.personalbio.cn%2Fueditor%2Fnet%2Fupload%2Fimage%2F20190110%2F6368271126705573661404266.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512" y="3789040"/>
            <a:ext cx="5413936" cy="2520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521174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46</a:t>
            </a:fld>
            <a:endParaRPr lang="zh-CN" altLang="en-US"/>
          </a:p>
        </p:txBody>
      </p:sp>
      <p:sp>
        <p:nvSpPr>
          <p:cNvPr id="3" name="矩形 2"/>
          <p:cNvSpPr/>
          <p:nvPr/>
        </p:nvSpPr>
        <p:spPr>
          <a:xfrm>
            <a:off x="1640873" y="116632"/>
            <a:ext cx="6316153" cy="523220"/>
          </a:xfrm>
          <a:prstGeom prst="rect">
            <a:avLst/>
          </a:prstGeom>
        </p:spPr>
        <p:txBody>
          <a:bodyPr wrap="none">
            <a:spAutoFit/>
          </a:bodyPr>
          <a:lstStyle/>
          <a:p>
            <a:r>
              <a:rPr lang="zh-CN" altLang="en-US" sz="2800" b="1" u="sng" dirty="0" smtClean="0">
                <a:solidFill>
                  <a:srgbClr val="FF0000"/>
                </a:solidFill>
                <a:latin typeface="Arial" pitchFamily="34" charset="0"/>
                <a:ea typeface="黑体" pitchFamily="49" charset="-122"/>
                <a:cs typeface="Arial" pitchFamily="34" charset="0"/>
              </a:rPr>
              <a:t>与组学大数据聚类分析相关的主要工具</a:t>
            </a:r>
            <a:endParaRPr lang="zh-CN" altLang="en-US" sz="2800" b="1" u="sng" dirty="0">
              <a:solidFill>
                <a:srgbClr val="FF0000"/>
              </a:solidFill>
              <a:latin typeface="Arial" pitchFamily="34" charset="0"/>
              <a:ea typeface="黑体" pitchFamily="49" charset="-122"/>
              <a:cs typeface="Arial" pitchFamily="34"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739906349"/>
              </p:ext>
            </p:extLst>
          </p:nvPr>
        </p:nvGraphicFramePr>
        <p:xfrm>
          <a:off x="35496" y="692696"/>
          <a:ext cx="8975602" cy="5918200"/>
        </p:xfrm>
        <a:graphic>
          <a:graphicData uri="http://schemas.openxmlformats.org/drawingml/2006/table">
            <a:tbl>
              <a:tblPr firstRow="1" bandRow="1">
                <a:tableStyleId>{00A15C55-8517-42AA-B614-E9B94910E393}</a:tableStyleId>
              </a:tblPr>
              <a:tblGrid>
                <a:gridCol w="2678204">
                  <a:extLst>
                    <a:ext uri="{9D8B030D-6E8A-4147-A177-3AD203B41FA5}">
                      <a16:colId xmlns:a16="http://schemas.microsoft.com/office/drawing/2014/main" val="20000"/>
                    </a:ext>
                  </a:extLst>
                </a:gridCol>
                <a:gridCol w="2533436">
                  <a:extLst>
                    <a:ext uri="{9D8B030D-6E8A-4147-A177-3AD203B41FA5}">
                      <a16:colId xmlns:a16="http://schemas.microsoft.com/office/drawing/2014/main" val="20001"/>
                    </a:ext>
                  </a:extLst>
                </a:gridCol>
                <a:gridCol w="1158142">
                  <a:extLst>
                    <a:ext uri="{9D8B030D-6E8A-4147-A177-3AD203B41FA5}">
                      <a16:colId xmlns:a16="http://schemas.microsoft.com/office/drawing/2014/main" val="20002"/>
                    </a:ext>
                  </a:extLst>
                </a:gridCol>
                <a:gridCol w="2605820">
                  <a:extLst>
                    <a:ext uri="{9D8B030D-6E8A-4147-A177-3AD203B41FA5}">
                      <a16:colId xmlns:a16="http://schemas.microsoft.com/office/drawing/2014/main" val="20003"/>
                    </a:ext>
                  </a:extLst>
                </a:gridCol>
              </a:tblGrid>
              <a:tr h="370840">
                <a:tc>
                  <a:txBody>
                    <a:bodyPr/>
                    <a:lstStyle/>
                    <a:p>
                      <a:pPr algn="ctr">
                        <a:spcAft>
                          <a:spcPts val="0"/>
                        </a:spcAft>
                      </a:pPr>
                      <a:r>
                        <a:rPr lang="zh-CN" sz="1800" kern="0" dirty="0">
                          <a:effectLst/>
                          <a:latin typeface="Arial" panose="020B0604020202020204" pitchFamily="34" charset="0"/>
                          <a:ea typeface="黑体" panose="02010609060101010101" pitchFamily="49" charset="-122"/>
                          <a:cs typeface="Arial" panose="020B0604020202020204" pitchFamily="34" charset="0"/>
                        </a:rPr>
                        <a:t>名称</a:t>
                      </a:r>
                      <a:r>
                        <a:rPr lang="en-US" sz="1800" kern="0" dirty="0">
                          <a:effectLst/>
                          <a:latin typeface="Arial" panose="020B0604020202020204" pitchFamily="34" charset="0"/>
                          <a:ea typeface="黑体" panose="02010609060101010101" pitchFamily="49" charset="-122"/>
                          <a:cs typeface="Arial" panose="020B0604020202020204" pitchFamily="34" charset="0"/>
                        </a:rPr>
                        <a:t>(</a:t>
                      </a:r>
                      <a:r>
                        <a:rPr lang="zh-CN" sz="1800" kern="0" dirty="0">
                          <a:effectLst/>
                          <a:latin typeface="Arial" panose="020B0604020202020204" pitchFamily="34" charset="0"/>
                          <a:ea typeface="黑体" panose="02010609060101010101" pitchFamily="49" charset="-122"/>
                          <a:cs typeface="Arial" panose="020B0604020202020204" pitchFamily="34" charset="0"/>
                        </a:rPr>
                        <a:t>年份</a:t>
                      </a:r>
                      <a:r>
                        <a:rPr lang="en-US" sz="1800" kern="0" dirty="0">
                          <a:effectLst/>
                          <a:latin typeface="Arial" panose="020B0604020202020204" pitchFamily="34" charset="0"/>
                          <a:ea typeface="黑体" panose="02010609060101010101" pitchFamily="49" charset="-122"/>
                          <a:cs typeface="Arial" panose="020B0604020202020204" pitchFamily="34" charset="0"/>
                        </a:rPr>
                        <a:t>)</a:t>
                      </a:r>
                      <a:endParaRPr lang="zh-CN" sz="1800" kern="100" dirty="0">
                        <a:effectLst/>
                        <a:latin typeface="Arial" panose="020B0604020202020204" pitchFamily="34" charset="0"/>
                        <a:ea typeface="黑体" panose="02010609060101010101" pitchFamily="49" charset="-122"/>
                        <a:cs typeface="Arial" panose="020B0604020202020204" pitchFamily="34" charset="0"/>
                      </a:endParaRPr>
                    </a:p>
                  </a:txBody>
                  <a:tcPr marL="68580" marR="68580" marT="0" marB="0"/>
                </a:tc>
                <a:tc>
                  <a:txBody>
                    <a:bodyPr/>
                    <a:lstStyle/>
                    <a:p>
                      <a:pPr algn="ctr">
                        <a:spcAft>
                          <a:spcPts val="0"/>
                        </a:spcAft>
                      </a:pPr>
                      <a:r>
                        <a:rPr lang="zh-CN" sz="1800" kern="100">
                          <a:effectLst/>
                          <a:latin typeface="Arial" panose="020B0604020202020204" pitchFamily="34" charset="0"/>
                          <a:ea typeface="黑体" panose="02010609060101010101" pitchFamily="49" charset="-122"/>
                          <a:cs typeface="Arial" panose="020B0604020202020204" pitchFamily="34" charset="0"/>
                        </a:rPr>
                        <a:t>描述</a:t>
                      </a:r>
                    </a:p>
                  </a:txBody>
                  <a:tcPr marL="68580" marR="68580" marT="0" marB="0"/>
                </a:tc>
                <a:tc>
                  <a:txBody>
                    <a:bodyPr/>
                    <a:lstStyle/>
                    <a:p>
                      <a:pPr algn="ctr">
                        <a:spcAft>
                          <a:spcPts val="0"/>
                        </a:spcAft>
                      </a:pPr>
                      <a:r>
                        <a:rPr lang="zh-CN" sz="1800" kern="0" dirty="0">
                          <a:effectLst/>
                          <a:latin typeface="Arial" panose="020B0604020202020204" pitchFamily="34" charset="0"/>
                          <a:ea typeface="黑体" panose="02010609060101010101" pitchFamily="49" charset="-122"/>
                          <a:cs typeface="Arial" panose="020B0604020202020204" pitchFamily="34" charset="0"/>
                        </a:rPr>
                        <a:t>程序语言</a:t>
                      </a:r>
                      <a:endParaRPr lang="zh-CN" sz="1800" kern="100" dirty="0">
                        <a:effectLst/>
                        <a:latin typeface="Arial" panose="020B0604020202020204" pitchFamily="34" charset="0"/>
                        <a:ea typeface="黑体" panose="02010609060101010101" pitchFamily="49" charset="-122"/>
                        <a:cs typeface="Arial" panose="020B0604020202020204" pitchFamily="34" charset="0"/>
                      </a:endParaRPr>
                    </a:p>
                  </a:txBody>
                  <a:tcPr marL="68580" marR="68580" marT="0" marB="0"/>
                </a:tc>
                <a:tc>
                  <a:txBody>
                    <a:bodyPr/>
                    <a:lstStyle/>
                    <a:p>
                      <a:pPr algn="ctr">
                        <a:spcAft>
                          <a:spcPts val="0"/>
                        </a:spcAft>
                      </a:pPr>
                      <a:r>
                        <a:rPr lang="zh-CN" sz="1800" kern="100" dirty="0">
                          <a:effectLst/>
                          <a:latin typeface="Arial" panose="020B0604020202020204" pitchFamily="34" charset="0"/>
                          <a:ea typeface="黑体" panose="02010609060101010101" pitchFamily="49" charset="-122"/>
                          <a:cs typeface="Arial" panose="020B0604020202020204" pitchFamily="34" charset="0"/>
                        </a:rPr>
                        <a:t>网址</a:t>
                      </a:r>
                    </a:p>
                  </a:txBody>
                  <a:tcPr marL="68580" marR="68580" marT="0" marB="0"/>
                </a:tc>
                <a:extLst>
                  <a:ext uri="{0D108BD9-81ED-4DB2-BD59-A6C34878D82A}">
                    <a16:rowId xmlns:a16="http://schemas.microsoft.com/office/drawing/2014/main" val="10000"/>
                  </a:ext>
                </a:extLst>
              </a:tr>
              <a:tr h="370840">
                <a:tc>
                  <a:txBody>
                    <a:bodyPr/>
                    <a:lstStyle/>
                    <a:p>
                      <a:pPr algn="l">
                        <a:spcAft>
                          <a:spcPts val="0"/>
                        </a:spcAft>
                      </a:pPr>
                      <a:r>
                        <a:rPr lang="en-US" sz="1400" kern="0" dirty="0" smtClean="0">
                          <a:solidFill>
                            <a:srgbClr val="FF0000"/>
                          </a:solidFill>
                          <a:effectLst/>
                          <a:latin typeface="Arial" panose="020B0604020202020204" pitchFamily="34" charset="0"/>
                          <a:ea typeface="黑体" panose="02010609060101010101" pitchFamily="49" charset="-122"/>
                          <a:cs typeface="Arial" panose="020B0604020202020204" pitchFamily="34" charset="0"/>
                        </a:rPr>
                        <a:t>Bioconductor</a:t>
                      </a:r>
                    </a:p>
                    <a:p>
                      <a:pPr algn="l">
                        <a:spcAft>
                          <a:spcPts val="0"/>
                        </a:spcAft>
                      </a:pPr>
                      <a:r>
                        <a:rPr lang="zh-CN" sz="1400" kern="0" dirty="0" smtClean="0">
                          <a:effectLst/>
                          <a:latin typeface="Arial" panose="020B0604020202020204" pitchFamily="34" charset="0"/>
                          <a:ea typeface="黑体" panose="02010609060101010101" pitchFamily="49" charset="-122"/>
                          <a:cs typeface="Arial" panose="020B0604020202020204" pitchFamily="34" charset="0"/>
                        </a:rPr>
                        <a:t>生物</a:t>
                      </a:r>
                      <a:r>
                        <a:rPr lang="zh-CN" sz="1400" kern="0" dirty="0">
                          <a:effectLst/>
                          <a:latin typeface="Arial" panose="020B0604020202020204" pitchFamily="34" charset="0"/>
                          <a:ea typeface="黑体" panose="02010609060101010101" pitchFamily="49" charset="-122"/>
                          <a:cs typeface="Arial" panose="020B0604020202020204" pitchFamily="34" charset="0"/>
                        </a:rPr>
                        <a:t>指导软件包</a:t>
                      </a:r>
                      <a:endParaRPr lang="zh-CN" sz="1400" kern="100" dirty="0">
                        <a:effectLst/>
                        <a:latin typeface="Arial" panose="020B0604020202020204" pitchFamily="34" charset="0"/>
                        <a:ea typeface="黑体" panose="02010609060101010101" pitchFamily="49" charset="-122"/>
                        <a:cs typeface="Arial" panose="020B0604020202020204" pitchFamily="34" charset="0"/>
                      </a:endParaRPr>
                    </a:p>
                  </a:txBody>
                  <a:tcPr marL="68580" marR="68580" marT="0" marB="0"/>
                </a:tc>
                <a:tc>
                  <a:txBody>
                    <a:bodyPr/>
                    <a:lstStyle/>
                    <a:p>
                      <a:pPr algn="l">
                        <a:spcAft>
                          <a:spcPts val="0"/>
                        </a:spcAft>
                      </a:pPr>
                      <a:r>
                        <a:rPr lang="zh-CN" sz="1400" kern="0" dirty="0">
                          <a:effectLst/>
                          <a:latin typeface="Arial" panose="020B0604020202020204" pitchFamily="34" charset="0"/>
                          <a:ea typeface="黑体" panose="02010609060101010101" pitchFamily="49" charset="-122"/>
                          <a:cs typeface="Arial" panose="020B0604020202020204" pitchFamily="34" charset="0"/>
                        </a:rPr>
                        <a:t>处理、分析、注释及</a:t>
                      </a:r>
                      <a:r>
                        <a:rPr lang="zh-CN" sz="1400" kern="0" dirty="0" smtClean="0">
                          <a:effectLst/>
                          <a:latin typeface="Arial" panose="020B0604020202020204" pitchFamily="34" charset="0"/>
                          <a:ea typeface="黑体" panose="02010609060101010101" pitchFamily="49" charset="-122"/>
                          <a:cs typeface="Arial" panose="020B0604020202020204" pitchFamily="34" charset="0"/>
                        </a:rPr>
                        <a:t>可视化包的集成应用软件</a:t>
                      </a:r>
                      <a:r>
                        <a:rPr lang="zh-CN" sz="1400" kern="0" dirty="0">
                          <a:effectLst/>
                          <a:latin typeface="Arial" panose="020B0604020202020204" pitchFamily="34" charset="0"/>
                          <a:ea typeface="黑体" panose="02010609060101010101" pitchFamily="49" charset="-122"/>
                          <a:cs typeface="Arial" panose="020B0604020202020204" pitchFamily="34" charset="0"/>
                        </a:rPr>
                        <a:t>集合</a:t>
                      </a:r>
                      <a:endParaRPr lang="zh-CN" sz="1400" kern="100" dirty="0">
                        <a:effectLst/>
                        <a:latin typeface="Arial" panose="020B0604020202020204" pitchFamily="34" charset="0"/>
                        <a:ea typeface="黑体" panose="02010609060101010101" pitchFamily="49" charset="-122"/>
                        <a:cs typeface="Arial" panose="020B0604020202020204" pitchFamily="34" charset="0"/>
                      </a:endParaRPr>
                    </a:p>
                  </a:txBody>
                  <a:tcPr marL="68580" marR="68580" marT="0" marB="0"/>
                </a:tc>
                <a:tc>
                  <a:txBody>
                    <a:bodyPr/>
                    <a:lstStyle/>
                    <a:p>
                      <a:pPr algn="just">
                        <a:spcAft>
                          <a:spcPts val="0"/>
                        </a:spcAft>
                      </a:pPr>
                      <a:r>
                        <a:rPr lang="en-US" sz="1400" kern="100" dirty="0">
                          <a:effectLst/>
                          <a:latin typeface="Arial" panose="020B0604020202020204" pitchFamily="34" charset="0"/>
                          <a:ea typeface="黑体" panose="02010609060101010101" pitchFamily="49" charset="-122"/>
                          <a:cs typeface="Arial" panose="020B0604020202020204" pitchFamily="34" charset="0"/>
                        </a:rPr>
                        <a:t>R</a:t>
                      </a:r>
                      <a:endParaRPr lang="zh-CN" sz="1400" kern="100" dirty="0">
                        <a:effectLst/>
                        <a:latin typeface="Arial" panose="020B0604020202020204" pitchFamily="34" charset="0"/>
                        <a:ea typeface="黑体" panose="02010609060101010101" pitchFamily="49" charset="-122"/>
                        <a:cs typeface="Arial" panose="020B0604020202020204" pitchFamily="34" charset="0"/>
                      </a:endParaRPr>
                    </a:p>
                  </a:txBody>
                  <a:tcPr marL="68580" marR="68580" marT="0" marB="0"/>
                </a:tc>
                <a:tc>
                  <a:txBody>
                    <a:bodyPr/>
                    <a:lstStyle/>
                    <a:p>
                      <a:pPr algn="l">
                        <a:spcAft>
                          <a:spcPts val="0"/>
                        </a:spcAft>
                      </a:pPr>
                      <a:r>
                        <a:rPr lang="en-US" sz="1400" kern="0" dirty="0">
                          <a:effectLst/>
                          <a:latin typeface="Arial" panose="020B0604020202020204" pitchFamily="34" charset="0"/>
                          <a:ea typeface="黑体" panose="02010609060101010101" pitchFamily="49" charset="-122"/>
                          <a:cs typeface="Arial" panose="020B0604020202020204" pitchFamily="34" charset="0"/>
                        </a:rPr>
                        <a:t>http</a:t>
                      </a:r>
                      <a:r>
                        <a:rPr lang="en-US" sz="1400" kern="0" dirty="0" smtClean="0">
                          <a:effectLst/>
                          <a:latin typeface="Arial" panose="020B0604020202020204" pitchFamily="34" charset="0"/>
                          <a:ea typeface="黑体" panose="02010609060101010101" pitchFamily="49" charset="-122"/>
                          <a:cs typeface="Arial" panose="020B0604020202020204" pitchFamily="34" charset="0"/>
                        </a:rPr>
                        <a:t>://www.bioconductor.org</a:t>
                      </a:r>
                      <a:endParaRPr lang="zh-CN" sz="1400" kern="100" dirty="0">
                        <a:effectLst/>
                        <a:latin typeface="Arial" panose="020B0604020202020204" pitchFamily="34" charset="0"/>
                        <a:ea typeface="黑体" panose="02010609060101010101" pitchFamily="49" charset="-122"/>
                        <a:cs typeface="Arial" panose="020B0604020202020204" pitchFamily="34" charset="0"/>
                      </a:endParaRPr>
                    </a:p>
                  </a:txBody>
                  <a:tcPr marL="68580" marR="68580" marT="0" marB="0"/>
                </a:tc>
                <a:extLst>
                  <a:ext uri="{0D108BD9-81ED-4DB2-BD59-A6C34878D82A}">
                    <a16:rowId xmlns:a16="http://schemas.microsoft.com/office/drawing/2014/main" val="10001"/>
                  </a:ext>
                </a:extLst>
              </a:tr>
              <a:tr h="370840">
                <a:tc>
                  <a:txBody>
                    <a:bodyPr/>
                    <a:lstStyle/>
                    <a:p>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Cluster3.0 and </a:t>
                      </a:r>
                      <a:r>
                        <a:rPr lang="en-US" altLang="zh-CN" sz="1400" b="0" i="0" u="none" strike="noStrike" kern="1200" baseline="0" dirty="0" err="1" smtClean="0">
                          <a:solidFill>
                            <a:schemeClr val="dk1"/>
                          </a:solidFill>
                          <a:latin typeface="Arial" panose="020B0604020202020204" pitchFamily="34" charset="0"/>
                          <a:ea typeface="黑体" panose="02010609060101010101" pitchFamily="49" charset="-122"/>
                          <a:cs typeface="Arial" panose="020B0604020202020204" pitchFamily="34" charset="0"/>
                        </a:rPr>
                        <a:t>TreeView</a:t>
                      </a:r>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 (2004) </a:t>
                      </a:r>
                    </a:p>
                    <a:p>
                      <a:r>
                        <a:rPr lang="zh-CN" altLang="en-US"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聚类与可视化工具</a:t>
                      </a:r>
                      <a:endParaRPr lang="zh-CN" altLang="en-US" sz="1400" dirty="0">
                        <a:latin typeface="Arial" panose="020B0604020202020204" pitchFamily="34" charset="0"/>
                        <a:ea typeface="黑体" panose="02010609060101010101" pitchFamily="49" charset="-122"/>
                        <a:cs typeface="Arial" panose="020B0604020202020204" pitchFamily="34" charset="0"/>
                      </a:endParaRPr>
                    </a:p>
                  </a:txBody>
                  <a:tcPr/>
                </a:tc>
                <a:tc>
                  <a:txBody>
                    <a:bodyPr/>
                    <a:lstStyle/>
                    <a:p>
                      <a:r>
                        <a:rPr lang="zh-CN" altLang="en-US"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层次、自组织映射、</a:t>
                      </a:r>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K-</a:t>
                      </a:r>
                      <a:r>
                        <a:rPr lang="zh-CN" altLang="en-US"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均值、</a:t>
                      </a:r>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K-</a:t>
                      </a:r>
                      <a:r>
                        <a:rPr lang="zh-CN" altLang="en-US"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中值；热图</a:t>
                      </a:r>
                      <a:endParaRPr lang="zh-CN" altLang="en-US" sz="1400" dirty="0">
                        <a:latin typeface="Arial" panose="020B0604020202020204" pitchFamily="34" charset="0"/>
                        <a:ea typeface="黑体" panose="02010609060101010101" pitchFamily="49" charset="-122"/>
                        <a:cs typeface="Arial" panose="020B0604020202020204" pitchFamily="34" charset="0"/>
                      </a:endParaRPr>
                    </a:p>
                  </a:txBody>
                  <a:tcPr/>
                </a:tc>
                <a:tc>
                  <a:txBody>
                    <a:bodyPr/>
                    <a:lstStyle/>
                    <a:p>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C++</a:t>
                      </a:r>
                      <a:endParaRPr lang="zh-CN" altLang="en-US" sz="1400" dirty="0">
                        <a:latin typeface="Arial" panose="020B0604020202020204" pitchFamily="34" charset="0"/>
                        <a:ea typeface="黑体" panose="02010609060101010101" pitchFamily="49" charset="-122"/>
                        <a:cs typeface="Arial" panose="020B0604020202020204" pitchFamily="34" charset="0"/>
                      </a:endParaRPr>
                    </a:p>
                  </a:txBody>
                  <a:tcPr/>
                </a:tc>
                <a:tc>
                  <a:txBody>
                    <a:bodyPr/>
                    <a:lstStyle/>
                    <a:p>
                      <a:r>
                        <a:rPr lang="fr-FR"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http://bonsai.ims.u-tokyo.ac.jp/</a:t>
                      </a:r>
                      <a:r>
                        <a:rPr lang="zh-CN" altLang="en-US"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a:t>
                      </a:r>
                      <a:r>
                        <a:rPr lang="en-US" altLang="zh-CN" sz="1400" b="0" i="0" u="none" strike="noStrike" kern="1200" baseline="0" dirty="0" err="1" smtClean="0">
                          <a:solidFill>
                            <a:schemeClr val="dk1"/>
                          </a:solidFill>
                          <a:latin typeface="Arial" panose="020B0604020202020204" pitchFamily="34" charset="0"/>
                          <a:ea typeface="黑体" panose="02010609060101010101" pitchFamily="49" charset="-122"/>
                          <a:cs typeface="Arial" panose="020B0604020202020204" pitchFamily="34" charset="0"/>
                        </a:rPr>
                        <a:t>mdehoon</a:t>
                      </a:r>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/software/cluster</a:t>
                      </a:r>
                      <a:endParaRPr lang="zh-CN" altLang="en-US" sz="1400" dirty="0">
                        <a:latin typeface="Arial" panose="020B0604020202020204" pitchFamily="34" charset="0"/>
                        <a:ea typeface="黑体" panose="02010609060101010101" pitchFamily="49" charset="-122"/>
                        <a:cs typeface="Arial" panose="020B0604020202020204" pitchFamily="34" charset="0"/>
                      </a:endParaRPr>
                    </a:p>
                  </a:txBody>
                  <a:tcPr/>
                </a:tc>
                <a:extLst>
                  <a:ext uri="{0D108BD9-81ED-4DB2-BD59-A6C34878D82A}">
                    <a16:rowId xmlns:a16="http://schemas.microsoft.com/office/drawing/2014/main" val="10002"/>
                  </a:ext>
                </a:extLst>
              </a:tr>
              <a:tr h="370840">
                <a:tc>
                  <a:txBody>
                    <a:bodyPr/>
                    <a:lstStyle/>
                    <a:p>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AMEN v1.1.7 (2009) </a:t>
                      </a:r>
                    </a:p>
                    <a:p>
                      <a:r>
                        <a:rPr lang="zh-CN" altLang="en-US"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注释、绘图、表达和网络工具</a:t>
                      </a:r>
                      <a:endParaRPr lang="zh-CN" altLang="en-US" sz="1400" dirty="0">
                        <a:latin typeface="Arial" panose="020B0604020202020204" pitchFamily="34" charset="0"/>
                        <a:ea typeface="黑体" panose="02010609060101010101" pitchFamily="49" charset="-122"/>
                        <a:cs typeface="Arial" panose="020B0604020202020204" pitchFamily="34" charset="0"/>
                      </a:endParaRPr>
                    </a:p>
                  </a:txBody>
                  <a:tcPr/>
                </a:tc>
                <a:tc>
                  <a:txBody>
                    <a:bodyPr/>
                    <a:lstStyle/>
                    <a:p>
                      <a:r>
                        <a:rPr lang="zh-CN" altLang="en-US"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预处理、探测与注释共表达基因组等；三种层次、四种划分算法等</a:t>
                      </a:r>
                      <a:endParaRPr lang="zh-CN" altLang="en-US" sz="1400" dirty="0">
                        <a:latin typeface="Arial" panose="020B0604020202020204" pitchFamily="34" charset="0"/>
                        <a:ea typeface="黑体" panose="02010609060101010101" pitchFamily="49" charset="-122"/>
                        <a:cs typeface="Arial" panose="020B0604020202020204" pitchFamily="34" charset="0"/>
                      </a:endParaRPr>
                    </a:p>
                  </a:txBody>
                  <a:tcPr/>
                </a:tc>
                <a:tc>
                  <a:txBody>
                    <a:bodyPr/>
                    <a:lstStyle/>
                    <a:p>
                      <a:r>
                        <a:rPr lang="en-US" altLang="zh-CN" sz="1400" b="0" i="0" u="none" strike="noStrike" kern="1200" baseline="0" dirty="0" err="1" smtClean="0">
                          <a:solidFill>
                            <a:schemeClr val="dk1"/>
                          </a:solidFill>
                          <a:latin typeface="Arial" panose="020B0604020202020204" pitchFamily="34" charset="0"/>
                          <a:ea typeface="黑体" panose="02010609060101010101" pitchFamily="49" charset="-122"/>
                          <a:cs typeface="Arial" panose="020B0604020202020204" pitchFamily="34" charset="0"/>
                        </a:rPr>
                        <a:t>Tcl</a:t>
                      </a:r>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a:t>
                      </a:r>
                      <a:r>
                        <a:rPr lang="en-US" altLang="zh-CN" sz="1400" b="0" i="0" u="none" strike="noStrike" kern="1200" baseline="0" dirty="0" err="1" smtClean="0">
                          <a:solidFill>
                            <a:schemeClr val="dk1"/>
                          </a:solidFill>
                          <a:latin typeface="Arial" panose="020B0604020202020204" pitchFamily="34" charset="0"/>
                          <a:ea typeface="黑体" panose="02010609060101010101" pitchFamily="49" charset="-122"/>
                          <a:cs typeface="Arial" panose="020B0604020202020204" pitchFamily="34" charset="0"/>
                        </a:rPr>
                        <a:t>Tk</a:t>
                      </a:r>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 R,</a:t>
                      </a:r>
                    </a:p>
                    <a:p>
                      <a:r>
                        <a:rPr lang="en-US" altLang="zh-CN" sz="1400" b="0" i="0" u="none" strike="noStrike" kern="1200" baseline="0" dirty="0" err="1" smtClean="0">
                          <a:solidFill>
                            <a:schemeClr val="dk1"/>
                          </a:solidFill>
                          <a:latin typeface="Arial" panose="020B0604020202020204" pitchFamily="34" charset="0"/>
                          <a:ea typeface="黑体" panose="02010609060101010101" pitchFamily="49" charset="-122"/>
                          <a:cs typeface="Arial" panose="020B0604020202020204" pitchFamily="34" charset="0"/>
                        </a:rPr>
                        <a:t>GraphViz</a:t>
                      </a:r>
                      <a:endParaRPr lang="zh-CN" altLang="en-US" sz="1400" dirty="0">
                        <a:latin typeface="Arial" panose="020B0604020202020204" pitchFamily="34" charset="0"/>
                        <a:ea typeface="黑体" panose="02010609060101010101" pitchFamily="49" charset="-122"/>
                        <a:cs typeface="Arial" panose="020B0604020202020204" pitchFamily="34" charset="0"/>
                      </a:endParaRPr>
                    </a:p>
                  </a:txBody>
                  <a:tcPr/>
                </a:tc>
                <a:tc>
                  <a:txBody>
                    <a:bodyPr/>
                    <a:lstStyle/>
                    <a:p>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http://sourceforge.net/projects/a2men</a:t>
                      </a:r>
                      <a:endParaRPr lang="zh-CN" altLang="en-US" sz="1400" dirty="0">
                        <a:latin typeface="Arial" panose="020B0604020202020204" pitchFamily="34" charset="0"/>
                        <a:ea typeface="黑体" panose="02010609060101010101" pitchFamily="49" charset="-122"/>
                        <a:cs typeface="Arial" panose="020B0604020202020204" pitchFamily="34" charset="0"/>
                      </a:endParaRPr>
                    </a:p>
                  </a:txBody>
                  <a:tcPr/>
                </a:tc>
                <a:extLst>
                  <a:ext uri="{0D108BD9-81ED-4DB2-BD59-A6C34878D82A}">
                    <a16:rowId xmlns:a16="http://schemas.microsoft.com/office/drawing/2014/main" val="10003"/>
                  </a:ext>
                </a:extLst>
              </a:tr>
              <a:tr h="370840">
                <a:tc>
                  <a:txBody>
                    <a:bodyPr/>
                    <a:lstStyle/>
                    <a:p>
                      <a:r>
                        <a:rPr lang="en-US" altLang="zh-CN" sz="1400" b="0" i="0" u="none" strike="noStrike" kern="1200" baseline="0" dirty="0" err="1" smtClean="0">
                          <a:solidFill>
                            <a:schemeClr val="dk1"/>
                          </a:solidFill>
                          <a:latin typeface="Arial" panose="020B0604020202020204" pitchFamily="34" charset="0"/>
                          <a:ea typeface="黑体" panose="02010609060101010101" pitchFamily="49" charset="-122"/>
                          <a:cs typeface="Arial" panose="020B0604020202020204" pitchFamily="34" charset="0"/>
                        </a:rPr>
                        <a:t>NeAT</a:t>
                      </a:r>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(2008)</a:t>
                      </a:r>
                    </a:p>
                    <a:p>
                      <a:r>
                        <a:rPr lang="zh-CN" altLang="en-US"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生物网络、聚类、分类等分析工具</a:t>
                      </a:r>
                      <a:endParaRPr lang="zh-CN" altLang="en-US" sz="1400" dirty="0">
                        <a:latin typeface="Arial" panose="020B0604020202020204" pitchFamily="34" charset="0"/>
                        <a:ea typeface="黑体" panose="02010609060101010101" pitchFamily="49" charset="-122"/>
                        <a:cs typeface="Arial" panose="020B0604020202020204" pitchFamily="34" charset="0"/>
                      </a:endParaRPr>
                    </a:p>
                  </a:txBody>
                  <a:tcPr/>
                </a:tc>
                <a:tc>
                  <a:txBody>
                    <a:bodyPr/>
                    <a:lstStyle/>
                    <a:p>
                      <a:r>
                        <a:rPr lang="zh-CN" altLang="en-US"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多种网络工具；图聚类、团发现、网络上簇绘图工具</a:t>
                      </a:r>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a:t>
                      </a:r>
                      <a:r>
                        <a:rPr lang="zh-CN" altLang="en-US"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聚类工具等</a:t>
                      </a:r>
                      <a:endParaRPr lang="zh-CN" altLang="en-US" sz="1400" dirty="0">
                        <a:latin typeface="Arial" panose="020B0604020202020204" pitchFamily="34" charset="0"/>
                        <a:ea typeface="黑体" panose="02010609060101010101" pitchFamily="49" charset="-122"/>
                        <a:cs typeface="Arial" panose="020B0604020202020204" pitchFamily="34" charset="0"/>
                      </a:endParaRPr>
                    </a:p>
                  </a:txBody>
                  <a:tcPr/>
                </a:tc>
                <a:tc>
                  <a:txBody>
                    <a:bodyPr/>
                    <a:lstStyle/>
                    <a:p>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Java</a:t>
                      </a:r>
                      <a:endParaRPr lang="zh-CN" altLang="en-US" sz="1400" dirty="0">
                        <a:latin typeface="Arial" panose="020B0604020202020204" pitchFamily="34" charset="0"/>
                        <a:ea typeface="黑体" panose="02010609060101010101" pitchFamily="49" charset="-122"/>
                        <a:cs typeface="Arial" panose="020B0604020202020204" pitchFamily="34" charset="0"/>
                      </a:endParaRPr>
                    </a:p>
                  </a:txBody>
                  <a:tcPr/>
                </a:tc>
                <a:tc>
                  <a:txBody>
                    <a:bodyPr/>
                    <a:lstStyle/>
                    <a:p>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http://rsat.ulb.ac.be/rsat/index_neat.html</a:t>
                      </a:r>
                      <a:endParaRPr lang="zh-CN" altLang="en-US" sz="1400" dirty="0">
                        <a:latin typeface="Arial" panose="020B0604020202020204" pitchFamily="34" charset="0"/>
                        <a:ea typeface="黑体" panose="02010609060101010101" pitchFamily="49" charset="-122"/>
                        <a:cs typeface="Arial" panose="020B0604020202020204" pitchFamily="34" charset="0"/>
                      </a:endParaRPr>
                    </a:p>
                  </a:txBody>
                  <a:tcPr/>
                </a:tc>
                <a:extLst>
                  <a:ext uri="{0D108BD9-81ED-4DB2-BD59-A6C34878D82A}">
                    <a16:rowId xmlns:a16="http://schemas.microsoft.com/office/drawing/2014/main" val="10004"/>
                  </a:ext>
                </a:extLst>
              </a:tr>
              <a:tr h="370840">
                <a:tc>
                  <a:txBody>
                    <a:bodyPr/>
                    <a:lstStyle/>
                    <a:p>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GEPAT(2007)</a:t>
                      </a:r>
                    </a:p>
                    <a:p>
                      <a:r>
                        <a:rPr lang="zh-CN" altLang="en-US"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基因组表达通路分析</a:t>
                      </a:r>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Web</a:t>
                      </a:r>
                      <a:r>
                        <a:rPr lang="zh-CN" altLang="en-US"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工具</a:t>
                      </a:r>
                      <a:endParaRPr lang="zh-CN" altLang="en-US" sz="1400" dirty="0">
                        <a:latin typeface="Arial" panose="020B0604020202020204" pitchFamily="34" charset="0"/>
                        <a:ea typeface="黑体" panose="02010609060101010101" pitchFamily="49" charset="-122"/>
                        <a:cs typeface="Arial" panose="020B0604020202020204" pitchFamily="34" charset="0"/>
                      </a:endParaRPr>
                    </a:p>
                  </a:txBody>
                  <a:tcPr/>
                </a:tc>
                <a:tc>
                  <a:txBody>
                    <a:bodyPr/>
                    <a:lstStyle/>
                    <a:p>
                      <a:r>
                        <a:rPr lang="zh-CN" altLang="en-US"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层次、</a:t>
                      </a:r>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K - </a:t>
                      </a:r>
                      <a:r>
                        <a:rPr lang="zh-CN" altLang="en-US"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均值、</a:t>
                      </a:r>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PCA </a:t>
                      </a:r>
                      <a:r>
                        <a:rPr lang="zh-CN" altLang="en-US"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分析</a:t>
                      </a:r>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 GO </a:t>
                      </a:r>
                      <a:r>
                        <a:rPr lang="zh-CN" altLang="en-US"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富集分析；</a:t>
                      </a:r>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KEGG</a:t>
                      </a:r>
                      <a:r>
                        <a:rPr lang="zh-CN" altLang="en-US"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、代谢通路等结果注释</a:t>
                      </a:r>
                      <a:endParaRPr lang="zh-CN" altLang="en-US" sz="1400" dirty="0">
                        <a:latin typeface="Arial" panose="020B0604020202020204" pitchFamily="34" charset="0"/>
                        <a:ea typeface="黑体" panose="02010609060101010101" pitchFamily="49" charset="-122"/>
                        <a:cs typeface="Arial" panose="020B0604020202020204" pitchFamily="34" charset="0"/>
                      </a:endParaRPr>
                    </a:p>
                  </a:txBody>
                  <a:tcPr/>
                </a:tc>
                <a:tc>
                  <a:txBody>
                    <a:bodyPr/>
                    <a:lstStyle/>
                    <a:p>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Java , R</a:t>
                      </a:r>
                      <a:endParaRPr lang="zh-CN" altLang="en-US" sz="1400" dirty="0">
                        <a:latin typeface="Arial" panose="020B0604020202020204" pitchFamily="34" charset="0"/>
                        <a:ea typeface="黑体" panose="02010609060101010101" pitchFamily="49" charset="-122"/>
                        <a:cs typeface="Arial" panose="020B0604020202020204" pitchFamily="34" charset="0"/>
                      </a:endParaRPr>
                    </a:p>
                  </a:txBody>
                  <a:tcPr/>
                </a:tc>
                <a:tc>
                  <a:txBody>
                    <a:bodyPr/>
                    <a:lstStyle/>
                    <a:p>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http://gepat.sourceforge.net</a:t>
                      </a:r>
                      <a:endParaRPr lang="zh-CN" altLang="en-US" sz="1400" dirty="0">
                        <a:latin typeface="Arial" panose="020B0604020202020204" pitchFamily="34" charset="0"/>
                        <a:ea typeface="黑体" panose="02010609060101010101" pitchFamily="49" charset="-122"/>
                        <a:cs typeface="Arial" panose="020B0604020202020204" pitchFamily="34" charset="0"/>
                      </a:endParaRPr>
                    </a:p>
                  </a:txBody>
                  <a:tcPr/>
                </a:tc>
                <a:extLst>
                  <a:ext uri="{0D108BD9-81ED-4DB2-BD59-A6C34878D82A}">
                    <a16:rowId xmlns:a16="http://schemas.microsoft.com/office/drawing/2014/main" val="10005"/>
                  </a:ext>
                </a:extLst>
              </a:tr>
              <a:tr h="370840">
                <a:tc>
                  <a:txBody>
                    <a:bodyPr/>
                    <a:lstStyle/>
                    <a:p>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AMIC@ (2008)</a:t>
                      </a:r>
                    </a:p>
                    <a:p>
                      <a:r>
                        <a:rPr lang="zh-CN" altLang="en-US"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聚类分析芯片数据的在线工具</a:t>
                      </a:r>
                      <a:endParaRPr lang="zh-CN" altLang="en-US" sz="1400" dirty="0">
                        <a:latin typeface="Arial" panose="020B0604020202020204" pitchFamily="34" charset="0"/>
                        <a:ea typeface="黑体" panose="02010609060101010101" pitchFamily="49" charset="-122"/>
                        <a:cs typeface="Arial" panose="020B0604020202020204" pitchFamily="34" charset="0"/>
                      </a:endParaRPr>
                    </a:p>
                  </a:txBody>
                  <a:tcPr/>
                </a:tc>
                <a:tc>
                  <a:txBody>
                    <a:bodyPr/>
                    <a:lstStyle/>
                    <a:p>
                      <a:r>
                        <a:rPr lang="zh-CN" altLang="en-US"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处理大数据集的</a:t>
                      </a:r>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K - Boost</a:t>
                      </a:r>
                      <a:r>
                        <a:rPr lang="zh-CN" altLang="en-US"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与</a:t>
                      </a:r>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FPF - SB5</a:t>
                      </a:r>
                      <a:r>
                        <a:rPr lang="zh-CN" altLang="en-US"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等多样配置的聚类算法</a:t>
                      </a:r>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a:t>
                      </a:r>
                      <a:r>
                        <a:rPr lang="zh-CN" altLang="en-US"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结果下载</a:t>
                      </a:r>
                      <a:endParaRPr lang="zh-CN" altLang="en-US" sz="1400" dirty="0">
                        <a:latin typeface="Arial" panose="020B0604020202020204" pitchFamily="34" charset="0"/>
                        <a:ea typeface="黑体" panose="02010609060101010101" pitchFamily="49" charset="-122"/>
                        <a:cs typeface="Arial" panose="020B0604020202020204" pitchFamily="34" charset="0"/>
                      </a:endParaRPr>
                    </a:p>
                  </a:txBody>
                  <a:tcPr/>
                </a:tc>
                <a:tc>
                  <a:txBody>
                    <a:bodyPr/>
                    <a:lstStyle/>
                    <a:p>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Java Scripts</a:t>
                      </a:r>
                      <a:endParaRPr lang="zh-CN" altLang="en-US" sz="1400" dirty="0">
                        <a:latin typeface="Arial" panose="020B0604020202020204" pitchFamily="34" charset="0"/>
                        <a:ea typeface="黑体" panose="02010609060101010101" pitchFamily="49" charset="-122"/>
                        <a:cs typeface="Arial" panose="020B0604020202020204" pitchFamily="34" charset="0"/>
                      </a:endParaRPr>
                    </a:p>
                  </a:txBody>
                  <a:tcPr/>
                </a:tc>
                <a:tc>
                  <a:txBody>
                    <a:bodyPr/>
                    <a:lstStyle/>
                    <a:p>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http://bioalgo.iit.cnr.it/amica</a:t>
                      </a:r>
                      <a:endParaRPr lang="zh-CN" altLang="en-US" sz="1400" dirty="0">
                        <a:latin typeface="Arial" panose="020B0604020202020204" pitchFamily="34" charset="0"/>
                        <a:ea typeface="黑体" panose="02010609060101010101" pitchFamily="49" charset="-122"/>
                        <a:cs typeface="Arial" panose="020B0604020202020204" pitchFamily="34" charset="0"/>
                      </a:endParaRPr>
                    </a:p>
                  </a:txBody>
                  <a:tcPr/>
                </a:tc>
                <a:extLst>
                  <a:ext uri="{0D108BD9-81ED-4DB2-BD59-A6C34878D82A}">
                    <a16:rowId xmlns:a16="http://schemas.microsoft.com/office/drawing/2014/main" val="10006"/>
                  </a:ext>
                </a:extLst>
              </a:tr>
              <a:tr h="370840">
                <a:tc>
                  <a:txBody>
                    <a:bodyPr/>
                    <a:lstStyle/>
                    <a:p>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Insightful S-PLUS v8. 0 (2007) </a:t>
                      </a:r>
                    </a:p>
                    <a:p>
                      <a:r>
                        <a:rPr lang="en-US" altLang="zh-CN" sz="1400" b="0" i="0" u="none" strike="noStrike" kern="1200" baseline="0" dirty="0" err="1" smtClean="0">
                          <a:solidFill>
                            <a:schemeClr val="dk1"/>
                          </a:solidFill>
                          <a:latin typeface="Arial" panose="020B0604020202020204" pitchFamily="34" charset="0"/>
                          <a:ea typeface="黑体" panose="02010609060101010101" pitchFamily="49" charset="-122"/>
                          <a:cs typeface="Arial" panose="020B0604020202020204" pitchFamily="34" charset="0"/>
                        </a:rPr>
                        <a:t>S+ArrayAnalyzer</a:t>
                      </a:r>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 v2. 0</a:t>
                      </a:r>
                      <a:r>
                        <a:rPr lang="zh-CN" altLang="en-US"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工具箱</a:t>
                      </a:r>
                      <a:endParaRPr lang="zh-CN" altLang="en-US" sz="1400" dirty="0">
                        <a:latin typeface="Arial" panose="020B0604020202020204" pitchFamily="34" charset="0"/>
                        <a:ea typeface="黑体" panose="02010609060101010101" pitchFamily="49" charset="-122"/>
                        <a:cs typeface="Arial" panose="020B0604020202020204" pitchFamily="34" charset="0"/>
                      </a:endParaRPr>
                    </a:p>
                  </a:txBody>
                  <a:tcPr/>
                </a:tc>
                <a:tc>
                  <a:txBody>
                    <a:bodyPr/>
                    <a:lstStyle/>
                    <a:p>
                      <a:r>
                        <a:rPr lang="zh-CN" altLang="en-US"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数据存取、质量控制、标准化、统计测试、多种聚类、可视化、注释等</a:t>
                      </a:r>
                      <a:endParaRPr lang="zh-CN" altLang="en-US" sz="1400" dirty="0">
                        <a:latin typeface="Arial" panose="020B0604020202020204" pitchFamily="34" charset="0"/>
                        <a:ea typeface="黑体" panose="02010609060101010101" pitchFamily="49" charset="-122"/>
                        <a:cs typeface="Arial" panose="020B0604020202020204" pitchFamily="34" charset="0"/>
                      </a:endParaRPr>
                    </a:p>
                  </a:txBody>
                  <a:tcPr/>
                </a:tc>
                <a:tc>
                  <a:txBody>
                    <a:bodyPr/>
                    <a:lstStyle/>
                    <a:p>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S</a:t>
                      </a:r>
                      <a:endParaRPr lang="zh-CN" altLang="en-US" sz="1400" dirty="0">
                        <a:latin typeface="Arial" panose="020B0604020202020204" pitchFamily="34" charset="0"/>
                        <a:ea typeface="黑体" panose="02010609060101010101" pitchFamily="49" charset="-122"/>
                        <a:cs typeface="Arial" panose="020B0604020202020204" pitchFamily="34" charset="0"/>
                      </a:endParaRPr>
                    </a:p>
                  </a:txBody>
                  <a:tcPr/>
                </a:tc>
                <a:tc>
                  <a:txBody>
                    <a:bodyPr/>
                    <a:lstStyle/>
                    <a:p>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http://www.insightful.com/prod2ucts/splus/default.asp</a:t>
                      </a:r>
                      <a:endParaRPr lang="zh-CN" altLang="en-US" sz="1400" dirty="0">
                        <a:latin typeface="Arial" panose="020B0604020202020204" pitchFamily="34" charset="0"/>
                        <a:ea typeface="黑体" panose="02010609060101010101" pitchFamily="49" charset="-122"/>
                        <a:cs typeface="Arial" panose="020B0604020202020204" pitchFamily="34" charset="0"/>
                      </a:endParaRPr>
                    </a:p>
                  </a:txBody>
                  <a:tcPr/>
                </a:tc>
                <a:extLst>
                  <a:ext uri="{0D108BD9-81ED-4DB2-BD59-A6C34878D82A}">
                    <a16:rowId xmlns:a16="http://schemas.microsoft.com/office/drawing/2014/main" val="10007"/>
                  </a:ext>
                </a:extLst>
              </a:tr>
              <a:tr h="370840">
                <a:tc>
                  <a:txBody>
                    <a:bodyPr/>
                    <a:lstStyle/>
                    <a:p>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GED I(2007)</a:t>
                      </a:r>
                    </a:p>
                    <a:p>
                      <a:r>
                        <a:rPr lang="zh-CN" altLang="en-US"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基因表达数据解释器</a:t>
                      </a:r>
                      <a:endParaRPr lang="zh-CN" altLang="en-US" sz="1400" dirty="0">
                        <a:latin typeface="Arial" panose="020B0604020202020204" pitchFamily="34" charset="0"/>
                        <a:ea typeface="黑体" panose="02010609060101010101" pitchFamily="49" charset="-122"/>
                        <a:cs typeface="Arial" panose="020B0604020202020204" pitchFamily="34" charset="0"/>
                      </a:endParaRPr>
                    </a:p>
                  </a:txBody>
                  <a:tcPr/>
                </a:tc>
                <a:tc>
                  <a:txBody>
                    <a:bodyPr/>
                    <a:lstStyle/>
                    <a:p>
                      <a:r>
                        <a:rPr lang="zh-CN" altLang="en-US"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数据标准化、差异表达基因识别、样本聚类与分类、基因调控网络构建</a:t>
                      </a:r>
                      <a:endParaRPr lang="zh-CN" altLang="en-US" sz="1400" dirty="0">
                        <a:latin typeface="Arial" panose="020B0604020202020204" pitchFamily="34" charset="0"/>
                        <a:ea typeface="黑体" panose="02010609060101010101" pitchFamily="49" charset="-122"/>
                        <a:cs typeface="Arial" panose="020B0604020202020204" pitchFamily="34" charset="0"/>
                      </a:endParaRPr>
                    </a:p>
                  </a:txBody>
                  <a:tcPr/>
                </a:tc>
                <a:tc>
                  <a:txBody>
                    <a:bodyPr/>
                    <a:lstStyle/>
                    <a:p>
                      <a:r>
                        <a:rPr lang="en-US" altLang="zh-CN" sz="1400" dirty="0" smtClean="0">
                          <a:latin typeface="Arial" panose="020B0604020202020204" pitchFamily="34" charset="0"/>
                          <a:ea typeface="黑体" panose="02010609060101010101" pitchFamily="49" charset="-122"/>
                          <a:cs typeface="Arial" panose="020B0604020202020204" pitchFamily="34" charset="0"/>
                        </a:rPr>
                        <a:t>R</a:t>
                      </a:r>
                      <a:endParaRPr lang="zh-CN" altLang="en-US" sz="1400" dirty="0">
                        <a:latin typeface="Arial" panose="020B0604020202020204" pitchFamily="34" charset="0"/>
                        <a:ea typeface="黑体" panose="02010609060101010101" pitchFamily="49" charset="-122"/>
                        <a:cs typeface="Arial" panose="020B0604020202020204" pitchFamily="34" charset="0"/>
                      </a:endParaRPr>
                    </a:p>
                  </a:txBody>
                  <a:tcPr/>
                </a:tc>
                <a:tc>
                  <a:txBody>
                    <a:bodyPr/>
                    <a:lstStyle/>
                    <a:p>
                      <a:r>
                        <a:rPr lang="fr-FR"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http://www.iq.usp.br/wwwdocen2</a:t>
                      </a:r>
                      <a:r>
                        <a:rPr lang="en-US" altLang="zh-CN" sz="1400" b="0" i="0" u="none" strike="noStrike" kern="1200" baseline="0" dirty="0" err="1" smtClean="0">
                          <a:solidFill>
                            <a:schemeClr val="dk1"/>
                          </a:solidFill>
                          <a:latin typeface="Arial" panose="020B0604020202020204" pitchFamily="34" charset="0"/>
                          <a:ea typeface="黑体" panose="02010609060101010101" pitchFamily="49" charset="-122"/>
                          <a:cs typeface="Arial" panose="020B0604020202020204" pitchFamily="34" charset="0"/>
                        </a:rPr>
                        <a:t>tes</a:t>
                      </a:r>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a:t>
                      </a:r>
                      <a:r>
                        <a:rPr lang="en-US" altLang="zh-CN" sz="1400" b="0" i="0" u="none" strike="noStrike" kern="1200" baseline="0" dirty="0" err="1" smtClean="0">
                          <a:solidFill>
                            <a:schemeClr val="dk1"/>
                          </a:solidFill>
                          <a:latin typeface="Arial" panose="020B0604020202020204" pitchFamily="34" charset="0"/>
                          <a:ea typeface="黑体" panose="02010609060101010101" pitchFamily="49" charset="-122"/>
                          <a:cs typeface="Arial" panose="020B0604020202020204" pitchFamily="34" charset="0"/>
                        </a:rPr>
                        <a:t>mcsoga</a:t>
                      </a:r>
                      <a:r>
                        <a:rPr lang="en-US" altLang="zh-CN" sz="1400" b="0" i="0" u="none" strike="noStrike" kern="1200" baseline="0" dirty="0" smtClean="0">
                          <a:solidFill>
                            <a:schemeClr val="dk1"/>
                          </a:solidFill>
                          <a:latin typeface="Arial" panose="020B0604020202020204" pitchFamily="34" charset="0"/>
                          <a:ea typeface="黑体" panose="02010609060101010101" pitchFamily="49" charset="-122"/>
                          <a:cs typeface="Arial" panose="020B0604020202020204" pitchFamily="34" charset="0"/>
                        </a:rPr>
                        <a:t>/</a:t>
                      </a:r>
                      <a:r>
                        <a:rPr lang="en-US" altLang="zh-CN" sz="1400" b="0" i="0" u="none" strike="noStrike" kern="1200" baseline="0" dirty="0" err="1" smtClean="0">
                          <a:solidFill>
                            <a:schemeClr val="dk1"/>
                          </a:solidFill>
                          <a:latin typeface="Arial" panose="020B0604020202020204" pitchFamily="34" charset="0"/>
                          <a:ea typeface="黑体" panose="02010609060101010101" pitchFamily="49" charset="-122"/>
                          <a:cs typeface="Arial" panose="020B0604020202020204" pitchFamily="34" charset="0"/>
                        </a:rPr>
                        <a:t>gedi</a:t>
                      </a:r>
                      <a:endParaRPr lang="zh-CN" altLang="en-US" sz="1400" dirty="0">
                        <a:latin typeface="Arial" panose="020B0604020202020204" pitchFamily="34" charset="0"/>
                        <a:ea typeface="黑体" panose="02010609060101010101" pitchFamily="49" charset="-122"/>
                        <a:cs typeface="Arial" panose="020B0604020202020204" pitchFamily="34" charset="0"/>
                      </a:endParaRP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53073396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47</a:t>
            </a:fld>
            <a:endParaRPr lang="zh-CN" altLang="en-US"/>
          </a:p>
        </p:txBody>
      </p:sp>
      <p:sp>
        <p:nvSpPr>
          <p:cNvPr id="3" name="内容占位符 2"/>
          <p:cNvSpPr txBox="1">
            <a:spLocks/>
          </p:cNvSpPr>
          <p:nvPr/>
        </p:nvSpPr>
        <p:spPr>
          <a:xfrm>
            <a:off x="457200" y="2348880"/>
            <a:ext cx="8229600" cy="1944216"/>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Tx/>
              <a:buSzPct val="60000"/>
              <a:buFont typeface="Wingdings" pitchFamily="2" charset="2"/>
              <a:buChar char="n"/>
              <a:tabLst/>
              <a:defRPr/>
            </a:pPr>
            <a:r>
              <a:rPr kumimoji="0" lang="zh-CN" altLang="en-US" sz="3600" b="1" i="0" u="none" strike="noStrike" kern="1200" cap="none" spc="0" normalizeH="0" baseline="0" noProof="0" dirty="0" smtClean="0">
                <a:ln>
                  <a:noFill/>
                </a:ln>
                <a:solidFill>
                  <a:schemeClr val="bg1">
                    <a:lumMod val="85000"/>
                  </a:schemeClr>
                </a:solidFill>
                <a:effectLst/>
                <a:uLnTx/>
                <a:uFillTx/>
                <a:latin typeface="黑体" pitchFamily="49" charset="-122"/>
                <a:ea typeface="黑体" pitchFamily="49" charset="-122"/>
                <a:cs typeface="+mn-cs"/>
              </a:rPr>
              <a:t>聚类分析</a:t>
            </a:r>
            <a:endParaRPr kumimoji="0" lang="en-US" altLang="zh-CN" sz="3600" b="1" i="0" u="none" strike="noStrike" kern="1200" cap="none" spc="0" normalizeH="0" baseline="0" noProof="0" dirty="0" smtClean="0">
              <a:ln>
                <a:noFill/>
              </a:ln>
              <a:solidFill>
                <a:schemeClr val="bg1">
                  <a:lumMod val="85000"/>
                </a:schemeClr>
              </a:solidFill>
              <a:effectLst/>
              <a:uLnTx/>
              <a:uFillTx/>
              <a:latin typeface="黑体" pitchFamily="49" charset="-122"/>
              <a:ea typeface="黑体" pitchFamily="49" charset="-122"/>
              <a:cs typeface="+mn-cs"/>
            </a:endParaRPr>
          </a:p>
          <a:p>
            <a:pPr marL="342900" marR="0" lvl="0" indent="-342900" algn="l" defTabSz="914400" rtl="0" eaLnBrk="0" fontAlgn="base" latinLnBrk="0" hangingPunct="0">
              <a:lnSpc>
                <a:spcPct val="100000"/>
              </a:lnSpc>
              <a:spcBef>
                <a:spcPct val="20000"/>
              </a:spcBef>
              <a:spcAft>
                <a:spcPct val="0"/>
              </a:spcAft>
              <a:buClrTx/>
              <a:buSzPct val="60000"/>
              <a:buFont typeface="Wingdings" pitchFamily="2" charset="2"/>
              <a:buChar char="n"/>
              <a:tabLst/>
              <a:defRPr/>
            </a:pPr>
            <a:r>
              <a:rPr kumimoji="0" lang="zh-CN" altLang="en-US" sz="3600" b="1" i="0" u="none" strike="noStrike" kern="1200" cap="none" spc="0" normalizeH="0" baseline="0" noProof="0" dirty="0" smtClean="0">
                <a:ln>
                  <a:noFill/>
                </a:ln>
                <a:solidFill>
                  <a:srgbClr val="000099"/>
                </a:solidFill>
                <a:effectLst/>
                <a:uLnTx/>
                <a:uFillTx/>
                <a:latin typeface="黑体" pitchFamily="49" charset="-122"/>
                <a:ea typeface="黑体" pitchFamily="49" charset="-122"/>
                <a:cs typeface="+mn-cs"/>
              </a:rPr>
              <a:t>分类与预测</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107504" y="476672"/>
            <a:ext cx="8856984" cy="6048672"/>
          </a:xfrm>
        </p:spPr>
        <p:txBody>
          <a:bodyPr/>
          <a:lstStyle/>
          <a:p>
            <a:pPr>
              <a:buFont typeface="Wingdings" pitchFamily="2" charset="2"/>
              <a:buChar char="n"/>
            </a:pPr>
            <a:r>
              <a:rPr lang="zh-CN" altLang="en-US" sz="2800" b="1" dirty="0" smtClean="0">
                <a:solidFill>
                  <a:srgbClr val="FF0000"/>
                </a:solidFill>
                <a:latin typeface="Arial" pitchFamily="34" charset="0"/>
                <a:ea typeface="黑体" pitchFamily="49" charset="-122"/>
                <a:cs typeface="Arial" pitchFamily="34" charset="0"/>
              </a:rPr>
              <a:t>分类（</a:t>
            </a:r>
            <a:r>
              <a:rPr lang="en-US" altLang="zh-CN" sz="2800" b="1" dirty="0" smtClean="0">
                <a:solidFill>
                  <a:srgbClr val="FF0000"/>
                </a:solidFill>
                <a:latin typeface="Arial" pitchFamily="34" charset="0"/>
                <a:ea typeface="黑体" pitchFamily="49" charset="-122"/>
                <a:cs typeface="Arial" pitchFamily="34" charset="0"/>
              </a:rPr>
              <a:t>Classification</a:t>
            </a:r>
            <a:r>
              <a:rPr lang="zh-CN" altLang="en-US" sz="2800" b="1" dirty="0" smtClean="0">
                <a:solidFill>
                  <a:srgbClr val="FF0000"/>
                </a:solidFill>
                <a:latin typeface="Arial" pitchFamily="34" charset="0"/>
                <a:ea typeface="黑体" pitchFamily="49" charset="-122"/>
                <a:cs typeface="Arial" pitchFamily="34" charset="0"/>
              </a:rPr>
              <a:t>）：</a:t>
            </a:r>
            <a:r>
              <a:rPr lang="zh-CN" altLang="en-US" sz="2800" dirty="0" smtClean="0">
                <a:latin typeface="Arial" pitchFamily="34" charset="0"/>
                <a:ea typeface="黑体" pitchFamily="49" charset="-122"/>
                <a:cs typeface="Arial" pitchFamily="34" charset="0"/>
              </a:rPr>
              <a:t>依据数据对象已知的属性将其进行归类。</a:t>
            </a:r>
            <a:endParaRPr lang="en-US" altLang="zh-CN" sz="2800" dirty="0" smtClean="0">
              <a:latin typeface="Arial" pitchFamily="34" charset="0"/>
              <a:ea typeface="黑体" pitchFamily="49" charset="-122"/>
              <a:cs typeface="Arial" pitchFamily="34" charset="0"/>
            </a:endParaRPr>
          </a:p>
          <a:p>
            <a:pPr lvl="1">
              <a:buFont typeface="Wingdings" pitchFamily="2" charset="2"/>
              <a:buChar char="n"/>
            </a:pPr>
            <a:r>
              <a:rPr lang="zh-CN" altLang="en-US" sz="2400" dirty="0" smtClean="0">
                <a:latin typeface="黑体" pitchFamily="49" charset="-122"/>
                <a:ea typeface="黑体" pitchFamily="49" charset="-122"/>
              </a:rPr>
              <a:t>确定分类标号；</a:t>
            </a:r>
          </a:p>
          <a:p>
            <a:pPr lvl="1">
              <a:buFont typeface="Wingdings" pitchFamily="2" charset="2"/>
              <a:buChar char="n"/>
            </a:pPr>
            <a:r>
              <a:rPr lang="zh-CN" altLang="en-US" sz="2400" dirty="0" smtClean="0">
                <a:latin typeface="黑体" pitchFamily="49" charset="-122"/>
                <a:ea typeface="黑体" pitchFamily="49" charset="-122"/>
              </a:rPr>
              <a:t>根据训练数据集和类标号，构建模型区分现有数据，并用来分类新数据。</a:t>
            </a:r>
            <a:endParaRPr lang="en-US" altLang="zh-CN" sz="2400" dirty="0" smtClean="0">
              <a:latin typeface="黑体" pitchFamily="49" charset="-122"/>
              <a:ea typeface="黑体" pitchFamily="49" charset="-122"/>
            </a:endParaRPr>
          </a:p>
          <a:p>
            <a:pPr>
              <a:buFont typeface="Wingdings" pitchFamily="2" charset="2"/>
              <a:buChar char="n"/>
            </a:pPr>
            <a:endParaRPr lang="en-US" altLang="zh-CN" sz="2800" dirty="0" smtClean="0">
              <a:latin typeface="黑体" pitchFamily="49" charset="-122"/>
              <a:ea typeface="黑体" pitchFamily="49" charset="-122"/>
            </a:endParaRPr>
          </a:p>
          <a:p>
            <a:pPr>
              <a:buFont typeface="Wingdings" pitchFamily="2" charset="2"/>
              <a:buChar char="n"/>
            </a:pPr>
            <a:r>
              <a:rPr lang="zh-CN" altLang="en-US" sz="2800" b="1" dirty="0" smtClean="0">
                <a:solidFill>
                  <a:srgbClr val="FF0000"/>
                </a:solidFill>
                <a:latin typeface="Arial" pitchFamily="34" charset="0"/>
                <a:ea typeface="黑体" pitchFamily="49" charset="-122"/>
                <a:cs typeface="Arial" pitchFamily="34" charset="0"/>
              </a:rPr>
              <a:t>预测（</a:t>
            </a:r>
            <a:r>
              <a:rPr lang="en-US" altLang="zh-CN" sz="2800" b="1" dirty="0" smtClean="0">
                <a:solidFill>
                  <a:srgbClr val="FF0000"/>
                </a:solidFill>
                <a:latin typeface="Arial" pitchFamily="34" charset="0"/>
                <a:ea typeface="黑体" pitchFamily="49" charset="-122"/>
                <a:cs typeface="Arial" pitchFamily="34" charset="0"/>
              </a:rPr>
              <a:t>Prediction</a:t>
            </a:r>
            <a:r>
              <a:rPr lang="zh-CN" altLang="en-US" sz="2800" b="1" dirty="0" smtClean="0">
                <a:solidFill>
                  <a:srgbClr val="FF0000"/>
                </a:solidFill>
                <a:latin typeface="Arial" pitchFamily="34" charset="0"/>
                <a:ea typeface="黑体" pitchFamily="49" charset="-122"/>
                <a:cs typeface="Arial" pitchFamily="34" charset="0"/>
              </a:rPr>
              <a:t>）：</a:t>
            </a:r>
            <a:endParaRPr lang="en-US" altLang="zh-CN" sz="2800" b="1" dirty="0" smtClean="0">
              <a:solidFill>
                <a:srgbClr val="FF0000"/>
              </a:solidFill>
              <a:latin typeface="Arial" pitchFamily="34" charset="0"/>
              <a:ea typeface="黑体" pitchFamily="49" charset="-122"/>
              <a:cs typeface="Arial" pitchFamily="34" charset="0"/>
            </a:endParaRPr>
          </a:p>
          <a:p>
            <a:pPr lvl="1">
              <a:buFont typeface="Wingdings" pitchFamily="2" charset="2"/>
              <a:buChar char="n"/>
            </a:pPr>
            <a:r>
              <a:rPr lang="zh-CN" altLang="en-US" sz="2400" dirty="0" smtClean="0">
                <a:latin typeface="黑体" pitchFamily="49" charset="-122"/>
                <a:ea typeface="黑体" pitchFamily="49" charset="-122"/>
              </a:rPr>
              <a:t>建立</a:t>
            </a:r>
            <a:r>
              <a:rPr lang="zh-CN" altLang="en-US" sz="2400" dirty="0" smtClean="0">
                <a:solidFill>
                  <a:srgbClr val="FF0000"/>
                </a:solidFill>
                <a:latin typeface="黑体" pitchFamily="49" charset="-122"/>
                <a:ea typeface="黑体" pitchFamily="49" charset="-122"/>
              </a:rPr>
              <a:t>连续</a:t>
            </a:r>
            <a:r>
              <a:rPr lang="zh-CN" altLang="en-US" sz="2400" dirty="0" smtClean="0">
                <a:latin typeface="黑体" pitchFamily="49" charset="-122"/>
                <a:ea typeface="黑体" pitchFamily="49" charset="-122"/>
              </a:rPr>
              <a:t>函数值模型，比如预测空缺值</a:t>
            </a:r>
          </a:p>
          <a:p>
            <a:pPr>
              <a:buFont typeface="Wingdings" pitchFamily="2" charset="2"/>
              <a:buChar char="n"/>
            </a:pPr>
            <a:endParaRPr lang="en-US" altLang="zh-CN" sz="2400" dirty="0" smtClean="0">
              <a:latin typeface="黑体" pitchFamily="49" charset="-122"/>
              <a:ea typeface="黑体" pitchFamily="49" charset="-122"/>
            </a:endParaRPr>
          </a:p>
          <a:p>
            <a:pPr>
              <a:buFont typeface="Wingdings" pitchFamily="2" charset="2"/>
              <a:buChar char="n"/>
            </a:pPr>
            <a:r>
              <a:rPr lang="zh-CN" altLang="en-US" sz="2800" dirty="0" smtClean="0">
                <a:latin typeface="黑体" pitchFamily="49" charset="-122"/>
                <a:ea typeface="黑体" pitchFamily="49" charset="-122"/>
              </a:rPr>
              <a:t>典型应用</a:t>
            </a:r>
            <a:endParaRPr lang="en-US" altLang="zh-CN" sz="2800" dirty="0" smtClean="0">
              <a:latin typeface="黑体" pitchFamily="49" charset="-122"/>
              <a:ea typeface="黑体" pitchFamily="49" charset="-122"/>
            </a:endParaRPr>
          </a:p>
          <a:p>
            <a:pPr lvl="1">
              <a:buFont typeface="Wingdings" pitchFamily="2" charset="2"/>
              <a:buChar char="n"/>
            </a:pPr>
            <a:r>
              <a:rPr lang="zh-CN" altLang="en-US" sz="2400" dirty="0" smtClean="0">
                <a:latin typeface="黑体" pitchFamily="49" charset="-122"/>
                <a:ea typeface="黑体" pitchFamily="49" charset="-122"/>
              </a:rPr>
              <a:t>性能预测</a:t>
            </a:r>
            <a:endParaRPr lang="en-US" altLang="zh-CN" sz="2400" dirty="0" smtClean="0">
              <a:latin typeface="黑体" pitchFamily="49" charset="-122"/>
              <a:ea typeface="黑体" pitchFamily="49" charset="-122"/>
            </a:endParaRPr>
          </a:p>
          <a:p>
            <a:pPr lvl="1">
              <a:buFont typeface="Wingdings" pitchFamily="2" charset="2"/>
              <a:buChar char="n"/>
            </a:pPr>
            <a:r>
              <a:rPr lang="zh-CN" altLang="en-US" sz="2400" dirty="0" smtClean="0">
                <a:latin typeface="黑体" pitchFamily="49" charset="-122"/>
                <a:ea typeface="黑体" pitchFamily="49" charset="-122"/>
              </a:rPr>
              <a:t>销售市场</a:t>
            </a:r>
          </a:p>
          <a:p>
            <a:pPr lvl="1">
              <a:buFont typeface="Wingdings" pitchFamily="2" charset="2"/>
              <a:buChar char="n"/>
            </a:pPr>
            <a:r>
              <a:rPr lang="zh-CN" altLang="en-US" sz="2400" dirty="0" smtClean="0">
                <a:latin typeface="黑体" pitchFamily="49" charset="-122"/>
                <a:ea typeface="黑体" pitchFamily="49" charset="-122"/>
              </a:rPr>
              <a:t>医疗诊断</a:t>
            </a:r>
          </a:p>
        </p:txBody>
      </p:sp>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latin typeface="黑体" pitchFamily="49" charset="-122"/>
                <a:ea typeface="黑体" pitchFamily="49" charset="-122"/>
              </a:rPr>
              <a:pPr>
                <a:defRPr/>
              </a:pPr>
              <a:t>48</a:t>
            </a:fld>
            <a:endParaRPr lang="zh-CN" altLang="en-US">
              <a:latin typeface="黑体" pitchFamily="49" charset="-122"/>
              <a:ea typeface="黑体" pitchFamily="49" charset="-122"/>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16632"/>
            <a:ext cx="8229600" cy="850106"/>
          </a:xfrm>
        </p:spPr>
        <p:txBody>
          <a:bodyPr/>
          <a:lstStyle/>
          <a:p>
            <a:r>
              <a:rPr lang="zh-CN" altLang="en-US" sz="3600" b="1" dirty="0" smtClean="0">
                <a:solidFill>
                  <a:srgbClr val="000099"/>
                </a:solidFill>
                <a:latin typeface="黑体" pitchFamily="49" charset="-122"/>
                <a:ea typeface="黑体" pitchFamily="49" charset="-122"/>
              </a:rPr>
              <a:t>一</a:t>
            </a:r>
            <a:r>
              <a:rPr lang="en-US" altLang="zh-CN" sz="3600" b="1" dirty="0" smtClean="0">
                <a:solidFill>
                  <a:srgbClr val="000099"/>
                </a:solidFill>
                <a:latin typeface="黑体" pitchFamily="49" charset="-122"/>
                <a:ea typeface="黑体" pitchFamily="49" charset="-122"/>
              </a:rPr>
              <a:t>. </a:t>
            </a:r>
            <a:r>
              <a:rPr lang="zh-CN" altLang="en-US" sz="3600" b="1" dirty="0" smtClean="0">
                <a:solidFill>
                  <a:srgbClr val="000099"/>
                </a:solidFill>
                <a:latin typeface="黑体" pitchFamily="49" charset="-122"/>
                <a:ea typeface="黑体" pitchFamily="49" charset="-122"/>
              </a:rPr>
              <a:t>数据分类的基本过程</a:t>
            </a:r>
            <a:endParaRPr lang="zh-CN" altLang="en-US" sz="3600" b="1" dirty="0">
              <a:solidFill>
                <a:srgbClr val="000099"/>
              </a:solidFill>
              <a:latin typeface="黑体" pitchFamily="49" charset="-122"/>
              <a:ea typeface="黑体" pitchFamily="49" charset="-122"/>
            </a:endParaRPr>
          </a:p>
        </p:txBody>
      </p:sp>
      <p:sp>
        <p:nvSpPr>
          <p:cNvPr id="3" name="内容占位符 2"/>
          <p:cNvSpPr>
            <a:spLocks noGrp="1"/>
          </p:cNvSpPr>
          <p:nvPr>
            <p:ph idx="1"/>
          </p:nvPr>
        </p:nvSpPr>
        <p:spPr>
          <a:xfrm>
            <a:off x="360040" y="1196752"/>
            <a:ext cx="8532440" cy="2952328"/>
          </a:xfrm>
        </p:spPr>
        <p:txBody>
          <a:bodyPr/>
          <a:lstStyle/>
          <a:p>
            <a:pPr>
              <a:buFont typeface="Wingdings" pitchFamily="2" charset="2"/>
              <a:buChar char="n"/>
            </a:pPr>
            <a:r>
              <a:rPr lang="zh-CN" altLang="en-US" sz="2400" dirty="0" smtClean="0">
                <a:solidFill>
                  <a:srgbClr val="FF0000"/>
                </a:solidFill>
                <a:latin typeface="Arial" pitchFamily="34" charset="0"/>
                <a:ea typeface="黑体" pitchFamily="49" charset="-122"/>
                <a:cs typeface="Arial" pitchFamily="34" charset="0"/>
              </a:rPr>
              <a:t>第一步：建立一个模型</a:t>
            </a:r>
            <a:r>
              <a:rPr lang="zh-CN" altLang="en-US" sz="2400" dirty="0" smtClean="0">
                <a:latin typeface="Arial" pitchFamily="34" charset="0"/>
                <a:ea typeface="黑体" pitchFamily="49" charset="-122"/>
                <a:cs typeface="Arial" pitchFamily="34" charset="0"/>
              </a:rPr>
              <a:t>，描述预定数据类集</a:t>
            </a:r>
            <a:endParaRPr lang="en-US" altLang="zh-CN" sz="2400" dirty="0" smtClean="0">
              <a:latin typeface="Arial" pitchFamily="34" charset="0"/>
              <a:ea typeface="黑体" pitchFamily="49" charset="-122"/>
              <a:cs typeface="Arial" pitchFamily="34" charset="0"/>
            </a:endParaRPr>
          </a:p>
          <a:p>
            <a:pPr lvl="1">
              <a:buFont typeface="Wingdings" pitchFamily="2" charset="2"/>
              <a:buChar char="n"/>
            </a:pPr>
            <a:r>
              <a:rPr lang="zh-CN" altLang="en-US" sz="2000" dirty="0" smtClean="0">
                <a:latin typeface="Arial" pitchFamily="34" charset="0"/>
                <a:ea typeface="黑体" pitchFamily="49" charset="-122"/>
                <a:cs typeface="Arial" pitchFamily="34" charset="0"/>
              </a:rPr>
              <a:t>确定训练样本和数据集；</a:t>
            </a:r>
            <a:endParaRPr lang="en-US" altLang="zh-CN" sz="2000" dirty="0" smtClean="0">
              <a:latin typeface="Arial" pitchFamily="34" charset="0"/>
              <a:ea typeface="黑体" pitchFamily="49" charset="-122"/>
              <a:cs typeface="Arial" pitchFamily="34" charset="0"/>
            </a:endParaRPr>
          </a:p>
          <a:p>
            <a:pPr lvl="1">
              <a:buFont typeface="Wingdings" pitchFamily="2" charset="2"/>
              <a:buChar char="n"/>
            </a:pPr>
            <a:r>
              <a:rPr lang="zh-CN" altLang="en-US" sz="2000" dirty="0" smtClean="0">
                <a:latin typeface="Arial" pitchFamily="34" charset="0"/>
                <a:ea typeface="黑体" pitchFamily="49" charset="-122"/>
                <a:cs typeface="Arial" pitchFamily="34" charset="0"/>
              </a:rPr>
              <a:t>学习模型可以用分类规则、判定树或数学公式的形式提供；</a:t>
            </a:r>
            <a:endParaRPr lang="en-US" altLang="zh-CN" sz="2000" dirty="0" smtClean="0">
              <a:latin typeface="Arial" pitchFamily="34" charset="0"/>
              <a:ea typeface="黑体" pitchFamily="49" charset="-122"/>
              <a:cs typeface="Arial" pitchFamily="34" charset="0"/>
            </a:endParaRPr>
          </a:p>
          <a:p>
            <a:pPr>
              <a:buFont typeface="Wingdings" pitchFamily="2" charset="2"/>
              <a:buChar char="n"/>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zh-CN" altLang="en-US" sz="2400" dirty="0" smtClean="0">
                <a:solidFill>
                  <a:srgbClr val="FF0000"/>
                </a:solidFill>
                <a:latin typeface="Arial" pitchFamily="34" charset="0"/>
                <a:ea typeface="黑体" pitchFamily="49" charset="-122"/>
                <a:cs typeface="Arial" pitchFamily="34" charset="0"/>
              </a:rPr>
              <a:t>第二步，使用模型</a:t>
            </a:r>
            <a:r>
              <a:rPr lang="zh-CN" altLang="en-US" sz="2400" dirty="0" smtClean="0">
                <a:latin typeface="Arial" pitchFamily="34" charset="0"/>
                <a:ea typeface="黑体" pitchFamily="49" charset="-122"/>
                <a:cs typeface="Arial" pitchFamily="34" charset="0"/>
              </a:rPr>
              <a:t>，对未知的对象进行分类</a:t>
            </a:r>
            <a:endParaRPr lang="en-US" altLang="zh-CN" sz="2400" dirty="0" smtClean="0">
              <a:latin typeface="Arial" pitchFamily="34" charset="0"/>
              <a:ea typeface="黑体" pitchFamily="49" charset="-122"/>
              <a:cs typeface="Arial" pitchFamily="34" charset="0"/>
            </a:endParaRPr>
          </a:p>
          <a:p>
            <a:pPr lvl="1">
              <a:buFont typeface="Wingdings" pitchFamily="2" charset="2"/>
              <a:buChar char="n"/>
            </a:pPr>
            <a:r>
              <a:rPr lang="zh-CN" altLang="en-US" sz="2000" dirty="0" smtClean="0">
                <a:latin typeface="Arial" pitchFamily="34" charset="0"/>
                <a:ea typeface="黑体" pitchFamily="49" charset="-122"/>
                <a:cs typeface="Arial" pitchFamily="34" charset="0"/>
              </a:rPr>
              <a:t>首先评估模型的预测准确率；</a:t>
            </a:r>
            <a:endParaRPr lang="en-US" altLang="zh-CN" sz="2000" dirty="0" smtClean="0">
              <a:latin typeface="Arial" pitchFamily="34" charset="0"/>
              <a:ea typeface="黑体" pitchFamily="49" charset="-122"/>
              <a:cs typeface="Arial" pitchFamily="34" charset="0"/>
            </a:endParaRPr>
          </a:p>
          <a:p>
            <a:pPr lvl="1">
              <a:buFont typeface="Wingdings" pitchFamily="2" charset="2"/>
              <a:buChar char="n"/>
            </a:pPr>
            <a:r>
              <a:rPr lang="zh-CN" altLang="en-US" sz="2000" dirty="0" smtClean="0">
                <a:latin typeface="Arial" pitchFamily="34" charset="0"/>
                <a:ea typeface="黑体" pitchFamily="49" charset="-122"/>
                <a:cs typeface="Arial" pitchFamily="34" charset="0"/>
              </a:rPr>
              <a:t>根据新模型来推出未知数据可能所属的类。</a:t>
            </a: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49</a:t>
            </a:fld>
            <a:endParaRPr lang="zh-CN" altLang="en-US"/>
          </a:p>
        </p:txBody>
      </p:sp>
      <p:sp>
        <p:nvSpPr>
          <p:cNvPr id="5" name="矩形 4"/>
          <p:cNvSpPr/>
          <p:nvPr/>
        </p:nvSpPr>
        <p:spPr>
          <a:xfrm>
            <a:off x="1043608" y="5157192"/>
            <a:ext cx="1008112" cy="1008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latin typeface="黑体" pitchFamily="49" charset="-122"/>
                <a:ea typeface="黑体" pitchFamily="49" charset="-122"/>
              </a:rPr>
              <a:t>正常</a:t>
            </a:r>
            <a:endParaRPr lang="zh-CN" altLang="en-US" sz="2000" b="1" dirty="0">
              <a:latin typeface="黑体" pitchFamily="49" charset="-122"/>
              <a:ea typeface="黑体" pitchFamily="49" charset="-122"/>
            </a:endParaRPr>
          </a:p>
        </p:txBody>
      </p:sp>
      <p:sp>
        <p:nvSpPr>
          <p:cNvPr id="6" name="矩形 5"/>
          <p:cNvSpPr/>
          <p:nvPr/>
        </p:nvSpPr>
        <p:spPr>
          <a:xfrm>
            <a:off x="2147731" y="5157192"/>
            <a:ext cx="336037" cy="1008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2771800" y="5157192"/>
            <a:ext cx="1008112" cy="10081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latin typeface="黑体" pitchFamily="49" charset="-122"/>
                <a:ea typeface="黑体" pitchFamily="49" charset="-122"/>
              </a:rPr>
              <a:t>疾病</a:t>
            </a:r>
            <a:endParaRPr lang="zh-CN" altLang="en-US" sz="2000" b="1" dirty="0">
              <a:latin typeface="黑体" pitchFamily="49" charset="-122"/>
              <a:ea typeface="黑体" pitchFamily="49" charset="-122"/>
            </a:endParaRPr>
          </a:p>
        </p:txBody>
      </p:sp>
      <p:sp>
        <p:nvSpPr>
          <p:cNvPr id="8" name="矩形 7"/>
          <p:cNvSpPr/>
          <p:nvPr/>
        </p:nvSpPr>
        <p:spPr>
          <a:xfrm>
            <a:off x="3875923" y="5157192"/>
            <a:ext cx="336037" cy="10081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箭头连接符 9"/>
          <p:cNvCxnSpPr/>
          <p:nvPr/>
        </p:nvCxnSpPr>
        <p:spPr>
          <a:xfrm>
            <a:off x="1043608" y="5013176"/>
            <a:ext cx="3240360"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827584" y="5157192"/>
            <a:ext cx="0" cy="1008112"/>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253261" y="5373216"/>
            <a:ext cx="646331" cy="369332"/>
          </a:xfrm>
          <a:prstGeom prst="rect">
            <a:avLst/>
          </a:prstGeom>
        </p:spPr>
        <p:txBody>
          <a:bodyPr wrap="none">
            <a:spAutoFit/>
          </a:bodyPr>
          <a:lstStyle/>
          <a:p>
            <a:r>
              <a:rPr lang="zh-CN" altLang="en-US" b="1" dirty="0" smtClean="0">
                <a:latin typeface="黑体" pitchFamily="49" charset="-122"/>
                <a:ea typeface="黑体" pitchFamily="49" charset="-122"/>
                <a:cs typeface="Arial" pitchFamily="34" charset="0"/>
              </a:rPr>
              <a:t>基因</a:t>
            </a:r>
            <a:endParaRPr lang="zh-CN" altLang="en-US" b="1" dirty="0">
              <a:latin typeface="黑体" pitchFamily="49" charset="-122"/>
              <a:ea typeface="黑体" pitchFamily="49" charset="-122"/>
            </a:endParaRPr>
          </a:p>
        </p:txBody>
      </p:sp>
      <p:sp>
        <p:nvSpPr>
          <p:cNvPr id="16" name="矩形 15"/>
          <p:cNvSpPr/>
          <p:nvPr/>
        </p:nvSpPr>
        <p:spPr>
          <a:xfrm>
            <a:off x="2413501" y="4643844"/>
            <a:ext cx="646331" cy="369332"/>
          </a:xfrm>
          <a:prstGeom prst="rect">
            <a:avLst/>
          </a:prstGeom>
        </p:spPr>
        <p:txBody>
          <a:bodyPr wrap="none">
            <a:spAutoFit/>
          </a:bodyPr>
          <a:lstStyle/>
          <a:p>
            <a:r>
              <a:rPr lang="zh-CN" altLang="en-US" b="1" dirty="0" smtClean="0">
                <a:latin typeface="黑体" pitchFamily="49" charset="-122"/>
                <a:ea typeface="黑体" pitchFamily="49" charset="-122"/>
              </a:rPr>
              <a:t>样本</a:t>
            </a:r>
            <a:endParaRPr lang="zh-CN" altLang="en-US" b="1" dirty="0">
              <a:latin typeface="黑体" pitchFamily="49" charset="-122"/>
              <a:ea typeface="黑体" pitchFamily="49" charset="-122"/>
            </a:endParaRPr>
          </a:p>
        </p:txBody>
      </p:sp>
      <p:sp>
        <p:nvSpPr>
          <p:cNvPr id="17" name="矩形 16"/>
          <p:cNvSpPr/>
          <p:nvPr/>
        </p:nvSpPr>
        <p:spPr>
          <a:xfrm>
            <a:off x="4499992" y="4437112"/>
            <a:ext cx="1080120" cy="1080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latin typeface="黑体" pitchFamily="49" charset="-122"/>
                <a:ea typeface="黑体" pitchFamily="49" charset="-122"/>
              </a:rPr>
              <a:t>正常</a:t>
            </a:r>
            <a:endParaRPr lang="zh-CN" altLang="en-US" sz="2000" b="1" dirty="0">
              <a:latin typeface="黑体" pitchFamily="49" charset="-122"/>
              <a:ea typeface="黑体" pitchFamily="49" charset="-122"/>
            </a:endParaRPr>
          </a:p>
        </p:txBody>
      </p:sp>
      <p:sp>
        <p:nvSpPr>
          <p:cNvPr id="18" name="矩形 17"/>
          <p:cNvSpPr/>
          <p:nvPr/>
        </p:nvSpPr>
        <p:spPr>
          <a:xfrm>
            <a:off x="5652120" y="4437112"/>
            <a:ext cx="1080120" cy="108012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latin typeface="黑体" pitchFamily="49" charset="-122"/>
                <a:ea typeface="黑体" pitchFamily="49" charset="-122"/>
              </a:rPr>
              <a:t>疾病</a:t>
            </a:r>
            <a:endParaRPr lang="zh-CN" altLang="en-US" sz="2000" b="1" dirty="0">
              <a:latin typeface="黑体" pitchFamily="49" charset="-122"/>
              <a:ea typeface="黑体" pitchFamily="49" charset="-122"/>
            </a:endParaRPr>
          </a:p>
        </p:txBody>
      </p:sp>
      <p:sp>
        <p:nvSpPr>
          <p:cNvPr id="19" name="矩形 18"/>
          <p:cNvSpPr/>
          <p:nvPr/>
        </p:nvSpPr>
        <p:spPr>
          <a:xfrm>
            <a:off x="4283968" y="6237312"/>
            <a:ext cx="1474448" cy="369332"/>
          </a:xfrm>
          <a:prstGeom prst="rect">
            <a:avLst/>
          </a:prstGeom>
        </p:spPr>
        <p:txBody>
          <a:bodyPr wrap="square">
            <a:spAutoFit/>
          </a:bodyPr>
          <a:lstStyle/>
          <a:p>
            <a:pPr algn="ctr"/>
            <a:r>
              <a:rPr lang="zh-CN" altLang="en-US" b="1" dirty="0" smtClean="0">
                <a:latin typeface="黑体" pitchFamily="49" charset="-122"/>
                <a:ea typeface="黑体" pitchFamily="49" charset="-122"/>
              </a:rPr>
              <a:t>建立模型</a:t>
            </a:r>
            <a:endParaRPr lang="zh-CN" altLang="en-US" b="1" dirty="0">
              <a:latin typeface="黑体" pitchFamily="49" charset="-122"/>
              <a:ea typeface="黑体" pitchFamily="49" charset="-122"/>
            </a:endParaRPr>
          </a:p>
        </p:txBody>
      </p:sp>
      <p:sp>
        <p:nvSpPr>
          <p:cNvPr id="20" name="下弧形箭头 19"/>
          <p:cNvSpPr/>
          <p:nvPr/>
        </p:nvSpPr>
        <p:spPr>
          <a:xfrm rot="20239732">
            <a:off x="4459553" y="5758423"/>
            <a:ext cx="1338115" cy="432048"/>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下弧形箭头 20"/>
          <p:cNvSpPr/>
          <p:nvPr/>
        </p:nvSpPr>
        <p:spPr>
          <a:xfrm rot="573377">
            <a:off x="6053035" y="5796178"/>
            <a:ext cx="1880525" cy="432048"/>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2" name="矩形 21"/>
          <p:cNvSpPr/>
          <p:nvPr/>
        </p:nvSpPr>
        <p:spPr>
          <a:xfrm>
            <a:off x="6444208" y="6228020"/>
            <a:ext cx="1474448" cy="369332"/>
          </a:xfrm>
          <a:prstGeom prst="rect">
            <a:avLst/>
          </a:prstGeom>
        </p:spPr>
        <p:txBody>
          <a:bodyPr wrap="square">
            <a:spAutoFit/>
          </a:bodyPr>
          <a:lstStyle/>
          <a:p>
            <a:pPr algn="ctr"/>
            <a:r>
              <a:rPr lang="zh-CN" altLang="en-US" b="1" dirty="0" smtClean="0">
                <a:latin typeface="黑体" pitchFamily="49" charset="-122"/>
                <a:ea typeface="黑体" pitchFamily="49" charset="-122"/>
              </a:rPr>
              <a:t>使用模型</a:t>
            </a:r>
            <a:endParaRPr lang="zh-CN" altLang="en-US" b="1" dirty="0">
              <a:latin typeface="黑体" pitchFamily="49" charset="-122"/>
              <a:ea typeface="黑体" pitchFamily="49" charset="-122"/>
            </a:endParaRPr>
          </a:p>
        </p:txBody>
      </p:sp>
      <p:sp>
        <p:nvSpPr>
          <p:cNvPr id="23" name="矩形 22"/>
          <p:cNvSpPr/>
          <p:nvPr/>
        </p:nvSpPr>
        <p:spPr>
          <a:xfrm>
            <a:off x="7452320" y="4797152"/>
            <a:ext cx="432048" cy="1008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8028384" y="4797152"/>
            <a:ext cx="288032" cy="10081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78098"/>
          </a:xfrm>
        </p:spPr>
        <p:txBody>
          <a:bodyPr/>
          <a:lstStyle/>
          <a:p>
            <a:r>
              <a:rPr lang="zh-CN" altLang="en-US" sz="3200" b="1" dirty="0" smtClean="0">
                <a:solidFill>
                  <a:srgbClr val="C00000"/>
                </a:solidFill>
                <a:latin typeface="Arial" pitchFamily="34" charset="0"/>
                <a:ea typeface="黑体" pitchFamily="49" charset="-122"/>
                <a:cs typeface="Arial" pitchFamily="34" charset="0"/>
              </a:rPr>
              <a:t>第一步：建立模型</a:t>
            </a:r>
            <a:endParaRPr lang="zh-CN" altLang="en-US" sz="3200" b="1" dirty="0">
              <a:solidFill>
                <a:srgbClr val="C00000"/>
              </a:solidFill>
              <a:latin typeface="Arial" pitchFamily="34" charset="0"/>
              <a:ea typeface="黑体" pitchFamily="49" charset="-122"/>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50</a:t>
            </a:fld>
            <a:endParaRPr lang="zh-CN" altLang="en-US"/>
          </a:p>
        </p:txBody>
      </p:sp>
      <p:graphicFrame>
        <p:nvGraphicFramePr>
          <p:cNvPr id="6" name="表格 5"/>
          <p:cNvGraphicFramePr>
            <a:graphicFrameLocks noGrp="1"/>
          </p:cNvGraphicFramePr>
          <p:nvPr/>
        </p:nvGraphicFramePr>
        <p:xfrm>
          <a:off x="179512" y="3429000"/>
          <a:ext cx="4752529" cy="2560320"/>
        </p:xfrm>
        <a:graphic>
          <a:graphicData uri="http://schemas.openxmlformats.org/drawingml/2006/table">
            <a:tbl>
              <a:tblPr firstRow="1" bandRow="1">
                <a:tableStyleId>{2D5ABB26-0587-4C30-8999-92F81FD0307C}</a:tableStyleId>
              </a:tblPr>
              <a:tblGrid>
                <a:gridCol w="856783">
                  <a:extLst>
                    <a:ext uri="{9D8B030D-6E8A-4147-A177-3AD203B41FA5}">
                      <a16:colId xmlns:a16="http://schemas.microsoft.com/office/drawing/2014/main" val="20000"/>
                    </a:ext>
                  </a:extLst>
                </a:gridCol>
                <a:gridCol w="1947988">
                  <a:extLst>
                    <a:ext uri="{9D8B030D-6E8A-4147-A177-3AD203B41FA5}">
                      <a16:colId xmlns:a16="http://schemas.microsoft.com/office/drawing/2014/main" val="20001"/>
                    </a:ext>
                  </a:extLst>
                </a:gridCol>
                <a:gridCol w="934924">
                  <a:extLst>
                    <a:ext uri="{9D8B030D-6E8A-4147-A177-3AD203B41FA5}">
                      <a16:colId xmlns:a16="http://schemas.microsoft.com/office/drawing/2014/main" val="20002"/>
                    </a:ext>
                  </a:extLst>
                </a:gridCol>
                <a:gridCol w="1012834">
                  <a:extLst>
                    <a:ext uri="{9D8B030D-6E8A-4147-A177-3AD203B41FA5}">
                      <a16:colId xmlns:a16="http://schemas.microsoft.com/office/drawing/2014/main" val="20003"/>
                    </a:ext>
                  </a:extLst>
                </a:gridCol>
              </a:tblGrid>
              <a:tr h="309119">
                <a:tc>
                  <a:txBody>
                    <a:bodyPr/>
                    <a:lstStyle/>
                    <a:p>
                      <a:r>
                        <a:rPr lang="en-US" altLang="zh-CN" dirty="0" smtClean="0">
                          <a:latin typeface="Arial" pitchFamily="34" charset="0"/>
                          <a:cs typeface="Arial" pitchFamily="34" charset="0"/>
                        </a:rPr>
                        <a:t>Name</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Rank</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Years</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Tenured</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09119">
                <a:tc>
                  <a:txBody>
                    <a:bodyPr/>
                    <a:lstStyle/>
                    <a:p>
                      <a:r>
                        <a:rPr lang="en-US" altLang="zh-CN" dirty="0" smtClean="0">
                          <a:latin typeface="Arial" pitchFamily="34" charset="0"/>
                          <a:cs typeface="Arial" pitchFamily="34" charset="0"/>
                        </a:rPr>
                        <a:t>Mike</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Assistant Prof</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3</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No</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09119">
                <a:tc>
                  <a:txBody>
                    <a:bodyPr/>
                    <a:lstStyle/>
                    <a:p>
                      <a:r>
                        <a:rPr lang="en-US" altLang="zh-CN" dirty="0" smtClean="0">
                          <a:latin typeface="Arial" pitchFamily="34" charset="0"/>
                          <a:cs typeface="Arial" pitchFamily="34" charset="0"/>
                        </a:rPr>
                        <a:t>Mary</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latin typeface="Arial" pitchFamily="34" charset="0"/>
                          <a:cs typeface="Arial" pitchFamily="34" charset="0"/>
                        </a:rPr>
                        <a:t>Assistant Prof</a:t>
                      </a:r>
                      <a:endParaRPr lang="zh-CN" altLang="en-US" dirty="0" smtClean="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7</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Yes</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09119">
                <a:tc>
                  <a:txBody>
                    <a:bodyPr/>
                    <a:lstStyle/>
                    <a:p>
                      <a:r>
                        <a:rPr lang="en-US" altLang="zh-CN" dirty="0" smtClean="0">
                          <a:latin typeface="Arial" pitchFamily="34" charset="0"/>
                          <a:cs typeface="Arial" pitchFamily="34" charset="0"/>
                        </a:rPr>
                        <a:t>Bill</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Professor</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2</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latin typeface="Arial" pitchFamily="34" charset="0"/>
                          <a:cs typeface="Arial" pitchFamily="34" charset="0"/>
                        </a:rPr>
                        <a:t>Yes</a:t>
                      </a:r>
                      <a:endParaRPr lang="zh-CN" altLang="en-US" dirty="0" smtClean="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09119">
                <a:tc>
                  <a:txBody>
                    <a:bodyPr/>
                    <a:lstStyle/>
                    <a:p>
                      <a:r>
                        <a:rPr lang="en-US" altLang="zh-CN" dirty="0" smtClean="0">
                          <a:latin typeface="Arial" pitchFamily="34" charset="0"/>
                          <a:cs typeface="Arial" pitchFamily="34" charset="0"/>
                        </a:rPr>
                        <a:t>Jim</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Associate Prof</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7</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latin typeface="Arial" pitchFamily="34" charset="0"/>
                          <a:cs typeface="Arial" pitchFamily="34" charset="0"/>
                        </a:rPr>
                        <a:t>Yes</a:t>
                      </a:r>
                      <a:endParaRPr lang="zh-CN" altLang="en-US" dirty="0" smtClean="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09119">
                <a:tc>
                  <a:txBody>
                    <a:bodyPr/>
                    <a:lstStyle/>
                    <a:p>
                      <a:r>
                        <a:rPr lang="en-US" altLang="zh-CN" sz="1800" kern="1200" baseline="0" dirty="0" smtClean="0">
                          <a:solidFill>
                            <a:schemeClr val="tx1"/>
                          </a:solidFill>
                          <a:latin typeface="Arial" pitchFamily="34" charset="0"/>
                          <a:ea typeface="+mn-ea"/>
                          <a:cs typeface="Arial" pitchFamily="34" charset="0"/>
                        </a:rPr>
                        <a:t>Dave</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latin typeface="Arial" pitchFamily="34" charset="0"/>
                          <a:cs typeface="Arial" pitchFamily="34" charset="0"/>
                        </a:rPr>
                        <a:t>Assistant Prof</a:t>
                      </a:r>
                      <a:endParaRPr lang="zh-CN" altLang="en-US" dirty="0" smtClean="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6</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No</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09119">
                <a:tc>
                  <a:txBody>
                    <a:bodyPr/>
                    <a:lstStyle/>
                    <a:p>
                      <a:r>
                        <a:rPr lang="en-US" altLang="zh-CN" dirty="0" smtClean="0">
                          <a:latin typeface="Arial" pitchFamily="34" charset="0"/>
                          <a:cs typeface="Arial" pitchFamily="34" charset="0"/>
                        </a:rPr>
                        <a:t>Anne</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latin typeface="Arial" pitchFamily="34" charset="0"/>
                          <a:cs typeface="Arial" pitchFamily="34" charset="0"/>
                        </a:rPr>
                        <a:t>Associate Prof</a:t>
                      </a:r>
                      <a:endParaRPr lang="zh-CN" altLang="en-US" dirty="0" smtClean="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3</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No</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流程图: 磁盘 6"/>
          <p:cNvSpPr/>
          <p:nvPr/>
        </p:nvSpPr>
        <p:spPr>
          <a:xfrm>
            <a:off x="1403648" y="1268760"/>
            <a:ext cx="2376264" cy="1512168"/>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2400" b="1" dirty="0" smtClean="0">
                <a:latin typeface="黑体" pitchFamily="49" charset="-122"/>
                <a:ea typeface="黑体" pitchFamily="49" charset="-122"/>
              </a:rPr>
              <a:t>训练数据集</a:t>
            </a:r>
            <a:endParaRPr lang="zh-CN" altLang="en-US" sz="2400" b="1" dirty="0">
              <a:latin typeface="黑体" pitchFamily="49" charset="-122"/>
              <a:ea typeface="黑体" pitchFamily="49" charset="-122"/>
            </a:endParaRPr>
          </a:p>
        </p:txBody>
      </p:sp>
      <p:sp>
        <p:nvSpPr>
          <p:cNvPr id="8" name="左大括号 7"/>
          <p:cNvSpPr/>
          <p:nvPr/>
        </p:nvSpPr>
        <p:spPr>
          <a:xfrm rot="5400000">
            <a:off x="2303748" y="728700"/>
            <a:ext cx="504056" cy="4752528"/>
          </a:xfrm>
          <a:prstGeom prst="leftBrace">
            <a:avLst>
              <a:gd name="adj1" fmla="val 57174"/>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右箭头 8"/>
          <p:cNvSpPr/>
          <p:nvPr/>
        </p:nvSpPr>
        <p:spPr>
          <a:xfrm>
            <a:off x="4139952" y="1916832"/>
            <a:ext cx="1368152"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5940152" y="1700808"/>
            <a:ext cx="1800200" cy="79208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sz="2400" b="1" dirty="0" smtClean="0">
                <a:latin typeface="黑体" pitchFamily="49" charset="-122"/>
                <a:ea typeface="黑体" pitchFamily="49" charset="-122"/>
              </a:rPr>
              <a:t>分类算法</a:t>
            </a:r>
            <a:endParaRPr lang="zh-CN" altLang="en-US" sz="2400" b="1" dirty="0">
              <a:latin typeface="黑体" pitchFamily="49" charset="-122"/>
              <a:ea typeface="黑体" pitchFamily="49" charset="-122"/>
            </a:endParaRPr>
          </a:p>
        </p:txBody>
      </p:sp>
      <p:sp>
        <p:nvSpPr>
          <p:cNvPr id="11" name="右箭头 10"/>
          <p:cNvSpPr/>
          <p:nvPr/>
        </p:nvSpPr>
        <p:spPr>
          <a:xfrm rot="5400000">
            <a:off x="6570222" y="2654914"/>
            <a:ext cx="612068"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5652120" y="4725144"/>
            <a:ext cx="2808312" cy="1152128"/>
          </a:xfrm>
          <a:prstGeom prst="rect">
            <a:avLst/>
          </a:prstGeom>
          <a:solidFill>
            <a:srgbClr val="00B05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altLang="zh-CN" sz="2000" dirty="0" smtClean="0">
                <a:latin typeface="Arial" pitchFamily="34" charset="0"/>
                <a:cs typeface="Arial" pitchFamily="34" charset="0"/>
              </a:rPr>
              <a:t>IF rank = ‘Professor’ </a:t>
            </a:r>
          </a:p>
          <a:p>
            <a:r>
              <a:rPr lang="en-US" altLang="zh-CN" sz="2000" dirty="0" smtClean="0">
                <a:latin typeface="Arial" pitchFamily="34" charset="0"/>
                <a:cs typeface="Arial" pitchFamily="34" charset="0"/>
              </a:rPr>
              <a:t>OR years &gt; 6 </a:t>
            </a:r>
          </a:p>
          <a:p>
            <a:r>
              <a:rPr lang="en-US" altLang="zh-CN" sz="2000" dirty="0" smtClean="0">
                <a:latin typeface="Arial" pitchFamily="34" charset="0"/>
                <a:cs typeface="Arial" pitchFamily="34" charset="0"/>
              </a:rPr>
              <a:t>THEN tenured = ‘yes’</a:t>
            </a:r>
            <a:endParaRPr lang="zh-CN" altLang="en-US" sz="2000" b="1" dirty="0">
              <a:latin typeface="Arial" pitchFamily="34" charset="0"/>
              <a:ea typeface="黑体" pitchFamily="49" charset="-122"/>
              <a:cs typeface="Arial" pitchFamily="34" charset="0"/>
            </a:endParaRPr>
          </a:p>
        </p:txBody>
      </p:sp>
      <p:sp>
        <p:nvSpPr>
          <p:cNvPr id="13" name="流程图: 磁盘 12"/>
          <p:cNvSpPr/>
          <p:nvPr/>
        </p:nvSpPr>
        <p:spPr>
          <a:xfrm>
            <a:off x="6012160" y="3212976"/>
            <a:ext cx="1728192" cy="1296144"/>
          </a:xfrm>
          <a:prstGeom prst="flowChartMagneticDisk">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b="1" dirty="0" smtClean="0">
                <a:latin typeface="黑体" pitchFamily="49" charset="-122"/>
                <a:ea typeface="黑体" pitchFamily="49" charset="-122"/>
              </a:rPr>
              <a:t>分类规则</a:t>
            </a:r>
            <a:endParaRPr lang="zh-CN" altLang="en-US" sz="2400" b="1" dirty="0">
              <a:latin typeface="黑体" pitchFamily="49" charset="-122"/>
              <a:ea typeface="黑体" pitchFamily="49" charset="-122"/>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51</a:t>
            </a:fld>
            <a:endParaRPr lang="zh-CN" altLang="en-US"/>
          </a:p>
        </p:txBody>
      </p:sp>
      <p:graphicFrame>
        <p:nvGraphicFramePr>
          <p:cNvPr id="5" name="表格 4"/>
          <p:cNvGraphicFramePr>
            <a:graphicFrameLocks noGrp="1"/>
          </p:cNvGraphicFramePr>
          <p:nvPr/>
        </p:nvGraphicFramePr>
        <p:xfrm>
          <a:off x="179512" y="3429000"/>
          <a:ext cx="4752529" cy="1828800"/>
        </p:xfrm>
        <a:graphic>
          <a:graphicData uri="http://schemas.openxmlformats.org/drawingml/2006/table">
            <a:tbl>
              <a:tblPr firstRow="1" bandRow="1">
                <a:tableStyleId>{2D5ABB26-0587-4C30-8999-92F81FD0307C}</a:tableStyleId>
              </a:tblPr>
              <a:tblGrid>
                <a:gridCol w="1008112">
                  <a:extLst>
                    <a:ext uri="{9D8B030D-6E8A-4147-A177-3AD203B41FA5}">
                      <a16:colId xmlns:a16="http://schemas.microsoft.com/office/drawing/2014/main" val="20000"/>
                    </a:ext>
                  </a:extLst>
                </a:gridCol>
                <a:gridCol w="1796659">
                  <a:extLst>
                    <a:ext uri="{9D8B030D-6E8A-4147-A177-3AD203B41FA5}">
                      <a16:colId xmlns:a16="http://schemas.microsoft.com/office/drawing/2014/main" val="20001"/>
                    </a:ext>
                  </a:extLst>
                </a:gridCol>
                <a:gridCol w="934924">
                  <a:extLst>
                    <a:ext uri="{9D8B030D-6E8A-4147-A177-3AD203B41FA5}">
                      <a16:colId xmlns:a16="http://schemas.microsoft.com/office/drawing/2014/main" val="20002"/>
                    </a:ext>
                  </a:extLst>
                </a:gridCol>
                <a:gridCol w="1012834">
                  <a:extLst>
                    <a:ext uri="{9D8B030D-6E8A-4147-A177-3AD203B41FA5}">
                      <a16:colId xmlns:a16="http://schemas.microsoft.com/office/drawing/2014/main" val="20003"/>
                    </a:ext>
                  </a:extLst>
                </a:gridCol>
              </a:tblGrid>
              <a:tr h="309119">
                <a:tc>
                  <a:txBody>
                    <a:bodyPr/>
                    <a:lstStyle/>
                    <a:p>
                      <a:r>
                        <a:rPr lang="en-US" altLang="zh-CN" dirty="0" smtClean="0">
                          <a:latin typeface="Arial" pitchFamily="34" charset="0"/>
                          <a:cs typeface="Arial" pitchFamily="34" charset="0"/>
                        </a:rPr>
                        <a:t>Name</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Rank</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Years</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Tenured</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09119">
                <a:tc>
                  <a:txBody>
                    <a:bodyPr/>
                    <a:lstStyle/>
                    <a:p>
                      <a:r>
                        <a:rPr lang="en-US" altLang="zh-CN" dirty="0" smtClean="0">
                          <a:latin typeface="Arial" pitchFamily="34" charset="0"/>
                          <a:cs typeface="Arial" pitchFamily="34" charset="0"/>
                        </a:rPr>
                        <a:t>Tom</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Assistant Prof</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2</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No</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09119">
                <a:tc>
                  <a:txBody>
                    <a:bodyPr/>
                    <a:lstStyle/>
                    <a:p>
                      <a:r>
                        <a:rPr lang="en-US" altLang="zh-CN" sz="1800" kern="1200" baseline="0" dirty="0" err="1" smtClean="0">
                          <a:solidFill>
                            <a:schemeClr val="tx1"/>
                          </a:solidFill>
                          <a:latin typeface="Arial" pitchFamily="34" charset="0"/>
                          <a:ea typeface="+mn-ea"/>
                          <a:cs typeface="Arial" pitchFamily="34" charset="0"/>
                        </a:rPr>
                        <a:t>Merlisa</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latin typeface="Arial" pitchFamily="34" charset="0"/>
                          <a:cs typeface="Arial" pitchFamily="34" charset="0"/>
                        </a:rPr>
                        <a:t>Associate Prof</a:t>
                      </a:r>
                      <a:endParaRPr lang="zh-CN" altLang="en-US" dirty="0" smtClean="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7</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No</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09119">
                <a:tc>
                  <a:txBody>
                    <a:bodyPr/>
                    <a:lstStyle/>
                    <a:p>
                      <a:r>
                        <a:rPr lang="en-US" altLang="zh-CN" dirty="0" smtClean="0">
                          <a:latin typeface="Arial" pitchFamily="34" charset="0"/>
                          <a:cs typeface="Arial" pitchFamily="34" charset="0"/>
                        </a:rPr>
                        <a:t>George</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Professor</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5</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latin typeface="Arial" pitchFamily="34" charset="0"/>
                          <a:cs typeface="Arial" pitchFamily="34" charset="0"/>
                        </a:rPr>
                        <a:t>Yes</a:t>
                      </a:r>
                      <a:endParaRPr lang="zh-CN" altLang="en-US" dirty="0" smtClean="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09119">
                <a:tc>
                  <a:txBody>
                    <a:bodyPr/>
                    <a:lstStyle/>
                    <a:p>
                      <a:r>
                        <a:rPr lang="en-US" altLang="zh-CN" dirty="0" smtClean="0">
                          <a:latin typeface="Arial" pitchFamily="34" charset="0"/>
                          <a:cs typeface="Arial" pitchFamily="34" charset="0"/>
                        </a:rPr>
                        <a:t>Joseph</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Assistant Prof</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7</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latin typeface="Arial" pitchFamily="34" charset="0"/>
                          <a:cs typeface="Arial" pitchFamily="34" charset="0"/>
                        </a:rPr>
                        <a:t>Yes</a:t>
                      </a:r>
                      <a:endParaRPr lang="zh-CN" altLang="en-US" dirty="0" smtClean="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流程图: 磁盘 5"/>
          <p:cNvSpPr/>
          <p:nvPr/>
        </p:nvSpPr>
        <p:spPr>
          <a:xfrm>
            <a:off x="1403648" y="1268760"/>
            <a:ext cx="2376264" cy="1512168"/>
          </a:xfrm>
          <a:prstGeom prst="flowChartMagneticDisk">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2400" b="1" dirty="0" smtClean="0">
                <a:latin typeface="黑体" pitchFamily="49" charset="-122"/>
                <a:ea typeface="黑体" pitchFamily="49" charset="-122"/>
              </a:rPr>
              <a:t>测试数据集</a:t>
            </a:r>
            <a:endParaRPr lang="zh-CN" altLang="en-US" sz="2400" b="1" dirty="0">
              <a:latin typeface="黑体" pitchFamily="49" charset="-122"/>
              <a:ea typeface="黑体" pitchFamily="49" charset="-122"/>
            </a:endParaRPr>
          </a:p>
        </p:txBody>
      </p:sp>
      <p:sp>
        <p:nvSpPr>
          <p:cNvPr id="7" name="左大括号 6"/>
          <p:cNvSpPr/>
          <p:nvPr/>
        </p:nvSpPr>
        <p:spPr>
          <a:xfrm rot="5400000">
            <a:off x="2303748" y="728700"/>
            <a:ext cx="504056" cy="4752528"/>
          </a:xfrm>
          <a:prstGeom prst="leftBrace">
            <a:avLst>
              <a:gd name="adj1" fmla="val 57174"/>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左右箭头 8"/>
          <p:cNvSpPr/>
          <p:nvPr/>
        </p:nvSpPr>
        <p:spPr>
          <a:xfrm rot="20851283">
            <a:off x="3892769" y="1675312"/>
            <a:ext cx="1152128" cy="50405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磁盘 9"/>
          <p:cNvSpPr/>
          <p:nvPr/>
        </p:nvSpPr>
        <p:spPr>
          <a:xfrm>
            <a:off x="5148064" y="1124744"/>
            <a:ext cx="1728192" cy="1296144"/>
          </a:xfrm>
          <a:prstGeom prst="flowChartMagneticDisk">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b="1" dirty="0" smtClean="0">
                <a:latin typeface="黑体" pitchFamily="49" charset="-122"/>
                <a:ea typeface="黑体" pitchFamily="49" charset="-122"/>
              </a:rPr>
              <a:t>分类规则</a:t>
            </a:r>
            <a:endParaRPr lang="zh-CN" altLang="en-US" sz="2400" b="1" dirty="0">
              <a:latin typeface="黑体" pitchFamily="49" charset="-122"/>
              <a:ea typeface="黑体" pitchFamily="49" charset="-122"/>
            </a:endParaRPr>
          </a:p>
        </p:txBody>
      </p:sp>
      <p:sp>
        <p:nvSpPr>
          <p:cNvPr id="11" name="左右箭头 10"/>
          <p:cNvSpPr/>
          <p:nvPr/>
        </p:nvSpPr>
        <p:spPr>
          <a:xfrm rot="2860976">
            <a:off x="5879438" y="2662667"/>
            <a:ext cx="1071477" cy="50405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流程图: 磁盘 11"/>
          <p:cNvSpPr/>
          <p:nvPr/>
        </p:nvSpPr>
        <p:spPr>
          <a:xfrm>
            <a:off x="6300192" y="3356992"/>
            <a:ext cx="1512168" cy="1224136"/>
          </a:xfrm>
          <a:prstGeom prst="flowChartMagneticDisk">
            <a:avLst/>
          </a:prstGeom>
          <a:solidFill>
            <a:srgbClr val="C0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2400" b="1" dirty="0" smtClean="0">
                <a:latin typeface="黑体" pitchFamily="49" charset="-122"/>
                <a:ea typeface="黑体" pitchFamily="49" charset="-122"/>
              </a:rPr>
              <a:t>未知数据</a:t>
            </a:r>
            <a:endParaRPr lang="zh-CN" altLang="en-US" sz="2400" b="1" dirty="0">
              <a:latin typeface="黑体" pitchFamily="49" charset="-122"/>
              <a:ea typeface="黑体" pitchFamily="49" charset="-122"/>
            </a:endParaRPr>
          </a:p>
        </p:txBody>
      </p:sp>
      <p:sp>
        <p:nvSpPr>
          <p:cNvPr id="13" name="矩形 12"/>
          <p:cNvSpPr/>
          <p:nvPr/>
        </p:nvSpPr>
        <p:spPr>
          <a:xfrm>
            <a:off x="5796136" y="4685074"/>
            <a:ext cx="2664296" cy="400110"/>
          </a:xfrm>
          <a:prstGeom prst="rect">
            <a:avLst/>
          </a:prstGeom>
        </p:spPr>
        <p:txBody>
          <a:bodyPr wrap="square">
            <a:spAutoFit/>
          </a:bodyPr>
          <a:lstStyle/>
          <a:p>
            <a:pPr algn="ctr"/>
            <a:r>
              <a:rPr lang="en-US" altLang="zh-CN" sz="2000" dirty="0" smtClean="0"/>
              <a:t>(Jeff, Professor, 4) </a:t>
            </a:r>
            <a:endParaRPr lang="zh-CN" altLang="en-US" sz="2000" dirty="0"/>
          </a:p>
        </p:txBody>
      </p:sp>
      <p:sp>
        <p:nvSpPr>
          <p:cNvPr id="14" name="矩形 13"/>
          <p:cNvSpPr/>
          <p:nvPr/>
        </p:nvSpPr>
        <p:spPr>
          <a:xfrm>
            <a:off x="6393512" y="5199583"/>
            <a:ext cx="1634872" cy="461665"/>
          </a:xfrm>
          <a:prstGeom prst="rect">
            <a:avLst/>
          </a:prstGeom>
        </p:spPr>
        <p:txBody>
          <a:bodyPr wrap="square">
            <a:spAutoFit/>
          </a:bodyPr>
          <a:lstStyle/>
          <a:p>
            <a:pPr algn="ctr"/>
            <a:r>
              <a:rPr lang="en-US" altLang="zh-CN" sz="2400" b="1" dirty="0" smtClean="0">
                <a:solidFill>
                  <a:srgbClr val="FF0000"/>
                </a:solidFill>
              </a:rPr>
              <a:t>Tenured?</a:t>
            </a:r>
            <a:endParaRPr lang="zh-CN" altLang="en-US" sz="2400" b="1" dirty="0">
              <a:solidFill>
                <a:srgbClr val="FF0000"/>
              </a:solidFill>
            </a:endParaRPr>
          </a:p>
        </p:txBody>
      </p:sp>
      <p:sp>
        <p:nvSpPr>
          <p:cNvPr id="15" name="标题 1"/>
          <p:cNvSpPr>
            <a:spLocks noGrp="1"/>
          </p:cNvSpPr>
          <p:nvPr>
            <p:ph type="title"/>
          </p:nvPr>
        </p:nvSpPr>
        <p:spPr>
          <a:xfrm>
            <a:off x="457200" y="274638"/>
            <a:ext cx="8229600" cy="778098"/>
          </a:xfrm>
        </p:spPr>
        <p:txBody>
          <a:bodyPr/>
          <a:lstStyle/>
          <a:p>
            <a:r>
              <a:rPr lang="zh-CN" altLang="en-US" sz="3200" b="1" dirty="0" smtClean="0">
                <a:solidFill>
                  <a:srgbClr val="C00000"/>
                </a:solidFill>
                <a:latin typeface="Arial" pitchFamily="34" charset="0"/>
                <a:ea typeface="黑体" pitchFamily="49" charset="-122"/>
                <a:cs typeface="Arial" pitchFamily="34" charset="0"/>
              </a:rPr>
              <a:t>第</a:t>
            </a:r>
            <a:r>
              <a:rPr lang="zh-CN" altLang="en-US" sz="3200" b="1" dirty="0">
                <a:solidFill>
                  <a:srgbClr val="C00000"/>
                </a:solidFill>
                <a:latin typeface="Arial" pitchFamily="34" charset="0"/>
                <a:ea typeface="黑体" pitchFamily="49" charset="-122"/>
                <a:cs typeface="Arial" pitchFamily="34" charset="0"/>
              </a:rPr>
              <a:t>二</a:t>
            </a:r>
            <a:r>
              <a:rPr lang="zh-CN" altLang="en-US" sz="3200" b="1" dirty="0" smtClean="0">
                <a:solidFill>
                  <a:srgbClr val="C00000"/>
                </a:solidFill>
                <a:latin typeface="Arial" pitchFamily="34" charset="0"/>
                <a:ea typeface="黑体" pitchFamily="49" charset="-122"/>
                <a:cs typeface="Arial" pitchFamily="34" charset="0"/>
              </a:rPr>
              <a:t>步：使用模型</a:t>
            </a:r>
            <a:endParaRPr lang="zh-CN" altLang="en-US" sz="3200" b="1" dirty="0">
              <a:solidFill>
                <a:srgbClr val="C00000"/>
              </a:solidFill>
              <a:latin typeface="Arial" pitchFamily="34" charset="0"/>
              <a:ea typeface="黑体" pitchFamily="49" charset="-122"/>
              <a:cs typeface="Arial" pitchFamily="34" charset="0"/>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表格 14"/>
          <p:cNvGraphicFramePr>
            <a:graphicFrameLocks noGrp="1"/>
          </p:cNvGraphicFramePr>
          <p:nvPr/>
        </p:nvGraphicFramePr>
        <p:xfrm>
          <a:off x="179512" y="3429000"/>
          <a:ext cx="4752529" cy="1828800"/>
        </p:xfrm>
        <a:graphic>
          <a:graphicData uri="http://schemas.openxmlformats.org/drawingml/2006/table">
            <a:tbl>
              <a:tblPr firstRow="1" bandRow="1">
                <a:tableStyleId>{2D5ABB26-0587-4C30-8999-92F81FD0307C}</a:tableStyleId>
              </a:tblPr>
              <a:tblGrid>
                <a:gridCol w="1008112">
                  <a:extLst>
                    <a:ext uri="{9D8B030D-6E8A-4147-A177-3AD203B41FA5}">
                      <a16:colId xmlns:a16="http://schemas.microsoft.com/office/drawing/2014/main" val="20000"/>
                    </a:ext>
                  </a:extLst>
                </a:gridCol>
                <a:gridCol w="1796659">
                  <a:extLst>
                    <a:ext uri="{9D8B030D-6E8A-4147-A177-3AD203B41FA5}">
                      <a16:colId xmlns:a16="http://schemas.microsoft.com/office/drawing/2014/main" val="20001"/>
                    </a:ext>
                  </a:extLst>
                </a:gridCol>
                <a:gridCol w="934924">
                  <a:extLst>
                    <a:ext uri="{9D8B030D-6E8A-4147-A177-3AD203B41FA5}">
                      <a16:colId xmlns:a16="http://schemas.microsoft.com/office/drawing/2014/main" val="20002"/>
                    </a:ext>
                  </a:extLst>
                </a:gridCol>
                <a:gridCol w="1012834">
                  <a:extLst>
                    <a:ext uri="{9D8B030D-6E8A-4147-A177-3AD203B41FA5}">
                      <a16:colId xmlns:a16="http://schemas.microsoft.com/office/drawing/2014/main" val="20003"/>
                    </a:ext>
                  </a:extLst>
                </a:gridCol>
              </a:tblGrid>
              <a:tr h="309119">
                <a:tc>
                  <a:txBody>
                    <a:bodyPr/>
                    <a:lstStyle/>
                    <a:p>
                      <a:r>
                        <a:rPr lang="en-US" altLang="zh-CN" dirty="0" smtClean="0">
                          <a:latin typeface="Arial" pitchFamily="34" charset="0"/>
                          <a:cs typeface="Arial" pitchFamily="34" charset="0"/>
                        </a:rPr>
                        <a:t>Name</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Rank</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Years</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Tenured</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09119">
                <a:tc>
                  <a:txBody>
                    <a:bodyPr/>
                    <a:lstStyle/>
                    <a:p>
                      <a:r>
                        <a:rPr lang="en-US" altLang="zh-CN" dirty="0" smtClean="0">
                          <a:latin typeface="Arial" pitchFamily="34" charset="0"/>
                          <a:cs typeface="Arial" pitchFamily="34" charset="0"/>
                        </a:rPr>
                        <a:t>Tom</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Assistant Prof</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2</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No</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09119">
                <a:tc>
                  <a:txBody>
                    <a:bodyPr/>
                    <a:lstStyle/>
                    <a:p>
                      <a:r>
                        <a:rPr lang="en-US" altLang="zh-CN" sz="1800" kern="1200" baseline="0" dirty="0" err="1" smtClean="0">
                          <a:solidFill>
                            <a:schemeClr val="tx1"/>
                          </a:solidFill>
                          <a:latin typeface="Arial" pitchFamily="34" charset="0"/>
                          <a:ea typeface="+mn-ea"/>
                          <a:cs typeface="Arial" pitchFamily="34" charset="0"/>
                        </a:rPr>
                        <a:t>Merlisa</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latin typeface="Arial" pitchFamily="34" charset="0"/>
                          <a:cs typeface="Arial" pitchFamily="34" charset="0"/>
                        </a:rPr>
                        <a:t>Associate Prof</a:t>
                      </a:r>
                      <a:endParaRPr lang="zh-CN" altLang="en-US" dirty="0" smtClean="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7</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No</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09119">
                <a:tc>
                  <a:txBody>
                    <a:bodyPr/>
                    <a:lstStyle/>
                    <a:p>
                      <a:r>
                        <a:rPr lang="en-US" altLang="zh-CN" dirty="0" smtClean="0">
                          <a:latin typeface="Arial" pitchFamily="34" charset="0"/>
                          <a:cs typeface="Arial" pitchFamily="34" charset="0"/>
                        </a:rPr>
                        <a:t>George</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Professor</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5</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latin typeface="Arial" pitchFamily="34" charset="0"/>
                          <a:cs typeface="Arial" pitchFamily="34" charset="0"/>
                        </a:rPr>
                        <a:t>Yes</a:t>
                      </a:r>
                      <a:endParaRPr lang="zh-CN" altLang="en-US" dirty="0" smtClean="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09119">
                <a:tc>
                  <a:txBody>
                    <a:bodyPr/>
                    <a:lstStyle/>
                    <a:p>
                      <a:r>
                        <a:rPr lang="en-US" altLang="zh-CN" dirty="0" smtClean="0">
                          <a:latin typeface="Arial" pitchFamily="34" charset="0"/>
                          <a:cs typeface="Arial" pitchFamily="34" charset="0"/>
                        </a:rPr>
                        <a:t>Joseph</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Assistant Prof</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dirty="0" smtClean="0">
                          <a:latin typeface="Arial" pitchFamily="34" charset="0"/>
                          <a:cs typeface="Arial" pitchFamily="34" charset="0"/>
                        </a:rPr>
                        <a:t>7</a:t>
                      </a:r>
                      <a:endParaRPr lang="zh-CN" altLang="en-US"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latin typeface="Arial" pitchFamily="34" charset="0"/>
                          <a:cs typeface="Arial" pitchFamily="34" charset="0"/>
                        </a:rPr>
                        <a:t>Yes</a:t>
                      </a:r>
                      <a:endParaRPr lang="zh-CN" altLang="en-US" dirty="0" smtClean="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6" name="流程图: 磁盘 15"/>
          <p:cNvSpPr/>
          <p:nvPr/>
        </p:nvSpPr>
        <p:spPr>
          <a:xfrm>
            <a:off x="1403648" y="1268760"/>
            <a:ext cx="2376264" cy="1512168"/>
          </a:xfrm>
          <a:prstGeom prst="flowChartMagneticDisk">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2400" b="1" dirty="0" smtClean="0">
                <a:latin typeface="黑体" pitchFamily="49" charset="-122"/>
                <a:ea typeface="黑体" pitchFamily="49" charset="-122"/>
              </a:rPr>
              <a:t>测试数据集</a:t>
            </a:r>
            <a:endParaRPr lang="zh-CN" altLang="en-US" sz="2400" b="1" dirty="0">
              <a:latin typeface="黑体" pitchFamily="49" charset="-122"/>
              <a:ea typeface="黑体" pitchFamily="49" charset="-122"/>
            </a:endParaRPr>
          </a:p>
        </p:txBody>
      </p:sp>
      <p:sp>
        <p:nvSpPr>
          <p:cNvPr id="17" name="左大括号 16"/>
          <p:cNvSpPr/>
          <p:nvPr/>
        </p:nvSpPr>
        <p:spPr>
          <a:xfrm rot="5400000">
            <a:off x="2303748" y="728700"/>
            <a:ext cx="504056" cy="4752528"/>
          </a:xfrm>
          <a:prstGeom prst="leftBrace">
            <a:avLst>
              <a:gd name="adj1" fmla="val 57174"/>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左右箭头 17"/>
          <p:cNvSpPr/>
          <p:nvPr/>
        </p:nvSpPr>
        <p:spPr>
          <a:xfrm rot="20851283">
            <a:off x="3892769" y="1675312"/>
            <a:ext cx="1152128" cy="50405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流程图: 磁盘 18"/>
          <p:cNvSpPr/>
          <p:nvPr/>
        </p:nvSpPr>
        <p:spPr>
          <a:xfrm>
            <a:off x="5148064" y="1124744"/>
            <a:ext cx="1728192" cy="1296144"/>
          </a:xfrm>
          <a:prstGeom prst="flowChartMagneticDisk">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b="1" dirty="0" smtClean="0">
                <a:latin typeface="黑体" pitchFamily="49" charset="-122"/>
                <a:ea typeface="黑体" pitchFamily="49" charset="-122"/>
              </a:rPr>
              <a:t>分类规则</a:t>
            </a:r>
            <a:endParaRPr lang="zh-CN" altLang="en-US" sz="2400" b="1" dirty="0">
              <a:latin typeface="黑体" pitchFamily="49" charset="-122"/>
              <a:ea typeface="黑体" pitchFamily="49" charset="-122"/>
            </a:endParaRPr>
          </a:p>
        </p:txBody>
      </p:sp>
      <p:sp>
        <p:nvSpPr>
          <p:cNvPr id="20" name="左右箭头 19"/>
          <p:cNvSpPr/>
          <p:nvPr/>
        </p:nvSpPr>
        <p:spPr>
          <a:xfrm rot="2860976">
            <a:off x="5879438" y="2662667"/>
            <a:ext cx="1071477" cy="50405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流程图: 磁盘 20"/>
          <p:cNvSpPr/>
          <p:nvPr/>
        </p:nvSpPr>
        <p:spPr>
          <a:xfrm>
            <a:off x="6300192" y="3356992"/>
            <a:ext cx="1512168" cy="1224136"/>
          </a:xfrm>
          <a:prstGeom prst="flowChartMagneticDisk">
            <a:avLst/>
          </a:prstGeom>
          <a:solidFill>
            <a:srgbClr val="C0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2400" b="1" dirty="0" smtClean="0">
                <a:latin typeface="黑体" pitchFamily="49" charset="-122"/>
                <a:ea typeface="黑体" pitchFamily="49" charset="-122"/>
              </a:rPr>
              <a:t>未知数据</a:t>
            </a:r>
            <a:endParaRPr lang="zh-CN" altLang="en-US" sz="2400" b="1" dirty="0">
              <a:latin typeface="黑体" pitchFamily="49" charset="-122"/>
              <a:ea typeface="黑体" pitchFamily="49" charset="-122"/>
            </a:endParaRPr>
          </a:p>
        </p:txBody>
      </p:sp>
      <p:sp>
        <p:nvSpPr>
          <p:cNvPr id="22" name="矩形 21"/>
          <p:cNvSpPr/>
          <p:nvPr/>
        </p:nvSpPr>
        <p:spPr>
          <a:xfrm>
            <a:off x="5796136" y="4685074"/>
            <a:ext cx="2664296" cy="400110"/>
          </a:xfrm>
          <a:prstGeom prst="rect">
            <a:avLst/>
          </a:prstGeom>
        </p:spPr>
        <p:txBody>
          <a:bodyPr wrap="square">
            <a:spAutoFit/>
          </a:bodyPr>
          <a:lstStyle/>
          <a:p>
            <a:pPr algn="ctr"/>
            <a:r>
              <a:rPr lang="en-US" altLang="zh-CN" sz="2000" dirty="0" smtClean="0"/>
              <a:t>(Jeff, Professor, 4) </a:t>
            </a:r>
            <a:endParaRPr lang="zh-CN" altLang="en-US" sz="2000" dirty="0"/>
          </a:p>
        </p:txBody>
      </p:sp>
      <p:sp>
        <p:nvSpPr>
          <p:cNvPr id="23" name="矩形 22"/>
          <p:cNvSpPr/>
          <p:nvPr/>
        </p:nvSpPr>
        <p:spPr>
          <a:xfrm>
            <a:off x="5292080" y="5157192"/>
            <a:ext cx="1634872" cy="461665"/>
          </a:xfrm>
          <a:prstGeom prst="rect">
            <a:avLst/>
          </a:prstGeom>
        </p:spPr>
        <p:txBody>
          <a:bodyPr wrap="square">
            <a:spAutoFit/>
          </a:bodyPr>
          <a:lstStyle/>
          <a:p>
            <a:pPr algn="ctr"/>
            <a:r>
              <a:rPr lang="en-US" altLang="zh-CN" sz="2400" b="1" dirty="0" smtClean="0">
                <a:solidFill>
                  <a:srgbClr val="FF0000"/>
                </a:solidFill>
              </a:rPr>
              <a:t>Tenured?</a:t>
            </a:r>
            <a:endParaRPr lang="zh-CN" altLang="en-US" sz="2400" b="1" dirty="0">
              <a:solidFill>
                <a:srgbClr val="FF0000"/>
              </a:solidFill>
            </a:endParaRPr>
          </a:p>
        </p:txBody>
      </p:sp>
      <p:sp>
        <p:nvSpPr>
          <p:cNvPr id="24" name="矩形 23"/>
          <p:cNvSpPr/>
          <p:nvPr/>
        </p:nvSpPr>
        <p:spPr>
          <a:xfrm>
            <a:off x="5868144" y="5661248"/>
            <a:ext cx="2808312" cy="1152128"/>
          </a:xfrm>
          <a:prstGeom prst="rect">
            <a:avLst/>
          </a:prstGeom>
          <a:solidFill>
            <a:srgbClr val="00B05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altLang="zh-CN" sz="2000" dirty="0" smtClean="0">
                <a:latin typeface="Arial" pitchFamily="34" charset="0"/>
                <a:cs typeface="Arial" pitchFamily="34" charset="0"/>
              </a:rPr>
              <a:t>IF rank = ‘Professor’ </a:t>
            </a:r>
          </a:p>
          <a:p>
            <a:r>
              <a:rPr lang="en-US" altLang="zh-CN" sz="2000" dirty="0" smtClean="0">
                <a:latin typeface="Arial" pitchFamily="34" charset="0"/>
                <a:cs typeface="Arial" pitchFamily="34" charset="0"/>
              </a:rPr>
              <a:t>OR years &gt; 6 </a:t>
            </a:r>
          </a:p>
          <a:p>
            <a:r>
              <a:rPr lang="en-US" altLang="zh-CN" sz="2000" dirty="0" smtClean="0">
                <a:latin typeface="Arial" pitchFamily="34" charset="0"/>
                <a:cs typeface="Arial" pitchFamily="34" charset="0"/>
              </a:rPr>
              <a:t>THEN tenured = ‘yes’</a:t>
            </a:r>
            <a:endParaRPr lang="zh-CN" altLang="en-US" sz="2000" b="1" dirty="0">
              <a:latin typeface="Arial" pitchFamily="34" charset="0"/>
              <a:ea typeface="黑体" pitchFamily="49" charset="-122"/>
              <a:cs typeface="Arial" pitchFamily="34" charset="0"/>
            </a:endParaRPr>
          </a:p>
        </p:txBody>
      </p:sp>
      <p:sp>
        <p:nvSpPr>
          <p:cNvPr id="25" name="右箭头 24"/>
          <p:cNvSpPr/>
          <p:nvPr/>
        </p:nvSpPr>
        <p:spPr>
          <a:xfrm rot="5400000">
            <a:off x="6966266" y="5103186"/>
            <a:ext cx="540060"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右箭头 25"/>
          <p:cNvSpPr/>
          <p:nvPr/>
        </p:nvSpPr>
        <p:spPr>
          <a:xfrm rot="10800000">
            <a:off x="4716016" y="6021288"/>
            <a:ext cx="936104"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3635896" y="5930116"/>
            <a:ext cx="1202824" cy="523220"/>
          </a:xfrm>
          <a:prstGeom prst="rect">
            <a:avLst/>
          </a:prstGeom>
        </p:spPr>
        <p:txBody>
          <a:bodyPr wrap="square">
            <a:spAutoFit/>
          </a:bodyPr>
          <a:lstStyle/>
          <a:p>
            <a:pPr algn="ctr"/>
            <a:r>
              <a:rPr lang="en-US" altLang="zh-CN" sz="2800" b="1" dirty="0" smtClean="0">
                <a:solidFill>
                  <a:srgbClr val="FF0000"/>
                </a:solidFill>
              </a:rPr>
              <a:t>Yes</a:t>
            </a:r>
            <a:endParaRPr lang="zh-CN" altLang="en-US" sz="2800" b="1" dirty="0">
              <a:solidFill>
                <a:srgbClr val="FF0000"/>
              </a:solidFill>
            </a:endParaRPr>
          </a:p>
        </p:txBody>
      </p:sp>
      <p:sp>
        <p:nvSpPr>
          <p:cNvPr id="28" name="标题 1"/>
          <p:cNvSpPr>
            <a:spLocks noGrp="1"/>
          </p:cNvSpPr>
          <p:nvPr>
            <p:ph type="title"/>
          </p:nvPr>
        </p:nvSpPr>
        <p:spPr>
          <a:xfrm>
            <a:off x="457200" y="274638"/>
            <a:ext cx="8229600" cy="778098"/>
          </a:xfrm>
        </p:spPr>
        <p:txBody>
          <a:bodyPr/>
          <a:lstStyle/>
          <a:p>
            <a:r>
              <a:rPr lang="zh-CN" altLang="en-US" sz="3200" b="1" dirty="0" smtClean="0">
                <a:solidFill>
                  <a:srgbClr val="C00000"/>
                </a:solidFill>
                <a:latin typeface="Arial" pitchFamily="34" charset="0"/>
                <a:ea typeface="黑体" pitchFamily="49" charset="-122"/>
                <a:cs typeface="Arial" pitchFamily="34" charset="0"/>
              </a:rPr>
              <a:t>第</a:t>
            </a:r>
            <a:r>
              <a:rPr lang="zh-CN" altLang="en-US" sz="3200" b="1" dirty="0">
                <a:solidFill>
                  <a:srgbClr val="C00000"/>
                </a:solidFill>
                <a:latin typeface="Arial" pitchFamily="34" charset="0"/>
                <a:ea typeface="黑体" pitchFamily="49" charset="-122"/>
                <a:cs typeface="Arial" pitchFamily="34" charset="0"/>
              </a:rPr>
              <a:t>二</a:t>
            </a:r>
            <a:r>
              <a:rPr lang="zh-CN" altLang="en-US" sz="3200" b="1" dirty="0" smtClean="0">
                <a:solidFill>
                  <a:srgbClr val="C00000"/>
                </a:solidFill>
                <a:latin typeface="Arial" pitchFamily="34" charset="0"/>
                <a:ea typeface="黑体" pitchFamily="49" charset="-122"/>
                <a:cs typeface="Arial" pitchFamily="34" charset="0"/>
              </a:rPr>
              <a:t>步：使用模型</a:t>
            </a:r>
            <a:endParaRPr lang="zh-CN" altLang="en-US" sz="3200" b="1" dirty="0">
              <a:solidFill>
                <a:srgbClr val="C00000"/>
              </a:solidFill>
              <a:latin typeface="Arial" pitchFamily="34" charset="0"/>
              <a:ea typeface="黑体" pitchFamily="49" charset="-122"/>
              <a:cs typeface="Arial" pitchFamily="34" charset="0"/>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06090"/>
          </a:xfrm>
        </p:spPr>
        <p:txBody>
          <a:bodyPr/>
          <a:lstStyle/>
          <a:p>
            <a:r>
              <a:rPr lang="zh-CN" altLang="en-US" sz="3200" b="1" dirty="0" smtClean="0">
                <a:solidFill>
                  <a:srgbClr val="C00000"/>
                </a:solidFill>
                <a:latin typeface="Arial" pitchFamily="34" charset="0"/>
                <a:ea typeface="黑体" pitchFamily="49" charset="-122"/>
                <a:cs typeface="Arial" pitchFamily="34" charset="0"/>
              </a:rPr>
              <a:t>有监督的学习</a:t>
            </a:r>
            <a:r>
              <a:rPr lang="en-US" altLang="zh-CN" sz="3200" b="1" dirty="0" smtClean="0">
                <a:solidFill>
                  <a:srgbClr val="C00000"/>
                </a:solidFill>
                <a:latin typeface="Arial" pitchFamily="34" charset="0"/>
                <a:ea typeface="黑体" pitchFamily="49" charset="-122"/>
                <a:cs typeface="Arial" pitchFamily="34" charset="0"/>
              </a:rPr>
              <a:t> vs. </a:t>
            </a:r>
            <a:r>
              <a:rPr lang="zh-CN" altLang="en-US" sz="3200" b="1" dirty="0" smtClean="0">
                <a:solidFill>
                  <a:srgbClr val="C00000"/>
                </a:solidFill>
                <a:latin typeface="Arial" pitchFamily="34" charset="0"/>
                <a:ea typeface="黑体" pitchFamily="49" charset="-122"/>
                <a:cs typeface="Arial" pitchFamily="34" charset="0"/>
              </a:rPr>
              <a:t>无监督的学习</a:t>
            </a:r>
            <a:endParaRPr lang="zh-CN" altLang="en-US" sz="3200" b="1" dirty="0">
              <a:solidFill>
                <a:srgbClr val="C00000"/>
              </a:solidFill>
              <a:latin typeface="Arial" pitchFamily="34" charset="0"/>
              <a:ea typeface="黑体" pitchFamily="49" charset="-122"/>
              <a:cs typeface="Arial" pitchFamily="34" charset="0"/>
            </a:endParaRPr>
          </a:p>
        </p:txBody>
      </p:sp>
      <p:sp>
        <p:nvSpPr>
          <p:cNvPr id="3" name="内容占位符 2"/>
          <p:cNvSpPr>
            <a:spLocks noGrp="1"/>
          </p:cNvSpPr>
          <p:nvPr>
            <p:ph idx="1"/>
          </p:nvPr>
        </p:nvSpPr>
        <p:spPr>
          <a:xfrm>
            <a:off x="107504" y="1340768"/>
            <a:ext cx="8892480" cy="4464496"/>
          </a:xfrm>
        </p:spPr>
        <p:txBody>
          <a:bodyPr/>
          <a:lstStyle/>
          <a:p>
            <a:pPr>
              <a:buFont typeface="Wingdings" pitchFamily="2" charset="2"/>
              <a:buChar char="n"/>
            </a:pPr>
            <a:r>
              <a:rPr lang="zh-CN" altLang="en-US" sz="2800" dirty="0" smtClean="0">
                <a:solidFill>
                  <a:srgbClr val="FF0000"/>
                </a:solidFill>
                <a:latin typeface="Arial" pitchFamily="34" charset="0"/>
                <a:ea typeface="黑体" pitchFamily="49" charset="-122"/>
                <a:cs typeface="Arial" pitchFamily="34" charset="0"/>
              </a:rPr>
              <a:t>有监督的学习（用于分类）</a:t>
            </a:r>
            <a:endParaRPr lang="en-US" altLang="zh-CN" sz="2800" dirty="0" smtClean="0">
              <a:solidFill>
                <a:srgbClr val="FF0000"/>
              </a:solidFill>
              <a:latin typeface="Arial" pitchFamily="34" charset="0"/>
              <a:ea typeface="黑体" pitchFamily="49" charset="-122"/>
              <a:cs typeface="Arial" pitchFamily="34" charset="0"/>
            </a:endParaRPr>
          </a:p>
          <a:p>
            <a:pPr lvl="1">
              <a:buFont typeface="Wingdings" pitchFamily="2" charset="2"/>
              <a:buChar char="n"/>
            </a:pPr>
            <a:r>
              <a:rPr lang="zh-CN" altLang="en-US" sz="2400" dirty="0" smtClean="0">
                <a:latin typeface="Arial" pitchFamily="34" charset="0"/>
                <a:ea typeface="黑体" pitchFamily="49" charset="-122"/>
                <a:cs typeface="Arial" pitchFamily="34" charset="0"/>
              </a:rPr>
              <a:t>模型的学习是在被告知每个训练样本属于哪个类的“监督”下进行；</a:t>
            </a:r>
            <a:endParaRPr lang="en-US" altLang="zh-CN" sz="2400" dirty="0" smtClean="0">
              <a:latin typeface="Arial" pitchFamily="34" charset="0"/>
              <a:ea typeface="黑体" pitchFamily="49" charset="-122"/>
              <a:cs typeface="Arial" pitchFamily="34" charset="0"/>
            </a:endParaRPr>
          </a:p>
          <a:p>
            <a:pPr lvl="1">
              <a:buFont typeface="Wingdings" pitchFamily="2" charset="2"/>
              <a:buChar char="n"/>
            </a:pPr>
            <a:r>
              <a:rPr lang="zh-CN" altLang="en-US" sz="2400" dirty="0" smtClean="0">
                <a:latin typeface="Arial" pitchFamily="34" charset="0"/>
                <a:ea typeface="黑体" pitchFamily="49" charset="-122"/>
                <a:cs typeface="Arial" pitchFamily="34" charset="0"/>
              </a:rPr>
              <a:t>新的数据使用训练时得到的规则进行分类；</a:t>
            </a:r>
          </a:p>
          <a:p>
            <a:pPr>
              <a:buFont typeface="Wingdings" pitchFamily="2" charset="2"/>
              <a:buChar char="n"/>
            </a:pPr>
            <a:endParaRPr lang="en-US" altLang="zh-CN" sz="2800" dirty="0" smtClean="0">
              <a:latin typeface="Arial" pitchFamily="34" charset="0"/>
              <a:ea typeface="黑体" pitchFamily="49" charset="-122"/>
              <a:cs typeface="Arial" pitchFamily="34" charset="0"/>
            </a:endParaRPr>
          </a:p>
          <a:p>
            <a:pPr>
              <a:buFont typeface="Wingdings" pitchFamily="2" charset="2"/>
              <a:buChar char="n"/>
            </a:pPr>
            <a:r>
              <a:rPr lang="zh-CN" altLang="en-US" sz="2800" dirty="0" smtClean="0">
                <a:solidFill>
                  <a:srgbClr val="FF0000"/>
                </a:solidFill>
                <a:latin typeface="Arial" pitchFamily="34" charset="0"/>
                <a:ea typeface="黑体" pitchFamily="49" charset="-122"/>
                <a:cs typeface="Arial" pitchFamily="34" charset="0"/>
              </a:rPr>
              <a:t>无监督的学习（用于聚类）</a:t>
            </a:r>
            <a:endParaRPr lang="en-US" altLang="zh-CN" sz="2800" dirty="0" smtClean="0">
              <a:solidFill>
                <a:srgbClr val="FF0000"/>
              </a:solidFill>
              <a:latin typeface="Arial" pitchFamily="34" charset="0"/>
              <a:ea typeface="黑体" pitchFamily="49" charset="-122"/>
              <a:cs typeface="Arial" pitchFamily="34" charset="0"/>
            </a:endParaRPr>
          </a:p>
          <a:p>
            <a:pPr lvl="1">
              <a:buFont typeface="Wingdings" pitchFamily="2" charset="2"/>
              <a:buChar char="n"/>
            </a:pPr>
            <a:r>
              <a:rPr lang="zh-CN" altLang="en-US" sz="2400" dirty="0" smtClean="0">
                <a:latin typeface="Arial" pitchFamily="34" charset="0"/>
                <a:ea typeface="黑体" pitchFamily="49" charset="-122"/>
                <a:cs typeface="Arial" pitchFamily="34" charset="0"/>
              </a:rPr>
              <a:t>每个训练样本的类编号是未知的，要学习的类集合或数量也可能是未知的；</a:t>
            </a:r>
            <a:endParaRPr lang="en-US" altLang="zh-CN" sz="2400" dirty="0" smtClean="0">
              <a:latin typeface="Arial" pitchFamily="34" charset="0"/>
              <a:ea typeface="黑体" pitchFamily="49" charset="-122"/>
              <a:cs typeface="Arial" pitchFamily="34" charset="0"/>
            </a:endParaRPr>
          </a:p>
          <a:p>
            <a:pPr lvl="1">
              <a:buFont typeface="Wingdings" pitchFamily="2" charset="2"/>
              <a:buChar char="n"/>
            </a:pPr>
            <a:r>
              <a:rPr lang="zh-CN" altLang="en-US" sz="2400" dirty="0" smtClean="0">
                <a:latin typeface="Arial" pitchFamily="34" charset="0"/>
                <a:ea typeface="黑体" pitchFamily="49" charset="-122"/>
                <a:cs typeface="Arial" pitchFamily="34" charset="0"/>
              </a:rPr>
              <a:t>通过一系列的度量和观察，建立数据中的类编号进行聚类。</a:t>
            </a: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53</a:t>
            </a:fld>
            <a:endParaRPr lang="zh-CN" alt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54</a:t>
            </a:fld>
            <a:endParaRPr lang="zh-CN" altLang="en-US"/>
          </a:p>
        </p:txBody>
      </p:sp>
      <p:sp>
        <p:nvSpPr>
          <p:cNvPr id="3" name="标题 1"/>
          <p:cNvSpPr txBox="1">
            <a:spLocks/>
          </p:cNvSpPr>
          <p:nvPr/>
        </p:nvSpPr>
        <p:spPr>
          <a:xfrm>
            <a:off x="457200" y="274638"/>
            <a:ext cx="8229600" cy="634082"/>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a:lstStyle>
          <a:p>
            <a:r>
              <a:rPr lang="zh-CN" altLang="en-US" sz="3200" b="1" smtClean="0">
                <a:solidFill>
                  <a:srgbClr val="C00000"/>
                </a:solidFill>
                <a:latin typeface="黑体" pitchFamily="49" charset="-122"/>
                <a:ea typeface="黑体" pitchFamily="49" charset="-122"/>
              </a:rPr>
              <a:t>分类和预测数据的预处理</a:t>
            </a:r>
            <a:endParaRPr lang="zh-CN" altLang="en-US" sz="3200" b="1" dirty="0">
              <a:solidFill>
                <a:srgbClr val="C00000"/>
              </a:solidFill>
              <a:latin typeface="黑体" pitchFamily="49" charset="-122"/>
              <a:ea typeface="黑体" pitchFamily="49" charset="-122"/>
            </a:endParaRPr>
          </a:p>
        </p:txBody>
      </p:sp>
      <p:sp>
        <p:nvSpPr>
          <p:cNvPr id="4" name="内容占位符 2"/>
          <p:cNvSpPr txBox="1">
            <a:spLocks/>
          </p:cNvSpPr>
          <p:nvPr/>
        </p:nvSpPr>
        <p:spPr>
          <a:xfrm>
            <a:off x="179512" y="1268760"/>
            <a:ext cx="8568952" cy="4536504"/>
          </a:xfrm>
          <a:prstGeom prst="rect">
            <a:avLst/>
          </a:prstGeom>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Char char="n"/>
            </a:pPr>
            <a:r>
              <a:rPr lang="zh-CN" altLang="en-US" sz="2800" dirty="0" smtClean="0">
                <a:latin typeface="Arial" pitchFamily="34" charset="0"/>
                <a:ea typeface="黑体" pitchFamily="49" charset="-122"/>
                <a:cs typeface="Arial" pitchFamily="34" charset="0"/>
              </a:rPr>
              <a:t>通过对数据进行预处理，可以提高分类和预测过程的准确性、有效性和可伸缩性；</a:t>
            </a:r>
            <a:endParaRPr lang="en-US" altLang="zh-CN" sz="2800" dirty="0" smtClean="0">
              <a:latin typeface="Arial" pitchFamily="34" charset="0"/>
              <a:ea typeface="黑体" pitchFamily="49" charset="-122"/>
              <a:cs typeface="Arial" pitchFamily="34" charset="0"/>
            </a:endParaRPr>
          </a:p>
          <a:p>
            <a:pPr lvl="1">
              <a:buFont typeface="Wingdings" pitchFamily="2" charset="2"/>
              <a:buChar char="n"/>
            </a:pPr>
            <a:r>
              <a:rPr lang="zh-CN" altLang="en-US" sz="2400" dirty="0" smtClean="0">
                <a:latin typeface="Arial" pitchFamily="34" charset="0"/>
                <a:ea typeface="黑体" pitchFamily="49" charset="-122"/>
                <a:cs typeface="Arial" pitchFamily="34" charset="0"/>
              </a:rPr>
              <a:t>数据清理</a:t>
            </a:r>
            <a:endParaRPr lang="en-US" altLang="zh-CN" sz="2400" dirty="0" smtClean="0">
              <a:latin typeface="Arial" pitchFamily="34" charset="0"/>
              <a:ea typeface="黑体" pitchFamily="49" charset="-122"/>
              <a:cs typeface="Arial" pitchFamily="34" charset="0"/>
            </a:endParaRPr>
          </a:p>
          <a:p>
            <a:pPr lvl="1">
              <a:buFont typeface="Arial" charset="0"/>
              <a:buNone/>
            </a:pPr>
            <a:r>
              <a:rPr lang="zh-CN" altLang="en-US" sz="2400" dirty="0" smtClean="0">
                <a:latin typeface="Arial" pitchFamily="34" charset="0"/>
                <a:ea typeface="黑体" pitchFamily="49" charset="-122"/>
                <a:cs typeface="Arial" pitchFamily="34" charset="0"/>
              </a:rPr>
              <a:t>     消除或减少噪声，</a:t>
            </a:r>
            <a:r>
              <a:rPr lang="zh-CN" altLang="en-US" sz="2400" dirty="0" smtClean="0">
                <a:solidFill>
                  <a:srgbClr val="FF0000"/>
                </a:solidFill>
                <a:latin typeface="Arial" pitchFamily="34" charset="0"/>
                <a:ea typeface="黑体" pitchFamily="49" charset="-122"/>
                <a:cs typeface="Arial" pitchFamily="34" charset="0"/>
              </a:rPr>
              <a:t>处理空缺值</a:t>
            </a:r>
            <a:r>
              <a:rPr lang="zh-CN" altLang="en-US" sz="2400" dirty="0" smtClean="0">
                <a:latin typeface="Arial" pitchFamily="34" charset="0"/>
                <a:ea typeface="黑体" pitchFamily="49" charset="-122"/>
                <a:cs typeface="Arial" pitchFamily="34" charset="0"/>
              </a:rPr>
              <a:t>；</a:t>
            </a:r>
          </a:p>
          <a:p>
            <a:pPr lvl="1">
              <a:buFont typeface="Wingdings" pitchFamily="2" charset="2"/>
              <a:buChar char="n"/>
            </a:pPr>
            <a:r>
              <a:rPr lang="zh-CN" altLang="en-US" sz="2400" dirty="0" smtClean="0">
                <a:latin typeface="Arial" pitchFamily="34" charset="0"/>
                <a:ea typeface="黑体" pitchFamily="49" charset="-122"/>
                <a:cs typeface="Arial" pitchFamily="34" charset="0"/>
              </a:rPr>
              <a:t>相关性分析</a:t>
            </a:r>
            <a:endParaRPr lang="en-US" altLang="zh-CN" sz="2400" dirty="0" smtClean="0">
              <a:latin typeface="Arial" pitchFamily="34" charset="0"/>
              <a:ea typeface="黑体" pitchFamily="49" charset="-122"/>
              <a:cs typeface="Arial" pitchFamily="34" charset="0"/>
            </a:endParaRPr>
          </a:p>
          <a:p>
            <a:pPr lvl="1">
              <a:buFont typeface="Arial" charset="0"/>
              <a:buNone/>
            </a:pPr>
            <a:r>
              <a:rPr lang="zh-CN" altLang="en-US" sz="2400" dirty="0" smtClean="0">
                <a:latin typeface="Arial" pitchFamily="34" charset="0"/>
                <a:ea typeface="黑体" pitchFamily="49" charset="-122"/>
                <a:cs typeface="Arial" pitchFamily="34" charset="0"/>
              </a:rPr>
              <a:t>      删除数据中不相关或冗余的属性，加快学习过程；</a:t>
            </a:r>
          </a:p>
          <a:p>
            <a:pPr lvl="1">
              <a:buFont typeface="Wingdings" pitchFamily="2" charset="2"/>
              <a:buChar char="n"/>
            </a:pPr>
            <a:r>
              <a:rPr lang="zh-CN" altLang="en-US" sz="2400" dirty="0" smtClean="0">
                <a:latin typeface="Arial" pitchFamily="34" charset="0"/>
                <a:ea typeface="黑体" pitchFamily="49" charset="-122"/>
                <a:cs typeface="Arial" pitchFamily="34" charset="0"/>
              </a:rPr>
              <a:t>数据变换</a:t>
            </a:r>
            <a:endParaRPr lang="en-US" altLang="zh-CN" sz="2400" dirty="0" smtClean="0">
              <a:latin typeface="Arial" pitchFamily="34" charset="0"/>
              <a:ea typeface="黑体" pitchFamily="49" charset="-122"/>
              <a:cs typeface="Arial" pitchFamily="34" charset="0"/>
            </a:endParaRPr>
          </a:p>
          <a:p>
            <a:pPr lvl="1">
              <a:buFont typeface="Arial" charset="0"/>
              <a:buNone/>
            </a:pPr>
            <a:r>
              <a:rPr lang="zh-CN" altLang="en-US" sz="2400" dirty="0" smtClean="0">
                <a:latin typeface="Arial" pitchFamily="34" charset="0"/>
                <a:ea typeface="黑体" pitchFamily="49" charset="-122"/>
                <a:cs typeface="Arial" pitchFamily="34" charset="0"/>
              </a:rPr>
              <a:t>     可以将数据转换到较高层概念，或将数据进行规范化。</a:t>
            </a:r>
          </a:p>
        </p:txBody>
      </p:sp>
    </p:spTree>
    <p:extLst>
      <p:ext uri="{BB962C8B-B14F-4D97-AF65-F5344CB8AC3E}">
        <p14:creationId xmlns:p14="http://schemas.microsoft.com/office/powerpoint/2010/main" val="318298742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a:spLocks/>
          </p:cNvSpPr>
          <p:nvPr/>
        </p:nvSpPr>
        <p:spPr>
          <a:xfrm>
            <a:off x="457200" y="116632"/>
            <a:ext cx="8229600" cy="778098"/>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a:lstStyle>
          <a:p>
            <a:r>
              <a:rPr lang="zh-CN" altLang="en-US" sz="3200" b="1" dirty="0" smtClean="0">
                <a:solidFill>
                  <a:srgbClr val="C00000"/>
                </a:solidFill>
                <a:latin typeface="黑体" pitchFamily="49" charset="-122"/>
                <a:ea typeface="黑体" pitchFamily="49" charset="-122"/>
              </a:rPr>
              <a:t>评估分类法的准确性</a:t>
            </a:r>
            <a:endParaRPr lang="zh-CN" altLang="en-US" sz="3200" b="1" dirty="0">
              <a:solidFill>
                <a:srgbClr val="C00000"/>
              </a:solidFill>
              <a:latin typeface="黑体" pitchFamily="49" charset="-122"/>
              <a:ea typeface="黑体" pitchFamily="49" charset="-122"/>
            </a:endParaRPr>
          </a:p>
        </p:txBody>
      </p:sp>
      <p:sp>
        <p:nvSpPr>
          <p:cNvPr id="4" name="内容占位符 2"/>
          <p:cNvSpPr txBox="1">
            <a:spLocks/>
          </p:cNvSpPr>
          <p:nvPr/>
        </p:nvSpPr>
        <p:spPr>
          <a:xfrm>
            <a:off x="89756" y="980728"/>
            <a:ext cx="8964488" cy="4104456"/>
          </a:xfrm>
          <a:prstGeom prst="rect">
            <a:avLst/>
          </a:prstGeom>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Char char="n"/>
            </a:pPr>
            <a:r>
              <a:rPr lang="zh-CN" altLang="en-US" sz="2400" dirty="0" smtClean="0">
                <a:latin typeface="Arial" pitchFamily="34" charset="0"/>
                <a:ea typeface="黑体" pitchFamily="49" charset="-122"/>
                <a:cs typeface="Arial" pitchFamily="34" charset="0"/>
              </a:rPr>
              <a:t>评估方法</a:t>
            </a:r>
            <a:endParaRPr lang="en-US" altLang="zh-CN" sz="2400" dirty="0" smtClean="0">
              <a:latin typeface="Arial" pitchFamily="34" charset="0"/>
              <a:ea typeface="黑体" pitchFamily="49" charset="-122"/>
              <a:cs typeface="Arial" pitchFamily="34" charset="0"/>
            </a:endParaRPr>
          </a:p>
          <a:p>
            <a:pPr lvl="1">
              <a:buFont typeface="Wingdings" pitchFamily="2" charset="2"/>
              <a:buChar char="n"/>
            </a:pPr>
            <a:r>
              <a:rPr lang="zh-CN" altLang="en-US" sz="2000" dirty="0" smtClean="0">
                <a:latin typeface="Arial" pitchFamily="34" charset="0"/>
                <a:ea typeface="黑体" pitchFamily="49" charset="-122"/>
                <a:cs typeface="Arial" pitchFamily="34" charset="0"/>
              </a:rPr>
              <a:t>给定数据随机划分为两个集合：</a:t>
            </a:r>
            <a:r>
              <a:rPr lang="zh-CN" altLang="en-US" sz="2000" dirty="0" smtClean="0">
                <a:solidFill>
                  <a:srgbClr val="FF0000"/>
                </a:solidFill>
                <a:latin typeface="Arial" pitchFamily="34" charset="0"/>
                <a:ea typeface="黑体" pitchFamily="49" charset="-122"/>
                <a:cs typeface="Arial" pitchFamily="34" charset="0"/>
              </a:rPr>
              <a:t>训练集</a:t>
            </a:r>
            <a:r>
              <a:rPr lang="en-US" altLang="zh-CN" sz="2000" dirty="0" smtClean="0">
                <a:latin typeface="Arial" pitchFamily="34" charset="0"/>
                <a:ea typeface="黑体" pitchFamily="49" charset="-122"/>
                <a:cs typeface="Arial" pitchFamily="34" charset="0"/>
              </a:rPr>
              <a:t>(2/3)</a:t>
            </a:r>
            <a:r>
              <a:rPr lang="zh-CN" altLang="en-US" sz="2000" dirty="0" smtClean="0">
                <a:latin typeface="Arial" pitchFamily="34" charset="0"/>
                <a:ea typeface="黑体" pitchFamily="49" charset="-122"/>
                <a:cs typeface="Arial" pitchFamily="34" charset="0"/>
              </a:rPr>
              <a:t>和</a:t>
            </a:r>
            <a:r>
              <a:rPr lang="zh-CN" altLang="en-US" sz="2000" dirty="0" smtClean="0">
                <a:solidFill>
                  <a:srgbClr val="FF0000"/>
                </a:solidFill>
                <a:latin typeface="Arial" pitchFamily="34" charset="0"/>
                <a:ea typeface="黑体" pitchFamily="49" charset="-122"/>
                <a:cs typeface="Arial" pitchFamily="34" charset="0"/>
              </a:rPr>
              <a:t>测试集</a:t>
            </a:r>
            <a:r>
              <a:rPr lang="en-US" altLang="zh-CN" sz="2000" dirty="0" smtClean="0">
                <a:latin typeface="Arial" pitchFamily="34" charset="0"/>
                <a:ea typeface="黑体" pitchFamily="49" charset="-122"/>
                <a:cs typeface="Arial" pitchFamily="34" charset="0"/>
              </a:rPr>
              <a:t>(1/3) </a:t>
            </a:r>
            <a:r>
              <a:rPr lang="zh-CN" altLang="en-US" sz="2000" dirty="0" smtClean="0">
                <a:latin typeface="Arial" pitchFamily="34" charset="0"/>
                <a:ea typeface="黑体" pitchFamily="49" charset="-122"/>
                <a:cs typeface="Arial" pitchFamily="34" charset="0"/>
              </a:rPr>
              <a:t>，训练集导出分类法，测试集对其准确性进行评估；</a:t>
            </a:r>
            <a:endParaRPr lang="en-US" altLang="zh-CN" sz="2000" dirty="0" smtClean="0">
              <a:latin typeface="Arial" pitchFamily="34" charset="0"/>
              <a:ea typeface="黑体" pitchFamily="49" charset="-122"/>
              <a:cs typeface="Arial" pitchFamily="34" charset="0"/>
            </a:endParaRPr>
          </a:p>
          <a:p>
            <a:pPr lvl="1">
              <a:buFont typeface="Wingdings" pitchFamily="2" charset="2"/>
              <a:buChar char="n"/>
            </a:pPr>
            <a:r>
              <a:rPr lang="zh-CN" altLang="en-US" sz="2000" dirty="0" smtClean="0">
                <a:latin typeface="Arial" pitchFamily="34" charset="0"/>
                <a:ea typeface="黑体" pitchFamily="49" charset="-122"/>
                <a:cs typeface="Arial" pitchFamily="34" charset="0"/>
              </a:rPr>
              <a:t>随机</a:t>
            </a:r>
            <a:r>
              <a:rPr lang="zh-CN" altLang="en-US" sz="2000" dirty="0">
                <a:latin typeface="Arial" pitchFamily="34" charset="0"/>
                <a:ea typeface="黑体" pitchFamily="49" charset="-122"/>
                <a:cs typeface="Arial" pitchFamily="34" charset="0"/>
              </a:rPr>
              <a:t>选样：</a:t>
            </a:r>
            <a:r>
              <a:rPr lang="zh-CN" altLang="en-US" sz="2000" dirty="0" smtClean="0">
                <a:latin typeface="Arial" pitchFamily="34" charset="0"/>
                <a:ea typeface="黑体" pitchFamily="49" charset="-122"/>
                <a:cs typeface="Arial" pitchFamily="34" charset="0"/>
              </a:rPr>
              <a:t>从数据集合中</a:t>
            </a:r>
            <a:r>
              <a:rPr lang="zh-CN" altLang="en-US" sz="2000" dirty="0">
                <a:latin typeface="Arial" pitchFamily="34" charset="0"/>
                <a:ea typeface="黑体" pitchFamily="49" charset="-122"/>
                <a:cs typeface="Arial" pitchFamily="34" charset="0"/>
              </a:rPr>
              <a:t>随机</a:t>
            </a:r>
            <a:r>
              <a:rPr lang="zh-CN" altLang="en-US" sz="2000" dirty="0" smtClean="0">
                <a:latin typeface="Arial" pitchFamily="34" charset="0"/>
                <a:ea typeface="黑体" pitchFamily="49" charset="-122"/>
                <a:cs typeface="Arial" pitchFamily="34" charset="0"/>
              </a:rPr>
              <a:t>选择子集</a:t>
            </a:r>
            <a:r>
              <a:rPr lang="zh-CN" altLang="en-US" sz="2000" dirty="0">
                <a:latin typeface="Arial" pitchFamily="34" charset="0"/>
                <a:ea typeface="黑体" pitchFamily="49" charset="-122"/>
                <a:cs typeface="Arial" pitchFamily="34" charset="0"/>
              </a:rPr>
              <a:t>，</a:t>
            </a:r>
            <a:r>
              <a:rPr lang="zh-CN" altLang="en-US" sz="2000" dirty="0" smtClean="0">
                <a:latin typeface="Arial" pitchFamily="34" charset="0"/>
                <a:ea typeface="黑体" pitchFamily="49" charset="-122"/>
                <a:cs typeface="Arial" pitchFamily="34" charset="0"/>
              </a:rPr>
              <a:t>将保持方法重复</a:t>
            </a:r>
            <a:r>
              <a:rPr lang="en-US" altLang="zh-CN" sz="2000" dirty="0" smtClean="0">
                <a:latin typeface="Arial" pitchFamily="34" charset="0"/>
                <a:ea typeface="黑体" pitchFamily="49" charset="-122"/>
                <a:cs typeface="Arial" pitchFamily="34" charset="0"/>
              </a:rPr>
              <a:t>k</a:t>
            </a:r>
            <a:r>
              <a:rPr lang="zh-CN" altLang="en-US" sz="2000" dirty="0" smtClean="0">
                <a:latin typeface="Arial" pitchFamily="34" charset="0"/>
                <a:ea typeface="黑体" pitchFamily="49" charset="-122"/>
                <a:cs typeface="Arial" pitchFamily="34" charset="0"/>
              </a:rPr>
              <a:t>次，然后取准确率的平均值</a:t>
            </a:r>
          </a:p>
          <a:p>
            <a:pPr>
              <a:buFont typeface="Wingdings" pitchFamily="2" charset="2"/>
              <a:buChar char="n"/>
            </a:pPr>
            <a:endParaRPr lang="zh-CN" altLang="en-US" sz="2000" dirty="0" smtClean="0">
              <a:latin typeface="Arial" pitchFamily="34" charset="0"/>
              <a:ea typeface="黑体" pitchFamily="49" charset="-122"/>
              <a:cs typeface="Arial" pitchFamily="34" charset="0"/>
            </a:endParaRPr>
          </a:p>
          <a:p>
            <a:pPr>
              <a:buFont typeface="Wingdings" pitchFamily="2" charset="2"/>
              <a:buChar char="n"/>
            </a:pPr>
            <a:r>
              <a:rPr lang="en-US" altLang="zh-CN" sz="2400" dirty="0" smtClean="0">
                <a:solidFill>
                  <a:srgbClr val="FF0000"/>
                </a:solidFill>
                <a:latin typeface="Arial" pitchFamily="34" charset="0"/>
                <a:ea typeface="黑体" pitchFamily="49" charset="-122"/>
                <a:cs typeface="Arial" pitchFamily="34" charset="0"/>
              </a:rPr>
              <a:t>k-</a:t>
            </a:r>
            <a:r>
              <a:rPr lang="zh-CN" altLang="en-US" sz="2400" dirty="0" smtClean="0">
                <a:solidFill>
                  <a:srgbClr val="FF0000"/>
                </a:solidFill>
                <a:latin typeface="Arial" pitchFamily="34" charset="0"/>
                <a:ea typeface="黑体" pitchFamily="49" charset="-122"/>
                <a:cs typeface="Arial" pitchFamily="34" charset="0"/>
              </a:rPr>
              <a:t>折交叉验证（</a:t>
            </a:r>
            <a:r>
              <a:rPr lang="en-US" altLang="zh-CN" sz="2400" dirty="0" smtClean="0">
                <a:solidFill>
                  <a:srgbClr val="FF0000"/>
                </a:solidFill>
                <a:latin typeface="Arial" pitchFamily="34" charset="0"/>
                <a:ea typeface="黑体" pitchFamily="49" charset="-122"/>
                <a:cs typeface="Arial" pitchFamily="34" charset="0"/>
              </a:rPr>
              <a:t>k-fold cross-validation</a:t>
            </a:r>
            <a:r>
              <a:rPr lang="zh-CN" altLang="en-US" sz="2400" dirty="0" smtClean="0">
                <a:solidFill>
                  <a:srgbClr val="FF0000"/>
                </a:solidFill>
                <a:latin typeface="Arial" pitchFamily="34" charset="0"/>
                <a:ea typeface="黑体" pitchFamily="49" charset="-122"/>
                <a:cs typeface="Arial" pitchFamily="34" charset="0"/>
              </a:rPr>
              <a:t>）</a:t>
            </a:r>
            <a:endParaRPr lang="en-US" altLang="zh-CN" sz="2400" dirty="0" smtClean="0">
              <a:solidFill>
                <a:srgbClr val="FF0000"/>
              </a:solidFill>
              <a:latin typeface="Arial" pitchFamily="34" charset="0"/>
              <a:ea typeface="黑体" pitchFamily="49" charset="-122"/>
              <a:cs typeface="Arial" pitchFamily="34" charset="0"/>
            </a:endParaRPr>
          </a:p>
          <a:p>
            <a:pPr lvl="1">
              <a:buFont typeface="Wingdings" pitchFamily="2" charset="2"/>
              <a:buChar char="n"/>
            </a:pPr>
            <a:r>
              <a:rPr lang="zh-CN" altLang="en-US" sz="2000" dirty="0" smtClean="0">
                <a:latin typeface="Arial" pitchFamily="34" charset="0"/>
                <a:ea typeface="黑体" pitchFamily="49" charset="-122"/>
                <a:cs typeface="Arial" pitchFamily="34" charset="0"/>
              </a:rPr>
              <a:t>初始数据被划分为</a:t>
            </a:r>
            <a:r>
              <a:rPr lang="en-US" altLang="zh-CN" sz="2000" dirty="0" smtClean="0">
                <a:latin typeface="Arial" pitchFamily="34" charset="0"/>
                <a:ea typeface="黑体" pitchFamily="49" charset="-122"/>
                <a:cs typeface="Arial" pitchFamily="34" charset="0"/>
              </a:rPr>
              <a:t>k</a:t>
            </a:r>
            <a:r>
              <a:rPr lang="zh-CN" altLang="en-US" sz="2000" dirty="0" smtClean="0">
                <a:latin typeface="Arial" pitchFamily="34" charset="0"/>
                <a:ea typeface="黑体" pitchFamily="49" charset="-122"/>
                <a:cs typeface="Arial" pitchFamily="34" charset="0"/>
              </a:rPr>
              <a:t>个不相交的、大小大致相同的子集</a:t>
            </a:r>
            <a:r>
              <a:rPr lang="en-US" altLang="zh-CN" sz="2000" dirty="0" smtClean="0">
                <a:latin typeface="Arial" pitchFamily="34" charset="0"/>
                <a:ea typeface="黑体" pitchFamily="49" charset="-122"/>
                <a:cs typeface="Arial" pitchFamily="34" charset="0"/>
              </a:rPr>
              <a:t>S</a:t>
            </a:r>
            <a:r>
              <a:rPr lang="en-US" altLang="zh-CN" sz="2000" baseline="-25000" dirty="0" smtClean="0">
                <a:latin typeface="Arial" pitchFamily="34" charset="0"/>
                <a:ea typeface="黑体" pitchFamily="49" charset="-122"/>
                <a:cs typeface="Arial" pitchFamily="34" charset="0"/>
              </a:rPr>
              <a:t>1</a:t>
            </a:r>
            <a:r>
              <a:rPr lang="zh-CN" altLang="en-US" sz="2000" dirty="0" smtClean="0">
                <a:latin typeface="Arial" pitchFamily="34" charset="0"/>
                <a:ea typeface="黑体" pitchFamily="49" charset="-122"/>
                <a:cs typeface="Arial" pitchFamily="34" charset="0"/>
              </a:rPr>
              <a:t>，</a:t>
            </a:r>
            <a:r>
              <a:rPr lang="en-US" altLang="zh-CN" sz="2000" dirty="0" smtClean="0">
                <a:latin typeface="Arial" pitchFamily="34" charset="0"/>
                <a:ea typeface="黑体" pitchFamily="49" charset="-122"/>
                <a:cs typeface="Arial" pitchFamily="34" charset="0"/>
              </a:rPr>
              <a:t>S</a:t>
            </a:r>
            <a:r>
              <a:rPr lang="en-US" altLang="zh-CN" sz="2000" baseline="-25000" dirty="0" smtClean="0">
                <a:latin typeface="Arial" pitchFamily="34" charset="0"/>
                <a:ea typeface="黑体" pitchFamily="49" charset="-122"/>
                <a:cs typeface="Arial" pitchFamily="34" charset="0"/>
              </a:rPr>
              <a:t>2</a:t>
            </a:r>
            <a:r>
              <a:rPr lang="zh-CN" altLang="en-US" sz="2000" baseline="-25000" dirty="0" smtClean="0">
                <a:latin typeface="Arial" pitchFamily="34" charset="0"/>
                <a:ea typeface="黑体" pitchFamily="49" charset="-122"/>
                <a:cs typeface="Arial" pitchFamily="34" charset="0"/>
              </a:rPr>
              <a:t>，</a:t>
            </a:r>
            <a:r>
              <a:rPr lang="en-US" altLang="zh-CN" sz="2000" dirty="0" smtClean="0">
                <a:latin typeface="Arial" pitchFamily="34" charset="0"/>
                <a:ea typeface="黑体" pitchFamily="49" charset="-122"/>
                <a:cs typeface="Arial" pitchFamily="34" charset="0"/>
              </a:rPr>
              <a:t>…</a:t>
            </a:r>
            <a:r>
              <a:rPr lang="zh-CN" altLang="en-US" sz="2000" dirty="0" smtClean="0">
                <a:latin typeface="Arial" pitchFamily="34" charset="0"/>
                <a:ea typeface="黑体" pitchFamily="49" charset="-122"/>
                <a:cs typeface="Arial" pitchFamily="34" charset="0"/>
              </a:rPr>
              <a:t>，</a:t>
            </a:r>
            <a:r>
              <a:rPr lang="en-US" altLang="zh-CN" sz="2000" dirty="0" err="1" smtClean="0">
                <a:latin typeface="Arial" pitchFamily="34" charset="0"/>
                <a:ea typeface="黑体" pitchFamily="49" charset="-122"/>
                <a:cs typeface="Arial" pitchFamily="34" charset="0"/>
              </a:rPr>
              <a:t>S</a:t>
            </a:r>
            <a:r>
              <a:rPr lang="en-US" altLang="zh-CN" sz="2000" baseline="-25000" dirty="0" err="1" smtClean="0">
                <a:latin typeface="Arial" pitchFamily="34" charset="0"/>
                <a:ea typeface="黑体" pitchFamily="49" charset="-122"/>
                <a:cs typeface="Arial" pitchFamily="34" charset="0"/>
              </a:rPr>
              <a:t>k</a:t>
            </a:r>
            <a:r>
              <a:rPr lang="zh-CN" altLang="en-US" sz="2000" dirty="0" smtClean="0">
                <a:latin typeface="Arial" pitchFamily="34" charset="0"/>
                <a:ea typeface="黑体" pitchFamily="49" charset="-122"/>
                <a:cs typeface="Arial" pitchFamily="34" charset="0"/>
              </a:rPr>
              <a:t>；</a:t>
            </a:r>
            <a:endParaRPr lang="en-US" altLang="zh-CN" sz="2000" baseline="30000" dirty="0" smtClean="0">
              <a:latin typeface="Arial" pitchFamily="34" charset="0"/>
              <a:ea typeface="黑体" pitchFamily="49" charset="-122"/>
              <a:cs typeface="Arial" pitchFamily="34" charset="0"/>
            </a:endParaRPr>
          </a:p>
          <a:p>
            <a:pPr lvl="1">
              <a:buFont typeface="Wingdings" pitchFamily="2" charset="2"/>
              <a:buChar char="n"/>
            </a:pPr>
            <a:r>
              <a:rPr lang="zh-CN" altLang="en-US" sz="2000" dirty="0" smtClean="0">
                <a:latin typeface="Arial" pitchFamily="34" charset="0"/>
                <a:ea typeface="黑体" pitchFamily="49" charset="-122"/>
                <a:cs typeface="Arial" pitchFamily="34" charset="0"/>
              </a:rPr>
              <a:t>进行</a:t>
            </a:r>
            <a:r>
              <a:rPr lang="en-US" altLang="zh-CN" sz="2000" dirty="0" smtClean="0">
                <a:latin typeface="Arial" pitchFamily="34" charset="0"/>
                <a:ea typeface="黑体" pitchFamily="49" charset="-122"/>
                <a:cs typeface="Arial" pitchFamily="34" charset="0"/>
              </a:rPr>
              <a:t>k</a:t>
            </a:r>
            <a:r>
              <a:rPr lang="zh-CN" altLang="en-US" sz="2000" dirty="0" smtClean="0">
                <a:latin typeface="Arial" pitchFamily="34" charset="0"/>
                <a:ea typeface="黑体" pitchFamily="49" charset="-122"/>
                <a:cs typeface="Arial" pitchFamily="34" charset="0"/>
              </a:rPr>
              <a:t>次训练和测试，第</a:t>
            </a:r>
            <a:r>
              <a:rPr lang="en-US" altLang="zh-CN" sz="2000" dirty="0" err="1" smtClean="0">
                <a:latin typeface="Arial" pitchFamily="34" charset="0"/>
                <a:ea typeface="黑体" pitchFamily="49" charset="-122"/>
                <a:cs typeface="Arial" pitchFamily="34" charset="0"/>
              </a:rPr>
              <a:t>i</a:t>
            </a:r>
            <a:r>
              <a:rPr lang="zh-CN" altLang="en-US" sz="2000" dirty="0" smtClean="0">
                <a:latin typeface="Arial" pitchFamily="34" charset="0"/>
                <a:ea typeface="黑体" pitchFamily="49" charset="-122"/>
                <a:cs typeface="Arial" pitchFamily="34" charset="0"/>
              </a:rPr>
              <a:t>次时，以</a:t>
            </a:r>
            <a:r>
              <a:rPr lang="en-US" altLang="zh-CN" sz="2000" dirty="0" smtClean="0">
                <a:latin typeface="Arial" pitchFamily="34" charset="0"/>
                <a:ea typeface="黑体" pitchFamily="49" charset="-122"/>
                <a:cs typeface="Arial" pitchFamily="34" charset="0"/>
              </a:rPr>
              <a:t>S</a:t>
            </a:r>
            <a:r>
              <a:rPr lang="en-US" altLang="zh-CN" sz="2000" baseline="-25000" dirty="0" smtClean="0">
                <a:latin typeface="Arial" pitchFamily="34" charset="0"/>
                <a:ea typeface="黑体" pitchFamily="49" charset="-122"/>
                <a:cs typeface="Arial" pitchFamily="34" charset="0"/>
              </a:rPr>
              <a:t>i</a:t>
            </a:r>
            <a:r>
              <a:rPr lang="zh-CN" altLang="en-US" sz="2000" dirty="0" smtClean="0">
                <a:latin typeface="Arial" pitchFamily="34" charset="0"/>
                <a:ea typeface="黑体" pitchFamily="49" charset="-122"/>
                <a:cs typeface="Arial" pitchFamily="34" charset="0"/>
              </a:rPr>
              <a:t>做测试集，其他做训练集；</a:t>
            </a:r>
            <a:endParaRPr lang="en-US" altLang="zh-CN" sz="2000" dirty="0" smtClean="0">
              <a:latin typeface="Arial" pitchFamily="34" charset="0"/>
              <a:ea typeface="黑体" pitchFamily="49" charset="-122"/>
              <a:cs typeface="Arial" pitchFamily="34" charset="0"/>
            </a:endParaRPr>
          </a:p>
          <a:p>
            <a:pPr lvl="1">
              <a:buFont typeface="Wingdings" pitchFamily="2" charset="2"/>
              <a:buChar char="n"/>
            </a:pPr>
            <a:r>
              <a:rPr lang="zh-CN" altLang="en-US" sz="2000" dirty="0" smtClean="0">
                <a:latin typeface="Arial" pitchFamily="34" charset="0"/>
                <a:ea typeface="黑体" pitchFamily="49" charset="-122"/>
                <a:cs typeface="Arial" pitchFamily="34" charset="0"/>
              </a:rPr>
              <a:t>准确率为</a:t>
            </a:r>
            <a:r>
              <a:rPr lang="en-US" altLang="zh-CN" sz="2000" dirty="0" smtClean="0">
                <a:latin typeface="Arial" pitchFamily="34" charset="0"/>
                <a:ea typeface="黑体" pitchFamily="49" charset="-122"/>
                <a:cs typeface="Arial" pitchFamily="34" charset="0"/>
              </a:rPr>
              <a:t>k</a:t>
            </a:r>
            <a:r>
              <a:rPr lang="zh-CN" altLang="en-US" sz="2000" dirty="0" smtClean="0">
                <a:latin typeface="Arial" pitchFamily="34" charset="0"/>
                <a:ea typeface="黑体" pitchFamily="49" charset="-122"/>
                <a:cs typeface="Arial" pitchFamily="34" charset="0"/>
              </a:rPr>
              <a:t>次迭代正确分类数除以初始数据集样本总数。</a:t>
            </a:r>
          </a:p>
        </p:txBody>
      </p:sp>
      <p:sp>
        <p:nvSpPr>
          <p:cNvPr id="5" name="灯片编号占位符 3"/>
          <p:cNvSpPr txBox="1">
            <a:spLocks/>
          </p:cNvSpPr>
          <p:nvPr/>
        </p:nvSpPr>
        <p:spPr>
          <a:xfrm>
            <a:off x="6553200" y="6356350"/>
            <a:ext cx="2133600" cy="365125"/>
          </a:xfrm>
          <a:prstGeom prst="rect">
            <a:avLst/>
          </a:prstGeom>
        </p:spPr>
        <p:txBody>
          <a:bodyPr vert="horz" lIns="91440" tIns="45720" rIns="91440" bIns="45720" rtlCol="0" anchor="ctr"/>
          <a:lstStyle>
            <a:defPPr>
              <a:defRPr lang="zh-CN"/>
            </a:defPPr>
            <a:lvl1pPr algn="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pPr>
              <a:defRPr/>
            </a:pPr>
            <a:fld id="{86C75756-0271-488A-B748-639BD5BFB0CE}" type="slidenum">
              <a:rPr lang="zh-CN" altLang="en-US" smtClean="0"/>
              <a:pPr>
                <a:defRPr/>
              </a:pPr>
              <a:t>55</a:t>
            </a:fld>
            <a:endParaRPr lang="zh-CN" altLang="en-US"/>
          </a:p>
        </p:txBody>
      </p:sp>
      <p:pic>
        <p:nvPicPr>
          <p:cNvPr id="6" name="Picture 3"/>
          <p:cNvPicPr>
            <a:picLocks noChangeAspect="1" noChangeArrowheads="1"/>
          </p:cNvPicPr>
          <p:nvPr/>
        </p:nvPicPr>
        <p:blipFill>
          <a:blip r:embed="rId2" cstate="print"/>
          <a:srcRect/>
          <a:stretch>
            <a:fillRect/>
          </a:stretch>
        </p:blipFill>
        <p:spPr bwMode="auto">
          <a:xfrm>
            <a:off x="107504" y="5292506"/>
            <a:ext cx="8784976" cy="1376854"/>
          </a:xfrm>
          <a:prstGeom prst="rect">
            <a:avLst/>
          </a:prstGeom>
          <a:noFill/>
          <a:ln w="9525">
            <a:noFill/>
            <a:miter lim="800000"/>
            <a:headEnd/>
            <a:tailEnd/>
          </a:ln>
        </p:spPr>
      </p:pic>
    </p:spTree>
    <p:extLst>
      <p:ext uri="{BB962C8B-B14F-4D97-AF65-F5344CB8AC3E}">
        <p14:creationId xmlns:p14="http://schemas.microsoft.com/office/powerpoint/2010/main" val="52802165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467544" y="332656"/>
            <a:ext cx="8229600" cy="792088"/>
          </a:xfrm>
        </p:spPr>
        <p:txBody>
          <a:bodyPr/>
          <a:lstStyle/>
          <a:p>
            <a:r>
              <a:rPr lang="zh-CN" altLang="en-US" sz="3600" b="1" dirty="0" smtClean="0">
                <a:solidFill>
                  <a:srgbClr val="000099"/>
                </a:solidFill>
                <a:latin typeface="黑体" pitchFamily="49" charset="-122"/>
                <a:ea typeface="黑体" pitchFamily="49" charset="-122"/>
              </a:rPr>
              <a:t>二</a:t>
            </a:r>
            <a:r>
              <a:rPr lang="en-US" altLang="zh-CN" sz="3600" b="1" dirty="0" smtClean="0">
                <a:solidFill>
                  <a:srgbClr val="000099"/>
                </a:solidFill>
                <a:latin typeface="黑体" pitchFamily="49" charset="-122"/>
                <a:ea typeface="黑体" pitchFamily="49" charset="-122"/>
              </a:rPr>
              <a:t>. </a:t>
            </a:r>
            <a:r>
              <a:rPr lang="zh-CN" altLang="en-US" sz="3600" b="1" dirty="0" smtClean="0">
                <a:solidFill>
                  <a:srgbClr val="000099"/>
                </a:solidFill>
                <a:latin typeface="黑体" pitchFamily="49" charset="-122"/>
                <a:ea typeface="黑体" pitchFamily="49" charset="-122"/>
              </a:rPr>
              <a:t>常用的预测与分类算法介绍</a:t>
            </a:r>
            <a:endParaRPr lang="zh-CN" altLang="en-US" sz="3600" b="1" dirty="0">
              <a:solidFill>
                <a:srgbClr val="000099"/>
              </a:solidFill>
              <a:latin typeface="黑体" pitchFamily="49" charset="-122"/>
              <a:ea typeface="黑体" pitchFamily="49" charset="-122"/>
            </a:endParaRPr>
          </a:p>
        </p:txBody>
      </p:sp>
      <p:sp>
        <p:nvSpPr>
          <p:cNvPr id="7" name="内容占位符 2"/>
          <p:cNvSpPr>
            <a:spLocks noGrp="1"/>
          </p:cNvSpPr>
          <p:nvPr>
            <p:ph idx="1"/>
          </p:nvPr>
        </p:nvSpPr>
        <p:spPr>
          <a:xfrm>
            <a:off x="35496" y="1268760"/>
            <a:ext cx="9036496" cy="4104456"/>
          </a:xfrm>
        </p:spPr>
        <p:txBody>
          <a:bodyPr/>
          <a:lstStyle/>
          <a:p>
            <a:pPr latinLnBrk="1">
              <a:buFont typeface="Wingdings" pitchFamily="2" charset="2"/>
              <a:buChar char="n"/>
            </a:pPr>
            <a:r>
              <a:rPr lang="zh-CN" altLang="en-US" sz="2400" dirty="0">
                <a:latin typeface="Arial" pitchFamily="34" charset="0"/>
                <a:ea typeface="黑体" pitchFamily="49" charset="-122"/>
                <a:cs typeface="Arial" pitchFamily="34" charset="0"/>
              </a:rPr>
              <a:t>回归分析：</a:t>
            </a:r>
            <a:r>
              <a:rPr lang="zh-CN" altLang="en-US" sz="2400" dirty="0">
                <a:solidFill>
                  <a:srgbClr val="FF0000"/>
                </a:solidFill>
                <a:latin typeface="Arial" pitchFamily="34" charset="0"/>
                <a:ea typeface="黑体" pitchFamily="49" charset="-122"/>
                <a:cs typeface="Arial" pitchFamily="34" charset="0"/>
              </a:rPr>
              <a:t>主要用于预测</a:t>
            </a:r>
            <a:r>
              <a:rPr lang="zh-CN" altLang="en-US" sz="2400" dirty="0">
                <a:latin typeface="Arial" pitchFamily="34" charset="0"/>
                <a:ea typeface="黑体" pitchFamily="49" charset="-122"/>
                <a:cs typeface="Arial" pitchFamily="34" charset="0"/>
              </a:rPr>
              <a:t>，</a:t>
            </a:r>
            <a:r>
              <a:rPr lang="zh-CN" altLang="en-US" sz="2400" dirty="0" smtClean="0">
                <a:latin typeface="Arial" pitchFamily="34" charset="0"/>
                <a:ea typeface="黑体" pitchFamily="49" charset="-122"/>
                <a:cs typeface="Arial" pitchFamily="34" charset="0"/>
              </a:rPr>
              <a:t>包括线性回归、</a:t>
            </a:r>
            <a:r>
              <a:rPr lang="zh-CN" altLang="en-US" sz="2400" dirty="0">
                <a:latin typeface="Arial" pitchFamily="34" charset="0"/>
                <a:ea typeface="黑体" pitchFamily="49" charset="-122"/>
                <a:cs typeface="Arial" pitchFamily="34" charset="0"/>
              </a:rPr>
              <a:t>非线性回归、</a:t>
            </a:r>
            <a:r>
              <a:rPr lang="en-US" altLang="zh-CN" sz="2400" dirty="0">
                <a:latin typeface="Arial" pitchFamily="34" charset="0"/>
                <a:ea typeface="黑体" pitchFamily="49" charset="-122"/>
                <a:cs typeface="Arial" pitchFamily="34" charset="0"/>
              </a:rPr>
              <a:t>Logistic</a:t>
            </a:r>
            <a:r>
              <a:rPr lang="zh-CN" altLang="en-US" sz="2400" dirty="0">
                <a:latin typeface="Arial" pitchFamily="34" charset="0"/>
                <a:ea typeface="黑体" pitchFamily="49" charset="-122"/>
                <a:cs typeface="Arial" pitchFamily="34" charset="0"/>
              </a:rPr>
              <a:t>回归、主成分回归、最小二乘回归等。</a:t>
            </a:r>
          </a:p>
          <a:p>
            <a:pPr latinLnBrk="1">
              <a:buFont typeface="Wingdings" pitchFamily="2" charset="2"/>
              <a:buChar char="n"/>
            </a:pPr>
            <a:r>
              <a:rPr lang="zh-CN" altLang="en-US" sz="2400" dirty="0">
                <a:latin typeface="Arial" pitchFamily="34" charset="0"/>
                <a:ea typeface="黑体" pitchFamily="49" charset="-122"/>
                <a:cs typeface="Arial" pitchFamily="34" charset="0"/>
              </a:rPr>
              <a:t>决策树</a:t>
            </a:r>
            <a:endParaRPr lang="en-US" altLang="zh-CN" sz="2400" dirty="0">
              <a:latin typeface="Arial" pitchFamily="34" charset="0"/>
              <a:ea typeface="黑体" pitchFamily="49" charset="-122"/>
              <a:cs typeface="Arial" pitchFamily="34" charset="0"/>
            </a:endParaRPr>
          </a:p>
          <a:p>
            <a:pPr latinLnBrk="1">
              <a:buFont typeface="Wingdings" pitchFamily="2" charset="2"/>
              <a:buChar char="n"/>
            </a:pPr>
            <a:r>
              <a:rPr lang="en-US" altLang="zh-CN" sz="2400" dirty="0">
                <a:latin typeface="Arial" pitchFamily="34" charset="0"/>
                <a:ea typeface="黑体" pitchFamily="49" charset="-122"/>
                <a:cs typeface="Arial" pitchFamily="34" charset="0"/>
              </a:rPr>
              <a:t>KNN</a:t>
            </a:r>
            <a:r>
              <a:rPr lang="zh-CN" altLang="en-US" sz="2400" dirty="0">
                <a:latin typeface="Arial" pitchFamily="34" charset="0"/>
                <a:ea typeface="黑体" pitchFamily="49" charset="-122"/>
                <a:cs typeface="Arial" pitchFamily="34" charset="0"/>
              </a:rPr>
              <a:t>：最近邻法</a:t>
            </a:r>
          </a:p>
          <a:p>
            <a:pPr latinLnBrk="1">
              <a:buFont typeface="Wingdings" pitchFamily="2" charset="2"/>
              <a:buChar char="n"/>
            </a:pPr>
            <a:r>
              <a:rPr lang="en-US" altLang="zh-CN" sz="2400" dirty="0">
                <a:latin typeface="Arial" pitchFamily="34" charset="0"/>
                <a:ea typeface="黑体" pitchFamily="49" charset="-122"/>
                <a:cs typeface="Arial" pitchFamily="34" charset="0"/>
              </a:rPr>
              <a:t>ANN</a:t>
            </a:r>
            <a:r>
              <a:rPr lang="zh-CN" altLang="en-US" sz="2400" dirty="0">
                <a:latin typeface="Arial" pitchFamily="34" charset="0"/>
                <a:ea typeface="黑体" pitchFamily="49" charset="-122"/>
                <a:cs typeface="Arial" pitchFamily="34" charset="0"/>
              </a:rPr>
              <a:t>（人工神经网络）</a:t>
            </a:r>
          </a:p>
          <a:p>
            <a:pPr latinLnBrk="1">
              <a:buFont typeface="Wingdings" pitchFamily="2" charset="2"/>
              <a:buChar char="n"/>
            </a:pPr>
            <a:r>
              <a:rPr lang="zh-CN" altLang="en-US" sz="2400" dirty="0">
                <a:latin typeface="Arial" pitchFamily="34" charset="0"/>
                <a:ea typeface="黑体" pitchFamily="49" charset="-122"/>
                <a:cs typeface="Arial" pitchFamily="34" charset="0"/>
              </a:rPr>
              <a:t>贝叶斯网络</a:t>
            </a:r>
          </a:p>
          <a:p>
            <a:pPr latinLnBrk="1">
              <a:buFont typeface="Wingdings" pitchFamily="2" charset="2"/>
              <a:buChar char="n"/>
            </a:pPr>
            <a:r>
              <a:rPr lang="zh-CN" altLang="en-US" sz="2400" dirty="0">
                <a:latin typeface="Arial" pitchFamily="34" charset="0"/>
                <a:ea typeface="黑体" pitchFamily="49" charset="-122"/>
                <a:cs typeface="Arial" pitchFamily="34" charset="0"/>
              </a:rPr>
              <a:t>支持向量机（</a:t>
            </a:r>
            <a:r>
              <a:rPr lang="en-US" altLang="zh-CN" sz="2400" dirty="0">
                <a:latin typeface="Arial" pitchFamily="34" charset="0"/>
                <a:ea typeface="黑体" pitchFamily="49" charset="-122"/>
                <a:cs typeface="Arial" pitchFamily="34" charset="0"/>
              </a:rPr>
              <a:t>SVM</a:t>
            </a:r>
            <a:r>
              <a:rPr lang="zh-CN" altLang="en-US" sz="2400" dirty="0">
                <a:latin typeface="Arial" pitchFamily="34" charset="0"/>
                <a:ea typeface="黑体" pitchFamily="49" charset="-122"/>
                <a:cs typeface="Arial" pitchFamily="34" charset="0"/>
              </a:rPr>
              <a:t>）：将低维非线性转换为高维线形进行计算</a:t>
            </a:r>
            <a:endParaRPr lang="en-US" altLang="zh-CN" sz="2400" dirty="0">
              <a:latin typeface="Arial" pitchFamily="34" charset="0"/>
              <a:ea typeface="黑体" pitchFamily="49" charset="-122"/>
              <a:cs typeface="Arial" pitchFamily="34" charset="0"/>
            </a:endParaRPr>
          </a:p>
          <a:p>
            <a:pPr latinLnBrk="1">
              <a:buFont typeface="Wingdings" pitchFamily="2" charset="2"/>
              <a:buChar char="n"/>
            </a:pPr>
            <a:r>
              <a:rPr lang="zh-CN" altLang="en-US" sz="2400" dirty="0">
                <a:latin typeface="Arial" pitchFamily="34" charset="0"/>
                <a:ea typeface="黑体" pitchFamily="49" charset="-122"/>
                <a:cs typeface="Arial" pitchFamily="34" charset="0"/>
              </a:rPr>
              <a:t>随机森林</a:t>
            </a:r>
            <a:endParaRPr lang="en-US" altLang="zh-CN" sz="2400" dirty="0">
              <a:latin typeface="Arial" pitchFamily="34" charset="0"/>
              <a:ea typeface="黑体" pitchFamily="49" charset="-122"/>
              <a:cs typeface="Arial" pitchFamily="34" charset="0"/>
            </a:endParaRPr>
          </a:p>
          <a:p>
            <a:pPr latinLnBrk="1">
              <a:buFont typeface="Wingdings" pitchFamily="2" charset="2"/>
              <a:buChar char="n"/>
            </a:pPr>
            <a:r>
              <a:rPr lang="zh-CN" altLang="en-US" sz="2400" dirty="0">
                <a:solidFill>
                  <a:srgbClr val="0000CC"/>
                </a:solidFill>
                <a:latin typeface="Arial" pitchFamily="34" charset="0"/>
                <a:ea typeface="黑体" pitchFamily="49" charset="-122"/>
                <a:cs typeface="Arial" pitchFamily="34" charset="0"/>
              </a:rPr>
              <a:t>深度学习</a:t>
            </a:r>
          </a:p>
        </p:txBody>
      </p:sp>
      <p:sp>
        <p:nvSpPr>
          <p:cNvPr id="8" name="矩形 7"/>
          <p:cNvSpPr/>
          <p:nvPr/>
        </p:nvSpPr>
        <p:spPr>
          <a:xfrm>
            <a:off x="827584" y="5733256"/>
            <a:ext cx="2376264" cy="584775"/>
          </a:xfrm>
          <a:prstGeom prst="rect">
            <a:avLst/>
          </a:prstGeom>
          <a:ln>
            <a:solidFill>
              <a:srgbClr val="FF0000"/>
            </a:solidFill>
          </a:ln>
        </p:spPr>
        <p:txBody>
          <a:bodyPr wrap="square">
            <a:spAutoFit/>
          </a:bodyPr>
          <a:lstStyle/>
          <a:p>
            <a:pPr algn="ctr"/>
            <a:r>
              <a:rPr lang="zh-CN" altLang="en-US" sz="3200" b="1" dirty="0" smtClean="0">
                <a:solidFill>
                  <a:srgbClr val="C00000"/>
                </a:solidFill>
                <a:latin typeface="黑体" pitchFamily="49" charset="-122"/>
                <a:ea typeface="黑体" pitchFamily="49" charset="-122"/>
              </a:rPr>
              <a:t>机器学习！</a:t>
            </a:r>
            <a:endParaRPr lang="zh-CN" altLang="en-US" sz="3200" b="1" dirty="0">
              <a:solidFill>
                <a:srgbClr val="C00000"/>
              </a:solidFill>
              <a:latin typeface="黑体" pitchFamily="49" charset="-122"/>
              <a:ea typeface="黑体" pitchFamily="49" charset="-122"/>
            </a:endParaRPr>
          </a:p>
        </p:txBody>
      </p:sp>
      <p:pic>
        <p:nvPicPr>
          <p:cNvPr id="9" name="Picture 2" descr="https://pic4.zhimg.com/v2-ba1555687477eca52b2626c5df0659eb_r.jpg"/>
          <p:cNvPicPr>
            <a:picLocks noChangeAspect="1" noChangeArrowheads="1"/>
          </p:cNvPicPr>
          <p:nvPr/>
        </p:nvPicPr>
        <p:blipFill>
          <a:blip r:embed="rId2" cstate="print"/>
          <a:srcRect/>
          <a:stretch>
            <a:fillRect/>
          </a:stretch>
        </p:blipFill>
        <p:spPr bwMode="auto">
          <a:xfrm>
            <a:off x="3347864" y="5301208"/>
            <a:ext cx="5070208" cy="1368152"/>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par>
                                <p:cTn id="8" presetID="3" presetClass="entr" presetSubtype="1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linds(horizontal)">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57</a:t>
            </a:fld>
            <a:endParaRPr lang="zh-CN" altLang="en-US"/>
          </a:p>
        </p:txBody>
      </p:sp>
      <p:sp>
        <p:nvSpPr>
          <p:cNvPr id="5" name="标题 1"/>
          <p:cNvSpPr>
            <a:spLocks noGrp="1"/>
          </p:cNvSpPr>
          <p:nvPr>
            <p:ph type="title"/>
          </p:nvPr>
        </p:nvSpPr>
        <p:spPr>
          <a:xfrm>
            <a:off x="457200" y="116632"/>
            <a:ext cx="8229600" cy="648072"/>
          </a:xfrm>
        </p:spPr>
        <p:txBody>
          <a:bodyPr/>
          <a:lstStyle/>
          <a:p>
            <a:r>
              <a:rPr lang="zh-CN" altLang="en-US" sz="3200" b="1" dirty="0" smtClean="0">
                <a:solidFill>
                  <a:srgbClr val="C00000"/>
                </a:solidFill>
                <a:latin typeface="黑体" pitchFamily="49" charset="-122"/>
                <a:ea typeface="黑体" pitchFamily="49" charset="-122"/>
              </a:rPr>
              <a:t>机器学习与统计</a:t>
            </a:r>
            <a:endParaRPr lang="zh-CN" altLang="en-US" sz="3200" b="1" dirty="0">
              <a:solidFill>
                <a:srgbClr val="C00000"/>
              </a:solidFill>
              <a:latin typeface="黑体" pitchFamily="49" charset="-122"/>
              <a:ea typeface="黑体" pitchFamily="49" charset="-122"/>
            </a:endParaRPr>
          </a:p>
        </p:txBody>
      </p:sp>
      <p:sp>
        <p:nvSpPr>
          <p:cNvPr id="6" name="内容占位符 2"/>
          <p:cNvSpPr>
            <a:spLocks noGrp="1"/>
          </p:cNvSpPr>
          <p:nvPr>
            <p:ph idx="1"/>
          </p:nvPr>
        </p:nvSpPr>
        <p:spPr>
          <a:xfrm>
            <a:off x="107504" y="836712"/>
            <a:ext cx="8856984" cy="5760640"/>
          </a:xfrm>
        </p:spPr>
        <p:txBody>
          <a:bodyPr/>
          <a:lstStyle/>
          <a:p>
            <a:r>
              <a:rPr lang="zh-CN" altLang="en-US" sz="2400" dirty="0" smtClean="0">
                <a:solidFill>
                  <a:srgbClr val="FF0000"/>
                </a:solidFill>
                <a:latin typeface="黑体" pitchFamily="49" charset="-122"/>
                <a:ea typeface="黑体" pitchFamily="49" charset="-122"/>
              </a:rPr>
              <a:t>机器学习</a:t>
            </a:r>
            <a:r>
              <a:rPr lang="zh-CN" altLang="en-US" sz="2400" dirty="0" smtClean="0">
                <a:latin typeface="黑体" pitchFamily="49" charset="-122"/>
                <a:ea typeface="黑体" pitchFamily="49" charset="-122"/>
              </a:rPr>
              <a:t>是一种人工智能技术，是一种能够直接从数据中学习，而无需依赖明确规则编程的算法；</a:t>
            </a:r>
            <a:endParaRPr lang="en-US" altLang="zh-CN" sz="2400" dirty="0" smtClean="0">
              <a:latin typeface="黑体" pitchFamily="49" charset="-122"/>
              <a:ea typeface="黑体" pitchFamily="49" charset="-122"/>
            </a:endParaRPr>
          </a:p>
          <a:p>
            <a:endParaRPr lang="en-US" altLang="zh-CN" sz="2400" dirty="0" smtClean="0">
              <a:latin typeface="黑体" pitchFamily="49" charset="-122"/>
              <a:ea typeface="黑体" pitchFamily="49" charset="-122"/>
            </a:endParaRPr>
          </a:p>
          <a:p>
            <a:r>
              <a:rPr lang="zh-CN" altLang="en-US" sz="2400" dirty="0" smtClean="0">
                <a:solidFill>
                  <a:srgbClr val="FF0000"/>
                </a:solidFill>
                <a:latin typeface="黑体" pitchFamily="49" charset="-122"/>
                <a:ea typeface="黑体" pitchFamily="49" charset="-122"/>
              </a:rPr>
              <a:t>统计学</a:t>
            </a:r>
            <a:r>
              <a:rPr lang="zh-CN" altLang="en-US" sz="2400" dirty="0" smtClean="0">
                <a:latin typeface="黑体" pitchFamily="49" charset="-122"/>
                <a:ea typeface="黑体" pitchFamily="49" charset="-122"/>
              </a:rPr>
              <a:t>是一种数学和科学方法，以数学方程式来表示数据变量间的关系，以便更好地理解数据背后的规律和趋势；</a:t>
            </a:r>
            <a:endParaRPr lang="en-US" altLang="zh-CN" sz="2400" dirty="0" smtClean="0">
              <a:latin typeface="黑体" pitchFamily="49" charset="-122"/>
              <a:ea typeface="黑体" pitchFamily="49" charset="-122"/>
            </a:endParaRPr>
          </a:p>
          <a:p>
            <a:endParaRPr lang="en-US" altLang="zh-CN" sz="2400" dirty="0" smtClean="0">
              <a:latin typeface="黑体" pitchFamily="49" charset="-122"/>
              <a:ea typeface="黑体" pitchFamily="49" charset="-122"/>
            </a:endParaRPr>
          </a:p>
          <a:p>
            <a:r>
              <a:rPr lang="zh-CN" altLang="en-US" sz="2400" dirty="0" smtClean="0">
                <a:solidFill>
                  <a:srgbClr val="FF0000"/>
                </a:solidFill>
                <a:latin typeface="黑体" pitchFamily="49" charset="-122"/>
                <a:ea typeface="黑体" pitchFamily="49" charset="-122"/>
              </a:rPr>
              <a:t>统计学现代化定义</a:t>
            </a:r>
            <a:r>
              <a:rPr lang="zh-CN" altLang="en-US" sz="2400" dirty="0" smtClean="0">
                <a:latin typeface="黑体" pitchFamily="49" charset="-122"/>
                <a:ea typeface="黑体" pitchFamily="49" charset="-122"/>
              </a:rPr>
              <a:t>：是一门从数据中学习的，能够测量、控制和沟通不确定性的科学。现在的</a:t>
            </a:r>
            <a:r>
              <a:rPr lang="en-US" altLang="zh-CN" sz="2400" dirty="0" smtClean="0">
                <a:latin typeface="黑体" pitchFamily="49" charset="-122"/>
                <a:ea typeface="黑体" pitchFamily="49" charset="-122"/>
              </a:rPr>
              <a:t>“</a:t>
            </a:r>
            <a:r>
              <a:rPr lang="zh-CN" altLang="en-US" sz="2400" dirty="0" smtClean="0">
                <a:latin typeface="黑体" pitchFamily="49" charset="-122"/>
                <a:ea typeface="黑体" pitchFamily="49" charset="-122"/>
              </a:rPr>
              <a:t>统计研究”即指“大规模的高速统计数据分析</a:t>
            </a:r>
            <a:r>
              <a:rPr lang="en-US" altLang="zh-CN" sz="2400" dirty="0" smtClean="0">
                <a:latin typeface="黑体" pitchFamily="49" charset="-122"/>
                <a:ea typeface="黑体" pitchFamily="49" charset="-122"/>
              </a:rPr>
              <a:t>”</a:t>
            </a:r>
            <a:r>
              <a:rPr lang="zh-CN" altLang="en-US" sz="2400" dirty="0" smtClean="0">
                <a:latin typeface="黑体" pitchFamily="49" charset="-122"/>
                <a:ea typeface="黑体" pitchFamily="49" charset="-122"/>
              </a:rPr>
              <a:t>。</a:t>
            </a:r>
            <a:endParaRPr lang="en-US" altLang="zh-CN" sz="2400" dirty="0" smtClean="0">
              <a:latin typeface="黑体" pitchFamily="49" charset="-122"/>
              <a:ea typeface="黑体" pitchFamily="49" charset="-122"/>
            </a:endParaRPr>
          </a:p>
          <a:p>
            <a:endParaRPr lang="en-US" altLang="zh-CN" sz="2400" dirty="0" smtClean="0">
              <a:latin typeface="黑体" pitchFamily="49" charset="-122"/>
              <a:ea typeface="黑体" pitchFamily="49" charset="-122"/>
            </a:endParaRPr>
          </a:p>
          <a:p>
            <a:r>
              <a:rPr lang="zh-CN" altLang="en-US" sz="2400" dirty="0" smtClean="0">
                <a:solidFill>
                  <a:srgbClr val="FF0000"/>
                </a:solidFill>
                <a:latin typeface="黑体" pitchFamily="49" charset="-122"/>
                <a:ea typeface="黑体" pitchFamily="49" charset="-122"/>
              </a:rPr>
              <a:t>机器学习和统计的关系：</a:t>
            </a:r>
            <a:endParaRPr lang="en-US" altLang="zh-CN" sz="2400" dirty="0" smtClean="0">
              <a:solidFill>
                <a:srgbClr val="FF0000"/>
              </a:solidFill>
              <a:latin typeface="黑体" pitchFamily="49" charset="-122"/>
              <a:ea typeface="黑体" pitchFamily="49" charset="-122"/>
            </a:endParaRPr>
          </a:p>
          <a:p>
            <a:pPr lvl="1"/>
            <a:r>
              <a:rPr lang="zh-CN" altLang="en-US" sz="2000" dirty="0" smtClean="0">
                <a:latin typeface="黑体" pitchFamily="49" charset="-122"/>
                <a:ea typeface="黑体" pitchFamily="49" charset="-122"/>
              </a:rPr>
              <a:t>机器学习侧重于预测和决策，统计学侧重于描述和推断；</a:t>
            </a:r>
            <a:endParaRPr lang="en-US" altLang="zh-CN" sz="2000" dirty="0" smtClean="0">
              <a:latin typeface="黑体" pitchFamily="49" charset="-122"/>
              <a:ea typeface="黑体" pitchFamily="49" charset="-122"/>
            </a:endParaRPr>
          </a:p>
          <a:p>
            <a:pPr lvl="1"/>
            <a:r>
              <a:rPr lang="zh-CN" altLang="en-US" sz="2000" dirty="0" smtClean="0">
                <a:latin typeface="黑体" pitchFamily="49" charset="-122"/>
                <a:ea typeface="黑体" pitchFamily="49" charset="-122"/>
              </a:rPr>
              <a:t>统计研究是一个研究过程，而机器学习是推动这一研究进行的工具；</a:t>
            </a:r>
            <a:endParaRPr lang="en-US" altLang="zh-CN" sz="2000" dirty="0" smtClean="0">
              <a:latin typeface="黑体" pitchFamily="49" charset="-122"/>
              <a:ea typeface="黑体" pitchFamily="49" charset="-122"/>
            </a:endParaRPr>
          </a:p>
          <a:p>
            <a:pPr lvl="1"/>
            <a:r>
              <a:rPr lang="zh-CN" altLang="en-US" sz="2000" dirty="0" smtClean="0">
                <a:latin typeface="黑体" pitchFamily="49" charset="-122"/>
                <a:ea typeface="黑体" pitchFamily="49" charset="-122"/>
              </a:rPr>
              <a:t>现在更多人把机器学习看作是统计的一个分支。</a:t>
            </a:r>
            <a:endParaRPr lang="zh-CN" altLang="en-US" sz="2000" dirty="0">
              <a:latin typeface="黑体" pitchFamily="49" charset="-122"/>
              <a:ea typeface="黑体" pitchFamily="49" charset="-122"/>
            </a:endParaRPr>
          </a:p>
        </p:txBody>
      </p:sp>
    </p:spTree>
    <p:extLst>
      <p:ext uri="{BB962C8B-B14F-4D97-AF65-F5344CB8AC3E}">
        <p14:creationId xmlns:p14="http://schemas.microsoft.com/office/powerpoint/2010/main" val="308018072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06090"/>
          </a:xfrm>
        </p:spPr>
        <p:txBody>
          <a:bodyPr/>
          <a:lstStyle/>
          <a:p>
            <a:r>
              <a:rPr lang="en-US" altLang="zh-CN" sz="3200" b="1" dirty="0" smtClean="0">
                <a:solidFill>
                  <a:srgbClr val="C00000"/>
                </a:solidFill>
                <a:latin typeface="Arial" pitchFamily="34" charset="0"/>
                <a:ea typeface="黑体" pitchFamily="49" charset="-122"/>
                <a:cs typeface="Arial" pitchFamily="34" charset="0"/>
              </a:rPr>
              <a:t>1. </a:t>
            </a:r>
            <a:r>
              <a:rPr lang="zh-CN" altLang="en-US" sz="3200" b="1" dirty="0" smtClean="0">
                <a:solidFill>
                  <a:srgbClr val="C00000"/>
                </a:solidFill>
                <a:latin typeface="Arial" pitchFamily="34" charset="0"/>
                <a:ea typeface="黑体" pitchFamily="49" charset="-122"/>
                <a:cs typeface="Arial" pitchFamily="34" charset="0"/>
              </a:rPr>
              <a:t>回归（</a:t>
            </a:r>
            <a:r>
              <a:rPr lang="en-US" altLang="zh-CN" sz="3200" b="1" dirty="0" smtClean="0">
                <a:solidFill>
                  <a:srgbClr val="C00000"/>
                </a:solidFill>
                <a:latin typeface="Arial" pitchFamily="34" charset="0"/>
                <a:ea typeface="黑体" pitchFamily="49" charset="-122"/>
                <a:cs typeface="Arial" pitchFamily="34" charset="0"/>
              </a:rPr>
              <a:t>Regression</a:t>
            </a:r>
            <a:r>
              <a:rPr lang="zh-CN" altLang="en-US" sz="3200" b="1" dirty="0" smtClean="0">
                <a:solidFill>
                  <a:srgbClr val="C00000"/>
                </a:solidFill>
                <a:latin typeface="Arial" pitchFamily="34" charset="0"/>
                <a:ea typeface="黑体" pitchFamily="49" charset="-122"/>
                <a:cs typeface="Arial" pitchFamily="34" charset="0"/>
              </a:rPr>
              <a:t>）</a:t>
            </a:r>
            <a:endParaRPr lang="zh-CN" altLang="en-US" sz="3200" dirty="0"/>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58</a:t>
            </a:fld>
            <a:endParaRPr lang="zh-CN" altLang="en-US"/>
          </a:p>
        </p:txBody>
      </p:sp>
      <p:sp>
        <p:nvSpPr>
          <p:cNvPr id="6" name="内容占位符 2"/>
          <p:cNvSpPr>
            <a:spLocks noGrp="1"/>
          </p:cNvSpPr>
          <p:nvPr>
            <p:ph idx="1"/>
          </p:nvPr>
        </p:nvSpPr>
        <p:spPr>
          <a:xfrm>
            <a:off x="143508" y="1124744"/>
            <a:ext cx="8856984" cy="5445484"/>
          </a:xfrm>
        </p:spPr>
        <p:txBody>
          <a:bodyPr/>
          <a:lstStyle/>
          <a:p>
            <a:pPr>
              <a:buFont typeface="Wingdings" pitchFamily="2" charset="2"/>
              <a:buChar char="n"/>
            </a:pPr>
            <a:r>
              <a:rPr lang="zh-CN" altLang="en-US" sz="2800" dirty="0" smtClean="0">
                <a:latin typeface="Arial" pitchFamily="34" charset="0"/>
                <a:ea typeface="黑体" pitchFamily="49" charset="-122"/>
                <a:cs typeface="Arial" pitchFamily="34" charset="0"/>
              </a:rPr>
              <a:t>回归：指</a:t>
            </a:r>
            <a:r>
              <a:rPr lang="zh-CN" altLang="en-US" sz="2800" dirty="0">
                <a:latin typeface="Arial" pitchFamily="34" charset="0"/>
                <a:ea typeface="黑体" pitchFamily="49" charset="-122"/>
                <a:cs typeface="Arial" pitchFamily="34" charset="0"/>
              </a:rPr>
              <a:t>研究一组随机变量</a:t>
            </a:r>
            <a:r>
              <a:rPr lang="en-US" altLang="zh-CN" sz="2800" dirty="0">
                <a:latin typeface="Arial" pitchFamily="34" charset="0"/>
                <a:ea typeface="黑体" pitchFamily="49" charset="-122"/>
                <a:cs typeface="Arial" pitchFamily="34" charset="0"/>
              </a:rPr>
              <a:t>(</a:t>
            </a:r>
            <a:r>
              <a:rPr lang="en-US" altLang="zh-CN" sz="2800" dirty="0" smtClean="0">
                <a:latin typeface="Arial" pitchFamily="34" charset="0"/>
                <a:ea typeface="黑体" pitchFamily="49" charset="-122"/>
                <a:cs typeface="Arial" pitchFamily="34" charset="0"/>
              </a:rPr>
              <a:t>Y</a:t>
            </a:r>
            <a:r>
              <a:rPr lang="en-US" altLang="zh-CN" sz="2800" baseline="-25000" dirty="0" smtClean="0">
                <a:latin typeface="Arial" pitchFamily="34" charset="0"/>
                <a:ea typeface="黑体" pitchFamily="49" charset="-122"/>
                <a:cs typeface="Arial" pitchFamily="34" charset="0"/>
              </a:rPr>
              <a:t>1</a:t>
            </a:r>
            <a:r>
              <a:rPr lang="zh-CN" altLang="en-US" sz="2800" dirty="0" smtClean="0">
                <a:latin typeface="Arial" pitchFamily="34" charset="0"/>
                <a:ea typeface="黑体" pitchFamily="49" charset="-122"/>
                <a:cs typeface="Arial" pitchFamily="34" charset="0"/>
              </a:rPr>
              <a:t>，</a:t>
            </a:r>
            <a:r>
              <a:rPr lang="en-US" altLang="zh-CN" sz="2800" dirty="0" smtClean="0">
                <a:latin typeface="Arial" pitchFamily="34" charset="0"/>
                <a:ea typeface="黑体" pitchFamily="49" charset="-122"/>
                <a:cs typeface="Arial" pitchFamily="34" charset="0"/>
              </a:rPr>
              <a:t>Y</a:t>
            </a:r>
            <a:r>
              <a:rPr lang="en-US" altLang="zh-CN" sz="2800" baseline="-25000" dirty="0" smtClean="0">
                <a:latin typeface="Arial" pitchFamily="34" charset="0"/>
                <a:ea typeface="黑体" pitchFamily="49" charset="-122"/>
                <a:cs typeface="Arial" pitchFamily="34" charset="0"/>
              </a:rPr>
              <a:t>2</a:t>
            </a:r>
            <a:r>
              <a:rPr lang="zh-CN" altLang="en-US" sz="2800" dirty="0" smtClean="0">
                <a:latin typeface="Arial" pitchFamily="34" charset="0"/>
                <a:ea typeface="黑体" pitchFamily="49" charset="-122"/>
                <a:cs typeface="Arial" pitchFamily="34" charset="0"/>
              </a:rPr>
              <a:t>，</a:t>
            </a:r>
            <a:r>
              <a:rPr lang="en-US" altLang="zh-CN" sz="2800" dirty="0">
                <a:latin typeface="Arial" pitchFamily="34" charset="0"/>
                <a:ea typeface="黑体" pitchFamily="49" charset="-122"/>
                <a:cs typeface="Arial" pitchFamily="34" charset="0"/>
              </a:rPr>
              <a:t>…</a:t>
            </a:r>
            <a:r>
              <a:rPr lang="zh-CN" altLang="en-US" sz="2800" dirty="0">
                <a:latin typeface="Arial" pitchFamily="34" charset="0"/>
                <a:ea typeface="黑体" pitchFamily="49" charset="-122"/>
                <a:cs typeface="Arial" pitchFamily="34" charset="0"/>
              </a:rPr>
              <a:t>，</a:t>
            </a:r>
            <a:r>
              <a:rPr lang="en-US" altLang="zh-CN" sz="2800" dirty="0">
                <a:latin typeface="Arial" pitchFamily="34" charset="0"/>
                <a:ea typeface="黑体" pitchFamily="49" charset="-122"/>
                <a:cs typeface="Arial" pitchFamily="34" charset="0"/>
              </a:rPr>
              <a:t>Y</a:t>
            </a:r>
            <a:r>
              <a:rPr lang="en-US" altLang="zh-CN" sz="2800" baseline="-25000" dirty="0">
                <a:latin typeface="Arial" pitchFamily="34" charset="0"/>
                <a:ea typeface="黑体" pitchFamily="49" charset="-122"/>
                <a:cs typeface="Arial" pitchFamily="34" charset="0"/>
              </a:rPr>
              <a:t>i</a:t>
            </a:r>
            <a:r>
              <a:rPr lang="en-US" altLang="zh-CN" sz="2800" dirty="0">
                <a:latin typeface="Arial" pitchFamily="34" charset="0"/>
                <a:ea typeface="黑体" pitchFamily="49" charset="-122"/>
                <a:cs typeface="Arial" pitchFamily="34" charset="0"/>
              </a:rPr>
              <a:t>)</a:t>
            </a:r>
            <a:r>
              <a:rPr lang="zh-CN" altLang="en-US" sz="2800" dirty="0">
                <a:latin typeface="Arial" pitchFamily="34" charset="0"/>
                <a:ea typeface="黑体" pitchFamily="49" charset="-122"/>
                <a:cs typeface="Arial" pitchFamily="34" charset="0"/>
              </a:rPr>
              <a:t>和另一</a:t>
            </a:r>
            <a:r>
              <a:rPr lang="zh-CN" altLang="en-US" sz="2800" dirty="0" smtClean="0">
                <a:latin typeface="Arial" pitchFamily="34" charset="0"/>
                <a:ea typeface="黑体" pitchFamily="49" charset="-122"/>
                <a:cs typeface="Arial" pitchFamily="34" charset="0"/>
              </a:rPr>
              <a:t>组变量</a:t>
            </a:r>
            <a:r>
              <a:rPr lang="en-US" altLang="zh-CN" sz="2800" dirty="0" smtClean="0">
                <a:latin typeface="Arial" pitchFamily="34" charset="0"/>
                <a:ea typeface="黑体" pitchFamily="49" charset="-122"/>
                <a:cs typeface="Arial" pitchFamily="34" charset="0"/>
              </a:rPr>
              <a:t>(X</a:t>
            </a:r>
            <a:r>
              <a:rPr lang="en-US" altLang="zh-CN" sz="2800" baseline="-25000" dirty="0" smtClean="0">
                <a:latin typeface="Arial" pitchFamily="34" charset="0"/>
                <a:ea typeface="黑体" pitchFamily="49" charset="-122"/>
                <a:cs typeface="Arial" pitchFamily="34" charset="0"/>
              </a:rPr>
              <a:t>1</a:t>
            </a:r>
            <a:r>
              <a:rPr lang="zh-CN" altLang="en-US" sz="2800" dirty="0">
                <a:latin typeface="Arial" pitchFamily="34" charset="0"/>
                <a:ea typeface="黑体" pitchFamily="49" charset="-122"/>
                <a:cs typeface="Arial" pitchFamily="34" charset="0"/>
              </a:rPr>
              <a:t>，</a:t>
            </a:r>
            <a:r>
              <a:rPr lang="en-US" altLang="zh-CN" sz="2800" dirty="0">
                <a:latin typeface="Arial" pitchFamily="34" charset="0"/>
                <a:ea typeface="黑体" pitchFamily="49" charset="-122"/>
                <a:cs typeface="Arial" pitchFamily="34" charset="0"/>
              </a:rPr>
              <a:t>X</a:t>
            </a:r>
            <a:r>
              <a:rPr lang="en-US" altLang="zh-CN" sz="2800" baseline="-25000" dirty="0">
                <a:latin typeface="Arial" pitchFamily="34" charset="0"/>
                <a:ea typeface="黑体" pitchFamily="49" charset="-122"/>
                <a:cs typeface="Arial" pitchFamily="34" charset="0"/>
              </a:rPr>
              <a:t>2</a:t>
            </a:r>
            <a:r>
              <a:rPr lang="zh-CN" altLang="en-US" sz="2800" dirty="0">
                <a:latin typeface="Arial" pitchFamily="34" charset="0"/>
                <a:ea typeface="黑体" pitchFamily="49" charset="-122"/>
                <a:cs typeface="Arial" pitchFamily="34" charset="0"/>
              </a:rPr>
              <a:t>，</a:t>
            </a:r>
            <a:r>
              <a:rPr lang="en-US" altLang="zh-CN" sz="2800" dirty="0">
                <a:latin typeface="Arial" pitchFamily="34" charset="0"/>
                <a:ea typeface="黑体" pitchFamily="49" charset="-122"/>
                <a:cs typeface="Arial" pitchFamily="34" charset="0"/>
              </a:rPr>
              <a:t>…</a:t>
            </a:r>
            <a:r>
              <a:rPr lang="zh-CN" altLang="en-US" sz="2800" dirty="0">
                <a:latin typeface="Arial" pitchFamily="34" charset="0"/>
                <a:ea typeface="黑体" pitchFamily="49" charset="-122"/>
                <a:cs typeface="Arial" pitchFamily="34" charset="0"/>
              </a:rPr>
              <a:t>，</a:t>
            </a:r>
            <a:r>
              <a:rPr lang="en-US" altLang="zh-CN" sz="2800" dirty="0" err="1">
                <a:latin typeface="Arial" pitchFamily="34" charset="0"/>
                <a:ea typeface="黑体" pitchFamily="49" charset="-122"/>
                <a:cs typeface="Arial" pitchFamily="34" charset="0"/>
              </a:rPr>
              <a:t>X</a:t>
            </a:r>
            <a:r>
              <a:rPr lang="en-US" altLang="zh-CN" sz="2800" baseline="-25000" dirty="0" err="1">
                <a:latin typeface="Arial" pitchFamily="34" charset="0"/>
                <a:ea typeface="黑体" pitchFamily="49" charset="-122"/>
                <a:cs typeface="Arial" pitchFamily="34" charset="0"/>
              </a:rPr>
              <a:t>k</a:t>
            </a:r>
            <a:r>
              <a:rPr lang="en-US" altLang="zh-CN" sz="2800" dirty="0" smtClean="0">
                <a:latin typeface="Arial" pitchFamily="34" charset="0"/>
                <a:ea typeface="黑体" pitchFamily="49" charset="-122"/>
                <a:cs typeface="Arial" pitchFamily="34" charset="0"/>
              </a:rPr>
              <a:t>)</a:t>
            </a:r>
            <a:r>
              <a:rPr lang="zh-CN" altLang="en-US" sz="2800" dirty="0" smtClean="0">
                <a:latin typeface="Arial" pitchFamily="34" charset="0"/>
                <a:ea typeface="黑体" pitchFamily="49" charset="-122"/>
                <a:cs typeface="Arial" pitchFamily="34" charset="0"/>
              </a:rPr>
              <a:t>之间</a:t>
            </a:r>
            <a:r>
              <a:rPr lang="zh-CN" altLang="en-US" sz="2800" dirty="0">
                <a:latin typeface="Arial" pitchFamily="34" charset="0"/>
                <a:ea typeface="黑体" pitchFamily="49" charset="-122"/>
                <a:cs typeface="Arial" pitchFamily="34" charset="0"/>
              </a:rPr>
              <a:t>关系的统计分析</a:t>
            </a:r>
            <a:r>
              <a:rPr lang="zh-CN" altLang="en-US" sz="2800" dirty="0" smtClean="0">
                <a:latin typeface="Arial" pitchFamily="34" charset="0"/>
                <a:ea typeface="黑体" pitchFamily="49" charset="-122"/>
                <a:cs typeface="Arial" pitchFamily="34" charset="0"/>
              </a:rPr>
              <a:t>方法；</a:t>
            </a:r>
            <a:endParaRPr lang="en-US" altLang="zh-CN" sz="2800" dirty="0" smtClean="0">
              <a:latin typeface="Arial" pitchFamily="34" charset="0"/>
              <a:ea typeface="黑体" pitchFamily="49" charset="-122"/>
              <a:cs typeface="Arial" pitchFamily="34" charset="0"/>
            </a:endParaRPr>
          </a:p>
          <a:p>
            <a:pPr>
              <a:buFont typeface="Wingdings" pitchFamily="2" charset="2"/>
              <a:buChar char="n"/>
            </a:pPr>
            <a:endParaRPr lang="en-US" altLang="zh-CN" sz="2800" dirty="0">
              <a:latin typeface="Arial" pitchFamily="34" charset="0"/>
              <a:ea typeface="黑体" pitchFamily="49" charset="-122"/>
              <a:cs typeface="Arial" pitchFamily="34" charset="0"/>
            </a:endParaRPr>
          </a:p>
          <a:p>
            <a:pPr>
              <a:buFont typeface="Wingdings" pitchFamily="2" charset="2"/>
              <a:buChar char="n"/>
            </a:pPr>
            <a:r>
              <a:rPr lang="zh-CN" altLang="en-US" sz="2800" dirty="0" smtClean="0">
                <a:latin typeface="Arial" pitchFamily="34" charset="0"/>
                <a:ea typeface="黑体" pitchFamily="49" charset="-122"/>
                <a:cs typeface="Arial" pitchFamily="34" charset="0"/>
              </a:rPr>
              <a:t>回归预测</a:t>
            </a:r>
            <a:r>
              <a:rPr lang="zh-CN" altLang="en-US" sz="2800" dirty="0">
                <a:latin typeface="Arial" pitchFamily="34" charset="0"/>
                <a:ea typeface="黑体" pitchFamily="49" charset="-122"/>
                <a:cs typeface="Arial" pitchFamily="34" charset="0"/>
              </a:rPr>
              <a:t>建模是逼近一个从输入变量</a:t>
            </a:r>
            <a:r>
              <a:rPr lang="zh-CN" altLang="en-US" sz="2800" dirty="0" smtClean="0">
                <a:latin typeface="Arial" pitchFamily="34" charset="0"/>
                <a:ea typeface="黑体" pitchFamily="49" charset="-122"/>
                <a:cs typeface="Arial" pitchFamily="34" charset="0"/>
              </a:rPr>
              <a:t>（</a:t>
            </a:r>
            <a:r>
              <a:rPr lang="en-US" altLang="zh-CN" sz="2800" dirty="0" smtClean="0">
                <a:latin typeface="Arial" pitchFamily="34" charset="0"/>
                <a:ea typeface="黑体" pitchFamily="49" charset="-122"/>
                <a:cs typeface="Arial" pitchFamily="34" charset="0"/>
              </a:rPr>
              <a:t>X</a:t>
            </a:r>
            <a:r>
              <a:rPr lang="zh-CN" altLang="en-US" sz="2800" dirty="0" smtClean="0">
                <a:latin typeface="Arial" pitchFamily="34" charset="0"/>
                <a:ea typeface="黑体" pitchFamily="49" charset="-122"/>
                <a:cs typeface="Arial" pitchFamily="34" charset="0"/>
              </a:rPr>
              <a:t>）到连续输出变量（</a:t>
            </a:r>
            <a:r>
              <a:rPr lang="en-US" altLang="zh-CN" sz="2800" dirty="0" smtClean="0">
                <a:latin typeface="Arial" pitchFamily="34" charset="0"/>
                <a:ea typeface="黑体" pitchFamily="49" charset="-122"/>
                <a:cs typeface="Arial" pitchFamily="34" charset="0"/>
              </a:rPr>
              <a:t>y</a:t>
            </a:r>
            <a:r>
              <a:rPr lang="zh-CN" altLang="en-US" sz="2800" dirty="0" smtClean="0">
                <a:latin typeface="Arial" pitchFamily="34" charset="0"/>
                <a:ea typeface="黑体" pitchFamily="49" charset="-122"/>
                <a:cs typeface="Arial" pitchFamily="34" charset="0"/>
              </a:rPr>
              <a:t>）</a:t>
            </a:r>
            <a:r>
              <a:rPr lang="zh-CN" altLang="en-US" sz="2800" dirty="0">
                <a:latin typeface="Arial" pitchFamily="34" charset="0"/>
                <a:ea typeface="黑体" pitchFamily="49" charset="-122"/>
                <a:cs typeface="Arial" pitchFamily="34" charset="0"/>
              </a:rPr>
              <a:t>的函数</a:t>
            </a:r>
            <a:r>
              <a:rPr lang="zh-CN" altLang="en-US" sz="2800" dirty="0" smtClean="0">
                <a:latin typeface="Arial" pitchFamily="34" charset="0"/>
                <a:ea typeface="黑体" pitchFamily="49" charset="-122"/>
                <a:cs typeface="Arial" pitchFamily="34" charset="0"/>
              </a:rPr>
              <a:t>映射；</a:t>
            </a:r>
            <a:endParaRPr lang="en-US" altLang="zh-CN" sz="2800" dirty="0">
              <a:latin typeface="Arial" pitchFamily="34" charset="0"/>
              <a:ea typeface="黑体" pitchFamily="49" charset="-122"/>
              <a:cs typeface="Arial" pitchFamily="34" charset="0"/>
            </a:endParaRPr>
          </a:p>
          <a:p>
            <a:pPr>
              <a:buFont typeface="Wingdings" pitchFamily="2" charset="2"/>
              <a:buChar char="n"/>
            </a:pPr>
            <a:endParaRPr lang="en-US" altLang="zh-CN" sz="2800" dirty="0">
              <a:latin typeface="Arial" pitchFamily="34" charset="0"/>
              <a:ea typeface="黑体" pitchFamily="49" charset="-122"/>
              <a:cs typeface="Arial" pitchFamily="34" charset="0"/>
            </a:endParaRPr>
          </a:p>
          <a:p>
            <a:pPr>
              <a:buFont typeface="Wingdings" pitchFamily="2" charset="2"/>
              <a:buChar char="n"/>
            </a:pPr>
            <a:r>
              <a:rPr lang="zh-CN" altLang="en-US" sz="2800" dirty="0" smtClean="0">
                <a:latin typeface="Arial" pitchFamily="34" charset="0"/>
                <a:ea typeface="黑体" pitchFamily="49" charset="-122"/>
                <a:cs typeface="Arial" pitchFamily="34" charset="0"/>
              </a:rPr>
              <a:t>能够学习回归预测模型的算法被称为回归算法；</a:t>
            </a:r>
            <a:endParaRPr lang="en-US" altLang="zh-CN" sz="2800" dirty="0" smtClean="0">
              <a:latin typeface="Arial" pitchFamily="34" charset="0"/>
              <a:ea typeface="黑体" pitchFamily="49" charset="-122"/>
              <a:cs typeface="Arial" pitchFamily="34" charset="0"/>
            </a:endParaRPr>
          </a:p>
          <a:p>
            <a:pPr>
              <a:buFont typeface="Wingdings" pitchFamily="2" charset="2"/>
              <a:buChar char="n"/>
            </a:pPr>
            <a:endParaRPr lang="en-US" altLang="zh-CN" sz="2800" dirty="0" smtClean="0">
              <a:latin typeface="Arial" pitchFamily="34" charset="0"/>
              <a:ea typeface="黑体" pitchFamily="49" charset="-122"/>
              <a:cs typeface="Arial" pitchFamily="34" charset="0"/>
            </a:endParaRPr>
          </a:p>
          <a:p>
            <a:pPr>
              <a:buFont typeface="Wingdings" pitchFamily="2" charset="2"/>
              <a:buChar char="n"/>
            </a:pPr>
            <a:r>
              <a:rPr lang="zh-CN" altLang="en-US" sz="2800" dirty="0" smtClean="0">
                <a:latin typeface="Arial" pitchFamily="34" charset="0"/>
                <a:ea typeface="黑体" pitchFamily="49" charset="-122"/>
                <a:cs typeface="Arial" pitchFamily="34" charset="0"/>
              </a:rPr>
              <a:t>一些算法的名称中包含“回归”这个词，如线性回归和逻辑（</a:t>
            </a:r>
            <a:r>
              <a:rPr lang="en-US" altLang="zh-CN" sz="2800" dirty="0" smtClean="0">
                <a:latin typeface="Arial" pitchFamily="34" charset="0"/>
                <a:ea typeface="黑体" pitchFamily="49" charset="-122"/>
                <a:cs typeface="Arial" pitchFamily="34" charset="0"/>
              </a:rPr>
              <a:t>Logistic</a:t>
            </a:r>
            <a:r>
              <a:rPr lang="zh-CN" altLang="en-US" sz="2800" dirty="0" smtClean="0">
                <a:latin typeface="Arial" pitchFamily="34" charset="0"/>
                <a:ea typeface="黑体" pitchFamily="49" charset="-122"/>
                <a:cs typeface="Arial" pitchFamily="34" charset="0"/>
              </a:rPr>
              <a:t>）回归，</a:t>
            </a:r>
            <a:r>
              <a:rPr lang="zh-CN" altLang="en-US" sz="2800" dirty="0" smtClean="0">
                <a:solidFill>
                  <a:srgbClr val="FF0000"/>
                </a:solidFill>
                <a:latin typeface="Arial" pitchFamily="34" charset="0"/>
                <a:ea typeface="黑体" pitchFamily="49" charset="-122"/>
                <a:cs typeface="Arial" pitchFamily="34" charset="0"/>
              </a:rPr>
              <a:t>线性回归是一种回归算法，而逻辑回归是一种分类算法</a:t>
            </a:r>
            <a:r>
              <a:rPr lang="zh-CN" altLang="en-US" sz="2800" dirty="0" smtClean="0">
                <a:latin typeface="Arial" pitchFamily="34" charset="0"/>
                <a:ea typeface="黑体" pitchFamily="49" charset="-122"/>
                <a:cs typeface="Arial" pitchFamily="34" charset="0"/>
              </a:rPr>
              <a:t>。</a:t>
            </a:r>
            <a:endParaRPr lang="zh-CN" altLang="en-US" sz="2800" dirty="0">
              <a:latin typeface="Arial" pitchFamily="34" charset="0"/>
              <a:ea typeface="黑体" pitchFamily="49" charset="-122"/>
              <a:cs typeface="Arial" pitchFamily="34" charset="0"/>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59</a:t>
            </a:fld>
            <a:endParaRPr lang="zh-CN" altLang="en-US"/>
          </a:p>
        </p:txBody>
      </p:sp>
      <p:sp>
        <p:nvSpPr>
          <p:cNvPr id="3" name="标题 1"/>
          <p:cNvSpPr txBox="1">
            <a:spLocks/>
          </p:cNvSpPr>
          <p:nvPr/>
        </p:nvSpPr>
        <p:spPr>
          <a:xfrm>
            <a:off x="374848" y="346646"/>
            <a:ext cx="8229600" cy="562074"/>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a:lstStyle>
          <a:p>
            <a:r>
              <a:rPr lang="zh-CN" altLang="en-US" sz="3200" b="1" u="sng" dirty="0" smtClean="0">
                <a:solidFill>
                  <a:srgbClr val="006600"/>
                </a:solidFill>
                <a:latin typeface="Arial" pitchFamily="34" charset="0"/>
                <a:ea typeface="黑体" pitchFamily="49" charset="-122"/>
                <a:cs typeface="Arial" pitchFamily="34" charset="0"/>
              </a:rPr>
              <a:t>回归与分类的区别</a:t>
            </a:r>
            <a:endParaRPr lang="zh-CN" altLang="en-US" sz="3200" b="1" u="sng" dirty="0">
              <a:solidFill>
                <a:srgbClr val="006600"/>
              </a:solidFill>
            </a:endParaRPr>
          </a:p>
        </p:txBody>
      </p:sp>
      <p:sp>
        <p:nvSpPr>
          <p:cNvPr id="4" name="内容占位符 2"/>
          <p:cNvSpPr txBox="1">
            <a:spLocks/>
          </p:cNvSpPr>
          <p:nvPr/>
        </p:nvSpPr>
        <p:spPr>
          <a:xfrm>
            <a:off x="36512" y="1052736"/>
            <a:ext cx="9071992" cy="5544616"/>
          </a:xfrm>
          <a:prstGeom prst="rect">
            <a:avLst/>
          </a:prstGeom>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Char char="n"/>
            </a:pPr>
            <a:r>
              <a:rPr lang="zh-CN" altLang="en-US" sz="2400" dirty="0" smtClean="0">
                <a:solidFill>
                  <a:srgbClr val="C00000"/>
                </a:solidFill>
                <a:latin typeface="Arial" pitchFamily="34" charset="0"/>
                <a:ea typeface="黑体" pitchFamily="49" charset="-122"/>
                <a:cs typeface="Arial" pitchFamily="34" charset="0"/>
              </a:rPr>
              <a:t>回归是预测连续数量的任务，分类是预测离散类标签的任务；</a:t>
            </a:r>
            <a:endParaRPr lang="en-US" altLang="zh-CN" sz="2400" dirty="0" smtClean="0">
              <a:solidFill>
                <a:srgbClr val="C00000"/>
              </a:solidFill>
              <a:latin typeface="Arial" pitchFamily="34" charset="0"/>
              <a:ea typeface="黑体" pitchFamily="49" charset="-122"/>
              <a:cs typeface="Arial" pitchFamily="34" charset="0"/>
            </a:endParaRPr>
          </a:p>
          <a:p>
            <a:pPr>
              <a:buFont typeface="Wingdings" pitchFamily="2" charset="2"/>
              <a:buChar char="n"/>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zh-CN" altLang="en-US" sz="2400" dirty="0" smtClean="0">
                <a:latin typeface="Arial" pitchFamily="34" charset="0"/>
                <a:ea typeface="黑体" pitchFamily="49" charset="-122"/>
                <a:cs typeface="Arial" pitchFamily="34" charset="0"/>
              </a:rPr>
              <a:t>分类和回归算法之间有一些重叠；</a:t>
            </a:r>
            <a:endParaRPr lang="en-US" altLang="zh-CN" sz="2400" dirty="0" smtClean="0">
              <a:latin typeface="Arial" pitchFamily="34" charset="0"/>
              <a:ea typeface="黑体" pitchFamily="49" charset="-122"/>
              <a:cs typeface="Arial" pitchFamily="34" charset="0"/>
            </a:endParaRPr>
          </a:p>
          <a:p>
            <a:pPr lvl="1">
              <a:buFont typeface="Wingdings" pitchFamily="2" charset="2"/>
              <a:buChar char="n"/>
            </a:pPr>
            <a:r>
              <a:rPr lang="zh-CN" altLang="en-US" sz="2000" dirty="0" smtClean="0">
                <a:latin typeface="Arial" pitchFamily="34" charset="0"/>
                <a:ea typeface="黑体" pitchFamily="49" charset="-122"/>
                <a:cs typeface="Arial" pitchFamily="34" charset="0"/>
              </a:rPr>
              <a:t>分类算法可以预测连续值，但是连续值是以类标签概率的形式；</a:t>
            </a:r>
            <a:endParaRPr lang="en-US" altLang="zh-CN" sz="2000" dirty="0" smtClean="0">
              <a:latin typeface="Arial" pitchFamily="34" charset="0"/>
              <a:ea typeface="黑体" pitchFamily="49" charset="-122"/>
              <a:cs typeface="Arial" pitchFamily="34" charset="0"/>
            </a:endParaRPr>
          </a:p>
          <a:p>
            <a:pPr lvl="1">
              <a:buFont typeface="Wingdings" pitchFamily="2" charset="2"/>
              <a:buChar char="n"/>
            </a:pPr>
            <a:r>
              <a:rPr lang="zh-CN" altLang="en-US" sz="2000" dirty="0" smtClean="0">
                <a:latin typeface="Arial" pitchFamily="34" charset="0"/>
                <a:ea typeface="黑体" pitchFamily="49" charset="-122"/>
                <a:cs typeface="Arial" pitchFamily="34" charset="0"/>
              </a:rPr>
              <a:t>回归算法可以预测离散值，但是以整型量的形式预测离散值的；</a:t>
            </a:r>
            <a:endParaRPr lang="en-US" altLang="zh-CN" sz="2000" dirty="0" smtClean="0">
              <a:latin typeface="Arial" pitchFamily="34" charset="0"/>
              <a:ea typeface="黑体" pitchFamily="49" charset="-122"/>
              <a:cs typeface="Arial" pitchFamily="34" charset="0"/>
            </a:endParaRPr>
          </a:p>
          <a:p>
            <a:pPr>
              <a:buFont typeface="Wingdings" pitchFamily="2" charset="2"/>
              <a:buChar char="n"/>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zh-CN" altLang="en-US" sz="2400" dirty="0" smtClean="0">
                <a:latin typeface="Arial" pitchFamily="34" charset="0"/>
                <a:ea typeface="黑体" pitchFamily="49" charset="-122"/>
                <a:cs typeface="Arial" pitchFamily="34" charset="0"/>
              </a:rPr>
              <a:t>一些算法可用于分类和回归的小改进，如决策树和人工神经网络；有些算法不能或不能很容易地用于这两种问题类型，例如用于回归预测建模的线性回归和用于分类建模的逻辑回归；</a:t>
            </a:r>
            <a:endParaRPr lang="en-US" altLang="zh-CN" sz="2400" dirty="0" smtClean="0">
              <a:latin typeface="Arial" pitchFamily="34" charset="0"/>
              <a:ea typeface="黑体" pitchFamily="49" charset="-122"/>
              <a:cs typeface="Arial" pitchFamily="34" charset="0"/>
            </a:endParaRPr>
          </a:p>
          <a:p>
            <a:pPr>
              <a:buFont typeface="Arial" charset="0"/>
              <a:buNone/>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zh-CN" altLang="en-US" sz="2400" dirty="0" smtClean="0">
                <a:latin typeface="Arial" pitchFamily="34" charset="0"/>
                <a:ea typeface="黑体" pitchFamily="49" charset="-122"/>
                <a:cs typeface="Arial" pitchFamily="34" charset="0"/>
              </a:rPr>
              <a:t>评估分类和回归预测的方法各不相同：</a:t>
            </a:r>
          </a:p>
          <a:p>
            <a:pPr lvl="1">
              <a:buFont typeface="Wingdings" pitchFamily="2" charset="2"/>
              <a:buChar char="n"/>
            </a:pPr>
            <a:r>
              <a:rPr lang="zh-CN" altLang="en-US" sz="2000" dirty="0" smtClean="0">
                <a:latin typeface="Arial" pitchFamily="34" charset="0"/>
                <a:ea typeface="黑体" pitchFamily="49" charset="-122"/>
                <a:cs typeface="Arial" pitchFamily="34" charset="0"/>
              </a:rPr>
              <a:t>分类可以使用准确性进行评估，而回归预测则不能；</a:t>
            </a:r>
            <a:endParaRPr lang="en-US" altLang="zh-CN" sz="2000" dirty="0" smtClean="0">
              <a:latin typeface="Arial" pitchFamily="34" charset="0"/>
              <a:ea typeface="黑体" pitchFamily="49" charset="-122"/>
              <a:cs typeface="Arial" pitchFamily="34" charset="0"/>
            </a:endParaRPr>
          </a:p>
          <a:p>
            <a:pPr lvl="1">
              <a:buFont typeface="Wingdings" pitchFamily="2" charset="2"/>
              <a:buChar char="n"/>
            </a:pPr>
            <a:r>
              <a:rPr lang="zh-CN" altLang="en-US" sz="2000" dirty="0" smtClean="0">
                <a:latin typeface="Arial" pitchFamily="34" charset="0"/>
                <a:ea typeface="黑体" pitchFamily="49" charset="-122"/>
                <a:cs typeface="Arial" pitchFamily="34" charset="0"/>
              </a:rPr>
              <a:t>回归预测可使用均方根误差（</a:t>
            </a:r>
            <a:r>
              <a:rPr lang="en-US" altLang="zh-CN" sz="2000" dirty="0" smtClean="0">
                <a:latin typeface="Arial" pitchFamily="34" charset="0"/>
                <a:ea typeface="黑体" pitchFamily="49" charset="-122"/>
                <a:cs typeface="Arial" pitchFamily="34" charset="0"/>
              </a:rPr>
              <a:t>RMSE</a:t>
            </a:r>
            <a:r>
              <a:rPr lang="zh-CN" altLang="en-US" sz="2000" dirty="0" smtClean="0">
                <a:latin typeface="Arial" pitchFamily="34" charset="0"/>
                <a:ea typeface="黑体" pitchFamily="49" charset="-122"/>
                <a:cs typeface="Arial" pitchFamily="34" charset="0"/>
              </a:rPr>
              <a:t>）进行评估，而分类则不能。</a:t>
            </a:r>
          </a:p>
        </p:txBody>
      </p:sp>
    </p:spTree>
    <p:extLst>
      <p:ext uri="{BB962C8B-B14F-4D97-AF65-F5344CB8AC3E}">
        <p14:creationId xmlns:p14="http://schemas.microsoft.com/office/powerpoint/2010/main" val="95535819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a:xfrm>
            <a:off x="6481192" y="6221045"/>
            <a:ext cx="2133600" cy="365125"/>
          </a:xfrm>
        </p:spPr>
        <p:txBody>
          <a:bodyPr/>
          <a:lstStyle/>
          <a:p>
            <a:pPr>
              <a:defRPr/>
            </a:pPr>
            <a:fld id="{86C75756-0271-488A-B748-639BD5BFB0CE}" type="slidenum">
              <a:rPr lang="zh-CN" altLang="en-US" smtClean="0"/>
              <a:pPr>
                <a:defRPr/>
              </a:pPr>
              <a:t>60</a:t>
            </a:fld>
            <a:endParaRPr lang="zh-CN" altLang="en-US"/>
          </a:p>
        </p:txBody>
      </p:sp>
      <p:graphicFrame>
        <p:nvGraphicFramePr>
          <p:cNvPr id="6" name="表格 5"/>
          <p:cNvGraphicFramePr>
            <a:graphicFrameLocks noGrp="1"/>
          </p:cNvGraphicFramePr>
          <p:nvPr/>
        </p:nvGraphicFramePr>
        <p:xfrm>
          <a:off x="395537" y="3077671"/>
          <a:ext cx="4248471" cy="2163833"/>
        </p:xfrm>
        <a:graphic>
          <a:graphicData uri="http://schemas.openxmlformats.org/drawingml/2006/table">
            <a:tbl>
              <a:tblPr firstRow="1" bandRow="1">
                <a:tableStyleId>{2D5ABB26-0587-4C30-8999-92F81FD0307C}</a:tableStyleId>
              </a:tblPr>
              <a:tblGrid>
                <a:gridCol w="765912">
                  <a:extLst>
                    <a:ext uri="{9D8B030D-6E8A-4147-A177-3AD203B41FA5}">
                      <a16:colId xmlns:a16="http://schemas.microsoft.com/office/drawing/2014/main" val="20000"/>
                    </a:ext>
                  </a:extLst>
                </a:gridCol>
                <a:gridCol w="1741382">
                  <a:extLst>
                    <a:ext uri="{9D8B030D-6E8A-4147-A177-3AD203B41FA5}">
                      <a16:colId xmlns:a16="http://schemas.microsoft.com/office/drawing/2014/main" val="20001"/>
                    </a:ext>
                  </a:extLst>
                </a:gridCol>
                <a:gridCol w="835765">
                  <a:extLst>
                    <a:ext uri="{9D8B030D-6E8A-4147-A177-3AD203B41FA5}">
                      <a16:colId xmlns:a16="http://schemas.microsoft.com/office/drawing/2014/main" val="20002"/>
                    </a:ext>
                  </a:extLst>
                </a:gridCol>
                <a:gridCol w="905412">
                  <a:extLst>
                    <a:ext uri="{9D8B030D-6E8A-4147-A177-3AD203B41FA5}">
                      <a16:colId xmlns:a16="http://schemas.microsoft.com/office/drawing/2014/main" val="20003"/>
                    </a:ext>
                  </a:extLst>
                </a:gridCol>
              </a:tblGrid>
              <a:tr h="309119">
                <a:tc>
                  <a:txBody>
                    <a:bodyPr/>
                    <a:lstStyle/>
                    <a:p>
                      <a:r>
                        <a:rPr lang="en-US" altLang="zh-CN" sz="1400" dirty="0" smtClean="0">
                          <a:latin typeface="Arial" pitchFamily="34" charset="0"/>
                          <a:cs typeface="Arial" pitchFamily="34" charset="0"/>
                        </a:rPr>
                        <a:t>Name</a:t>
                      </a:r>
                      <a:endParaRPr lang="zh-CN" altLang="en-US" sz="14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smtClean="0">
                          <a:latin typeface="Arial" pitchFamily="34" charset="0"/>
                          <a:cs typeface="Arial" pitchFamily="34" charset="0"/>
                        </a:rPr>
                        <a:t>Rank</a:t>
                      </a:r>
                      <a:endParaRPr lang="zh-CN" altLang="en-US" sz="14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smtClean="0">
                          <a:latin typeface="Arial" pitchFamily="34" charset="0"/>
                          <a:cs typeface="Arial" pitchFamily="34" charset="0"/>
                        </a:rPr>
                        <a:t>Years</a:t>
                      </a:r>
                      <a:endParaRPr lang="zh-CN" altLang="en-US" sz="14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smtClean="0">
                          <a:latin typeface="Arial" pitchFamily="34" charset="0"/>
                          <a:cs typeface="Arial" pitchFamily="34" charset="0"/>
                        </a:rPr>
                        <a:t>Tenured</a:t>
                      </a:r>
                      <a:endParaRPr lang="zh-CN" altLang="en-US" sz="14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09119">
                <a:tc>
                  <a:txBody>
                    <a:bodyPr/>
                    <a:lstStyle/>
                    <a:p>
                      <a:r>
                        <a:rPr lang="en-US" altLang="zh-CN" sz="1400" dirty="0" smtClean="0">
                          <a:latin typeface="Arial" pitchFamily="34" charset="0"/>
                          <a:cs typeface="Arial" pitchFamily="34" charset="0"/>
                        </a:rPr>
                        <a:t>Mike</a:t>
                      </a:r>
                      <a:endParaRPr lang="zh-CN" altLang="en-US" sz="14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smtClean="0">
                          <a:latin typeface="Arial" pitchFamily="34" charset="0"/>
                          <a:cs typeface="Arial" pitchFamily="34" charset="0"/>
                        </a:rPr>
                        <a:t>Assistant Prof</a:t>
                      </a:r>
                      <a:endParaRPr lang="zh-CN" altLang="en-US" sz="14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smtClean="0">
                          <a:latin typeface="Arial" pitchFamily="34" charset="0"/>
                          <a:cs typeface="Arial" pitchFamily="34" charset="0"/>
                        </a:rPr>
                        <a:t>3</a:t>
                      </a:r>
                      <a:endParaRPr lang="zh-CN" altLang="en-US" sz="14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smtClean="0">
                          <a:latin typeface="Arial" pitchFamily="34" charset="0"/>
                          <a:cs typeface="Arial" pitchFamily="34" charset="0"/>
                        </a:rPr>
                        <a:t>No</a:t>
                      </a:r>
                      <a:endParaRPr lang="zh-CN" altLang="en-US" sz="14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09119">
                <a:tc>
                  <a:txBody>
                    <a:bodyPr/>
                    <a:lstStyle/>
                    <a:p>
                      <a:r>
                        <a:rPr lang="en-US" altLang="zh-CN" sz="1400" dirty="0" smtClean="0">
                          <a:latin typeface="Arial" pitchFamily="34" charset="0"/>
                          <a:cs typeface="Arial" pitchFamily="34" charset="0"/>
                        </a:rPr>
                        <a:t>Mary</a:t>
                      </a:r>
                      <a:endParaRPr lang="zh-CN" altLang="en-US" sz="14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Arial" pitchFamily="34" charset="0"/>
                          <a:cs typeface="Arial" pitchFamily="34" charset="0"/>
                        </a:rPr>
                        <a:t>Assistant Prof</a:t>
                      </a:r>
                      <a:endParaRPr lang="zh-CN" altLang="en-US" sz="1400" dirty="0" smtClean="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smtClean="0">
                          <a:latin typeface="Arial" pitchFamily="34" charset="0"/>
                          <a:cs typeface="Arial" pitchFamily="34" charset="0"/>
                        </a:rPr>
                        <a:t>7</a:t>
                      </a:r>
                      <a:endParaRPr lang="zh-CN" altLang="en-US" sz="14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smtClean="0">
                          <a:latin typeface="Arial" pitchFamily="34" charset="0"/>
                          <a:cs typeface="Arial" pitchFamily="34" charset="0"/>
                        </a:rPr>
                        <a:t>Yes</a:t>
                      </a:r>
                      <a:endParaRPr lang="zh-CN" altLang="en-US" sz="14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09119">
                <a:tc>
                  <a:txBody>
                    <a:bodyPr/>
                    <a:lstStyle/>
                    <a:p>
                      <a:r>
                        <a:rPr lang="en-US" altLang="zh-CN" sz="1400" dirty="0" smtClean="0">
                          <a:latin typeface="Arial" pitchFamily="34" charset="0"/>
                          <a:cs typeface="Arial" pitchFamily="34" charset="0"/>
                        </a:rPr>
                        <a:t>Bill</a:t>
                      </a:r>
                      <a:endParaRPr lang="zh-CN" altLang="en-US" sz="14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smtClean="0">
                          <a:latin typeface="Arial" pitchFamily="34" charset="0"/>
                          <a:cs typeface="Arial" pitchFamily="34" charset="0"/>
                        </a:rPr>
                        <a:t>Professor</a:t>
                      </a:r>
                      <a:endParaRPr lang="zh-CN" altLang="en-US" sz="14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smtClean="0">
                          <a:latin typeface="Arial" pitchFamily="34" charset="0"/>
                          <a:cs typeface="Arial" pitchFamily="34" charset="0"/>
                        </a:rPr>
                        <a:t>2</a:t>
                      </a:r>
                      <a:endParaRPr lang="zh-CN" altLang="en-US" sz="14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Arial" pitchFamily="34" charset="0"/>
                          <a:cs typeface="Arial" pitchFamily="34" charset="0"/>
                        </a:rPr>
                        <a:t>Yes</a:t>
                      </a:r>
                      <a:endParaRPr lang="zh-CN" altLang="en-US" sz="1400" dirty="0" smtClean="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09119">
                <a:tc>
                  <a:txBody>
                    <a:bodyPr/>
                    <a:lstStyle/>
                    <a:p>
                      <a:r>
                        <a:rPr lang="en-US" altLang="zh-CN" sz="1400" dirty="0" smtClean="0">
                          <a:latin typeface="Arial" pitchFamily="34" charset="0"/>
                          <a:cs typeface="Arial" pitchFamily="34" charset="0"/>
                        </a:rPr>
                        <a:t>Jim</a:t>
                      </a:r>
                      <a:endParaRPr lang="zh-CN" altLang="en-US" sz="14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smtClean="0">
                          <a:latin typeface="Arial" pitchFamily="34" charset="0"/>
                          <a:cs typeface="Arial" pitchFamily="34" charset="0"/>
                        </a:rPr>
                        <a:t>Associate Prof</a:t>
                      </a:r>
                      <a:endParaRPr lang="zh-CN" altLang="en-US" sz="14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smtClean="0">
                          <a:latin typeface="Arial" pitchFamily="34" charset="0"/>
                          <a:cs typeface="Arial" pitchFamily="34" charset="0"/>
                        </a:rPr>
                        <a:t>7</a:t>
                      </a:r>
                      <a:endParaRPr lang="zh-CN" altLang="en-US" sz="14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Arial" pitchFamily="34" charset="0"/>
                          <a:cs typeface="Arial" pitchFamily="34" charset="0"/>
                        </a:rPr>
                        <a:t>Yes</a:t>
                      </a:r>
                      <a:endParaRPr lang="zh-CN" altLang="en-US" sz="1400" dirty="0" smtClean="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09119">
                <a:tc>
                  <a:txBody>
                    <a:bodyPr/>
                    <a:lstStyle/>
                    <a:p>
                      <a:r>
                        <a:rPr lang="en-US" altLang="zh-CN" sz="1400" kern="1200" baseline="0" dirty="0" smtClean="0">
                          <a:solidFill>
                            <a:schemeClr val="tx1"/>
                          </a:solidFill>
                          <a:latin typeface="Arial" pitchFamily="34" charset="0"/>
                          <a:ea typeface="+mn-ea"/>
                          <a:cs typeface="Arial" pitchFamily="34" charset="0"/>
                        </a:rPr>
                        <a:t>Dave</a:t>
                      </a:r>
                      <a:endParaRPr lang="zh-CN" altLang="en-US" sz="14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Arial" pitchFamily="34" charset="0"/>
                          <a:cs typeface="Arial" pitchFamily="34" charset="0"/>
                        </a:rPr>
                        <a:t>Assistant Prof</a:t>
                      </a:r>
                      <a:endParaRPr lang="zh-CN" altLang="en-US" sz="1400" dirty="0" smtClean="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smtClean="0">
                          <a:latin typeface="Arial" pitchFamily="34" charset="0"/>
                          <a:cs typeface="Arial" pitchFamily="34" charset="0"/>
                        </a:rPr>
                        <a:t>6</a:t>
                      </a:r>
                      <a:endParaRPr lang="zh-CN" altLang="en-US" sz="14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smtClean="0">
                          <a:latin typeface="Arial" pitchFamily="34" charset="0"/>
                          <a:cs typeface="Arial" pitchFamily="34" charset="0"/>
                        </a:rPr>
                        <a:t>No</a:t>
                      </a:r>
                      <a:endParaRPr lang="zh-CN" altLang="en-US" sz="14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09119">
                <a:tc>
                  <a:txBody>
                    <a:bodyPr/>
                    <a:lstStyle/>
                    <a:p>
                      <a:r>
                        <a:rPr lang="en-US" altLang="zh-CN" sz="1400" dirty="0" smtClean="0">
                          <a:latin typeface="Arial" pitchFamily="34" charset="0"/>
                          <a:cs typeface="Arial" pitchFamily="34" charset="0"/>
                        </a:rPr>
                        <a:t>Anne</a:t>
                      </a:r>
                      <a:endParaRPr lang="zh-CN" altLang="en-US" sz="14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latin typeface="Arial" pitchFamily="34" charset="0"/>
                          <a:cs typeface="Arial" pitchFamily="34" charset="0"/>
                        </a:rPr>
                        <a:t>Associate Prof</a:t>
                      </a:r>
                      <a:endParaRPr lang="zh-CN" altLang="en-US" sz="1400" dirty="0" smtClean="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smtClean="0">
                          <a:latin typeface="Arial" pitchFamily="34" charset="0"/>
                          <a:cs typeface="Arial" pitchFamily="34" charset="0"/>
                        </a:rPr>
                        <a:t>3</a:t>
                      </a:r>
                      <a:endParaRPr lang="zh-CN" altLang="en-US" sz="14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smtClean="0">
                          <a:latin typeface="Arial" pitchFamily="34" charset="0"/>
                          <a:cs typeface="Arial" pitchFamily="34" charset="0"/>
                        </a:rPr>
                        <a:t>No</a:t>
                      </a:r>
                      <a:endParaRPr lang="zh-CN" altLang="en-US" sz="1400" dirty="0">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流程图: 磁盘 6"/>
          <p:cNvSpPr/>
          <p:nvPr/>
        </p:nvSpPr>
        <p:spPr>
          <a:xfrm>
            <a:off x="1619672" y="1421487"/>
            <a:ext cx="1872208" cy="1152128"/>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2000" b="1" dirty="0" smtClean="0">
                <a:latin typeface="黑体" pitchFamily="49" charset="-122"/>
                <a:ea typeface="黑体" pitchFamily="49" charset="-122"/>
              </a:rPr>
              <a:t>训练数据集</a:t>
            </a:r>
            <a:endParaRPr lang="zh-CN" altLang="en-US" sz="2000" b="1" dirty="0">
              <a:latin typeface="黑体" pitchFamily="49" charset="-122"/>
              <a:ea typeface="黑体" pitchFamily="49" charset="-122"/>
            </a:endParaRPr>
          </a:p>
        </p:txBody>
      </p:sp>
      <p:sp>
        <p:nvSpPr>
          <p:cNvPr id="8" name="左大括号 7"/>
          <p:cNvSpPr/>
          <p:nvPr/>
        </p:nvSpPr>
        <p:spPr>
          <a:xfrm rot="5400000">
            <a:off x="2339752" y="701407"/>
            <a:ext cx="360040" cy="4248472"/>
          </a:xfrm>
          <a:prstGeom prst="leftBrace">
            <a:avLst>
              <a:gd name="adj1" fmla="val 57174"/>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a:p>
        </p:txBody>
      </p:sp>
      <p:sp>
        <p:nvSpPr>
          <p:cNvPr id="9" name="右箭头 8"/>
          <p:cNvSpPr/>
          <p:nvPr/>
        </p:nvSpPr>
        <p:spPr>
          <a:xfrm>
            <a:off x="3707904" y="1781527"/>
            <a:ext cx="1152128"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0" name="矩形 9"/>
          <p:cNvSpPr/>
          <p:nvPr/>
        </p:nvSpPr>
        <p:spPr>
          <a:xfrm>
            <a:off x="4932040" y="1637511"/>
            <a:ext cx="1440160" cy="79208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sz="2000" b="1" dirty="0" smtClean="0">
                <a:latin typeface="黑体" pitchFamily="49" charset="-122"/>
                <a:ea typeface="黑体" pitchFamily="49" charset="-122"/>
              </a:rPr>
              <a:t>分类算法</a:t>
            </a:r>
            <a:endParaRPr lang="zh-CN" altLang="en-US" sz="2000" b="1" dirty="0">
              <a:latin typeface="黑体" pitchFamily="49" charset="-122"/>
              <a:ea typeface="黑体" pitchFamily="49" charset="-122"/>
            </a:endParaRPr>
          </a:p>
        </p:txBody>
      </p:sp>
      <p:sp>
        <p:nvSpPr>
          <p:cNvPr id="11" name="右箭头 10"/>
          <p:cNvSpPr/>
          <p:nvPr/>
        </p:nvSpPr>
        <p:spPr>
          <a:xfrm rot="5400000">
            <a:off x="5274078" y="2591617"/>
            <a:ext cx="612068"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2" name="矩形 11"/>
          <p:cNvSpPr/>
          <p:nvPr/>
        </p:nvSpPr>
        <p:spPr>
          <a:xfrm>
            <a:off x="6336704" y="3221687"/>
            <a:ext cx="2699792" cy="1152128"/>
          </a:xfrm>
          <a:prstGeom prst="rect">
            <a:avLst/>
          </a:prstGeom>
          <a:solidFill>
            <a:srgbClr val="00B05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altLang="zh-CN" sz="2000" dirty="0" smtClean="0">
                <a:latin typeface="Arial" pitchFamily="34" charset="0"/>
                <a:cs typeface="Arial" pitchFamily="34" charset="0"/>
              </a:rPr>
              <a:t>IF rank = ‘Professor’ </a:t>
            </a:r>
          </a:p>
          <a:p>
            <a:r>
              <a:rPr lang="en-US" altLang="zh-CN" sz="2000" dirty="0" smtClean="0">
                <a:latin typeface="Arial" pitchFamily="34" charset="0"/>
                <a:cs typeface="Arial" pitchFamily="34" charset="0"/>
              </a:rPr>
              <a:t>OR years &gt; 6 </a:t>
            </a:r>
          </a:p>
          <a:p>
            <a:r>
              <a:rPr lang="en-US" altLang="zh-CN" sz="2000" dirty="0" smtClean="0">
                <a:latin typeface="Arial" pitchFamily="34" charset="0"/>
                <a:cs typeface="Arial" pitchFamily="34" charset="0"/>
              </a:rPr>
              <a:t>THEN tenured = ‘yes’</a:t>
            </a:r>
            <a:endParaRPr lang="zh-CN" altLang="en-US" sz="2000" b="1" dirty="0">
              <a:latin typeface="Arial" pitchFamily="34" charset="0"/>
              <a:ea typeface="黑体" pitchFamily="49" charset="-122"/>
              <a:cs typeface="Arial" pitchFamily="34" charset="0"/>
            </a:endParaRPr>
          </a:p>
        </p:txBody>
      </p:sp>
      <p:sp>
        <p:nvSpPr>
          <p:cNvPr id="13" name="流程图: 磁盘 12"/>
          <p:cNvSpPr/>
          <p:nvPr/>
        </p:nvSpPr>
        <p:spPr>
          <a:xfrm>
            <a:off x="4932040" y="3149679"/>
            <a:ext cx="1296144" cy="1296144"/>
          </a:xfrm>
          <a:prstGeom prst="flowChartMagneticDisk">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000" b="1" dirty="0" smtClean="0">
                <a:latin typeface="黑体" pitchFamily="49" charset="-122"/>
                <a:ea typeface="黑体" pitchFamily="49" charset="-122"/>
              </a:rPr>
              <a:t>分类规则</a:t>
            </a:r>
            <a:endParaRPr lang="zh-CN" altLang="en-US" sz="2000" b="1" dirty="0">
              <a:latin typeface="黑体" pitchFamily="49" charset="-122"/>
              <a:ea typeface="黑体" pitchFamily="49" charset="-122"/>
            </a:endParaRPr>
          </a:p>
        </p:txBody>
      </p:sp>
      <p:sp>
        <p:nvSpPr>
          <p:cNvPr id="14" name="矩形 13"/>
          <p:cNvSpPr/>
          <p:nvPr/>
        </p:nvSpPr>
        <p:spPr>
          <a:xfrm>
            <a:off x="1331640" y="332656"/>
            <a:ext cx="6575839" cy="584775"/>
          </a:xfrm>
          <a:prstGeom prst="rect">
            <a:avLst/>
          </a:prstGeom>
        </p:spPr>
        <p:txBody>
          <a:bodyPr wrap="none">
            <a:spAutoFit/>
          </a:bodyPr>
          <a:lstStyle/>
          <a:p>
            <a:r>
              <a:rPr lang="en-US" altLang="zh-CN" sz="3200" b="1" dirty="0" smtClean="0">
                <a:solidFill>
                  <a:srgbClr val="C00000"/>
                </a:solidFill>
                <a:latin typeface="Arial" pitchFamily="34" charset="0"/>
                <a:ea typeface="黑体" pitchFamily="49" charset="-122"/>
                <a:cs typeface="Arial" pitchFamily="34" charset="0"/>
              </a:rPr>
              <a:t>2. </a:t>
            </a:r>
            <a:r>
              <a:rPr lang="zh-CN" altLang="en-US" sz="3200" b="1" dirty="0" smtClean="0">
                <a:solidFill>
                  <a:srgbClr val="C00000"/>
                </a:solidFill>
                <a:latin typeface="Arial" pitchFamily="34" charset="0"/>
                <a:ea typeface="黑体" pitchFamily="49" charset="-122"/>
                <a:cs typeface="Arial" pitchFamily="34" charset="0"/>
              </a:rPr>
              <a:t>判定树</a:t>
            </a:r>
            <a:r>
              <a:rPr lang="en-US" altLang="zh-CN" sz="3200" b="1" dirty="0" smtClean="0">
                <a:solidFill>
                  <a:srgbClr val="C00000"/>
                </a:solidFill>
                <a:latin typeface="Arial" pitchFamily="34" charset="0"/>
                <a:ea typeface="黑体" pitchFamily="49" charset="-122"/>
                <a:cs typeface="Arial" pitchFamily="34" charset="0"/>
              </a:rPr>
              <a:t>/</a:t>
            </a:r>
            <a:r>
              <a:rPr lang="zh-CN" altLang="en-US" sz="3200" b="1" dirty="0" smtClean="0">
                <a:solidFill>
                  <a:srgbClr val="C00000"/>
                </a:solidFill>
                <a:latin typeface="Arial" pitchFamily="34" charset="0"/>
                <a:ea typeface="黑体" pitchFamily="49" charset="-122"/>
                <a:cs typeface="Arial" pitchFamily="34" charset="0"/>
              </a:rPr>
              <a:t>决策树（</a:t>
            </a:r>
            <a:r>
              <a:rPr lang="en-US" altLang="zh-CN" sz="3200" b="1" dirty="0" smtClean="0">
                <a:solidFill>
                  <a:srgbClr val="C00000"/>
                </a:solidFill>
                <a:latin typeface="Arial" pitchFamily="34" charset="0"/>
                <a:ea typeface="黑体" pitchFamily="49" charset="-122"/>
                <a:cs typeface="Arial" pitchFamily="34" charset="0"/>
              </a:rPr>
              <a:t>decision tree</a:t>
            </a:r>
            <a:r>
              <a:rPr lang="zh-CN" altLang="en-US" sz="3200" b="1" dirty="0" smtClean="0">
                <a:solidFill>
                  <a:srgbClr val="C00000"/>
                </a:solidFill>
                <a:latin typeface="Arial" pitchFamily="34" charset="0"/>
                <a:ea typeface="黑体" pitchFamily="49" charset="-122"/>
                <a:cs typeface="Arial" pitchFamily="34" charset="0"/>
              </a:rPr>
              <a:t>）</a:t>
            </a:r>
            <a:endParaRPr lang="zh-CN" altLang="en-US" sz="3200" b="1" dirty="0">
              <a:solidFill>
                <a:srgbClr val="C00000"/>
              </a:solidFill>
              <a:latin typeface="Arial" pitchFamily="34" charset="0"/>
              <a:ea typeface="黑体" pitchFamily="49" charset="-122"/>
              <a:cs typeface="Arial" pitchFamily="34" charset="0"/>
            </a:endParaRPr>
          </a:p>
        </p:txBody>
      </p:sp>
      <p:pic>
        <p:nvPicPr>
          <p:cNvPr id="15" name="Picture 2"/>
          <p:cNvPicPr>
            <a:picLocks noChangeAspect="1" noChangeArrowheads="1"/>
          </p:cNvPicPr>
          <p:nvPr/>
        </p:nvPicPr>
        <p:blipFill>
          <a:blip r:embed="rId2" cstate="print"/>
          <a:srcRect/>
          <a:stretch>
            <a:fillRect/>
          </a:stretch>
        </p:blipFill>
        <p:spPr bwMode="auto">
          <a:xfrm>
            <a:off x="4932040" y="4949879"/>
            <a:ext cx="3851920" cy="158417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idx="1"/>
          </p:nvPr>
        </p:nvSpPr>
        <p:spPr>
          <a:xfrm>
            <a:off x="179512" y="260648"/>
            <a:ext cx="8784976" cy="3096344"/>
          </a:xfrm>
        </p:spPr>
        <p:txBody>
          <a:bodyPr/>
          <a:lstStyle/>
          <a:p>
            <a:pPr>
              <a:buFont typeface="Wingdings" pitchFamily="2" charset="2"/>
              <a:buChar char="n"/>
            </a:pPr>
            <a:r>
              <a:rPr lang="zh-CN" altLang="en-US" sz="2800" dirty="0" smtClean="0">
                <a:latin typeface="黑体" pitchFamily="49" charset="-122"/>
                <a:ea typeface="黑体" pitchFamily="49" charset="-122"/>
              </a:rPr>
              <a:t>什么是决策树？ </a:t>
            </a:r>
            <a:endParaRPr lang="en-US" altLang="zh-CN" sz="2800" dirty="0" smtClean="0">
              <a:latin typeface="黑体" pitchFamily="49" charset="-122"/>
              <a:ea typeface="黑体" pitchFamily="49" charset="-122"/>
            </a:endParaRPr>
          </a:p>
          <a:p>
            <a:pPr lvl="1">
              <a:buFont typeface="Wingdings" pitchFamily="2" charset="2"/>
              <a:buChar char="n"/>
            </a:pPr>
            <a:r>
              <a:rPr lang="zh-CN" altLang="en-US" sz="2400" dirty="0" smtClean="0">
                <a:latin typeface="黑体" pitchFamily="49" charset="-122"/>
                <a:ea typeface="黑体" pitchFamily="49" charset="-122"/>
              </a:rPr>
              <a:t>类似于流程图的树结构；</a:t>
            </a:r>
          </a:p>
          <a:p>
            <a:pPr lvl="1">
              <a:buFont typeface="Wingdings" pitchFamily="2" charset="2"/>
              <a:buChar char="n"/>
            </a:pPr>
            <a:r>
              <a:rPr lang="zh-CN" altLang="en-US" sz="2400" dirty="0">
                <a:latin typeface="黑体" pitchFamily="49" charset="-122"/>
                <a:ea typeface="黑体" pitchFamily="49" charset="-122"/>
              </a:rPr>
              <a:t>每个叶节点代表一个类</a:t>
            </a:r>
            <a:r>
              <a:rPr lang="zh-CN" altLang="en-US" sz="2400" dirty="0" smtClean="0">
                <a:latin typeface="黑体" pitchFamily="49" charset="-122"/>
                <a:ea typeface="黑体" pitchFamily="49" charset="-122"/>
              </a:rPr>
              <a:t>编号，每个内部节点表示在一个属性上的测试；</a:t>
            </a:r>
          </a:p>
          <a:p>
            <a:pPr lvl="1">
              <a:buFont typeface="Wingdings" pitchFamily="2" charset="2"/>
              <a:buChar char="n"/>
            </a:pPr>
            <a:r>
              <a:rPr lang="zh-CN" altLang="en-US" sz="2400" dirty="0" smtClean="0">
                <a:latin typeface="黑体" pitchFamily="49" charset="-122"/>
                <a:ea typeface="黑体" pitchFamily="49" charset="-122"/>
              </a:rPr>
              <a:t>每个分枝代表一个测试输出；</a:t>
            </a:r>
            <a:endParaRPr lang="en-US" altLang="zh-CN" sz="2400" dirty="0" smtClean="0">
              <a:latin typeface="黑体" pitchFamily="49" charset="-122"/>
              <a:ea typeface="黑体" pitchFamily="49" charset="-122"/>
            </a:endParaRPr>
          </a:p>
          <a:p>
            <a:pPr lvl="1">
              <a:buFont typeface="Wingdings" pitchFamily="2" charset="2"/>
              <a:buChar char="n"/>
            </a:pPr>
            <a:r>
              <a:rPr lang="zh-CN" altLang="en-US" sz="2400" dirty="0">
                <a:solidFill>
                  <a:srgbClr val="C00000"/>
                </a:solidFill>
                <a:latin typeface="Arial" pitchFamily="34" charset="0"/>
                <a:ea typeface="黑体" pitchFamily="49" charset="-122"/>
                <a:cs typeface="Arial" pitchFamily="34" charset="0"/>
              </a:rPr>
              <a:t>此方法的</a:t>
            </a:r>
            <a:r>
              <a:rPr lang="zh-CN" altLang="en-US" sz="2400" dirty="0" smtClean="0">
                <a:solidFill>
                  <a:srgbClr val="C00000"/>
                </a:solidFill>
                <a:latin typeface="Arial" pitchFamily="34" charset="0"/>
                <a:ea typeface="黑体" pitchFamily="49" charset="-122"/>
                <a:cs typeface="Arial" pitchFamily="34" charset="0"/>
              </a:rPr>
              <a:t>特点</a:t>
            </a:r>
            <a:r>
              <a:rPr lang="zh-CN" altLang="en-US" sz="2400" dirty="0">
                <a:latin typeface="Arial" pitchFamily="34" charset="0"/>
                <a:ea typeface="黑体" pitchFamily="49" charset="-122"/>
                <a:cs typeface="Arial" pitchFamily="34" charset="0"/>
              </a:rPr>
              <a:t>：</a:t>
            </a:r>
            <a:r>
              <a:rPr lang="zh-CN" altLang="en-US" sz="2400" dirty="0" smtClean="0">
                <a:latin typeface="Arial" pitchFamily="34" charset="0"/>
                <a:ea typeface="黑体" pitchFamily="49" charset="-122"/>
                <a:cs typeface="Arial" pitchFamily="34" charset="0"/>
              </a:rPr>
              <a:t>结构</a:t>
            </a:r>
            <a:r>
              <a:rPr lang="zh-CN" altLang="en-US" sz="2400" dirty="0">
                <a:latin typeface="Arial" pitchFamily="34" charset="0"/>
                <a:ea typeface="黑体" pitchFamily="49" charset="-122"/>
                <a:cs typeface="Arial" pitchFamily="34" charset="0"/>
              </a:rPr>
              <a:t>简单、处理数据效率较高；</a:t>
            </a:r>
            <a:r>
              <a:rPr lang="zh-CN" altLang="en-US" sz="2400" b="1" dirty="0">
                <a:solidFill>
                  <a:srgbClr val="0000CC"/>
                </a:solidFill>
                <a:latin typeface="Arial" pitchFamily="34" charset="0"/>
                <a:ea typeface="黑体" pitchFamily="49" charset="-122"/>
                <a:cs typeface="Arial" pitchFamily="34" charset="0"/>
              </a:rPr>
              <a:t>缺点是</a:t>
            </a:r>
            <a:r>
              <a:rPr lang="zh-CN" altLang="en-US" sz="2400" dirty="0">
                <a:solidFill>
                  <a:srgbClr val="333333"/>
                </a:solidFill>
                <a:latin typeface="Arial" pitchFamily="34" charset="0"/>
                <a:ea typeface="黑体" pitchFamily="49" charset="-122"/>
                <a:cs typeface="Arial" pitchFamily="34" charset="0"/>
              </a:rPr>
              <a:t>往往会产生过拟合问题</a:t>
            </a:r>
            <a:r>
              <a:rPr lang="zh-CN" altLang="en-US" sz="2400" dirty="0" smtClean="0">
                <a:solidFill>
                  <a:srgbClr val="333333"/>
                </a:solidFill>
                <a:latin typeface="Arial" pitchFamily="34" charset="0"/>
                <a:ea typeface="黑体" pitchFamily="49" charset="-122"/>
                <a:cs typeface="Arial" pitchFamily="34" charset="0"/>
              </a:rPr>
              <a:t>。</a:t>
            </a:r>
            <a:endParaRPr lang="zh-CN" altLang="en-US" sz="2400" dirty="0">
              <a:latin typeface="Arial" pitchFamily="34" charset="0"/>
              <a:ea typeface="黑体" pitchFamily="49" charset="-122"/>
              <a:cs typeface="Arial" pitchFamily="34" charset="0"/>
            </a:endParaRPr>
          </a:p>
        </p:txBody>
      </p:sp>
      <p:pic>
        <p:nvPicPr>
          <p:cNvPr id="11" name="图片 10" descr="20161129110051540.png"/>
          <p:cNvPicPr>
            <a:picLocks noChangeAspect="1"/>
          </p:cNvPicPr>
          <p:nvPr/>
        </p:nvPicPr>
        <p:blipFill>
          <a:blip r:embed="rId2" cstate="print"/>
          <a:stretch>
            <a:fillRect/>
          </a:stretch>
        </p:blipFill>
        <p:spPr>
          <a:xfrm>
            <a:off x="1835696" y="3501008"/>
            <a:ext cx="4997356" cy="3168352"/>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720080"/>
          </a:xfrm>
        </p:spPr>
        <p:txBody>
          <a:bodyPr/>
          <a:lstStyle/>
          <a:p>
            <a:r>
              <a:rPr lang="en-US" altLang="zh-CN" sz="3200" b="1" dirty="0" smtClean="0">
                <a:solidFill>
                  <a:srgbClr val="C00000"/>
                </a:solidFill>
                <a:latin typeface="Arial" pitchFamily="34" charset="0"/>
                <a:ea typeface="黑体" pitchFamily="49" charset="-122"/>
                <a:cs typeface="Arial" pitchFamily="34" charset="0"/>
              </a:rPr>
              <a:t>3. </a:t>
            </a:r>
            <a:r>
              <a:rPr lang="zh-CN" altLang="en-US" sz="3200" b="1" dirty="0" smtClean="0">
                <a:solidFill>
                  <a:srgbClr val="C00000"/>
                </a:solidFill>
                <a:latin typeface="Arial" pitchFamily="34" charset="0"/>
                <a:ea typeface="黑体" pitchFamily="49" charset="-122"/>
                <a:cs typeface="Arial" pitchFamily="34" charset="0"/>
              </a:rPr>
              <a:t>最近邻法（</a:t>
            </a:r>
            <a:r>
              <a:rPr lang="en-US" altLang="zh-CN" sz="3200" b="1" dirty="0" smtClean="0">
                <a:solidFill>
                  <a:srgbClr val="C00000"/>
                </a:solidFill>
                <a:latin typeface="Arial" pitchFamily="34" charset="0"/>
                <a:ea typeface="黑体" pitchFamily="49" charset="-122"/>
                <a:cs typeface="Arial" pitchFamily="34" charset="0"/>
              </a:rPr>
              <a:t>KNN</a:t>
            </a:r>
            <a:r>
              <a:rPr lang="zh-CN" altLang="en-US" sz="3200" b="1" dirty="0" smtClean="0">
                <a:solidFill>
                  <a:srgbClr val="C00000"/>
                </a:solidFill>
                <a:latin typeface="Arial" pitchFamily="34" charset="0"/>
                <a:ea typeface="黑体" pitchFamily="49" charset="-122"/>
                <a:cs typeface="Arial" pitchFamily="34" charset="0"/>
              </a:rPr>
              <a:t>，</a:t>
            </a:r>
            <a:r>
              <a:rPr lang="en-US" altLang="zh-CN" sz="3200" b="1" dirty="0" smtClean="0">
                <a:solidFill>
                  <a:srgbClr val="C00000"/>
                </a:solidFill>
                <a:latin typeface="Arial" pitchFamily="34" charset="0"/>
                <a:ea typeface="黑体" pitchFamily="49" charset="-122"/>
                <a:cs typeface="Arial" pitchFamily="34" charset="0"/>
              </a:rPr>
              <a:t>k-nearest neighbor</a:t>
            </a:r>
            <a:r>
              <a:rPr lang="zh-CN" altLang="en-US" sz="3200" b="1" dirty="0" smtClean="0">
                <a:solidFill>
                  <a:srgbClr val="C00000"/>
                </a:solidFill>
                <a:latin typeface="Arial" pitchFamily="34" charset="0"/>
                <a:ea typeface="黑体" pitchFamily="49" charset="-122"/>
                <a:cs typeface="Arial" pitchFamily="34" charset="0"/>
              </a:rPr>
              <a:t>）</a:t>
            </a:r>
            <a:endParaRPr lang="zh-CN" altLang="en-US" sz="3200" b="1" dirty="0">
              <a:solidFill>
                <a:srgbClr val="C00000"/>
              </a:solidFill>
              <a:latin typeface="Arial" pitchFamily="34" charset="0"/>
              <a:ea typeface="黑体" pitchFamily="49" charset="-122"/>
              <a:cs typeface="Arial" pitchFamily="34" charset="0"/>
            </a:endParaRPr>
          </a:p>
        </p:txBody>
      </p:sp>
      <p:sp>
        <p:nvSpPr>
          <p:cNvPr id="3" name="内容占位符 2"/>
          <p:cNvSpPr>
            <a:spLocks noGrp="1"/>
          </p:cNvSpPr>
          <p:nvPr>
            <p:ph idx="1"/>
          </p:nvPr>
        </p:nvSpPr>
        <p:spPr>
          <a:xfrm>
            <a:off x="72008" y="1052736"/>
            <a:ext cx="8964488" cy="1800200"/>
          </a:xfrm>
        </p:spPr>
        <p:txBody>
          <a:bodyPr/>
          <a:lstStyle/>
          <a:p>
            <a:pPr>
              <a:buFont typeface="Wingdings" pitchFamily="2" charset="2"/>
              <a:buChar char="n"/>
            </a:pPr>
            <a:r>
              <a:rPr lang="en-US" altLang="zh-CN" sz="2400" dirty="0">
                <a:latin typeface="Arial" pitchFamily="34" charset="0"/>
                <a:ea typeface="黑体" pitchFamily="49" charset="-122"/>
                <a:cs typeface="Arial" pitchFamily="34" charset="0"/>
              </a:rPr>
              <a:t>KNN</a:t>
            </a:r>
            <a:r>
              <a:rPr lang="zh-CN" altLang="en-US" sz="2400" dirty="0">
                <a:latin typeface="Arial" pitchFamily="34" charset="0"/>
                <a:ea typeface="黑体" pitchFamily="49" charset="-122"/>
                <a:cs typeface="Arial" pitchFamily="34" charset="0"/>
              </a:rPr>
              <a:t>法：将与测试样本</a:t>
            </a:r>
            <a:r>
              <a:rPr lang="en-US" altLang="zh-CN" sz="2400" dirty="0">
                <a:latin typeface="Arial" pitchFamily="34" charset="0"/>
                <a:ea typeface="黑体" pitchFamily="49" charset="-122"/>
                <a:cs typeface="Arial" pitchFamily="34" charset="0"/>
              </a:rPr>
              <a:t>K</a:t>
            </a:r>
            <a:r>
              <a:rPr lang="zh-CN" altLang="en-US" sz="2400" dirty="0">
                <a:latin typeface="Arial" pitchFamily="34" charset="0"/>
                <a:ea typeface="黑体" pitchFamily="49" charset="-122"/>
                <a:cs typeface="Arial" pitchFamily="34" charset="0"/>
              </a:rPr>
              <a:t>个最近邻样本的类别作为决策结果；</a:t>
            </a: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zh-CN" altLang="en-US" sz="2400" dirty="0" smtClean="0">
                <a:latin typeface="Arial" pitchFamily="34" charset="0"/>
                <a:ea typeface="黑体" pitchFamily="49" charset="-122"/>
                <a:cs typeface="Arial" pitchFamily="34" charset="0"/>
              </a:rPr>
              <a:t>常用欧氏距离作为相似性度量； </a:t>
            </a: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en-US" altLang="zh-CN" sz="2400" i="1" dirty="0">
                <a:solidFill>
                  <a:srgbClr val="FF0000"/>
                </a:solidFill>
                <a:latin typeface="Arial" pitchFamily="34" charset="0"/>
                <a:ea typeface="黑体" pitchFamily="49" charset="-122"/>
                <a:cs typeface="Arial" pitchFamily="34" charset="0"/>
              </a:rPr>
              <a:t>k</a:t>
            </a:r>
            <a:r>
              <a:rPr lang="en-US" altLang="zh-CN" sz="2400" dirty="0">
                <a:solidFill>
                  <a:srgbClr val="FF0000"/>
                </a:solidFill>
                <a:latin typeface="Arial" pitchFamily="34" charset="0"/>
                <a:ea typeface="黑体" pitchFamily="49" charset="-122"/>
                <a:cs typeface="Arial" pitchFamily="34" charset="0"/>
              </a:rPr>
              <a:t>-</a:t>
            </a:r>
            <a:r>
              <a:rPr lang="zh-CN" altLang="en-US" sz="2400" dirty="0">
                <a:solidFill>
                  <a:srgbClr val="FF0000"/>
                </a:solidFill>
                <a:latin typeface="Arial" pitchFamily="34" charset="0"/>
                <a:ea typeface="黑体" pitchFamily="49" charset="-122"/>
                <a:cs typeface="Arial" pitchFamily="34" charset="0"/>
              </a:rPr>
              <a:t>近邻一般采用</a:t>
            </a:r>
            <a:r>
              <a:rPr lang="en-US" altLang="zh-CN" sz="2400" i="1" dirty="0">
                <a:solidFill>
                  <a:srgbClr val="FF0000"/>
                </a:solidFill>
                <a:latin typeface="Arial" pitchFamily="34" charset="0"/>
                <a:ea typeface="黑体" pitchFamily="49" charset="-122"/>
                <a:cs typeface="Arial" pitchFamily="34" charset="0"/>
              </a:rPr>
              <a:t>k</a:t>
            </a:r>
            <a:r>
              <a:rPr lang="zh-CN" altLang="en-US" sz="2400" dirty="0">
                <a:solidFill>
                  <a:srgbClr val="FF0000"/>
                </a:solidFill>
                <a:latin typeface="Arial" pitchFamily="34" charset="0"/>
                <a:ea typeface="黑体" pitchFamily="49" charset="-122"/>
                <a:cs typeface="Arial" pitchFamily="34" charset="0"/>
              </a:rPr>
              <a:t>为奇数</a:t>
            </a:r>
            <a:r>
              <a:rPr lang="zh-CN" altLang="en-US" sz="2400" dirty="0">
                <a:latin typeface="Arial" pitchFamily="34" charset="0"/>
                <a:ea typeface="黑体" pitchFamily="49" charset="-122"/>
                <a:cs typeface="Arial" pitchFamily="34" charset="0"/>
              </a:rPr>
              <a:t>，跟投票表决一样，避免因两种票数相等而难以</a:t>
            </a:r>
            <a:r>
              <a:rPr lang="zh-CN" altLang="en-US" sz="2400" dirty="0" smtClean="0">
                <a:latin typeface="Arial" pitchFamily="34" charset="0"/>
                <a:ea typeface="黑体" pitchFamily="49" charset="-122"/>
                <a:cs typeface="Arial" pitchFamily="34" charset="0"/>
              </a:rPr>
              <a:t>决策。</a:t>
            </a: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62</a:t>
            </a:fld>
            <a:endParaRPr lang="zh-CN" altLang="en-US" dirty="0"/>
          </a:p>
        </p:txBody>
      </p:sp>
      <p:pic>
        <p:nvPicPr>
          <p:cNvPr id="5" name="Picture 2"/>
          <p:cNvPicPr>
            <a:picLocks noChangeAspect="1" noChangeArrowheads="1"/>
          </p:cNvPicPr>
          <p:nvPr/>
        </p:nvPicPr>
        <p:blipFill>
          <a:blip r:embed="rId2" cstate="print"/>
          <a:srcRect/>
          <a:stretch>
            <a:fillRect/>
          </a:stretch>
        </p:blipFill>
        <p:spPr bwMode="auto">
          <a:xfrm>
            <a:off x="46784" y="2988671"/>
            <a:ext cx="3384376" cy="3536673"/>
          </a:xfrm>
          <a:prstGeom prst="rect">
            <a:avLst/>
          </a:prstGeom>
          <a:noFill/>
          <a:ln w="9525">
            <a:noFill/>
            <a:miter lim="800000"/>
            <a:headEnd/>
            <a:tailEnd/>
          </a:ln>
        </p:spPr>
      </p:pic>
      <p:sp>
        <p:nvSpPr>
          <p:cNvPr id="6" name="矩形 5"/>
          <p:cNvSpPr/>
          <p:nvPr/>
        </p:nvSpPr>
        <p:spPr>
          <a:xfrm>
            <a:off x="3791200" y="3212976"/>
            <a:ext cx="5245296" cy="2800767"/>
          </a:xfrm>
          <a:prstGeom prst="rect">
            <a:avLst/>
          </a:prstGeom>
        </p:spPr>
        <p:txBody>
          <a:bodyPr wrap="square">
            <a:spAutoFit/>
          </a:bodyPr>
          <a:lstStyle/>
          <a:p>
            <a:r>
              <a:rPr lang="zh-CN" altLang="en-US" sz="2200" dirty="0" smtClean="0">
                <a:solidFill>
                  <a:srgbClr val="003399"/>
                </a:solidFill>
                <a:latin typeface="Arial" pitchFamily="34" charset="0"/>
                <a:ea typeface="黑体" pitchFamily="49" charset="-122"/>
                <a:cs typeface="Arial" pitchFamily="34" charset="0"/>
              </a:rPr>
              <a:t>图中，绿色圆要被决定赋予哪个类，是红色三角形还是蓝色四方形？</a:t>
            </a:r>
            <a:endParaRPr lang="en-US" altLang="zh-CN" sz="2200" dirty="0" smtClean="0">
              <a:solidFill>
                <a:srgbClr val="003399"/>
              </a:solidFill>
              <a:latin typeface="Arial" pitchFamily="34" charset="0"/>
              <a:ea typeface="黑体" pitchFamily="49" charset="-122"/>
              <a:cs typeface="Arial" pitchFamily="34" charset="0"/>
            </a:endParaRPr>
          </a:p>
          <a:p>
            <a:endParaRPr lang="en-US" altLang="zh-CN" sz="2200" dirty="0" smtClean="0">
              <a:solidFill>
                <a:srgbClr val="003399"/>
              </a:solidFill>
              <a:latin typeface="Arial" pitchFamily="34" charset="0"/>
              <a:ea typeface="黑体" pitchFamily="49" charset="-122"/>
              <a:cs typeface="Arial" pitchFamily="34" charset="0"/>
            </a:endParaRPr>
          </a:p>
          <a:p>
            <a:pPr marL="342900" indent="-342900">
              <a:buFont typeface="Wingdings" panose="05000000000000000000" pitchFamily="2" charset="2"/>
              <a:buChar char="Ø"/>
            </a:pPr>
            <a:r>
              <a:rPr lang="zh-CN" altLang="en-US" sz="2200" dirty="0" smtClean="0">
                <a:latin typeface="Arial" pitchFamily="34" charset="0"/>
                <a:ea typeface="黑体" pitchFamily="49" charset="-122"/>
                <a:cs typeface="Arial" pitchFamily="34" charset="0"/>
              </a:rPr>
              <a:t> 如果</a:t>
            </a:r>
            <a:r>
              <a:rPr lang="en-US" altLang="zh-CN" sz="2200" dirty="0" smtClean="0">
                <a:latin typeface="Arial" pitchFamily="34" charset="0"/>
                <a:ea typeface="黑体" pitchFamily="49" charset="-122"/>
                <a:cs typeface="Arial" pitchFamily="34" charset="0"/>
              </a:rPr>
              <a:t>K=3</a:t>
            </a:r>
            <a:r>
              <a:rPr lang="zh-CN" altLang="en-US" sz="2200" dirty="0" smtClean="0">
                <a:latin typeface="Arial" pitchFamily="34" charset="0"/>
                <a:ea typeface="黑体" pitchFamily="49" charset="-122"/>
                <a:cs typeface="Arial" pitchFamily="34" charset="0"/>
              </a:rPr>
              <a:t>，由于红色三角形所占比例为</a:t>
            </a:r>
            <a:r>
              <a:rPr lang="en-US" altLang="zh-CN" sz="2200" dirty="0" smtClean="0">
                <a:latin typeface="Arial" pitchFamily="34" charset="0"/>
                <a:ea typeface="黑体" pitchFamily="49" charset="-122"/>
                <a:cs typeface="Arial" pitchFamily="34" charset="0"/>
              </a:rPr>
              <a:t>2/3</a:t>
            </a:r>
            <a:r>
              <a:rPr lang="zh-CN" altLang="en-US" sz="2200" dirty="0" smtClean="0">
                <a:latin typeface="Arial" pitchFamily="34" charset="0"/>
                <a:ea typeface="黑体" pitchFamily="49" charset="-122"/>
                <a:cs typeface="Arial" pitchFamily="34" charset="0"/>
              </a:rPr>
              <a:t>，绿色圆将被赋予红色三角形那个类；</a:t>
            </a:r>
            <a:endParaRPr lang="en-US" altLang="zh-CN" sz="2200" dirty="0" smtClean="0">
              <a:latin typeface="Arial" pitchFamily="34" charset="0"/>
              <a:ea typeface="黑体" pitchFamily="49" charset="-122"/>
              <a:cs typeface="Arial" pitchFamily="34" charset="0"/>
            </a:endParaRPr>
          </a:p>
          <a:p>
            <a:pPr marL="342900" indent="-342900">
              <a:buFont typeface="Wingdings" panose="05000000000000000000" pitchFamily="2" charset="2"/>
              <a:buChar char="Ø"/>
            </a:pPr>
            <a:r>
              <a:rPr lang="en-US" altLang="zh-CN" sz="2200" dirty="0" smtClean="0">
                <a:latin typeface="Arial" pitchFamily="34" charset="0"/>
                <a:ea typeface="黑体" pitchFamily="49" charset="-122"/>
                <a:cs typeface="Arial" pitchFamily="34" charset="0"/>
              </a:rPr>
              <a:t> </a:t>
            </a:r>
            <a:r>
              <a:rPr lang="zh-CN" altLang="en-US" sz="2200" dirty="0" smtClean="0">
                <a:latin typeface="Arial" pitchFamily="34" charset="0"/>
                <a:ea typeface="黑体" pitchFamily="49" charset="-122"/>
                <a:cs typeface="Arial" pitchFamily="34" charset="0"/>
              </a:rPr>
              <a:t>如果</a:t>
            </a:r>
            <a:r>
              <a:rPr lang="en-US" altLang="zh-CN" sz="2200" dirty="0" smtClean="0">
                <a:latin typeface="Arial" pitchFamily="34" charset="0"/>
                <a:ea typeface="黑体" pitchFamily="49" charset="-122"/>
                <a:cs typeface="Arial" pitchFamily="34" charset="0"/>
              </a:rPr>
              <a:t>K=5</a:t>
            </a:r>
            <a:r>
              <a:rPr lang="zh-CN" altLang="en-US" sz="2200" dirty="0" smtClean="0">
                <a:latin typeface="Arial" pitchFamily="34" charset="0"/>
                <a:ea typeface="黑体" pitchFamily="49" charset="-122"/>
                <a:cs typeface="Arial" pitchFamily="34" charset="0"/>
              </a:rPr>
              <a:t>，由于蓝色四方形比例为</a:t>
            </a:r>
            <a:r>
              <a:rPr lang="en-US" altLang="zh-CN" sz="2200" dirty="0" smtClean="0">
                <a:latin typeface="Arial" pitchFamily="34" charset="0"/>
                <a:ea typeface="黑体" pitchFamily="49" charset="-122"/>
                <a:cs typeface="Arial" pitchFamily="34" charset="0"/>
              </a:rPr>
              <a:t>3/5</a:t>
            </a:r>
            <a:r>
              <a:rPr lang="zh-CN" altLang="en-US" sz="2200" dirty="0" smtClean="0">
                <a:latin typeface="Arial" pitchFamily="34" charset="0"/>
                <a:ea typeface="黑体" pitchFamily="49" charset="-122"/>
                <a:cs typeface="Arial" pitchFamily="34" charset="0"/>
              </a:rPr>
              <a:t>，因此绿色圆被赋予蓝色四方形类。 </a:t>
            </a:r>
            <a:endParaRPr lang="zh-CN" altLang="en-US" sz="2200" dirty="0">
              <a:latin typeface="Arial" pitchFamily="34" charset="0"/>
              <a:ea typeface="黑体" pitchFamily="49" charset="-122"/>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63</a:t>
            </a:fld>
            <a:endParaRPr lang="zh-CN" altLang="en-US"/>
          </a:p>
        </p:txBody>
      </p:sp>
      <p:sp>
        <p:nvSpPr>
          <p:cNvPr id="3" name="内容占位符 2"/>
          <p:cNvSpPr txBox="1">
            <a:spLocks/>
          </p:cNvSpPr>
          <p:nvPr/>
        </p:nvSpPr>
        <p:spPr>
          <a:xfrm>
            <a:off x="107504" y="1149722"/>
            <a:ext cx="8928992" cy="5303614"/>
          </a:xfrm>
          <a:prstGeom prst="rect">
            <a:avLst/>
          </a:prstGeom>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Char char="n"/>
            </a:pPr>
            <a:r>
              <a:rPr lang="zh-CN" altLang="en-US" sz="2400" dirty="0" smtClean="0">
                <a:latin typeface="Arial" panose="020B0604020202020204" pitchFamily="34" charset="0"/>
                <a:ea typeface="黑体" panose="02010609060101010101" pitchFamily="49" charset="-122"/>
                <a:cs typeface="Arial" panose="020B0604020202020204" pitchFamily="34" charset="0"/>
              </a:rPr>
              <a:t>当样本不平衡时，很可能导致一</a:t>
            </a:r>
            <a:r>
              <a:rPr lang="zh-CN" altLang="en-US" sz="2400" dirty="0">
                <a:latin typeface="Arial" panose="020B0604020202020204" pitchFamily="34" charset="0"/>
                <a:ea typeface="黑体" panose="02010609060101010101" pitchFamily="49" charset="-122"/>
                <a:cs typeface="Arial" panose="020B0604020202020204" pitchFamily="34" charset="0"/>
              </a:rPr>
              <a:t>个未知</a:t>
            </a:r>
            <a:r>
              <a:rPr lang="zh-CN" altLang="en-US" sz="2400" dirty="0" smtClean="0">
                <a:latin typeface="Arial" panose="020B0604020202020204" pitchFamily="34" charset="0"/>
                <a:ea typeface="黑体" panose="02010609060101010101" pitchFamily="49" charset="-122"/>
                <a:cs typeface="Arial" panose="020B0604020202020204" pitchFamily="34" charset="0"/>
              </a:rPr>
              <a:t>样本的</a:t>
            </a:r>
            <a:r>
              <a:rPr lang="en-US" altLang="zh-CN" sz="2400" dirty="0">
                <a:latin typeface="Arial" panose="020B0604020202020204" pitchFamily="34" charset="0"/>
                <a:ea typeface="黑体" panose="02010609060101010101" pitchFamily="49" charset="-122"/>
                <a:cs typeface="Arial" panose="020B0604020202020204" pitchFamily="34" charset="0"/>
              </a:rPr>
              <a:t>K</a:t>
            </a:r>
            <a:r>
              <a:rPr lang="zh-CN" altLang="en-US" sz="2400" dirty="0">
                <a:latin typeface="Arial" panose="020B0604020202020204" pitchFamily="34" charset="0"/>
                <a:ea typeface="黑体" panose="02010609060101010101" pitchFamily="49" charset="-122"/>
                <a:cs typeface="Arial" panose="020B0604020202020204" pitchFamily="34" charset="0"/>
              </a:rPr>
              <a:t>个邻居中大数量类的样本占</a:t>
            </a:r>
            <a:r>
              <a:rPr lang="zh-CN" altLang="en-US" sz="2400" dirty="0" smtClean="0">
                <a:latin typeface="Arial" panose="020B0604020202020204" pitchFamily="34" charset="0"/>
                <a:ea typeface="黑体" panose="02010609060101010101" pitchFamily="49" charset="-122"/>
                <a:cs typeface="Arial" panose="020B0604020202020204" pitchFamily="34" charset="0"/>
              </a:rPr>
              <a:t>多数；但是</a:t>
            </a:r>
            <a:r>
              <a:rPr lang="zh-CN" altLang="en-US" sz="2400" dirty="0">
                <a:latin typeface="Arial" panose="020B0604020202020204" pitchFamily="34" charset="0"/>
                <a:ea typeface="黑体" panose="02010609060101010101" pitchFamily="49" charset="-122"/>
                <a:cs typeface="Arial" panose="020B0604020202020204" pitchFamily="34" charset="0"/>
              </a:rPr>
              <a:t>这类样本并不接近目标样本，而数量小的这类样本很靠近目标</a:t>
            </a:r>
            <a:r>
              <a:rPr lang="zh-CN" altLang="en-US" sz="2400" dirty="0" smtClean="0">
                <a:latin typeface="Arial" panose="020B0604020202020204" pitchFamily="34" charset="0"/>
                <a:ea typeface="黑体" panose="02010609060101010101" pitchFamily="49" charset="-122"/>
                <a:cs typeface="Arial" panose="020B0604020202020204" pitchFamily="34" charset="0"/>
              </a:rPr>
              <a:t>样本，而</a:t>
            </a:r>
            <a:r>
              <a:rPr lang="en-US" altLang="zh-CN" sz="2400" dirty="0" smtClean="0">
                <a:latin typeface="Arial" panose="020B0604020202020204" pitchFamily="34" charset="0"/>
                <a:ea typeface="黑体" panose="02010609060101010101" pitchFamily="49" charset="-122"/>
                <a:cs typeface="Arial" panose="020B0604020202020204" pitchFamily="34" charset="0"/>
              </a:rPr>
              <a:t>KNN</a:t>
            </a:r>
            <a:r>
              <a:rPr lang="zh-CN" altLang="en-US" sz="2400" dirty="0" smtClean="0">
                <a:latin typeface="Arial" panose="020B0604020202020204" pitchFamily="34" charset="0"/>
                <a:ea typeface="黑体" panose="02010609060101010101" pitchFamily="49" charset="-122"/>
                <a:cs typeface="Arial" panose="020B0604020202020204" pitchFamily="34" charset="0"/>
              </a:rPr>
              <a:t>只</a:t>
            </a:r>
            <a:r>
              <a:rPr lang="zh-CN" altLang="en-US" sz="2400" dirty="0">
                <a:latin typeface="Arial" panose="020B0604020202020204" pitchFamily="34" charset="0"/>
                <a:ea typeface="黑体" panose="02010609060101010101" pitchFamily="49" charset="-122"/>
                <a:cs typeface="Arial" panose="020B0604020202020204" pitchFamily="34" charset="0"/>
              </a:rPr>
              <a:t>关心哪类样本的数量最多，而</a:t>
            </a:r>
            <a:r>
              <a:rPr lang="zh-CN" altLang="en-US" sz="2400" dirty="0" smtClean="0">
                <a:latin typeface="Arial" panose="020B0604020202020204" pitchFamily="34" charset="0"/>
                <a:ea typeface="黑体" panose="02010609060101010101" pitchFamily="49" charset="-122"/>
                <a:cs typeface="Arial" panose="020B0604020202020204" pitchFamily="34" charset="0"/>
              </a:rPr>
              <a:t>不把</a:t>
            </a:r>
            <a:r>
              <a:rPr lang="zh-CN" altLang="en-US" sz="2400" dirty="0">
                <a:latin typeface="Arial" panose="020B0604020202020204" pitchFamily="34" charset="0"/>
                <a:ea typeface="黑体" panose="02010609060101010101" pitchFamily="49" charset="-122"/>
                <a:cs typeface="Arial" panose="020B0604020202020204" pitchFamily="34" charset="0"/>
              </a:rPr>
              <a:t>距离远近考虑</a:t>
            </a:r>
            <a:r>
              <a:rPr lang="zh-CN" altLang="en-US" sz="2400" dirty="0" smtClean="0">
                <a:latin typeface="Arial" panose="020B0604020202020204" pitchFamily="34" charset="0"/>
                <a:ea typeface="黑体" panose="02010609060101010101" pitchFamily="49" charset="-122"/>
                <a:cs typeface="Arial" panose="020B0604020202020204" pitchFamily="34" charset="0"/>
              </a:rPr>
              <a:t>在内；</a:t>
            </a:r>
            <a:endParaRPr lang="en-US" altLang="zh-CN" sz="2400" dirty="0" smtClean="0">
              <a:latin typeface="Arial" panose="020B0604020202020204" pitchFamily="34" charset="0"/>
              <a:ea typeface="黑体" panose="02010609060101010101" pitchFamily="49" charset="-122"/>
              <a:cs typeface="Arial" panose="020B0604020202020204" pitchFamily="34" charset="0"/>
            </a:endParaRPr>
          </a:p>
          <a:p>
            <a:pPr>
              <a:buFont typeface="Wingdings" pitchFamily="2" charset="2"/>
              <a:buChar char="n"/>
            </a:pPr>
            <a:endParaRPr lang="en-US" altLang="zh-CN" sz="2400" dirty="0">
              <a:latin typeface="Arial" panose="020B0604020202020204" pitchFamily="34" charset="0"/>
              <a:ea typeface="黑体" panose="02010609060101010101" pitchFamily="49" charset="-122"/>
              <a:cs typeface="Arial" panose="020B0604020202020204" pitchFamily="34" charset="0"/>
            </a:endParaRPr>
          </a:p>
          <a:p>
            <a:pPr>
              <a:buFont typeface="Wingdings" pitchFamily="2" charset="2"/>
              <a:buChar char="n"/>
            </a:pPr>
            <a:r>
              <a:rPr lang="zh-CN" altLang="en-US" sz="2400" dirty="0" smtClean="0">
                <a:latin typeface="Arial" panose="020B0604020202020204" pitchFamily="34" charset="0"/>
                <a:ea typeface="黑体" panose="02010609060101010101" pitchFamily="49" charset="-122"/>
                <a:cs typeface="Arial" panose="020B0604020202020204" pitchFamily="34" charset="0"/>
              </a:rPr>
              <a:t>算法本身的问题</a:t>
            </a:r>
            <a:endParaRPr lang="en-US" altLang="zh-CN" sz="2400" dirty="0" smtClean="0">
              <a:latin typeface="Arial" panose="020B0604020202020204" pitchFamily="34" charset="0"/>
              <a:ea typeface="黑体" panose="02010609060101010101" pitchFamily="49" charset="-122"/>
              <a:cs typeface="Arial" panose="020B0604020202020204" pitchFamily="34" charset="0"/>
            </a:endParaRPr>
          </a:p>
          <a:p>
            <a:pPr lvl="1">
              <a:buFont typeface="Wingdings" pitchFamily="2" charset="2"/>
              <a:buChar char="n"/>
            </a:pPr>
            <a:r>
              <a:rPr lang="zh-CN" altLang="en-US" sz="2000" dirty="0" smtClean="0">
                <a:latin typeface="Arial" panose="020B0604020202020204" pitchFamily="34" charset="0"/>
                <a:ea typeface="黑体" panose="02010609060101010101" pitchFamily="49" charset="-122"/>
                <a:cs typeface="Arial" panose="020B0604020202020204" pitchFamily="34" charset="0"/>
              </a:rPr>
              <a:t>需要</a:t>
            </a:r>
            <a:r>
              <a:rPr lang="zh-CN" altLang="en-US" sz="2000" dirty="0">
                <a:latin typeface="Arial" panose="020B0604020202020204" pitchFamily="34" charset="0"/>
                <a:ea typeface="黑体" panose="02010609060101010101" pitchFamily="49" charset="-122"/>
                <a:cs typeface="Arial" panose="020B0604020202020204" pitchFamily="34" charset="0"/>
              </a:rPr>
              <a:t>存储全部的</a:t>
            </a:r>
            <a:r>
              <a:rPr lang="zh-CN" altLang="en-US" sz="2000" dirty="0" smtClean="0">
                <a:latin typeface="Arial" panose="020B0604020202020204" pitchFamily="34" charset="0"/>
                <a:ea typeface="黑体" panose="02010609060101010101" pitchFamily="49" charset="-122"/>
                <a:cs typeface="Arial" panose="020B0604020202020204" pitchFamily="34" charset="0"/>
              </a:rPr>
              <a:t>训练样本</a:t>
            </a:r>
            <a:endParaRPr lang="en-US" altLang="zh-CN" sz="2000" dirty="0" smtClean="0">
              <a:latin typeface="Arial" panose="020B0604020202020204" pitchFamily="34" charset="0"/>
              <a:ea typeface="黑体" panose="02010609060101010101" pitchFamily="49" charset="-122"/>
              <a:cs typeface="Arial" panose="020B0604020202020204" pitchFamily="34" charset="0"/>
            </a:endParaRPr>
          </a:p>
          <a:p>
            <a:pPr lvl="1">
              <a:buFont typeface="Wingdings" pitchFamily="2" charset="2"/>
              <a:buChar char="n"/>
            </a:pPr>
            <a:r>
              <a:rPr lang="zh-CN" altLang="en-US" sz="2000" dirty="0" smtClean="0">
                <a:latin typeface="Arial" panose="020B0604020202020204" pitchFamily="34" charset="0"/>
                <a:ea typeface="黑体" panose="02010609060101010101" pitchFamily="49" charset="-122"/>
                <a:cs typeface="Arial" panose="020B0604020202020204" pitchFamily="34" charset="0"/>
              </a:rPr>
              <a:t>计算</a:t>
            </a:r>
            <a:r>
              <a:rPr lang="zh-CN" altLang="en-US" sz="2000" dirty="0">
                <a:latin typeface="Arial" panose="020B0604020202020204" pitchFamily="34" charset="0"/>
                <a:ea typeface="黑体" panose="02010609060101010101" pitchFamily="49" charset="-122"/>
                <a:cs typeface="Arial" panose="020B0604020202020204" pitchFamily="34" charset="0"/>
              </a:rPr>
              <a:t>量</a:t>
            </a:r>
            <a:r>
              <a:rPr lang="zh-CN" altLang="en-US" sz="2000" dirty="0" smtClean="0">
                <a:latin typeface="Arial" panose="020B0604020202020204" pitchFamily="34" charset="0"/>
                <a:ea typeface="黑体" panose="02010609060101010101" pitchFamily="49" charset="-122"/>
                <a:cs typeface="Arial" panose="020B0604020202020204" pitchFamily="34" charset="0"/>
              </a:rPr>
              <a:t>较大</a:t>
            </a:r>
            <a:r>
              <a:rPr lang="zh-CN" altLang="en-US" sz="2000" dirty="0">
                <a:latin typeface="Arial" panose="020B0604020202020204" pitchFamily="34" charset="0"/>
                <a:ea typeface="黑体" panose="02010609060101010101" pitchFamily="49" charset="-122"/>
                <a:cs typeface="Arial" panose="020B0604020202020204" pitchFamily="34" charset="0"/>
              </a:rPr>
              <a:t>：</a:t>
            </a:r>
            <a:r>
              <a:rPr lang="zh-CN" altLang="en-US" sz="2000" dirty="0" smtClean="0">
                <a:latin typeface="Arial" panose="020B0604020202020204" pitchFamily="34" charset="0"/>
                <a:ea typeface="黑体" panose="02010609060101010101" pitchFamily="49" charset="-122"/>
                <a:cs typeface="Arial" panose="020B0604020202020204" pitchFamily="34" charset="0"/>
              </a:rPr>
              <a:t>对</a:t>
            </a:r>
            <a:r>
              <a:rPr lang="zh-CN" altLang="en-US" sz="2000" dirty="0">
                <a:latin typeface="Arial" panose="020B0604020202020204" pitchFamily="34" charset="0"/>
                <a:ea typeface="黑体" panose="02010609060101010101" pitchFamily="49" charset="-122"/>
                <a:cs typeface="Arial" panose="020B0604020202020204" pitchFamily="34" charset="0"/>
              </a:rPr>
              <a:t>每一个待</a:t>
            </a:r>
            <a:r>
              <a:rPr lang="zh-CN" altLang="en-US" sz="2000" dirty="0" smtClean="0">
                <a:latin typeface="Arial" panose="020B0604020202020204" pitchFamily="34" charset="0"/>
                <a:ea typeface="黑体" panose="02010609060101010101" pitchFamily="49" charset="-122"/>
                <a:cs typeface="Arial" panose="020B0604020202020204" pitchFamily="34" charset="0"/>
              </a:rPr>
              <a:t>分类样本</a:t>
            </a:r>
            <a:r>
              <a:rPr lang="zh-CN" altLang="en-US" sz="2000" dirty="0">
                <a:latin typeface="Arial" panose="020B0604020202020204" pitchFamily="34" charset="0"/>
                <a:ea typeface="黑体" panose="02010609060101010101" pitchFamily="49" charset="-122"/>
                <a:cs typeface="Arial" panose="020B0604020202020204" pitchFamily="34" charset="0"/>
              </a:rPr>
              <a:t>都要计算它到全体已知样本的</a:t>
            </a:r>
            <a:r>
              <a:rPr lang="zh-CN" altLang="en-US" sz="2000" dirty="0" smtClean="0">
                <a:latin typeface="Arial" panose="020B0604020202020204" pitchFamily="34" charset="0"/>
                <a:ea typeface="黑体" panose="02010609060101010101" pitchFamily="49" charset="-122"/>
                <a:cs typeface="Arial" panose="020B0604020202020204" pitchFamily="34" charset="0"/>
              </a:rPr>
              <a:t>距离。</a:t>
            </a:r>
            <a:endParaRPr lang="en-US" altLang="zh-CN" sz="2000" dirty="0" smtClean="0">
              <a:latin typeface="Arial" panose="020B0604020202020204" pitchFamily="34" charset="0"/>
              <a:ea typeface="黑体" panose="02010609060101010101" pitchFamily="49" charset="-122"/>
              <a:cs typeface="Arial" panose="020B0604020202020204" pitchFamily="34" charset="0"/>
            </a:endParaRPr>
          </a:p>
          <a:p>
            <a:pPr lvl="1">
              <a:buFont typeface="Wingdings" pitchFamily="2" charset="2"/>
              <a:buChar char="n"/>
            </a:pPr>
            <a:endParaRPr lang="en-US" altLang="zh-CN" sz="2000" dirty="0">
              <a:latin typeface="Arial" panose="020B0604020202020204" pitchFamily="34" charset="0"/>
              <a:ea typeface="黑体" panose="02010609060101010101" pitchFamily="49" charset="-122"/>
              <a:cs typeface="Arial" panose="020B0604020202020204" pitchFamily="34" charset="0"/>
            </a:endParaRPr>
          </a:p>
          <a:p>
            <a:pPr>
              <a:buFont typeface="Wingdings" pitchFamily="2" charset="2"/>
              <a:buChar char="n"/>
            </a:pPr>
            <a:r>
              <a:rPr lang="en-US" altLang="zh-CN" sz="2400" dirty="0" smtClean="0">
                <a:solidFill>
                  <a:srgbClr val="C00000"/>
                </a:solidFill>
                <a:latin typeface="Arial" panose="020B0604020202020204" pitchFamily="34" charset="0"/>
                <a:ea typeface="黑体" panose="02010609060101010101" pitchFamily="49" charset="-122"/>
                <a:cs typeface="Arial" panose="020B0604020202020204" pitchFamily="34" charset="0"/>
              </a:rPr>
              <a:t>KNN</a:t>
            </a:r>
            <a:r>
              <a:rPr lang="zh-CN" altLang="en-US" sz="2400" dirty="0" smtClean="0">
                <a:solidFill>
                  <a:srgbClr val="C00000"/>
                </a:solidFill>
                <a:latin typeface="Arial" panose="020B0604020202020204" pitchFamily="34" charset="0"/>
                <a:ea typeface="黑体" panose="02010609060101010101" pitchFamily="49" charset="-122"/>
                <a:cs typeface="Arial" panose="020B0604020202020204" pitchFamily="34" charset="0"/>
              </a:rPr>
              <a:t>算法的改进</a:t>
            </a:r>
            <a:endParaRPr lang="en-US" altLang="zh-CN" sz="2400" dirty="0" smtClean="0">
              <a:solidFill>
                <a:srgbClr val="C00000"/>
              </a:solidFill>
              <a:latin typeface="Arial" panose="020B0604020202020204" pitchFamily="34" charset="0"/>
              <a:ea typeface="黑体" panose="02010609060101010101" pitchFamily="49" charset="-122"/>
              <a:cs typeface="Arial" panose="020B0604020202020204" pitchFamily="34" charset="0"/>
            </a:endParaRPr>
          </a:p>
          <a:p>
            <a:pPr lvl="1">
              <a:buFont typeface="Wingdings" pitchFamily="2" charset="2"/>
              <a:buChar char="n"/>
            </a:pPr>
            <a:r>
              <a:rPr lang="zh-CN" altLang="en-US" sz="2000" dirty="0" smtClean="0">
                <a:latin typeface="Arial" panose="020B0604020202020204" pitchFamily="34" charset="0"/>
                <a:ea typeface="黑体" panose="02010609060101010101" pitchFamily="49" charset="-122"/>
                <a:cs typeface="Arial" panose="020B0604020202020204" pitchFamily="34" charset="0"/>
              </a:rPr>
              <a:t>采用</a:t>
            </a:r>
            <a:r>
              <a:rPr lang="zh-CN" altLang="en-US" sz="2000" dirty="0">
                <a:latin typeface="Arial" panose="020B0604020202020204" pitchFamily="34" charset="0"/>
                <a:ea typeface="黑体" panose="02010609060101010101" pitchFamily="49" charset="-122"/>
                <a:cs typeface="Arial" panose="020B0604020202020204" pitchFamily="34" charset="0"/>
              </a:rPr>
              <a:t>权值的</a:t>
            </a:r>
            <a:r>
              <a:rPr lang="zh-CN" altLang="en-US" sz="2000" dirty="0" smtClean="0">
                <a:latin typeface="Arial" panose="020B0604020202020204" pitchFamily="34" charset="0"/>
                <a:ea typeface="黑体" panose="02010609060101010101" pitchFamily="49" charset="-122"/>
                <a:cs typeface="Arial" panose="020B0604020202020204" pitchFamily="34" charset="0"/>
              </a:rPr>
              <a:t>方法：和目标样本</a:t>
            </a:r>
            <a:r>
              <a:rPr lang="zh-CN" altLang="en-US" sz="2000" dirty="0">
                <a:latin typeface="Arial" panose="020B0604020202020204" pitchFamily="34" charset="0"/>
                <a:ea typeface="黑体" panose="02010609060101010101" pitchFamily="49" charset="-122"/>
                <a:cs typeface="Arial" panose="020B0604020202020204" pitchFamily="34" charset="0"/>
              </a:rPr>
              <a:t>距离小的邻居权值大</a:t>
            </a:r>
            <a:r>
              <a:rPr lang="zh-CN" altLang="en-US" sz="2000" dirty="0" smtClean="0">
                <a:latin typeface="Arial" panose="020B0604020202020204" pitchFamily="34" charset="0"/>
                <a:ea typeface="黑体" panose="02010609060101010101" pitchFamily="49" charset="-122"/>
                <a:cs typeface="Arial" panose="020B0604020202020204" pitchFamily="34" charset="0"/>
              </a:rPr>
              <a:t>，距离</a:t>
            </a:r>
            <a:r>
              <a:rPr lang="zh-CN" altLang="en-US" sz="2000" dirty="0">
                <a:latin typeface="Arial" panose="020B0604020202020204" pitchFamily="34" charset="0"/>
                <a:ea typeface="黑体" panose="02010609060101010101" pitchFamily="49" charset="-122"/>
                <a:cs typeface="Arial" panose="020B0604020202020204" pitchFamily="34" charset="0"/>
              </a:rPr>
              <a:t>大的邻居权值则相对</a:t>
            </a:r>
            <a:r>
              <a:rPr lang="zh-CN" altLang="en-US" sz="2000" dirty="0" smtClean="0">
                <a:latin typeface="Arial" panose="020B0604020202020204" pitchFamily="34" charset="0"/>
                <a:ea typeface="黑体" panose="02010609060101010101" pitchFamily="49" charset="-122"/>
                <a:cs typeface="Arial" panose="020B0604020202020204" pitchFamily="34" charset="0"/>
              </a:rPr>
              <a:t>较小；</a:t>
            </a:r>
            <a:endParaRPr lang="en-US" altLang="zh-CN" sz="2000" dirty="0" smtClean="0">
              <a:latin typeface="Arial" panose="020B0604020202020204" pitchFamily="34" charset="0"/>
              <a:ea typeface="黑体" panose="02010609060101010101" pitchFamily="49" charset="-122"/>
              <a:cs typeface="Arial" panose="020B0604020202020204" pitchFamily="34" charset="0"/>
            </a:endParaRPr>
          </a:p>
          <a:p>
            <a:pPr lvl="1">
              <a:buFont typeface="Wingdings" pitchFamily="2" charset="2"/>
              <a:buChar char="n"/>
            </a:pPr>
            <a:r>
              <a:rPr lang="zh-CN" altLang="en-US" sz="2000" dirty="0" smtClean="0">
                <a:latin typeface="Arial" panose="020B0604020202020204" pitchFamily="34" charset="0"/>
                <a:ea typeface="黑体" panose="02010609060101010101" pitchFamily="49" charset="-122"/>
                <a:cs typeface="Arial" panose="020B0604020202020204" pitchFamily="34" charset="0"/>
              </a:rPr>
              <a:t>采用分组快速搜索近邻法：可以减少计算量，但并不能减少存储量</a:t>
            </a:r>
          </a:p>
          <a:p>
            <a:pPr lvl="1">
              <a:buFont typeface="Wingdings" pitchFamily="2" charset="2"/>
              <a:buChar char="n"/>
            </a:pPr>
            <a:endParaRPr lang="zh-CN" altLang="en-US" sz="2000" dirty="0" smtClean="0">
              <a:latin typeface="Arial" panose="020B0604020202020204" pitchFamily="34" charset="0"/>
              <a:ea typeface="黑体" panose="02010609060101010101" pitchFamily="49" charset="-122"/>
              <a:cs typeface="Arial" panose="020B0604020202020204" pitchFamily="34" charset="0"/>
            </a:endParaRPr>
          </a:p>
        </p:txBody>
      </p:sp>
      <p:sp>
        <p:nvSpPr>
          <p:cNvPr id="4" name="矩形 3"/>
          <p:cNvSpPr/>
          <p:nvPr/>
        </p:nvSpPr>
        <p:spPr>
          <a:xfrm>
            <a:off x="2771800" y="332656"/>
            <a:ext cx="3134191" cy="584775"/>
          </a:xfrm>
          <a:prstGeom prst="rect">
            <a:avLst/>
          </a:prstGeom>
        </p:spPr>
        <p:txBody>
          <a:bodyPr wrap="none">
            <a:spAutoFit/>
          </a:bodyPr>
          <a:lstStyle/>
          <a:p>
            <a:pPr latinLnBrk="1"/>
            <a:r>
              <a:rPr lang="en-US" altLang="zh-CN" sz="3200" b="1" dirty="0">
                <a:solidFill>
                  <a:srgbClr val="000099"/>
                </a:solidFill>
                <a:latin typeface="Arial" panose="020B0604020202020204" pitchFamily="34" charset="0"/>
                <a:ea typeface="黑体" panose="02010609060101010101" pitchFamily="49" charset="-122"/>
                <a:cs typeface="Arial" panose="020B0604020202020204" pitchFamily="34" charset="0"/>
              </a:rPr>
              <a:t>KNN</a:t>
            </a:r>
            <a:r>
              <a:rPr lang="zh-CN" altLang="en-US" sz="3200" b="1" dirty="0">
                <a:solidFill>
                  <a:srgbClr val="000099"/>
                </a:solidFill>
                <a:latin typeface="Arial" panose="020B0604020202020204" pitchFamily="34" charset="0"/>
                <a:ea typeface="黑体" panose="02010609060101010101" pitchFamily="49" charset="-122"/>
                <a:cs typeface="Arial" panose="020B0604020202020204" pitchFamily="34" charset="0"/>
              </a:rPr>
              <a:t>算法的缺陷</a:t>
            </a:r>
            <a:endParaRPr lang="zh-CN" altLang="en-US" sz="3200" b="1" i="0" dirty="0">
              <a:solidFill>
                <a:srgbClr val="000099"/>
              </a:solidFill>
              <a:effectLst/>
              <a:latin typeface="Arial" panose="020B0604020202020204" pitchFamily="34" charset="0"/>
              <a:ea typeface="黑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93809223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130622"/>
            <a:ext cx="8640960" cy="1066130"/>
          </a:xfrm>
        </p:spPr>
        <p:txBody>
          <a:bodyPr/>
          <a:lstStyle/>
          <a:p>
            <a:r>
              <a:rPr lang="en-US" altLang="zh-CN" sz="3200" b="1" dirty="0" smtClean="0">
                <a:solidFill>
                  <a:srgbClr val="C00000"/>
                </a:solidFill>
                <a:latin typeface="Arial" pitchFamily="34" charset="0"/>
                <a:ea typeface="黑体" pitchFamily="49" charset="-122"/>
                <a:cs typeface="Arial" pitchFamily="34" charset="0"/>
              </a:rPr>
              <a:t>4. </a:t>
            </a:r>
            <a:r>
              <a:rPr lang="zh-CN" altLang="en-US" sz="3200" b="1" dirty="0" smtClean="0">
                <a:solidFill>
                  <a:srgbClr val="C00000"/>
                </a:solidFill>
                <a:latin typeface="Arial" pitchFamily="34" charset="0"/>
                <a:ea typeface="黑体" pitchFamily="49" charset="-122"/>
                <a:cs typeface="Arial" pitchFamily="34" charset="0"/>
              </a:rPr>
              <a:t>支持向量机（</a:t>
            </a:r>
            <a:r>
              <a:rPr lang="en-US" altLang="zh-CN" sz="3200" b="1" dirty="0" smtClean="0">
                <a:solidFill>
                  <a:srgbClr val="C00000"/>
                </a:solidFill>
                <a:latin typeface="Arial" pitchFamily="34" charset="0"/>
                <a:ea typeface="黑体" pitchFamily="49" charset="-122"/>
                <a:cs typeface="Arial" pitchFamily="34" charset="0"/>
              </a:rPr>
              <a:t>SVM</a:t>
            </a:r>
            <a:r>
              <a:rPr lang="zh-CN" altLang="en-US" sz="3200" b="1" dirty="0" smtClean="0">
                <a:solidFill>
                  <a:srgbClr val="C00000"/>
                </a:solidFill>
                <a:latin typeface="Arial" pitchFamily="34" charset="0"/>
                <a:ea typeface="黑体" pitchFamily="49" charset="-122"/>
                <a:cs typeface="Arial" pitchFamily="34" charset="0"/>
              </a:rPr>
              <a:t>，</a:t>
            </a:r>
            <a:r>
              <a:rPr lang="en-US" altLang="zh-CN" sz="3200" b="1" dirty="0" smtClean="0">
                <a:solidFill>
                  <a:srgbClr val="C00000"/>
                </a:solidFill>
                <a:latin typeface="Arial" pitchFamily="34" charset="0"/>
                <a:ea typeface="黑体" pitchFamily="49" charset="-122"/>
                <a:cs typeface="Arial" pitchFamily="34" charset="0"/>
              </a:rPr>
              <a:t>Support Vector Machine</a:t>
            </a:r>
            <a:r>
              <a:rPr lang="zh-CN" altLang="en-US" sz="3200" b="1" dirty="0" smtClean="0">
                <a:solidFill>
                  <a:srgbClr val="C00000"/>
                </a:solidFill>
                <a:latin typeface="Arial" pitchFamily="34" charset="0"/>
                <a:ea typeface="黑体" pitchFamily="49" charset="-122"/>
                <a:cs typeface="Arial" pitchFamily="34" charset="0"/>
              </a:rPr>
              <a:t>）</a:t>
            </a:r>
            <a:endParaRPr lang="zh-CN" altLang="en-US" sz="3200" b="1" dirty="0">
              <a:solidFill>
                <a:srgbClr val="C00000"/>
              </a:solidFill>
              <a:latin typeface="Arial" pitchFamily="34" charset="0"/>
              <a:ea typeface="黑体" pitchFamily="49" charset="-122"/>
              <a:cs typeface="Arial" pitchFamily="34" charset="0"/>
            </a:endParaRPr>
          </a:p>
        </p:txBody>
      </p:sp>
      <p:sp>
        <p:nvSpPr>
          <p:cNvPr id="3" name="内容占位符 2"/>
          <p:cNvSpPr>
            <a:spLocks noGrp="1"/>
          </p:cNvSpPr>
          <p:nvPr>
            <p:ph idx="1"/>
          </p:nvPr>
        </p:nvSpPr>
        <p:spPr>
          <a:xfrm>
            <a:off x="179512" y="1268760"/>
            <a:ext cx="8784976" cy="2448272"/>
          </a:xfrm>
        </p:spPr>
        <p:txBody>
          <a:bodyPr/>
          <a:lstStyle/>
          <a:p>
            <a:pPr>
              <a:buFont typeface="Wingdings" pitchFamily="2" charset="2"/>
              <a:buChar char="n"/>
            </a:pPr>
            <a:r>
              <a:rPr lang="zh-CN" altLang="en-US" sz="2400" dirty="0" smtClean="0">
                <a:latin typeface="Arial" pitchFamily="34" charset="0"/>
                <a:ea typeface="黑体" pitchFamily="49" charset="-122"/>
                <a:cs typeface="Arial" pitchFamily="34" charset="0"/>
              </a:rPr>
              <a:t>在线性不可分的情况下，使用一种非线性的映射（核函数），将原训练数据映射到高维特征空间，并找到一个</a:t>
            </a:r>
            <a:r>
              <a:rPr lang="zh-CN" altLang="en-US" sz="2400" dirty="0" smtClean="0">
                <a:solidFill>
                  <a:srgbClr val="FF0000"/>
                </a:solidFill>
                <a:latin typeface="Arial" pitchFamily="34" charset="0"/>
                <a:ea typeface="黑体" pitchFamily="49" charset="-122"/>
                <a:cs typeface="Arial" pitchFamily="34" charset="0"/>
              </a:rPr>
              <a:t>超平面</a:t>
            </a:r>
            <a:r>
              <a:rPr lang="zh-CN" altLang="en-US" sz="2400" dirty="0" smtClean="0">
                <a:latin typeface="Arial" pitchFamily="34" charset="0"/>
                <a:ea typeface="黑体" pitchFamily="49" charset="-122"/>
                <a:cs typeface="Arial" pitchFamily="34" charset="0"/>
              </a:rPr>
              <a:t>，来划分原向量空间的数据；</a:t>
            </a:r>
            <a:endParaRPr lang="en-US" altLang="zh-CN" sz="2400" dirty="0" smtClean="0">
              <a:latin typeface="Arial" pitchFamily="34" charset="0"/>
              <a:ea typeface="黑体" pitchFamily="49" charset="-122"/>
              <a:cs typeface="Arial" pitchFamily="34" charset="0"/>
            </a:endParaRPr>
          </a:p>
          <a:p>
            <a:pPr>
              <a:buNone/>
            </a:pPr>
            <a:endParaRPr lang="en-US" altLang="zh-CN" sz="2400" dirty="0" smtClean="0">
              <a:latin typeface="Arial" pitchFamily="34" charset="0"/>
              <a:ea typeface="黑体" pitchFamily="49" charset="-122"/>
              <a:cs typeface="Arial" pitchFamily="34" charset="0"/>
            </a:endParaRPr>
          </a:p>
          <a:p>
            <a:pPr>
              <a:buFont typeface="Wingdings" pitchFamily="2" charset="2"/>
              <a:buChar char="n"/>
            </a:pPr>
            <a:r>
              <a:rPr lang="en-US" altLang="zh-CN" sz="2400" dirty="0" smtClean="0">
                <a:latin typeface="Arial" pitchFamily="34" charset="0"/>
                <a:ea typeface="黑体" pitchFamily="49" charset="-122"/>
                <a:cs typeface="Arial" pitchFamily="34" charset="0"/>
              </a:rPr>
              <a:t>SVM </a:t>
            </a:r>
            <a:r>
              <a:rPr lang="zh-CN" altLang="en-US" sz="2400" dirty="0" smtClean="0">
                <a:latin typeface="Arial" pitchFamily="34" charset="0"/>
                <a:ea typeface="黑体" pitchFamily="49" charset="-122"/>
                <a:cs typeface="Arial" pitchFamily="34" charset="0"/>
              </a:rPr>
              <a:t>使用支持向量（“基本”训练元组）和边缘（由支持向量定义）发现该超平面。</a:t>
            </a: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64</a:t>
            </a:fld>
            <a:endParaRPr lang="zh-CN" altLang="en-US"/>
          </a:p>
        </p:txBody>
      </p:sp>
      <p:pic>
        <p:nvPicPr>
          <p:cNvPr id="8194" name="Picture 2" descr="http://my.csdn.net/uploads/201206/02/1338612418_9046.JPG"/>
          <p:cNvPicPr>
            <a:picLocks noChangeAspect="1" noChangeArrowheads="1"/>
          </p:cNvPicPr>
          <p:nvPr/>
        </p:nvPicPr>
        <p:blipFill>
          <a:blip r:embed="rId2" cstate="print"/>
          <a:srcRect b="8648"/>
          <a:stretch>
            <a:fillRect/>
          </a:stretch>
        </p:blipFill>
        <p:spPr bwMode="auto">
          <a:xfrm>
            <a:off x="1907704" y="3805469"/>
            <a:ext cx="5037933" cy="2863891"/>
          </a:xfrm>
          <a:prstGeom prst="rect">
            <a:avLst/>
          </a:prstGeom>
          <a:noFill/>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65</a:t>
            </a:fld>
            <a:endParaRPr lang="zh-CN" altLang="en-US"/>
          </a:p>
        </p:txBody>
      </p:sp>
      <p:sp>
        <p:nvSpPr>
          <p:cNvPr id="3" name="标题 1"/>
          <p:cNvSpPr txBox="1">
            <a:spLocks/>
          </p:cNvSpPr>
          <p:nvPr/>
        </p:nvSpPr>
        <p:spPr>
          <a:xfrm>
            <a:off x="457200" y="274638"/>
            <a:ext cx="8229600" cy="850106"/>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a:lstStyle>
          <a:p>
            <a:r>
              <a:rPr lang="en-US" altLang="zh-CN" sz="3200" b="1" smtClean="0">
                <a:solidFill>
                  <a:srgbClr val="006600"/>
                </a:solidFill>
                <a:latin typeface="Arial" pitchFamily="34" charset="0"/>
                <a:ea typeface="黑体" pitchFamily="49" charset="-122"/>
                <a:cs typeface="Arial" pitchFamily="34" charset="0"/>
              </a:rPr>
              <a:t>SVM</a:t>
            </a:r>
            <a:r>
              <a:rPr lang="zh-CN" altLang="en-US" sz="3200" b="1" smtClean="0">
                <a:solidFill>
                  <a:srgbClr val="006600"/>
                </a:solidFill>
                <a:latin typeface="Arial" pitchFamily="34" charset="0"/>
                <a:ea typeface="黑体" pitchFamily="49" charset="-122"/>
                <a:cs typeface="Arial" pitchFamily="34" charset="0"/>
              </a:rPr>
              <a:t>的目标和解决方法</a:t>
            </a:r>
            <a:endParaRPr lang="zh-CN" altLang="en-US" sz="3200" b="1" dirty="0">
              <a:solidFill>
                <a:srgbClr val="006600"/>
              </a:solidFill>
              <a:latin typeface="Arial" pitchFamily="34" charset="0"/>
              <a:ea typeface="黑体" pitchFamily="49" charset="-122"/>
              <a:cs typeface="Arial" pitchFamily="34" charset="0"/>
            </a:endParaRPr>
          </a:p>
        </p:txBody>
      </p:sp>
      <p:sp>
        <p:nvSpPr>
          <p:cNvPr id="4" name="内容占位符 2"/>
          <p:cNvSpPr txBox="1">
            <a:spLocks/>
          </p:cNvSpPr>
          <p:nvPr/>
        </p:nvSpPr>
        <p:spPr>
          <a:xfrm>
            <a:off x="179512" y="1124744"/>
            <a:ext cx="8784976" cy="5256584"/>
          </a:xfrm>
          <a:prstGeom prst="rect">
            <a:avLst/>
          </a:prstGeom>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Char char="n"/>
            </a:pPr>
            <a:r>
              <a:rPr lang="zh-CN" altLang="en-US" sz="2800" dirty="0" smtClean="0">
                <a:solidFill>
                  <a:srgbClr val="FF0000"/>
                </a:solidFill>
                <a:latin typeface="Arial" pitchFamily="34" charset="0"/>
                <a:ea typeface="黑体" pitchFamily="49" charset="-122"/>
                <a:cs typeface="Arial" pitchFamily="34" charset="0"/>
              </a:rPr>
              <a:t>目标</a:t>
            </a:r>
            <a:r>
              <a:rPr lang="zh-CN" altLang="en-US" sz="2800" dirty="0" smtClean="0">
                <a:latin typeface="Arial" pitchFamily="34" charset="0"/>
                <a:ea typeface="黑体" pitchFamily="49" charset="-122"/>
                <a:cs typeface="Arial" pitchFamily="34" charset="0"/>
              </a:rPr>
              <a:t>：找到一个超平面，使得它能够尽可能多的将两类数据点正确的分开，同时使分开的两类数据点距离分类面最远；</a:t>
            </a:r>
            <a:endParaRPr lang="en-US" altLang="zh-CN" sz="2800" dirty="0" smtClean="0">
              <a:latin typeface="Arial" pitchFamily="34" charset="0"/>
              <a:ea typeface="黑体" pitchFamily="49" charset="-122"/>
              <a:cs typeface="Arial" pitchFamily="34" charset="0"/>
            </a:endParaRPr>
          </a:p>
          <a:p>
            <a:pPr>
              <a:buFont typeface="Wingdings" pitchFamily="2" charset="2"/>
              <a:buChar char="n"/>
            </a:pPr>
            <a:endParaRPr lang="zh-CN" altLang="en-US" sz="2800" dirty="0" smtClean="0">
              <a:latin typeface="Arial" pitchFamily="34" charset="0"/>
              <a:ea typeface="黑体" pitchFamily="49" charset="-122"/>
              <a:cs typeface="Arial" pitchFamily="34" charset="0"/>
            </a:endParaRPr>
          </a:p>
          <a:p>
            <a:pPr>
              <a:buFont typeface="Wingdings" pitchFamily="2" charset="2"/>
              <a:buChar char="n"/>
            </a:pPr>
            <a:r>
              <a:rPr lang="zh-CN" altLang="en-US" sz="2800" dirty="0" smtClean="0">
                <a:latin typeface="Arial" pitchFamily="34" charset="0"/>
                <a:ea typeface="黑体" pitchFamily="49" charset="-122"/>
                <a:cs typeface="Arial" pitchFamily="34" charset="0"/>
              </a:rPr>
              <a:t>解决方法：构造一个在约束条件下的优化问题，具体的说是一个</a:t>
            </a:r>
            <a:r>
              <a:rPr lang="zh-CN" altLang="en-US" sz="2800" dirty="0" smtClean="0">
                <a:solidFill>
                  <a:srgbClr val="FF0000"/>
                </a:solidFill>
                <a:latin typeface="Arial" pitchFamily="34" charset="0"/>
                <a:ea typeface="黑体" pitchFamily="49" charset="-122"/>
                <a:cs typeface="Arial" pitchFamily="34" charset="0"/>
              </a:rPr>
              <a:t>受限二次规划问题</a:t>
            </a:r>
            <a:r>
              <a:rPr lang="en-US" altLang="zh-CN" sz="2800" dirty="0" smtClean="0">
                <a:latin typeface="Arial" pitchFamily="34" charset="0"/>
                <a:ea typeface="黑体" pitchFamily="49" charset="-122"/>
                <a:cs typeface="Arial" pitchFamily="34" charset="0"/>
              </a:rPr>
              <a:t>(constrained quadratic programming)</a:t>
            </a:r>
            <a:r>
              <a:rPr lang="zh-CN" altLang="en-US" sz="2800" dirty="0" smtClean="0">
                <a:latin typeface="Arial" pitchFamily="34" charset="0"/>
                <a:ea typeface="黑体" pitchFamily="49" charset="-122"/>
                <a:cs typeface="Arial" pitchFamily="34" charset="0"/>
              </a:rPr>
              <a:t>，求解该问题，得到分类器；</a:t>
            </a:r>
            <a:endParaRPr lang="en-US" altLang="zh-CN" sz="2800" dirty="0" smtClean="0">
              <a:latin typeface="Arial" pitchFamily="34" charset="0"/>
              <a:ea typeface="黑体" pitchFamily="49" charset="-122"/>
              <a:cs typeface="Arial" pitchFamily="34" charset="0"/>
            </a:endParaRPr>
          </a:p>
          <a:p>
            <a:pPr>
              <a:buFont typeface="Wingdings" pitchFamily="2" charset="2"/>
              <a:buChar char="n"/>
            </a:pPr>
            <a:endParaRPr lang="en-US" altLang="zh-CN" sz="2800" dirty="0" smtClean="0">
              <a:latin typeface="Arial" pitchFamily="34" charset="0"/>
              <a:ea typeface="黑体" pitchFamily="49" charset="-122"/>
              <a:cs typeface="Arial" pitchFamily="34" charset="0"/>
            </a:endParaRPr>
          </a:p>
          <a:p>
            <a:pPr>
              <a:buFont typeface="Wingdings" pitchFamily="2" charset="2"/>
              <a:buChar char="n"/>
            </a:pPr>
            <a:r>
              <a:rPr lang="zh-CN" altLang="en-US" sz="2800" b="1" dirty="0" smtClean="0">
                <a:solidFill>
                  <a:srgbClr val="FF0000"/>
                </a:solidFill>
                <a:latin typeface="黑体" pitchFamily="49" charset="-122"/>
                <a:ea typeface="黑体" pitchFamily="49" charset="-122"/>
              </a:rPr>
              <a:t>核函数：</a:t>
            </a:r>
            <a:r>
              <a:rPr lang="zh-CN" altLang="en-US" sz="2800" dirty="0" smtClean="0">
                <a:latin typeface="黑体" pitchFamily="49" charset="-122"/>
                <a:ea typeface="黑体" pitchFamily="49" charset="-122"/>
              </a:rPr>
              <a:t>作用就是一个从低维空间到高维空间的映射，而这个映射可以把低维空间中线性不可分的两类点变成线性可分的。</a:t>
            </a:r>
            <a:endParaRPr lang="zh-CN" altLang="en-US" sz="2800" dirty="0" smtClean="0">
              <a:latin typeface="黑体" pitchFamily="49" charset="-122"/>
              <a:ea typeface="黑体" pitchFamily="49" charset="-122"/>
              <a:cs typeface="Arial" pitchFamily="34" charset="0"/>
            </a:endParaRPr>
          </a:p>
        </p:txBody>
      </p:sp>
    </p:spTree>
    <p:extLst>
      <p:ext uri="{BB962C8B-B14F-4D97-AF65-F5344CB8AC3E}">
        <p14:creationId xmlns:p14="http://schemas.microsoft.com/office/powerpoint/2010/main" val="113452699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66</a:t>
            </a:fld>
            <a:endParaRPr lang="zh-CN" altLang="en-US"/>
          </a:p>
        </p:txBody>
      </p:sp>
      <p:sp>
        <p:nvSpPr>
          <p:cNvPr id="3" name="标题 1"/>
          <p:cNvSpPr txBox="1">
            <a:spLocks/>
          </p:cNvSpPr>
          <p:nvPr/>
        </p:nvSpPr>
        <p:spPr>
          <a:xfrm>
            <a:off x="457200" y="490662"/>
            <a:ext cx="8229600" cy="778098"/>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a:lstStyle>
          <a:p>
            <a:r>
              <a:rPr lang="zh-CN" altLang="en-US" sz="3200" b="1" dirty="0" smtClean="0">
                <a:solidFill>
                  <a:srgbClr val="006600"/>
                </a:solidFill>
                <a:latin typeface="黑体" pitchFamily="49" charset="-122"/>
                <a:ea typeface="黑体" pitchFamily="49" charset="-122"/>
              </a:rPr>
              <a:t>通常的内核函数</a:t>
            </a:r>
            <a:endParaRPr lang="zh-CN" altLang="en-US" sz="3200" b="1" dirty="0">
              <a:solidFill>
                <a:srgbClr val="006600"/>
              </a:solidFill>
              <a:latin typeface="黑体" pitchFamily="49" charset="-122"/>
              <a:ea typeface="黑体" pitchFamily="49" charset="-122"/>
            </a:endParaRPr>
          </a:p>
        </p:txBody>
      </p:sp>
      <p:sp>
        <p:nvSpPr>
          <p:cNvPr id="4" name="内容占位符 2"/>
          <p:cNvSpPr txBox="1">
            <a:spLocks/>
          </p:cNvSpPr>
          <p:nvPr/>
        </p:nvSpPr>
        <p:spPr>
          <a:xfrm>
            <a:off x="251520" y="1600200"/>
            <a:ext cx="8712968" cy="4205064"/>
          </a:xfrm>
          <a:prstGeom prst="rect">
            <a:avLst/>
          </a:prstGeom>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Char char="n"/>
            </a:pPr>
            <a:r>
              <a:rPr lang="zh-CN" altLang="en-US" sz="2800" dirty="0" smtClean="0">
                <a:latin typeface="Arial" pitchFamily="34" charset="0"/>
                <a:ea typeface="黑体" pitchFamily="49" charset="-122"/>
                <a:cs typeface="Arial" pitchFamily="34" charset="0"/>
              </a:rPr>
              <a:t>线性：</a:t>
            </a:r>
            <a:r>
              <a:rPr lang="en-US" altLang="zh-CN" sz="2800" dirty="0" smtClean="0">
                <a:latin typeface="Arial" pitchFamily="34" charset="0"/>
                <a:ea typeface="黑体" pitchFamily="49" charset="-122"/>
                <a:cs typeface="Arial" pitchFamily="34" charset="0"/>
              </a:rPr>
              <a:t>K(</a:t>
            </a:r>
            <a:r>
              <a:rPr lang="en-US" altLang="zh-CN" sz="2800" i="1" dirty="0" smtClean="0">
                <a:latin typeface="Arial" pitchFamily="34" charset="0"/>
                <a:ea typeface="黑体" pitchFamily="49" charset="-122"/>
                <a:cs typeface="Arial" pitchFamily="34" charset="0"/>
              </a:rPr>
              <a:t>v1, v2</a:t>
            </a:r>
            <a:r>
              <a:rPr lang="en-US" altLang="zh-CN" sz="2800" dirty="0" smtClean="0">
                <a:latin typeface="Arial" pitchFamily="34" charset="0"/>
                <a:ea typeface="黑体" pitchFamily="49" charset="-122"/>
                <a:cs typeface="Arial" pitchFamily="34" charset="0"/>
              </a:rPr>
              <a:t>)=&lt;</a:t>
            </a:r>
            <a:r>
              <a:rPr lang="en-US" altLang="zh-CN" sz="2800" i="1" dirty="0" smtClean="0">
                <a:latin typeface="Arial" pitchFamily="34" charset="0"/>
                <a:ea typeface="黑体" pitchFamily="49" charset="-122"/>
                <a:cs typeface="Arial" pitchFamily="34" charset="0"/>
              </a:rPr>
              <a:t>v1, v2</a:t>
            </a:r>
            <a:r>
              <a:rPr lang="en-US" altLang="zh-CN" sz="2800" dirty="0" smtClean="0">
                <a:latin typeface="Arial" pitchFamily="34" charset="0"/>
                <a:ea typeface="黑体" pitchFamily="49" charset="-122"/>
                <a:cs typeface="Arial" pitchFamily="34" charset="0"/>
              </a:rPr>
              <a:t>&gt; </a:t>
            </a:r>
          </a:p>
          <a:p>
            <a:pPr>
              <a:buFont typeface="Wingdings" pitchFamily="2" charset="2"/>
              <a:buChar char="n"/>
            </a:pPr>
            <a:endParaRPr lang="en-US" altLang="zh-CN" sz="2800" dirty="0" smtClean="0">
              <a:latin typeface="Arial" pitchFamily="34" charset="0"/>
              <a:ea typeface="黑体" pitchFamily="49" charset="-122"/>
              <a:cs typeface="Arial" pitchFamily="34" charset="0"/>
            </a:endParaRPr>
          </a:p>
          <a:p>
            <a:pPr>
              <a:buFont typeface="Wingdings" pitchFamily="2" charset="2"/>
              <a:buChar char="n"/>
            </a:pPr>
            <a:r>
              <a:rPr lang="zh-CN" altLang="en-US" sz="2800" dirty="0" smtClean="0">
                <a:latin typeface="Arial" pitchFamily="34" charset="0"/>
                <a:ea typeface="黑体" pitchFamily="49" charset="-122"/>
                <a:cs typeface="Arial" pitchFamily="34" charset="0"/>
              </a:rPr>
              <a:t>多项式：</a:t>
            </a:r>
            <a:r>
              <a:rPr lang="en-US" altLang="zh-CN" sz="2800" dirty="0" smtClean="0">
                <a:latin typeface="Arial" pitchFamily="34" charset="0"/>
                <a:ea typeface="黑体" pitchFamily="49" charset="-122"/>
                <a:cs typeface="Arial" pitchFamily="34" charset="0"/>
              </a:rPr>
              <a:t>K(</a:t>
            </a:r>
            <a:r>
              <a:rPr lang="en-US" altLang="zh-CN" sz="2800" i="1" dirty="0" smtClean="0">
                <a:latin typeface="Arial" pitchFamily="34" charset="0"/>
                <a:ea typeface="黑体" pitchFamily="49" charset="-122"/>
                <a:cs typeface="Arial" pitchFamily="34" charset="0"/>
              </a:rPr>
              <a:t>v1, v2</a:t>
            </a:r>
            <a:r>
              <a:rPr lang="en-US" altLang="zh-CN" sz="2800" dirty="0" smtClean="0">
                <a:latin typeface="Arial" pitchFamily="34" charset="0"/>
                <a:ea typeface="黑体" pitchFamily="49" charset="-122"/>
                <a:cs typeface="Arial" pitchFamily="34" charset="0"/>
              </a:rPr>
              <a:t>)=(</a:t>
            </a:r>
            <a:r>
              <a:rPr lang="el-GR" altLang="zh-CN" sz="2800" dirty="0" smtClean="0">
                <a:latin typeface="Arial" pitchFamily="34" charset="0"/>
                <a:ea typeface="黑体" pitchFamily="49" charset="-122"/>
                <a:cs typeface="Arial" pitchFamily="34" charset="0"/>
              </a:rPr>
              <a:t>γ&lt;</a:t>
            </a:r>
            <a:r>
              <a:rPr lang="en-US" altLang="zh-CN" sz="2800" i="1" dirty="0" smtClean="0">
                <a:latin typeface="Arial" pitchFamily="34" charset="0"/>
                <a:ea typeface="黑体" pitchFamily="49" charset="-122"/>
                <a:cs typeface="Arial" pitchFamily="34" charset="0"/>
              </a:rPr>
              <a:t>v1, v2</a:t>
            </a:r>
            <a:r>
              <a:rPr lang="en-US" altLang="zh-CN" sz="2800" dirty="0" smtClean="0">
                <a:latin typeface="Arial" pitchFamily="34" charset="0"/>
                <a:ea typeface="黑体" pitchFamily="49" charset="-122"/>
                <a:cs typeface="Arial" pitchFamily="34" charset="0"/>
              </a:rPr>
              <a:t>&gt; + c)</a:t>
            </a:r>
            <a:r>
              <a:rPr lang="en-US" altLang="zh-CN" sz="2800" baseline="30000" dirty="0" smtClean="0">
                <a:latin typeface="Arial" pitchFamily="34" charset="0"/>
                <a:ea typeface="黑体" pitchFamily="49" charset="-122"/>
                <a:cs typeface="Arial" pitchFamily="34" charset="0"/>
              </a:rPr>
              <a:t>n</a:t>
            </a:r>
            <a:r>
              <a:rPr lang="en-US" altLang="zh-CN" sz="2800" dirty="0" smtClean="0">
                <a:latin typeface="Arial" pitchFamily="34" charset="0"/>
                <a:ea typeface="黑体" pitchFamily="49" charset="-122"/>
                <a:cs typeface="Arial" pitchFamily="34" charset="0"/>
              </a:rPr>
              <a:t/>
            </a:r>
            <a:br>
              <a:rPr lang="en-US" altLang="zh-CN" sz="2800" dirty="0" smtClean="0">
                <a:latin typeface="Arial" pitchFamily="34" charset="0"/>
                <a:ea typeface="黑体" pitchFamily="49" charset="-122"/>
                <a:cs typeface="Arial" pitchFamily="34" charset="0"/>
              </a:rPr>
            </a:br>
            <a:endParaRPr lang="en-US" altLang="zh-CN" sz="2800" dirty="0" smtClean="0">
              <a:latin typeface="Arial" pitchFamily="34" charset="0"/>
              <a:ea typeface="黑体" pitchFamily="49" charset="-122"/>
              <a:cs typeface="Arial" pitchFamily="34" charset="0"/>
            </a:endParaRPr>
          </a:p>
          <a:p>
            <a:pPr>
              <a:buFont typeface="Wingdings" pitchFamily="2" charset="2"/>
              <a:buChar char="n"/>
            </a:pPr>
            <a:r>
              <a:rPr lang="zh-CN" altLang="en-US" sz="2800" dirty="0" smtClean="0">
                <a:solidFill>
                  <a:srgbClr val="C00000"/>
                </a:solidFill>
                <a:latin typeface="Arial" pitchFamily="34" charset="0"/>
                <a:ea typeface="黑体" pitchFamily="49" charset="-122"/>
                <a:cs typeface="Arial" pitchFamily="34" charset="0"/>
              </a:rPr>
              <a:t>径向基函数</a:t>
            </a:r>
            <a:r>
              <a:rPr lang="zh-CN" altLang="en-US" sz="2800" dirty="0" smtClean="0">
                <a:latin typeface="Arial" pitchFamily="34" charset="0"/>
                <a:ea typeface="黑体" pitchFamily="49" charset="-122"/>
                <a:cs typeface="Arial" pitchFamily="34" charset="0"/>
              </a:rPr>
              <a:t>（</a:t>
            </a:r>
            <a:r>
              <a:rPr lang="en-US" altLang="zh-CN" sz="2800" dirty="0" smtClean="0">
                <a:latin typeface="Arial" pitchFamily="34" charset="0"/>
                <a:ea typeface="黑体" pitchFamily="49" charset="-122"/>
                <a:cs typeface="Arial" pitchFamily="34" charset="0"/>
              </a:rPr>
              <a:t>Radial basis function</a:t>
            </a:r>
            <a:r>
              <a:rPr lang="zh-CN" altLang="en-US" sz="2800" dirty="0" smtClean="0">
                <a:latin typeface="Arial" pitchFamily="34" charset="0"/>
                <a:ea typeface="黑体" pitchFamily="49" charset="-122"/>
                <a:cs typeface="Arial" pitchFamily="34" charset="0"/>
              </a:rPr>
              <a:t>）：</a:t>
            </a:r>
            <a:r>
              <a:rPr lang="en-US" altLang="zh-CN" sz="2800" dirty="0" smtClean="0">
                <a:latin typeface="Arial" pitchFamily="34" charset="0"/>
                <a:ea typeface="黑体" pitchFamily="49" charset="-122"/>
                <a:cs typeface="Arial" pitchFamily="34" charset="0"/>
              </a:rPr>
              <a:t>K(</a:t>
            </a:r>
            <a:r>
              <a:rPr lang="en-US" altLang="zh-CN" sz="2800" i="1" dirty="0" smtClean="0">
                <a:latin typeface="Arial" pitchFamily="34" charset="0"/>
                <a:ea typeface="黑体" pitchFamily="49" charset="-122"/>
                <a:cs typeface="Arial" pitchFamily="34" charset="0"/>
              </a:rPr>
              <a:t>v1, v2</a:t>
            </a:r>
            <a:r>
              <a:rPr lang="en-US" altLang="zh-CN" sz="2800" dirty="0" smtClean="0">
                <a:latin typeface="Arial" pitchFamily="34" charset="0"/>
                <a:ea typeface="黑体" pitchFamily="49" charset="-122"/>
                <a:cs typeface="Arial" pitchFamily="34" charset="0"/>
              </a:rPr>
              <a:t>)=</a:t>
            </a:r>
            <a:r>
              <a:rPr lang="en-US" altLang="zh-CN" sz="2800" dirty="0" err="1" smtClean="0">
                <a:latin typeface="Arial" pitchFamily="34" charset="0"/>
                <a:ea typeface="黑体" pitchFamily="49" charset="-122"/>
                <a:cs typeface="Arial" pitchFamily="34" charset="0"/>
              </a:rPr>
              <a:t>exp</a:t>
            </a:r>
            <a:r>
              <a:rPr lang="en-US" altLang="zh-CN" sz="2800" dirty="0" smtClean="0">
                <a:latin typeface="Arial" pitchFamily="34" charset="0"/>
                <a:ea typeface="黑体" pitchFamily="49" charset="-122"/>
                <a:cs typeface="Arial" pitchFamily="34" charset="0"/>
              </a:rPr>
              <a:t>(−</a:t>
            </a:r>
            <a:r>
              <a:rPr lang="el-GR" altLang="zh-CN" sz="2800" dirty="0" smtClean="0">
                <a:latin typeface="Arial" pitchFamily="34" charset="0"/>
                <a:ea typeface="黑体" pitchFamily="49" charset="-122"/>
                <a:cs typeface="Arial" pitchFamily="34" charset="0"/>
              </a:rPr>
              <a:t>γ||</a:t>
            </a:r>
            <a:r>
              <a:rPr lang="en-US" altLang="zh-CN" sz="2800" i="1" dirty="0" smtClean="0">
                <a:latin typeface="Arial" pitchFamily="34" charset="0"/>
                <a:ea typeface="黑体" pitchFamily="49" charset="-122"/>
                <a:cs typeface="Arial" pitchFamily="34" charset="0"/>
              </a:rPr>
              <a:t>v1−v2</a:t>
            </a:r>
            <a:r>
              <a:rPr lang="en-US" altLang="zh-CN" sz="2800" dirty="0" smtClean="0">
                <a:latin typeface="Arial" pitchFamily="34" charset="0"/>
                <a:ea typeface="黑体" pitchFamily="49" charset="-122"/>
                <a:cs typeface="Arial" pitchFamily="34" charset="0"/>
              </a:rPr>
              <a:t>||</a:t>
            </a:r>
            <a:r>
              <a:rPr lang="en-US" altLang="zh-CN" sz="2800" baseline="30000" dirty="0" smtClean="0">
                <a:latin typeface="Arial" pitchFamily="34" charset="0"/>
                <a:ea typeface="黑体" pitchFamily="49" charset="-122"/>
                <a:cs typeface="Arial" pitchFamily="34" charset="0"/>
              </a:rPr>
              <a:t>2</a:t>
            </a:r>
            <a:r>
              <a:rPr lang="en-US" altLang="zh-CN" sz="2800" dirty="0" smtClean="0">
                <a:latin typeface="Arial" pitchFamily="34" charset="0"/>
                <a:ea typeface="黑体" pitchFamily="49" charset="-122"/>
                <a:cs typeface="Arial" pitchFamily="34" charset="0"/>
              </a:rPr>
              <a:t>)</a:t>
            </a:r>
            <a:br>
              <a:rPr lang="en-US" altLang="zh-CN" sz="2800" dirty="0" smtClean="0">
                <a:latin typeface="Arial" pitchFamily="34" charset="0"/>
                <a:ea typeface="黑体" pitchFamily="49" charset="-122"/>
                <a:cs typeface="Arial" pitchFamily="34" charset="0"/>
              </a:rPr>
            </a:br>
            <a:endParaRPr lang="en-US" altLang="zh-CN" sz="2800" dirty="0" smtClean="0">
              <a:latin typeface="Arial" pitchFamily="34" charset="0"/>
              <a:ea typeface="黑体" pitchFamily="49" charset="-122"/>
              <a:cs typeface="Arial" pitchFamily="34" charset="0"/>
            </a:endParaRPr>
          </a:p>
          <a:p>
            <a:pPr>
              <a:buFont typeface="Wingdings" pitchFamily="2" charset="2"/>
              <a:buChar char="n"/>
            </a:pPr>
            <a:r>
              <a:rPr lang="en-US" altLang="zh-CN" sz="2800" dirty="0" smtClean="0">
                <a:latin typeface="Arial" pitchFamily="34" charset="0"/>
                <a:ea typeface="黑体" pitchFamily="49" charset="-122"/>
                <a:cs typeface="Arial" pitchFamily="34" charset="0"/>
              </a:rPr>
              <a:t>Sigmoid</a:t>
            </a:r>
            <a:r>
              <a:rPr lang="zh-CN" altLang="en-US" sz="2800" dirty="0" smtClean="0">
                <a:latin typeface="Arial" pitchFamily="34" charset="0"/>
                <a:ea typeface="黑体" pitchFamily="49" charset="-122"/>
                <a:cs typeface="Arial" pitchFamily="34" charset="0"/>
              </a:rPr>
              <a:t>：</a:t>
            </a:r>
            <a:r>
              <a:rPr lang="en-US" altLang="zh-CN" sz="2800" dirty="0" smtClean="0">
                <a:latin typeface="Arial" pitchFamily="34" charset="0"/>
                <a:ea typeface="黑体" pitchFamily="49" charset="-122"/>
                <a:cs typeface="Arial" pitchFamily="34" charset="0"/>
              </a:rPr>
              <a:t>K(</a:t>
            </a:r>
            <a:r>
              <a:rPr lang="en-US" altLang="zh-CN" sz="2800" i="1" dirty="0" smtClean="0">
                <a:latin typeface="Arial" pitchFamily="34" charset="0"/>
                <a:ea typeface="黑体" pitchFamily="49" charset="-122"/>
                <a:cs typeface="Arial" pitchFamily="34" charset="0"/>
              </a:rPr>
              <a:t>v1, v2</a:t>
            </a:r>
            <a:r>
              <a:rPr lang="en-US" altLang="zh-CN" sz="2800" dirty="0" smtClean="0">
                <a:latin typeface="Arial" pitchFamily="34" charset="0"/>
                <a:ea typeface="黑体" pitchFamily="49" charset="-122"/>
                <a:cs typeface="Arial" pitchFamily="34" charset="0"/>
              </a:rPr>
              <a:t>)=</a:t>
            </a:r>
            <a:r>
              <a:rPr lang="en-US" altLang="zh-CN" sz="2800" dirty="0" err="1" smtClean="0">
                <a:latin typeface="Arial" pitchFamily="34" charset="0"/>
                <a:ea typeface="黑体" pitchFamily="49" charset="-122"/>
                <a:cs typeface="Arial" pitchFamily="34" charset="0"/>
              </a:rPr>
              <a:t>tanh</a:t>
            </a:r>
            <a:r>
              <a:rPr lang="en-US" altLang="zh-CN" sz="2800" dirty="0" smtClean="0">
                <a:latin typeface="Arial" pitchFamily="34" charset="0"/>
                <a:ea typeface="黑体" pitchFamily="49" charset="-122"/>
                <a:cs typeface="Arial" pitchFamily="34" charset="0"/>
              </a:rPr>
              <a:t>(</a:t>
            </a:r>
            <a:r>
              <a:rPr lang="el-GR" altLang="zh-CN" sz="2800" dirty="0" smtClean="0">
                <a:latin typeface="Arial" pitchFamily="34" charset="0"/>
                <a:ea typeface="黑体" pitchFamily="49" charset="-122"/>
                <a:cs typeface="Arial" pitchFamily="34" charset="0"/>
              </a:rPr>
              <a:t>γ&lt;</a:t>
            </a:r>
            <a:r>
              <a:rPr lang="en-US" altLang="zh-CN" sz="2800" i="1" dirty="0" smtClean="0">
                <a:latin typeface="Arial" pitchFamily="34" charset="0"/>
                <a:ea typeface="黑体" pitchFamily="49" charset="-122"/>
                <a:cs typeface="Arial" pitchFamily="34" charset="0"/>
              </a:rPr>
              <a:t>v1, v2</a:t>
            </a:r>
            <a:r>
              <a:rPr lang="en-US" altLang="zh-CN" sz="2800" dirty="0" smtClean="0">
                <a:latin typeface="Arial" pitchFamily="34" charset="0"/>
                <a:ea typeface="黑体" pitchFamily="49" charset="-122"/>
                <a:cs typeface="Arial" pitchFamily="34" charset="0"/>
              </a:rPr>
              <a:t>&gt; + c)</a:t>
            </a:r>
            <a:br>
              <a:rPr lang="en-US" altLang="zh-CN" sz="2800" dirty="0" smtClean="0">
                <a:latin typeface="Arial" pitchFamily="34" charset="0"/>
                <a:ea typeface="黑体" pitchFamily="49" charset="-122"/>
                <a:cs typeface="Arial" pitchFamily="34" charset="0"/>
              </a:rPr>
            </a:br>
            <a:endParaRPr lang="zh-CN" altLang="en-US" sz="2800" dirty="0">
              <a:latin typeface="Arial" pitchFamily="34" charset="0"/>
              <a:ea typeface="黑体" pitchFamily="49" charset="-122"/>
              <a:cs typeface="Arial" pitchFamily="34" charset="0"/>
            </a:endParaRPr>
          </a:p>
        </p:txBody>
      </p:sp>
    </p:spTree>
    <p:extLst>
      <p:ext uri="{BB962C8B-B14F-4D97-AF65-F5344CB8AC3E}">
        <p14:creationId xmlns:p14="http://schemas.microsoft.com/office/powerpoint/2010/main" val="377678749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67</a:t>
            </a:fld>
            <a:endParaRPr lang="zh-CN" altLang="en-US"/>
          </a:p>
        </p:txBody>
      </p:sp>
      <p:pic>
        <p:nvPicPr>
          <p:cNvPr id="1026" name="Picture 2" descr="http://my.csdn.net/uploads/201206/03/1338655829_6929.png"/>
          <p:cNvPicPr>
            <a:picLocks noChangeAspect="1" noChangeArrowheads="1"/>
          </p:cNvPicPr>
          <p:nvPr/>
        </p:nvPicPr>
        <p:blipFill>
          <a:blip r:embed="rId2" cstate="print"/>
          <a:srcRect/>
          <a:stretch>
            <a:fillRect/>
          </a:stretch>
        </p:blipFill>
        <p:spPr bwMode="auto">
          <a:xfrm>
            <a:off x="395536" y="404664"/>
            <a:ext cx="3672408" cy="2937928"/>
          </a:xfrm>
          <a:prstGeom prst="rect">
            <a:avLst/>
          </a:prstGeom>
          <a:noFill/>
        </p:spPr>
      </p:pic>
      <p:pic>
        <p:nvPicPr>
          <p:cNvPr id="1028" name="Picture 4" descr="http://img.my.csdn.net/uploads/201304/03/1364952814_3505.gif"/>
          <p:cNvPicPr>
            <a:picLocks noChangeAspect="1" noChangeArrowheads="1"/>
          </p:cNvPicPr>
          <p:nvPr/>
        </p:nvPicPr>
        <p:blipFill>
          <a:blip r:embed="rId3" cstate="print"/>
          <a:srcRect/>
          <a:stretch>
            <a:fillRect/>
          </a:stretch>
        </p:blipFill>
        <p:spPr bwMode="auto">
          <a:xfrm>
            <a:off x="5076056" y="3140968"/>
            <a:ext cx="3420830" cy="2742828"/>
          </a:xfrm>
          <a:prstGeom prst="rect">
            <a:avLst/>
          </a:prstGeom>
          <a:noFill/>
        </p:spPr>
      </p:pic>
      <p:sp>
        <p:nvSpPr>
          <p:cNvPr id="7" name="下箭头 6"/>
          <p:cNvSpPr/>
          <p:nvPr/>
        </p:nvSpPr>
        <p:spPr>
          <a:xfrm rot="18127555">
            <a:off x="4016159" y="2566376"/>
            <a:ext cx="720080" cy="12961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4355976" y="2276872"/>
            <a:ext cx="2232248" cy="646331"/>
          </a:xfrm>
          <a:prstGeom prst="rect">
            <a:avLst/>
          </a:prstGeom>
        </p:spPr>
        <p:txBody>
          <a:bodyPr wrap="square">
            <a:spAutoFit/>
          </a:bodyPr>
          <a:lstStyle/>
          <a:p>
            <a:r>
              <a:rPr lang="zh-CN" altLang="en-US" dirty="0" smtClean="0">
                <a:latin typeface="黑体" pitchFamily="49" charset="-122"/>
                <a:ea typeface="黑体" pitchFamily="49" charset="-122"/>
              </a:rPr>
              <a:t>把二维数据映射到一个三维空间中</a:t>
            </a:r>
            <a:endParaRPr lang="zh-CN" altLang="en-US" dirty="0">
              <a:latin typeface="黑体" pitchFamily="49" charset="-122"/>
              <a:ea typeface="黑体" pitchFamily="49" charset="-122"/>
            </a:endParaRPr>
          </a:p>
        </p:txBody>
      </p:sp>
      <p:sp>
        <p:nvSpPr>
          <p:cNvPr id="9" name="矩形 8"/>
          <p:cNvSpPr/>
          <p:nvPr/>
        </p:nvSpPr>
        <p:spPr>
          <a:xfrm>
            <a:off x="5304561" y="6021288"/>
            <a:ext cx="2723823" cy="369332"/>
          </a:xfrm>
          <a:prstGeom prst="rect">
            <a:avLst/>
          </a:prstGeom>
        </p:spPr>
        <p:txBody>
          <a:bodyPr wrap="none">
            <a:spAutoFit/>
          </a:bodyPr>
          <a:lstStyle/>
          <a:p>
            <a:r>
              <a:rPr lang="zh-CN" altLang="en-US" dirty="0" smtClean="0">
                <a:solidFill>
                  <a:srgbClr val="FF0000"/>
                </a:solidFill>
                <a:latin typeface="黑体" pitchFamily="49" charset="-122"/>
                <a:ea typeface="黑体" pitchFamily="49" charset="-122"/>
              </a:rPr>
              <a:t>可以通过一个平面来分开</a:t>
            </a:r>
            <a:endParaRPr lang="zh-CN" altLang="en-US" dirty="0">
              <a:solidFill>
                <a:srgbClr val="FF0000"/>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par>
                                <p:cTn id="11" presetID="3" presetClass="entr" presetSubtype="10" fill="hold" nodeType="withEffect">
                                  <p:stCondLst>
                                    <p:cond delay="0"/>
                                  </p:stCondLst>
                                  <p:childTnLst>
                                    <p:set>
                                      <p:cBhvr>
                                        <p:cTn id="12" dur="1" fill="hold">
                                          <p:stCondLst>
                                            <p:cond delay="0"/>
                                          </p:stCondLst>
                                        </p:cTn>
                                        <p:tgtEl>
                                          <p:spTgt spid="1028"/>
                                        </p:tgtEl>
                                        <p:attrNameLst>
                                          <p:attrName>style.visibility</p:attrName>
                                        </p:attrNameLst>
                                      </p:cBhvr>
                                      <p:to>
                                        <p:strVal val="visible"/>
                                      </p:to>
                                    </p:set>
                                    <p:animEffect transition="in" filter="blinds(horizontal)">
                                      <p:cBhvr>
                                        <p:cTn id="13" dur="500"/>
                                        <p:tgtEl>
                                          <p:spTgt spid="1028"/>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linds(horizontal)">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850106"/>
          </a:xfrm>
        </p:spPr>
        <p:txBody>
          <a:bodyPr/>
          <a:lstStyle/>
          <a:p>
            <a:r>
              <a:rPr lang="zh-CN" altLang="en-US" sz="3600" b="1" dirty="0" smtClean="0">
                <a:solidFill>
                  <a:srgbClr val="FF0000"/>
                </a:solidFill>
                <a:latin typeface="黑体" pitchFamily="49" charset="-122"/>
                <a:ea typeface="黑体" pitchFamily="49" charset="-122"/>
              </a:rPr>
              <a:t>分类算法的选择</a:t>
            </a:r>
            <a:endParaRPr lang="zh-CN" altLang="en-US" sz="3600" b="1" dirty="0">
              <a:solidFill>
                <a:srgbClr val="FF0000"/>
              </a:solidFill>
              <a:latin typeface="黑体" pitchFamily="49" charset="-122"/>
              <a:ea typeface="黑体" pitchFamily="49" charset="-122"/>
            </a:endParaRPr>
          </a:p>
        </p:txBody>
      </p:sp>
      <p:sp>
        <p:nvSpPr>
          <p:cNvPr id="3" name="内容占位符 2"/>
          <p:cNvSpPr>
            <a:spLocks noGrp="1"/>
          </p:cNvSpPr>
          <p:nvPr>
            <p:ph idx="1"/>
          </p:nvPr>
        </p:nvSpPr>
        <p:spPr>
          <a:xfrm>
            <a:off x="251520" y="1230431"/>
            <a:ext cx="8640960" cy="5040560"/>
          </a:xfrm>
        </p:spPr>
        <p:txBody>
          <a:bodyPr/>
          <a:lstStyle/>
          <a:p>
            <a:pPr>
              <a:buFont typeface="Wingdings" pitchFamily="2" charset="2"/>
              <a:buChar char="n"/>
            </a:pPr>
            <a:r>
              <a:rPr lang="zh-CN" altLang="en-US" sz="2800" dirty="0" smtClean="0">
                <a:latin typeface="Arial" pitchFamily="34" charset="0"/>
                <a:ea typeface="黑体" pitchFamily="49" charset="-122"/>
                <a:cs typeface="Arial" pitchFamily="34" charset="0"/>
              </a:rPr>
              <a:t>由于每个算法都基于特定的假设，并且均含有各自的缺点，故需要通过大量的实践为特定的问题选择合适的算法；</a:t>
            </a:r>
          </a:p>
          <a:p>
            <a:pPr>
              <a:buFont typeface="Wingdings" pitchFamily="2" charset="2"/>
              <a:buChar char="n"/>
            </a:pPr>
            <a:endParaRPr lang="zh-CN" altLang="en-US" sz="2800" dirty="0" smtClean="0">
              <a:latin typeface="Arial" pitchFamily="34" charset="0"/>
              <a:ea typeface="黑体" pitchFamily="49" charset="-122"/>
              <a:cs typeface="Arial" pitchFamily="34" charset="0"/>
            </a:endParaRPr>
          </a:p>
          <a:p>
            <a:pPr>
              <a:buFont typeface="Wingdings" pitchFamily="2" charset="2"/>
              <a:buChar char="n"/>
            </a:pPr>
            <a:r>
              <a:rPr lang="zh-CN" altLang="en-US" sz="2800" dirty="0" smtClean="0">
                <a:latin typeface="Arial" pitchFamily="34" charset="0"/>
                <a:ea typeface="黑体" pitchFamily="49" charset="-122"/>
                <a:cs typeface="Arial" pitchFamily="34" charset="0"/>
              </a:rPr>
              <a:t>没有任何一种分类算法在所有问题中都有良好的表现。只有比较了多种学习算法的性能，才能为特定的问题挑选出合适的模型；</a:t>
            </a:r>
          </a:p>
          <a:p>
            <a:pPr>
              <a:buFont typeface="Wingdings" pitchFamily="2" charset="2"/>
              <a:buChar char="n"/>
            </a:pPr>
            <a:endParaRPr lang="zh-CN" altLang="en-US" sz="2800" dirty="0" smtClean="0">
              <a:latin typeface="Arial" pitchFamily="34" charset="0"/>
              <a:ea typeface="黑体" pitchFamily="49" charset="-122"/>
              <a:cs typeface="Arial" pitchFamily="34" charset="0"/>
            </a:endParaRPr>
          </a:p>
          <a:p>
            <a:pPr>
              <a:buFont typeface="Wingdings" pitchFamily="2" charset="2"/>
              <a:buChar char="n"/>
            </a:pPr>
            <a:r>
              <a:rPr lang="zh-CN" altLang="en-US" sz="2800" dirty="0" smtClean="0">
                <a:latin typeface="Arial" pitchFamily="34" charset="0"/>
                <a:ea typeface="黑体" pitchFamily="49" charset="-122"/>
                <a:cs typeface="Arial" pitchFamily="34" charset="0"/>
              </a:rPr>
              <a:t>分类算法的性能、计算能力和预测能力，在很大程度上都依赖用于模型训练的相关数据。</a:t>
            </a:r>
            <a:endParaRPr lang="zh-CN" altLang="en-US" sz="2800" dirty="0">
              <a:latin typeface="Arial" pitchFamily="34" charset="0"/>
              <a:ea typeface="黑体" pitchFamily="49" charset="-122"/>
              <a:cs typeface="Arial" pitchFamily="34" charset="0"/>
            </a:endParaRPr>
          </a:p>
        </p:txBody>
      </p:sp>
      <p:sp>
        <p:nvSpPr>
          <p:cNvPr id="4" name="灯片编号占位符 3"/>
          <p:cNvSpPr>
            <a:spLocks noGrp="1"/>
          </p:cNvSpPr>
          <p:nvPr>
            <p:ph type="sldNum" sz="quarter" idx="12"/>
          </p:nvPr>
        </p:nvSpPr>
        <p:spPr/>
        <p:txBody>
          <a:bodyPr/>
          <a:lstStyle/>
          <a:p>
            <a:pPr>
              <a:defRPr/>
            </a:pPr>
            <a:fld id="{86C75756-0271-488A-B748-639BD5BFB0CE}" type="slidenum">
              <a:rPr lang="zh-CN" altLang="en-US" smtClean="0"/>
              <a:pPr>
                <a:defRPr/>
              </a:pPr>
              <a:t>68</a:t>
            </a:fld>
            <a:endParaRPr lang="zh-CN" altLang="en-US"/>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68A2D20-FAEA-4A40-97C8-F47E5928D6EB}" type="slidenum">
              <a:rPr lang="zh-CN" altLang="en-US" smtClean="0"/>
              <a:pPr>
                <a:defRPr/>
              </a:pPr>
              <a:t>69</a:t>
            </a:fld>
            <a:endParaRPr lang="zh-CN" altLang="en-US"/>
          </a:p>
        </p:txBody>
      </p:sp>
      <p:sp>
        <p:nvSpPr>
          <p:cNvPr id="3" name="内容占位符 2"/>
          <p:cNvSpPr txBox="1">
            <a:spLocks/>
          </p:cNvSpPr>
          <p:nvPr/>
        </p:nvSpPr>
        <p:spPr>
          <a:xfrm>
            <a:off x="457200" y="1600200"/>
            <a:ext cx="8229600" cy="4525963"/>
          </a:xfrm>
          <a:prstGeom prst="rect">
            <a:avLst/>
          </a:prstGeom>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n"/>
            </a:pPr>
            <a:r>
              <a:rPr lang="zh-CN" altLang="en-US" sz="2800" dirty="0" smtClean="0">
                <a:latin typeface="Arial" panose="020B0604020202020204" pitchFamily="34" charset="0"/>
                <a:ea typeface="黑体" panose="02010609060101010101" pitchFamily="49" charset="-122"/>
                <a:cs typeface="Arial" panose="020B0604020202020204" pitchFamily="34" charset="0"/>
              </a:rPr>
              <a:t>编程语言</a:t>
            </a:r>
            <a:endParaRPr lang="en-US" altLang="zh-CN" sz="2800" dirty="0" smtClean="0">
              <a:latin typeface="Arial" panose="020B0604020202020204" pitchFamily="34" charset="0"/>
              <a:ea typeface="黑体" panose="02010609060101010101" pitchFamily="49" charset="-122"/>
              <a:cs typeface="Arial" panose="020B0604020202020204" pitchFamily="34" charset="0"/>
            </a:endParaRPr>
          </a:p>
          <a:p>
            <a:pPr marL="457200" lvl="1" indent="0">
              <a:buFont typeface="Arial" charset="0"/>
              <a:buNone/>
            </a:pPr>
            <a:r>
              <a:rPr lang="en-US" altLang="zh-CN" sz="2400" dirty="0" smtClean="0">
                <a:solidFill>
                  <a:srgbClr val="FF0000"/>
                </a:solidFill>
                <a:latin typeface="Arial" panose="020B0604020202020204" pitchFamily="34" charset="0"/>
                <a:ea typeface="黑体" panose="02010609060101010101" pitchFamily="49" charset="-122"/>
                <a:cs typeface="Arial" panose="020B0604020202020204" pitchFamily="34" charset="0"/>
              </a:rPr>
              <a:t>R</a:t>
            </a:r>
            <a:r>
              <a:rPr lang="zh-CN" altLang="en-US" sz="2400" dirty="0" smtClean="0">
                <a:solidFill>
                  <a:srgbClr val="FF0000"/>
                </a:solidFill>
                <a:latin typeface="Arial" panose="020B0604020202020204" pitchFamily="34" charset="0"/>
                <a:ea typeface="黑体" panose="02010609060101010101" pitchFamily="49" charset="-122"/>
                <a:cs typeface="Arial" panose="020B0604020202020204" pitchFamily="34" charset="0"/>
              </a:rPr>
              <a:t>语言</a:t>
            </a:r>
            <a:r>
              <a:rPr lang="zh-CN" altLang="en-US" sz="2400" dirty="0" smtClean="0">
                <a:latin typeface="Arial" panose="020B0604020202020204" pitchFamily="34" charset="0"/>
                <a:ea typeface="黑体" panose="02010609060101010101" pitchFamily="49" charset="-122"/>
                <a:cs typeface="Arial" panose="020B0604020202020204" pitchFamily="34" charset="0"/>
              </a:rPr>
              <a:t>，</a:t>
            </a:r>
            <a:r>
              <a:rPr lang="en-US" altLang="zh-CN" sz="2400" dirty="0" smtClean="0">
                <a:latin typeface="Arial" panose="020B0604020202020204" pitchFamily="34" charset="0"/>
                <a:ea typeface="黑体" panose="02010609060101010101" pitchFamily="49" charset="-122"/>
                <a:cs typeface="Arial" panose="020B0604020202020204" pitchFamily="34" charset="0"/>
              </a:rPr>
              <a:t>Python</a:t>
            </a:r>
            <a:r>
              <a:rPr lang="zh-CN" altLang="en-US" sz="2400" dirty="0" smtClean="0">
                <a:latin typeface="Arial" panose="020B0604020202020204" pitchFamily="34" charset="0"/>
                <a:ea typeface="黑体" panose="02010609060101010101" pitchFamily="49" charset="-122"/>
                <a:cs typeface="Arial" panose="020B0604020202020204" pitchFamily="34" charset="0"/>
              </a:rPr>
              <a:t>等</a:t>
            </a:r>
            <a:endParaRPr lang="en-US" altLang="zh-CN" sz="2400" dirty="0" smtClean="0">
              <a:latin typeface="Arial" panose="020B0604020202020204" pitchFamily="34" charset="0"/>
              <a:ea typeface="黑体" panose="02010609060101010101" pitchFamily="49" charset="-122"/>
              <a:cs typeface="Arial" panose="020B0604020202020204" pitchFamily="34" charset="0"/>
            </a:endParaRPr>
          </a:p>
          <a:p>
            <a:pPr>
              <a:buFont typeface="Wingdings" panose="05000000000000000000" pitchFamily="2" charset="2"/>
              <a:buChar char="n"/>
            </a:pPr>
            <a:endParaRPr lang="en-US" altLang="zh-CN" sz="2800" dirty="0" smtClean="0">
              <a:latin typeface="Arial" panose="020B0604020202020204" pitchFamily="34" charset="0"/>
              <a:ea typeface="黑体" panose="02010609060101010101" pitchFamily="49" charset="-122"/>
              <a:cs typeface="Arial" panose="020B0604020202020204" pitchFamily="34" charset="0"/>
            </a:endParaRPr>
          </a:p>
          <a:p>
            <a:pPr>
              <a:buFont typeface="Wingdings" panose="05000000000000000000" pitchFamily="2" charset="2"/>
              <a:buChar char="n"/>
            </a:pPr>
            <a:r>
              <a:rPr lang="zh-CN" altLang="en-US" sz="2800" dirty="0" smtClean="0">
                <a:latin typeface="Arial" panose="020B0604020202020204" pitchFamily="34" charset="0"/>
                <a:ea typeface="黑体" panose="02010609060101010101" pitchFamily="49" charset="-122"/>
                <a:cs typeface="Arial" panose="020B0604020202020204" pitchFamily="34" charset="0"/>
              </a:rPr>
              <a:t>统计分析软件</a:t>
            </a:r>
            <a:endParaRPr lang="en-US" altLang="zh-CN" sz="2800" dirty="0" smtClean="0">
              <a:latin typeface="Arial" panose="020B0604020202020204" pitchFamily="34" charset="0"/>
              <a:ea typeface="黑体" panose="02010609060101010101" pitchFamily="49" charset="-122"/>
              <a:cs typeface="Arial" panose="020B0604020202020204" pitchFamily="34" charset="0"/>
            </a:endParaRPr>
          </a:p>
          <a:p>
            <a:pPr marL="457200" lvl="1" indent="0">
              <a:buFont typeface="Arial" charset="0"/>
              <a:buNone/>
            </a:pPr>
            <a:r>
              <a:rPr lang="en-US" altLang="zh-CN" sz="2400" dirty="0" smtClean="0">
                <a:latin typeface="Arial" panose="020B0604020202020204" pitchFamily="34" charset="0"/>
                <a:ea typeface="黑体" panose="02010609060101010101" pitchFamily="49" charset="-122"/>
                <a:cs typeface="Arial" panose="020B0604020202020204" pitchFamily="34" charset="0"/>
              </a:rPr>
              <a:t>SPSS</a:t>
            </a:r>
            <a:r>
              <a:rPr lang="zh-CN" altLang="en-US" sz="2400" dirty="0" smtClean="0">
                <a:latin typeface="Arial" panose="020B0604020202020204" pitchFamily="34" charset="0"/>
                <a:ea typeface="黑体" panose="02010609060101010101" pitchFamily="49" charset="-122"/>
                <a:cs typeface="Arial" panose="020B0604020202020204" pitchFamily="34" charset="0"/>
              </a:rPr>
              <a:t>，</a:t>
            </a:r>
            <a:r>
              <a:rPr lang="en-US" altLang="zh-CN" sz="2400" dirty="0" smtClean="0">
                <a:latin typeface="Arial" panose="020B0604020202020204" pitchFamily="34" charset="0"/>
                <a:ea typeface="黑体" panose="02010609060101010101" pitchFamily="49" charset="-122"/>
                <a:cs typeface="Arial" panose="020B0604020202020204" pitchFamily="34" charset="0"/>
              </a:rPr>
              <a:t>SAS</a:t>
            </a:r>
            <a:r>
              <a:rPr lang="zh-CN" altLang="en-US" sz="2400" dirty="0" smtClean="0">
                <a:latin typeface="Arial" panose="020B0604020202020204" pitchFamily="34" charset="0"/>
                <a:ea typeface="黑体" panose="02010609060101010101" pitchFamily="49" charset="-122"/>
                <a:cs typeface="Arial" panose="020B0604020202020204" pitchFamily="34" charset="0"/>
              </a:rPr>
              <a:t>，</a:t>
            </a:r>
            <a:r>
              <a:rPr lang="en-US" altLang="zh-CN" sz="2400" dirty="0" err="1" smtClean="0">
                <a:latin typeface="Arial" panose="020B0604020202020204" pitchFamily="34" charset="0"/>
                <a:ea typeface="黑体" panose="02010609060101010101" pitchFamily="49" charset="-122"/>
                <a:cs typeface="Arial" panose="020B0604020202020204" pitchFamily="34" charset="0"/>
              </a:rPr>
              <a:t>Finebi</a:t>
            </a:r>
            <a:r>
              <a:rPr lang="zh-CN" altLang="en-US" sz="2400" dirty="0" smtClean="0">
                <a:latin typeface="Arial" panose="020B0604020202020204" pitchFamily="34" charset="0"/>
                <a:ea typeface="黑体" panose="02010609060101010101" pitchFamily="49" charset="-122"/>
                <a:cs typeface="Arial" panose="020B0604020202020204" pitchFamily="34" charset="0"/>
              </a:rPr>
              <a:t>等</a:t>
            </a:r>
            <a:endParaRPr lang="en-US" altLang="zh-CN" sz="2400" dirty="0" smtClean="0">
              <a:latin typeface="Arial" panose="020B0604020202020204" pitchFamily="34" charset="0"/>
              <a:ea typeface="黑体" panose="02010609060101010101" pitchFamily="49" charset="-122"/>
              <a:cs typeface="Arial" panose="020B0604020202020204" pitchFamily="34" charset="0"/>
            </a:endParaRPr>
          </a:p>
          <a:p>
            <a:pPr marL="0" indent="0">
              <a:buFont typeface="Arial" charset="0"/>
              <a:buNone/>
            </a:pPr>
            <a:endParaRPr lang="en-US" altLang="zh-CN" sz="2400" dirty="0" smtClean="0">
              <a:latin typeface="Arial" panose="020B0604020202020204" pitchFamily="34" charset="0"/>
              <a:ea typeface="黑体" panose="02010609060101010101" pitchFamily="49" charset="-122"/>
              <a:cs typeface="Arial" panose="020B0604020202020204" pitchFamily="34" charset="0"/>
            </a:endParaRPr>
          </a:p>
          <a:p>
            <a:pPr>
              <a:buFont typeface="Wingdings" panose="05000000000000000000" pitchFamily="2" charset="2"/>
              <a:buChar char="n"/>
            </a:pPr>
            <a:r>
              <a:rPr lang="zh-CN" altLang="en-US" sz="2800" dirty="0" smtClean="0">
                <a:latin typeface="Arial" panose="020B0604020202020204" pitchFamily="34" charset="0"/>
                <a:ea typeface="黑体" panose="02010609060101010101" pitchFamily="49" charset="-122"/>
                <a:cs typeface="Arial" panose="020B0604020202020204" pitchFamily="34" charset="0"/>
              </a:rPr>
              <a:t>其他的数据挖掘工具</a:t>
            </a:r>
            <a:endParaRPr lang="en-US" altLang="zh-CN" sz="2800" dirty="0" smtClean="0">
              <a:latin typeface="Arial" panose="020B0604020202020204" pitchFamily="34" charset="0"/>
              <a:ea typeface="黑体" panose="02010609060101010101" pitchFamily="49" charset="-122"/>
              <a:cs typeface="Arial" panose="020B0604020202020204" pitchFamily="34" charset="0"/>
            </a:endParaRPr>
          </a:p>
          <a:p>
            <a:pPr marL="457200" lvl="1" indent="0">
              <a:buFont typeface="Arial" charset="0"/>
              <a:buNone/>
            </a:pPr>
            <a:r>
              <a:rPr lang="en-US" altLang="zh-CN" sz="2400" dirty="0" smtClean="0">
                <a:latin typeface="Arial" panose="020B0604020202020204" pitchFamily="34" charset="0"/>
                <a:ea typeface="黑体" panose="02010609060101010101" pitchFamily="49" charset="-122"/>
                <a:cs typeface="Arial" panose="020B0604020202020204" pitchFamily="34" charset="0"/>
              </a:rPr>
              <a:t>Rapid Miner</a:t>
            </a:r>
            <a:r>
              <a:rPr lang="zh-CN" altLang="en-US" sz="2400" dirty="0" smtClean="0">
                <a:latin typeface="Arial" panose="020B0604020202020204" pitchFamily="34" charset="0"/>
                <a:ea typeface="黑体" panose="02010609060101010101" pitchFamily="49" charset="-122"/>
                <a:cs typeface="Arial" panose="020B0604020202020204" pitchFamily="34" charset="0"/>
              </a:rPr>
              <a:t>，</a:t>
            </a:r>
            <a:r>
              <a:rPr lang="en-US" altLang="zh-CN" sz="2400" dirty="0" smtClean="0">
                <a:latin typeface="Arial" panose="020B0604020202020204" pitchFamily="34" charset="0"/>
                <a:ea typeface="黑体" panose="02010609060101010101" pitchFamily="49" charset="-122"/>
                <a:cs typeface="Arial" panose="020B0604020202020204" pitchFamily="34" charset="0"/>
              </a:rPr>
              <a:t>Oracle Data Mining</a:t>
            </a:r>
            <a:r>
              <a:rPr lang="zh-CN" altLang="en-US" sz="2400" dirty="0" smtClean="0">
                <a:latin typeface="Arial" panose="020B0604020202020204" pitchFamily="34" charset="0"/>
                <a:ea typeface="黑体" panose="02010609060101010101" pitchFamily="49" charset="-122"/>
                <a:cs typeface="Arial" panose="020B0604020202020204" pitchFamily="34" charset="0"/>
              </a:rPr>
              <a:t>，</a:t>
            </a:r>
            <a:r>
              <a:rPr lang="en-US" altLang="zh-CN" sz="2400" dirty="0" smtClean="0">
                <a:latin typeface="Arial" panose="020B0604020202020204" pitchFamily="34" charset="0"/>
                <a:ea typeface="黑体" panose="02010609060101010101" pitchFamily="49" charset="-122"/>
                <a:cs typeface="Arial" panose="020B0604020202020204" pitchFamily="34" charset="0"/>
              </a:rPr>
              <a:t>Rattle</a:t>
            </a:r>
            <a:r>
              <a:rPr lang="zh-CN" altLang="en-US" sz="2400" dirty="0" smtClean="0">
                <a:latin typeface="Arial" panose="020B0604020202020204" pitchFamily="34" charset="0"/>
                <a:ea typeface="黑体" panose="02010609060101010101" pitchFamily="49" charset="-122"/>
                <a:cs typeface="Arial" panose="020B0604020202020204" pitchFamily="34" charset="0"/>
              </a:rPr>
              <a:t>，</a:t>
            </a:r>
            <a:r>
              <a:rPr lang="en-US" altLang="zh-CN" sz="2400" dirty="0" smtClean="0">
                <a:latin typeface="Arial" panose="020B0604020202020204" pitchFamily="34" charset="0"/>
                <a:ea typeface="黑体" panose="02010609060101010101" pitchFamily="49" charset="-122"/>
                <a:cs typeface="Arial" panose="020B0604020202020204" pitchFamily="34" charset="0"/>
              </a:rPr>
              <a:t>KNIME</a:t>
            </a:r>
            <a:r>
              <a:rPr lang="zh-CN" altLang="en-US" sz="2400" dirty="0" smtClean="0">
                <a:latin typeface="Arial" panose="020B0604020202020204" pitchFamily="34" charset="0"/>
                <a:ea typeface="黑体" panose="02010609060101010101" pitchFamily="49" charset="-122"/>
                <a:cs typeface="Arial" panose="020B0604020202020204" pitchFamily="34" charset="0"/>
              </a:rPr>
              <a:t>等</a:t>
            </a:r>
            <a:endParaRPr lang="en-US" altLang="zh-CN" sz="2400" dirty="0" smtClean="0">
              <a:latin typeface="Arial" panose="020B0604020202020204" pitchFamily="34" charset="0"/>
              <a:ea typeface="黑体" panose="02010609060101010101" pitchFamily="49" charset="-122"/>
              <a:cs typeface="Arial" panose="020B0604020202020204" pitchFamily="34" charset="0"/>
            </a:endParaRPr>
          </a:p>
          <a:p>
            <a:pPr>
              <a:buFont typeface="Wingdings" panose="05000000000000000000" pitchFamily="2" charset="2"/>
              <a:buChar char="n"/>
            </a:pPr>
            <a:endParaRPr lang="en-US" altLang="zh-CN" sz="2800" dirty="0" smtClean="0">
              <a:latin typeface="Arial" panose="020B0604020202020204" pitchFamily="34" charset="0"/>
              <a:ea typeface="黑体" panose="02010609060101010101" pitchFamily="49" charset="-122"/>
              <a:cs typeface="Arial" panose="020B0604020202020204" pitchFamily="34" charset="0"/>
            </a:endParaRPr>
          </a:p>
          <a:p>
            <a:pPr>
              <a:buFont typeface="Wingdings" panose="05000000000000000000" pitchFamily="2" charset="2"/>
              <a:buChar char="n"/>
            </a:pPr>
            <a:endParaRPr lang="zh-CN" altLang="en-US" sz="2800" dirty="0">
              <a:latin typeface="Arial" panose="020B0604020202020204" pitchFamily="34" charset="0"/>
              <a:ea typeface="黑体" panose="02010609060101010101" pitchFamily="49" charset="-122"/>
              <a:cs typeface="Arial" panose="020B0604020202020204" pitchFamily="34" charset="0"/>
            </a:endParaRPr>
          </a:p>
        </p:txBody>
      </p:sp>
      <p:sp>
        <p:nvSpPr>
          <p:cNvPr id="4" name="标题 1"/>
          <p:cNvSpPr txBox="1">
            <a:spLocks/>
          </p:cNvSpPr>
          <p:nvPr/>
        </p:nvSpPr>
        <p:spPr>
          <a:xfrm>
            <a:off x="457200" y="274638"/>
            <a:ext cx="8229600" cy="850106"/>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a:lstStyle>
          <a:p>
            <a:r>
              <a:rPr lang="zh-CN" altLang="en-US" sz="3600" b="1" dirty="0" smtClean="0">
                <a:solidFill>
                  <a:srgbClr val="000099"/>
                </a:solidFill>
                <a:latin typeface="黑体" pitchFamily="49" charset="-122"/>
                <a:ea typeface="黑体" pitchFamily="49" charset="-122"/>
              </a:rPr>
              <a:t>三</a:t>
            </a:r>
            <a:r>
              <a:rPr lang="en-US" altLang="zh-CN" sz="3600" b="1" dirty="0" smtClean="0">
                <a:solidFill>
                  <a:srgbClr val="000099"/>
                </a:solidFill>
                <a:latin typeface="黑体" pitchFamily="49" charset="-122"/>
                <a:ea typeface="黑体" pitchFamily="49" charset="-122"/>
              </a:rPr>
              <a:t>. </a:t>
            </a:r>
            <a:r>
              <a:rPr lang="zh-CN" altLang="en-US" sz="3600" b="1" dirty="0" smtClean="0">
                <a:solidFill>
                  <a:srgbClr val="000099"/>
                </a:solidFill>
                <a:latin typeface="黑体" pitchFamily="49" charset="-122"/>
                <a:ea typeface="黑体" pitchFamily="49" charset="-122"/>
              </a:rPr>
              <a:t>预测与分类算法的实现工具</a:t>
            </a:r>
            <a:endParaRPr lang="zh-CN" altLang="en-US" sz="3600" b="1" dirty="0">
              <a:solidFill>
                <a:srgbClr val="000099"/>
              </a:solidFill>
              <a:latin typeface="黑体" pitchFamily="49" charset="-122"/>
              <a:ea typeface="黑体" pitchFamily="49" charset="-122"/>
            </a:endParaRPr>
          </a:p>
        </p:txBody>
      </p:sp>
    </p:spTree>
    <p:extLst>
      <p:ext uri="{BB962C8B-B14F-4D97-AF65-F5344CB8AC3E}">
        <p14:creationId xmlns:p14="http://schemas.microsoft.com/office/powerpoint/2010/main" val="74570991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5"/>
          <p:cNvSpPr>
            <a:spLocks noChangeArrowheads="1"/>
          </p:cNvSpPr>
          <p:nvPr/>
        </p:nvSpPr>
        <p:spPr bwMode="auto">
          <a:xfrm>
            <a:off x="1835696" y="2564904"/>
            <a:ext cx="5897563" cy="1752600"/>
          </a:xfrm>
          <a:prstGeom prst="rect">
            <a:avLst/>
          </a:prstGeom>
          <a:noFill/>
          <a:ln w="9525">
            <a:noFill/>
            <a:miter lim="800000"/>
            <a:headEnd/>
            <a:tailEnd/>
          </a:ln>
        </p:spPr>
        <p:txBody>
          <a:bodyPr/>
          <a:lstStyle/>
          <a:p>
            <a:pPr marL="342900" indent="-342900" algn="ctr">
              <a:spcBef>
                <a:spcPct val="20000"/>
              </a:spcBef>
              <a:buClr>
                <a:schemeClr val="bg2"/>
              </a:buClr>
              <a:buSzPct val="75000"/>
              <a:buFont typeface="Wingdings" pitchFamily="2" charset="2"/>
              <a:buNone/>
            </a:pPr>
            <a:r>
              <a:rPr lang="zh-CN" altLang="en-US" sz="9600" b="1">
                <a:solidFill>
                  <a:srgbClr val="C00000"/>
                </a:solidFill>
                <a:latin typeface="黑体" pitchFamily="49" charset="-122"/>
                <a:ea typeface="黑体" pitchFamily="49" charset="-122"/>
              </a:rPr>
              <a:t>谢 </a:t>
            </a:r>
            <a:r>
              <a:rPr lang="zh-CN" altLang="en-US" sz="9600" b="1" smtClean="0">
                <a:solidFill>
                  <a:srgbClr val="C00000"/>
                </a:solidFill>
                <a:latin typeface="黑体" pitchFamily="49" charset="-122"/>
                <a:ea typeface="黑体" pitchFamily="49" charset="-122"/>
              </a:rPr>
              <a:t>谢</a:t>
            </a:r>
            <a:r>
              <a:rPr lang="zh-CN" altLang="en-US" sz="9600" b="1" dirty="0">
                <a:solidFill>
                  <a:srgbClr val="C00000"/>
                </a:solidFill>
                <a:latin typeface="黑体" pitchFamily="49" charset="-122"/>
                <a:ea typeface="黑体" pitchFamily="49" charset="-122"/>
              </a:rPr>
              <a:t>！</a:t>
            </a:r>
            <a:endParaRPr lang="en-US" altLang="zh-CN" sz="9600" b="1" dirty="0">
              <a:solidFill>
                <a:srgbClr val="C00000"/>
              </a:solidFill>
              <a:latin typeface="黑体" pitchFamily="49" charset="-122"/>
              <a:ea typeface="黑体" pitchFamily="49" charset="-122"/>
            </a:endParaRPr>
          </a:p>
        </p:txBody>
      </p:sp>
      <p:sp>
        <p:nvSpPr>
          <p:cNvPr id="3" name="灯片编号占位符 2"/>
          <p:cNvSpPr>
            <a:spLocks noGrp="1"/>
          </p:cNvSpPr>
          <p:nvPr>
            <p:ph type="sldNum" sz="quarter" idx="12"/>
          </p:nvPr>
        </p:nvSpPr>
        <p:spPr/>
        <p:txBody>
          <a:bodyPr/>
          <a:lstStyle/>
          <a:p>
            <a:pPr>
              <a:defRPr/>
            </a:pPr>
            <a:fld id="{32EFD499-0DDF-4D77-A30F-389FB99F8BD1}" type="slidenum">
              <a:rPr lang="zh-CN" altLang="en-US" smtClean="0"/>
              <a:pPr>
                <a:defRPr/>
              </a:pPr>
              <a:t>70</a:t>
            </a:fld>
            <a:endParaRPr lang="zh-CN" altLang="en-US"/>
          </a:p>
        </p:txBody>
      </p:sp>
    </p:spTree>
    <p:extLst>
      <p:ext uri="{BB962C8B-B14F-4D97-AF65-F5344CB8AC3E}">
        <p14:creationId xmlns:p14="http://schemas.microsoft.com/office/powerpoint/2010/main" val="101767332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10080</TotalTime>
  <Words>4190</Words>
  <Application>Microsoft Office PowerPoint</Application>
  <PresentationFormat>全屏显示(4:3)</PresentationFormat>
  <Paragraphs>668</Paragraphs>
  <Slides>70</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70</vt:i4>
      </vt:variant>
    </vt:vector>
  </HeadingPairs>
  <TitlesOfParts>
    <vt:vector size="76" baseType="lpstr">
      <vt:lpstr>黑体</vt:lpstr>
      <vt:lpstr>宋体</vt:lpstr>
      <vt:lpstr>Arial</vt:lpstr>
      <vt:lpstr>Calibri</vt:lpstr>
      <vt:lpstr>Wingdings</vt:lpstr>
      <vt:lpstr>Office 主题</vt:lpstr>
      <vt:lpstr>PowerPoint 演示文稿</vt:lpstr>
      <vt:lpstr>PowerPoint 演示文稿</vt:lpstr>
      <vt:lpstr>Outline</vt:lpstr>
      <vt:lpstr>PowerPoint 演示文稿</vt:lpstr>
      <vt:lpstr>一. 什么是聚类</vt:lpstr>
      <vt:lpstr>聚类分析</vt:lpstr>
      <vt:lpstr>聚类分析原理介绍</vt:lpstr>
      <vt:lpstr>PowerPoint 演示文稿</vt:lpstr>
      <vt:lpstr>PowerPoint 演示文稿</vt:lpstr>
      <vt:lpstr>二. 聚类分析基本步骤 （以基因表达数据聚类为例）</vt:lpstr>
      <vt:lpstr>1. 确定需要聚类的数据 （如不同组织中的基因表达数据）</vt:lpstr>
      <vt:lpstr>对各变量的数据作标准化处理</vt:lpstr>
      <vt:lpstr>PowerPoint 演示文稿</vt:lpstr>
      <vt:lpstr>PowerPoint 演示文稿</vt:lpstr>
      <vt:lpstr>常用的距离</vt:lpstr>
      <vt:lpstr>（1）明考夫斯基距离</vt:lpstr>
      <vt:lpstr>PowerPoint 演示文稿</vt:lpstr>
      <vt:lpstr>PowerPoint 演示文稿</vt:lpstr>
      <vt:lpstr>（3）相关性（Correlation）</vt:lpstr>
      <vt:lpstr>PowerPoint 演示文稿</vt:lpstr>
      <vt:lpstr>PowerPoint 演示文稿</vt:lpstr>
      <vt:lpstr>皮尔逊相关系数 （Pearson correlation coefficient，PCC）</vt:lpstr>
      <vt:lpstr>PowerPoint 演示文稿</vt:lpstr>
      <vt:lpstr>几种常用的聚类方法</vt:lpstr>
      <vt:lpstr>（1）层次聚类 （Hierarchical Clustering）</vt:lpstr>
      <vt:lpstr>PowerPoint 演示文稿</vt:lpstr>
      <vt:lpstr>PowerPoint 演示文稿</vt:lpstr>
      <vt:lpstr>最短距离法</vt:lpstr>
      <vt:lpstr>PowerPoint 演示文稿</vt:lpstr>
      <vt:lpstr>PowerPoint 演示文稿</vt:lpstr>
      <vt:lpstr>PowerPoint 演示文稿</vt:lpstr>
      <vt:lpstr>PowerPoint 演示文稿</vt:lpstr>
      <vt:lpstr>（2）K均值聚类 （K-Means Clustering）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（3）其他聚类算法</vt:lpstr>
      <vt:lpstr>PowerPoint 演示文稿</vt:lpstr>
      <vt:lpstr>PowerPoint 演示文稿</vt:lpstr>
      <vt:lpstr>PowerPoint 演示文稿</vt:lpstr>
      <vt:lpstr>PowerPoint 演示文稿</vt:lpstr>
      <vt:lpstr>PowerPoint 演示文稿</vt:lpstr>
      <vt:lpstr>PowerPoint 演示文稿</vt:lpstr>
      <vt:lpstr>一. 数据分类的基本过程</vt:lpstr>
      <vt:lpstr>第一步：建立模型</vt:lpstr>
      <vt:lpstr>第二步：使用模型</vt:lpstr>
      <vt:lpstr>第二步：使用模型</vt:lpstr>
      <vt:lpstr>有监督的学习 vs. 无监督的学习</vt:lpstr>
      <vt:lpstr>PowerPoint 演示文稿</vt:lpstr>
      <vt:lpstr>PowerPoint 演示文稿</vt:lpstr>
      <vt:lpstr>二. 常用的预测与分类算法介绍</vt:lpstr>
      <vt:lpstr>机器学习与统计</vt:lpstr>
      <vt:lpstr>1. 回归（Regression）</vt:lpstr>
      <vt:lpstr>PowerPoint 演示文稿</vt:lpstr>
      <vt:lpstr>PowerPoint 演示文稿</vt:lpstr>
      <vt:lpstr>PowerPoint 演示文稿</vt:lpstr>
      <vt:lpstr>3. 最近邻法（KNN，k-nearest neighbor）</vt:lpstr>
      <vt:lpstr>PowerPoint 演示文稿</vt:lpstr>
      <vt:lpstr>4. 支持向量机（SVM，Support Vector Machine）</vt:lpstr>
      <vt:lpstr>PowerPoint 演示文稿</vt:lpstr>
      <vt:lpstr>PowerPoint 演示文稿</vt:lpstr>
      <vt:lpstr>PowerPoint 演示文稿</vt:lpstr>
      <vt:lpstr>分类算法的选择</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yzhang</dc:creator>
  <cp:lastModifiedBy>Zhang Y</cp:lastModifiedBy>
  <cp:revision>747</cp:revision>
  <dcterms:created xsi:type="dcterms:W3CDTF">2016-02-28T03:47:57Z</dcterms:created>
  <dcterms:modified xsi:type="dcterms:W3CDTF">2026-04-02T11:18:10Z</dcterms:modified>
</cp:coreProperties>
</file>