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53" r:id="rId3"/>
    <p:sldMasterId id="2147483660" r:id="rId4"/>
  </p:sldMasterIdLst>
  <p:notesMasterIdLst>
    <p:notesMasterId r:id="rId7"/>
  </p:notesMasterIdLst>
  <p:sldIdLst>
    <p:sldId id="1174" r:id="rId5"/>
    <p:sldId id="1083" r:id="rId6"/>
    <p:sldId id="369" r:id="rId8"/>
    <p:sldId id="670" r:id="rId9"/>
    <p:sldId id="897" r:id="rId10"/>
    <p:sldId id="899" r:id="rId11"/>
    <p:sldId id="900" r:id="rId12"/>
    <p:sldId id="902" r:id="rId13"/>
    <p:sldId id="904" r:id="rId14"/>
    <p:sldId id="910" r:id="rId15"/>
    <p:sldId id="911" r:id="rId16"/>
    <p:sldId id="912" r:id="rId17"/>
    <p:sldId id="1361" r:id="rId18"/>
    <p:sldId id="1362" r:id="rId19"/>
    <p:sldId id="1363" r:id="rId20"/>
    <p:sldId id="1003" r:id="rId21"/>
    <p:sldId id="1239" r:id="rId22"/>
    <p:sldId id="1084" r:id="rId23"/>
    <p:sldId id="1375" r:id="rId24"/>
    <p:sldId id="913" r:id="rId25"/>
    <p:sldId id="923" r:id="rId26"/>
    <p:sldId id="939" r:id="rId27"/>
    <p:sldId id="940" r:id="rId28"/>
    <p:sldId id="944" r:id="rId29"/>
    <p:sldId id="1085" r:id="rId30"/>
    <p:sldId id="946" r:id="rId31"/>
    <p:sldId id="947" r:id="rId32"/>
    <p:sldId id="948" r:id="rId33"/>
    <p:sldId id="950" r:id="rId34"/>
    <p:sldId id="1062" r:id="rId35"/>
    <p:sldId id="1063" r:id="rId36"/>
    <p:sldId id="1079" r:id="rId37"/>
    <p:sldId id="1065" r:id="rId38"/>
    <p:sldId id="1068" r:id="rId39"/>
    <p:sldId id="1069" r:id="rId40"/>
    <p:sldId id="1070" r:id="rId41"/>
    <p:sldId id="982" r:id="rId42"/>
    <p:sldId id="985" r:id="rId43"/>
    <p:sldId id="1082" r:id="rId44"/>
    <p:sldId id="987" r:id="rId45"/>
    <p:sldId id="988" r:id="rId46"/>
    <p:sldId id="1175" r:id="rId47"/>
    <p:sldId id="1045" r:id="rId48"/>
    <p:sldId id="1046" r:id="rId49"/>
    <p:sldId id="1048" r:id="rId50"/>
    <p:sldId id="1049" r:id="rId51"/>
    <p:sldId id="1051" r:id="rId52"/>
    <p:sldId id="1050" r:id="rId53"/>
    <p:sldId id="1091" r:id="rId54"/>
    <p:sldId id="1089" r:id="rId55"/>
    <p:sldId id="1090" r:id="rId56"/>
  </p:sldIdLst>
  <p:sldSz cx="12192000" cy="6858000"/>
  <p:notesSz cx="6858000" cy="9144000"/>
  <p:custDataLst>
    <p:tags r:id="rId60"/>
  </p:custDataLst>
  <p:defaultTextStyle>
    <a:defPPr>
      <a:defRPr lang="zh-CN"/>
    </a:defPPr>
    <a:lvl1pPr algn="l" rtl="0" fontAlgn="base">
      <a:spcBef>
        <a:spcPct val="0"/>
      </a:spcBef>
      <a:spcAft>
        <a:spcPct val="0"/>
      </a:spcAft>
      <a:defRPr b="1" kern="1200">
        <a:solidFill>
          <a:schemeClr val="tx1"/>
        </a:solidFill>
        <a:latin typeface="Tahoma" panose="020B0604030504040204" pitchFamily="34" charset="0"/>
        <a:ea typeface="宋体" panose="02010600030101010101" pitchFamily="2" charset="-122"/>
        <a:cs typeface="+mn-cs"/>
      </a:defRPr>
    </a:lvl1pPr>
    <a:lvl2pPr marL="457200" algn="l" rtl="0" fontAlgn="base">
      <a:spcBef>
        <a:spcPct val="0"/>
      </a:spcBef>
      <a:spcAft>
        <a:spcPct val="0"/>
      </a:spcAft>
      <a:defRPr b="1" kern="1200">
        <a:solidFill>
          <a:schemeClr val="tx1"/>
        </a:solidFill>
        <a:latin typeface="Tahoma" panose="020B0604030504040204" pitchFamily="34" charset="0"/>
        <a:ea typeface="宋体" panose="02010600030101010101" pitchFamily="2" charset="-122"/>
        <a:cs typeface="+mn-cs"/>
      </a:defRPr>
    </a:lvl2pPr>
    <a:lvl3pPr marL="914400" algn="l" rtl="0" fontAlgn="base">
      <a:spcBef>
        <a:spcPct val="0"/>
      </a:spcBef>
      <a:spcAft>
        <a:spcPct val="0"/>
      </a:spcAft>
      <a:defRPr b="1" kern="1200">
        <a:solidFill>
          <a:schemeClr val="tx1"/>
        </a:solidFill>
        <a:latin typeface="Tahoma" panose="020B0604030504040204" pitchFamily="34" charset="0"/>
        <a:ea typeface="宋体" panose="02010600030101010101" pitchFamily="2" charset="-122"/>
        <a:cs typeface="+mn-cs"/>
      </a:defRPr>
    </a:lvl3pPr>
    <a:lvl4pPr marL="1371600" algn="l" rtl="0" fontAlgn="base">
      <a:spcBef>
        <a:spcPct val="0"/>
      </a:spcBef>
      <a:spcAft>
        <a:spcPct val="0"/>
      </a:spcAft>
      <a:defRPr b="1" kern="1200">
        <a:solidFill>
          <a:schemeClr val="tx1"/>
        </a:solidFill>
        <a:latin typeface="Tahoma" panose="020B0604030504040204" pitchFamily="34" charset="0"/>
        <a:ea typeface="宋体" panose="02010600030101010101" pitchFamily="2" charset="-122"/>
        <a:cs typeface="+mn-cs"/>
      </a:defRPr>
    </a:lvl4pPr>
    <a:lvl5pPr marL="1828800" algn="l" rtl="0" fontAlgn="base">
      <a:spcBef>
        <a:spcPct val="0"/>
      </a:spcBef>
      <a:spcAft>
        <a:spcPct val="0"/>
      </a:spcAft>
      <a:defRPr b="1"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14"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163794"/>
    <a:srgbClr val="000000"/>
    <a:srgbClr val="FF3399"/>
    <a:srgbClr val="FFFF00"/>
    <a:srgbClr val="0033CC"/>
    <a:srgbClr val="D5D59F"/>
    <a:srgbClr val="F8FD1D"/>
    <a:srgbClr val="FEE31C"/>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EB8DD1-92A7-4878-921C-D2829FB49BA0}" styleName="表样式 1">
    <a:wholeTbl>
      <a:tcTxStyle>
        <a:fontRef idx="none">
          <a:srgbClr val="000000"/>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wholeTbl>
    <a:band2H>
      <a:tcStyle>
        <a:tcBdr/>
        <a:fill>
          <a:solidFill>
            <a:schemeClr val="accent1">
              <a:lumMod val="10000"/>
              <a:lumOff val="90000"/>
            </a:schemeClr>
          </a:solidFill>
        </a:fill>
      </a:tcStyle>
    </a:band2H>
    <a:band1V>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accent1">
              <a:lumMod val="10000"/>
              <a:lumOff val="90000"/>
            </a:schemeClr>
          </a:solidFill>
        </a:fill>
      </a:tcStyle>
    </a:band1V>
    <a:lastCol>
      <a:tcTxStyle b="on">
        <a:fontRef idx="none">
          <a:srgbClr val="08090C"/>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accent1">
              <a:lumMod val="20000"/>
              <a:lumOff val="80000"/>
            </a:schemeClr>
          </a:solidFill>
        </a:fill>
      </a:tcStyle>
    </a:lastCol>
    <a:firstCol>
      <a:tcTxStyle b="on">
        <a:fontRef idx="none">
          <a:srgbClr val="08090C"/>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chemeClr val="accent1">
              <a:lumMod val="20000"/>
              <a:lumOff val="80000"/>
            </a:schemeClr>
          </a:solidFill>
        </a:fill>
      </a:tcStyle>
    </a:firstCol>
    <a:lastRow>
      <a:tcTxStyle b="on">
        <a:fontRef idx="none">
          <a:schemeClr val="accent1"/>
        </a:fontRef>
      </a:tcTxStyle>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lastRow>
    <a:seCell>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eCell>
    <a:swCell>
      <a:tcStyle>
        <a:tcBdr>
          <a:left>
            <a:ln>
              <a:noFill/>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wCell>
    <a:firstRow>
      <a:tcTxStyle b="on">
        <a:fontRef idx="none">
          <a:srgbClr val="FFFFFF"/>
        </a:fontRef>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firstRow>
  </a:tblStyle>
  <a:tblStyle styleId="{DA7C510E-7793-42D9-8D48-03DC0F914C03}" styleName="表样式 1 25">
    <a:wholeTbl>
      <a:tcTxStyle>
        <a:fontRef idx="none">
          <a:srgbClr val="000000"/>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w="9525" cmpd="sng">
              <a:solidFill>
                <a:schemeClr val="accent1">
                  <a:lumMod val="40000"/>
                  <a:lumOff val="60000"/>
                </a:schemeClr>
              </a:solidFill>
              <a:prstDash val="solid"/>
            </a:ln>
          </a:insideV>
        </a:tcBdr>
        <a:fill>
          <a:solidFill>
            <a:srgbClr val="FFFFFF"/>
          </a:solidFill>
        </a:fill>
      </a:tcStyle>
    </a:wholeTbl>
    <a:band2H>
      <a:tcStyle>
        <a:tcBdr/>
        <a:fill>
          <a:solidFill>
            <a:schemeClr val="accent1">
              <a:lumMod val="10000"/>
              <a:lumOff val="90000"/>
            </a:schemeClr>
          </a:solidFill>
        </a:fill>
      </a:tcStyle>
    </a:band2H>
    <a:band1V>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w="9525" cmpd="sng">
              <a:solidFill>
                <a:schemeClr val="accent1">
                  <a:lumMod val="40000"/>
                  <a:lumOff val="60000"/>
                </a:schemeClr>
              </a:solidFill>
              <a:prstDash val="solid"/>
            </a:ln>
          </a:insideV>
        </a:tcBdr>
        <a:fill>
          <a:solidFill>
            <a:schemeClr val="accent1">
              <a:lumMod val="10000"/>
              <a:lumOff val="90000"/>
            </a:schemeClr>
          </a:solidFill>
        </a:fill>
      </a:tcStyle>
    </a:band1V>
    <a:band2V>
      <a:tcStyle>
        <a:tcBdr>
          <a:left>
            <a:ln w="9525" cmpd="sng">
              <a:solidFill>
                <a:schemeClr val="accent1">
                  <a:lumMod val="40000"/>
                  <a:lumOff val="60000"/>
                </a:schemeClr>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tcStyle>
    </a:band2V>
    <a:lastCol>
      <a:tcTxStyle b="on">
        <a:fontRef idx="none">
          <a:srgbClr val="08090C"/>
        </a:fontRef>
      </a:tcTxStyle>
      <a:tcStyle>
        <a:tcBdr>
          <a:left>
            <a:ln w="9525" cmpd="sng">
              <a:solidFill>
                <a:schemeClr val="accent1">
                  <a:lumMod val="40000"/>
                  <a:lumOff val="60000"/>
                </a:schemeClr>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20000"/>
              <a:lumOff val="80000"/>
            </a:schemeClr>
          </a:solidFill>
        </a:fill>
      </a:tcStyle>
    </a:lastCol>
    <a:firstCol>
      <a:tcTxStyle b="on">
        <a:fontRef idx="none">
          <a:srgbClr val="08090C"/>
        </a:fontRef>
      </a:tcTxStyle>
      <a:tcStyle>
        <a:tcBdr>
          <a:left>
            <a:ln w="9525" cmpd="sng">
              <a:solidFill>
                <a:schemeClr val="accent1"/>
              </a:solidFill>
              <a:prstDash val="solid"/>
            </a:ln>
          </a:left>
          <a:right>
            <a:ln w="9525" cmpd="sng">
              <a:solidFill>
                <a:schemeClr val="accent1">
                  <a:lumMod val="40000"/>
                  <a:lumOff val="60000"/>
                </a:schemeClr>
              </a:solidFill>
              <a:prstDash val="solid"/>
            </a:ln>
          </a:right>
          <a:top>
            <a:ln w="9525" cmpd="sng">
              <a:solidFill>
                <a:schemeClr val="accent1"/>
              </a:solidFill>
              <a:prstDash val="solid"/>
            </a:ln>
          </a:top>
          <a:bottom>
            <a:ln w="9525" cmpd="sng">
              <a:solidFill>
                <a:schemeClr val="accent1"/>
              </a:solidFill>
              <a:prstDash val="solid"/>
            </a:ln>
          </a:bottom>
          <a:insideH>
            <a:ln w="9525" cmpd="sng">
              <a:solidFill>
                <a:schemeClr val="accent1">
                  <a:lumMod val="40000"/>
                  <a:lumOff val="60000"/>
                </a:schemeClr>
              </a:solidFill>
              <a:prstDash val="solid"/>
            </a:ln>
          </a:insideH>
          <a:insideV>
            <a:ln>
              <a:noFill/>
            </a:ln>
          </a:insideV>
        </a:tcBdr>
        <a:fill>
          <a:solidFill>
            <a:schemeClr val="accent1">
              <a:lumMod val="20000"/>
              <a:lumOff val="80000"/>
            </a:schemeClr>
          </a:solidFill>
        </a:fill>
      </a:tcStyle>
    </a:firstCol>
    <a:lastRow>
      <a:tcTxStyle b="on">
        <a:fontRef idx="none">
          <a:schemeClr val="accent1"/>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lastRow>
    <a:seCell>
      <a:tcStyle>
        <a:tcBdr>
          <a:left>
            <a:ln>
              <a:noFill/>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eCell>
    <a:swCell>
      <a:tcTxStyle b="on">
        <a:fontRef idx="none">
          <a:schemeClr val="accent1"/>
        </a:fontRef>
      </a:tcTxStyle>
      <a:tcStyle>
        <a:tcBdr>
          <a:left>
            <a:ln w="9525" cmpd="sng">
              <a:solidFill>
                <a:schemeClr val="accent1"/>
              </a:solidFill>
              <a:prstDash val="solid"/>
            </a:ln>
          </a:left>
          <a:right>
            <a:ln>
              <a:noFill/>
            </a:ln>
          </a:right>
          <a:top>
            <a:ln w="9525" cmpd="sng">
              <a:solidFill>
                <a:schemeClr val="accent1"/>
              </a:solidFill>
              <a:prstDash val="solid"/>
            </a:ln>
          </a:top>
          <a:bottom>
            <a:ln w="9525" cmpd="sng">
              <a:solidFill>
                <a:schemeClr val="accent1"/>
              </a:solidFill>
              <a:prstDash val="solid"/>
            </a:ln>
          </a:bottom>
          <a:insideH>
            <a:ln>
              <a:noFill/>
            </a:ln>
          </a:insideH>
          <a:insideV>
            <a:ln>
              <a:noFill/>
            </a:ln>
          </a:insideV>
        </a:tcBdr>
        <a:fill>
          <a:solidFill>
            <a:srgbClr val="FFFFFF"/>
          </a:solidFill>
        </a:fill>
      </a:tcStyle>
    </a:swCell>
    <a:firstRow>
      <a:tcTxStyle b="on">
        <a:fontRef idx="none">
          <a:srgbClr val="FFFFFF"/>
        </a:fontRef>
      </a:tcTxStyle>
      <a:tcStyle>
        <a:tcBdr>
          <a:left>
            <a:ln w="9525" cmpd="sng">
              <a:solidFill>
                <a:schemeClr val="accent1"/>
              </a:solidFill>
              <a:prstDash val="solid"/>
            </a:ln>
          </a:left>
          <a:right>
            <a:ln w="9525" cmpd="sng">
              <a:solidFill>
                <a:schemeClr val="accent1"/>
              </a:solidFill>
              <a:prstDash val="solid"/>
            </a:ln>
          </a:right>
          <a:top>
            <a:ln w="9525" cmpd="sng">
              <a:solidFill>
                <a:schemeClr val="accent1"/>
              </a:solidFill>
              <a:prstDash val="solid"/>
            </a:ln>
          </a:top>
          <a:bottom>
            <a:ln w="9525" cmpd="sng">
              <a:solidFill>
                <a:schemeClr val="accent1"/>
              </a:solidFill>
              <a:prstDash val="solid"/>
            </a:ln>
          </a:bottom>
          <a:insideH>
            <a:ln>
              <a:noFill/>
            </a:ln>
          </a:insideH>
          <a:insideV>
            <a:ln w="9525" cmpd="sng">
              <a:solidFill>
                <a:schemeClr val="accent1">
                  <a:lumMod val="40000"/>
                  <a:lumOff val="60000"/>
                </a:schemeClr>
              </a:solidFill>
              <a:prstDash val="solid"/>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174" autoAdjust="0"/>
    <p:restoredTop sz="90000" autoAdjust="0"/>
  </p:normalViewPr>
  <p:slideViewPr>
    <p:cSldViewPr showGuides="1">
      <p:cViewPr varScale="1">
        <p:scale>
          <a:sx n="74" d="100"/>
          <a:sy n="74" d="100"/>
        </p:scale>
        <p:origin x="931" y="72"/>
      </p:cViewPr>
      <p:guideLst>
        <p:guide orient="horz" pos="2114"/>
        <p:guide pos="384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notesMaster" Target="notesMasters/notesMaster1.xml"/><Relationship Id="rId60" Type="http://schemas.openxmlformats.org/officeDocument/2006/relationships/tags" Target="tags/tag3.xml"/><Relationship Id="rId6" Type="http://schemas.openxmlformats.org/officeDocument/2006/relationships/slide" Target="slides/slide2.xml"/><Relationship Id="rId59" Type="http://schemas.openxmlformats.org/officeDocument/2006/relationships/tableStyles" Target="tableStyles.xml"/><Relationship Id="rId58" Type="http://schemas.openxmlformats.org/officeDocument/2006/relationships/viewProps" Target="viewProps.xml"/><Relationship Id="rId57" Type="http://schemas.openxmlformats.org/officeDocument/2006/relationships/presProps" Target="presProps.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6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kumimoji="1" sz="1200" b="0">
                <a:latin typeface="Times New Roman" panose="02020603050405020304" pitchFamily="18" charset="0"/>
                <a:ea typeface="宋体" panose="02010600030101010101" pitchFamily="2" charset="-122"/>
              </a:defRPr>
            </a:lvl1pPr>
          </a:lstStyle>
          <a:p>
            <a:pPr>
              <a:defRPr/>
            </a:pPr>
            <a:endParaRPr lang="en-US" altLang="zh-CN"/>
          </a:p>
        </p:txBody>
      </p:sp>
      <p:sp>
        <p:nvSpPr>
          <p:cNvPr id="143363"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kumimoji="1" sz="1200" b="0">
                <a:latin typeface="Times New Roman" panose="02020603050405020304" pitchFamily="18" charset="0"/>
                <a:ea typeface="宋体" panose="02010600030101010101" pitchFamily="2" charset="-122"/>
              </a:defRPr>
            </a:lvl1pPr>
          </a:lstStyle>
          <a:p>
            <a:pPr>
              <a:defRPr/>
            </a:pPr>
            <a:endParaRPr lang="en-US" altLang="zh-CN"/>
          </a:p>
        </p:txBody>
      </p:sp>
      <p:sp>
        <p:nvSpPr>
          <p:cNvPr id="140292"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143365"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143366"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kumimoji="1" sz="1200" b="0">
                <a:latin typeface="Times New Roman" panose="02020603050405020304" pitchFamily="18" charset="0"/>
                <a:ea typeface="宋体" panose="02010600030101010101" pitchFamily="2" charset="-122"/>
              </a:defRPr>
            </a:lvl1pPr>
          </a:lstStyle>
          <a:p>
            <a:pPr>
              <a:defRPr/>
            </a:pPr>
            <a:endParaRPr lang="en-US" altLang="zh-CN"/>
          </a:p>
        </p:txBody>
      </p:sp>
      <p:sp>
        <p:nvSpPr>
          <p:cNvPr id="143367"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kumimoji="1" sz="1200" b="0">
                <a:latin typeface="Times New Roman" panose="02020603050405020304" pitchFamily="18" charset="0"/>
                <a:ea typeface="宋体" panose="02010600030101010101" pitchFamily="2" charset="-122"/>
              </a:defRPr>
            </a:lvl1pPr>
          </a:lstStyle>
          <a:p>
            <a:pPr>
              <a:defRPr/>
            </a:pPr>
            <a:fld id="{D89E08E0-6150-4FF9-AE52-296F999280BB}"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D89E08E0-6150-4FF9-AE52-296F999280BB}" type="slidenum">
              <a:rPr lang="en-US" altLang="zh-CN"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F08A24CF-3D97-481F-82CA-0E025780D623}" type="slidenum">
              <a:rPr lang="en-US" altLang="zh-CN" smtClean="0"/>
            </a:fld>
            <a:endParaRPr lang="en-US" altLang="zh-CN"/>
          </a:p>
        </p:txBody>
      </p:sp>
      <p:sp>
        <p:nvSpPr>
          <p:cNvPr id="142339" name="Rectangle 2"/>
          <p:cNvSpPr>
            <a:spLocks noGrp="1" noRot="1" noChangeAspect="1" noChangeArrowheads="1" noTextEdit="1"/>
          </p:cNvSpPr>
          <p:nvPr>
            <p:ph type="sldImg"/>
          </p:nvPr>
        </p:nvSpPr>
        <p:spPr/>
      </p:sp>
      <p:sp>
        <p:nvSpPr>
          <p:cNvPr id="14234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526CB8D6-9699-4556-A954-E559B51A379A}" type="slidenum">
              <a:rPr lang="en-US" altLang="zh-CN" smtClean="0"/>
            </a:fld>
            <a:endParaRPr lang="en-US" altLang="zh-CN"/>
          </a:p>
        </p:txBody>
      </p:sp>
      <p:sp>
        <p:nvSpPr>
          <p:cNvPr id="143363" name="Rectangle 2"/>
          <p:cNvSpPr>
            <a:spLocks noGrp="1" noRot="1" noChangeAspect="1" noChangeArrowheads="1" noTextEdit="1"/>
          </p:cNvSpPr>
          <p:nvPr>
            <p:ph type="sldImg"/>
          </p:nvPr>
        </p:nvSpPr>
        <p:spPr/>
      </p:sp>
      <p:sp>
        <p:nvSpPr>
          <p:cNvPr id="1433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ea typeface="宋体" panose="02010600030101010101" pitchFamily="2" charset="-122"/>
              </a:rPr>
              <a:t>参照</a:t>
            </a:r>
            <a:r>
              <a:rPr lang="en-US" altLang="zh-CN">
                <a:ea typeface="宋体" panose="02010600030101010101" pitchFamily="2" charset="-122"/>
              </a:rPr>
              <a:t>《</a:t>
            </a:r>
            <a:r>
              <a:rPr lang="zh-CN" altLang="en-US">
                <a:ea typeface="宋体" panose="02010600030101010101" pitchFamily="2" charset="-122"/>
              </a:rPr>
              <a:t>海洋地理信息系统</a:t>
            </a:r>
            <a:r>
              <a:rPr lang="en-US" altLang="zh-CN">
                <a:ea typeface="宋体" panose="02010600030101010101" pitchFamily="2" charset="-122"/>
              </a:rPr>
              <a:t>—</a:t>
            </a:r>
            <a:r>
              <a:rPr lang="zh-CN" altLang="en-US">
                <a:ea typeface="宋体" panose="02010600030101010101" pitchFamily="2" charset="-122"/>
              </a:rPr>
              <a:t>原理、技术与应用</a:t>
            </a:r>
            <a:r>
              <a:rPr lang="en-US" altLang="zh-CN">
                <a:ea typeface="宋体" panose="02010600030101010101" pitchFamily="2" charset="-122"/>
              </a:rPr>
              <a:t>》</a:t>
            </a:r>
            <a:r>
              <a:rPr lang="zh-CN" altLang="en-US">
                <a:ea typeface="宋体" panose="02010600030101010101" pitchFamily="2" charset="-122"/>
              </a:rPr>
              <a:t>这本书</a:t>
            </a:r>
            <a:endParaRPr lang="zh-CN" altLang="zh-CN">
              <a:ea typeface="宋体" panose="02010600030101010101" pitchFamily="2" charset="-122"/>
            </a:endParaRPr>
          </a:p>
          <a:p>
            <a:pPr eaLnBrk="1" hangingPunct="1"/>
            <a:endParaRPr lang="zh-CN" altLang="zh-CN">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EA3DBC6A-6F47-4BE5-B5CC-2689F6D2CC72}" type="slidenum">
              <a:rPr lang="en-US" altLang="zh-CN" smtClean="0"/>
            </a:fld>
            <a:endParaRPr lang="en-US" altLang="zh-CN"/>
          </a:p>
        </p:txBody>
      </p:sp>
      <p:sp>
        <p:nvSpPr>
          <p:cNvPr id="144387" name="Rectangle 2"/>
          <p:cNvSpPr>
            <a:spLocks noGrp="1" noRot="1" noChangeAspect="1" noChangeArrowheads="1" noTextEdit="1"/>
          </p:cNvSpPr>
          <p:nvPr>
            <p:ph type="sldImg"/>
          </p:nvPr>
        </p:nvSpPr>
        <p:spPr/>
      </p:sp>
      <p:sp>
        <p:nvSpPr>
          <p:cNvPr id="1443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zh-CN">
                <a:ea typeface="宋体" panose="02010600030101010101" pitchFamily="2" charset="-122"/>
              </a:rPr>
              <a:t>从尺度的组成来看，尺度可以分成空间尺度、时间尺度和语义尺度。</a:t>
            </a:r>
            <a:endParaRPr lang="zh-CN" altLang="zh-CN">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EA02C082-F7A4-4AAA-92CA-54CA383D297C}" type="slidenum">
              <a:rPr lang="en-US" altLang="zh-CN" smtClean="0"/>
            </a:fld>
            <a:endParaRPr lang="en-US" altLang="zh-CN"/>
          </a:p>
        </p:txBody>
      </p:sp>
      <p:sp>
        <p:nvSpPr>
          <p:cNvPr id="145411" name="Rectangle 2"/>
          <p:cNvSpPr>
            <a:spLocks noGrp="1" noRot="1" noChangeAspect="1" noChangeArrowheads="1" noTextEdit="1"/>
          </p:cNvSpPr>
          <p:nvPr>
            <p:ph type="sldImg"/>
          </p:nvPr>
        </p:nvSpPr>
        <p:spPr/>
      </p:sp>
      <p:sp>
        <p:nvSpPr>
          <p:cNvPr id="14541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24A83109-A0B4-4526-B8FF-1B1D52983456}" type="slidenum">
              <a:rPr lang="en-US" altLang="zh-CN" smtClean="0"/>
            </a:fld>
            <a:endParaRPr lang="en-US" altLang="zh-CN"/>
          </a:p>
        </p:txBody>
      </p:sp>
      <p:sp>
        <p:nvSpPr>
          <p:cNvPr id="146435" name="Rectangle 2"/>
          <p:cNvSpPr>
            <a:spLocks noGrp="1" noRot="1" noChangeAspect="1" noChangeArrowheads="1" noTextEdit="1"/>
          </p:cNvSpPr>
          <p:nvPr>
            <p:ph type="sldImg"/>
          </p:nvPr>
        </p:nvSpPr>
        <p:spPr/>
      </p:sp>
      <p:sp>
        <p:nvSpPr>
          <p:cNvPr id="1464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zh-CN">
                <a:ea typeface="宋体" panose="02010600030101010101" pitchFamily="2" charset="-122"/>
              </a:rPr>
              <a:t>语义尺度没有空间尺度和时间尺度直观</a:t>
            </a:r>
            <a:r>
              <a:rPr lang="zh-CN" altLang="en-US">
                <a:ea typeface="宋体" panose="02010600030101010101" pitchFamily="2" charset="-122"/>
              </a:rPr>
              <a:t>、</a:t>
            </a:r>
            <a:r>
              <a:rPr lang="zh-CN" altLang="zh-CN">
                <a:ea typeface="宋体" panose="02010600030101010101" pitchFamily="2" charset="-122"/>
              </a:rPr>
              <a:t>易于理解</a:t>
            </a:r>
            <a:endParaRPr lang="zh-CN" altLang="zh-CN">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1E619921-4221-4403-B841-F6029CB757DE}" type="slidenum">
              <a:rPr lang="en-US" altLang="zh-CN" smtClean="0"/>
            </a:fld>
            <a:endParaRPr lang="en-US" altLang="zh-CN"/>
          </a:p>
        </p:txBody>
      </p:sp>
      <p:sp>
        <p:nvSpPr>
          <p:cNvPr id="148483" name="Rectangle 2"/>
          <p:cNvSpPr>
            <a:spLocks noGrp="1" noRot="1" noChangeAspect="1" noChangeArrowheads="1" noTextEdit="1"/>
          </p:cNvSpPr>
          <p:nvPr>
            <p:ph type="sldImg"/>
          </p:nvPr>
        </p:nvSpPr>
        <p:spPr/>
      </p:sp>
      <p:sp>
        <p:nvSpPr>
          <p:cNvPr id="1484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56EAEDD0-C15F-45CE-A435-70BFE7824105}" type="slidenum">
              <a:rPr lang="en-US" altLang="zh-CN" smtClean="0"/>
            </a:fld>
            <a:endParaRPr lang="en-US" altLang="zh-CN"/>
          </a:p>
        </p:txBody>
      </p:sp>
      <p:sp>
        <p:nvSpPr>
          <p:cNvPr id="150531" name="Rectangle 2"/>
          <p:cNvSpPr>
            <a:spLocks noGrp="1" noRot="1" noChangeAspect="1" noChangeArrowheads="1" noTextEdit="1"/>
          </p:cNvSpPr>
          <p:nvPr>
            <p:ph type="sldImg"/>
          </p:nvPr>
        </p:nvSpPr>
        <p:spPr/>
      </p:sp>
      <p:sp>
        <p:nvSpPr>
          <p:cNvPr id="15053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zh-CN">
                <a:ea typeface="宋体" panose="02010600030101010101" pitchFamily="2" charset="-122"/>
              </a:rPr>
              <a:t>若海洋现象的几何形态尺寸正好等于空间分辨率的大小，但在扫描成像的过程中，该几何形态被扫描到两个相邻的像元中，这就出现了混合像元的问题。</a:t>
            </a:r>
            <a:endParaRPr lang="zh-CN" altLang="zh-CN">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160738AC-10A6-43E0-B9E8-9E6AFC155ED1}" type="slidenum">
              <a:rPr lang="en-US" altLang="zh-CN" smtClean="0"/>
            </a:fld>
            <a:endParaRPr lang="en-US" altLang="zh-CN"/>
          </a:p>
        </p:txBody>
      </p:sp>
      <p:sp>
        <p:nvSpPr>
          <p:cNvPr id="151555" name="Rectangle 2"/>
          <p:cNvSpPr>
            <a:spLocks noGrp="1" noRot="1" noChangeAspect="1" noChangeArrowheads="1" noTextEdit="1"/>
          </p:cNvSpPr>
          <p:nvPr>
            <p:ph type="sldImg"/>
          </p:nvPr>
        </p:nvSpPr>
        <p:spPr/>
      </p:sp>
      <p:sp>
        <p:nvSpPr>
          <p:cNvPr id="151556"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A17EFE9A-238D-4FDC-B846-6D73E8A7F6E7}" type="slidenum">
              <a:rPr lang="en-US" altLang="zh-CN" smtClean="0"/>
            </a:fld>
            <a:endParaRPr lang="en-US" altLang="zh-CN"/>
          </a:p>
        </p:txBody>
      </p:sp>
      <p:sp>
        <p:nvSpPr>
          <p:cNvPr id="152579" name="Rectangle 2"/>
          <p:cNvSpPr>
            <a:spLocks noGrp="1" noRot="1" noChangeAspect="1" noChangeArrowheads="1" noTextEdit="1"/>
          </p:cNvSpPr>
          <p:nvPr>
            <p:ph type="sldImg"/>
          </p:nvPr>
        </p:nvSpPr>
        <p:spPr/>
      </p:sp>
      <p:sp>
        <p:nvSpPr>
          <p:cNvPr id="1525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A17EFE9A-238D-4FDC-B846-6D73E8A7F6E7}" type="slidenum">
              <a:rPr lang="en-US" altLang="zh-CN" smtClean="0"/>
            </a:fld>
            <a:endParaRPr lang="en-US" altLang="zh-CN"/>
          </a:p>
        </p:txBody>
      </p:sp>
      <p:sp>
        <p:nvSpPr>
          <p:cNvPr id="152579" name="Rectangle 2"/>
          <p:cNvSpPr>
            <a:spLocks noGrp="1" noRot="1" noChangeAspect="1" noChangeArrowheads="1" noTextEdit="1"/>
          </p:cNvSpPr>
          <p:nvPr>
            <p:ph type="sldImg"/>
          </p:nvPr>
        </p:nvSpPr>
        <p:spPr/>
      </p:sp>
      <p:sp>
        <p:nvSpPr>
          <p:cNvPr id="1525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A17EFE9A-238D-4FDC-B846-6D73E8A7F6E7}" type="slidenum">
              <a:rPr lang="en-US" altLang="zh-CN" smtClean="0"/>
            </a:fld>
            <a:endParaRPr lang="en-US" altLang="zh-CN"/>
          </a:p>
        </p:txBody>
      </p:sp>
      <p:sp>
        <p:nvSpPr>
          <p:cNvPr id="152579" name="Rectangle 2"/>
          <p:cNvSpPr>
            <a:spLocks noGrp="1" noRot="1" noChangeAspect="1" noChangeArrowheads="1" noTextEdit="1"/>
          </p:cNvSpPr>
          <p:nvPr>
            <p:ph type="sldImg"/>
          </p:nvPr>
        </p:nvSpPr>
        <p:spPr/>
      </p:sp>
      <p:sp>
        <p:nvSpPr>
          <p:cNvPr id="1525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A17EFE9A-238D-4FDC-B846-6D73E8A7F6E7}" type="slidenum">
              <a:rPr lang="en-US" altLang="zh-CN" smtClean="0"/>
            </a:fld>
            <a:endParaRPr lang="en-US" altLang="zh-CN"/>
          </a:p>
        </p:txBody>
      </p:sp>
      <p:sp>
        <p:nvSpPr>
          <p:cNvPr id="152579" name="Rectangle 2"/>
          <p:cNvSpPr>
            <a:spLocks noGrp="1" noRot="1" noChangeAspect="1" noChangeArrowheads="1" noTextEdit="1"/>
          </p:cNvSpPr>
          <p:nvPr>
            <p:ph type="sldImg"/>
          </p:nvPr>
        </p:nvSpPr>
        <p:spPr/>
      </p:sp>
      <p:sp>
        <p:nvSpPr>
          <p:cNvPr id="1525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56119031-A020-484E-9CC3-586CA80B5777}" type="slidenum">
              <a:rPr lang="en-US" altLang="zh-CN" smtClean="0"/>
            </a:fld>
            <a:endParaRPr lang="en-US" altLang="zh-CN"/>
          </a:p>
        </p:txBody>
      </p:sp>
      <p:sp>
        <p:nvSpPr>
          <p:cNvPr id="153603" name="Rectangle 2"/>
          <p:cNvSpPr>
            <a:spLocks noGrp="1" noRot="1" noChangeAspect="1" noChangeArrowheads="1" noTextEdit="1"/>
          </p:cNvSpPr>
          <p:nvPr>
            <p:ph type="sldImg"/>
          </p:nvPr>
        </p:nvSpPr>
        <p:spPr/>
      </p:sp>
      <p:sp>
        <p:nvSpPr>
          <p:cNvPr id="1536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56119031-A020-484E-9CC3-586CA80B5777}" type="slidenum">
              <a:rPr lang="en-US" altLang="zh-CN" smtClean="0"/>
            </a:fld>
            <a:endParaRPr lang="en-US" altLang="zh-CN"/>
          </a:p>
        </p:txBody>
      </p:sp>
      <p:sp>
        <p:nvSpPr>
          <p:cNvPr id="153603" name="Rectangle 2"/>
          <p:cNvSpPr>
            <a:spLocks noGrp="1" noRot="1" noChangeAspect="1" noChangeArrowheads="1" noTextEdit="1"/>
          </p:cNvSpPr>
          <p:nvPr>
            <p:ph type="sldImg"/>
          </p:nvPr>
        </p:nvSpPr>
        <p:spPr/>
      </p:sp>
      <p:sp>
        <p:nvSpPr>
          <p:cNvPr id="1536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56119031-A020-484E-9CC3-586CA80B5777}" type="slidenum">
              <a:rPr lang="en-US" altLang="zh-CN" smtClean="0"/>
            </a:fld>
            <a:endParaRPr lang="en-US" altLang="zh-CN"/>
          </a:p>
        </p:txBody>
      </p:sp>
      <p:sp>
        <p:nvSpPr>
          <p:cNvPr id="153603" name="Rectangle 2"/>
          <p:cNvSpPr>
            <a:spLocks noGrp="1" noRot="1" noChangeAspect="1" noChangeArrowheads="1" noTextEdit="1"/>
          </p:cNvSpPr>
          <p:nvPr>
            <p:ph type="sldImg"/>
          </p:nvPr>
        </p:nvSpPr>
        <p:spPr/>
      </p:sp>
      <p:sp>
        <p:nvSpPr>
          <p:cNvPr id="1536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56119031-A020-484E-9CC3-586CA80B5777}" type="slidenum">
              <a:rPr lang="en-US" altLang="zh-CN" smtClean="0"/>
            </a:fld>
            <a:endParaRPr lang="en-US" altLang="zh-CN"/>
          </a:p>
        </p:txBody>
      </p:sp>
      <p:sp>
        <p:nvSpPr>
          <p:cNvPr id="153603" name="Rectangle 2"/>
          <p:cNvSpPr>
            <a:spLocks noGrp="1" noRot="1" noChangeAspect="1" noChangeArrowheads="1" noTextEdit="1"/>
          </p:cNvSpPr>
          <p:nvPr>
            <p:ph type="sldImg"/>
          </p:nvPr>
        </p:nvSpPr>
        <p:spPr/>
      </p:sp>
      <p:sp>
        <p:nvSpPr>
          <p:cNvPr id="1536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4753E104-29A7-4CA0-88E2-585D0FD34879}" type="slidenum">
              <a:rPr lang="en-US" altLang="zh-CN" smtClean="0"/>
            </a:fld>
            <a:endParaRPr lang="en-US" altLang="zh-CN"/>
          </a:p>
        </p:txBody>
      </p:sp>
      <p:sp>
        <p:nvSpPr>
          <p:cNvPr id="154627" name="Rectangle 2"/>
          <p:cNvSpPr>
            <a:spLocks noGrp="1" noRot="1" noChangeAspect="1" noChangeArrowheads="1" noTextEdit="1"/>
          </p:cNvSpPr>
          <p:nvPr>
            <p:ph type="sldImg"/>
          </p:nvPr>
        </p:nvSpPr>
        <p:spPr/>
      </p:sp>
      <p:sp>
        <p:nvSpPr>
          <p:cNvPr id="1546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Rot="1" noChangeAspect="1" noChangeArrowheads="1" noTextEdit="1"/>
          </p:cNvSpPr>
          <p:nvPr>
            <p:ph type="sldImg"/>
          </p:nvPr>
        </p:nvSpPr>
        <p:spPr/>
      </p:sp>
      <p:sp>
        <p:nvSpPr>
          <p:cNvPr id="16486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zh-CN" dirty="0">
                <a:ea typeface="宋体" panose="02010600030101010101" pitchFamily="2" charset="-122"/>
              </a:rPr>
              <a:t>依海岸线的定义</a:t>
            </a:r>
            <a:r>
              <a:rPr lang="en-US" altLang="zh-CN" dirty="0">
                <a:ea typeface="宋体" panose="02010600030101010101" pitchFamily="2" charset="-122"/>
              </a:rPr>
              <a:t>,</a:t>
            </a:r>
            <a:r>
              <a:rPr lang="zh-CN" altLang="zh-CN" dirty="0">
                <a:ea typeface="宋体" panose="02010600030101010101" pitchFamily="2" charset="-122"/>
              </a:rPr>
              <a:t>它是平均大潮高潮面与海岸的交线</a:t>
            </a:r>
            <a:r>
              <a:rPr lang="en-US" altLang="zh-CN" dirty="0">
                <a:ea typeface="宋体" panose="02010600030101010101" pitchFamily="2" charset="-122"/>
              </a:rPr>
              <a:t>, </a:t>
            </a:r>
            <a:r>
              <a:rPr lang="zh-CN" altLang="zh-CN" dirty="0">
                <a:ea typeface="宋体" panose="02010600030101010101" pitchFamily="2" charset="-122"/>
              </a:rPr>
              <a:t>因此</a:t>
            </a:r>
            <a:r>
              <a:rPr lang="en-US" altLang="zh-CN" dirty="0">
                <a:ea typeface="宋体" panose="02010600030101010101" pitchFamily="2" charset="-122"/>
              </a:rPr>
              <a:t>, </a:t>
            </a:r>
            <a:r>
              <a:rPr lang="zh-CN" altLang="zh-CN" dirty="0">
                <a:ea typeface="宋体" panose="02010600030101010101" pitchFamily="2" charset="-122"/>
              </a:rPr>
              <a:t>在这一层意义上</a:t>
            </a:r>
            <a:r>
              <a:rPr lang="en-US" altLang="zh-CN" dirty="0">
                <a:ea typeface="宋体" panose="02010600030101010101" pitchFamily="2" charset="-122"/>
              </a:rPr>
              <a:t>, </a:t>
            </a:r>
            <a:r>
              <a:rPr lang="zh-CN" altLang="zh-CN" dirty="0">
                <a:ea typeface="宋体" panose="02010600030101010101" pitchFamily="2" charset="-122"/>
              </a:rPr>
              <a:t>平均大潮高潮面是海岸线定义的参考面</a:t>
            </a:r>
            <a:endParaRPr lang="zh-CN" altLang="en-US" dirty="0">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3E5AB445-4CFB-4AB9-8D65-000E9FBD42D2}" type="slidenum">
              <a:rPr lang="en-US" altLang="zh-CN" smtClean="0"/>
            </a:fld>
            <a:endParaRPr lang="en-US" altLang="zh-CN"/>
          </a:p>
        </p:txBody>
      </p:sp>
      <p:sp>
        <p:nvSpPr>
          <p:cNvPr id="166915" name="Rectangle 2"/>
          <p:cNvSpPr>
            <a:spLocks noGrp="1" noRot="1" noChangeAspect="1" noChangeArrowheads="1" noTextEdit="1"/>
          </p:cNvSpPr>
          <p:nvPr>
            <p:ph type="sldImg"/>
          </p:nvPr>
        </p:nvSpPr>
        <p:spPr/>
      </p:sp>
      <p:sp>
        <p:nvSpPr>
          <p:cNvPr id="166916"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748575B5-8B8C-4E38-BC91-16980EB7F42C}" type="slidenum">
              <a:rPr lang="en-US" altLang="zh-CN" smtClean="0"/>
            </a:fld>
            <a:endParaRPr lang="en-US" altLang="zh-CN"/>
          </a:p>
        </p:txBody>
      </p:sp>
      <p:sp>
        <p:nvSpPr>
          <p:cNvPr id="167939" name="Rectangle 2"/>
          <p:cNvSpPr>
            <a:spLocks noGrp="1" noRot="1" noChangeAspect="1" noChangeArrowheads="1" noTextEdit="1"/>
          </p:cNvSpPr>
          <p:nvPr>
            <p:ph type="sldImg"/>
          </p:nvPr>
        </p:nvSpPr>
        <p:spPr/>
      </p:sp>
      <p:sp>
        <p:nvSpPr>
          <p:cNvPr id="16794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ea typeface="宋体" panose="02010600030101010101" pitchFamily="2" charset="-122"/>
              </a:rPr>
              <a:t>刘长东</a:t>
            </a:r>
            <a:r>
              <a:rPr lang="en-US" altLang="zh-CN" dirty="0">
                <a:ea typeface="宋体" panose="02010600030101010101" pitchFamily="2" charset="-122"/>
              </a:rPr>
              <a:t>. </a:t>
            </a:r>
            <a:r>
              <a:rPr lang="zh-CN" altLang="en-US" dirty="0">
                <a:ea typeface="宋体" panose="02010600030101010101" pitchFamily="2" charset="-122"/>
              </a:rPr>
              <a:t>海洋多源数据获取及基于多源数据的海域管理信息系统</a:t>
            </a:r>
            <a:r>
              <a:rPr lang="en-US" altLang="zh-CN" dirty="0">
                <a:ea typeface="宋体" panose="02010600030101010101" pitchFamily="2" charset="-122"/>
              </a:rPr>
              <a:t>[D]</a:t>
            </a:r>
            <a:r>
              <a:rPr lang="zh-CN" altLang="en-US" dirty="0">
                <a:ea typeface="宋体" panose="02010600030101010101" pitchFamily="2" charset="-122"/>
              </a:rPr>
              <a:t>中国海洋大学</a:t>
            </a:r>
            <a:r>
              <a:rPr lang="en-US" altLang="zh-CN" dirty="0">
                <a:ea typeface="宋体" panose="02010600030101010101" pitchFamily="2" charset="-122"/>
              </a:rPr>
              <a:t>, 2008 . </a:t>
            </a:r>
            <a:endParaRPr lang="en-US" altLang="zh-CN" dirty="0">
              <a:ea typeface="宋体" panose="02010600030101010101" pitchFamily="2" charset="-122"/>
            </a:endParaRPr>
          </a:p>
          <a:p>
            <a:pPr eaLnBrk="1" hangingPunct="1"/>
            <a:br>
              <a:rPr lang="en-US" altLang="zh-CN" dirty="0">
                <a:ea typeface="宋体" panose="02010600030101010101" pitchFamily="2" charset="-122"/>
              </a:rPr>
            </a:br>
            <a:endParaRPr lang="zh-CN" altLang="zh-CN" dirty="0">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6DDF8E24-F032-4E5D-BA2F-7C4BCDD486AF}" type="slidenum">
              <a:rPr lang="en-US" altLang="zh-CN" smtClean="0"/>
            </a:fld>
            <a:endParaRPr lang="en-US" altLang="zh-CN"/>
          </a:p>
        </p:txBody>
      </p:sp>
      <p:sp>
        <p:nvSpPr>
          <p:cNvPr id="169987" name="Rectangle 2"/>
          <p:cNvSpPr>
            <a:spLocks noGrp="1" noRot="1" noChangeAspect="1" noChangeArrowheads="1" noTextEdit="1"/>
          </p:cNvSpPr>
          <p:nvPr>
            <p:ph type="sldImg"/>
          </p:nvPr>
        </p:nvSpPr>
        <p:spPr/>
      </p:sp>
      <p:sp>
        <p:nvSpPr>
          <p:cNvPr id="1699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6DDF8E24-F032-4E5D-BA2F-7C4BCDD486AF}" type="slidenum">
              <a:rPr lang="en-US" altLang="zh-CN" smtClean="0"/>
            </a:fld>
            <a:endParaRPr lang="en-US" altLang="zh-CN"/>
          </a:p>
        </p:txBody>
      </p:sp>
      <p:sp>
        <p:nvSpPr>
          <p:cNvPr id="169987" name="Rectangle 2"/>
          <p:cNvSpPr>
            <a:spLocks noGrp="1" noRot="1" noChangeAspect="1" noChangeArrowheads="1" noTextEdit="1"/>
          </p:cNvSpPr>
          <p:nvPr>
            <p:ph type="sldImg"/>
          </p:nvPr>
        </p:nvSpPr>
        <p:spPr/>
      </p:sp>
      <p:sp>
        <p:nvSpPr>
          <p:cNvPr id="1699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D824C5C1-F9C9-475A-A730-939D31AD8622}" type="slidenum">
              <a:rPr lang="en-US" altLang="zh-CN" smtClean="0"/>
            </a:fld>
            <a:endParaRPr lang="en-US" altLang="zh-CN"/>
          </a:p>
        </p:txBody>
      </p:sp>
      <p:sp>
        <p:nvSpPr>
          <p:cNvPr id="172035" name="Rectangle 2"/>
          <p:cNvSpPr>
            <a:spLocks noGrp="1" noRot="1" noChangeAspect="1" noChangeArrowheads="1" noTextEdit="1"/>
          </p:cNvSpPr>
          <p:nvPr>
            <p:ph type="sldImg"/>
          </p:nvPr>
        </p:nvSpPr>
        <p:spPr/>
      </p:sp>
      <p:sp>
        <p:nvSpPr>
          <p:cNvPr id="1720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37DF1CB6-7E81-4ACD-8F90-41BBD8ECCFEF}" type="slidenum">
              <a:rPr lang="en-US" altLang="zh-CN" smtClean="0"/>
            </a:fld>
            <a:endParaRPr lang="en-US" altLang="zh-CN"/>
          </a:p>
        </p:txBody>
      </p:sp>
      <p:sp>
        <p:nvSpPr>
          <p:cNvPr id="173059" name="Rectangle 2"/>
          <p:cNvSpPr>
            <a:spLocks noGrp="1" noRot="1" noChangeAspect="1" noChangeArrowheads="1" noTextEdit="1"/>
          </p:cNvSpPr>
          <p:nvPr>
            <p:ph type="sldImg"/>
          </p:nvPr>
        </p:nvSpPr>
        <p:spPr/>
      </p:sp>
      <p:sp>
        <p:nvSpPr>
          <p:cNvPr id="1730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FB062141-749D-46C7-869A-655DC0699606}" type="slidenum">
              <a:rPr lang="en-US" altLang="zh-CN" smtClean="0"/>
            </a:fld>
            <a:endParaRPr lang="en-US" altLang="zh-CN"/>
          </a:p>
        </p:txBody>
      </p:sp>
      <p:sp>
        <p:nvSpPr>
          <p:cNvPr id="174083" name="Rectangle 2"/>
          <p:cNvSpPr>
            <a:spLocks noGrp="1" noRot="1" noChangeAspect="1" noChangeArrowheads="1" noTextEdit="1"/>
          </p:cNvSpPr>
          <p:nvPr>
            <p:ph type="sldImg"/>
          </p:nvPr>
        </p:nvSpPr>
        <p:spPr/>
      </p:sp>
      <p:sp>
        <p:nvSpPr>
          <p:cNvPr id="1740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FCC3160C-7BBB-4F2B-AD2C-5BA1A1417E7F}" type="slidenum">
              <a:rPr lang="en-US" altLang="zh-CN" smtClean="0"/>
            </a:fld>
            <a:endParaRPr lang="en-US" altLang="zh-CN"/>
          </a:p>
        </p:txBody>
      </p:sp>
      <p:sp>
        <p:nvSpPr>
          <p:cNvPr id="176131" name="Rectangle 2"/>
          <p:cNvSpPr>
            <a:spLocks noGrp="1" noRot="1" noChangeAspect="1" noChangeArrowheads="1" noTextEdit="1"/>
          </p:cNvSpPr>
          <p:nvPr>
            <p:ph type="sldImg"/>
          </p:nvPr>
        </p:nvSpPr>
        <p:spPr/>
      </p:sp>
      <p:sp>
        <p:nvSpPr>
          <p:cNvPr id="17613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C4EE1D07-34EA-4FEF-831C-F3090876058E}" type="slidenum">
              <a:rPr lang="en-US" altLang="zh-CN" smtClean="0"/>
            </a:fld>
            <a:endParaRPr lang="en-US" altLang="zh-CN"/>
          </a:p>
        </p:txBody>
      </p:sp>
      <p:sp>
        <p:nvSpPr>
          <p:cNvPr id="187395" name="Rectangle 2"/>
          <p:cNvSpPr>
            <a:spLocks noGrp="1" noRot="1" noChangeAspect="1" noChangeArrowheads="1" noTextEdit="1"/>
          </p:cNvSpPr>
          <p:nvPr>
            <p:ph type="sldImg"/>
          </p:nvPr>
        </p:nvSpPr>
        <p:spPr/>
      </p:sp>
      <p:sp>
        <p:nvSpPr>
          <p:cNvPr id="1873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ea typeface="宋体" panose="02010600030101010101" pitchFamily="2" charset="-122"/>
              </a:rPr>
              <a:t>惠绍棠</a:t>
            </a:r>
            <a:r>
              <a:rPr lang="en-US" altLang="zh-CN">
                <a:ea typeface="宋体" panose="02010600030101010101" pitchFamily="2" charset="-122"/>
              </a:rPr>
              <a:t>. </a:t>
            </a:r>
            <a:r>
              <a:rPr lang="zh-CN" altLang="en-US">
                <a:ea typeface="宋体" panose="02010600030101010101" pitchFamily="2" charset="-122"/>
              </a:rPr>
              <a:t>水下自航式海洋观测平台技术发展研究</a:t>
            </a:r>
            <a:r>
              <a:rPr lang="en-US" altLang="zh-CN">
                <a:ea typeface="宋体" panose="02010600030101010101" pitchFamily="2" charset="-122"/>
              </a:rPr>
              <a:t>[J],</a:t>
            </a:r>
            <a:r>
              <a:rPr lang="zh-CN" altLang="en-US">
                <a:ea typeface="宋体" panose="02010600030101010101" pitchFamily="2" charset="-122"/>
              </a:rPr>
              <a:t>海洋技术</a:t>
            </a:r>
            <a:r>
              <a:rPr lang="en-US" altLang="zh-CN">
                <a:ea typeface="宋体" panose="02010600030101010101" pitchFamily="2" charset="-122"/>
              </a:rPr>
              <a:t>, 2001, (04) . </a:t>
            </a:r>
            <a:endParaRPr lang="zh-CN" altLang="zh-CN">
              <a:ea typeface="宋体"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2A1C9C60-AFCA-4E38-AB93-20E4A7D26120}" type="slidenum">
              <a:rPr lang="en-US" altLang="zh-CN" smtClean="0"/>
            </a:fld>
            <a:endParaRPr lang="en-US" altLang="zh-CN"/>
          </a:p>
        </p:txBody>
      </p:sp>
      <p:sp>
        <p:nvSpPr>
          <p:cNvPr id="188419" name="Rectangle 2"/>
          <p:cNvSpPr>
            <a:spLocks noGrp="1" noRot="1" noChangeAspect="1" noChangeArrowheads="1" noTextEdit="1"/>
          </p:cNvSpPr>
          <p:nvPr>
            <p:ph type="sldImg"/>
          </p:nvPr>
        </p:nvSpPr>
        <p:spPr/>
      </p:sp>
      <p:sp>
        <p:nvSpPr>
          <p:cNvPr id="18842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7FF6004E-E8AE-453D-830F-4022FBCB7EB2}" type="slidenum">
              <a:rPr lang="en-US" altLang="zh-CN" smtClean="0"/>
            </a:fld>
            <a:endParaRPr lang="en-US" altLang="zh-CN"/>
          </a:p>
        </p:txBody>
      </p:sp>
      <p:sp>
        <p:nvSpPr>
          <p:cNvPr id="179203" name="Rectangle 2"/>
          <p:cNvSpPr>
            <a:spLocks noGrp="1" noRot="1" noChangeAspect="1" noChangeArrowheads="1" noTextEdit="1"/>
          </p:cNvSpPr>
          <p:nvPr>
            <p:ph type="sldImg"/>
          </p:nvPr>
        </p:nvSpPr>
        <p:spPr/>
      </p:sp>
      <p:sp>
        <p:nvSpPr>
          <p:cNvPr id="1792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ea typeface="宋体" panose="0201060003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431FF0C4-42B4-4E77-BAC4-1A8D5F209275}" type="slidenum">
              <a:rPr lang="en-US" altLang="zh-CN" smtClean="0"/>
            </a:fld>
            <a:endParaRPr lang="en-US" altLang="zh-CN"/>
          </a:p>
        </p:txBody>
      </p:sp>
      <p:sp>
        <p:nvSpPr>
          <p:cNvPr id="190467" name="Rectangle 2"/>
          <p:cNvSpPr>
            <a:spLocks noGrp="1" noRot="1" noChangeAspect="1" noChangeArrowheads="1" noTextEdit="1"/>
          </p:cNvSpPr>
          <p:nvPr>
            <p:ph type="sldImg"/>
          </p:nvPr>
        </p:nvSpPr>
        <p:spPr/>
      </p:sp>
      <p:sp>
        <p:nvSpPr>
          <p:cNvPr id="1904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ea typeface="宋体" panose="02010600030101010101"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1CED3010-18A9-4985-ABDE-10E142653FC4}" type="slidenum">
              <a:rPr lang="en-US" altLang="zh-CN" smtClean="0"/>
            </a:fld>
            <a:endParaRPr lang="en-US" altLang="zh-CN"/>
          </a:p>
        </p:txBody>
      </p:sp>
      <p:sp>
        <p:nvSpPr>
          <p:cNvPr id="193539" name="Rectangle 2"/>
          <p:cNvSpPr>
            <a:spLocks noGrp="1" noRot="1" noChangeAspect="1" noChangeArrowheads="1" noTextEdit="1"/>
          </p:cNvSpPr>
          <p:nvPr>
            <p:ph type="sldImg"/>
          </p:nvPr>
        </p:nvSpPr>
        <p:spPr/>
      </p:sp>
      <p:sp>
        <p:nvSpPr>
          <p:cNvPr id="19354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ea typeface="宋体" panose="02010600030101010101" pitchFamily="2" charset="-122"/>
              </a:rPr>
              <a:t>朱光文</a:t>
            </a:r>
            <a:r>
              <a:rPr lang="en-US" altLang="zh-CN">
                <a:ea typeface="宋体" panose="02010600030101010101" pitchFamily="2" charset="-122"/>
              </a:rPr>
              <a:t>. </a:t>
            </a:r>
            <a:r>
              <a:rPr lang="zh-CN" altLang="en-US">
                <a:ea typeface="宋体" panose="02010600030101010101" pitchFamily="2" charset="-122"/>
              </a:rPr>
              <a:t>发展海洋观测高技术</a:t>
            </a:r>
            <a:r>
              <a:rPr lang="en-US" altLang="zh-CN">
                <a:ea typeface="宋体" panose="02010600030101010101" pitchFamily="2" charset="-122"/>
              </a:rPr>
              <a:t>[J]</a:t>
            </a:r>
            <a:r>
              <a:rPr lang="zh-CN" altLang="en-US">
                <a:ea typeface="宋体" panose="02010600030101010101" pitchFamily="2" charset="-122"/>
              </a:rPr>
              <a:t>，海洋技术</a:t>
            </a:r>
            <a:r>
              <a:rPr lang="en-US" altLang="zh-CN">
                <a:ea typeface="宋体" panose="02010600030101010101" pitchFamily="2" charset="-122"/>
              </a:rPr>
              <a:t>, 1997, (04) . </a:t>
            </a:r>
            <a:endParaRPr lang="zh-CN" altLang="zh-CN">
              <a:ea typeface="宋体" panose="02010600030101010101"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B81D1651-AEF2-4A08-8CD5-C407EAA6DDDD}" type="slidenum">
              <a:rPr lang="en-US" altLang="zh-CN" smtClean="0"/>
            </a:fld>
            <a:endParaRPr lang="en-US" altLang="zh-CN"/>
          </a:p>
        </p:txBody>
      </p:sp>
      <p:sp>
        <p:nvSpPr>
          <p:cNvPr id="194563" name="Rectangle 2"/>
          <p:cNvSpPr>
            <a:spLocks noGrp="1" noRot="1" noChangeAspect="1" noChangeArrowheads="1" noTextEdit="1"/>
          </p:cNvSpPr>
          <p:nvPr>
            <p:ph type="sldImg"/>
          </p:nvPr>
        </p:nvSpPr>
        <p:spPr/>
      </p:sp>
      <p:sp>
        <p:nvSpPr>
          <p:cNvPr id="1945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0E46E37C-DFEF-4DB1-869E-D06561316949}" type="slidenum">
              <a:rPr lang="en-US" altLang="zh-CN" smtClean="0"/>
            </a:fld>
            <a:endParaRPr lang="en-US" altLang="zh-CN"/>
          </a:p>
        </p:txBody>
      </p:sp>
      <p:sp>
        <p:nvSpPr>
          <p:cNvPr id="195587" name="Rectangle 2"/>
          <p:cNvSpPr>
            <a:spLocks noGrp="1" noRot="1" noChangeAspect="1" noChangeArrowheads="1" noTextEdit="1"/>
          </p:cNvSpPr>
          <p:nvPr>
            <p:ph type="sldImg"/>
          </p:nvPr>
        </p:nvSpPr>
        <p:spPr/>
      </p:sp>
      <p:sp>
        <p:nvSpPr>
          <p:cNvPr id="1955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E38BCAFB-D893-4CBE-AE7D-727CEAF1BF44}" type="slidenum">
              <a:rPr lang="en-US" altLang="zh-CN" smtClean="0"/>
            </a:fld>
            <a:endParaRPr lang="en-US" altLang="zh-CN"/>
          </a:p>
        </p:txBody>
      </p:sp>
      <p:sp>
        <p:nvSpPr>
          <p:cNvPr id="211971" name="Rectangle 2"/>
          <p:cNvSpPr>
            <a:spLocks noGrp="1" noRot="1" noChangeAspect="1" noChangeArrowheads="1" noTextEdit="1"/>
          </p:cNvSpPr>
          <p:nvPr>
            <p:ph type="sldImg"/>
          </p:nvPr>
        </p:nvSpPr>
        <p:spPr/>
      </p:sp>
      <p:sp>
        <p:nvSpPr>
          <p:cNvPr id="211972"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a:ea typeface="宋体" panose="02010600030101010101" pitchFamily="2" charset="-122"/>
              </a:rPr>
              <a:t>http://marinedataliteracy.org/formats.htm</a:t>
            </a:r>
            <a:endParaRPr lang="zh-CN" altLang="zh-CN">
              <a:ea typeface="宋体" panose="02010600030101010101" pitchFamily="2" charset="-122"/>
            </a:endParaRPr>
          </a:p>
          <a:p>
            <a:pPr eaLnBrk="1" hangingPunct="1"/>
            <a:r>
              <a:rPr lang="zh-CN" altLang="en-US">
                <a:ea typeface="宋体" panose="02010600030101010101" pitchFamily="2" charset="-122"/>
              </a:rPr>
              <a:t>以及参照</a:t>
            </a:r>
            <a:r>
              <a:rPr lang="en-US" altLang="zh-CN">
                <a:ea typeface="宋体" panose="02010600030101010101" pitchFamily="2" charset="-122"/>
              </a:rPr>
              <a:t>《</a:t>
            </a:r>
            <a:r>
              <a:rPr lang="zh-CN" altLang="en-US">
                <a:ea typeface="宋体" panose="02010600030101010101" pitchFamily="2" charset="-122"/>
              </a:rPr>
              <a:t>海洋地理信息系统</a:t>
            </a:r>
            <a:r>
              <a:rPr lang="en-US" altLang="zh-CN">
                <a:ea typeface="宋体" panose="02010600030101010101" pitchFamily="2" charset="-122"/>
              </a:rPr>
              <a:t>—</a:t>
            </a:r>
            <a:r>
              <a:rPr lang="zh-CN" altLang="en-US">
                <a:ea typeface="宋体" panose="02010600030101010101" pitchFamily="2" charset="-122"/>
              </a:rPr>
              <a:t>原理、技术与应用</a:t>
            </a:r>
            <a:r>
              <a:rPr lang="en-US" altLang="zh-CN">
                <a:ea typeface="宋体" panose="02010600030101010101" pitchFamily="2" charset="-122"/>
              </a:rPr>
              <a:t>》</a:t>
            </a:r>
            <a:r>
              <a:rPr lang="zh-CN" altLang="en-US">
                <a:ea typeface="宋体" panose="02010600030101010101" pitchFamily="2" charset="-122"/>
              </a:rPr>
              <a:t>这本书</a:t>
            </a:r>
            <a:endParaRPr lang="zh-CN" altLang="zh-CN">
              <a:ea typeface="宋体" panose="02010600030101010101" pitchFamily="2" charset="-122"/>
            </a:endParaRPr>
          </a:p>
          <a:p>
            <a:pPr eaLnBrk="1" hangingPunct="1"/>
            <a:endParaRPr lang="zh-CN" altLang="zh-CN">
              <a:ea typeface="宋体" panose="02010600030101010101"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313ADD9D-F86D-4216-83F5-7BE0CA0CA4A1}" type="slidenum">
              <a:rPr lang="en-US" altLang="zh-CN" smtClean="0"/>
            </a:fld>
            <a:endParaRPr lang="en-US" altLang="zh-CN"/>
          </a:p>
        </p:txBody>
      </p:sp>
      <p:sp>
        <p:nvSpPr>
          <p:cNvPr id="212995" name="Rectangle 2"/>
          <p:cNvSpPr>
            <a:spLocks noGrp="1" noRot="1" noChangeAspect="1" noChangeArrowheads="1" noTextEdit="1"/>
          </p:cNvSpPr>
          <p:nvPr>
            <p:ph type="sldImg"/>
          </p:nvPr>
        </p:nvSpPr>
        <p:spPr/>
      </p:sp>
      <p:sp>
        <p:nvSpPr>
          <p:cNvPr id="2129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313ADD9D-F86D-4216-83F5-7BE0CA0CA4A1}" type="slidenum">
              <a:rPr lang="en-US" altLang="zh-CN" smtClean="0"/>
            </a:fld>
            <a:endParaRPr lang="en-US" altLang="zh-CN"/>
          </a:p>
        </p:txBody>
      </p:sp>
      <p:sp>
        <p:nvSpPr>
          <p:cNvPr id="212995" name="Rectangle 2"/>
          <p:cNvSpPr>
            <a:spLocks noGrp="1" noRot="1" noChangeAspect="1" noChangeArrowheads="1" noTextEdit="1"/>
          </p:cNvSpPr>
          <p:nvPr>
            <p:ph type="sldImg"/>
          </p:nvPr>
        </p:nvSpPr>
        <p:spPr/>
      </p:sp>
      <p:sp>
        <p:nvSpPr>
          <p:cNvPr id="2129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5D317F53-B7A2-48D9-A7DC-3FF3D6A2B555}" type="slidenum">
              <a:rPr lang="en-US" altLang="zh-CN" smtClean="0"/>
            </a:fld>
            <a:endParaRPr lang="en-US" altLang="zh-CN"/>
          </a:p>
        </p:txBody>
      </p:sp>
      <p:sp>
        <p:nvSpPr>
          <p:cNvPr id="215043" name="Rectangle 2"/>
          <p:cNvSpPr>
            <a:spLocks noGrp="1" noRot="1" noChangeAspect="1" noChangeArrowheads="1" noTextEdit="1"/>
          </p:cNvSpPr>
          <p:nvPr>
            <p:ph type="sldImg"/>
          </p:nvPr>
        </p:nvSpPr>
        <p:spPr/>
      </p:sp>
      <p:sp>
        <p:nvSpPr>
          <p:cNvPr id="2150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15594CAB-0245-43E2-BF36-94921A0F81CE}" type="slidenum">
              <a:rPr lang="en-US" altLang="zh-CN" smtClean="0"/>
            </a:fld>
            <a:endParaRPr lang="en-US" altLang="zh-CN"/>
          </a:p>
        </p:txBody>
      </p:sp>
      <p:sp>
        <p:nvSpPr>
          <p:cNvPr id="216067" name="Rectangle 2"/>
          <p:cNvSpPr>
            <a:spLocks noGrp="1" noRot="1" noChangeAspect="1" noChangeArrowheads="1" noTextEdit="1"/>
          </p:cNvSpPr>
          <p:nvPr>
            <p:ph type="sldImg"/>
          </p:nvPr>
        </p:nvSpPr>
        <p:spPr/>
      </p:sp>
      <p:sp>
        <p:nvSpPr>
          <p:cNvPr id="2160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15594CAB-0245-43E2-BF36-94921A0F81CE}" type="slidenum">
              <a:rPr lang="en-US" altLang="zh-CN" smtClean="0"/>
            </a:fld>
            <a:endParaRPr lang="en-US" altLang="zh-CN"/>
          </a:p>
        </p:txBody>
      </p:sp>
      <p:sp>
        <p:nvSpPr>
          <p:cNvPr id="216067" name="Rectangle 2"/>
          <p:cNvSpPr>
            <a:spLocks noGrp="1" noRot="1" noChangeAspect="1" noChangeArrowheads="1" noTextEdit="1"/>
          </p:cNvSpPr>
          <p:nvPr>
            <p:ph type="sldImg"/>
          </p:nvPr>
        </p:nvSpPr>
        <p:spPr/>
      </p:sp>
      <p:sp>
        <p:nvSpPr>
          <p:cNvPr id="2160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1403CC20-289D-4A85-AB92-812826CBBFD1}" type="slidenum">
              <a:rPr lang="en-US" altLang="zh-CN" smtClean="0"/>
            </a:fld>
            <a:endParaRPr lang="en-US" altLang="zh-CN"/>
          </a:p>
        </p:txBody>
      </p:sp>
      <p:sp>
        <p:nvSpPr>
          <p:cNvPr id="260099" name="Rectangle 2"/>
          <p:cNvSpPr>
            <a:spLocks noGrp="1" noRot="1" noChangeAspect="1" noChangeArrowheads="1" noTextEdit="1"/>
          </p:cNvSpPr>
          <p:nvPr>
            <p:ph type="sldImg"/>
          </p:nvPr>
        </p:nvSpPr>
        <p:spPr/>
      </p:sp>
      <p:sp>
        <p:nvSpPr>
          <p:cNvPr id="260100" name="Rectangle 3"/>
          <p:cNvSpPr>
            <a:spLocks noGrp="1" noChangeArrowheads="1"/>
          </p:cNvSpPr>
          <p:nvPr>
            <p:ph type="body" idx="1"/>
          </p:nvPr>
        </p:nvSpPr>
        <p:spPr>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dirty="0">
              <a:ea typeface="宋体" panose="02010600030101010101" pitchFamily="2" charset="-122"/>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1D919E58-D132-482F-A04D-5210C420C703}" type="slidenum">
              <a:rPr lang="en-US" altLang="zh-CN" smtClean="0"/>
            </a:fld>
            <a:endParaRPr lang="en-US" altLang="zh-CN"/>
          </a:p>
        </p:txBody>
      </p:sp>
      <p:sp>
        <p:nvSpPr>
          <p:cNvPr id="262147" name="Rectangle 2"/>
          <p:cNvSpPr>
            <a:spLocks noGrp="1" noRot="1" noChangeAspect="1" noChangeArrowheads="1" noTextEdit="1"/>
          </p:cNvSpPr>
          <p:nvPr>
            <p:ph type="sldImg"/>
          </p:nvPr>
        </p:nvSpPr>
        <p:spPr/>
      </p:sp>
      <p:sp>
        <p:nvSpPr>
          <p:cNvPr id="2621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46F090DE-42BE-422E-9F90-60FE70455C17}" type="slidenum">
              <a:rPr lang="en-US" altLang="zh-CN" smtClean="0"/>
            </a:fld>
            <a:endParaRPr lang="en-US" altLang="zh-CN"/>
          </a:p>
        </p:txBody>
      </p:sp>
      <p:sp>
        <p:nvSpPr>
          <p:cNvPr id="263171" name="Rectangle 2"/>
          <p:cNvSpPr>
            <a:spLocks noGrp="1" noRot="1" noChangeAspect="1" noChangeArrowheads="1" noTextEdit="1"/>
          </p:cNvSpPr>
          <p:nvPr>
            <p:ph type="sldImg"/>
          </p:nvPr>
        </p:nvSpPr>
        <p:spPr/>
      </p:sp>
      <p:sp>
        <p:nvSpPr>
          <p:cNvPr id="2631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dirty="0">
                <a:ea typeface="宋体" panose="02010600030101010101" pitchFamily="2" charset="-122"/>
              </a:rPr>
              <a:t>许自舟</a:t>
            </a:r>
            <a:r>
              <a:rPr lang="en-US" altLang="zh-CN" dirty="0">
                <a:ea typeface="宋体" panose="02010600030101010101" pitchFamily="2" charset="-122"/>
              </a:rPr>
              <a:t>,</a:t>
            </a:r>
            <a:r>
              <a:rPr lang="zh-CN" altLang="en-US" dirty="0">
                <a:ea typeface="宋体" panose="02010600030101010101" pitchFamily="2" charset="-122"/>
              </a:rPr>
              <a:t>宋德瑞</a:t>
            </a:r>
            <a:r>
              <a:rPr lang="en-US" altLang="zh-CN" dirty="0">
                <a:ea typeface="宋体" panose="02010600030101010101" pitchFamily="2" charset="-122"/>
              </a:rPr>
              <a:t>, </a:t>
            </a:r>
            <a:r>
              <a:rPr lang="zh-CN" altLang="en-US" dirty="0">
                <a:ea typeface="宋体" panose="02010600030101010101" pitchFamily="2" charset="-122"/>
              </a:rPr>
              <a:t>赵辉</a:t>
            </a:r>
            <a:r>
              <a:rPr lang="en-US" altLang="zh-CN" dirty="0">
                <a:ea typeface="宋体" panose="02010600030101010101" pitchFamily="2" charset="-122"/>
              </a:rPr>
              <a:t>,</a:t>
            </a:r>
            <a:r>
              <a:rPr lang="zh-CN" altLang="en-US" dirty="0">
                <a:ea typeface="宋体" panose="02010600030101010101" pitchFamily="2" charset="-122"/>
              </a:rPr>
              <a:t>战秀文</a:t>
            </a:r>
            <a:r>
              <a:rPr lang="en-US" altLang="zh-CN" dirty="0">
                <a:ea typeface="宋体" panose="02010600030101010101" pitchFamily="2" charset="-122"/>
              </a:rPr>
              <a:t>.</a:t>
            </a:r>
            <a:r>
              <a:rPr lang="zh-CN" altLang="en-US" dirty="0">
                <a:ea typeface="宋体" panose="02010600030101010101" pitchFamily="2" charset="-122"/>
              </a:rPr>
              <a:t>海洋环境监测数据质量计算机控制方法研究</a:t>
            </a:r>
            <a:r>
              <a:rPr lang="en-US" altLang="zh-CN" dirty="0">
                <a:ea typeface="宋体" panose="02010600030101010101" pitchFamily="2" charset="-122"/>
              </a:rPr>
              <a:t>[J],</a:t>
            </a:r>
            <a:r>
              <a:rPr lang="zh-CN" altLang="en-US" dirty="0">
                <a:ea typeface="宋体" panose="02010600030101010101" pitchFamily="2" charset="-122"/>
              </a:rPr>
              <a:t>国家海洋环境监测中心</a:t>
            </a:r>
            <a:r>
              <a:rPr lang="en-US" altLang="zh-CN" dirty="0">
                <a:ea typeface="宋体" panose="02010600030101010101" pitchFamily="2" charset="-122"/>
              </a:rPr>
              <a:t>,2009(03).</a:t>
            </a:r>
            <a:endParaRPr lang="zh-CN" altLang="zh-CN" dirty="0">
              <a:ea typeface="宋体" panose="02010600030101010101" pitchFamily="2" charset="-122"/>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308E6041-6E6E-4112-AE9A-BB3D42E4534C}" type="slidenum">
              <a:rPr lang="en-US" altLang="zh-CN" smtClean="0"/>
            </a:fld>
            <a:endParaRPr lang="en-US" altLang="zh-CN"/>
          </a:p>
        </p:txBody>
      </p:sp>
      <p:sp>
        <p:nvSpPr>
          <p:cNvPr id="264195" name="Rectangle 2"/>
          <p:cNvSpPr>
            <a:spLocks noGrp="1" noRot="1" noChangeAspect="1" noChangeArrowheads="1" noTextEdit="1"/>
          </p:cNvSpPr>
          <p:nvPr>
            <p:ph type="sldImg"/>
          </p:nvPr>
        </p:nvSpPr>
        <p:spPr/>
      </p:sp>
      <p:sp>
        <p:nvSpPr>
          <p:cNvPr id="2641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CC3F7DE0-5032-46C3-B2EA-AFDCD93986C6}" type="slidenum">
              <a:rPr lang="en-US" altLang="zh-CN" smtClean="0"/>
            </a:fld>
            <a:endParaRPr lang="en-US" altLang="zh-CN"/>
          </a:p>
        </p:txBody>
      </p:sp>
      <p:sp>
        <p:nvSpPr>
          <p:cNvPr id="265219" name="Rectangle 2"/>
          <p:cNvSpPr>
            <a:spLocks noGrp="1" noRot="1" noChangeAspect="1" noChangeArrowheads="1" noTextEdit="1"/>
          </p:cNvSpPr>
          <p:nvPr>
            <p:ph type="sldImg"/>
          </p:nvPr>
        </p:nvSpPr>
        <p:spPr/>
      </p:sp>
      <p:sp>
        <p:nvSpPr>
          <p:cNvPr id="26522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61E4CAB6-578C-4A54-88FF-5E04558170EC}" type="slidenum">
              <a:rPr lang="en-US" altLang="zh-CN" smtClean="0"/>
            </a:fld>
            <a:endParaRPr lang="en-US" altLang="zh-CN"/>
          </a:p>
        </p:txBody>
      </p:sp>
      <p:sp>
        <p:nvSpPr>
          <p:cNvPr id="266243" name="Rectangle 2"/>
          <p:cNvSpPr>
            <a:spLocks noGrp="1" noRot="1" noChangeAspect="1" noChangeArrowheads="1" noTextEdit="1"/>
          </p:cNvSpPr>
          <p:nvPr>
            <p:ph type="sldImg"/>
          </p:nvPr>
        </p:nvSpPr>
        <p:spPr/>
      </p:sp>
      <p:sp>
        <p:nvSpPr>
          <p:cNvPr id="2662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61E4CAB6-578C-4A54-88FF-5E04558170EC}" type="slidenum">
              <a:rPr lang="en-US" altLang="zh-CN" smtClean="0"/>
            </a:fld>
            <a:endParaRPr lang="en-US" altLang="zh-CN"/>
          </a:p>
        </p:txBody>
      </p:sp>
      <p:sp>
        <p:nvSpPr>
          <p:cNvPr id="266243" name="Rectangle 2"/>
          <p:cNvSpPr>
            <a:spLocks noGrp="1" noRot="1" noChangeAspect="1" noChangeArrowheads="1" noTextEdit="1"/>
          </p:cNvSpPr>
          <p:nvPr>
            <p:ph type="sldImg"/>
          </p:nvPr>
        </p:nvSpPr>
        <p:spPr/>
      </p:sp>
      <p:sp>
        <p:nvSpPr>
          <p:cNvPr id="2662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61E4CAB6-578C-4A54-88FF-5E04558170EC}" type="slidenum">
              <a:rPr lang="en-US" altLang="zh-CN" smtClean="0"/>
            </a:fld>
            <a:endParaRPr lang="en-US" altLang="zh-CN"/>
          </a:p>
        </p:txBody>
      </p:sp>
      <p:sp>
        <p:nvSpPr>
          <p:cNvPr id="266243" name="Rectangle 2"/>
          <p:cNvSpPr>
            <a:spLocks noGrp="1" noRot="1" noChangeAspect="1" noChangeArrowheads="1" noTextEdit="1"/>
          </p:cNvSpPr>
          <p:nvPr>
            <p:ph type="sldImg"/>
          </p:nvPr>
        </p:nvSpPr>
        <p:spPr/>
      </p:sp>
      <p:sp>
        <p:nvSpPr>
          <p:cNvPr id="2662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eaLnBrk="0" hangingPunct="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pPr>
            <a:fld id="{61E4CAB6-578C-4A54-88FF-5E04558170EC}" type="slidenum">
              <a:rPr lang="en-US" altLang="zh-CN" smtClean="0"/>
            </a:fld>
            <a:endParaRPr lang="en-US" altLang="zh-CN"/>
          </a:p>
        </p:txBody>
      </p:sp>
      <p:sp>
        <p:nvSpPr>
          <p:cNvPr id="266243" name="Rectangle 2"/>
          <p:cNvSpPr>
            <a:spLocks noGrp="1" noRot="1" noChangeAspect="1" noChangeArrowheads="1" noTextEdit="1"/>
          </p:cNvSpPr>
          <p:nvPr>
            <p:ph type="sldImg"/>
          </p:nvPr>
        </p:nvSpPr>
        <p:spPr/>
      </p:sp>
      <p:sp>
        <p:nvSpPr>
          <p:cNvPr id="2662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image" Target="../media/image1.png"/><Relationship Id="rId2" Type="http://schemas.openxmlformats.org/officeDocument/2006/relationships/oleObject" Target="../embeddings/oleObject1.bin"/><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oleObject" Target="../embeddings/oleObject2.bin"/><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image" Target="../media/image1.png"/><Relationship Id="rId2" Type="http://schemas.openxmlformats.org/officeDocument/2006/relationships/oleObject" Target="../embeddings/oleObject3.bin"/><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image" Target="../media/image1.png"/><Relationship Id="rId2" Type="http://schemas.openxmlformats.org/officeDocument/2006/relationships/oleObject" Target="../embeddings/oleObject4.bin"/><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image" Target="../media/image1.png"/><Relationship Id="rId2" Type="http://schemas.openxmlformats.org/officeDocument/2006/relationships/oleObject" Target="../embeddings/oleObject6.bin"/><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5" Type="http://schemas.openxmlformats.org/officeDocument/2006/relationships/vmlDrawing" Target="../drawings/vmlDrawing7.vml"/><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oleObject" Target="../embeddings/oleObject7.bin"/><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image" Target="../media/image1.png"/><Relationship Id="rId2" Type="http://schemas.openxmlformats.org/officeDocument/2006/relationships/oleObject" Target="../embeddings/oleObject8.bin"/><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2_标题幻灯片">
    <p:bg bwMode="gray">
      <p:bgPr>
        <a:solidFill>
          <a:schemeClr val="bg1"/>
        </a:solidFill>
        <a:effectLst/>
      </p:bgPr>
    </p:bg>
    <p:spTree>
      <p:nvGrpSpPr>
        <p:cNvPr id="1" name=""/>
        <p:cNvGrpSpPr/>
        <p:nvPr/>
      </p:nvGrpSpPr>
      <p:grpSpPr>
        <a:xfrm>
          <a:off x="0" y="0"/>
          <a:ext cx="0" cy="0"/>
          <a:chOff x="0" y="0"/>
          <a:chExt cx="0" cy="0"/>
        </a:xfrm>
      </p:grpSpPr>
      <p:graphicFrame>
        <p:nvGraphicFramePr>
          <p:cNvPr id="4" name="Object 2"/>
          <p:cNvGraphicFramePr>
            <a:graphicFrameLocks noChangeAspect="1"/>
          </p:cNvGraphicFramePr>
          <p:nvPr/>
        </p:nvGraphicFramePr>
        <p:xfrm>
          <a:off x="0" y="260350"/>
          <a:ext cx="12192000" cy="3816350"/>
        </p:xfrm>
        <a:graphic>
          <a:graphicData uri="http://schemas.openxmlformats.org/presentationml/2006/ole">
            <mc:AlternateContent xmlns:mc="http://schemas.openxmlformats.org/markup-compatibility/2006">
              <mc:Choice xmlns:v="urn:schemas-microsoft-com:vml" Requires="v">
                <p:oleObj spid="_x0000_s438317" name="Image" r:id="rId2" imgW="5664200" imgH="3327400" progId="">
                  <p:embed/>
                </p:oleObj>
              </mc:Choice>
              <mc:Fallback>
                <p:oleObj name="Image" r:id="rId2" imgW="5664200" imgH="3327400" progId="">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60350"/>
                        <a:ext cx="12192000" cy="3816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4996" name="Rectangle 4"/>
          <p:cNvSpPr>
            <a:spLocks noGrp="1" noChangeArrowheads="1"/>
          </p:cNvSpPr>
          <p:nvPr>
            <p:ph type="ctrTitle" sz="quarter"/>
          </p:nvPr>
        </p:nvSpPr>
        <p:spPr bwMode="auto">
          <a:xfrm>
            <a:off x="476211" y="2214554"/>
            <a:ext cx="11334829" cy="781050"/>
          </a:xfrm>
          <a:prstGeom prst="rect">
            <a:avLst/>
          </a:prstGeom>
          <a:effectLst>
            <a:outerShdw dist="35921" dir="2700000" algn="ctr" rotWithShape="0">
              <a:schemeClr val="tx2"/>
            </a:outerShdw>
          </a:effectLst>
        </p:spPr>
        <p:txBody>
          <a:bodyPr/>
          <a:lstStyle>
            <a:lvl1pPr algn="ctr">
              <a:defRPr sz="4800">
                <a:latin typeface="宋体" panose="02010600030101010101" pitchFamily="2" charset="-122"/>
                <a:ea typeface="宋体" panose="02010600030101010101" pitchFamily="2" charset="-122"/>
              </a:defRPr>
            </a:lvl1pPr>
          </a:lstStyle>
          <a:p>
            <a:pPr lvl="0"/>
            <a:r>
              <a:rPr lang="zh-CN" altLang="en-US" noProof="0" dirty="0"/>
              <a:t>单击此处编辑母版标题样式</a:t>
            </a:r>
            <a:endParaRPr lang="zh-CN" altLang="en-US" noProof="0" dirty="0"/>
          </a:p>
        </p:txBody>
      </p:sp>
      <p:sp>
        <p:nvSpPr>
          <p:cNvPr id="8" name="Rectangle 6"/>
          <p:cNvSpPr>
            <a:spLocks noGrp="1" noChangeArrowheads="1"/>
          </p:cNvSpPr>
          <p:nvPr>
            <p:ph type="dt" sz="quarter" idx="10"/>
          </p:nvPr>
        </p:nvSpPr>
        <p:spPr bwMode="auto">
          <a:xfrm>
            <a:off x="609600" y="6672263"/>
            <a:ext cx="2844800" cy="16827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b="0" smtClean="0">
                <a:solidFill>
                  <a:srgbClr val="FEFEFE"/>
                </a:solidFill>
                <a:latin typeface="+mj-lt"/>
              </a:defRPr>
            </a:lvl1pPr>
          </a:lstStyle>
          <a:p>
            <a:pPr>
              <a:defRPr/>
            </a:pPr>
            <a:endParaRPr lang="en-US" altLang="zh-CN" dirty="0"/>
          </a:p>
        </p:txBody>
      </p:sp>
      <p:sp>
        <p:nvSpPr>
          <p:cNvPr id="9" name="Rectangle 8"/>
          <p:cNvSpPr>
            <a:spLocks noGrp="1" noChangeArrowheads="1"/>
          </p:cNvSpPr>
          <p:nvPr>
            <p:ph type="sldNum" sz="quarter" idx="11"/>
          </p:nvPr>
        </p:nvSpPr>
        <p:spPr>
          <a:xfrm>
            <a:off x="8737600" y="6526213"/>
            <a:ext cx="2829984" cy="215900"/>
          </a:xfrm>
        </p:spPr>
        <p:txBody>
          <a:bodyPr/>
          <a:lstStyle>
            <a:lvl1pPr>
              <a:defRPr smtClean="0">
                <a:solidFill>
                  <a:schemeClr val="accent2"/>
                </a:solidFill>
              </a:defRPr>
            </a:lvl1pPr>
          </a:lstStyle>
          <a:p>
            <a:pPr>
              <a:defRPr/>
            </a:pPr>
            <a:r>
              <a:rPr lang="en-US" altLang="zh-CN"/>
              <a:t>1</a:t>
            </a:r>
            <a:endParaRPr lang="en-US" altLang="zh-CN"/>
          </a:p>
        </p:txBody>
      </p:sp>
      <p:sp>
        <p:nvSpPr>
          <p:cNvPr id="12" name="Rectangle 3"/>
          <p:cNvSpPr>
            <a:spLocks noChangeArrowheads="1"/>
          </p:cNvSpPr>
          <p:nvPr userDrawn="1"/>
        </p:nvSpPr>
        <p:spPr bwMode="ltGray">
          <a:xfrm>
            <a:off x="0" y="6611938"/>
            <a:ext cx="12192000" cy="260350"/>
          </a:xfrm>
          <a:prstGeom prst="rect">
            <a:avLst/>
          </a:prstGeom>
          <a:gradFill rotWithShape="1">
            <a:gsLst>
              <a:gs pos="0">
                <a:schemeClr val="accent2">
                  <a:gamma/>
                  <a:shade val="46275"/>
                  <a:invGamma/>
                </a:schemeClr>
              </a:gs>
              <a:gs pos="50000">
                <a:schemeClr val="accent2"/>
              </a:gs>
              <a:gs pos="100000">
                <a:schemeClr val="accent2">
                  <a:gamma/>
                  <a:shade val="46275"/>
                  <a:invGamma/>
                </a:scheme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userDrawn="1">
  <p:cSld name="标题和内容">
    <p:spTree>
      <p:nvGrpSpPr>
        <p:cNvPr id="1" name=""/>
        <p:cNvGrpSpPr/>
        <p:nvPr/>
      </p:nvGrpSpPr>
      <p:grpSpPr>
        <a:xfrm>
          <a:off x="0" y="0"/>
          <a:ext cx="0" cy="0"/>
          <a:chOff x="0" y="0"/>
          <a:chExt cx="0" cy="0"/>
        </a:xfrm>
      </p:grpSpPr>
      <p:graphicFrame>
        <p:nvGraphicFramePr>
          <p:cNvPr id="3" name="Object 3"/>
          <p:cNvGraphicFramePr>
            <a:graphicFrameLocks noChangeAspect="1"/>
          </p:cNvGraphicFramePr>
          <p:nvPr/>
        </p:nvGraphicFramePr>
        <p:xfrm>
          <a:off x="3312584" y="2354263"/>
          <a:ext cx="8879416" cy="4098925"/>
        </p:xfrm>
        <a:graphic>
          <a:graphicData uri="http://schemas.openxmlformats.org/presentationml/2006/ole">
            <mc:AlternateContent xmlns:mc="http://schemas.openxmlformats.org/markup-compatibility/2006">
              <mc:Choice xmlns:v="urn:schemas-microsoft-com:vml" Requires="v">
                <p:oleObj spid="_x0000_s270382" name="Image" r:id="rId2" imgW="5664200" imgH="3327400" progId="">
                  <p:embed/>
                </p:oleObj>
              </mc:Choice>
              <mc:Fallback>
                <p:oleObj name="Image" r:id="rId2" imgW="5664200" imgH="3327400" progId="">
                  <p:embed/>
                  <p:pic>
                    <p:nvPicPr>
                      <p:cNvPr id="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2584" y="2354263"/>
                        <a:ext cx="8879416" cy="409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Rectangle 4"/>
          <p:cNvSpPr>
            <a:spLocks noChangeArrowheads="1"/>
          </p:cNvSpPr>
          <p:nvPr/>
        </p:nvSpPr>
        <p:spPr bwMode="ltGray">
          <a:xfrm>
            <a:off x="0" y="-1588"/>
            <a:ext cx="12192000" cy="838201"/>
          </a:xfrm>
          <a:prstGeom prst="rect">
            <a:avLst/>
          </a:prstGeom>
          <a:gradFill rotWithShape="1">
            <a:gsLst>
              <a:gs pos="0">
                <a:schemeClr val="tx1"/>
              </a:gs>
              <a:gs pos="100000">
                <a:schemeClr val="tx1">
                  <a:gamma/>
                  <a:shade val="46275"/>
                  <a:invGamma/>
                </a:schemeClr>
              </a:gs>
            </a:gsLst>
            <a:lin ang="5400000" scaled="1"/>
          </a:gradFill>
          <a:ln w="9525">
            <a:noFill/>
            <a:miter lim="800000"/>
          </a:ln>
          <a:effectLst/>
        </p:spPr>
        <p:txBody>
          <a:bodyPr wrap="none" anchor="ctr"/>
          <a:lstStyle/>
          <a:p>
            <a:pPr>
              <a:defRPr/>
            </a:pPr>
            <a:endParaRPr lang="zh-CN" altLang="en-US">
              <a:ea typeface="宋体" panose="02010600030101010101" pitchFamily="2" charset="-122"/>
            </a:endParaRPr>
          </a:p>
        </p:txBody>
      </p:sp>
      <p:sp>
        <p:nvSpPr>
          <p:cNvPr id="5" name="Rectangle 5"/>
          <p:cNvSpPr>
            <a:spLocks noChangeArrowheads="1"/>
          </p:cNvSpPr>
          <p:nvPr/>
        </p:nvSpPr>
        <p:spPr bwMode="ltGray">
          <a:xfrm flipV="1">
            <a:off x="0" y="844550"/>
            <a:ext cx="12192000" cy="8731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b="1">
                <a:solidFill>
                  <a:schemeClr val="tx1"/>
                </a:solidFill>
                <a:latin typeface="Tahoma" panose="020B0604030504040204" pitchFamily="34" charset="0"/>
                <a:ea typeface="宋体" panose="02010600030101010101" pitchFamily="2" charset="-122"/>
              </a:defRPr>
            </a:lvl1pPr>
            <a:lvl2pPr marL="742950" indent="-285750" eaLnBrk="0" hangingPunct="0">
              <a:defRPr b="1">
                <a:solidFill>
                  <a:schemeClr val="tx1"/>
                </a:solidFill>
                <a:latin typeface="Tahoma" panose="020B0604030504040204" pitchFamily="34" charset="0"/>
                <a:ea typeface="宋体" panose="02010600030101010101" pitchFamily="2" charset="-122"/>
              </a:defRPr>
            </a:lvl2pPr>
            <a:lvl3pPr marL="1143000" indent="-228600" eaLnBrk="0" hangingPunct="0">
              <a:defRPr b="1">
                <a:solidFill>
                  <a:schemeClr val="tx1"/>
                </a:solidFill>
                <a:latin typeface="Tahoma" panose="020B0604030504040204" pitchFamily="34" charset="0"/>
                <a:ea typeface="宋体" panose="02010600030101010101" pitchFamily="2" charset="-122"/>
              </a:defRPr>
            </a:lvl3pPr>
            <a:lvl4pPr marL="1600200" indent="-228600" eaLnBrk="0" hangingPunct="0">
              <a:defRPr b="1">
                <a:solidFill>
                  <a:schemeClr val="tx1"/>
                </a:solidFill>
                <a:latin typeface="Tahoma" panose="020B0604030504040204" pitchFamily="34" charset="0"/>
                <a:ea typeface="宋体" panose="02010600030101010101" pitchFamily="2" charset="-122"/>
              </a:defRPr>
            </a:lvl4pPr>
            <a:lvl5pPr marL="2057400" indent="-228600" eaLnBrk="0" hangingPunct="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6" name="Line 6"/>
          <p:cNvSpPr>
            <a:spLocks noChangeShapeType="1"/>
          </p:cNvSpPr>
          <p:nvPr/>
        </p:nvSpPr>
        <p:spPr bwMode="ltGray">
          <a:xfrm>
            <a:off x="0" y="876300"/>
            <a:ext cx="12192000" cy="0"/>
          </a:xfrm>
          <a:prstGeom prst="line">
            <a:avLst/>
          </a:prstGeom>
          <a:noFill/>
          <a:ln w="9525">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 name="Rectangle 7"/>
          <p:cNvSpPr>
            <a:spLocks noChangeArrowheads="1"/>
          </p:cNvSpPr>
          <p:nvPr/>
        </p:nvSpPr>
        <p:spPr bwMode="ltGray">
          <a:xfrm>
            <a:off x="0" y="188913"/>
            <a:ext cx="12192000" cy="127000"/>
          </a:xfrm>
          <a:prstGeom prst="rect">
            <a:avLst/>
          </a:prstGeom>
          <a:gradFill rotWithShape="1">
            <a:gsLst>
              <a:gs pos="0">
                <a:schemeClr val="tx1"/>
              </a:gs>
              <a:gs pos="100000">
                <a:schemeClr val="tx1">
                  <a:gamma/>
                  <a:shade val="46275"/>
                  <a:invGamma/>
                </a:schemeClr>
              </a:gs>
            </a:gsLst>
            <a:lin ang="5400000" scaled="1"/>
          </a:gradFill>
          <a:ln w="9525">
            <a:solidFill>
              <a:schemeClr val="tx1"/>
            </a:solidFill>
            <a:miter lim="800000"/>
          </a:ln>
          <a:effectLst/>
        </p:spPr>
        <p:txBody>
          <a:bodyPr wrap="none" anchor="ctr"/>
          <a:lstStyle/>
          <a:p>
            <a:pPr>
              <a:defRPr/>
            </a:pPr>
            <a:endParaRPr lang="zh-CN" altLang="en-US">
              <a:ea typeface="宋体" panose="02010600030101010101" pitchFamily="2" charset="-122"/>
            </a:endParaRPr>
          </a:p>
        </p:txBody>
      </p:sp>
      <p:sp>
        <p:nvSpPr>
          <p:cNvPr id="8" name="Rectangle 8"/>
          <p:cNvSpPr>
            <a:spLocks noChangeArrowheads="1"/>
          </p:cNvSpPr>
          <p:nvPr/>
        </p:nvSpPr>
        <p:spPr bwMode="ltGray">
          <a:xfrm>
            <a:off x="0" y="350838"/>
            <a:ext cx="12192000" cy="69850"/>
          </a:xfrm>
          <a:prstGeom prst="rect">
            <a:avLst/>
          </a:prstGeom>
          <a:gradFill rotWithShape="1">
            <a:gsLst>
              <a:gs pos="0">
                <a:schemeClr val="tx1"/>
              </a:gs>
              <a:gs pos="100000">
                <a:schemeClr val="tx1">
                  <a:gamma/>
                  <a:shade val="46275"/>
                  <a:invGamma/>
                </a:schemeClr>
              </a:gs>
            </a:gsLst>
            <a:lin ang="5400000" scaled="1"/>
          </a:gradFill>
          <a:ln w="9525">
            <a:solidFill>
              <a:schemeClr val="tx1"/>
            </a:solidFill>
            <a:miter lim="800000"/>
          </a:ln>
          <a:effectLst/>
        </p:spPr>
        <p:txBody>
          <a:bodyPr wrap="none" anchor="ctr"/>
          <a:lstStyle/>
          <a:p>
            <a:pPr>
              <a:defRPr/>
            </a:pPr>
            <a:endParaRPr lang="zh-CN" altLang="en-US">
              <a:ea typeface="宋体" panose="02010600030101010101" pitchFamily="2" charset="-122"/>
            </a:endParaRPr>
          </a:p>
        </p:txBody>
      </p:sp>
      <p:pic>
        <p:nvPicPr>
          <p:cNvPr id="10" name="Picture 15"/>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1070167" y="876300"/>
            <a:ext cx="1121833"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标题 1"/>
          <p:cNvSpPr>
            <a:spLocks noGrp="1"/>
          </p:cNvSpPr>
          <p:nvPr>
            <p:ph type="title"/>
          </p:nvPr>
        </p:nvSpPr>
        <p:spPr>
          <a:xfrm>
            <a:off x="0" y="134938"/>
            <a:ext cx="12192000" cy="593725"/>
          </a:xfrm>
          <a:prstGeom prst="rect">
            <a:avLst/>
          </a:prstGeom>
        </p:spPr>
        <p:txBody>
          <a:bodyPr/>
          <a:lstStyle/>
          <a:p>
            <a:r>
              <a:rPr lang="zh-CN" altLang="en-US"/>
              <a:t>单击此处编辑母版标题样式</a:t>
            </a:r>
            <a:endParaRPr lang="zh-CN" altLang="en-US"/>
          </a:p>
        </p:txBody>
      </p:sp>
      <p:sp>
        <p:nvSpPr>
          <p:cNvPr id="11" name="灯片编号占位符 4"/>
          <p:cNvSpPr>
            <a:spLocks noGrp="1"/>
          </p:cNvSpPr>
          <p:nvPr>
            <p:ph type="sldNum" sz="quarter" idx="10"/>
          </p:nvPr>
        </p:nvSpPr>
        <p:spPr/>
        <p:txBody>
          <a:bodyPr/>
          <a:lstStyle>
            <a:lvl1pPr>
              <a:defRPr/>
            </a:lvl1pPr>
          </a:lstStyle>
          <a:p>
            <a:pPr>
              <a:defRPr/>
            </a:pPr>
            <a:endParaRPr lang="zh-CN" altLang="zh-CN"/>
          </a:p>
        </p:txBody>
      </p:sp>
      <p:sp>
        <p:nvSpPr>
          <p:cNvPr id="12" name="页脚占位符 5"/>
          <p:cNvSpPr>
            <a:spLocks noGrp="1"/>
          </p:cNvSpPr>
          <p:nvPr>
            <p:ph type="ftr" sz="quarter" idx="11"/>
          </p:nvPr>
        </p:nvSpPr>
        <p:spPr/>
        <p:txBody>
          <a:bodyPr/>
          <a:lstStyle>
            <a:lvl1pPr algn="l">
              <a:defRPr/>
            </a:lvl1pPr>
          </a:lstStyle>
          <a:p>
            <a:pPr>
              <a:defRPr/>
            </a:pPr>
            <a:fld id="{06B74915-6D50-478A-ACCB-CB5D49748FD1}" type="slidenum">
              <a:rPr lang="en-US" altLang="zh-CN" smtClean="0"/>
            </a:fld>
            <a:endParaRPr lang="en-US" altLang="zh-CN"/>
          </a:p>
        </p:txBody>
      </p:sp>
    </p:spTree>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bwMode="gray">
      <p:bgPr>
        <a:solidFill>
          <a:schemeClr val="bg1"/>
        </a:solidFill>
        <a:effectLst/>
      </p:bgPr>
    </p:bg>
    <p:spTree>
      <p:nvGrpSpPr>
        <p:cNvPr id="1" name=""/>
        <p:cNvGrpSpPr/>
        <p:nvPr/>
      </p:nvGrpSpPr>
      <p:grpSpPr>
        <a:xfrm>
          <a:off x="0" y="0"/>
          <a:ext cx="0" cy="0"/>
          <a:chOff x="0" y="0"/>
          <a:chExt cx="0" cy="0"/>
        </a:xfrm>
      </p:grpSpPr>
      <p:graphicFrame>
        <p:nvGraphicFramePr>
          <p:cNvPr id="4" name="Object 2"/>
          <p:cNvGraphicFramePr>
            <a:graphicFrameLocks noChangeAspect="1"/>
          </p:cNvGraphicFramePr>
          <p:nvPr/>
        </p:nvGraphicFramePr>
        <p:xfrm>
          <a:off x="0" y="260350"/>
          <a:ext cx="12192000" cy="3816350"/>
        </p:xfrm>
        <a:graphic>
          <a:graphicData uri="http://schemas.openxmlformats.org/presentationml/2006/ole">
            <mc:AlternateContent xmlns:mc="http://schemas.openxmlformats.org/markup-compatibility/2006">
              <mc:Choice xmlns:v="urn:schemas-microsoft-com:vml" Requires="v">
                <p:oleObj spid="_x0000_s679976" name="Image" r:id="rId2" imgW="5664200" imgH="3327400" progId="">
                  <p:embed/>
                </p:oleObj>
              </mc:Choice>
              <mc:Fallback>
                <p:oleObj name="Image" r:id="rId2" imgW="5664200" imgH="3327400" progId="">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60350"/>
                        <a:ext cx="12192000" cy="3816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4996" name="Rectangle 4"/>
          <p:cNvSpPr>
            <a:spLocks noGrp="1" noChangeArrowheads="1"/>
          </p:cNvSpPr>
          <p:nvPr>
            <p:ph type="ctrTitle" sz="quarter"/>
          </p:nvPr>
        </p:nvSpPr>
        <p:spPr bwMode="auto">
          <a:xfrm>
            <a:off x="476211" y="2214554"/>
            <a:ext cx="11334829" cy="781050"/>
          </a:xfrm>
          <a:effectLst>
            <a:outerShdw dist="35921" dir="2700000" algn="ctr" rotWithShape="0">
              <a:schemeClr val="tx2"/>
            </a:outerShdw>
          </a:effectLst>
        </p:spPr>
        <p:txBody>
          <a:bodyPr/>
          <a:lstStyle>
            <a:lvl1pPr algn="ctr">
              <a:defRPr sz="4800">
                <a:latin typeface="宋体" panose="02010600030101010101" pitchFamily="2" charset="-122"/>
                <a:ea typeface="宋体" panose="02010600030101010101" pitchFamily="2" charset="-122"/>
              </a:defRPr>
            </a:lvl1pPr>
          </a:lstStyle>
          <a:p>
            <a:pPr lvl="0"/>
            <a:r>
              <a:rPr lang="zh-CN" altLang="en-US" noProof="0" dirty="0"/>
              <a:t>单击此处编辑母版标题样式</a:t>
            </a:r>
            <a:endParaRPr lang="zh-CN" altLang="en-US" noProof="0" dirty="0"/>
          </a:p>
        </p:txBody>
      </p:sp>
      <p:sp>
        <p:nvSpPr>
          <p:cNvPr id="8" name="Rectangle 6"/>
          <p:cNvSpPr>
            <a:spLocks noGrp="1" noChangeArrowheads="1"/>
          </p:cNvSpPr>
          <p:nvPr>
            <p:ph type="dt" sz="quarter" idx="10"/>
          </p:nvPr>
        </p:nvSpPr>
        <p:spPr bwMode="auto">
          <a:xfrm>
            <a:off x="609600" y="6672263"/>
            <a:ext cx="2844800" cy="16827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b="0" smtClean="0">
                <a:solidFill>
                  <a:srgbClr val="FEFEFE"/>
                </a:solidFill>
                <a:latin typeface="+mj-lt"/>
              </a:defRPr>
            </a:lvl1pPr>
          </a:lstStyle>
          <a:p>
            <a:pPr>
              <a:defRPr/>
            </a:pPr>
            <a:endParaRPr lang="en-US" altLang="zh-CN" dirty="0"/>
          </a:p>
        </p:txBody>
      </p:sp>
      <p:sp>
        <p:nvSpPr>
          <p:cNvPr id="9" name="Rectangle 8"/>
          <p:cNvSpPr>
            <a:spLocks noGrp="1" noChangeArrowheads="1"/>
          </p:cNvSpPr>
          <p:nvPr>
            <p:ph type="sldNum" sz="quarter" idx="11"/>
          </p:nvPr>
        </p:nvSpPr>
        <p:spPr>
          <a:xfrm>
            <a:off x="8737600" y="6526213"/>
            <a:ext cx="2829984" cy="215900"/>
          </a:xfrm>
        </p:spPr>
        <p:txBody>
          <a:bodyPr/>
          <a:lstStyle>
            <a:lvl1pPr>
              <a:defRPr smtClean="0">
                <a:solidFill>
                  <a:schemeClr val="accent2"/>
                </a:solidFill>
              </a:defRPr>
            </a:lvl1pPr>
          </a:lstStyle>
          <a:p>
            <a:pPr>
              <a:defRPr/>
            </a:pPr>
            <a:r>
              <a:rPr lang="en-US" altLang="zh-CN"/>
              <a:t>1</a:t>
            </a:r>
            <a:endParaRPr lang="en-US" altLang="zh-CN"/>
          </a:p>
        </p:txBody>
      </p:sp>
      <p:sp>
        <p:nvSpPr>
          <p:cNvPr id="12" name="Rectangle 3"/>
          <p:cNvSpPr>
            <a:spLocks noChangeArrowheads="1"/>
          </p:cNvSpPr>
          <p:nvPr userDrawn="1"/>
        </p:nvSpPr>
        <p:spPr bwMode="ltGray">
          <a:xfrm>
            <a:off x="0" y="6611938"/>
            <a:ext cx="12192000" cy="260350"/>
          </a:xfrm>
          <a:prstGeom prst="rect">
            <a:avLst/>
          </a:prstGeom>
          <a:gradFill rotWithShape="1">
            <a:gsLst>
              <a:gs pos="0">
                <a:schemeClr val="accent2">
                  <a:gamma/>
                  <a:shade val="46275"/>
                  <a:invGamma/>
                </a:schemeClr>
              </a:gs>
              <a:gs pos="50000">
                <a:schemeClr val="accent2"/>
              </a:gs>
              <a:gs pos="100000">
                <a:schemeClr val="accent2">
                  <a:gamma/>
                  <a:shade val="46275"/>
                  <a:invGamma/>
                </a:scheme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2"/>
          <p:cNvSpPr>
            <a:spLocks noGrp="1" noChangeArrowheads="1"/>
          </p:cNvSpPr>
          <p:nvPr>
            <p:ph type="sldNum" sz="quarter" idx="10"/>
          </p:nvPr>
        </p:nvSpPr>
        <p:spPr/>
        <p:txBody>
          <a:bodyPr/>
          <a:lstStyle>
            <a:lvl1pPr>
              <a:defRPr/>
            </a:lvl1pPr>
          </a:lstStyle>
          <a:p>
            <a:pPr>
              <a:defRPr/>
            </a:pPr>
            <a:endParaRPr lang="zh-CN" altLang="zh-CN"/>
          </a:p>
        </p:txBody>
      </p:sp>
      <p:sp>
        <p:nvSpPr>
          <p:cNvPr id="3" name="Rectangle 13"/>
          <p:cNvSpPr>
            <a:spLocks noGrp="1" noChangeArrowheads="1"/>
          </p:cNvSpPr>
          <p:nvPr>
            <p:ph type="ftr" sz="quarter" idx="11"/>
          </p:nvPr>
        </p:nvSpPr>
        <p:spPr/>
        <p:txBody>
          <a:bodyPr/>
          <a:lstStyle>
            <a:lvl1pPr>
              <a:defRPr/>
            </a:lvl1pPr>
          </a:lstStyle>
          <a:p>
            <a:pPr>
              <a:defRPr/>
            </a:pPr>
            <a:fld id="{78D15AC4-49AB-47DA-9188-CC51F4F1E32C}" type="slidenum">
              <a:rPr lang="en-US" altLang="zh-CN"/>
            </a:fld>
            <a:endParaRPr lang="en-US" altLang="zh-CN"/>
          </a:p>
        </p:txBody>
      </p:sp>
    </p:spTree>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bwMode="gray">
      <p:bgPr>
        <a:solidFill>
          <a:schemeClr val="bg1"/>
        </a:solidFill>
        <a:effectLst/>
      </p:bgPr>
    </p:bg>
    <p:spTree>
      <p:nvGrpSpPr>
        <p:cNvPr id="1" name=""/>
        <p:cNvGrpSpPr/>
        <p:nvPr/>
      </p:nvGrpSpPr>
      <p:grpSpPr>
        <a:xfrm>
          <a:off x="0" y="0"/>
          <a:ext cx="0" cy="0"/>
          <a:chOff x="0" y="0"/>
          <a:chExt cx="0" cy="0"/>
        </a:xfrm>
      </p:grpSpPr>
      <p:graphicFrame>
        <p:nvGraphicFramePr>
          <p:cNvPr id="4" name="Object 2"/>
          <p:cNvGraphicFramePr>
            <a:graphicFrameLocks noChangeAspect="1"/>
          </p:cNvGraphicFramePr>
          <p:nvPr/>
        </p:nvGraphicFramePr>
        <p:xfrm>
          <a:off x="0" y="260350"/>
          <a:ext cx="12192000" cy="3816350"/>
        </p:xfrm>
        <a:graphic>
          <a:graphicData uri="http://schemas.openxmlformats.org/presentationml/2006/ole">
            <mc:AlternateContent xmlns:mc="http://schemas.openxmlformats.org/markup-compatibility/2006">
              <mc:Choice xmlns:v="urn:schemas-microsoft-com:vml" Requires="v">
                <p:oleObj spid="_x0000_s679979" name="Image" r:id="rId2" imgW="5664200" imgH="3327400" progId="">
                  <p:embed/>
                </p:oleObj>
              </mc:Choice>
              <mc:Fallback>
                <p:oleObj name="Image" r:id="rId2" imgW="5664200" imgH="3327400" progId="">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60350"/>
                        <a:ext cx="12192000" cy="3816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4996" name="Rectangle 4"/>
          <p:cNvSpPr>
            <a:spLocks noGrp="1" noChangeArrowheads="1"/>
          </p:cNvSpPr>
          <p:nvPr>
            <p:ph type="ctrTitle" sz="quarter"/>
          </p:nvPr>
        </p:nvSpPr>
        <p:spPr bwMode="auto">
          <a:xfrm>
            <a:off x="476211" y="2214554"/>
            <a:ext cx="11334829" cy="781050"/>
          </a:xfrm>
          <a:effectLst>
            <a:outerShdw dist="35921" dir="2700000" algn="ctr" rotWithShape="0">
              <a:schemeClr val="tx2"/>
            </a:outerShdw>
          </a:effectLst>
        </p:spPr>
        <p:txBody>
          <a:bodyPr/>
          <a:lstStyle>
            <a:lvl1pPr algn="ctr">
              <a:defRPr sz="4800">
                <a:latin typeface="宋体" panose="02010600030101010101" pitchFamily="2" charset="-122"/>
                <a:ea typeface="宋体" panose="02010600030101010101" pitchFamily="2" charset="-122"/>
              </a:defRPr>
            </a:lvl1pPr>
          </a:lstStyle>
          <a:p>
            <a:pPr lvl="0"/>
            <a:r>
              <a:rPr lang="zh-CN" altLang="en-US" noProof="0" dirty="0"/>
              <a:t>单击此处编辑母版标题样式</a:t>
            </a:r>
            <a:endParaRPr lang="zh-CN" altLang="en-US" noProof="0" dirty="0"/>
          </a:p>
        </p:txBody>
      </p:sp>
      <p:sp>
        <p:nvSpPr>
          <p:cNvPr id="8" name="Rectangle 6"/>
          <p:cNvSpPr>
            <a:spLocks noGrp="1" noChangeArrowheads="1"/>
          </p:cNvSpPr>
          <p:nvPr>
            <p:ph type="dt" sz="quarter" idx="10"/>
          </p:nvPr>
        </p:nvSpPr>
        <p:spPr bwMode="auto">
          <a:xfrm>
            <a:off x="609600" y="6672263"/>
            <a:ext cx="2844800" cy="16827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b="0" smtClean="0">
                <a:solidFill>
                  <a:srgbClr val="FEFEFE"/>
                </a:solidFill>
                <a:latin typeface="+mj-lt"/>
              </a:defRPr>
            </a:lvl1pPr>
          </a:lstStyle>
          <a:p>
            <a:pPr>
              <a:defRPr/>
            </a:pPr>
            <a:endParaRPr lang="en-US" altLang="zh-CN" dirty="0"/>
          </a:p>
        </p:txBody>
      </p:sp>
      <p:sp>
        <p:nvSpPr>
          <p:cNvPr id="9" name="Rectangle 8"/>
          <p:cNvSpPr>
            <a:spLocks noGrp="1" noChangeArrowheads="1"/>
          </p:cNvSpPr>
          <p:nvPr>
            <p:ph type="sldNum" sz="quarter" idx="11"/>
          </p:nvPr>
        </p:nvSpPr>
        <p:spPr>
          <a:xfrm>
            <a:off x="8737600" y="6526213"/>
            <a:ext cx="2829984" cy="215900"/>
          </a:xfrm>
        </p:spPr>
        <p:txBody>
          <a:bodyPr/>
          <a:lstStyle>
            <a:lvl1pPr>
              <a:defRPr smtClean="0">
                <a:solidFill>
                  <a:schemeClr val="accent2"/>
                </a:solidFill>
              </a:defRPr>
            </a:lvl1pPr>
          </a:lstStyle>
          <a:p>
            <a:pPr>
              <a:defRPr/>
            </a:pPr>
            <a:r>
              <a:rPr lang="en-US" altLang="zh-CN"/>
              <a:t>1</a:t>
            </a:r>
            <a:endParaRPr lang="en-US" altLang="zh-CN"/>
          </a:p>
        </p:txBody>
      </p:sp>
      <p:sp>
        <p:nvSpPr>
          <p:cNvPr id="12" name="Rectangle 3"/>
          <p:cNvSpPr>
            <a:spLocks noChangeArrowheads="1"/>
          </p:cNvSpPr>
          <p:nvPr userDrawn="1"/>
        </p:nvSpPr>
        <p:spPr bwMode="ltGray">
          <a:xfrm>
            <a:off x="0" y="6611938"/>
            <a:ext cx="12192000" cy="260350"/>
          </a:xfrm>
          <a:prstGeom prst="rect">
            <a:avLst/>
          </a:prstGeom>
          <a:gradFill rotWithShape="1">
            <a:gsLst>
              <a:gs pos="0">
                <a:schemeClr val="accent2">
                  <a:gamma/>
                  <a:shade val="46275"/>
                  <a:invGamma/>
                </a:schemeClr>
              </a:gs>
              <a:gs pos="50000">
                <a:schemeClr val="accent2"/>
              </a:gs>
              <a:gs pos="100000">
                <a:schemeClr val="accent2">
                  <a:gamma/>
                  <a:shade val="46275"/>
                  <a:invGamma/>
                </a:scheme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Rectangle 12"/>
          <p:cNvSpPr>
            <a:spLocks noGrp="1" noChangeArrowheads="1"/>
          </p:cNvSpPr>
          <p:nvPr>
            <p:ph type="sldNum" sz="quarter" idx="10"/>
          </p:nvPr>
        </p:nvSpPr>
        <p:spPr/>
        <p:txBody>
          <a:bodyPr/>
          <a:lstStyle>
            <a:lvl1pPr>
              <a:defRPr/>
            </a:lvl1pPr>
          </a:lstStyle>
          <a:p>
            <a:pPr>
              <a:defRPr/>
            </a:pPr>
            <a:endParaRPr lang="zh-CN" altLang="zh-CN"/>
          </a:p>
        </p:txBody>
      </p:sp>
      <p:sp>
        <p:nvSpPr>
          <p:cNvPr id="5" name="Rectangle 13"/>
          <p:cNvSpPr>
            <a:spLocks noGrp="1" noChangeArrowheads="1"/>
          </p:cNvSpPr>
          <p:nvPr>
            <p:ph type="ftr" sz="quarter" idx="11"/>
          </p:nvPr>
        </p:nvSpPr>
        <p:spPr/>
        <p:txBody>
          <a:bodyPr/>
          <a:lstStyle>
            <a:lvl1pPr>
              <a:defRPr/>
            </a:lvl1pPr>
          </a:lstStyle>
          <a:p>
            <a:pPr>
              <a:defRPr/>
            </a:pPr>
            <a:fld id="{E36A42C9-44F5-4088-8236-0FAADA7D394D}" type="slidenum">
              <a:rPr lang="en-US" altLang="zh-CN"/>
            </a:fld>
            <a:endParaRPr lang="en-US" altLang="zh-CN"/>
          </a:p>
        </p:txBody>
      </p:sp>
    </p:spTree>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0" y="134938"/>
            <a:ext cx="12192000" cy="593725"/>
          </a:xfrm>
        </p:spPr>
        <p:txBody>
          <a:bodyPr/>
          <a:lstStyle/>
          <a:p>
            <a:r>
              <a:rPr lang="zh-CN" altLang="en-US"/>
              <a:t>单击此处编辑母版标题样式</a:t>
            </a:r>
            <a:endParaRPr lang="zh-CN" altLang="en-US"/>
          </a:p>
        </p:txBody>
      </p:sp>
      <p:sp>
        <p:nvSpPr>
          <p:cNvPr id="5" name="Rectangle 12"/>
          <p:cNvSpPr>
            <a:spLocks noGrp="1" noChangeArrowheads="1"/>
          </p:cNvSpPr>
          <p:nvPr>
            <p:ph type="sldNum" sz="quarter" idx="10"/>
          </p:nvPr>
        </p:nvSpPr>
        <p:spPr/>
        <p:txBody>
          <a:bodyPr/>
          <a:lstStyle>
            <a:lvl1pPr>
              <a:defRPr/>
            </a:lvl1pPr>
          </a:lstStyle>
          <a:p>
            <a:pPr>
              <a:defRPr/>
            </a:pPr>
            <a:endParaRPr lang="zh-CN" altLang="zh-CN"/>
          </a:p>
        </p:txBody>
      </p:sp>
      <p:sp>
        <p:nvSpPr>
          <p:cNvPr id="6" name="Rectangle 13"/>
          <p:cNvSpPr>
            <a:spLocks noGrp="1" noChangeArrowheads="1"/>
          </p:cNvSpPr>
          <p:nvPr>
            <p:ph type="ftr" sz="quarter" idx="11"/>
          </p:nvPr>
        </p:nvSpPr>
        <p:spPr/>
        <p:txBody>
          <a:bodyPr/>
          <a:lstStyle>
            <a:lvl1pPr>
              <a:defRPr/>
            </a:lvl1pPr>
          </a:lstStyle>
          <a:p>
            <a:pPr>
              <a:defRPr/>
            </a:pPr>
            <a:fld id="{C1F25CC6-6449-47CE-9D64-21E62C00B91A}" type="slidenum">
              <a:rPr lang="en-US" altLang="zh-CN"/>
            </a:fld>
            <a:endParaRPr lang="en-US" altLang="zh-CN"/>
          </a:p>
        </p:txBody>
      </p:sp>
      <p:sp>
        <p:nvSpPr>
          <p:cNvPr id="9" name="内容占位符 2"/>
          <p:cNvSpPr>
            <a:spLocks noGrp="1"/>
          </p:cNvSpPr>
          <p:nvPr>
            <p:ph idx="1" hasCustomPrompt="1"/>
          </p:nvPr>
        </p:nvSpPr>
        <p:spPr>
          <a:xfrm>
            <a:off x="711200" y="1152000"/>
            <a:ext cx="5280000" cy="5040000"/>
          </a:xfrm>
        </p:spPr>
        <p:txBody>
          <a:bodyPr/>
          <a:lstStyle/>
          <a:p>
            <a:pPr lvl="0"/>
            <a:r>
              <a:rPr lang="zh-CN" altLang="en-US" dirty="0"/>
              <a:t>单击此处编辑母版文</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 name="内容占位符 2"/>
          <p:cNvSpPr>
            <a:spLocks noGrp="1"/>
          </p:cNvSpPr>
          <p:nvPr>
            <p:ph idx="12" hasCustomPrompt="1"/>
          </p:nvPr>
        </p:nvSpPr>
        <p:spPr>
          <a:xfrm>
            <a:off x="6294239" y="1142984"/>
            <a:ext cx="5280000" cy="5040000"/>
          </a:xfrm>
        </p:spPr>
        <p:txBody>
          <a:bodyPr/>
          <a:lstStyle/>
          <a:p>
            <a:pPr lvl="0"/>
            <a:r>
              <a:rPr lang="zh-CN" altLang="en-US" dirty="0"/>
              <a:t>单击此处编辑母版文</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0" y="134938"/>
            <a:ext cx="12192000" cy="593725"/>
          </a:xfr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711200" y="1152000"/>
            <a:ext cx="10944000" cy="5040000"/>
          </a:xfrm>
        </p:spPr>
        <p:txBody>
          <a:bodyPr/>
          <a:lstStyle/>
          <a:p>
            <a:pPr lvl="0"/>
            <a:endParaRPr lang="zh-CN" altLang="en-US" noProof="0"/>
          </a:p>
        </p:txBody>
      </p:sp>
      <p:sp>
        <p:nvSpPr>
          <p:cNvPr id="4" name="Rectangle 12"/>
          <p:cNvSpPr>
            <a:spLocks noGrp="1" noChangeArrowheads="1"/>
          </p:cNvSpPr>
          <p:nvPr>
            <p:ph type="sldNum" sz="quarter" idx="10"/>
          </p:nvPr>
        </p:nvSpPr>
        <p:spPr/>
        <p:txBody>
          <a:bodyPr/>
          <a:lstStyle>
            <a:lvl1pPr>
              <a:defRPr/>
            </a:lvl1pPr>
          </a:lstStyle>
          <a:p>
            <a:pPr>
              <a:defRPr/>
            </a:pPr>
            <a:endParaRPr lang="zh-CN" altLang="zh-CN"/>
          </a:p>
        </p:txBody>
      </p:sp>
      <p:sp>
        <p:nvSpPr>
          <p:cNvPr id="5" name="Rectangle 13"/>
          <p:cNvSpPr>
            <a:spLocks noGrp="1" noChangeArrowheads="1"/>
          </p:cNvSpPr>
          <p:nvPr>
            <p:ph type="ftr" sz="quarter" idx="11"/>
          </p:nvPr>
        </p:nvSpPr>
        <p:spPr/>
        <p:txBody>
          <a:bodyPr/>
          <a:lstStyle>
            <a:lvl1pPr>
              <a:defRPr/>
            </a:lvl1pPr>
          </a:lstStyle>
          <a:p>
            <a:pPr>
              <a:defRPr/>
            </a:pPr>
            <a:fld id="{E61900A6-90C8-44DA-A67A-C26299256101}" type="slidenum">
              <a:rPr lang="en-US" altLang="zh-CN"/>
            </a:fld>
            <a:endParaRPr lang="en-US" altLang="zh-CN"/>
          </a:p>
        </p:txBody>
      </p:sp>
    </p:spTree>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2"/>
          <p:cNvSpPr>
            <a:spLocks noGrp="1" noChangeArrowheads="1"/>
          </p:cNvSpPr>
          <p:nvPr>
            <p:ph type="sldNum" sz="quarter" idx="10"/>
          </p:nvPr>
        </p:nvSpPr>
        <p:spPr/>
        <p:txBody>
          <a:bodyPr/>
          <a:lstStyle>
            <a:lvl1pPr>
              <a:defRPr/>
            </a:lvl1pPr>
          </a:lstStyle>
          <a:p>
            <a:pPr>
              <a:defRPr/>
            </a:pPr>
            <a:endParaRPr lang="zh-CN" altLang="zh-CN"/>
          </a:p>
        </p:txBody>
      </p:sp>
      <p:sp>
        <p:nvSpPr>
          <p:cNvPr id="3" name="Rectangle 13"/>
          <p:cNvSpPr>
            <a:spLocks noGrp="1" noChangeArrowheads="1"/>
          </p:cNvSpPr>
          <p:nvPr>
            <p:ph type="ftr" sz="quarter" idx="11"/>
          </p:nvPr>
        </p:nvSpPr>
        <p:spPr/>
        <p:txBody>
          <a:bodyPr/>
          <a:lstStyle>
            <a:lvl1pPr>
              <a:defRPr/>
            </a:lvl1pPr>
          </a:lstStyle>
          <a:p>
            <a:pPr>
              <a:defRPr/>
            </a:pPr>
            <a:fld id="{78D15AC4-49AB-47DA-9188-CC51F4F1E32C}" type="slidenum">
              <a:rPr lang="en-US" altLang="zh-CN"/>
            </a:fld>
            <a:endParaRPr lang="en-US" altLang="zh-CN"/>
          </a:p>
        </p:txBody>
      </p:sp>
    </p:spTree>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Rectangle 12"/>
          <p:cNvSpPr>
            <a:spLocks noGrp="1" noChangeArrowheads="1"/>
          </p:cNvSpPr>
          <p:nvPr>
            <p:ph type="sldNum" sz="quarter" idx="10"/>
          </p:nvPr>
        </p:nvSpPr>
        <p:spPr/>
        <p:txBody>
          <a:bodyPr/>
          <a:lstStyle>
            <a:lvl1pPr>
              <a:defRPr/>
            </a:lvl1pPr>
          </a:lstStyle>
          <a:p>
            <a:pPr>
              <a:defRPr/>
            </a:pPr>
            <a:endParaRPr lang="zh-CN" altLang="zh-CN"/>
          </a:p>
        </p:txBody>
      </p:sp>
      <p:sp>
        <p:nvSpPr>
          <p:cNvPr id="5" name="Rectangle 13"/>
          <p:cNvSpPr>
            <a:spLocks noGrp="1" noChangeArrowheads="1"/>
          </p:cNvSpPr>
          <p:nvPr>
            <p:ph type="ftr" sz="quarter" idx="11"/>
          </p:nvPr>
        </p:nvSpPr>
        <p:spPr/>
        <p:txBody>
          <a:bodyPr/>
          <a:lstStyle>
            <a:lvl1pPr>
              <a:defRPr/>
            </a:lvl1pPr>
          </a:lstStyle>
          <a:p>
            <a:pPr>
              <a:defRPr/>
            </a:pPr>
            <a:fld id="{E36A42C9-44F5-4088-8236-0FAADA7D394D}" type="slidenum">
              <a:rPr lang="en-US" altLang="zh-CN"/>
            </a:fld>
            <a:endParaRPr lang="en-US" altLang="zh-CN"/>
          </a:p>
        </p:txBody>
      </p:sp>
    </p:spTree>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2_标题幻灯片">
    <p:bg bwMode="gray">
      <p:bgPr>
        <a:solidFill>
          <a:schemeClr val="bg1"/>
        </a:solidFill>
        <a:effectLst/>
      </p:bgPr>
    </p:bg>
    <p:spTree>
      <p:nvGrpSpPr>
        <p:cNvPr id="1" name=""/>
        <p:cNvGrpSpPr/>
        <p:nvPr/>
      </p:nvGrpSpPr>
      <p:grpSpPr>
        <a:xfrm>
          <a:off x="0" y="0"/>
          <a:ext cx="0" cy="0"/>
          <a:chOff x="0" y="0"/>
          <a:chExt cx="0" cy="0"/>
        </a:xfrm>
      </p:grpSpPr>
      <p:graphicFrame>
        <p:nvGraphicFramePr>
          <p:cNvPr id="4" name="Object 2"/>
          <p:cNvGraphicFramePr>
            <a:graphicFrameLocks noChangeAspect="1"/>
          </p:cNvGraphicFramePr>
          <p:nvPr/>
        </p:nvGraphicFramePr>
        <p:xfrm>
          <a:off x="0" y="260350"/>
          <a:ext cx="12192000" cy="3816350"/>
        </p:xfrm>
        <a:graphic>
          <a:graphicData uri="http://schemas.openxmlformats.org/presentationml/2006/ole">
            <mc:AlternateContent xmlns:mc="http://schemas.openxmlformats.org/markup-compatibility/2006">
              <mc:Choice xmlns:v="urn:schemas-microsoft-com:vml" Requires="v">
                <p:oleObj spid="_x0000_s438317" name="Image" r:id="rId2" imgW="5664200" imgH="3327400" progId="">
                  <p:embed/>
                </p:oleObj>
              </mc:Choice>
              <mc:Fallback>
                <p:oleObj name="Image" r:id="rId2" imgW="5664200" imgH="3327400" progId="">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60350"/>
                        <a:ext cx="12192000" cy="3816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4996" name="Rectangle 4"/>
          <p:cNvSpPr>
            <a:spLocks noGrp="1" noChangeArrowheads="1"/>
          </p:cNvSpPr>
          <p:nvPr>
            <p:ph type="ctrTitle" sz="quarter"/>
          </p:nvPr>
        </p:nvSpPr>
        <p:spPr bwMode="auto">
          <a:xfrm>
            <a:off x="476211" y="2214554"/>
            <a:ext cx="11334829" cy="781050"/>
          </a:xfrm>
          <a:prstGeom prst="rect">
            <a:avLst/>
          </a:prstGeom>
          <a:effectLst>
            <a:outerShdw dist="35921" dir="2700000" algn="ctr" rotWithShape="0">
              <a:schemeClr val="tx2"/>
            </a:outerShdw>
          </a:effectLst>
        </p:spPr>
        <p:txBody>
          <a:bodyPr/>
          <a:lstStyle>
            <a:lvl1pPr algn="ctr">
              <a:defRPr sz="4800">
                <a:latin typeface="宋体" panose="02010600030101010101" pitchFamily="2" charset="-122"/>
                <a:ea typeface="宋体" panose="02010600030101010101" pitchFamily="2" charset="-122"/>
              </a:defRPr>
            </a:lvl1pPr>
          </a:lstStyle>
          <a:p>
            <a:pPr lvl="0"/>
            <a:r>
              <a:rPr lang="zh-CN" altLang="en-US" noProof="0" dirty="0"/>
              <a:t>单击此处编辑母版标题样式</a:t>
            </a:r>
            <a:endParaRPr lang="zh-CN" altLang="en-US" noProof="0" dirty="0"/>
          </a:p>
        </p:txBody>
      </p:sp>
      <p:sp>
        <p:nvSpPr>
          <p:cNvPr id="8" name="Rectangle 6"/>
          <p:cNvSpPr>
            <a:spLocks noGrp="1" noChangeArrowheads="1"/>
          </p:cNvSpPr>
          <p:nvPr>
            <p:ph type="dt" sz="quarter" idx="10"/>
          </p:nvPr>
        </p:nvSpPr>
        <p:spPr bwMode="auto">
          <a:xfrm>
            <a:off x="609600" y="6672263"/>
            <a:ext cx="2844800" cy="16827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b="0" smtClean="0">
                <a:solidFill>
                  <a:srgbClr val="FEFEFE"/>
                </a:solidFill>
                <a:latin typeface="+mj-lt"/>
              </a:defRPr>
            </a:lvl1pPr>
          </a:lstStyle>
          <a:p>
            <a:pPr>
              <a:defRPr/>
            </a:pPr>
            <a:endParaRPr lang="en-US" altLang="zh-CN" dirty="0"/>
          </a:p>
        </p:txBody>
      </p:sp>
      <p:sp>
        <p:nvSpPr>
          <p:cNvPr id="9" name="Rectangle 8"/>
          <p:cNvSpPr>
            <a:spLocks noGrp="1" noChangeArrowheads="1"/>
          </p:cNvSpPr>
          <p:nvPr>
            <p:ph type="sldNum" sz="quarter" idx="11"/>
          </p:nvPr>
        </p:nvSpPr>
        <p:spPr>
          <a:xfrm>
            <a:off x="8737600" y="6526213"/>
            <a:ext cx="2829984" cy="215900"/>
          </a:xfrm>
        </p:spPr>
        <p:txBody>
          <a:bodyPr/>
          <a:lstStyle>
            <a:lvl1pPr>
              <a:defRPr smtClean="0">
                <a:solidFill>
                  <a:schemeClr val="accent2"/>
                </a:solidFill>
              </a:defRPr>
            </a:lvl1pPr>
          </a:lstStyle>
          <a:p>
            <a:pPr>
              <a:defRPr/>
            </a:pPr>
            <a:r>
              <a:rPr lang="en-US" altLang="zh-CN"/>
              <a:t>1</a:t>
            </a:r>
            <a:endParaRPr lang="en-US" altLang="zh-CN"/>
          </a:p>
        </p:txBody>
      </p:sp>
      <p:sp>
        <p:nvSpPr>
          <p:cNvPr id="12" name="Rectangle 3"/>
          <p:cNvSpPr>
            <a:spLocks noChangeArrowheads="1"/>
          </p:cNvSpPr>
          <p:nvPr userDrawn="1"/>
        </p:nvSpPr>
        <p:spPr bwMode="ltGray">
          <a:xfrm>
            <a:off x="0" y="6611938"/>
            <a:ext cx="12192000" cy="260350"/>
          </a:xfrm>
          <a:prstGeom prst="rect">
            <a:avLst/>
          </a:prstGeom>
          <a:gradFill rotWithShape="1">
            <a:gsLst>
              <a:gs pos="0">
                <a:schemeClr val="accent2">
                  <a:gamma/>
                  <a:shade val="46275"/>
                  <a:invGamma/>
                </a:schemeClr>
              </a:gs>
              <a:gs pos="50000">
                <a:schemeClr val="accent2"/>
              </a:gs>
              <a:gs pos="100000">
                <a:schemeClr val="accent2">
                  <a:gamma/>
                  <a:shade val="46275"/>
                  <a:invGamma/>
                </a:scheme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00"/>
          </a:p>
        </p:txBody>
      </p:sp>
    </p:spTree>
  </p:cSld>
  <p:clrMapOvr>
    <a:masterClrMapping/>
  </p:clrMapOvr>
  <p:transition spd="med">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标题和内容">
    <p:spTree>
      <p:nvGrpSpPr>
        <p:cNvPr id="1" name=""/>
        <p:cNvGrpSpPr/>
        <p:nvPr/>
      </p:nvGrpSpPr>
      <p:grpSpPr>
        <a:xfrm>
          <a:off x="0" y="0"/>
          <a:ext cx="0" cy="0"/>
          <a:chOff x="0" y="0"/>
          <a:chExt cx="0" cy="0"/>
        </a:xfrm>
      </p:grpSpPr>
      <p:graphicFrame>
        <p:nvGraphicFramePr>
          <p:cNvPr id="3" name="Object 3"/>
          <p:cNvGraphicFramePr>
            <a:graphicFrameLocks noChangeAspect="1"/>
          </p:cNvGraphicFramePr>
          <p:nvPr/>
        </p:nvGraphicFramePr>
        <p:xfrm>
          <a:off x="3312584" y="2354263"/>
          <a:ext cx="8879416" cy="4098925"/>
        </p:xfrm>
        <a:graphic>
          <a:graphicData uri="http://schemas.openxmlformats.org/presentationml/2006/ole">
            <mc:AlternateContent xmlns:mc="http://schemas.openxmlformats.org/markup-compatibility/2006">
              <mc:Choice xmlns:v="urn:schemas-microsoft-com:vml" Requires="v">
                <p:oleObj spid="_x0000_s270382" name="Image" r:id="rId2" imgW="5664200" imgH="3327400" progId="">
                  <p:embed/>
                </p:oleObj>
              </mc:Choice>
              <mc:Fallback>
                <p:oleObj name="Image" r:id="rId2" imgW="5664200" imgH="3327400" progId="">
                  <p:embed/>
                  <p:pic>
                    <p:nvPicPr>
                      <p:cNvPr id="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2584" y="2354263"/>
                        <a:ext cx="8879416" cy="409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 name="Rectangle 4"/>
          <p:cNvSpPr>
            <a:spLocks noChangeArrowheads="1"/>
          </p:cNvSpPr>
          <p:nvPr/>
        </p:nvSpPr>
        <p:spPr bwMode="ltGray">
          <a:xfrm>
            <a:off x="0" y="-1588"/>
            <a:ext cx="12192000" cy="838201"/>
          </a:xfrm>
          <a:prstGeom prst="rect">
            <a:avLst/>
          </a:prstGeom>
          <a:gradFill rotWithShape="1">
            <a:gsLst>
              <a:gs pos="0">
                <a:schemeClr val="tx1"/>
              </a:gs>
              <a:gs pos="100000">
                <a:schemeClr val="tx1">
                  <a:gamma/>
                  <a:shade val="46275"/>
                  <a:invGamma/>
                </a:schemeClr>
              </a:gs>
            </a:gsLst>
            <a:lin ang="5400000" scaled="1"/>
          </a:gradFill>
          <a:ln w="9525">
            <a:noFill/>
            <a:miter lim="800000"/>
          </a:ln>
          <a:effectLst/>
        </p:spPr>
        <p:txBody>
          <a:bodyPr wrap="none" anchor="ctr"/>
          <a:lstStyle/>
          <a:p>
            <a:pPr>
              <a:defRPr/>
            </a:pPr>
            <a:endParaRPr lang="zh-CN" altLang="en-US" sz="1800">
              <a:ea typeface="宋体" panose="02010600030101010101" pitchFamily="2" charset="-122"/>
            </a:endParaRPr>
          </a:p>
        </p:txBody>
      </p:sp>
      <p:sp>
        <p:nvSpPr>
          <p:cNvPr id="5" name="Rectangle 5"/>
          <p:cNvSpPr>
            <a:spLocks noChangeArrowheads="1"/>
          </p:cNvSpPr>
          <p:nvPr/>
        </p:nvSpPr>
        <p:spPr bwMode="ltGray">
          <a:xfrm flipV="1">
            <a:off x="0" y="844550"/>
            <a:ext cx="12192000" cy="8731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b="1">
                <a:solidFill>
                  <a:schemeClr val="tx1"/>
                </a:solidFill>
                <a:latin typeface="Tahoma" panose="020B0604030504040204" pitchFamily="34" charset="0"/>
                <a:ea typeface="宋体" panose="02010600030101010101" pitchFamily="2" charset="-122"/>
              </a:defRPr>
            </a:lvl1pPr>
            <a:lvl2pPr marL="742950" indent="-285750" eaLnBrk="0" hangingPunct="0">
              <a:defRPr b="1">
                <a:solidFill>
                  <a:schemeClr val="tx1"/>
                </a:solidFill>
                <a:latin typeface="Tahoma" panose="020B0604030504040204" pitchFamily="34" charset="0"/>
                <a:ea typeface="宋体" panose="02010600030101010101" pitchFamily="2" charset="-122"/>
              </a:defRPr>
            </a:lvl2pPr>
            <a:lvl3pPr marL="1143000" indent="-228600" eaLnBrk="0" hangingPunct="0">
              <a:defRPr b="1">
                <a:solidFill>
                  <a:schemeClr val="tx1"/>
                </a:solidFill>
                <a:latin typeface="Tahoma" panose="020B0604030504040204" pitchFamily="34" charset="0"/>
                <a:ea typeface="宋体" panose="02010600030101010101" pitchFamily="2" charset="-122"/>
              </a:defRPr>
            </a:lvl3pPr>
            <a:lvl4pPr marL="1600200" indent="-228600" eaLnBrk="0" hangingPunct="0">
              <a:defRPr b="1">
                <a:solidFill>
                  <a:schemeClr val="tx1"/>
                </a:solidFill>
                <a:latin typeface="Tahoma" panose="020B0604030504040204" pitchFamily="34" charset="0"/>
                <a:ea typeface="宋体" panose="02010600030101010101" pitchFamily="2" charset="-122"/>
              </a:defRPr>
            </a:lvl4pPr>
            <a:lvl5pPr marL="2057400" indent="-228600" eaLnBrk="0" hangingPunct="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sz="1800"/>
          </a:p>
        </p:txBody>
      </p:sp>
      <p:sp>
        <p:nvSpPr>
          <p:cNvPr id="6" name="Line 6"/>
          <p:cNvSpPr>
            <a:spLocks noChangeShapeType="1"/>
          </p:cNvSpPr>
          <p:nvPr/>
        </p:nvSpPr>
        <p:spPr bwMode="ltGray">
          <a:xfrm>
            <a:off x="0" y="876300"/>
            <a:ext cx="12192000" cy="0"/>
          </a:xfrm>
          <a:prstGeom prst="line">
            <a:avLst/>
          </a:prstGeom>
          <a:noFill/>
          <a:ln w="9525">
            <a:solidFill>
              <a:schemeClr val="bg1"/>
            </a:solidFill>
            <a:round/>
          </a:ln>
          <a:extLst>
            <a:ext uri="{909E8E84-426E-40DD-AFC4-6F175D3DCCD1}">
              <a14:hiddenFill xmlns:a14="http://schemas.microsoft.com/office/drawing/2010/main">
                <a:noFill/>
              </a14:hiddenFill>
            </a:ext>
          </a:extLst>
        </p:spPr>
        <p:txBody>
          <a:bodyPr/>
          <a:lstStyle/>
          <a:p>
            <a:endParaRPr lang="zh-CN" altLang="en-US" sz="1800"/>
          </a:p>
        </p:txBody>
      </p:sp>
      <p:sp>
        <p:nvSpPr>
          <p:cNvPr id="7" name="Rectangle 7"/>
          <p:cNvSpPr>
            <a:spLocks noChangeArrowheads="1"/>
          </p:cNvSpPr>
          <p:nvPr/>
        </p:nvSpPr>
        <p:spPr bwMode="ltGray">
          <a:xfrm>
            <a:off x="0" y="188913"/>
            <a:ext cx="12192000" cy="127000"/>
          </a:xfrm>
          <a:prstGeom prst="rect">
            <a:avLst/>
          </a:prstGeom>
          <a:gradFill rotWithShape="1">
            <a:gsLst>
              <a:gs pos="0">
                <a:schemeClr val="tx1"/>
              </a:gs>
              <a:gs pos="100000">
                <a:schemeClr val="tx1">
                  <a:gamma/>
                  <a:shade val="46275"/>
                  <a:invGamma/>
                </a:schemeClr>
              </a:gs>
            </a:gsLst>
            <a:lin ang="5400000" scaled="1"/>
          </a:gradFill>
          <a:ln w="9525">
            <a:solidFill>
              <a:schemeClr val="tx1"/>
            </a:solidFill>
            <a:miter lim="800000"/>
          </a:ln>
          <a:effectLst/>
        </p:spPr>
        <p:txBody>
          <a:bodyPr wrap="none" anchor="ctr"/>
          <a:lstStyle/>
          <a:p>
            <a:pPr>
              <a:defRPr/>
            </a:pPr>
            <a:endParaRPr lang="zh-CN" altLang="en-US" sz="1800">
              <a:ea typeface="宋体" panose="02010600030101010101" pitchFamily="2" charset="-122"/>
            </a:endParaRPr>
          </a:p>
        </p:txBody>
      </p:sp>
      <p:sp>
        <p:nvSpPr>
          <p:cNvPr id="8" name="Rectangle 8"/>
          <p:cNvSpPr>
            <a:spLocks noChangeArrowheads="1"/>
          </p:cNvSpPr>
          <p:nvPr/>
        </p:nvSpPr>
        <p:spPr bwMode="ltGray">
          <a:xfrm>
            <a:off x="0" y="350838"/>
            <a:ext cx="12192000" cy="69850"/>
          </a:xfrm>
          <a:prstGeom prst="rect">
            <a:avLst/>
          </a:prstGeom>
          <a:gradFill rotWithShape="1">
            <a:gsLst>
              <a:gs pos="0">
                <a:schemeClr val="tx1"/>
              </a:gs>
              <a:gs pos="100000">
                <a:schemeClr val="tx1">
                  <a:gamma/>
                  <a:shade val="46275"/>
                  <a:invGamma/>
                </a:schemeClr>
              </a:gs>
            </a:gsLst>
            <a:lin ang="5400000" scaled="1"/>
          </a:gradFill>
          <a:ln w="9525">
            <a:solidFill>
              <a:schemeClr val="tx1"/>
            </a:solidFill>
            <a:miter lim="800000"/>
          </a:ln>
          <a:effectLst/>
        </p:spPr>
        <p:txBody>
          <a:bodyPr wrap="none" anchor="ctr"/>
          <a:lstStyle/>
          <a:p>
            <a:pPr>
              <a:defRPr/>
            </a:pPr>
            <a:endParaRPr lang="zh-CN" altLang="en-US" sz="1800">
              <a:ea typeface="宋体" panose="02010600030101010101" pitchFamily="2" charset="-122"/>
            </a:endParaRPr>
          </a:p>
        </p:txBody>
      </p:sp>
      <p:pic>
        <p:nvPicPr>
          <p:cNvPr id="10" name="Picture 15"/>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1070167" y="876300"/>
            <a:ext cx="1121833" cy="32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标题 1"/>
          <p:cNvSpPr>
            <a:spLocks noGrp="1"/>
          </p:cNvSpPr>
          <p:nvPr>
            <p:ph type="title"/>
          </p:nvPr>
        </p:nvSpPr>
        <p:spPr>
          <a:xfrm>
            <a:off x="0" y="134938"/>
            <a:ext cx="12192000" cy="593725"/>
          </a:xfrm>
          <a:prstGeom prst="rect">
            <a:avLst/>
          </a:prstGeom>
        </p:spPr>
        <p:txBody>
          <a:bodyPr/>
          <a:lstStyle/>
          <a:p>
            <a:r>
              <a:rPr lang="zh-CN" altLang="en-US"/>
              <a:t>单击此处编辑母版标题样式</a:t>
            </a:r>
            <a:endParaRPr lang="zh-CN" altLang="en-US"/>
          </a:p>
        </p:txBody>
      </p:sp>
      <p:sp>
        <p:nvSpPr>
          <p:cNvPr id="11" name="灯片编号占位符 4"/>
          <p:cNvSpPr>
            <a:spLocks noGrp="1"/>
          </p:cNvSpPr>
          <p:nvPr>
            <p:ph type="sldNum" sz="quarter" idx="10"/>
          </p:nvPr>
        </p:nvSpPr>
        <p:spPr/>
        <p:txBody>
          <a:bodyPr/>
          <a:lstStyle>
            <a:lvl1pPr>
              <a:defRPr/>
            </a:lvl1pPr>
          </a:lstStyle>
          <a:p>
            <a:pPr>
              <a:defRPr/>
            </a:pPr>
            <a:endParaRPr lang="zh-CN" altLang="zh-CN"/>
          </a:p>
        </p:txBody>
      </p:sp>
      <p:sp>
        <p:nvSpPr>
          <p:cNvPr id="12" name="页脚占位符 5"/>
          <p:cNvSpPr>
            <a:spLocks noGrp="1"/>
          </p:cNvSpPr>
          <p:nvPr>
            <p:ph type="ftr" sz="quarter" idx="11"/>
          </p:nvPr>
        </p:nvSpPr>
        <p:spPr/>
        <p:txBody>
          <a:bodyPr/>
          <a:lstStyle>
            <a:lvl1pPr algn="l">
              <a:defRPr/>
            </a:lvl1pPr>
          </a:lstStyle>
          <a:p>
            <a:pPr>
              <a:defRPr/>
            </a:pPr>
            <a:fld id="{06B74915-6D50-478A-ACCB-CB5D49748FD1}" type="slidenum">
              <a:rPr lang="en-US" altLang="zh-CN" smtClean="0"/>
            </a:fld>
            <a:endParaRPr lang="en-US" altLang="zh-CN"/>
          </a:p>
        </p:txBody>
      </p:sp>
    </p:spTree>
  </p:cSld>
  <p:clrMapOvr>
    <a:masterClrMapping/>
  </p:clrMapOvr>
  <p:transition spd="med">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bg bwMode="gray">
      <p:bgPr>
        <a:solidFill>
          <a:schemeClr val="bg1"/>
        </a:solidFill>
        <a:effectLst/>
      </p:bgPr>
    </p:bg>
    <p:spTree>
      <p:nvGrpSpPr>
        <p:cNvPr id="1" name=""/>
        <p:cNvGrpSpPr/>
        <p:nvPr/>
      </p:nvGrpSpPr>
      <p:grpSpPr>
        <a:xfrm>
          <a:off x="0" y="0"/>
          <a:ext cx="0" cy="0"/>
          <a:chOff x="0" y="0"/>
          <a:chExt cx="0" cy="0"/>
        </a:xfrm>
      </p:grpSpPr>
      <p:graphicFrame>
        <p:nvGraphicFramePr>
          <p:cNvPr id="4" name="Object 2"/>
          <p:cNvGraphicFramePr>
            <a:graphicFrameLocks noChangeAspect="1"/>
          </p:cNvGraphicFramePr>
          <p:nvPr/>
        </p:nvGraphicFramePr>
        <p:xfrm>
          <a:off x="0" y="260350"/>
          <a:ext cx="12192000" cy="3816350"/>
        </p:xfrm>
        <a:graphic>
          <a:graphicData uri="http://schemas.openxmlformats.org/presentationml/2006/ole">
            <mc:AlternateContent xmlns:mc="http://schemas.openxmlformats.org/markup-compatibility/2006">
              <mc:Choice xmlns:v="urn:schemas-microsoft-com:vml" Requires="v">
                <p:oleObj spid="_x0000_s679976" name="Image" r:id="rId2" imgW="5664200" imgH="3327400" progId="">
                  <p:embed/>
                </p:oleObj>
              </mc:Choice>
              <mc:Fallback>
                <p:oleObj name="Image" r:id="rId2" imgW="5664200" imgH="3327400" progId="">
                  <p:embed/>
                  <p:pic>
                    <p:nvPicPr>
                      <p:cNvPr id="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60350"/>
                        <a:ext cx="12192000" cy="3816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4996" name="Rectangle 4"/>
          <p:cNvSpPr>
            <a:spLocks noGrp="1" noChangeArrowheads="1"/>
          </p:cNvSpPr>
          <p:nvPr>
            <p:ph type="ctrTitle" sz="quarter"/>
          </p:nvPr>
        </p:nvSpPr>
        <p:spPr bwMode="auto">
          <a:xfrm>
            <a:off x="476211" y="2214554"/>
            <a:ext cx="11334829" cy="781050"/>
          </a:xfrm>
          <a:effectLst>
            <a:outerShdw dist="35921" dir="2700000" algn="ctr" rotWithShape="0">
              <a:schemeClr val="tx2"/>
            </a:outerShdw>
          </a:effectLst>
        </p:spPr>
        <p:txBody>
          <a:bodyPr/>
          <a:lstStyle>
            <a:lvl1pPr algn="ctr">
              <a:defRPr sz="4800">
                <a:latin typeface="宋体" panose="02010600030101010101" pitchFamily="2" charset="-122"/>
                <a:ea typeface="宋体" panose="02010600030101010101" pitchFamily="2" charset="-122"/>
              </a:defRPr>
            </a:lvl1pPr>
          </a:lstStyle>
          <a:p>
            <a:pPr lvl="0"/>
            <a:r>
              <a:rPr lang="zh-CN" altLang="en-US" noProof="0" dirty="0"/>
              <a:t>单击此处编辑母版标题样式</a:t>
            </a:r>
            <a:endParaRPr lang="zh-CN" altLang="en-US" noProof="0" dirty="0"/>
          </a:p>
        </p:txBody>
      </p:sp>
      <p:sp>
        <p:nvSpPr>
          <p:cNvPr id="8" name="Rectangle 6"/>
          <p:cNvSpPr>
            <a:spLocks noGrp="1" noChangeArrowheads="1"/>
          </p:cNvSpPr>
          <p:nvPr>
            <p:ph type="dt" sz="quarter" idx="10"/>
          </p:nvPr>
        </p:nvSpPr>
        <p:spPr bwMode="auto">
          <a:xfrm>
            <a:off x="609600" y="6672263"/>
            <a:ext cx="2844800" cy="16827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b="0" smtClean="0">
                <a:solidFill>
                  <a:srgbClr val="FEFEFE"/>
                </a:solidFill>
                <a:latin typeface="+mj-lt"/>
              </a:defRPr>
            </a:lvl1pPr>
          </a:lstStyle>
          <a:p>
            <a:pPr>
              <a:defRPr/>
            </a:pPr>
            <a:endParaRPr lang="en-US" altLang="zh-CN" dirty="0"/>
          </a:p>
        </p:txBody>
      </p:sp>
      <p:sp>
        <p:nvSpPr>
          <p:cNvPr id="9" name="Rectangle 8"/>
          <p:cNvSpPr>
            <a:spLocks noGrp="1" noChangeArrowheads="1"/>
          </p:cNvSpPr>
          <p:nvPr>
            <p:ph type="sldNum" sz="quarter" idx="11"/>
          </p:nvPr>
        </p:nvSpPr>
        <p:spPr>
          <a:xfrm>
            <a:off x="8737600" y="6526213"/>
            <a:ext cx="2829984" cy="215900"/>
          </a:xfrm>
        </p:spPr>
        <p:txBody>
          <a:bodyPr/>
          <a:lstStyle>
            <a:lvl1pPr>
              <a:defRPr smtClean="0">
                <a:solidFill>
                  <a:schemeClr val="accent2"/>
                </a:solidFill>
              </a:defRPr>
            </a:lvl1pPr>
          </a:lstStyle>
          <a:p>
            <a:pPr>
              <a:defRPr/>
            </a:pPr>
            <a:r>
              <a:rPr lang="en-US" altLang="zh-CN"/>
              <a:t>1</a:t>
            </a:r>
            <a:endParaRPr lang="en-US" altLang="zh-CN"/>
          </a:p>
        </p:txBody>
      </p:sp>
      <p:sp>
        <p:nvSpPr>
          <p:cNvPr id="12" name="Rectangle 3"/>
          <p:cNvSpPr>
            <a:spLocks noChangeArrowheads="1"/>
          </p:cNvSpPr>
          <p:nvPr userDrawn="1"/>
        </p:nvSpPr>
        <p:spPr bwMode="ltGray">
          <a:xfrm>
            <a:off x="0" y="6611938"/>
            <a:ext cx="12192000" cy="260350"/>
          </a:xfrm>
          <a:prstGeom prst="rect">
            <a:avLst/>
          </a:prstGeom>
          <a:gradFill rotWithShape="1">
            <a:gsLst>
              <a:gs pos="0">
                <a:schemeClr val="accent2">
                  <a:gamma/>
                  <a:shade val="46275"/>
                  <a:invGamma/>
                </a:schemeClr>
              </a:gs>
              <a:gs pos="50000">
                <a:schemeClr val="accent2"/>
              </a:gs>
              <a:gs pos="100000">
                <a:schemeClr val="accent2">
                  <a:gamma/>
                  <a:shade val="46275"/>
                  <a:invGamma/>
                </a:scheme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800"/>
          </a:p>
        </p:txBody>
      </p:sp>
    </p:spTree>
  </p:cSld>
  <p:clrMapOvr>
    <a:masterClrMapping/>
  </p:clrMapOvr>
  <p:transition spd="med">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2"/>
          <p:cNvSpPr>
            <a:spLocks noGrp="1" noChangeArrowheads="1"/>
          </p:cNvSpPr>
          <p:nvPr>
            <p:ph type="sldNum" sz="quarter" idx="10"/>
          </p:nvPr>
        </p:nvSpPr>
        <p:spPr/>
        <p:txBody>
          <a:bodyPr/>
          <a:lstStyle>
            <a:lvl1pPr>
              <a:defRPr/>
            </a:lvl1pPr>
          </a:lstStyle>
          <a:p>
            <a:pPr>
              <a:defRPr/>
            </a:pPr>
            <a:endParaRPr lang="zh-CN" altLang="zh-CN"/>
          </a:p>
        </p:txBody>
      </p:sp>
      <p:sp>
        <p:nvSpPr>
          <p:cNvPr id="3" name="Rectangle 13"/>
          <p:cNvSpPr>
            <a:spLocks noGrp="1" noChangeArrowheads="1"/>
          </p:cNvSpPr>
          <p:nvPr>
            <p:ph type="ftr" sz="quarter" idx="11"/>
          </p:nvPr>
        </p:nvSpPr>
        <p:spPr/>
        <p:txBody>
          <a:bodyPr/>
          <a:lstStyle>
            <a:lvl1pPr>
              <a:defRPr/>
            </a:lvl1pPr>
          </a:lstStyle>
          <a:p>
            <a:pPr>
              <a:defRPr/>
            </a:pPr>
            <a:fld id="{78D15AC4-49AB-47DA-9188-CC51F4F1E32C}" type="slidenum">
              <a:rPr lang="en-US" altLang="zh-CN"/>
            </a:fld>
            <a:endParaRPr lang="en-US" altLang="zh-CN"/>
          </a:p>
        </p:txBody>
      </p:sp>
    </p:spTree>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image" Target="../media/image4.jpeg"/><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vmlDrawing" Target="../drawings/vmlDrawing5.vml"/><Relationship Id="rId8" Type="http://schemas.openxmlformats.org/officeDocument/2006/relationships/image" Target="../media/image2.png"/><Relationship Id="rId7" Type="http://schemas.openxmlformats.org/officeDocument/2006/relationships/oleObject" Target="../embeddings/oleObject5.bin"/><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 Id="rId3" Type="http://schemas.openxmlformats.org/officeDocument/2006/relationships/slideLayout" Target="../slideLayouts/slideLayout7.xml"/><Relationship Id="rId2" Type="http://schemas.openxmlformats.org/officeDocument/2006/relationships/slideLayout" Target="../slideLayouts/slideLayout6.xml"/><Relationship Id="rId10" Type="http://schemas.openxmlformats.org/officeDocument/2006/relationships/theme" Target="../theme/theme2.xml"/><Relationship Id="rId1"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6" Type="http://schemas.openxmlformats.org/officeDocument/2006/relationships/theme" Target="../theme/theme3.xml"/><Relationship Id="rId5" Type="http://schemas.openxmlformats.org/officeDocument/2006/relationships/image" Target="../media/image4.jpeg"/><Relationship Id="rId4" Type="http://schemas.openxmlformats.org/officeDocument/2006/relationships/slideLayout" Target="../slideLayouts/slideLayout14.xml"/><Relationship Id="rId3" Type="http://schemas.openxmlformats.org/officeDocument/2006/relationships/slideLayout" Target="../slideLayouts/slideLayout13.xml"/><Relationship Id="rId2" Type="http://schemas.openxmlformats.org/officeDocument/2006/relationships/slideLayout" Target="../slideLayouts/slideLayout12.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ltGray">
      <p:bgPr>
        <a:solidFill>
          <a:schemeClr val="bg1"/>
        </a:solidFill>
        <a:effectLst/>
      </p:bgPr>
    </p:bg>
    <p:spTree>
      <p:nvGrpSpPr>
        <p:cNvPr id="1" name=""/>
        <p:cNvGrpSpPr/>
        <p:nvPr/>
      </p:nvGrpSpPr>
      <p:grpSpPr>
        <a:xfrm>
          <a:off x="0" y="0"/>
          <a:ext cx="0" cy="0"/>
          <a:chOff x="0" y="0"/>
          <a:chExt cx="0" cy="0"/>
        </a:xfrm>
      </p:grpSpPr>
      <p:sp>
        <p:nvSpPr>
          <p:cNvPr id="135172" name="Rectangle 4"/>
          <p:cNvSpPr>
            <a:spLocks noChangeArrowheads="1"/>
          </p:cNvSpPr>
          <p:nvPr userDrawn="1"/>
        </p:nvSpPr>
        <p:spPr bwMode="ltGray">
          <a:xfrm>
            <a:off x="0" y="-1588"/>
            <a:ext cx="12192000" cy="838201"/>
          </a:xfrm>
          <a:prstGeom prst="rect">
            <a:avLst/>
          </a:prstGeom>
          <a:gradFill rotWithShape="1">
            <a:gsLst>
              <a:gs pos="0">
                <a:schemeClr val="tx1"/>
              </a:gs>
              <a:gs pos="100000">
                <a:schemeClr val="tx1">
                  <a:gamma/>
                  <a:shade val="46275"/>
                  <a:invGamma/>
                </a:schemeClr>
              </a:gs>
            </a:gsLst>
            <a:lin ang="5400000" scaled="1"/>
          </a:gradFill>
          <a:ln w="9525">
            <a:noFill/>
            <a:miter lim="800000"/>
          </a:ln>
          <a:effectLst/>
        </p:spPr>
        <p:txBody>
          <a:bodyPr wrap="none" anchor="ctr"/>
          <a:lstStyle/>
          <a:p>
            <a:pPr>
              <a:defRPr/>
            </a:pPr>
            <a:endParaRPr lang="zh-CN" altLang="en-US">
              <a:ea typeface="宋体" panose="02010600030101010101" pitchFamily="2" charset="-122"/>
            </a:endParaRPr>
          </a:p>
        </p:txBody>
      </p:sp>
      <p:sp>
        <p:nvSpPr>
          <p:cNvPr id="1029" name="Rectangle 5"/>
          <p:cNvSpPr>
            <a:spLocks noChangeArrowheads="1"/>
          </p:cNvSpPr>
          <p:nvPr/>
        </p:nvSpPr>
        <p:spPr bwMode="ltGray">
          <a:xfrm flipV="1">
            <a:off x="0" y="844550"/>
            <a:ext cx="12192000" cy="8731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b="1">
                <a:solidFill>
                  <a:schemeClr val="tx1"/>
                </a:solidFill>
                <a:latin typeface="Tahoma" panose="020B0604030504040204" pitchFamily="34" charset="0"/>
                <a:ea typeface="宋体" panose="02010600030101010101" pitchFamily="2" charset="-122"/>
              </a:defRPr>
            </a:lvl1pPr>
            <a:lvl2pPr marL="742950" indent="-285750" eaLnBrk="0" hangingPunct="0">
              <a:defRPr b="1">
                <a:solidFill>
                  <a:schemeClr val="tx1"/>
                </a:solidFill>
                <a:latin typeface="Tahoma" panose="020B0604030504040204" pitchFamily="34" charset="0"/>
                <a:ea typeface="宋体" panose="02010600030101010101" pitchFamily="2" charset="-122"/>
              </a:defRPr>
            </a:lvl2pPr>
            <a:lvl3pPr marL="1143000" indent="-228600" eaLnBrk="0" hangingPunct="0">
              <a:defRPr b="1">
                <a:solidFill>
                  <a:schemeClr val="tx1"/>
                </a:solidFill>
                <a:latin typeface="Tahoma" panose="020B0604030504040204" pitchFamily="34" charset="0"/>
                <a:ea typeface="宋体" panose="02010600030101010101" pitchFamily="2" charset="-122"/>
              </a:defRPr>
            </a:lvl3pPr>
            <a:lvl4pPr marL="1600200" indent="-228600" eaLnBrk="0" hangingPunct="0">
              <a:defRPr b="1">
                <a:solidFill>
                  <a:schemeClr val="tx1"/>
                </a:solidFill>
                <a:latin typeface="Tahoma" panose="020B0604030504040204" pitchFamily="34" charset="0"/>
                <a:ea typeface="宋体" panose="02010600030101010101" pitchFamily="2" charset="-122"/>
              </a:defRPr>
            </a:lvl4pPr>
            <a:lvl5pPr marL="2057400" indent="-228600" eaLnBrk="0" hangingPunct="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a:p>
        </p:txBody>
      </p:sp>
      <p:sp>
        <p:nvSpPr>
          <p:cNvPr id="1028" name="Line 6"/>
          <p:cNvSpPr>
            <a:spLocks noChangeShapeType="1"/>
          </p:cNvSpPr>
          <p:nvPr/>
        </p:nvSpPr>
        <p:spPr bwMode="ltGray">
          <a:xfrm>
            <a:off x="0" y="876300"/>
            <a:ext cx="12192000" cy="0"/>
          </a:xfrm>
          <a:prstGeom prst="line">
            <a:avLst/>
          </a:prstGeom>
          <a:noFill/>
          <a:ln w="9525">
            <a:solidFill>
              <a:schemeClr val="bg1"/>
            </a:solidFill>
            <a:round/>
          </a:ln>
          <a:extLst>
            <a:ext uri="{909E8E84-426E-40DD-AFC4-6F175D3DCCD1}">
              <a14:hiddenFill xmlns:a14="http://schemas.microsoft.com/office/drawing/2010/main">
                <a:noFill/>
              </a14:hiddenFill>
            </a:ext>
          </a:extLst>
        </p:spPr>
        <p:txBody>
          <a:bodyPr/>
          <a:lstStyle/>
          <a:p>
            <a:endParaRPr lang="zh-CN" altLang="en-US"/>
          </a:p>
        </p:txBody>
      </p:sp>
      <p:sp>
        <p:nvSpPr>
          <p:cNvPr id="135175" name="Rectangle 7"/>
          <p:cNvSpPr>
            <a:spLocks noChangeArrowheads="1"/>
          </p:cNvSpPr>
          <p:nvPr userDrawn="1"/>
        </p:nvSpPr>
        <p:spPr bwMode="ltGray">
          <a:xfrm>
            <a:off x="0" y="188913"/>
            <a:ext cx="12192000" cy="127000"/>
          </a:xfrm>
          <a:prstGeom prst="rect">
            <a:avLst/>
          </a:prstGeom>
          <a:gradFill rotWithShape="1">
            <a:gsLst>
              <a:gs pos="0">
                <a:schemeClr val="tx1"/>
              </a:gs>
              <a:gs pos="100000">
                <a:schemeClr val="tx1">
                  <a:gamma/>
                  <a:shade val="46275"/>
                  <a:invGamma/>
                </a:schemeClr>
              </a:gs>
            </a:gsLst>
            <a:lin ang="5400000" scaled="1"/>
          </a:gradFill>
          <a:ln w="9525">
            <a:solidFill>
              <a:schemeClr val="tx1"/>
            </a:solidFill>
            <a:miter lim="800000"/>
          </a:ln>
          <a:effectLst/>
        </p:spPr>
        <p:txBody>
          <a:bodyPr wrap="none" anchor="ctr"/>
          <a:lstStyle/>
          <a:p>
            <a:pPr>
              <a:defRPr/>
            </a:pPr>
            <a:endParaRPr lang="zh-CN" altLang="en-US">
              <a:ea typeface="宋体" panose="02010600030101010101" pitchFamily="2" charset="-122"/>
            </a:endParaRPr>
          </a:p>
        </p:txBody>
      </p:sp>
      <p:sp>
        <p:nvSpPr>
          <p:cNvPr id="135176" name="Rectangle 8"/>
          <p:cNvSpPr>
            <a:spLocks noChangeArrowheads="1"/>
          </p:cNvSpPr>
          <p:nvPr userDrawn="1"/>
        </p:nvSpPr>
        <p:spPr bwMode="ltGray">
          <a:xfrm>
            <a:off x="0" y="350838"/>
            <a:ext cx="12192000" cy="69850"/>
          </a:xfrm>
          <a:prstGeom prst="rect">
            <a:avLst/>
          </a:prstGeom>
          <a:gradFill rotWithShape="1">
            <a:gsLst>
              <a:gs pos="0">
                <a:schemeClr val="tx1"/>
              </a:gs>
              <a:gs pos="100000">
                <a:schemeClr val="tx1">
                  <a:gamma/>
                  <a:shade val="46275"/>
                  <a:invGamma/>
                </a:schemeClr>
              </a:gs>
            </a:gsLst>
            <a:lin ang="5400000" scaled="1"/>
          </a:gradFill>
          <a:ln w="9525">
            <a:solidFill>
              <a:schemeClr val="tx1"/>
            </a:solidFill>
            <a:miter lim="800000"/>
          </a:ln>
          <a:effectLst/>
        </p:spPr>
        <p:txBody>
          <a:bodyPr wrap="none" anchor="ctr"/>
          <a:lstStyle/>
          <a:p>
            <a:pPr>
              <a:defRPr/>
            </a:pPr>
            <a:endParaRPr lang="zh-CN" altLang="en-US">
              <a:ea typeface="宋体" panose="02010600030101010101" pitchFamily="2" charset="-122"/>
            </a:endParaRPr>
          </a:p>
        </p:txBody>
      </p:sp>
      <p:sp>
        <p:nvSpPr>
          <p:cNvPr id="135180" name="Rectangle 12"/>
          <p:cNvSpPr>
            <a:spLocks noGrp="1" noChangeArrowheads="1"/>
          </p:cNvSpPr>
          <p:nvPr>
            <p:ph type="sldNum" sz="quarter" idx="4"/>
          </p:nvPr>
        </p:nvSpPr>
        <p:spPr bwMode="auto">
          <a:xfrm>
            <a:off x="5791200" y="6381750"/>
            <a:ext cx="1648884" cy="215900"/>
          </a:xfrm>
          <a:prstGeom prst="rect">
            <a:avLst/>
          </a:prstGeom>
          <a:noFill/>
          <a:ln w="9525">
            <a:noFill/>
            <a:miter lim="800000"/>
          </a:ln>
          <a:effectLst/>
        </p:spPr>
        <p:txBody>
          <a:bodyPr vert="horz" wrap="square" lIns="91440" tIns="45720" rIns="91440" bIns="45720" numCol="1" anchor="t" anchorCtr="0" compatLnSpc="1"/>
          <a:lstStyle>
            <a:lvl1pPr algn="r">
              <a:defRPr sz="1400" b="0">
                <a:latin typeface="Arial" panose="020B0604020202020204" pitchFamily="34" charset="0"/>
                <a:ea typeface="宋体" panose="02010600030101010101" pitchFamily="2" charset="-122"/>
              </a:defRPr>
            </a:lvl1pPr>
          </a:lstStyle>
          <a:p>
            <a:pPr>
              <a:defRPr/>
            </a:pPr>
            <a:endParaRPr lang="zh-CN" altLang="zh-CN"/>
          </a:p>
        </p:txBody>
      </p:sp>
      <p:sp>
        <p:nvSpPr>
          <p:cNvPr id="135181" name="Rectangle 13"/>
          <p:cNvSpPr>
            <a:spLocks noGrp="1" noChangeArrowheads="1"/>
          </p:cNvSpPr>
          <p:nvPr>
            <p:ph type="ftr" sz="quarter" idx="3"/>
          </p:nvPr>
        </p:nvSpPr>
        <p:spPr bwMode="auto">
          <a:xfrm>
            <a:off x="29104" y="6525344"/>
            <a:ext cx="1458384" cy="360363"/>
          </a:xfrm>
          <a:prstGeom prst="rect">
            <a:avLst/>
          </a:prstGeom>
          <a:noFill/>
          <a:ln w="9525">
            <a:noFill/>
            <a:miter lim="800000"/>
          </a:ln>
          <a:effectLst/>
        </p:spPr>
        <p:txBody>
          <a:bodyPr vert="horz" wrap="square" lIns="91440" tIns="45720" rIns="91440" bIns="45720" numCol="1" anchor="t" anchorCtr="0" compatLnSpc="1"/>
          <a:lstStyle>
            <a:lvl1pPr algn="l">
              <a:defRPr sz="1400" b="0">
                <a:solidFill>
                  <a:srgbClr val="993300"/>
                </a:solidFill>
                <a:latin typeface="Arial" panose="020B0604020202020204" pitchFamily="34" charset="0"/>
                <a:ea typeface="宋体" panose="02010600030101010101" pitchFamily="2" charset="-122"/>
              </a:defRPr>
            </a:lvl1pPr>
          </a:lstStyle>
          <a:p>
            <a:pPr>
              <a:defRPr/>
            </a:pPr>
            <a:fld id="{33B6A627-191B-48D3-B5B5-AB8818109214}" type="slidenum">
              <a:rPr lang="en-US" altLang="zh-CN" smtClean="0"/>
            </a:fld>
            <a:endParaRPr lang="en-US" altLang="zh-CN"/>
          </a:p>
        </p:txBody>
      </p:sp>
      <p:grpSp>
        <p:nvGrpSpPr>
          <p:cNvPr id="13" name="Group 15"/>
          <p:cNvGrpSpPr>
            <a:grpSpLocks noChangeAspect="1"/>
          </p:cNvGrpSpPr>
          <p:nvPr userDrawn="1"/>
        </p:nvGrpSpPr>
        <p:grpSpPr bwMode="auto">
          <a:xfrm>
            <a:off x="48684" y="66675"/>
            <a:ext cx="958849" cy="720725"/>
            <a:chOff x="520" y="1404"/>
            <a:chExt cx="837" cy="839"/>
          </a:xfrm>
        </p:grpSpPr>
        <p:sp>
          <p:nvSpPr>
            <p:cNvPr id="14" name="Oval 16"/>
            <p:cNvSpPr>
              <a:spLocks noChangeAspect="1" noChangeArrowheads="1"/>
            </p:cNvSpPr>
            <p:nvPr/>
          </p:nvSpPr>
          <p:spPr bwMode="auto">
            <a:xfrm>
              <a:off x="557" y="1433"/>
              <a:ext cx="771" cy="771"/>
            </a:xfrm>
            <a:prstGeom prst="ellipse">
              <a:avLst/>
            </a:prstGeom>
            <a:solidFill>
              <a:schemeClr val="bg1"/>
            </a:solidFill>
            <a:ln>
              <a:noFill/>
            </a:ln>
            <a:effectLst/>
            <a:extLst>
              <a:ext uri="{91240B29-F687-4F45-9708-019B960494DF}">
                <a14:hiddenLine xmlns:a14="http://schemas.microsoft.com/office/drawing/2010/main" w="9525">
                  <a:solidFill>
                    <a:schemeClr val="accent2"/>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b="1">
                  <a:solidFill>
                    <a:schemeClr val="tx1"/>
                  </a:solidFill>
                  <a:latin typeface="Tahoma" panose="020B0604030504040204" pitchFamily="34" charset="0"/>
                  <a:ea typeface="宋体" panose="02010600030101010101" pitchFamily="2" charset="-122"/>
                </a:defRPr>
              </a:lvl1pPr>
              <a:lvl2pPr marL="742950" indent="-285750" eaLnBrk="0" hangingPunct="0">
                <a:defRPr b="1">
                  <a:solidFill>
                    <a:schemeClr val="tx1"/>
                  </a:solidFill>
                  <a:latin typeface="Tahoma" panose="020B0604030504040204" pitchFamily="34" charset="0"/>
                  <a:ea typeface="宋体" panose="02010600030101010101" pitchFamily="2" charset="-122"/>
                </a:defRPr>
              </a:lvl2pPr>
              <a:lvl3pPr marL="1143000" indent="-228600" eaLnBrk="0" hangingPunct="0">
                <a:defRPr b="1">
                  <a:solidFill>
                    <a:schemeClr val="tx1"/>
                  </a:solidFill>
                  <a:latin typeface="Tahoma" panose="020B0604030504040204" pitchFamily="34" charset="0"/>
                  <a:ea typeface="宋体" panose="02010600030101010101" pitchFamily="2" charset="-122"/>
                </a:defRPr>
              </a:lvl3pPr>
              <a:lvl4pPr marL="1600200" indent="-228600" eaLnBrk="0" hangingPunct="0">
                <a:defRPr b="1">
                  <a:solidFill>
                    <a:schemeClr val="tx1"/>
                  </a:solidFill>
                  <a:latin typeface="Tahoma" panose="020B0604030504040204" pitchFamily="34" charset="0"/>
                  <a:ea typeface="宋体" panose="02010600030101010101" pitchFamily="2" charset="-122"/>
                </a:defRPr>
              </a:lvl4pPr>
              <a:lvl5pPr marL="2057400" indent="-228600" eaLnBrk="0" hangingPunct="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pic>
          <p:nvPicPr>
            <p:cNvPr id="15" name="Picture 17" descr="A1-2 校徽"/>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3676" t="3926" r="4300" b="3751"/>
            <a:stretch>
              <a:fillRect/>
            </a:stretch>
          </p:blipFill>
          <p:spPr bwMode="auto">
            <a:xfrm>
              <a:off x="520" y="1404"/>
              <a:ext cx="837" cy="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33CC"/>
                  </a:solidFill>
                  <a:miter lim="800000"/>
                  <a:headEnd/>
                  <a:tailEnd/>
                </a14:hiddenLine>
              </a:ext>
            </a:extLst>
          </p:spPr>
        </p:pic>
      </p:grpSp>
      <p:sp>
        <p:nvSpPr>
          <p:cNvPr id="16" name="Rectangle 2"/>
          <p:cNvSpPr>
            <a:spLocks noChangeArrowheads="1"/>
          </p:cNvSpPr>
          <p:nvPr userDrawn="1"/>
        </p:nvSpPr>
        <p:spPr bwMode="ltGray">
          <a:xfrm>
            <a:off x="10272043" y="927100"/>
            <a:ext cx="1920000" cy="198438"/>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54000" anchor="ctr"/>
          <a:lstStyle>
            <a:lvl1pPr eaLnBrk="0" hangingPunct="0">
              <a:defRPr b="1">
                <a:solidFill>
                  <a:schemeClr val="tx1"/>
                </a:solidFill>
                <a:latin typeface="Tahoma" panose="020B0604030504040204" pitchFamily="34" charset="0"/>
                <a:ea typeface="宋体" panose="02010600030101010101" pitchFamily="2" charset="-122"/>
              </a:defRPr>
            </a:lvl1pPr>
            <a:lvl2pPr marL="742950" indent="-285750" eaLnBrk="0" hangingPunct="0">
              <a:defRPr b="1">
                <a:solidFill>
                  <a:schemeClr val="tx1"/>
                </a:solidFill>
                <a:latin typeface="Tahoma" panose="020B0604030504040204" pitchFamily="34" charset="0"/>
                <a:ea typeface="宋体" panose="02010600030101010101" pitchFamily="2" charset="-122"/>
              </a:defRPr>
            </a:lvl2pPr>
            <a:lvl3pPr marL="1143000" indent="-228600" eaLnBrk="0" hangingPunct="0">
              <a:defRPr b="1">
                <a:solidFill>
                  <a:schemeClr val="tx1"/>
                </a:solidFill>
                <a:latin typeface="Tahoma" panose="020B0604030504040204" pitchFamily="34" charset="0"/>
                <a:ea typeface="宋体" panose="02010600030101010101" pitchFamily="2" charset="-122"/>
              </a:defRPr>
            </a:lvl3pPr>
            <a:lvl4pPr marL="1600200" indent="-228600" eaLnBrk="0" hangingPunct="0">
              <a:defRPr b="1">
                <a:solidFill>
                  <a:schemeClr val="tx1"/>
                </a:solidFill>
                <a:latin typeface="Tahoma" panose="020B0604030504040204" pitchFamily="34" charset="0"/>
                <a:ea typeface="宋体" panose="02010600030101010101" pitchFamily="2" charset="-122"/>
              </a:defRPr>
            </a:lvl4pPr>
            <a:lvl5pPr marL="2057400" indent="-228600" eaLnBrk="0" hangingPunct="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200" dirty="0">
                <a:solidFill>
                  <a:schemeClr val="bg1"/>
                </a:solidFill>
              </a:rPr>
              <a:t>海洋地理信息系统</a:t>
            </a:r>
            <a:endParaRPr lang="zh-CN" altLang="en-US" dirty="0"/>
          </a:p>
        </p:txBody>
      </p:sp>
      <p:sp>
        <p:nvSpPr>
          <p:cNvPr id="17" name="Rectangle 10"/>
          <p:cNvSpPr txBox="1">
            <a:spLocks noChangeArrowheads="1"/>
          </p:cNvSpPr>
          <p:nvPr userDrawn="1"/>
        </p:nvSpPr>
        <p:spPr bwMode="auto">
          <a:xfrm>
            <a:off x="711200" y="1152000"/>
            <a:ext cx="10944000" cy="504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360045" marR="0" lvl="0" indent="-323850" algn="l" defTabSz="914400" rtl="0" eaLnBrk="0" fontAlgn="base" latinLnBrk="0" hangingPunct="0">
              <a:lnSpc>
                <a:spcPct val="100000"/>
              </a:lnSpc>
              <a:spcBef>
                <a:spcPts val="600"/>
              </a:spcBef>
              <a:spcAft>
                <a:spcPts val="600"/>
              </a:spcAft>
              <a:buClr>
                <a:schemeClr val="accent1"/>
              </a:buClr>
              <a:buSzTx/>
              <a:buFont typeface="Wingdings" panose="05000000000000000000" pitchFamily="2" charset="2"/>
              <a:buChar char="Ü"/>
              <a:defRPr/>
            </a:pPr>
            <a:r>
              <a:rPr lang="zh-CN" altLang="en-US" sz="2800" b="1" noProof="0" dirty="0">
                <a:solidFill>
                  <a:schemeClr val="accent1"/>
                </a:solidFill>
                <a:latin typeface="+mn-lt"/>
                <a:ea typeface="+mn-ea"/>
                <a:cs typeface="+mn-cs"/>
              </a:rPr>
              <a:t>单击此处编辑母版文本样式</a:t>
            </a:r>
            <a:endParaRPr lang="zh-CN" altLang="en-US" sz="2800" b="1" noProof="0" dirty="0">
              <a:solidFill>
                <a:schemeClr val="accent1"/>
              </a:solidFill>
              <a:latin typeface="+mn-lt"/>
              <a:ea typeface="+mn-ea"/>
              <a:cs typeface="+mn-cs"/>
            </a:endParaRPr>
          </a:p>
          <a:p>
            <a:pPr marL="720090" marR="0" lvl="1" indent="-323850" algn="l" defTabSz="914400" rtl="0" eaLnBrk="0" fontAlgn="base" latinLnBrk="0" hangingPunct="0">
              <a:lnSpc>
                <a:spcPct val="120000"/>
              </a:lnSpc>
              <a:spcBef>
                <a:spcPts val="600"/>
              </a:spcBef>
              <a:spcAft>
                <a:spcPts val="600"/>
              </a:spcAft>
              <a:buClr>
                <a:srgbClr val="FF33CC"/>
              </a:buClr>
              <a:buSzTx/>
              <a:buFont typeface="Wingdings" panose="05000000000000000000" pitchFamily="2" charset="2"/>
              <a:buChar char="u"/>
              <a:defRPr/>
            </a:pPr>
            <a:r>
              <a:rPr lang="zh-CN" altLang="en-US" sz="2400" b="1" noProof="0" dirty="0">
                <a:solidFill>
                  <a:schemeClr val="tx2"/>
                </a:solidFill>
                <a:latin typeface="+mj-lt"/>
                <a:ea typeface="宋体" panose="02010600030101010101" pitchFamily="2" charset="-122"/>
              </a:rPr>
              <a:t>第二级</a:t>
            </a:r>
            <a:endParaRPr lang="zh-CN" altLang="en-US" sz="2400" b="1" noProof="0" dirty="0">
              <a:solidFill>
                <a:schemeClr val="tx2"/>
              </a:solidFill>
              <a:latin typeface="+mj-lt"/>
              <a:ea typeface="宋体" panose="02010600030101010101" pitchFamily="2" charset="-122"/>
            </a:endParaRPr>
          </a:p>
          <a:p>
            <a:pPr marL="972185" marR="0" lvl="2" indent="-215900" algn="l" defTabSz="914400" rtl="0" eaLnBrk="0" fontAlgn="base" latinLnBrk="0" hangingPunct="0">
              <a:lnSpc>
                <a:spcPct val="120000"/>
              </a:lnSpc>
              <a:spcBef>
                <a:spcPct val="0"/>
              </a:spcBef>
              <a:spcAft>
                <a:spcPts val="600"/>
              </a:spcAft>
              <a:buClr>
                <a:srgbClr val="FF33CC"/>
              </a:buClr>
              <a:buSzTx/>
              <a:buFont typeface="Wingdings" panose="05000000000000000000" pitchFamily="2" charset="2"/>
              <a:buChar char="u"/>
              <a:defRPr/>
            </a:pPr>
            <a:r>
              <a:rPr lang="zh-CN" altLang="en-US" sz="2400" b="1" noProof="0" dirty="0">
                <a:solidFill>
                  <a:schemeClr val="tx2"/>
                </a:solidFill>
                <a:latin typeface="+mj-lt"/>
                <a:ea typeface="宋体" panose="02010600030101010101" pitchFamily="2" charset="-122"/>
              </a:rPr>
              <a:t>第三级</a:t>
            </a:r>
            <a:endParaRPr lang="zh-CN" altLang="en-US" sz="2400" b="1" noProof="0" dirty="0">
              <a:solidFill>
                <a:schemeClr val="tx2"/>
              </a:solidFill>
              <a:latin typeface="+mj-lt"/>
              <a:ea typeface="宋体" panose="02010600030101010101" pitchFamily="2" charset="-122"/>
            </a:endParaRPr>
          </a:p>
          <a:p>
            <a:pPr marL="1332230" marR="0" lvl="3" indent="-215900" algn="l" defTabSz="914400" rtl="0" eaLnBrk="0" fontAlgn="base" latinLnBrk="0" hangingPunct="0">
              <a:lnSpc>
                <a:spcPct val="120000"/>
              </a:lnSpc>
              <a:spcBef>
                <a:spcPct val="0"/>
              </a:spcBef>
              <a:spcAft>
                <a:spcPts val="600"/>
              </a:spcAft>
              <a:buClr>
                <a:srgbClr val="FF33CC"/>
              </a:buClr>
              <a:buSzTx/>
              <a:buFont typeface="Wingdings" panose="05000000000000000000" pitchFamily="2" charset="2"/>
              <a:buChar char="u"/>
              <a:defRPr/>
            </a:pPr>
            <a:r>
              <a:rPr lang="zh-CN" altLang="en-US" sz="2000" b="1" noProof="0" dirty="0">
                <a:solidFill>
                  <a:schemeClr val="tx2"/>
                </a:solidFill>
                <a:latin typeface="+mj-lt"/>
                <a:ea typeface="宋体" panose="02010600030101010101" pitchFamily="2" charset="-122"/>
              </a:rPr>
              <a:t>第四级</a:t>
            </a:r>
            <a:endParaRPr lang="zh-CN" altLang="en-US" sz="2000" b="1" noProof="0" dirty="0">
              <a:solidFill>
                <a:schemeClr val="tx2"/>
              </a:solidFill>
              <a:latin typeface="+mj-lt"/>
              <a:ea typeface="宋体" panose="02010600030101010101" pitchFamily="2" charset="-122"/>
            </a:endParaRPr>
          </a:p>
          <a:p>
            <a:pPr marL="1619885" marR="0" lvl="4" indent="-215900" algn="l" defTabSz="914400" rtl="0" eaLnBrk="0" fontAlgn="base" latinLnBrk="0" hangingPunct="0">
              <a:lnSpc>
                <a:spcPct val="120000"/>
              </a:lnSpc>
              <a:spcBef>
                <a:spcPct val="0"/>
              </a:spcBef>
              <a:spcAft>
                <a:spcPts val="600"/>
              </a:spcAft>
              <a:buClr>
                <a:srgbClr val="FF33CC"/>
              </a:buClr>
              <a:buSzTx/>
              <a:buFont typeface="Wingdings" panose="05000000000000000000" pitchFamily="2" charset="2"/>
              <a:buChar char="u"/>
              <a:defRPr/>
            </a:pPr>
            <a:r>
              <a:rPr lang="zh-CN" altLang="en-US" sz="2000" b="1" noProof="0" dirty="0">
                <a:solidFill>
                  <a:schemeClr val="tx2"/>
                </a:solidFill>
                <a:latin typeface="+mj-lt"/>
                <a:ea typeface="宋体" panose="02010600030101010101" pitchFamily="2" charset="-122"/>
              </a:rPr>
              <a:t>第五级</a:t>
            </a:r>
            <a:endParaRPr lang="zh-CN" altLang="en-US" sz="2000" b="1" noProof="0" dirty="0">
              <a:solidFill>
                <a:schemeClr val="tx2"/>
              </a:solidFill>
              <a:latin typeface="+mj-lt"/>
              <a:ea typeface="宋体" panose="02010600030101010101" pitchFamily="2" charset="-122"/>
            </a:endParaRPr>
          </a:p>
        </p:txBody>
      </p:sp>
      <p:sp>
        <p:nvSpPr>
          <p:cNvPr id="22" name="Rectangle 9"/>
          <p:cNvSpPr>
            <a:spLocks noGrp="1" noChangeArrowheads="1"/>
          </p:cNvSpPr>
          <p:nvPr>
            <p:ph type="title"/>
          </p:nvPr>
        </p:nvSpPr>
        <p:spPr bwMode="white">
          <a:xfrm>
            <a:off x="0" y="134938"/>
            <a:ext cx="12192000"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lgn="ctr" rtl="0" eaLnBrk="0" fontAlgn="base" hangingPunct="0">
              <a:spcBef>
                <a:spcPct val="0"/>
              </a:spcBef>
              <a:spcAft>
                <a:spcPct val="0"/>
              </a:spcAft>
            </a:pPr>
            <a:r>
              <a:rPr lang="zh-CN" altLang="en-US" dirty="0"/>
              <a:t>单击此处编辑母版标题样式</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spd="med">
    <p:wipe dir="r"/>
  </p:transition>
  <p:hf sldNum="0" hdr="0"/>
  <p:txStyles>
    <p:titleStyle>
      <a:lvl1pPr algn="ctr" rtl="0" eaLnBrk="0" fontAlgn="base" hangingPunct="0">
        <a:spcBef>
          <a:spcPct val="0"/>
        </a:spcBef>
        <a:spcAft>
          <a:spcPct val="0"/>
        </a:spcAft>
        <a:defRPr lang="zh-CN" altLang="en-US" sz="3200" b="1" dirty="0" smtClean="0">
          <a:solidFill>
            <a:schemeClr val="bg1"/>
          </a:solidFill>
          <a:latin typeface="+mj-lt"/>
          <a:ea typeface="+mj-ea"/>
          <a:cs typeface="+mj-cs"/>
        </a:defRPr>
      </a:lvl1pPr>
      <a:lvl2pPr algn="ctr" rtl="0" eaLnBrk="0" fontAlgn="base" hangingPunct="0">
        <a:spcBef>
          <a:spcPct val="0"/>
        </a:spcBef>
        <a:spcAft>
          <a:spcPct val="0"/>
        </a:spcAft>
        <a:defRPr sz="3200" b="1">
          <a:solidFill>
            <a:schemeClr val="bg1"/>
          </a:solidFill>
          <a:latin typeface="宋体" panose="02010600030101010101" pitchFamily="2" charset="-122"/>
          <a:ea typeface="宋体" panose="02010600030101010101" pitchFamily="2" charset="-122"/>
        </a:defRPr>
      </a:lvl2pPr>
      <a:lvl3pPr algn="ctr" rtl="0" eaLnBrk="0" fontAlgn="base" hangingPunct="0">
        <a:spcBef>
          <a:spcPct val="0"/>
        </a:spcBef>
        <a:spcAft>
          <a:spcPct val="0"/>
        </a:spcAft>
        <a:defRPr sz="3200" b="1">
          <a:solidFill>
            <a:schemeClr val="bg1"/>
          </a:solidFill>
          <a:latin typeface="宋体" panose="02010600030101010101" pitchFamily="2" charset="-122"/>
          <a:ea typeface="宋体" panose="02010600030101010101" pitchFamily="2" charset="-122"/>
        </a:defRPr>
      </a:lvl3pPr>
      <a:lvl4pPr algn="ctr" rtl="0" eaLnBrk="0" fontAlgn="base" hangingPunct="0">
        <a:spcBef>
          <a:spcPct val="0"/>
        </a:spcBef>
        <a:spcAft>
          <a:spcPct val="0"/>
        </a:spcAft>
        <a:defRPr sz="3200" b="1">
          <a:solidFill>
            <a:schemeClr val="bg1"/>
          </a:solidFill>
          <a:latin typeface="宋体" panose="02010600030101010101" pitchFamily="2" charset="-122"/>
          <a:ea typeface="宋体" panose="02010600030101010101" pitchFamily="2" charset="-122"/>
        </a:defRPr>
      </a:lvl4pPr>
      <a:lvl5pPr algn="ctr" rtl="0" eaLnBrk="0" fontAlgn="base" hangingPunct="0">
        <a:spcBef>
          <a:spcPct val="0"/>
        </a:spcBef>
        <a:spcAft>
          <a:spcPct val="0"/>
        </a:spcAft>
        <a:defRPr sz="3200" b="1">
          <a:solidFill>
            <a:schemeClr val="bg1"/>
          </a:solidFill>
          <a:latin typeface="宋体" panose="02010600030101010101" pitchFamily="2" charset="-122"/>
          <a:ea typeface="宋体" panose="02010600030101010101" pitchFamily="2" charset="-122"/>
        </a:defRPr>
      </a:lvl5pPr>
      <a:lvl6pPr marL="457200" algn="ctr" rtl="0" fontAlgn="base">
        <a:spcBef>
          <a:spcPct val="0"/>
        </a:spcBef>
        <a:spcAft>
          <a:spcPct val="0"/>
        </a:spcAft>
        <a:defRPr sz="3200" b="1">
          <a:solidFill>
            <a:schemeClr val="bg1"/>
          </a:solidFill>
          <a:latin typeface="宋体" panose="02010600030101010101" pitchFamily="2" charset="-122"/>
          <a:ea typeface="宋体" panose="02010600030101010101" pitchFamily="2" charset="-122"/>
        </a:defRPr>
      </a:lvl6pPr>
      <a:lvl7pPr marL="914400" algn="ctr" rtl="0" fontAlgn="base">
        <a:spcBef>
          <a:spcPct val="0"/>
        </a:spcBef>
        <a:spcAft>
          <a:spcPct val="0"/>
        </a:spcAft>
        <a:defRPr sz="3200" b="1">
          <a:solidFill>
            <a:schemeClr val="bg1"/>
          </a:solidFill>
          <a:latin typeface="宋体" panose="02010600030101010101" pitchFamily="2" charset="-122"/>
          <a:ea typeface="宋体" panose="02010600030101010101" pitchFamily="2" charset="-122"/>
        </a:defRPr>
      </a:lvl7pPr>
      <a:lvl8pPr marL="1371600" algn="ctr" rtl="0" fontAlgn="base">
        <a:spcBef>
          <a:spcPct val="0"/>
        </a:spcBef>
        <a:spcAft>
          <a:spcPct val="0"/>
        </a:spcAft>
        <a:defRPr sz="3200" b="1">
          <a:solidFill>
            <a:schemeClr val="bg1"/>
          </a:solidFill>
          <a:latin typeface="宋体" panose="02010600030101010101" pitchFamily="2" charset="-122"/>
          <a:ea typeface="宋体" panose="02010600030101010101" pitchFamily="2" charset="-122"/>
        </a:defRPr>
      </a:lvl8pPr>
      <a:lvl9pPr marL="1828800" algn="ctr" rtl="0" fontAlgn="base">
        <a:spcBef>
          <a:spcPct val="0"/>
        </a:spcBef>
        <a:spcAft>
          <a:spcPct val="0"/>
        </a:spcAft>
        <a:defRPr sz="3200" b="1">
          <a:solidFill>
            <a:schemeClr val="bg1"/>
          </a:solidFill>
          <a:latin typeface="宋体" panose="02010600030101010101" pitchFamily="2" charset="-122"/>
          <a:ea typeface="宋体" panose="02010600030101010101" pitchFamily="2" charset="-122"/>
        </a:defRPr>
      </a:lvl9pPr>
    </p:titleStyle>
    <p:bodyStyle>
      <a:lvl1pPr marL="342900" indent="-342900" algn="l" rtl="0" eaLnBrk="0" fontAlgn="base"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mn-lt"/>
          <a:ea typeface="+mn-ea"/>
          <a:cs typeface="+mn-cs"/>
        </a:defRPr>
      </a:lvl1pPr>
      <a:lvl2pPr marL="742950" indent="-285750" algn="l" rtl="0" eaLnBrk="0" fontAlgn="base"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mj-ea"/>
        </a:defRPr>
      </a:lvl2pPr>
      <a:lvl3pPr marL="1143000" indent="-228600" algn="l" rtl="0" eaLnBrk="0" fontAlgn="base"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mj-ea"/>
        </a:defRPr>
      </a:lvl3pPr>
      <a:lvl4pPr marL="1600200" indent="-228600" algn="l" rtl="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mj-ea"/>
        </a:defRPr>
      </a:lvl4pPr>
      <a:lvl5pPr marL="2057400" indent="-228600" algn="l" rtl="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mj-ea"/>
        </a:defRPr>
      </a:lvl5pPr>
      <a:lvl6pPr marL="2514600" indent="-228600" algn="l" rtl="0" fontAlgn="base">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mj-ea"/>
        </a:defRPr>
      </a:lvl6pPr>
      <a:lvl7pPr marL="2971800" indent="-228600" algn="l" rtl="0" fontAlgn="base">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mj-ea"/>
        </a:defRPr>
      </a:lvl7pPr>
      <a:lvl8pPr marL="3429000" indent="-228600" algn="l" rtl="0" fontAlgn="base">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mj-ea"/>
        </a:defRPr>
      </a:lvl8pPr>
      <a:lvl9pPr marL="3886200" indent="-228600" algn="l" rtl="0" fontAlgn="base">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mj-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ltGray">
      <p:bgPr>
        <a:solidFill>
          <a:schemeClr val="bg1"/>
        </a:solidFill>
        <a:effectLst/>
      </p:bgPr>
    </p:bg>
    <p:spTree>
      <p:nvGrpSpPr>
        <p:cNvPr id="1" name=""/>
        <p:cNvGrpSpPr/>
        <p:nvPr/>
      </p:nvGrpSpPr>
      <p:grpSpPr>
        <a:xfrm>
          <a:off x="0" y="0"/>
          <a:ext cx="0" cy="0"/>
          <a:chOff x="0" y="0"/>
          <a:chExt cx="0" cy="0"/>
        </a:xfrm>
      </p:grpSpPr>
      <p:sp>
        <p:nvSpPr>
          <p:cNvPr id="2050" name="Rectangle 2"/>
          <p:cNvSpPr>
            <a:spLocks noChangeArrowheads="1"/>
          </p:cNvSpPr>
          <p:nvPr/>
        </p:nvSpPr>
        <p:spPr bwMode="ltGray">
          <a:xfrm>
            <a:off x="10272043" y="927100"/>
            <a:ext cx="1920000" cy="198438"/>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54000" anchor="ctr"/>
          <a:lstStyle>
            <a:lvl1pPr eaLnBrk="0" hangingPunct="0">
              <a:defRPr b="1">
                <a:solidFill>
                  <a:schemeClr val="tx1"/>
                </a:solidFill>
                <a:latin typeface="Tahoma" panose="020B0604030504040204" pitchFamily="34" charset="0"/>
                <a:ea typeface="宋体" panose="02010600030101010101" pitchFamily="2" charset="-122"/>
              </a:defRPr>
            </a:lvl1pPr>
            <a:lvl2pPr marL="742950" indent="-285750" eaLnBrk="0" hangingPunct="0">
              <a:defRPr b="1">
                <a:solidFill>
                  <a:schemeClr val="tx1"/>
                </a:solidFill>
                <a:latin typeface="Tahoma" panose="020B0604030504040204" pitchFamily="34" charset="0"/>
                <a:ea typeface="宋体" panose="02010600030101010101" pitchFamily="2" charset="-122"/>
              </a:defRPr>
            </a:lvl2pPr>
            <a:lvl3pPr marL="1143000" indent="-228600" eaLnBrk="0" hangingPunct="0">
              <a:defRPr b="1">
                <a:solidFill>
                  <a:schemeClr val="tx1"/>
                </a:solidFill>
                <a:latin typeface="Tahoma" panose="020B0604030504040204" pitchFamily="34" charset="0"/>
                <a:ea typeface="宋体" panose="02010600030101010101" pitchFamily="2" charset="-122"/>
              </a:defRPr>
            </a:lvl3pPr>
            <a:lvl4pPr marL="1600200" indent="-228600" eaLnBrk="0" hangingPunct="0">
              <a:defRPr b="1">
                <a:solidFill>
                  <a:schemeClr val="tx1"/>
                </a:solidFill>
                <a:latin typeface="Tahoma" panose="020B0604030504040204" pitchFamily="34" charset="0"/>
                <a:ea typeface="宋体" panose="02010600030101010101" pitchFamily="2" charset="-122"/>
              </a:defRPr>
            </a:lvl4pPr>
            <a:lvl5pPr marL="2057400" indent="-228600" eaLnBrk="0" hangingPunct="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200" dirty="0">
                <a:solidFill>
                  <a:schemeClr val="bg1"/>
                </a:solidFill>
              </a:rPr>
              <a:t>海洋地理信息系统</a:t>
            </a:r>
            <a:endParaRPr lang="zh-CN" altLang="en-US" dirty="0"/>
          </a:p>
        </p:txBody>
      </p:sp>
      <p:graphicFrame>
        <p:nvGraphicFramePr>
          <p:cNvPr id="2051" name="Object 3"/>
          <p:cNvGraphicFramePr>
            <a:graphicFrameLocks noChangeAspect="1"/>
          </p:cNvGraphicFramePr>
          <p:nvPr/>
        </p:nvGraphicFramePr>
        <p:xfrm>
          <a:off x="3312584" y="2354263"/>
          <a:ext cx="8879416" cy="4098925"/>
        </p:xfrm>
        <a:graphic>
          <a:graphicData uri="http://schemas.openxmlformats.org/presentationml/2006/ole">
            <mc:AlternateContent xmlns:mc="http://schemas.openxmlformats.org/markup-compatibility/2006">
              <mc:Choice xmlns:v="urn:schemas-microsoft-com:vml" Requires="v">
                <p:oleObj spid="_x0000_s678955" name="Image" r:id="rId7" imgW="5664200" imgH="3327400" progId="">
                  <p:embed/>
                </p:oleObj>
              </mc:Choice>
              <mc:Fallback>
                <p:oleObj name="Image" r:id="rId7" imgW="5664200" imgH="3327400" progId="">
                  <p:embed/>
                  <p:pic>
                    <p:nvPicPr>
                      <p:cNvPr id="0"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12584" y="2354263"/>
                        <a:ext cx="8879416" cy="4098925"/>
                      </a:xfrm>
                      <a:prstGeom prst="rect">
                        <a:avLst/>
                      </a:prstGeom>
                      <a:noFill/>
                      <a:ln>
                        <a:noFill/>
                      </a:ln>
                      <a:effectLst/>
                      <a:extLst>
                        <a:ext uri="{909E8E84-426E-40DD-AFC4-6F175D3DCCD1}">
                          <a14:hiddenFill xmlns:a14="http://schemas.microsoft.com/office/drawing/2010/main">
                            <a:solidFill>
                              <a:srgbClr val="009999"/>
                            </a:solidFill>
                          </a14:hiddenFill>
                        </a:ext>
                        <a:ext uri="{91240B29-F687-4F45-9708-019B960494DF}">
                          <a14:hiddenLine xmlns:a14="http://schemas.microsoft.com/office/drawing/2010/main" w="9525">
                            <a:solidFill>
                              <a:srgbClr val="163794"/>
                            </a:solidFill>
                            <a:miter lim="800000"/>
                            <a:headEnd/>
                            <a:tailEnd/>
                          </a14:hiddenLine>
                        </a:ext>
                        <a:ext uri="{AF507438-7753-43E0-B8FC-AC1667EBCBE1}">
                          <a14:hiddenEffects xmlns:a14="http://schemas.microsoft.com/office/drawing/2010/main">
                            <a:effectLst>
                              <a:outerShdw dist="35921" dir="2700000" algn="ctr" rotWithShape="0">
                                <a:srgbClr val="DDDDDD"/>
                              </a:outerShdw>
                            </a:effectLst>
                          </a14:hiddenEffects>
                        </a:ext>
                      </a:extLst>
                    </p:spPr>
                  </p:pic>
                </p:oleObj>
              </mc:Fallback>
            </mc:AlternateContent>
          </a:graphicData>
        </a:graphic>
      </p:graphicFrame>
      <p:sp>
        <p:nvSpPr>
          <p:cNvPr id="83972" name="Rectangle 4"/>
          <p:cNvSpPr>
            <a:spLocks noChangeArrowheads="1"/>
          </p:cNvSpPr>
          <p:nvPr/>
        </p:nvSpPr>
        <p:spPr bwMode="ltGray">
          <a:xfrm>
            <a:off x="0" y="-1588"/>
            <a:ext cx="12192000" cy="838201"/>
          </a:xfrm>
          <a:prstGeom prst="rect">
            <a:avLst/>
          </a:prstGeom>
          <a:gradFill rotWithShape="1">
            <a:gsLst>
              <a:gs pos="0">
                <a:schemeClr val="tx1"/>
              </a:gs>
              <a:gs pos="100000">
                <a:schemeClr val="tx1">
                  <a:gamma/>
                  <a:shade val="46275"/>
                  <a:invGamma/>
                </a:schemeClr>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2053" name="Rectangle 5"/>
          <p:cNvSpPr>
            <a:spLocks noChangeArrowheads="1"/>
          </p:cNvSpPr>
          <p:nvPr/>
        </p:nvSpPr>
        <p:spPr bwMode="ltGray">
          <a:xfrm flipV="1">
            <a:off x="0" y="844550"/>
            <a:ext cx="12192000" cy="8731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b="1">
                <a:solidFill>
                  <a:schemeClr val="tx1"/>
                </a:solidFill>
                <a:latin typeface="Tahoma" panose="020B0604030504040204" pitchFamily="34" charset="0"/>
                <a:ea typeface="宋体" panose="02010600030101010101" pitchFamily="2" charset="-122"/>
              </a:defRPr>
            </a:lvl1pPr>
            <a:lvl2pPr marL="742950" indent="-285750" eaLnBrk="0" hangingPunct="0">
              <a:defRPr b="1">
                <a:solidFill>
                  <a:schemeClr val="tx1"/>
                </a:solidFill>
                <a:latin typeface="Tahoma" panose="020B0604030504040204" pitchFamily="34" charset="0"/>
                <a:ea typeface="宋体" panose="02010600030101010101" pitchFamily="2" charset="-122"/>
              </a:defRPr>
            </a:lvl2pPr>
            <a:lvl3pPr marL="1143000" indent="-228600" eaLnBrk="0" hangingPunct="0">
              <a:defRPr b="1">
                <a:solidFill>
                  <a:schemeClr val="tx1"/>
                </a:solidFill>
                <a:latin typeface="Tahoma" panose="020B0604030504040204" pitchFamily="34" charset="0"/>
                <a:ea typeface="宋体" panose="02010600030101010101" pitchFamily="2" charset="-122"/>
              </a:defRPr>
            </a:lvl3pPr>
            <a:lvl4pPr marL="1600200" indent="-228600" eaLnBrk="0" hangingPunct="0">
              <a:defRPr b="1">
                <a:solidFill>
                  <a:schemeClr val="tx1"/>
                </a:solidFill>
                <a:latin typeface="Tahoma" panose="020B0604030504040204" pitchFamily="34" charset="0"/>
                <a:ea typeface="宋体" panose="02010600030101010101" pitchFamily="2" charset="-122"/>
              </a:defRPr>
            </a:lvl4pPr>
            <a:lvl5pPr marL="2057400" indent="-228600" eaLnBrk="0" hangingPunct="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endParaRPr lang="zh-CN" altLang="en-US"/>
          </a:p>
        </p:txBody>
      </p:sp>
      <p:sp>
        <p:nvSpPr>
          <p:cNvPr id="2054" name="Line 6"/>
          <p:cNvSpPr>
            <a:spLocks noChangeShapeType="1"/>
          </p:cNvSpPr>
          <p:nvPr/>
        </p:nvSpPr>
        <p:spPr bwMode="ltGray">
          <a:xfrm>
            <a:off x="0" y="876300"/>
            <a:ext cx="12192000" cy="0"/>
          </a:xfrm>
          <a:prstGeom prst="line">
            <a:avLst/>
          </a:prstGeom>
          <a:noFill/>
          <a:ln w="9525">
            <a:solidFill>
              <a:schemeClr val="bg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75" name="Rectangle 7"/>
          <p:cNvSpPr>
            <a:spLocks noChangeArrowheads="1"/>
          </p:cNvSpPr>
          <p:nvPr/>
        </p:nvSpPr>
        <p:spPr bwMode="ltGray">
          <a:xfrm>
            <a:off x="0" y="188913"/>
            <a:ext cx="12192000" cy="127000"/>
          </a:xfrm>
          <a:prstGeom prst="rect">
            <a:avLst/>
          </a:prstGeom>
          <a:gradFill rotWithShape="1">
            <a:gsLst>
              <a:gs pos="0">
                <a:schemeClr val="tx1"/>
              </a:gs>
              <a:gs pos="100000">
                <a:schemeClr val="tx1">
                  <a:gamma/>
                  <a:shade val="46275"/>
                  <a:invGamma/>
                </a:schemeClr>
              </a:gs>
            </a:gsLst>
            <a:lin ang="5400000" scaled="1"/>
          </a:gra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83976" name="Rectangle 8"/>
          <p:cNvSpPr>
            <a:spLocks noChangeArrowheads="1"/>
          </p:cNvSpPr>
          <p:nvPr/>
        </p:nvSpPr>
        <p:spPr bwMode="ltGray">
          <a:xfrm>
            <a:off x="0" y="350838"/>
            <a:ext cx="12192000" cy="69850"/>
          </a:xfrm>
          <a:prstGeom prst="rect">
            <a:avLst/>
          </a:prstGeom>
          <a:gradFill rotWithShape="1">
            <a:gsLst>
              <a:gs pos="0">
                <a:schemeClr val="tx1"/>
              </a:gs>
              <a:gs pos="100000">
                <a:schemeClr val="tx1">
                  <a:gamma/>
                  <a:shade val="46275"/>
                  <a:invGamma/>
                </a:schemeClr>
              </a:gs>
            </a:gsLst>
            <a:lin ang="5400000" scaled="1"/>
          </a:gra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2057" name="Rectangle 9"/>
          <p:cNvSpPr>
            <a:spLocks noGrp="1" noChangeArrowheads="1"/>
          </p:cNvSpPr>
          <p:nvPr>
            <p:ph type="title"/>
          </p:nvPr>
        </p:nvSpPr>
        <p:spPr bwMode="white">
          <a:xfrm>
            <a:off x="0" y="134938"/>
            <a:ext cx="12192000"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单击此处编辑母版标题样式</a:t>
            </a:r>
            <a:endParaRPr lang="zh-CN" altLang="en-US"/>
          </a:p>
        </p:txBody>
      </p:sp>
      <p:sp>
        <p:nvSpPr>
          <p:cNvPr id="2058" name="Rectangle 10"/>
          <p:cNvSpPr>
            <a:spLocks noGrp="1" noChangeArrowheads="1"/>
          </p:cNvSpPr>
          <p:nvPr>
            <p:ph type="body" idx="1"/>
          </p:nvPr>
        </p:nvSpPr>
        <p:spPr bwMode="auto">
          <a:xfrm>
            <a:off x="711200" y="1152000"/>
            <a:ext cx="10944000" cy="504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83980" name="Rectangle 12"/>
          <p:cNvSpPr>
            <a:spLocks noGrp="1" noChangeArrowheads="1"/>
          </p:cNvSpPr>
          <p:nvPr>
            <p:ph type="sldNum" sz="quarter" idx="4"/>
          </p:nvPr>
        </p:nvSpPr>
        <p:spPr bwMode="auto">
          <a:xfrm>
            <a:off x="5791200" y="6381750"/>
            <a:ext cx="1648884"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b="0" smtClean="0">
                <a:latin typeface="+mj-lt"/>
              </a:defRPr>
            </a:lvl1pPr>
          </a:lstStyle>
          <a:p>
            <a:pPr>
              <a:defRPr/>
            </a:pPr>
            <a:endParaRPr lang="zh-CN" altLang="zh-CN"/>
          </a:p>
        </p:txBody>
      </p:sp>
      <p:sp>
        <p:nvSpPr>
          <p:cNvPr id="83981" name="Rectangle 13"/>
          <p:cNvSpPr>
            <a:spLocks noGrp="1" noChangeArrowheads="1"/>
          </p:cNvSpPr>
          <p:nvPr>
            <p:ph type="ftr" sz="quarter" idx="3"/>
          </p:nvPr>
        </p:nvSpPr>
        <p:spPr bwMode="auto">
          <a:xfrm>
            <a:off x="65584" y="6500834"/>
            <a:ext cx="1458384" cy="36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a:defRPr sz="1400" b="0" smtClean="0">
                <a:solidFill>
                  <a:srgbClr val="993300"/>
                </a:solidFill>
                <a:latin typeface="+mj-lt"/>
              </a:defRPr>
            </a:lvl1pPr>
          </a:lstStyle>
          <a:p>
            <a:pPr>
              <a:defRPr/>
            </a:pPr>
            <a:fld id="{D23531AA-A748-4A95-9E65-179AC24C9707}" type="slidenum">
              <a:rPr lang="en-US" altLang="zh-CN" smtClean="0"/>
            </a:fld>
            <a:endParaRPr lang="en-US" altLang="zh-CN"/>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Lst>
  <p:transition spd="med">
    <p:wipe dir="r"/>
  </p:transition>
  <p:hf sldNum="0" hdr="0" dt="0"/>
  <p:txStyles>
    <p:titleStyle>
      <a:lvl1pPr algn="ctr" rtl="0" eaLnBrk="0" fontAlgn="base" hangingPunct="0">
        <a:spcBef>
          <a:spcPct val="0"/>
        </a:spcBef>
        <a:spcAft>
          <a:spcPct val="0"/>
        </a:spcAft>
        <a:defRPr sz="3200" b="1">
          <a:solidFill>
            <a:schemeClr val="bg1"/>
          </a:solidFill>
          <a:latin typeface="+mj-lt"/>
          <a:ea typeface="+mj-ea"/>
          <a:cs typeface="+mj-cs"/>
        </a:defRPr>
      </a:lvl1pPr>
      <a:lvl2pPr algn="ctr" rtl="0" eaLnBrk="0" fontAlgn="base" hangingPunct="0">
        <a:spcBef>
          <a:spcPct val="0"/>
        </a:spcBef>
        <a:spcAft>
          <a:spcPct val="0"/>
        </a:spcAft>
        <a:defRPr sz="3200" b="1">
          <a:solidFill>
            <a:schemeClr val="bg1"/>
          </a:solidFill>
          <a:latin typeface="Arial" panose="020B0604020202020204" pitchFamily="34" charset="0"/>
        </a:defRPr>
      </a:lvl2pPr>
      <a:lvl3pPr algn="ctr" rtl="0" eaLnBrk="0" fontAlgn="base" hangingPunct="0">
        <a:spcBef>
          <a:spcPct val="0"/>
        </a:spcBef>
        <a:spcAft>
          <a:spcPct val="0"/>
        </a:spcAft>
        <a:defRPr sz="3200" b="1">
          <a:solidFill>
            <a:schemeClr val="bg1"/>
          </a:solidFill>
          <a:latin typeface="Arial" panose="020B0604020202020204" pitchFamily="34" charset="0"/>
        </a:defRPr>
      </a:lvl3pPr>
      <a:lvl4pPr algn="ctr" rtl="0" eaLnBrk="0" fontAlgn="base" hangingPunct="0">
        <a:spcBef>
          <a:spcPct val="0"/>
        </a:spcBef>
        <a:spcAft>
          <a:spcPct val="0"/>
        </a:spcAft>
        <a:defRPr sz="3200" b="1">
          <a:solidFill>
            <a:schemeClr val="bg1"/>
          </a:solidFill>
          <a:latin typeface="Arial" panose="020B0604020202020204" pitchFamily="34" charset="0"/>
        </a:defRPr>
      </a:lvl4pPr>
      <a:lvl5pPr algn="ctr" rtl="0" eaLnBrk="0" fontAlgn="base" hangingPunct="0">
        <a:spcBef>
          <a:spcPct val="0"/>
        </a:spcBef>
        <a:spcAft>
          <a:spcPct val="0"/>
        </a:spcAft>
        <a:defRPr sz="3200" b="1">
          <a:solidFill>
            <a:schemeClr val="bg1"/>
          </a:solidFill>
          <a:latin typeface="Arial" panose="020B0604020202020204" pitchFamily="34" charset="0"/>
        </a:defRPr>
      </a:lvl5pPr>
      <a:lvl6pPr marL="457200" algn="ctr" rtl="0" fontAlgn="base">
        <a:spcBef>
          <a:spcPct val="0"/>
        </a:spcBef>
        <a:spcAft>
          <a:spcPct val="0"/>
        </a:spcAft>
        <a:defRPr sz="3200" b="1">
          <a:solidFill>
            <a:schemeClr val="bg1"/>
          </a:solidFill>
          <a:latin typeface="Arial" panose="020B0604020202020204" pitchFamily="34" charset="0"/>
        </a:defRPr>
      </a:lvl6pPr>
      <a:lvl7pPr marL="914400" algn="ctr" rtl="0" fontAlgn="base">
        <a:spcBef>
          <a:spcPct val="0"/>
        </a:spcBef>
        <a:spcAft>
          <a:spcPct val="0"/>
        </a:spcAft>
        <a:defRPr sz="3200" b="1">
          <a:solidFill>
            <a:schemeClr val="bg1"/>
          </a:solidFill>
          <a:latin typeface="Arial" panose="020B0604020202020204" pitchFamily="34" charset="0"/>
        </a:defRPr>
      </a:lvl7pPr>
      <a:lvl8pPr marL="1371600" algn="ctr" rtl="0" fontAlgn="base">
        <a:spcBef>
          <a:spcPct val="0"/>
        </a:spcBef>
        <a:spcAft>
          <a:spcPct val="0"/>
        </a:spcAft>
        <a:defRPr sz="3200" b="1">
          <a:solidFill>
            <a:schemeClr val="bg1"/>
          </a:solidFill>
          <a:latin typeface="Arial" panose="020B0604020202020204" pitchFamily="34" charset="0"/>
        </a:defRPr>
      </a:lvl8pPr>
      <a:lvl9pPr marL="1828800" algn="ctr" rtl="0" fontAlgn="base">
        <a:spcBef>
          <a:spcPct val="0"/>
        </a:spcBef>
        <a:spcAft>
          <a:spcPct val="0"/>
        </a:spcAft>
        <a:defRPr sz="3200" b="1">
          <a:solidFill>
            <a:schemeClr val="bg1"/>
          </a:solidFill>
          <a:latin typeface="Arial" panose="020B0604020202020204" pitchFamily="34" charset="0"/>
        </a:defRPr>
      </a:lvl9pPr>
    </p:titleStyle>
    <p:bodyStyle>
      <a:lvl1pPr marL="360045" indent="-323850" algn="l" rtl="0" eaLnBrk="0" fontAlgn="base" hangingPunct="0">
        <a:spcBef>
          <a:spcPts val="600"/>
        </a:spcBef>
        <a:spcAft>
          <a:spcPts val="600"/>
        </a:spcAft>
        <a:buClr>
          <a:schemeClr val="accent1"/>
        </a:buClr>
        <a:buFont typeface="Wingdings" panose="05000000000000000000" pitchFamily="2" charset="2"/>
        <a:buChar char="Ü"/>
        <a:defRPr sz="2800" b="1">
          <a:solidFill>
            <a:schemeClr val="accent1"/>
          </a:solidFill>
          <a:latin typeface="+mn-lt"/>
          <a:ea typeface="+mn-ea"/>
          <a:cs typeface="+mn-cs"/>
        </a:defRPr>
      </a:lvl1pPr>
      <a:lvl2pPr marL="720090" indent="-323850" algn="l" rtl="0" eaLnBrk="0" fontAlgn="base" hangingPunct="0">
        <a:lnSpc>
          <a:spcPct val="120000"/>
        </a:lnSpc>
        <a:spcBef>
          <a:spcPts val="600"/>
        </a:spcBef>
        <a:spcAft>
          <a:spcPts val="600"/>
        </a:spcAft>
        <a:buClr>
          <a:srgbClr val="FF33CC"/>
        </a:buClr>
        <a:buFont typeface="Wingdings" panose="05000000000000000000" pitchFamily="2" charset="2"/>
        <a:buChar char="u"/>
        <a:defRPr sz="2400" b="1">
          <a:solidFill>
            <a:schemeClr val="tx2"/>
          </a:solidFill>
          <a:latin typeface="+mj-lt"/>
          <a:ea typeface="宋体" panose="02010600030101010101" pitchFamily="2" charset="-122"/>
        </a:defRPr>
      </a:lvl2pPr>
      <a:lvl3pPr marL="972185" indent="-215900" algn="l" rtl="0" eaLnBrk="0" fontAlgn="base" hangingPunct="0">
        <a:lnSpc>
          <a:spcPct val="120000"/>
        </a:lnSpc>
        <a:spcBef>
          <a:spcPct val="0"/>
        </a:spcBef>
        <a:spcAft>
          <a:spcPts val="600"/>
        </a:spcAft>
        <a:buClr>
          <a:srgbClr val="FF33CC"/>
        </a:buClr>
        <a:buFont typeface="Wingdings" panose="05000000000000000000" pitchFamily="2" charset="2"/>
        <a:buChar char="u"/>
        <a:defRPr sz="2400" b="1">
          <a:solidFill>
            <a:schemeClr val="tx2"/>
          </a:solidFill>
          <a:latin typeface="+mj-lt"/>
          <a:ea typeface="宋体" panose="02010600030101010101" pitchFamily="2" charset="-122"/>
        </a:defRPr>
      </a:lvl3pPr>
      <a:lvl4pPr marL="1332230" indent="-215900" algn="l" rtl="0" eaLnBrk="0" fontAlgn="base" hangingPunct="0">
        <a:lnSpc>
          <a:spcPct val="120000"/>
        </a:lnSpc>
        <a:spcBef>
          <a:spcPct val="0"/>
        </a:spcBef>
        <a:spcAft>
          <a:spcPts val="600"/>
        </a:spcAft>
        <a:buClr>
          <a:srgbClr val="FF33CC"/>
        </a:buClr>
        <a:buFont typeface="Wingdings" panose="05000000000000000000" pitchFamily="2" charset="2"/>
        <a:buChar char="u"/>
        <a:defRPr sz="2000" b="1">
          <a:solidFill>
            <a:schemeClr val="tx2"/>
          </a:solidFill>
          <a:latin typeface="+mj-lt"/>
          <a:ea typeface="宋体" panose="02010600030101010101" pitchFamily="2" charset="-122"/>
        </a:defRPr>
      </a:lvl4pPr>
      <a:lvl5pPr marL="1619885" indent="-215900" algn="l" rtl="0" eaLnBrk="0" fontAlgn="base" hangingPunct="0">
        <a:lnSpc>
          <a:spcPct val="120000"/>
        </a:lnSpc>
        <a:spcBef>
          <a:spcPct val="0"/>
        </a:spcBef>
        <a:spcAft>
          <a:spcPts val="600"/>
        </a:spcAft>
        <a:buClr>
          <a:srgbClr val="FF33CC"/>
        </a:buClr>
        <a:buFont typeface="Wingdings" panose="05000000000000000000" pitchFamily="2" charset="2"/>
        <a:buChar char="u"/>
        <a:defRPr sz="2000" b="1">
          <a:solidFill>
            <a:schemeClr val="tx2"/>
          </a:solidFill>
          <a:latin typeface="+mj-lt"/>
          <a:ea typeface="宋体" panose="02010600030101010101" pitchFamily="2" charset="-122"/>
        </a:defRPr>
      </a:lvl5pPr>
      <a:lvl6pPr marL="2514600" indent="-228600" algn="l" rtl="0" fontAlgn="base">
        <a:lnSpc>
          <a:spcPct val="120000"/>
        </a:lnSpc>
        <a:spcBef>
          <a:spcPct val="0"/>
        </a:spcBef>
        <a:spcAft>
          <a:spcPct val="20000"/>
        </a:spcAft>
        <a:buClr>
          <a:srgbClr val="FF33CC"/>
        </a:buClr>
        <a:buFont typeface="Wingdings" panose="05000000000000000000" pitchFamily="2" charset="2"/>
        <a:buChar char="u"/>
        <a:defRPr sz="2000" b="1">
          <a:solidFill>
            <a:schemeClr val="tx2"/>
          </a:solidFill>
          <a:latin typeface="+mj-lt"/>
          <a:ea typeface="宋体" panose="02010600030101010101" pitchFamily="2" charset="-122"/>
        </a:defRPr>
      </a:lvl6pPr>
      <a:lvl7pPr marL="2971800" indent="-228600" algn="l" rtl="0" fontAlgn="base">
        <a:lnSpc>
          <a:spcPct val="120000"/>
        </a:lnSpc>
        <a:spcBef>
          <a:spcPct val="0"/>
        </a:spcBef>
        <a:spcAft>
          <a:spcPct val="20000"/>
        </a:spcAft>
        <a:buClr>
          <a:srgbClr val="FF33CC"/>
        </a:buClr>
        <a:buFont typeface="Wingdings" panose="05000000000000000000" pitchFamily="2" charset="2"/>
        <a:buChar char="u"/>
        <a:defRPr sz="2000" b="1">
          <a:solidFill>
            <a:schemeClr val="tx2"/>
          </a:solidFill>
          <a:latin typeface="+mj-lt"/>
          <a:ea typeface="宋体" panose="02010600030101010101" pitchFamily="2" charset="-122"/>
        </a:defRPr>
      </a:lvl7pPr>
      <a:lvl8pPr marL="3429000" indent="-228600" algn="l" rtl="0" fontAlgn="base">
        <a:lnSpc>
          <a:spcPct val="120000"/>
        </a:lnSpc>
        <a:spcBef>
          <a:spcPct val="0"/>
        </a:spcBef>
        <a:spcAft>
          <a:spcPct val="20000"/>
        </a:spcAft>
        <a:buClr>
          <a:srgbClr val="FF33CC"/>
        </a:buClr>
        <a:buFont typeface="Wingdings" panose="05000000000000000000" pitchFamily="2" charset="2"/>
        <a:buChar char="u"/>
        <a:defRPr sz="2000" b="1">
          <a:solidFill>
            <a:schemeClr val="tx2"/>
          </a:solidFill>
          <a:latin typeface="+mj-lt"/>
          <a:ea typeface="宋体" panose="02010600030101010101" pitchFamily="2" charset="-122"/>
        </a:defRPr>
      </a:lvl8pPr>
      <a:lvl9pPr marL="3886200" indent="-228600" algn="l" rtl="0" fontAlgn="base">
        <a:lnSpc>
          <a:spcPct val="120000"/>
        </a:lnSpc>
        <a:spcBef>
          <a:spcPct val="0"/>
        </a:spcBef>
        <a:spcAft>
          <a:spcPct val="20000"/>
        </a:spcAft>
        <a:buClr>
          <a:srgbClr val="FF33CC"/>
        </a:buClr>
        <a:buFont typeface="Wingdings" panose="05000000000000000000" pitchFamily="2" charset="2"/>
        <a:buChar char="u"/>
        <a:defRPr sz="2000" b="1">
          <a:solidFill>
            <a:schemeClr val="tx2"/>
          </a:solidFill>
          <a:latin typeface="+mj-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ltGray">
      <p:bgPr>
        <a:solidFill>
          <a:schemeClr val="bg1"/>
        </a:solidFill>
        <a:effectLst/>
      </p:bgPr>
    </p:bg>
    <p:spTree>
      <p:nvGrpSpPr>
        <p:cNvPr id="1" name=""/>
        <p:cNvGrpSpPr/>
        <p:nvPr/>
      </p:nvGrpSpPr>
      <p:grpSpPr>
        <a:xfrm>
          <a:off x="0" y="0"/>
          <a:ext cx="0" cy="0"/>
          <a:chOff x="0" y="0"/>
          <a:chExt cx="0" cy="0"/>
        </a:xfrm>
      </p:grpSpPr>
      <p:sp>
        <p:nvSpPr>
          <p:cNvPr id="135172" name="Rectangle 4"/>
          <p:cNvSpPr>
            <a:spLocks noChangeArrowheads="1"/>
          </p:cNvSpPr>
          <p:nvPr userDrawn="1"/>
        </p:nvSpPr>
        <p:spPr bwMode="ltGray">
          <a:xfrm>
            <a:off x="0" y="-1588"/>
            <a:ext cx="12192000" cy="838201"/>
          </a:xfrm>
          <a:prstGeom prst="rect">
            <a:avLst/>
          </a:prstGeom>
          <a:gradFill rotWithShape="1">
            <a:gsLst>
              <a:gs pos="0">
                <a:schemeClr val="tx1"/>
              </a:gs>
              <a:gs pos="100000">
                <a:schemeClr val="tx1">
                  <a:gamma/>
                  <a:shade val="46275"/>
                  <a:invGamma/>
                </a:schemeClr>
              </a:gs>
            </a:gsLst>
            <a:lin ang="5400000" scaled="1"/>
          </a:gradFill>
          <a:ln w="9525">
            <a:noFill/>
            <a:miter lim="800000"/>
          </a:ln>
          <a:effectLst/>
        </p:spPr>
        <p:txBody>
          <a:bodyPr wrap="none" anchor="ctr"/>
          <a:lstStyle/>
          <a:p>
            <a:pPr>
              <a:defRPr/>
            </a:pPr>
            <a:endParaRPr lang="zh-CN" altLang="en-US" sz="1800">
              <a:ea typeface="宋体" panose="02010600030101010101" pitchFamily="2" charset="-122"/>
            </a:endParaRPr>
          </a:p>
        </p:txBody>
      </p:sp>
      <p:sp>
        <p:nvSpPr>
          <p:cNvPr id="1029" name="Rectangle 5"/>
          <p:cNvSpPr>
            <a:spLocks noChangeArrowheads="1"/>
          </p:cNvSpPr>
          <p:nvPr/>
        </p:nvSpPr>
        <p:spPr bwMode="ltGray">
          <a:xfrm flipV="1">
            <a:off x="0" y="844550"/>
            <a:ext cx="12192000" cy="87313"/>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b="1">
                <a:solidFill>
                  <a:schemeClr val="tx1"/>
                </a:solidFill>
                <a:latin typeface="Tahoma" panose="020B0604030504040204" pitchFamily="34" charset="0"/>
                <a:ea typeface="宋体" panose="02010600030101010101" pitchFamily="2" charset="-122"/>
              </a:defRPr>
            </a:lvl1pPr>
            <a:lvl2pPr marL="742950" indent="-285750" eaLnBrk="0" hangingPunct="0">
              <a:defRPr b="1">
                <a:solidFill>
                  <a:schemeClr val="tx1"/>
                </a:solidFill>
                <a:latin typeface="Tahoma" panose="020B0604030504040204" pitchFamily="34" charset="0"/>
                <a:ea typeface="宋体" panose="02010600030101010101" pitchFamily="2" charset="-122"/>
              </a:defRPr>
            </a:lvl2pPr>
            <a:lvl3pPr marL="1143000" indent="-228600" eaLnBrk="0" hangingPunct="0">
              <a:defRPr b="1">
                <a:solidFill>
                  <a:schemeClr val="tx1"/>
                </a:solidFill>
                <a:latin typeface="Tahoma" panose="020B0604030504040204" pitchFamily="34" charset="0"/>
                <a:ea typeface="宋体" panose="02010600030101010101" pitchFamily="2" charset="-122"/>
              </a:defRPr>
            </a:lvl3pPr>
            <a:lvl4pPr marL="1600200" indent="-228600" eaLnBrk="0" hangingPunct="0">
              <a:defRPr b="1">
                <a:solidFill>
                  <a:schemeClr val="tx1"/>
                </a:solidFill>
                <a:latin typeface="Tahoma" panose="020B0604030504040204" pitchFamily="34" charset="0"/>
                <a:ea typeface="宋体" panose="02010600030101010101" pitchFamily="2" charset="-122"/>
              </a:defRPr>
            </a:lvl4pPr>
            <a:lvl5pPr marL="2057400" indent="-228600" eaLnBrk="0" hangingPunct="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defRPr/>
            </a:pPr>
            <a:endParaRPr lang="zh-CN" altLang="en-US" sz="1800"/>
          </a:p>
        </p:txBody>
      </p:sp>
      <p:sp>
        <p:nvSpPr>
          <p:cNvPr id="1028" name="Line 6"/>
          <p:cNvSpPr>
            <a:spLocks noChangeShapeType="1"/>
          </p:cNvSpPr>
          <p:nvPr/>
        </p:nvSpPr>
        <p:spPr bwMode="ltGray">
          <a:xfrm>
            <a:off x="0" y="876300"/>
            <a:ext cx="12192000" cy="0"/>
          </a:xfrm>
          <a:prstGeom prst="line">
            <a:avLst/>
          </a:prstGeom>
          <a:noFill/>
          <a:ln w="9525">
            <a:solidFill>
              <a:schemeClr val="bg1"/>
            </a:solidFill>
            <a:round/>
          </a:ln>
          <a:extLst>
            <a:ext uri="{909E8E84-426E-40DD-AFC4-6F175D3DCCD1}">
              <a14:hiddenFill xmlns:a14="http://schemas.microsoft.com/office/drawing/2010/main">
                <a:noFill/>
              </a14:hiddenFill>
            </a:ext>
          </a:extLst>
        </p:spPr>
        <p:txBody>
          <a:bodyPr/>
          <a:lstStyle/>
          <a:p>
            <a:endParaRPr lang="zh-CN" altLang="en-US" sz="1800"/>
          </a:p>
        </p:txBody>
      </p:sp>
      <p:sp>
        <p:nvSpPr>
          <p:cNvPr id="135175" name="Rectangle 7"/>
          <p:cNvSpPr>
            <a:spLocks noChangeArrowheads="1"/>
          </p:cNvSpPr>
          <p:nvPr userDrawn="1"/>
        </p:nvSpPr>
        <p:spPr bwMode="ltGray">
          <a:xfrm>
            <a:off x="0" y="188913"/>
            <a:ext cx="12192000" cy="127000"/>
          </a:xfrm>
          <a:prstGeom prst="rect">
            <a:avLst/>
          </a:prstGeom>
          <a:gradFill rotWithShape="1">
            <a:gsLst>
              <a:gs pos="0">
                <a:schemeClr val="tx1"/>
              </a:gs>
              <a:gs pos="100000">
                <a:schemeClr val="tx1">
                  <a:gamma/>
                  <a:shade val="46275"/>
                  <a:invGamma/>
                </a:schemeClr>
              </a:gs>
            </a:gsLst>
            <a:lin ang="5400000" scaled="1"/>
          </a:gradFill>
          <a:ln w="9525">
            <a:solidFill>
              <a:schemeClr val="tx1"/>
            </a:solidFill>
            <a:miter lim="800000"/>
          </a:ln>
          <a:effectLst/>
        </p:spPr>
        <p:txBody>
          <a:bodyPr wrap="none" anchor="ctr"/>
          <a:lstStyle/>
          <a:p>
            <a:pPr>
              <a:defRPr/>
            </a:pPr>
            <a:endParaRPr lang="zh-CN" altLang="en-US" sz="1800">
              <a:ea typeface="宋体" panose="02010600030101010101" pitchFamily="2" charset="-122"/>
            </a:endParaRPr>
          </a:p>
        </p:txBody>
      </p:sp>
      <p:sp>
        <p:nvSpPr>
          <p:cNvPr id="135176" name="Rectangle 8"/>
          <p:cNvSpPr>
            <a:spLocks noChangeArrowheads="1"/>
          </p:cNvSpPr>
          <p:nvPr userDrawn="1"/>
        </p:nvSpPr>
        <p:spPr bwMode="ltGray">
          <a:xfrm>
            <a:off x="0" y="350838"/>
            <a:ext cx="12192000" cy="69850"/>
          </a:xfrm>
          <a:prstGeom prst="rect">
            <a:avLst/>
          </a:prstGeom>
          <a:gradFill rotWithShape="1">
            <a:gsLst>
              <a:gs pos="0">
                <a:schemeClr val="tx1"/>
              </a:gs>
              <a:gs pos="100000">
                <a:schemeClr val="tx1">
                  <a:gamma/>
                  <a:shade val="46275"/>
                  <a:invGamma/>
                </a:schemeClr>
              </a:gs>
            </a:gsLst>
            <a:lin ang="5400000" scaled="1"/>
          </a:gradFill>
          <a:ln w="9525">
            <a:solidFill>
              <a:schemeClr val="tx1"/>
            </a:solidFill>
            <a:miter lim="800000"/>
          </a:ln>
          <a:effectLst/>
        </p:spPr>
        <p:txBody>
          <a:bodyPr wrap="none" anchor="ctr"/>
          <a:lstStyle/>
          <a:p>
            <a:pPr>
              <a:defRPr/>
            </a:pPr>
            <a:endParaRPr lang="zh-CN" altLang="en-US" sz="1800">
              <a:ea typeface="宋体" panose="02010600030101010101" pitchFamily="2" charset="-122"/>
            </a:endParaRPr>
          </a:p>
        </p:txBody>
      </p:sp>
      <p:sp>
        <p:nvSpPr>
          <p:cNvPr id="135180" name="Rectangle 12"/>
          <p:cNvSpPr>
            <a:spLocks noGrp="1" noChangeArrowheads="1"/>
          </p:cNvSpPr>
          <p:nvPr>
            <p:ph type="sldNum" sz="quarter" idx="4"/>
          </p:nvPr>
        </p:nvSpPr>
        <p:spPr bwMode="auto">
          <a:xfrm>
            <a:off x="5791200" y="6381750"/>
            <a:ext cx="1648884" cy="215900"/>
          </a:xfrm>
          <a:prstGeom prst="rect">
            <a:avLst/>
          </a:prstGeom>
          <a:noFill/>
          <a:ln w="9525">
            <a:noFill/>
            <a:miter lim="800000"/>
          </a:ln>
          <a:effectLst/>
        </p:spPr>
        <p:txBody>
          <a:bodyPr vert="horz" wrap="square" lIns="91440" tIns="45720" rIns="91440" bIns="45720" numCol="1" anchor="t" anchorCtr="0" compatLnSpc="1"/>
          <a:lstStyle>
            <a:lvl1pPr algn="r">
              <a:defRPr sz="1400" b="0">
                <a:latin typeface="Arial" panose="020B0604020202020204" pitchFamily="34" charset="0"/>
                <a:ea typeface="宋体" panose="02010600030101010101" pitchFamily="2" charset="-122"/>
              </a:defRPr>
            </a:lvl1pPr>
          </a:lstStyle>
          <a:p>
            <a:pPr>
              <a:defRPr/>
            </a:pPr>
            <a:endParaRPr lang="zh-CN" altLang="zh-CN"/>
          </a:p>
        </p:txBody>
      </p:sp>
      <p:sp>
        <p:nvSpPr>
          <p:cNvPr id="135181" name="Rectangle 13"/>
          <p:cNvSpPr>
            <a:spLocks noGrp="1" noChangeArrowheads="1"/>
          </p:cNvSpPr>
          <p:nvPr>
            <p:ph type="ftr" sz="quarter" idx="3"/>
          </p:nvPr>
        </p:nvSpPr>
        <p:spPr bwMode="auto">
          <a:xfrm>
            <a:off x="29104" y="6525344"/>
            <a:ext cx="1458384" cy="360363"/>
          </a:xfrm>
          <a:prstGeom prst="rect">
            <a:avLst/>
          </a:prstGeom>
          <a:noFill/>
          <a:ln w="9525">
            <a:noFill/>
            <a:miter lim="800000"/>
          </a:ln>
          <a:effectLst/>
        </p:spPr>
        <p:txBody>
          <a:bodyPr vert="horz" wrap="square" lIns="91440" tIns="45720" rIns="91440" bIns="45720" numCol="1" anchor="t" anchorCtr="0" compatLnSpc="1"/>
          <a:lstStyle>
            <a:lvl1pPr algn="l">
              <a:defRPr sz="1400" b="0">
                <a:solidFill>
                  <a:srgbClr val="993300"/>
                </a:solidFill>
                <a:latin typeface="Arial" panose="020B0604020202020204" pitchFamily="34" charset="0"/>
                <a:ea typeface="宋体" panose="02010600030101010101" pitchFamily="2" charset="-122"/>
              </a:defRPr>
            </a:lvl1pPr>
          </a:lstStyle>
          <a:p>
            <a:pPr>
              <a:defRPr/>
            </a:pPr>
            <a:fld id="{33B6A627-191B-48D3-B5B5-AB8818109214}" type="slidenum">
              <a:rPr lang="en-US" altLang="zh-CN" smtClean="0"/>
            </a:fld>
            <a:endParaRPr lang="en-US" altLang="zh-CN"/>
          </a:p>
        </p:txBody>
      </p:sp>
      <p:grpSp>
        <p:nvGrpSpPr>
          <p:cNvPr id="13" name="Group 15"/>
          <p:cNvGrpSpPr>
            <a:grpSpLocks noChangeAspect="1"/>
          </p:cNvGrpSpPr>
          <p:nvPr userDrawn="1"/>
        </p:nvGrpSpPr>
        <p:grpSpPr bwMode="auto">
          <a:xfrm>
            <a:off x="48684" y="66675"/>
            <a:ext cx="958849" cy="720725"/>
            <a:chOff x="520" y="1404"/>
            <a:chExt cx="837" cy="839"/>
          </a:xfrm>
        </p:grpSpPr>
        <p:sp>
          <p:nvSpPr>
            <p:cNvPr id="14" name="Oval 16"/>
            <p:cNvSpPr>
              <a:spLocks noChangeAspect="1" noChangeArrowheads="1"/>
            </p:cNvSpPr>
            <p:nvPr/>
          </p:nvSpPr>
          <p:spPr bwMode="auto">
            <a:xfrm>
              <a:off x="557" y="1433"/>
              <a:ext cx="771" cy="771"/>
            </a:xfrm>
            <a:prstGeom prst="ellipse">
              <a:avLst/>
            </a:prstGeom>
            <a:solidFill>
              <a:schemeClr val="bg1"/>
            </a:solidFill>
            <a:ln>
              <a:noFill/>
            </a:ln>
            <a:effectLst/>
            <a:extLst>
              <a:ext uri="{91240B29-F687-4F45-9708-019B960494DF}">
                <a14:hiddenLine xmlns:a14="http://schemas.microsoft.com/office/drawing/2010/main" w="9525">
                  <a:solidFill>
                    <a:schemeClr val="accent2"/>
                  </a:solidFill>
                  <a:rou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b="1">
                  <a:solidFill>
                    <a:schemeClr val="tx1"/>
                  </a:solidFill>
                  <a:latin typeface="Tahoma" panose="020B0604030504040204" pitchFamily="34" charset="0"/>
                  <a:ea typeface="宋体" panose="02010600030101010101" pitchFamily="2" charset="-122"/>
                </a:defRPr>
              </a:lvl1pPr>
              <a:lvl2pPr marL="742950" indent="-285750" eaLnBrk="0" hangingPunct="0">
                <a:defRPr b="1">
                  <a:solidFill>
                    <a:schemeClr val="tx1"/>
                  </a:solidFill>
                  <a:latin typeface="Tahoma" panose="020B0604030504040204" pitchFamily="34" charset="0"/>
                  <a:ea typeface="宋体" panose="02010600030101010101" pitchFamily="2" charset="-122"/>
                </a:defRPr>
              </a:lvl2pPr>
              <a:lvl3pPr marL="1143000" indent="-228600" eaLnBrk="0" hangingPunct="0">
                <a:defRPr b="1">
                  <a:solidFill>
                    <a:schemeClr val="tx1"/>
                  </a:solidFill>
                  <a:latin typeface="Tahoma" panose="020B0604030504040204" pitchFamily="34" charset="0"/>
                  <a:ea typeface="宋体" panose="02010600030101010101" pitchFamily="2" charset="-122"/>
                </a:defRPr>
              </a:lvl3pPr>
              <a:lvl4pPr marL="1600200" indent="-228600" eaLnBrk="0" hangingPunct="0">
                <a:defRPr b="1">
                  <a:solidFill>
                    <a:schemeClr val="tx1"/>
                  </a:solidFill>
                  <a:latin typeface="Tahoma" panose="020B0604030504040204" pitchFamily="34" charset="0"/>
                  <a:ea typeface="宋体" panose="02010600030101010101" pitchFamily="2" charset="-122"/>
                </a:defRPr>
              </a:lvl4pPr>
              <a:lvl5pPr marL="2057400" indent="-228600" eaLnBrk="0" hangingPunct="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eaLnBrk="1" hangingPunct="1"/>
              <a:endParaRPr lang="zh-CN" altLang="en-US" sz="1800"/>
            </a:p>
          </p:txBody>
        </p:sp>
        <p:pic>
          <p:nvPicPr>
            <p:cNvPr id="15" name="Picture 17" descr="A1-2 校徽"/>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l="3676" t="3926" r="4300" b="3751"/>
            <a:stretch>
              <a:fillRect/>
            </a:stretch>
          </p:blipFill>
          <p:spPr bwMode="auto">
            <a:xfrm>
              <a:off x="520" y="1404"/>
              <a:ext cx="837" cy="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33CC"/>
                  </a:solidFill>
                  <a:miter lim="800000"/>
                  <a:headEnd/>
                  <a:tailEnd/>
                </a14:hiddenLine>
              </a:ext>
            </a:extLst>
          </p:spPr>
        </p:pic>
      </p:grpSp>
      <p:sp>
        <p:nvSpPr>
          <p:cNvPr id="16" name="Rectangle 2"/>
          <p:cNvSpPr>
            <a:spLocks noChangeArrowheads="1"/>
          </p:cNvSpPr>
          <p:nvPr userDrawn="1"/>
        </p:nvSpPr>
        <p:spPr bwMode="ltGray">
          <a:xfrm>
            <a:off x="10272043" y="927100"/>
            <a:ext cx="1920000" cy="198438"/>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54000" anchor="ctr"/>
          <a:lstStyle>
            <a:lvl1pPr eaLnBrk="0" hangingPunct="0">
              <a:defRPr b="1">
                <a:solidFill>
                  <a:schemeClr val="tx1"/>
                </a:solidFill>
                <a:latin typeface="Tahoma" panose="020B0604030504040204" pitchFamily="34" charset="0"/>
                <a:ea typeface="宋体" panose="02010600030101010101" pitchFamily="2" charset="-122"/>
              </a:defRPr>
            </a:lvl1pPr>
            <a:lvl2pPr marL="742950" indent="-285750" eaLnBrk="0" hangingPunct="0">
              <a:defRPr b="1">
                <a:solidFill>
                  <a:schemeClr val="tx1"/>
                </a:solidFill>
                <a:latin typeface="Tahoma" panose="020B0604030504040204" pitchFamily="34" charset="0"/>
                <a:ea typeface="宋体" panose="02010600030101010101" pitchFamily="2" charset="-122"/>
              </a:defRPr>
            </a:lvl2pPr>
            <a:lvl3pPr marL="1143000" indent="-228600" eaLnBrk="0" hangingPunct="0">
              <a:defRPr b="1">
                <a:solidFill>
                  <a:schemeClr val="tx1"/>
                </a:solidFill>
                <a:latin typeface="Tahoma" panose="020B0604030504040204" pitchFamily="34" charset="0"/>
                <a:ea typeface="宋体" panose="02010600030101010101" pitchFamily="2" charset="-122"/>
              </a:defRPr>
            </a:lvl3pPr>
            <a:lvl4pPr marL="1600200" indent="-228600" eaLnBrk="0" hangingPunct="0">
              <a:defRPr b="1">
                <a:solidFill>
                  <a:schemeClr val="tx1"/>
                </a:solidFill>
                <a:latin typeface="Tahoma" panose="020B0604030504040204" pitchFamily="34" charset="0"/>
                <a:ea typeface="宋体" panose="02010600030101010101" pitchFamily="2" charset="-122"/>
              </a:defRPr>
            </a:lvl4pPr>
            <a:lvl5pPr marL="2057400" indent="-228600" eaLnBrk="0" hangingPunct="0">
              <a:defRPr b="1">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Tahoma" panose="020B0604030504040204" pitchFamily="34" charset="0"/>
                <a:ea typeface="宋体" panose="02010600030101010101" pitchFamily="2" charset="-122"/>
              </a:defRPr>
            </a:lvl9pPr>
          </a:lstStyle>
          <a:p>
            <a:pPr algn="ctr" eaLnBrk="1" hangingPunct="1"/>
            <a:r>
              <a:rPr lang="zh-CN" altLang="en-US" sz="1200" dirty="0">
                <a:solidFill>
                  <a:schemeClr val="bg1"/>
                </a:solidFill>
              </a:rPr>
              <a:t>海洋地理信息系统</a:t>
            </a:r>
            <a:endParaRPr lang="zh-CN" altLang="en-US" sz="1800" dirty="0"/>
          </a:p>
        </p:txBody>
      </p:sp>
      <p:sp>
        <p:nvSpPr>
          <p:cNvPr id="17" name="Rectangle 10"/>
          <p:cNvSpPr txBox="1">
            <a:spLocks noChangeArrowheads="1"/>
          </p:cNvSpPr>
          <p:nvPr userDrawn="1"/>
        </p:nvSpPr>
        <p:spPr bwMode="auto">
          <a:xfrm>
            <a:off x="711200" y="1152000"/>
            <a:ext cx="10944000" cy="504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360045" marR="0" lvl="0" indent="-323850" algn="l" defTabSz="914400" rtl="0" eaLnBrk="0" fontAlgn="base" latinLnBrk="0" hangingPunct="0">
              <a:lnSpc>
                <a:spcPct val="100000"/>
              </a:lnSpc>
              <a:spcBef>
                <a:spcPts val="600"/>
              </a:spcBef>
              <a:spcAft>
                <a:spcPts val="600"/>
              </a:spcAft>
              <a:buClr>
                <a:schemeClr val="accent1"/>
              </a:buClr>
              <a:buSzTx/>
              <a:buFont typeface="Wingdings" panose="05000000000000000000" pitchFamily="2" charset="2"/>
              <a:buChar char="Ü"/>
              <a:defRPr/>
            </a:pPr>
            <a:r>
              <a:rPr lang="zh-CN" altLang="en-US" sz="2800" b="1" noProof="0" dirty="0">
                <a:solidFill>
                  <a:schemeClr val="accent1"/>
                </a:solidFill>
                <a:latin typeface="+mn-lt"/>
                <a:ea typeface="+mn-ea"/>
                <a:cs typeface="+mn-cs"/>
              </a:rPr>
              <a:t>单击此处编辑母版文本样式</a:t>
            </a:r>
            <a:endParaRPr lang="zh-CN" altLang="en-US" sz="2800" b="1" noProof="0" dirty="0">
              <a:solidFill>
                <a:schemeClr val="accent1"/>
              </a:solidFill>
              <a:latin typeface="+mn-lt"/>
              <a:ea typeface="+mn-ea"/>
              <a:cs typeface="+mn-cs"/>
            </a:endParaRPr>
          </a:p>
          <a:p>
            <a:pPr marL="720090" marR="0" lvl="1" indent="-323850" algn="l" defTabSz="914400" rtl="0" eaLnBrk="0" fontAlgn="base" latinLnBrk="0" hangingPunct="0">
              <a:lnSpc>
                <a:spcPct val="120000"/>
              </a:lnSpc>
              <a:spcBef>
                <a:spcPts val="600"/>
              </a:spcBef>
              <a:spcAft>
                <a:spcPts val="600"/>
              </a:spcAft>
              <a:buClr>
                <a:srgbClr val="FF33CC"/>
              </a:buClr>
              <a:buSzTx/>
              <a:buFont typeface="Wingdings" panose="05000000000000000000" pitchFamily="2" charset="2"/>
              <a:buChar char="u"/>
              <a:defRPr/>
            </a:pPr>
            <a:r>
              <a:rPr lang="zh-CN" altLang="en-US" sz="2400" b="1" noProof="0" dirty="0">
                <a:solidFill>
                  <a:schemeClr val="tx2"/>
                </a:solidFill>
                <a:latin typeface="+mj-lt"/>
                <a:ea typeface="宋体" panose="02010600030101010101" pitchFamily="2" charset="-122"/>
              </a:rPr>
              <a:t>第二级</a:t>
            </a:r>
            <a:endParaRPr lang="zh-CN" altLang="en-US" sz="2400" b="1" noProof="0" dirty="0">
              <a:solidFill>
                <a:schemeClr val="tx2"/>
              </a:solidFill>
              <a:latin typeface="+mj-lt"/>
              <a:ea typeface="宋体" panose="02010600030101010101" pitchFamily="2" charset="-122"/>
            </a:endParaRPr>
          </a:p>
          <a:p>
            <a:pPr marL="972185" marR="0" lvl="2" indent="-215900" algn="l" defTabSz="914400" rtl="0" eaLnBrk="0" fontAlgn="base" latinLnBrk="0" hangingPunct="0">
              <a:lnSpc>
                <a:spcPct val="120000"/>
              </a:lnSpc>
              <a:spcBef>
                <a:spcPct val="0"/>
              </a:spcBef>
              <a:spcAft>
                <a:spcPts val="600"/>
              </a:spcAft>
              <a:buClr>
                <a:srgbClr val="FF33CC"/>
              </a:buClr>
              <a:buSzTx/>
              <a:buFont typeface="Wingdings" panose="05000000000000000000" pitchFamily="2" charset="2"/>
              <a:buChar char="u"/>
              <a:defRPr/>
            </a:pPr>
            <a:r>
              <a:rPr lang="zh-CN" altLang="en-US" sz="2400" b="1" noProof="0" dirty="0">
                <a:solidFill>
                  <a:schemeClr val="tx2"/>
                </a:solidFill>
                <a:latin typeface="+mj-lt"/>
                <a:ea typeface="宋体" panose="02010600030101010101" pitchFamily="2" charset="-122"/>
              </a:rPr>
              <a:t>第三级</a:t>
            </a:r>
            <a:endParaRPr lang="zh-CN" altLang="en-US" sz="2400" b="1" noProof="0" dirty="0">
              <a:solidFill>
                <a:schemeClr val="tx2"/>
              </a:solidFill>
              <a:latin typeface="+mj-lt"/>
              <a:ea typeface="宋体" panose="02010600030101010101" pitchFamily="2" charset="-122"/>
            </a:endParaRPr>
          </a:p>
          <a:p>
            <a:pPr marL="1332230" marR="0" lvl="3" indent="-215900" algn="l" defTabSz="914400" rtl="0" eaLnBrk="0" fontAlgn="base" latinLnBrk="0" hangingPunct="0">
              <a:lnSpc>
                <a:spcPct val="120000"/>
              </a:lnSpc>
              <a:spcBef>
                <a:spcPct val="0"/>
              </a:spcBef>
              <a:spcAft>
                <a:spcPts val="600"/>
              </a:spcAft>
              <a:buClr>
                <a:srgbClr val="FF33CC"/>
              </a:buClr>
              <a:buSzTx/>
              <a:buFont typeface="Wingdings" panose="05000000000000000000" pitchFamily="2" charset="2"/>
              <a:buChar char="u"/>
              <a:defRPr/>
            </a:pPr>
            <a:r>
              <a:rPr lang="zh-CN" altLang="en-US" sz="2000" b="1" noProof="0" dirty="0">
                <a:solidFill>
                  <a:schemeClr val="tx2"/>
                </a:solidFill>
                <a:latin typeface="+mj-lt"/>
                <a:ea typeface="宋体" panose="02010600030101010101" pitchFamily="2" charset="-122"/>
              </a:rPr>
              <a:t>第四级</a:t>
            </a:r>
            <a:endParaRPr lang="zh-CN" altLang="en-US" sz="2000" b="1" noProof="0" dirty="0">
              <a:solidFill>
                <a:schemeClr val="tx2"/>
              </a:solidFill>
              <a:latin typeface="+mj-lt"/>
              <a:ea typeface="宋体" panose="02010600030101010101" pitchFamily="2" charset="-122"/>
            </a:endParaRPr>
          </a:p>
          <a:p>
            <a:pPr marL="1619885" marR="0" lvl="4" indent="-215900" algn="l" defTabSz="914400" rtl="0" eaLnBrk="0" fontAlgn="base" latinLnBrk="0" hangingPunct="0">
              <a:lnSpc>
                <a:spcPct val="120000"/>
              </a:lnSpc>
              <a:spcBef>
                <a:spcPct val="0"/>
              </a:spcBef>
              <a:spcAft>
                <a:spcPts val="600"/>
              </a:spcAft>
              <a:buClr>
                <a:srgbClr val="FF33CC"/>
              </a:buClr>
              <a:buSzTx/>
              <a:buFont typeface="Wingdings" panose="05000000000000000000" pitchFamily="2" charset="2"/>
              <a:buChar char="u"/>
              <a:defRPr/>
            </a:pPr>
            <a:r>
              <a:rPr lang="zh-CN" altLang="en-US" sz="2000" b="1" noProof="0" dirty="0">
                <a:solidFill>
                  <a:schemeClr val="tx2"/>
                </a:solidFill>
                <a:latin typeface="+mj-lt"/>
                <a:ea typeface="宋体" panose="02010600030101010101" pitchFamily="2" charset="-122"/>
              </a:rPr>
              <a:t>第五级</a:t>
            </a:r>
            <a:endParaRPr lang="zh-CN" altLang="en-US" sz="2000" b="1" noProof="0" dirty="0">
              <a:solidFill>
                <a:schemeClr val="tx2"/>
              </a:solidFill>
              <a:latin typeface="+mj-lt"/>
              <a:ea typeface="宋体" panose="02010600030101010101" pitchFamily="2" charset="-122"/>
            </a:endParaRPr>
          </a:p>
        </p:txBody>
      </p:sp>
      <p:sp>
        <p:nvSpPr>
          <p:cNvPr id="22" name="Rectangle 9"/>
          <p:cNvSpPr>
            <a:spLocks noGrp="1" noChangeArrowheads="1"/>
          </p:cNvSpPr>
          <p:nvPr>
            <p:ph type="title"/>
          </p:nvPr>
        </p:nvSpPr>
        <p:spPr bwMode="white">
          <a:xfrm>
            <a:off x="0" y="134938"/>
            <a:ext cx="12192000" cy="593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lgn="ctr" rtl="0" eaLnBrk="0" fontAlgn="base" hangingPunct="0">
              <a:spcBef>
                <a:spcPct val="0"/>
              </a:spcBef>
              <a:spcAft>
                <a:spcPct val="0"/>
              </a:spcAft>
            </a:pPr>
            <a:r>
              <a:rPr lang="zh-CN" altLang="en-US" dirty="0"/>
              <a:t>单击此处编辑母版标题样式</a:t>
            </a:r>
            <a:endParaRPr lang="zh-CN" alt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p:transition spd="med">
    <p:wipe dir="r"/>
  </p:transition>
  <p:hf sldNum="0" hdr="0"/>
  <p:txStyles>
    <p:titleStyle>
      <a:lvl1pPr algn="ctr" rtl="0" eaLnBrk="0" fontAlgn="base" hangingPunct="0">
        <a:spcBef>
          <a:spcPct val="0"/>
        </a:spcBef>
        <a:spcAft>
          <a:spcPct val="0"/>
        </a:spcAft>
        <a:defRPr lang="zh-CN" altLang="en-US" sz="3200" b="1" dirty="0" smtClean="0">
          <a:solidFill>
            <a:schemeClr val="bg1"/>
          </a:solidFill>
          <a:latin typeface="+mj-lt"/>
          <a:ea typeface="+mj-ea"/>
          <a:cs typeface="+mj-cs"/>
        </a:defRPr>
      </a:lvl1pPr>
      <a:lvl2pPr algn="ctr" rtl="0" eaLnBrk="0" fontAlgn="base" hangingPunct="0">
        <a:spcBef>
          <a:spcPct val="0"/>
        </a:spcBef>
        <a:spcAft>
          <a:spcPct val="0"/>
        </a:spcAft>
        <a:defRPr sz="3200" b="1">
          <a:solidFill>
            <a:schemeClr val="bg1"/>
          </a:solidFill>
          <a:latin typeface="宋体" panose="02010600030101010101" pitchFamily="2" charset="-122"/>
          <a:ea typeface="宋体" panose="02010600030101010101" pitchFamily="2" charset="-122"/>
        </a:defRPr>
      </a:lvl2pPr>
      <a:lvl3pPr algn="ctr" rtl="0" eaLnBrk="0" fontAlgn="base" hangingPunct="0">
        <a:spcBef>
          <a:spcPct val="0"/>
        </a:spcBef>
        <a:spcAft>
          <a:spcPct val="0"/>
        </a:spcAft>
        <a:defRPr sz="3200" b="1">
          <a:solidFill>
            <a:schemeClr val="bg1"/>
          </a:solidFill>
          <a:latin typeface="宋体" panose="02010600030101010101" pitchFamily="2" charset="-122"/>
          <a:ea typeface="宋体" panose="02010600030101010101" pitchFamily="2" charset="-122"/>
        </a:defRPr>
      </a:lvl3pPr>
      <a:lvl4pPr algn="ctr" rtl="0" eaLnBrk="0" fontAlgn="base" hangingPunct="0">
        <a:spcBef>
          <a:spcPct val="0"/>
        </a:spcBef>
        <a:spcAft>
          <a:spcPct val="0"/>
        </a:spcAft>
        <a:defRPr sz="3200" b="1">
          <a:solidFill>
            <a:schemeClr val="bg1"/>
          </a:solidFill>
          <a:latin typeface="宋体" panose="02010600030101010101" pitchFamily="2" charset="-122"/>
          <a:ea typeface="宋体" panose="02010600030101010101" pitchFamily="2" charset="-122"/>
        </a:defRPr>
      </a:lvl4pPr>
      <a:lvl5pPr algn="ctr" rtl="0" eaLnBrk="0" fontAlgn="base" hangingPunct="0">
        <a:spcBef>
          <a:spcPct val="0"/>
        </a:spcBef>
        <a:spcAft>
          <a:spcPct val="0"/>
        </a:spcAft>
        <a:defRPr sz="3200" b="1">
          <a:solidFill>
            <a:schemeClr val="bg1"/>
          </a:solidFill>
          <a:latin typeface="宋体" panose="02010600030101010101" pitchFamily="2" charset="-122"/>
          <a:ea typeface="宋体" panose="02010600030101010101" pitchFamily="2" charset="-122"/>
        </a:defRPr>
      </a:lvl5pPr>
      <a:lvl6pPr marL="457200" algn="ctr" rtl="0" fontAlgn="base">
        <a:spcBef>
          <a:spcPct val="0"/>
        </a:spcBef>
        <a:spcAft>
          <a:spcPct val="0"/>
        </a:spcAft>
        <a:defRPr sz="3200" b="1">
          <a:solidFill>
            <a:schemeClr val="bg1"/>
          </a:solidFill>
          <a:latin typeface="宋体" panose="02010600030101010101" pitchFamily="2" charset="-122"/>
          <a:ea typeface="宋体" panose="02010600030101010101" pitchFamily="2" charset="-122"/>
        </a:defRPr>
      </a:lvl6pPr>
      <a:lvl7pPr marL="914400" algn="ctr" rtl="0" fontAlgn="base">
        <a:spcBef>
          <a:spcPct val="0"/>
        </a:spcBef>
        <a:spcAft>
          <a:spcPct val="0"/>
        </a:spcAft>
        <a:defRPr sz="3200" b="1">
          <a:solidFill>
            <a:schemeClr val="bg1"/>
          </a:solidFill>
          <a:latin typeface="宋体" panose="02010600030101010101" pitchFamily="2" charset="-122"/>
          <a:ea typeface="宋体" panose="02010600030101010101" pitchFamily="2" charset="-122"/>
        </a:defRPr>
      </a:lvl7pPr>
      <a:lvl8pPr marL="1371600" algn="ctr" rtl="0" fontAlgn="base">
        <a:spcBef>
          <a:spcPct val="0"/>
        </a:spcBef>
        <a:spcAft>
          <a:spcPct val="0"/>
        </a:spcAft>
        <a:defRPr sz="3200" b="1">
          <a:solidFill>
            <a:schemeClr val="bg1"/>
          </a:solidFill>
          <a:latin typeface="宋体" panose="02010600030101010101" pitchFamily="2" charset="-122"/>
          <a:ea typeface="宋体" panose="02010600030101010101" pitchFamily="2" charset="-122"/>
        </a:defRPr>
      </a:lvl8pPr>
      <a:lvl9pPr marL="1828800" algn="ctr" rtl="0" fontAlgn="base">
        <a:spcBef>
          <a:spcPct val="0"/>
        </a:spcBef>
        <a:spcAft>
          <a:spcPct val="0"/>
        </a:spcAft>
        <a:defRPr sz="3200" b="1">
          <a:solidFill>
            <a:schemeClr val="bg1"/>
          </a:solidFill>
          <a:latin typeface="宋体" panose="02010600030101010101" pitchFamily="2" charset="-122"/>
          <a:ea typeface="宋体" panose="02010600030101010101" pitchFamily="2" charset="-122"/>
        </a:defRPr>
      </a:lvl9pPr>
    </p:titleStyle>
    <p:bodyStyle>
      <a:lvl1pPr marL="342900" indent="-342900" algn="l" rtl="0" eaLnBrk="0" fontAlgn="base"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mn-lt"/>
          <a:ea typeface="+mn-ea"/>
          <a:cs typeface="+mn-cs"/>
        </a:defRPr>
      </a:lvl1pPr>
      <a:lvl2pPr marL="742950" indent="-285750" algn="l" rtl="0" eaLnBrk="0" fontAlgn="base"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mj-ea"/>
        </a:defRPr>
      </a:lvl2pPr>
      <a:lvl3pPr marL="1143000" indent="-228600" algn="l" rtl="0" eaLnBrk="0" fontAlgn="base"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mj-ea"/>
        </a:defRPr>
      </a:lvl3pPr>
      <a:lvl4pPr marL="1600200" indent="-228600" algn="l" rtl="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mj-ea"/>
        </a:defRPr>
      </a:lvl4pPr>
      <a:lvl5pPr marL="2057400" indent="-228600" algn="l" rtl="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mj-ea"/>
        </a:defRPr>
      </a:lvl5pPr>
      <a:lvl6pPr marL="2514600" indent="-228600" algn="l" rtl="0" fontAlgn="base">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mj-ea"/>
        </a:defRPr>
      </a:lvl6pPr>
      <a:lvl7pPr marL="2971800" indent="-228600" algn="l" rtl="0" fontAlgn="base">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mj-ea"/>
        </a:defRPr>
      </a:lvl7pPr>
      <a:lvl8pPr marL="3429000" indent="-228600" algn="l" rtl="0" fontAlgn="base">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mj-ea"/>
        </a:defRPr>
      </a:lvl8pPr>
      <a:lvl9pPr marL="3886200" indent="-228600" algn="l" rtl="0" fontAlgn="base">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mj-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2.xml"/><Relationship Id="rId5" Type="http://schemas.openxmlformats.org/officeDocument/2006/relationships/slide" Target="slide44.xml"/><Relationship Id="rId4" Type="http://schemas.openxmlformats.org/officeDocument/2006/relationships/slide" Target="slide37.xml"/><Relationship Id="rId3" Type="http://schemas.openxmlformats.org/officeDocument/2006/relationships/slide" Target="slide22.xml"/><Relationship Id="rId2" Type="http://schemas.openxmlformats.org/officeDocument/2006/relationships/slide" Target="slide11.xml"/><Relationship Id="rId1" Type="http://schemas.openxmlformats.org/officeDocument/2006/relationships/slide" Target="slide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slide" Target="slide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slide" Target="slide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tags" Target="../tags/tag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slide" Target="slide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notesSlide" Target="../notesSlides/notesSlide31.xml"/><Relationship Id="rId7"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3" Type="http://schemas.openxmlformats.org/officeDocument/2006/relationships/image" Target="NULL" TargetMode="External"/><Relationship Id="rId2" Type="http://schemas.openxmlformats.org/officeDocument/2006/relationships/image" Target="../media/image12.jpeg"/><Relationship Id="rId1" Type="http://schemas.openxmlformats.org/officeDocument/2006/relationships/hyperlink" Target="http://tupian.baike.com/doc/&#28023;&#27915;&#28014;&#26631;/a4_25_67_01300000179462134430677115457_jpg.html?prd=citiao_tuce_zhengwen" TargetMode="Externa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slide" Target="slide1.xml"/></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6.xml"/><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tags" Target="../tags/tag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17.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slide" Target="slide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sz="quarter"/>
          </p:nvPr>
        </p:nvSpPr>
        <p:spPr/>
        <p:txBody>
          <a:bodyPr/>
          <a:lstStyle/>
          <a:p>
            <a:pPr algn="ctr" eaLnBrk="1" hangingPunct="1"/>
            <a:r>
              <a:rPr lang="zh-CN" altLang="en-US" sz="5400">
                <a:solidFill>
                  <a:srgbClr val="FFC000"/>
                </a:solidFill>
              </a:rPr>
              <a:t>海洋地理信息系统</a:t>
            </a:r>
            <a:br>
              <a:rPr lang="zh-CN" altLang="en-US" sz="2400">
                <a:solidFill>
                  <a:srgbClr val="FFC000"/>
                </a:solidFill>
              </a:rPr>
            </a:br>
            <a:r>
              <a:rPr lang="en-US" altLang="zh-CN" sz="2000" b="0">
                <a:solidFill>
                  <a:schemeClr val="bg1"/>
                </a:solidFill>
              </a:rPr>
              <a:t>Marine Geographical Information System</a:t>
            </a:r>
            <a:endParaRPr lang="en-US" altLang="zh-CN" sz="2000" b="0" dirty="0">
              <a:solidFill>
                <a:schemeClr val="bg1"/>
              </a:solidFill>
            </a:endParaRPr>
          </a:p>
        </p:txBody>
      </p:sp>
      <p:sp>
        <p:nvSpPr>
          <p:cNvPr id="2" name="文本框 1"/>
          <p:cNvSpPr txBox="1"/>
          <p:nvPr/>
        </p:nvSpPr>
        <p:spPr>
          <a:xfrm>
            <a:off x="3323407" y="4437370"/>
            <a:ext cx="5616624" cy="1753235"/>
          </a:xfrm>
          <a:prstGeom prst="rect">
            <a:avLst/>
          </a:prstGeom>
          <a:noFill/>
        </p:spPr>
        <p:txBody>
          <a:bodyPr wrap="square" rtlCol="0">
            <a:spAutoFit/>
          </a:bodyPr>
          <a:lstStyle/>
          <a:p>
            <a:pPr algn="ctr"/>
            <a:endParaRPr lang="en-US" altLang="zh-CN" dirty="0"/>
          </a:p>
          <a:p>
            <a:pPr algn="ctr"/>
            <a:r>
              <a:rPr lang="zh-CN" altLang="en-US" dirty="0"/>
              <a:t>王俊杰 </a:t>
            </a:r>
            <a:endParaRPr lang="zh-CN" altLang="en-US" dirty="0"/>
          </a:p>
          <a:p>
            <a:pPr algn="ctr"/>
            <a:endParaRPr lang="zh-CN" altLang="en-US" dirty="0"/>
          </a:p>
          <a:p>
            <a:pPr algn="ctr"/>
            <a:r>
              <a:rPr lang="en-US" altLang="zh-CN" dirty="0"/>
              <a:t>2026</a:t>
            </a:r>
            <a:r>
              <a:rPr lang="zh-CN" altLang="en-US" dirty="0"/>
              <a:t>年</a:t>
            </a:r>
            <a:r>
              <a:rPr lang="en-US" altLang="zh-CN" dirty="0"/>
              <a:t>3</a:t>
            </a:r>
            <a:r>
              <a:rPr lang="zh-CN" altLang="en-US" dirty="0"/>
              <a:t>月</a:t>
            </a:r>
            <a:r>
              <a:rPr lang="en-US" altLang="zh-CN" dirty="0"/>
              <a:t>30</a:t>
            </a:r>
            <a:r>
              <a:rPr lang="zh-CN" altLang="en-US" dirty="0"/>
              <a:t>日</a:t>
            </a:r>
            <a:endParaRPr lang="en-US" altLang="zh-CN" dirty="0"/>
          </a:p>
          <a:p>
            <a:pPr algn="ctr"/>
            <a:endParaRPr lang="en-US" altLang="zh-CN" dirty="0"/>
          </a:p>
          <a:p>
            <a:pPr algn="ctr"/>
            <a:r>
              <a:rPr lang="zh-CN" altLang="en-US" dirty="0"/>
              <a:t>  </a:t>
            </a:r>
            <a:endParaRPr lang="zh-CN" altLang="en-US" dirty="0"/>
          </a:p>
        </p:txBody>
      </p:sp>
    </p:spTree>
  </p:cSld>
  <p:clrMapOvr>
    <a:masterClrMapping/>
  </p:clrMapOvr>
  <p:transition spd="med">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95C9E3B3-1A68-41F9-8B00-0BFEEB48C61E}"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6147" name="Line 3"/>
          <p:cNvSpPr>
            <a:spLocks noChangeShapeType="1"/>
          </p:cNvSpPr>
          <p:nvPr/>
        </p:nvSpPr>
        <p:spPr bwMode="auto">
          <a:xfrm>
            <a:off x="3595688" y="3052763"/>
            <a:ext cx="5113337" cy="0"/>
          </a:xfrm>
          <a:prstGeom prst="line">
            <a:avLst/>
          </a:prstGeom>
          <a:noFill/>
          <a:ln w="25400">
            <a:solidFill>
              <a:schemeClr val="tx1"/>
            </a:solidFill>
            <a:prstDash val="sysDot"/>
            <a:rou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8" name="Line 4"/>
          <p:cNvSpPr>
            <a:spLocks noChangeShapeType="1"/>
          </p:cNvSpPr>
          <p:nvPr/>
        </p:nvSpPr>
        <p:spPr bwMode="auto">
          <a:xfrm>
            <a:off x="3570288" y="2276475"/>
            <a:ext cx="5113337" cy="0"/>
          </a:xfrm>
          <a:prstGeom prst="line">
            <a:avLst/>
          </a:prstGeom>
          <a:noFill/>
          <a:ln w="25400">
            <a:solidFill>
              <a:schemeClr val="tx1"/>
            </a:solidFill>
            <a:prstDash val="sysDot"/>
            <a:rou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6149" name="Group 5"/>
          <p:cNvGrpSpPr/>
          <p:nvPr/>
        </p:nvGrpSpPr>
        <p:grpSpPr bwMode="auto">
          <a:xfrm>
            <a:off x="3000375" y="1792967"/>
            <a:ext cx="601309" cy="537263"/>
            <a:chOff x="624" y="1579"/>
            <a:chExt cx="1170" cy="1171"/>
          </a:xfrm>
        </p:grpSpPr>
        <p:sp>
          <p:nvSpPr>
            <p:cNvPr id="141318" name="Oval 6"/>
            <p:cNvSpPr>
              <a:spLocks noChangeArrowheads="1"/>
            </p:cNvSpPr>
            <p:nvPr/>
          </p:nvSpPr>
          <p:spPr bwMode="gray">
            <a:xfrm>
              <a:off x="624" y="1579"/>
              <a:ext cx="969" cy="1171"/>
            </a:xfrm>
            <a:prstGeom prst="ellipse">
              <a:avLst/>
            </a:prstGeom>
            <a:gradFill rotWithShape="1">
              <a:gsLst>
                <a:gs pos="0">
                  <a:schemeClr val="folHlink">
                    <a:gamma/>
                    <a:tint val="0"/>
                    <a:invGamma/>
                  </a:schemeClr>
                </a:gs>
                <a:gs pos="50000">
                  <a:schemeClr val="folHlink"/>
                </a:gs>
                <a:gs pos="100000">
                  <a:schemeClr val="folHlink">
                    <a:gamma/>
                    <a:tint val="0"/>
                    <a:invGamma/>
                  </a:schemeClr>
                </a:gs>
              </a:gsLst>
              <a:lin ang="2700000" scaled="1"/>
            </a:gradFill>
            <a:ln w="38100" algn="ctr">
              <a:noFill/>
              <a:round/>
            </a:ln>
            <a:effectLst/>
          </p:spPr>
          <p:txBody>
            <a:bodyPr wrap="none" anchor="ctr">
              <a:spAutoFit/>
            </a:bodyPr>
            <a:lstStyle/>
            <a:p>
              <a:pPr>
                <a:defRPr/>
              </a:pPr>
              <a:endParaRPr lang="zh-CN" altLang="en-US">
                <a:ea typeface="宋体" panose="02010600030101010101" pitchFamily="2" charset="-122"/>
              </a:endParaRPr>
            </a:p>
          </p:txBody>
        </p:sp>
        <p:sp>
          <p:nvSpPr>
            <p:cNvPr id="141319" name="Oval 7"/>
            <p:cNvSpPr>
              <a:spLocks noChangeArrowheads="1"/>
            </p:cNvSpPr>
            <p:nvPr/>
          </p:nvSpPr>
          <p:spPr bwMode="gray">
            <a:xfrm>
              <a:off x="624" y="1579"/>
              <a:ext cx="969" cy="1171"/>
            </a:xfrm>
            <a:prstGeom prst="ellipse">
              <a:avLst/>
            </a:prstGeom>
            <a:gradFill rotWithShape="1">
              <a:gsLst>
                <a:gs pos="0">
                  <a:schemeClr val="folHlink">
                    <a:alpha val="32001"/>
                  </a:schemeClr>
                </a:gs>
                <a:gs pos="100000">
                  <a:schemeClr val="folHlink">
                    <a:gamma/>
                    <a:shade val="0"/>
                    <a:invGamma/>
                    <a:alpha val="89999"/>
                  </a:schemeClr>
                </a:gs>
              </a:gsLst>
              <a:lin ang="2700000" scaled="1"/>
            </a:gradFill>
            <a:ln w="38100" algn="ctr">
              <a:noFill/>
              <a:round/>
            </a:ln>
            <a:effectLst/>
          </p:spPr>
          <p:txBody>
            <a:bodyPr wrap="none" anchor="ctr">
              <a:spAutoFit/>
            </a:bodyPr>
            <a:lstStyle/>
            <a:p>
              <a:pPr>
                <a:defRPr/>
              </a:pPr>
              <a:endParaRPr lang="zh-CN" altLang="en-US">
                <a:ea typeface="宋体" panose="02010600030101010101" pitchFamily="2" charset="-122"/>
              </a:endParaRPr>
            </a:p>
          </p:txBody>
        </p:sp>
        <p:sp>
          <p:nvSpPr>
            <p:cNvPr id="141320" name="Oval 8"/>
            <p:cNvSpPr>
              <a:spLocks noChangeArrowheads="1"/>
            </p:cNvSpPr>
            <p:nvPr/>
          </p:nvSpPr>
          <p:spPr bwMode="gray">
            <a:xfrm>
              <a:off x="707" y="1603"/>
              <a:ext cx="1084" cy="1122"/>
            </a:xfrm>
            <a:prstGeom prst="ellipse">
              <a:avLst/>
            </a:prstGeom>
            <a:gradFill rotWithShape="1">
              <a:gsLst>
                <a:gs pos="0">
                  <a:schemeClr val="folHlink">
                    <a:gamma/>
                    <a:shade val="54118"/>
                    <a:invGamma/>
                  </a:schemeClr>
                </a:gs>
                <a:gs pos="50000">
                  <a:schemeClr val="folHlink"/>
                </a:gs>
                <a:gs pos="100000">
                  <a:schemeClr val="folHlink">
                    <a:gamma/>
                    <a:shade val="54118"/>
                    <a:invGamma/>
                  </a:schemeClr>
                </a:gs>
              </a:gsLst>
              <a:lin ang="18900000" scaled="1"/>
            </a:gradFill>
            <a:ln w="38100" algn="ctr">
              <a:noFill/>
              <a:round/>
            </a:ln>
            <a:effectLst/>
          </p:spPr>
          <p:txBody>
            <a:bodyPr anchor="ctr">
              <a:spAutoFit/>
            </a:bodyPr>
            <a:lstStyle/>
            <a:p>
              <a:pPr>
                <a:defRPr/>
              </a:pPr>
              <a:endParaRPr lang="zh-CN" altLang="en-US">
                <a:ea typeface="宋体" panose="02010600030101010101" pitchFamily="2" charset="-122"/>
              </a:endParaRPr>
            </a:p>
          </p:txBody>
        </p:sp>
        <p:sp>
          <p:nvSpPr>
            <p:cNvPr id="141321" name="Oval 9"/>
            <p:cNvSpPr>
              <a:spLocks noChangeArrowheads="1"/>
            </p:cNvSpPr>
            <p:nvPr/>
          </p:nvSpPr>
          <p:spPr bwMode="gray">
            <a:xfrm>
              <a:off x="707" y="1604"/>
              <a:ext cx="1087" cy="1123"/>
            </a:xfrm>
            <a:prstGeom prst="ellipse">
              <a:avLst/>
            </a:prstGeom>
            <a:gradFill rotWithShape="1">
              <a:gsLst>
                <a:gs pos="0">
                  <a:schemeClr val="folHlink">
                    <a:gamma/>
                    <a:shade val="63529"/>
                    <a:invGamma/>
                  </a:schemeClr>
                </a:gs>
                <a:gs pos="100000">
                  <a:schemeClr val="folHlink">
                    <a:alpha val="0"/>
                  </a:schemeClr>
                </a:gs>
              </a:gsLst>
              <a:lin ang="2700000" scaled="1"/>
            </a:gradFill>
            <a:ln w="38100" algn="ctr">
              <a:noFill/>
              <a:round/>
            </a:ln>
            <a:effectLst/>
          </p:spPr>
          <p:txBody>
            <a:bodyPr anchor="ctr">
              <a:spAutoFit/>
            </a:bodyPr>
            <a:lstStyle/>
            <a:p>
              <a:pPr>
                <a:defRPr/>
              </a:pPr>
              <a:endParaRPr lang="zh-CN" altLang="en-US">
                <a:ea typeface="宋体" panose="02010600030101010101" pitchFamily="2" charset="-122"/>
              </a:endParaRPr>
            </a:p>
          </p:txBody>
        </p:sp>
        <p:sp>
          <p:nvSpPr>
            <p:cNvPr id="6226" name="Oval 10"/>
            <p:cNvSpPr>
              <a:spLocks noChangeArrowheads="1"/>
            </p:cNvSpPr>
            <p:nvPr/>
          </p:nvSpPr>
          <p:spPr bwMode="gray">
            <a:xfrm>
              <a:off x="760" y="1619"/>
              <a:ext cx="979" cy="1091"/>
            </a:xfrm>
            <a:prstGeom prst="ellipse">
              <a:avLst/>
            </a:prstGeom>
            <a:solidFill>
              <a:srgbClr val="333333"/>
            </a:solidFill>
            <a:ln>
              <a:noFill/>
            </a:ln>
            <a:extLst>
              <a:ext uri="{91240B29-F687-4F45-9708-019B960494DF}">
                <a14:hiddenLine xmlns:a14="http://schemas.microsoft.com/office/drawing/2010/main" w="38100">
                  <a:solidFill>
                    <a:srgbClr val="000000"/>
                  </a:solidFill>
                  <a:round/>
                </a14:hiddenLine>
              </a:ext>
            </a:extLst>
          </p:spPr>
          <p:txBody>
            <a:bodyPr anchor="ctr">
              <a:spAutoFit/>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endParaRPr lang="zh-CN" altLang="en-US" sz="1800">
                <a:solidFill>
                  <a:schemeClr val="tx1"/>
                </a:solidFill>
                <a:latin typeface="Tahoma" panose="020B0604030504040204" pitchFamily="34" charset="0"/>
              </a:endParaRPr>
            </a:p>
          </p:txBody>
        </p:sp>
        <p:grpSp>
          <p:nvGrpSpPr>
            <p:cNvPr id="6227" name="Group 11"/>
            <p:cNvGrpSpPr/>
            <p:nvPr/>
          </p:nvGrpSpPr>
          <p:grpSpPr bwMode="auto">
            <a:xfrm>
              <a:off x="776" y="1687"/>
              <a:ext cx="947" cy="952"/>
              <a:chOff x="4166" y="1706"/>
              <a:chExt cx="1252" cy="1252"/>
            </a:xfrm>
          </p:grpSpPr>
          <p:sp>
            <p:nvSpPr>
              <p:cNvPr id="6228" name="Oval 12"/>
              <p:cNvSpPr>
                <a:spLocks noChangeArrowheads="1"/>
              </p:cNvSpPr>
              <p:nvPr/>
            </p:nvSpPr>
            <p:spPr bwMode="gray">
              <a:xfrm>
                <a:off x="4166" y="1706"/>
                <a:ext cx="1252" cy="1252"/>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endParaRPr lang="zh-CN" altLang="en-US" sz="1800">
                  <a:solidFill>
                    <a:schemeClr val="tx1"/>
                  </a:solidFill>
                  <a:latin typeface="Tahoma" panose="020B0604030504040204" pitchFamily="34" charset="0"/>
                </a:endParaRPr>
              </a:p>
            </p:txBody>
          </p:sp>
          <p:sp>
            <p:nvSpPr>
              <p:cNvPr id="6229" name="Oval 13"/>
              <p:cNvSpPr>
                <a:spLocks noChangeArrowheads="1"/>
              </p:cNvSpPr>
              <p:nvPr/>
            </p:nvSpPr>
            <p:spPr bwMode="gray">
              <a:xfrm>
                <a:off x="4182" y="1713"/>
                <a:ext cx="1222" cy="1221"/>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endParaRPr lang="zh-CN" altLang="en-US" sz="1800">
                  <a:solidFill>
                    <a:schemeClr val="tx1"/>
                  </a:solidFill>
                  <a:latin typeface="Tahoma" panose="020B0604030504040204" pitchFamily="34" charset="0"/>
                </a:endParaRPr>
              </a:p>
            </p:txBody>
          </p:sp>
          <p:sp>
            <p:nvSpPr>
              <p:cNvPr id="6230" name="Oval 14"/>
              <p:cNvSpPr>
                <a:spLocks noChangeArrowheads="1"/>
              </p:cNvSpPr>
              <p:nvPr/>
            </p:nvSpPr>
            <p:spPr bwMode="gray">
              <a:xfrm>
                <a:off x="4195" y="1725"/>
                <a:ext cx="1162" cy="1141"/>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endParaRPr lang="zh-CN" altLang="en-US" sz="1800">
                  <a:solidFill>
                    <a:schemeClr val="tx1"/>
                  </a:solidFill>
                  <a:latin typeface="Tahoma" panose="020B0604030504040204" pitchFamily="34" charset="0"/>
                </a:endParaRPr>
              </a:p>
            </p:txBody>
          </p:sp>
          <p:sp>
            <p:nvSpPr>
              <p:cNvPr id="6231" name="Oval 15"/>
              <p:cNvSpPr>
                <a:spLocks noChangeArrowheads="1"/>
              </p:cNvSpPr>
              <p:nvPr/>
            </p:nvSpPr>
            <p:spPr bwMode="gray">
              <a:xfrm>
                <a:off x="4263" y="1757"/>
                <a:ext cx="1033" cy="926"/>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endParaRPr lang="zh-CN" altLang="en-US" sz="1800">
                  <a:solidFill>
                    <a:schemeClr val="tx1"/>
                  </a:solidFill>
                  <a:latin typeface="Tahoma" panose="020B0604030504040204" pitchFamily="34" charset="0"/>
                </a:endParaRPr>
              </a:p>
            </p:txBody>
          </p:sp>
        </p:grpSp>
      </p:grpSp>
      <p:grpSp>
        <p:nvGrpSpPr>
          <p:cNvPr id="6150" name="Group 16"/>
          <p:cNvGrpSpPr/>
          <p:nvPr/>
        </p:nvGrpSpPr>
        <p:grpSpPr bwMode="auto">
          <a:xfrm>
            <a:off x="3019425" y="2599666"/>
            <a:ext cx="609745" cy="549005"/>
            <a:chOff x="1248" y="1534"/>
            <a:chExt cx="771" cy="737"/>
          </a:xfrm>
        </p:grpSpPr>
        <p:sp>
          <p:nvSpPr>
            <p:cNvPr id="141329" name="Oval 17"/>
            <p:cNvSpPr>
              <a:spLocks noChangeArrowheads="1"/>
            </p:cNvSpPr>
            <p:nvPr/>
          </p:nvSpPr>
          <p:spPr bwMode="gray">
            <a:xfrm>
              <a:off x="1248" y="1534"/>
              <a:ext cx="632" cy="737"/>
            </a:xfrm>
            <a:prstGeom prst="ellipse">
              <a:avLst/>
            </a:prstGeom>
            <a:gradFill rotWithShape="1">
              <a:gsLst>
                <a:gs pos="0">
                  <a:schemeClr val="accent1">
                    <a:gamma/>
                    <a:tint val="0"/>
                    <a:invGamma/>
                  </a:schemeClr>
                </a:gs>
                <a:gs pos="50000">
                  <a:schemeClr val="accent1"/>
                </a:gs>
                <a:gs pos="100000">
                  <a:schemeClr val="accent1">
                    <a:gamma/>
                    <a:tint val="0"/>
                    <a:invGamma/>
                  </a:schemeClr>
                </a:gs>
              </a:gsLst>
              <a:lin ang="2700000" scaled="1"/>
            </a:gradFill>
            <a:ln w="38100" algn="ctr">
              <a:noFill/>
              <a:round/>
            </a:ln>
            <a:effectLst/>
          </p:spPr>
          <p:txBody>
            <a:bodyPr wrap="none" anchor="ctr">
              <a:spAutoFit/>
            </a:bodyPr>
            <a:lstStyle/>
            <a:p>
              <a:pPr>
                <a:defRPr/>
              </a:pPr>
              <a:endParaRPr lang="zh-CN" altLang="en-US">
                <a:ea typeface="宋体" panose="02010600030101010101" pitchFamily="2" charset="-122"/>
              </a:endParaRPr>
            </a:p>
          </p:txBody>
        </p:sp>
        <p:sp>
          <p:nvSpPr>
            <p:cNvPr id="141330" name="Oval 18"/>
            <p:cNvSpPr>
              <a:spLocks noChangeArrowheads="1"/>
            </p:cNvSpPr>
            <p:nvPr/>
          </p:nvSpPr>
          <p:spPr bwMode="gray">
            <a:xfrm>
              <a:off x="1248" y="1534"/>
              <a:ext cx="632" cy="737"/>
            </a:xfrm>
            <a:prstGeom prst="ellipse">
              <a:avLst/>
            </a:prstGeom>
            <a:gradFill rotWithShape="1">
              <a:gsLst>
                <a:gs pos="0">
                  <a:schemeClr val="accent1">
                    <a:alpha val="32001"/>
                  </a:schemeClr>
                </a:gs>
                <a:gs pos="100000">
                  <a:schemeClr val="accent1">
                    <a:gamma/>
                    <a:shade val="0"/>
                    <a:invGamma/>
                    <a:alpha val="89999"/>
                  </a:schemeClr>
                </a:gs>
              </a:gsLst>
              <a:lin ang="2700000" scaled="1"/>
            </a:gradFill>
            <a:ln w="38100" algn="ctr">
              <a:noFill/>
              <a:round/>
            </a:ln>
            <a:effectLst/>
          </p:spPr>
          <p:txBody>
            <a:bodyPr wrap="none" anchor="ctr">
              <a:spAutoFit/>
            </a:bodyPr>
            <a:lstStyle/>
            <a:p>
              <a:pPr>
                <a:defRPr/>
              </a:pPr>
              <a:endParaRPr lang="zh-CN" altLang="en-US">
                <a:ea typeface="宋体" panose="02010600030101010101" pitchFamily="2" charset="-122"/>
              </a:endParaRPr>
            </a:p>
          </p:txBody>
        </p:sp>
        <p:sp>
          <p:nvSpPr>
            <p:cNvPr id="141331" name="Oval 19"/>
            <p:cNvSpPr>
              <a:spLocks noChangeArrowheads="1"/>
            </p:cNvSpPr>
            <p:nvPr/>
          </p:nvSpPr>
          <p:spPr bwMode="gray">
            <a:xfrm>
              <a:off x="1302" y="1549"/>
              <a:ext cx="713" cy="706"/>
            </a:xfrm>
            <a:prstGeom prst="ellipse">
              <a:avLst/>
            </a:prstGeom>
            <a:gradFill rotWithShape="1">
              <a:gsLst>
                <a:gs pos="0">
                  <a:schemeClr val="accent1">
                    <a:gamma/>
                    <a:shade val="54118"/>
                    <a:invGamma/>
                  </a:schemeClr>
                </a:gs>
                <a:gs pos="50000">
                  <a:schemeClr val="accent1"/>
                </a:gs>
                <a:gs pos="100000">
                  <a:schemeClr val="accent1">
                    <a:gamma/>
                    <a:shade val="54118"/>
                    <a:invGamma/>
                  </a:schemeClr>
                </a:gs>
              </a:gsLst>
              <a:lin ang="18900000" scaled="1"/>
            </a:gradFill>
            <a:ln w="38100" algn="ctr">
              <a:noFill/>
              <a:round/>
            </a:ln>
            <a:effectLst/>
          </p:spPr>
          <p:txBody>
            <a:bodyPr anchor="ctr">
              <a:spAutoFit/>
            </a:bodyPr>
            <a:lstStyle/>
            <a:p>
              <a:pPr>
                <a:defRPr/>
              </a:pPr>
              <a:endParaRPr lang="zh-CN" altLang="en-US">
                <a:ea typeface="宋体" panose="02010600030101010101" pitchFamily="2" charset="-122"/>
              </a:endParaRPr>
            </a:p>
          </p:txBody>
        </p:sp>
        <p:sp>
          <p:nvSpPr>
            <p:cNvPr id="141332" name="Oval 20"/>
            <p:cNvSpPr>
              <a:spLocks noChangeArrowheads="1"/>
            </p:cNvSpPr>
            <p:nvPr/>
          </p:nvSpPr>
          <p:spPr bwMode="gray">
            <a:xfrm>
              <a:off x="1304" y="1549"/>
              <a:ext cx="715" cy="706"/>
            </a:xfrm>
            <a:prstGeom prst="ellipse">
              <a:avLst/>
            </a:prstGeom>
            <a:gradFill rotWithShape="1">
              <a:gsLst>
                <a:gs pos="0">
                  <a:schemeClr val="accent1">
                    <a:gamma/>
                    <a:shade val="63529"/>
                    <a:invGamma/>
                  </a:schemeClr>
                </a:gs>
                <a:gs pos="100000">
                  <a:schemeClr val="accent1">
                    <a:alpha val="0"/>
                  </a:schemeClr>
                </a:gs>
              </a:gsLst>
              <a:lin ang="2700000" scaled="1"/>
            </a:gradFill>
            <a:ln w="38100" algn="ctr">
              <a:noFill/>
              <a:round/>
            </a:ln>
            <a:effectLst/>
          </p:spPr>
          <p:txBody>
            <a:bodyPr anchor="ctr">
              <a:spAutoFit/>
            </a:bodyPr>
            <a:lstStyle/>
            <a:p>
              <a:pPr>
                <a:defRPr/>
              </a:pPr>
              <a:endParaRPr lang="zh-CN" altLang="en-US">
                <a:ea typeface="宋体" panose="02010600030101010101" pitchFamily="2" charset="-122"/>
              </a:endParaRPr>
            </a:p>
          </p:txBody>
        </p:sp>
        <p:sp>
          <p:nvSpPr>
            <p:cNvPr id="6216" name="Oval 21"/>
            <p:cNvSpPr>
              <a:spLocks noChangeArrowheads="1"/>
            </p:cNvSpPr>
            <p:nvPr/>
          </p:nvSpPr>
          <p:spPr bwMode="gray">
            <a:xfrm>
              <a:off x="1337" y="1560"/>
              <a:ext cx="643" cy="685"/>
            </a:xfrm>
            <a:prstGeom prst="ellipse">
              <a:avLst/>
            </a:prstGeom>
            <a:solidFill>
              <a:srgbClr val="333333"/>
            </a:solidFill>
            <a:ln>
              <a:noFill/>
            </a:ln>
            <a:extLst>
              <a:ext uri="{91240B29-F687-4F45-9708-019B960494DF}">
                <a14:hiddenLine xmlns:a14="http://schemas.microsoft.com/office/drawing/2010/main" w="38100">
                  <a:solidFill>
                    <a:srgbClr val="000000"/>
                  </a:solidFill>
                  <a:round/>
                </a14:hiddenLine>
              </a:ext>
            </a:extLst>
          </p:spPr>
          <p:txBody>
            <a:bodyPr anchor="ctr">
              <a:spAutoFit/>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endParaRPr lang="zh-CN" altLang="en-US" sz="1800">
                <a:solidFill>
                  <a:schemeClr val="tx1"/>
                </a:solidFill>
                <a:latin typeface="Tahoma" panose="020B0604030504040204" pitchFamily="34" charset="0"/>
              </a:endParaRPr>
            </a:p>
          </p:txBody>
        </p:sp>
        <p:grpSp>
          <p:nvGrpSpPr>
            <p:cNvPr id="6217" name="Group 22"/>
            <p:cNvGrpSpPr/>
            <p:nvPr/>
          </p:nvGrpSpPr>
          <p:grpSpPr bwMode="auto">
            <a:xfrm>
              <a:off x="1348" y="1588"/>
              <a:ext cx="621" cy="628"/>
              <a:chOff x="4166" y="1706"/>
              <a:chExt cx="1252" cy="1252"/>
            </a:xfrm>
          </p:grpSpPr>
          <p:sp>
            <p:nvSpPr>
              <p:cNvPr id="6218" name="Oval 23"/>
              <p:cNvSpPr>
                <a:spLocks noChangeArrowheads="1"/>
              </p:cNvSpPr>
              <p:nvPr/>
            </p:nvSpPr>
            <p:spPr bwMode="gray">
              <a:xfrm>
                <a:off x="4166" y="1706"/>
                <a:ext cx="1252" cy="1252"/>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endParaRPr lang="zh-CN" altLang="en-US" sz="1800">
                  <a:solidFill>
                    <a:schemeClr val="tx1"/>
                  </a:solidFill>
                  <a:latin typeface="Tahoma" panose="020B0604030504040204" pitchFamily="34" charset="0"/>
                </a:endParaRPr>
              </a:p>
            </p:txBody>
          </p:sp>
          <p:sp>
            <p:nvSpPr>
              <p:cNvPr id="6219" name="Oval 24"/>
              <p:cNvSpPr>
                <a:spLocks noChangeArrowheads="1"/>
              </p:cNvSpPr>
              <p:nvPr/>
            </p:nvSpPr>
            <p:spPr bwMode="gray">
              <a:xfrm>
                <a:off x="4182" y="1713"/>
                <a:ext cx="1222" cy="1221"/>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endParaRPr lang="zh-CN" altLang="en-US" sz="1800">
                  <a:solidFill>
                    <a:schemeClr val="tx1"/>
                  </a:solidFill>
                  <a:latin typeface="Tahoma" panose="020B0604030504040204" pitchFamily="34" charset="0"/>
                </a:endParaRPr>
              </a:p>
            </p:txBody>
          </p:sp>
          <p:sp>
            <p:nvSpPr>
              <p:cNvPr id="6220" name="Oval 25"/>
              <p:cNvSpPr>
                <a:spLocks noChangeArrowheads="1"/>
              </p:cNvSpPr>
              <p:nvPr/>
            </p:nvSpPr>
            <p:spPr bwMode="gray">
              <a:xfrm>
                <a:off x="4195" y="1725"/>
                <a:ext cx="1162" cy="1141"/>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endParaRPr lang="zh-CN" altLang="en-US" sz="1800">
                  <a:solidFill>
                    <a:schemeClr val="tx1"/>
                  </a:solidFill>
                  <a:latin typeface="Tahoma" panose="020B0604030504040204" pitchFamily="34" charset="0"/>
                </a:endParaRPr>
              </a:p>
            </p:txBody>
          </p:sp>
          <p:sp>
            <p:nvSpPr>
              <p:cNvPr id="6221" name="Oval 26"/>
              <p:cNvSpPr>
                <a:spLocks noChangeArrowheads="1"/>
              </p:cNvSpPr>
              <p:nvPr/>
            </p:nvSpPr>
            <p:spPr bwMode="gray">
              <a:xfrm>
                <a:off x="4263" y="1757"/>
                <a:ext cx="1033" cy="926"/>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endParaRPr lang="zh-CN" altLang="en-US" sz="1800">
                  <a:solidFill>
                    <a:schemeClr val="tx1"/>
                  </a:solidFill>
                  <a:latin typeface="Tahoma" panose="020B0604030504040204" pitchFamily="34" charset="0"/>
                </a:endParaRPr>
              </a:p>
            </p:txBody>
          </p:sp>
        </p:grpSp>
      </p:grpSp>
      <p:sp>
        <p:nvSpPr>
          <p:cNvPr id="6151" name="Text Box 27"/>
          <p:cNvSpPr txBox="1">
            <a:spLocks noChangeArrowheads="1"/>
          </p:cNvSpPr>
          <p:nvPr/>
        </p:nvSpPr>
        <p:spPr bwMode="auto">
          <a:xfrm>
            <a:off x="3140075" y="1828800"/>
            <a:ext cx="3603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ClrTx/>
              <a:buFontTx/>
              <a:buNone/>
            </a:pPr>
            <a:r>
              <a:rPr lang="en-US" altLang="zh-CN" sz="2400">
                <a:solidFill>
                  <a:schemeClr val="tx2"/>
                </a:solidFill>
                <a:latin typeface="Arial" panose="020B0604020202020204" pitchFamily="34" charset="0"/>
              </a:rPr>
              <a:t>1</a:t>
            </a:r>
            <a:endParaRPr lang="en-US" altLang="zh-CN" sz="2400">
              <a:solidFill>
                <a:schemeClr val="tx2"/>
              </a:solidFill>
              <a:latin typeface="Arial" panose="020B0604020202020204" pitchFamily="34" charset="0"/>
            </a:endParaRPr>
          </a:p>
        </p:txBody>
      </p:sp>
      <p:sp>
        <p:nvSpPr>
          <p:cNvPr id="6152" name="Text Box 28"/>
          <p:cNvSpPr txBox="1">
            <a:spLocks noChangeArrowheads="1"/>
          </p:cNvSpPr>
          <p:nvPr/>
        </p:nvSpPr>
        <p:spPr bwMode="auto">
          <a:xfrm>
            <a:off x="3165475" y="2643188"/>
            <a:ext cx="3635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ClrTx/>
              <a:buFontTx/>
              <a:buNone/>
            </a:pPr>
            <a:r>
              <a:rPr lang="en-US" altLang="zh-CN" sz="2400">
                <a:solidFill>
                  <a:schemeClr val="tx2"/>
                </a:solidFill>
                <a:latin typeface="Arial" panose="020B0604020202020204" pitchFamily="34" charset="0"/>
              </a:rPr>
              <a:t>2</a:t>
            </a:r>
            <a:endParaRPr lang="en-US" altLang="zh-CN" sz="2400">
              <a:solidFill>
                <a:schemeClr val="tx2"/>
              </a:solidFill>
              <a:latin typeface="Arial" panose="020B0604020202020204" pitchFamily="34" charset="0"/>
            </a:endParaRPr>
          </a:p>
        </p:txBody>
      </p:sp>
      <p:sp>
        <p:nvSpPr>
          <p:cNvPr id="141341" name="Rectangle 29"/>
          <p:cNvSpPr>
            <a:spLocks noChangeArrowheads="1"/>
          </p:cNvSpPr>
          <p:nvPr/>
        </p:nvSpPr>
        <p:spPr bwMode="auto">
          <a:xfrm>
            <a:off x="3756025" y="1844675"/>
            <a:ext cx="5930900"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r>
              <a:rPr lang="zh-CN" altLang="en-US" sz="2200" dirty="0">
                <a:solidFill>
                  <a:srgbClr val="000000"/>
                </a:solidFill>
                <a:latin typeface="Tahoma" panose="020B0604030504040204" pitchFamily="34" charset="0"/>
                <a:hlinkClick r:id="rId1" action="ppaction://hlinksldjump"/>
              </a:rPr>
              <a:t>海洋时空尺度</a:t>
            </a:r>
            <a:endParaRPr lang="zh-CN" altLang="en-US" sz="2200" u="sng" dirty="0">
              <a:solidFill>
                <a:srgbClr val="000000"/>
              </a:solidFill>
              <a:latin typeface="Tahoma" panose="020B0604030504040204" pitchFamily="34" charset="0"/>
            </a:endParaRPr>
          </a:p>
        </p:txBody>
      </p:sp>
      <p:sp>
        <p:nvSpPr>
          <p:cNvPr id="141342" name="Rectangle 30"/>
          <p:cNvSpPr>
            <a:spLocks noChangeArrowheads="1"/>
          </p:cNvSpPr>
          <p:nvPr/>
        </p:nvSpPr>
        <p:spPr bwMode="auto">
          <a:xfrm>
            <a:off x="3754438" y="2611914"/>
            <a:ext cx="5365750"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0" anchor="ctr">
            <a:spAutoFit/>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r>
              <a:rPr lang="zh-CN" altLang="en-US" sz="2200" dirty="0">
                <a:solidFill>
                  <a:srgbClr val="000000"/>
                </a:solidFill>
                <a:latin typeface="Tahoma" panose="020B0604030504040204" pitchFamily="34" charset="0"/>
                <a:hlinkClick r:id="rId2" action="ppaction://hlinksldjump"/>
              </a:rPr>
              <a:t>海洋数据基准</a:t>
            </a:r>
            <a:endParaRPr kumimoji="1" lang="zh-CN" altLang="en-US" sz="2200" dirty="0">
              <a:solidFill>
                <a:schemeClr val="tx1"/>
              </a:solidFill>
              <a:latin typeface="Tahoma" panose="020B0604030504040204" pitchFamily="34" charset="0"/>
            </a:endParaRPr>
          </a:p>
        </p:txBody>
      </p:sp>
      <p:sp>
        <p:nvSpPr>
          <p:cNvPr id="6155" name="Line 32"/>
          <p:cNvSpPr>
            <a:spLocks noChangeShapeType="1"/>
          </p:cNvSpPr>
          <p:nvPr/>
        </p:nvSpPr>
        <p:spPr bwMode="auto">
          <a:xfrm>
            <a:off x="3570288" y="3860800"/>
            <a:ext cx="5113337" cy="0"/>
          </a:xfrm>
          <a:prstGeom prst="line">
            <a:avLst/>
          </a:prstGeom>
          <a:noFill/>
          <a:ln w="25400">
            <a:solidFill>
              <a:schemeClr val="tx1"/>
            </a:solidFill>
            <a:prstDash val="sysDot"/>
            <a:rou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6156" name="Group 33"/>
          <p:cNvGrpSpPr/>
          <p:nvPr/>
        </p:nvGrpSpPr>
        <p:grpSpPr bwMode="auto">
          <a:xfrm>
            <a:off x="3000375" y="3340779"/>
            <a:ext cx="601309" cy="537264"/>
            <a:chOff x="624" y="1579"/>
            <a:chExt cx="1170" cy="1171"/>
          </a:xfrm>
        </p:grpSpPr>
        <p:sp>
          <p:nvSpPr>
            <p:cNvPr id="141346" name="Oval 34"/>
            <p:cNvSpPr>
              <a:spLocks noChangeArrowheads="1"/>
            </p:cNvSpPr>
            <p:nvPr/>
          </p:nvSpPr>
          <p:spPr bwMode="gray">
            <a:xfrm>
              <a:off x="624" y="1579"/>
              <a:ext cx="969" cy="1171"/>
            </a:xfrm>
            <a:prstGeom prst="ellipse">
              <a:avLst/>
            </a:prstGeom>
            <a:gradFill rotWithShape="1">
              <a:gsLst>
                <a:gs pos="0">
                  <a:schemeClr val="folHlink">
                    <a:gamma/>
                    <a:tint val="0"/>
                    <a:invGamma/>
                  </a:schemeClr>
                </a:gs>
                <a:gs pos="50000">
                  <a:schemeClr val="folHlink"/>
                </a:gs>
                <a:gs pos="100000">
                  <a:schemeClr val="folHlink">
                    <a:gamma/>
                    <a:tint val="0"/>
                    <a:invGamma/>
                  </a:schemeClr>
                </a:gs>
              </a:gsLst>
              <a:lin ang="2700000" scaled="1"/>
            </a:gradFill>
            <a:ln w="38100" algn="ctr">
              <a:noFill/>
              <a:round/>
            </a:ln>
            <a:effectLst/>
          </p:spPr>
          <p:txBody>
            <a:bodyPr wrap="none" anchor="ctr">
              <a:spAutoFit/>
            </a:bodyPr>
            <a:lstStyle/>
            <a:p>
              <a:pPr>
                <a:defRPr/>
              </a:pPr>
              <a:endParaRPr lang="zh-CN" altLang="en-US">
                <a:ea typeface="宋体" panose="02010600030101010101" pitchFamily="2" charset="-122"/>
              </a:endParaRPr>
            </a:p>
          </p:txBody>
        </p:sp>
        <p:sp>
          <p:nvSpPr>
            <p:cNvPr id="141347" name="Oval 35"/>
            <p:cNvSpPr>
              <a:spLocks noChangeArrowheads="1"/>
            </p:cNvSpPr>
            <p:nvPr/>
          </p:nvSpPr>
          <p:spPr bwMode="gray">
            <a:xfrm>
              <a:off x="624" y="1579"/>
              <a:ext cx="969" cy="1171"/>
            </a:xfrm>
            <a:prstGeom prst="ellipse">
              <a:avLst/>
            </a:prstGeom>
            <a:gradFill rotWithShape="1">
              <a:gsLst>
                <a:gs pos="0">
                  <a:schemeClr val="folHlink">
                    <a:alpha val="32001"/>
                  </a:schemeClr>
                </a:gs>
                <a:gs pos="100000">
                  <a:schemeClr val="folHlink">
                    <a:gamma/>
                    <a:shade val="0"/>
                    <a:invGamma/>
                    <a:alpha val="89999"/>
                  </a:schemeClr>
                </a:gs>
              </a:gsLst>
              <a:lin ang="2700000" scaled="1"/>
            </a:gradFill>
            <a:ln w="38100" algn="ctr">
              <a:noFill/>
              <a:round/>
            </a:ln>
            <a:effectLst/>
          </p:spPr>
          <p:txBody>
            <a:bodyPr wrap="none" anchor="ctr">
              <a:spAutoFit/>
            </a:bodyPr>
            <a:lstStyle/>
            <a:p>
              <a:pPr>
                <a:defRPr/>
              </a:pPr>
              <a:endParaRPr lang="zh-CN" altLang="en-US">
                <a:ea typeface="宋体" panose="02010600030101010101" pitchFamily="2" charset="-122"/>
              </a:endParaRPr>
            </a:p>
          </p:txBody>
        </p:sp>
        <p:sp>
          <p:nvSpPr>
            <p:cNvPr id="141348" name="Oval 36"/>
            <p:cNvSpPr>
              <a:spLocks noChangeArrowheads="1"/>
            </p:cNvSpPr>
            <p:nvPr/>
          </p:nvSpPr>
          <p:spPr bwMode="gray">
            <a:xfrm>
              <a:off x="707" y="1603"/>
              <a:ext cx="1084" cy="1122"/>
            </a:xfrm>
            <a:prstGeom prst="ellipse">
              <a:avLst/>
            </a:prstGeom>
            <a:gradFill rotWithShape="1">
              <a:gsLst>
                <a:gs pos="0">
                  <a:schemeClr val="folHlink">
                    <a:gamma/>
                    <a:shade val="54118"/>
                    <a:invGamma/>
                  </a:schemeClr>
                </a:gs>
                <a:gs pos="50000">
                  <a:schemeClr val="folHlink"/>
                </a:gs>
                <a:gs pos="100000">
                  <a:schemeClr val="folHlink">
                    <a:gamma/>
                    <a:shade val="54118"/>
                    <a:invGamma/>
                  </a:schemeClr>
                </a:gs>
              </a:gsLst>
              <a:lin ang="18900000" scaled="1"/>
            </a:gradFill>
            <a:ln w="38100" algn="ctr">
              <a:noFill/>
              <a:round/>
            </a:ln>
            <a:effectLst/>
          </p:spPr>
          <p:txBody>
            <a:bodyPr anchor="ctr">
              <a:spAutoFit/>
            </a:bodyPr>
            <a:lstStyle/>
            <a:p>
              <a:pPr>
                <a:defRPr/>
              </a:pPr>
              <a:endParaRPr lang="zh-CN" altLang="en-US">
                <a:ea typeface="宋体" panose="02010600030101010101" pitchFamily="2" charset="-122"/>
              </a:endParaRPr>
            </a:p>
          </p:txBody>
        </p:sp>
        <p:sp>
          <p:nvSpPr>
            <p:cNvPr id="141349" name="Oval 37"/>
            <p:cNvSpPr>
              <a:spLocks noChangeArrowheads="1"/>
            </p:cNvSpPr>
            <p:nvPr/>
          </p:nvSpPr>
          <p:spPr bwMode="gray">
            <a:xfrm>
              <a:off x="707" y="1604"/>
              <a:ext cx="1087" cy="1123"/>
            </a:xfrm>
            <a:prstGeom prst="ellipse">
              <a:avLst/>
            </a:prstGeom>
            <a:gradFill rotWithShape="1">
              <a:gsLst>
                <a:gs pos="0">
                  <a:schemeClr val="folHlink">
                    <a:gamma/>
                    <a:shade val="63529"/>
                    <a:invGamma/>
                  </a:schemeClr>
                </a:gs>
                <a:gs pos="100000">
                  <a:schemeClr val="folHlink">
                    <a:alpha val="0"/>
                  </a:schemeClr>
                </a:gs>
              </a:gsLst>
              <a:lin ang="2700000" scaled="1"/>
            </a:gradFill>
            <a:ln w="38100" algn="ctr">
              <a:noFill/>
              <a:round/>
            </a:ln>
            <a:effectLst/>
          </p:spPr>
          <p:txBody>
            <a:bodyPr anchor="ctr">
              <a:spAutoFit/>
            </a:bodyPr>
            <a:lstStyle/>
            <a:p>
              <a:pPr>
                <a:defRPr/>
              </a:pPr>
              <a:endParaRPr lang="zh-CN" altLang="en-US">
                <a:ea typeface="宋体" panose="02010600030101010101" pitchFamily="2" charset="-122"/>
              </a:endParaRPr>
            </a:p>
          </p:txBody>
        </p:sp>
        <p:sp>
          <p:nvSpPr>
            <p:cNvPr id="6206" name="Oval 38"/>
            <p:cNvSpPr>
              <a:spLocks noChangeArrowheads="1"/>
            </p:cNvSpPr>
            <p:nvPr/>
          </p:nvSpPr>
          <p:spPr bwMode="gray">
            <a:xfrm>
              <a:off x="760" y="1619"/>
              <a:ext cx="979" cy="1091"/>
            </a:xfrm>
            <a:prstGeom prst="ellipse">
              <a:avLst/>
            </a:prstGeom>
            <a:solidFill>
              <a:srgbClr val="333333"/>
            </a:solidFill>
            <a:ln>
              <a:noFill/>
            </a:ln>
            <a:extLst>
              <a:ext uri="{91240B29-F687-4F45-9708-019B960494DF}">
                <a14:hiddenLine xmlns:a14="http://schemas.microsoft.com/office/drawing/2010/main" w="38100">
                  <a:solidFill>
                    <a:srgbClr val="000000"/>
                  </a:solidFill>
                  <a:round/>
                </a14:hiddenLine>
              </a:ext>
            </a:extLst>
          </p:spPr>
          <p:txBody>
            <a:bodyPr anchor="ctr">
              <a:spAutoFit/>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endParaRPr lang="zh-CN" altLang="en-US" sz="1800">
                <a:solidFill>
                  <a:schemeClr val="tx1"/>
                </a:solidFill>
                <a:latin typeface="Tahoma" panose="020B0604030504040204" pitchFamily="34" charset="0"/>
              </a:endParaRPr>
            </a:p>
          </p:txBody>
        </p:sp>
        <p:grpSp>
          <p:nvGrpSpPr>
            <p:cNvPr id="6207" name="Group 39"/>
            <p:cNvGrpSpPr/>
            <p:nvPr/>
          </p:nvGrpSpPr>
          <p:grpSpPr bwMode="auto">
            <a:xfrm>
              <a:off x="776" y="1687"/>
              <a:ext cx="947" cy="952"/>
              <a:chOff x="4166" y="1706"/>
              <a:chExt cx="1252" cy="1252"/>
            </a:xfrm>
          </p:grpSpPr>
          <p:sp>
            <p:nvSpPr>
              <p:cNvPr id="6208" name="Oval 40"/>
              <p:cNvSpPr>
                <a:spLocks noChangeArrowheads="1"/>
              </p:cNvSpPr>
              <p:nvPr/>
            </p:nvSpPr>
            <p:spPr bwMode="gray">
              <a:xfrm>
                <a:off x="4166" y="1706"/>
                <a:ext cx="1252" cy="1252"/>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endParaRPr lang="zh-CN" altLang="en-US" sz="1800">
                  <a:solidFill>
                    <a:schemeClr val="tx1"/>
                  </a:solidFill>
                  <a:latin typeface="Tahoma" panose="020B0604030504040204" pitchFamily="34" charset="0"/>
                </a:endParaRPr>
              </a:p>
            </p:txBody>
          </p:sp>
          <p:sp>
            <p:nvSpPr>
              <p:cNvPr id="6209" name="Oval 41"/>
              <p:cNvSpPr>
                <a:spLocks noChangeArrowheads="1"/>
              </p:cNvSpPr>
              <p:nvPr/>
            </p:nvSpPr>
            <p:spPr bwMode="gray">
              <a:xfrm>
                <a:off x="4182" y="1713"/>
                <a:ext cx="1222" cy="1221"/>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endParaRPr lang="zh-CN" altLang="en-US" sz="1800">
                  <a:solidFill>
                    <a:schemeClr val="tx1"/>
                  </a:solidFill>
                  <a:latin typeface="Tahoma" panose="020B0604030504040204" pitchFamily="34" charset="0"/>
                </a:endParaRPr>
              </a:p>
            </p:txBody>
          </p:sp>
          <p:sp>
            <p:nvSpPr>
              <p:cNvPr id="6210" name="Oval 42"/>
              <p:cNvSpPr>
                <a:spLocks noChangeArrowheads="1"/>
              </p:cNvSpPr>
              <p:nvPr/>
            </p:nvSpPr>
            <p:spPr bwMode="gray">
              <a:xfrm>
                <a:off x="4195" y="1725"/>
                <a:ext cx="1162" cy="1141"/>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endParaRPr lang="zh-CN" altLang="en-US" sz="1800">
                  <a:solidFill>
                    <a:schemeClr val="tx1"/>
                  </a:solidFill>
                  <a:latin typeface="Tahoma" panose="020B0604030504040204" pitchFamily="34" charset="0"/>
                </a:endParaRPr>
              </a:p>
            </p:txBody>
          </p:sp>
          <p:sp>
            <p:nvSpPr>
              <p:cNvPr id="6211" name="Oval 43"/>
              <p:cNvSpPr>
                <a:spLocks noChangeArrowheads="1"/>
              </p:cNvSpPr>
              <p:nvPr/>
            </p:nvSpPr>
            <p:spPr bwMode="gray">
              <a:xfrm>
                <a:off x="4263" y="1757"/>
                <a:ext cx="1033" cy="926"/>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endParaRPr lang="zh-CN" altLang="en-US" sz="1800">
                  <a:solidFill>
                    <a:schemeClr val="tx1"/>
                  </a:solidFill>
                  <a:latin typeface="Tahoma" panose="020B0604030504040204" pitchFamily="34" charset="0"/>
                </a:endParaRPr>
              </a:p>
            </p:txBody>
          </p:sp>
        </p:grpSp>
      </p:grpSp>
      <p:sp>
        <p:nvSpPr>
          <p:cNvPr id="6157" name="Text Box 55"/>
          <p:cNvSpPr txBox="1">
            <a:spLocks noChangeArrowheads="1"/>
          </p:cNvSpPr>
          <p:nvPr/>
        </p:nvSpPr>
        <p:spPr bwMode="auto">
          <a:xfrm>
            <a:off x="3140075" y="3376613"/>
            <a:ext cx="3603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ClrTx/>
              <a:buFontTx/>
              <a:buNone/>
            </a:pPr>
            <a:r>
              <a:rPr lang="en-US" altLang="zh-CN" sz="2400">
                <a:solidFill>
                  <a:schemeClr val="tx2"/>
                </a:solidFill>
                <a:latin typeface="Arial" panose="020B0604020202020204" pitchFamily="34" charset="0"/>
              </a:rPr>
              <a:t>3</a:t>
            </a:r>
            <a:endParaRPr lang="en-US" altLang="zh-CN" sz="2400">
              <a:solidFill>
                <a:schemeClr val="tx2"/>
              </a:solidFill>
              <a:latin typeface="Arial" panose="020B0604020202020204" pitchFamily="34" charset="0"/>
            </a:endParaRPr>
          </a:p>
        </p:txBody>
      </p:sp>
      <p:sp>
        <p:nvSpPr>
          <p:cNvPr id="14352" name="Rectangle 57"/>
          <p:cNvSpPr>
            <a:spLocks noChangeArrowheads="1"/>
          </p:cNvSpPr>
          <p:nvPr/>
        </p:nvSpPr>
        <p:spPr bwMode="auto">
          <a:xfrm>
            <a:off x="3765550" y="3413840"/>
            <a:ext cx="5930900" cy="42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r>
              <a:rPr lang="zh-CN" altLang="en-US" sz="2200" dirty="0">
                <a:solidFill>
                  <a:srgbClr val="000000"/>
                </a:solidFill>
                <a:latin typeface="Tahoma" panose="020B0604030504040204" pitchFamily="34" charset="0"/>
                <a:hlinkClick r:id="rId3" action="ppaction://hlinksldjump"/>
              </a:rPr>
              <a:t>海洋数据获取手段</a:t>
            </a:r>
            <a:endParaRPr lang="zh-CN" altLang="en-US" sz="2200" dirty="0">
              <a:solidFill>
                <a:srgbClr val="000000"/>
              </a:solidFill>
              <a:latin typeface="Tahoma" panose="020B0604030504040204" pitchFamily="34" charset="0"/>
            </a:endParaRPr>
          </a:p>
        </p:txBody>
      </p:sp>
      <p:sp>
        <p:nvSpPr>
          <p:cNvPr id="6159" name="Line 3"/>
          <p:cNvSpPr>
            <a:spLocks noChangeShapeType="1"/>
          </p:cNvSpPr>
          <p:nvPr/>
        </p:nvSpPr>
        <p:spPr bwMode="auto">
          <a:xfrm>
            <a:off x="3576638" y="4559300"/>
            <a:ext cx="5113337" cy="0"/>
          </a:xfrm>
          <a:prstGeom prst="line">
            <a:avLst/>
          </a:prstGeom>
          <a:noFill/>
          <a:ln w="25400">
            <a:solidFill>
              <a:schemeClr val="tx1"/>
            </a:solidFill>
            <a:prstDash val="sysDot"/>
            <a:rou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6160" name="Group 16"/>
          <p:cNvGrpSpPr/>
          <p:nvPr/>
        </p:nvGrpSpPr>
        <p:grpSpPr bwMode="auto">
          <a:xfrm>
            <a:off x="3000375" y="4106204"/>
            <a:ext cx="609745" cy="549005"/>
            <a:chOff x="1248" y="1534"/>
            <a:chExt cx="771" cy="737"/>
          </a:xfrm>
        </p:grpSpPr>
        <p:sp>
          <p:nvSpPr>
            <p:cNvPr id="63" name="Oval 17"/>
            <p:cNvSpPr>
              <a:spLocks noChangeArrowheads="1"/>
            </p:cNvSpPr>
            <p:nvPr/>
          </p:nvSpPr>
          <p:spPr bwMode="gray">
            <a:xfrm>
              <a:off x="1248" y="1534"/>
              <a:ext cx="632" cy="737"/>
            </a:xfrm>
            <a:prstGeom prst="ellipse">
              <a:avLst/>
            </a:prstGeom>
            <a:gradFill rotWithShape="1">
              <a:gsLst>
                <a:gs pos="0">
                  <a:schemeClr val="accent1">
                    <a:gamma/>
                    <a:tint val="0"/>
                    <a:invGamma/>
                  </a:schemeClr>
                </a:gs>
                <a:gs pos="50000">
                  <a:schemeClr val="accent1"/>
                </a:gs>
                <a:gs pos="100000">
                  <a:schemeClr val="accent1">
                    <a:gamma/>
                    <a:tint val="0"/>
                    <a:invGamma/>
                  </a:schemeClr>
                </a:gs>
              </a:gsLst>
              <a:lin ang="2700000" scaled="1"/>
            </a:gradFill>
            <a:ln w="38100" algn="ctr">
              <a:noFill/>
              <a:round/>
            </a:ln>
            <a:effectLst/>
          </p:spPr>
          <p:txBody>
            <a:bodyPr wrap="none" anchor="ctr">
              <a:spAutoFit/>
            </a:bodyPr>
            <a:lstStyle/>
            <a:p>
              <a:pPr>
                <a:defRPr/>
              </a:pPr>
              <a:endParaRPr lang="zh-CN" altLang="en-US">
                <a:ea typeface="宋体" panose="02010600030101010101" pitchFamily="2" charset="-122"/>
              </a:endParaRPr>
            </a:p>
          </p:txBody>
        </p:sp>
        <p:sp>
          <p:nvSpPr>
            <p:cNvPr id="64" name="Oval 18"/>
            <p:cNvSpPr>
              <a:spLocks noChangeArrowheads="1"/>
            </p:cNvSpPr>
            <p:nvPr/>
          </p:nvSpPr>
          <p:spPr bwMode="gray">
            <a:xfrm>
              <a:off x="1248" y="1534"/>
              <a:ext cx="632" cy="737"/>
            </a:xfrm>
            <a:prstGeom prst="ellipse">
              <a:avLst/>
            </a:prstGeom>
            <a:gradFill rotWithShape="1">
              <a:gsLst>
                <a:gs pos="0">
                  <a:schemeClr val="accent1">
                    <a:alpha val="32001"/>
                  </a:schemeClr>
                </a:gs>
                <a:gs pos="100000">
                  <a:schemeClr val="accent1">
                    <a:gamma/>
                    <a:shade val="0"/>
                    <a:invGamma/>
                    <a:alpha val="89999"/>
                  </a:schemeClr>
                </a:gs>
              </a:gsLst>
              <a:lin ang="2700000" scaled="1"/>
            </a:gradFill>
            <a:ln w="38100" algn="ctr">
              <a:noFill/>
              <a:round/>
            </a:ln>
            <a:effectLst/>
          </p:spPr>
          <p:txBody>
            <a:bodyPr wrap="none" anchor="ctr">
              <a:spAutoFit/>
            </a:bodyPr>
            <a:lstStyle/>
            <a:p>
              <a:pPr>
                <a:defRPr/>
              </a:pPr>
              <a:endParaRPr lang="zh-CN" altLang="en-US">
                <a:ea typeface="宋体" panose="02010600030101010101" pitchFamily="2" charset="-122"/>
              </a:endParaRPr>
            </a:p>
          </p:txBody>
        </p:sp>
        <p:sp>
          <p:nvSpPr>
            <p:cNvPr id="65" name="Oval 19"/>
            <p:cNvSpPr>
              <a:spLocks noChangeArrowheads="1"/>
            </p:cNvSpPr>
            <p:nvPr/>
          </p:nvSpPr>
          <p:spPr bwMode="gray">
            <a:xfrm>
              <a:off x="1302" y="1549"/>
              <a:ext cx="713" cy="706"/>
            </a:xfrm>
            <a:prstGeom prst="ellipse">
              <a:avLst/>
            </a:prstGeom>
            <a:gradFill rotWithShape="1">
              <a:gsLst>
                <a:gs pos="0">
                  <a:schemeClr val="accent1">
                    <a:gamma/>
                    <a:shade val="54118"/>
                    <a:invGamma/>
                  </a:schemeClr>
                </a:gs>
                <a:gs pos="50000">
                  <a:schemeClr val="accent1"/>
                </a:gs>
                <a:gs pos="100000">
                  <a:schemeClr val="accent1">
                    <a:gamma/>
                    <a:shade val="54118"/>
                    <a:invGamma/>
                  </a:schemeClr>
                </a:gs>
              </a:gsLst>
              <a:lin ang="18900000" scaled="1"/>
            </a:gradFill>
            <a:ln w="38100" algn="ctr">
              <a:noFill/>
              <a:round/>
            </a:ln>
            <a:effectLst/>
          </p:spPr>
          <p:txBody>
            <a:bodyPr anchor="ctr">
              <a:spAutoFit/>
            </a:bodyPr>
            <a:lstStyle/>
            <a:p>
              <a:pPr>
                <a:defRPr/>
              </a:pPr>
              <a:endParaRPr lang="zh-CN" altLang="en-US">
                <a:ea typeface="宋体" panose="02010600030101010101" pitchFamily="2" charset="-122"/>
              </a:endParaRPr>
            </a:p>
          </p:txBody>
        </p:sp>
        <p:sp>
          <p:nvSpPr>
            <p:cNvPr id="66" name="Oval 20"/>
            <p:cNvSpPr>
              <a:spLocks noChangeArrowheads="1"/>
            </p:cNvSpPr>
            <p:nvPr/>
          </p:nvSpPr>
          <p:spPr bwMode="gray">
            <a:xfrm>
              <a:off x="1304" y="1549"/>
              <a:ext cx="715" cy="706"/>
            </a:xfrm>
            <a:prstGeom prst="ellipse">
              <a:avLst/>
            </a:prstGeom>
            <a:gradFill rotWithShape="1">
              <a:gsLst>
                <a:gs pos="0">
                  <a:schemeClr val="accent1">
                    <a:gamma/>
                    <a:shade val="63529"/>
                    <a:invGamma/>
                  </a:schemeClr>
                </a:gs>
                <a:gs pos="100000">
                  <a:schemeClr val="accent1">
                    <a:alpha val="0"/>
                  </a:schemeClr>
                </a:gs>
              </a:gsLst>
              <a:lin ang="2700000" scaled="1"/>
            </a:gradFill>
            <a:ln w="38100" algn="ctr">
              <a:noFill/>
              <a:round/>
            </a:ln>
            <a:effectLst/>
          </p:spPr>
          <p:txBody>
            <a:bodyPr anchor="ctr">
              <a:spAutoFit/>
            </a:bodyPr>
            <a:lstStyle/>
            <a:p>
              <a:pPr>
                <a:defRPr/>
              </a:pPr>
              <a:endParaRPr lang="zh-CN" altLang="en-US">
                <a:ea typeface="宋体" panose="02010600030101010101" pitchFamily="2" charset="-122"/>
              </a:endParaRPr>
            </a:p>
          </p:txBody>
        </p:sp>
        <p:sp>
          <p:nvSpPr>
            <p:cNvPr id="6196" name="Oval 21"/>
            <p:cNvSpPr>
              <a:spLocks noChangeArrowheads="1"/>
            </p:cNvSpPr>
            <p:nvPr/>
          </p:nvSpPr>
          <p:spPr bwMode="gray">
            <a:xfrm>
              <a:off x="1337" y="1560"/>
              <a:ext cx="643" cy="685"/>
            </a:xfrm>
            <a:prstGeom prst="ellipse">
              <a:avLst/>
            </a:prstGeom>
            <a:solidFill>
              <a:srgbClr val="333333"/>
            </a:solidFill>
            <a:ln>
              <a:noFill/>
            </a:ln>
            <a:extLst>
              <a:ext uri="{91240B29-F687-4F45-9708-019B960494DF}">
                <a14:hiddenLine xmlns:a14="http://schemas.microsoft.com/office/drawing/2010/main" w="38100">
                  <a:solidFill>
                    <a:srgbClr val="000000"/>
                  </a:solidFill>
                  <a:round/>
                </a14:hiddenLine>
              </a:ext>
            </a:extLst>
          </p:spPr>
          <p:txBody>
            <a:bodyPr anchor="ctr">
              <a:spAutoFit/>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endParaRPr lang="zh-CN" altLang="en-US" sz="1800">
                <a:solidFill>
                  <a:schemeClr val="tx1"/>
                </a:solidFill>
                <a:latin typeface="Tahoma" panose="020B0604030504040204" pitchFamily="34" charset="0"/>
              </a:endParaRPr>
            </a:p>
          </p:txBody>
        </p:sp>
        <p:grpSp>
          <p:nvGrpSpPr>
            <p:cNvPr id="6197" name="Group 22"/>
            <p:cNvGrpSpPr/>
            <p:nvPr/>
          </p:nvGrpSpPr>
          <p:grpSpPr bwMode="auto">
            <a:xfrm>
              <a:off x="1348" y="1588"/>
              <a:ext cx="621" cy="628"/>
              <a:chOff x="4166" y="1706"/>
              <a:chExt cx="1252" cy="1252"/>
            </a:xfrm>
          </p:grpSpPr>
          <p:sp>
            <p:nvSpPr>
              <p:cNvPr id="6198" name="Oval 23"/>
              <p:cNvSpPr>
                <a:spLocks noChangeArrowheads="1"/>
              </p:cNvSpPr>
              <p:nvPr/>
            </p:nvSpPr>
            <p:spPr bwMode="gray">
              <a:xfrm>
                <a:off x="4166" y="1706"/>
                <a:ext cx="1252" cy="1252"/>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endParaRPr lang="zh-CN" altLang="en-US" sz="1800">
                  <a:solidFill>
                    <a:schemeClr val="tx1"/>
                  </a:solidFill>
                  <a:latin typeface="Tahoma" panose="020B0604030504040204" pitchFamily="34" charset="0"/>
                </a:endParaRPr>
              </a:p>
            </p:txBody>
          </p:sp>
          <p:sp>
            <p:nvSpPr>
              <p:cNvPr id="6199" name="Oval 24"/>
              <p:cNvSpPr>
                <a:spLocks noChangeArrowheads="1"/>
              </p:cNvSpPr>
              <p:nvPr/>
            </p:nvSpPr>
            <p:spPr bwMode="gray">
              <a:xfrm>
                <a:off x="4182" y="1713"/>
                <a:ext cx="1222" cy="1221"/>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endParaRPr lang="zh-CN" altLang="en-US" sz="1800">
                  <a:solidFill>
                    <a:schemeClr val="tx1"/>
                  </a:solidFill>
                  <a:latin typeface="Tahoma" panose="020B0604030504040204" pitchFamily="34" charset="0"/>
                </a:endParaRPr>
              </a:p>
            </p:txBody>
          </p:sp>
          <p:sp>
            <p:nvSpPr>
              <p:cNvPr id="6200" name="Oval 25"/>
              <p:cNvSpPr>
                <a:spLocks noChangeArrowheads="1"/>
              </p:cNvSpPr>
              <p:nvPr/>
            </p:nvSpPr>
            <p:spPr bwMode="gray">
              <a:xfrm>
                <a:off x="4195" y="1725"/>
                <a:ext cx="1162" cy="1141"/>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endParaRPr lang="zh-CN" altLang="en-US" sz="1800">
                  <a:solidFill>
                    <a:schemeClr val="tx1"/>
                  </a:solidFill>
                  <a:latin typeface="Tahoma" panose="020B0604030504040204" pitchFamily="34" charset="0"/>
                </a:endParaRPr>
              </a:p>
            </p:txBody>
          </p:sp>
          <p:sp>
            <p:nvSpPr>
              <p:cNvPr id="6201" name="Oval 26"/>
              <p:cNvSpPr>
                <a:spLocks noChangeArrowheads="1"/>
              </p:cNvSpPr>
              <p:nvPr/>
            </p:nvSpPr>
            <p:spPr bwMode="gray">
              <a:xfrm>
                <a:off x="4263" y="1757"/>
                <a:ext cx="1033" cy="926"/>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endParaRPr lang="zh-CN" altLang="en-US" sz="1800">
                  <a:solidFill>
                    <a:schemeClr val="tx1"/>
                  </a:solidFill>
                  <a:latin typeface="Tahoma" panose="020B0604030504040204" pitchFamily="34" charset="0"/>
                </a:endParaRPr>
              </a:p>
            </p:txBody>
          </p:sp>
        </p:grpSp>
      </p:grpSp>
      <p:sp>
        <p:nvSpPr>
          <p:cNvPr id="6161" name="Text Box 28"/>
          <p:cNvSpPr txBox="1">
            <a:spLocks noChangeArrowheads="1"/>
          </p:cNvSpPr>
          <p:nvPr/>
        </p:nvSpPr>
        <p:spPr bwMode="auto">
          <a:xfrm>
            <a:off x="3146425" y="4149725"/>
            <a:ext cx="3635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ClrTx/>
              <a:buFontTx/>
              <a:buNone/>
            </a:pPr>
            <a:r>
              <a:rPr lang="en-US" altLang="zh-CN" sz="2400">
                <a:solidFill>
                  <a:schemeClr val="tx2"/>
                </a:solidFill>
                <a:latin typeface="Arial" panose="020B0604020202020204" pitchFamily="34" charset="0"/>
              </a:rPr>
              <a:t>4</a:t>
            </a:r>
            <a:endParaRPr lang="en-US" altLang="zh-CN" sz="2400">
              <a:solidFill>
                <a:schemeClr val="tx2"/>
              </a:solidFill>
              <a:latin typeface="Arial" panose="020B0604020202020204" pitchFamily="34" charset="0"/>
            </a:endParaRPr>
          </a:p>
        </p:txBody>
      </p:sp>
      <p:sp>
        <p:nvSpPr>
          <p:cNvPr id="74" name="Rectangle 30"/>
          <p:cNvSpPr>
            <a:spLocks noChangeArrowheads="1"/>
          </p:cNvSpPr>
          <p:nvPr/>
        </p:nvSpPr>
        <p:spPr bwMode="auto">
          <a:xfrm>
            <a:off x="3735388" y="4118452"/>
            <a:ext cx="5365750"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0" anchor="ctr">
            <a:spAutoFit/>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r>
              <a:rPr lang="zh-CN" altLang="en-US" sz="2200" dirty="0">
                <a:solidFill>
                  <a:srgbClr val="000000"/>
                </a:solidFill>
                <a:latin typeface="Tahoma" panose="020B0604030504040204" pitchFamily="34" charset="0"/>
                <a:hlinkClick r:id="rId4" action="ppaction://hlinksldjump"/>
              </a:rPr>
              <a:t>海洋数据格式</a:t>
            </a:r>
            <a:endParaRPr kumimoji="1" lang="zh-CN" altLang="en-US" sz="2200" dirty="0">
              <a:solidFill>
                <a:schemeClr val="tx1"/>
              </a:solidFill>
              <a:latin typeface="Tahoma" panose="020B0604030504040204" pitchFamily="34" charset="0"/>
            </a:endParaRPr>
          </a:p>
        </p:txBody>
      </p:sp>
      <p:sp>
        <p:nvSpPr>
          <p:cNvPr id="6163" name="Line 32"/>
          <p:cNvSpPr>
            <a:spLocks noChangeShapeType="1"/>
          </p:cNvSpPr>
          <p:nvPr/>
        </p:nvSpPr>
        <p:spPr bwMode="auto">
          <a:xfrm>
            <a:off x="3549650" y="5337175"/>
            <a:ext cx="5113338" cy="0"/>
          </a:xfrm>
          <a:prstGeom prst="line">
            <a:avLst/>
          </a:prstGeom>
          <a:noFill/>
          <a:ln w="25400">
            <a:solidFill>
              <a:schemeClr val="tx1"/>
            </a:solidFill>
            <a:prstDash val="sysDot"/>
            <a:roun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6164" name="Group 33"/>
          <p:cNvGrpSpPr/>
          <p:nvPr/>
        </p:nvGrpSpPr>
        <p:grpSpPr bwMode="auto">
          <a:xfrm>
            <a:off x="3000375" y="4853667"/>
            <a:ext cx="601309" cy="537263"/>
            <a:chOff x="624" y="1579"/>
            <a:chExt cx="1170" cy="1171"/>
          </a:xfrm>
        </p:grpSpPr>
        <p:sp>
          <p:nvSpPr>
            <p:cNvPr id="77" name="Oval 34"/>
            <p:cNvSpPr>
              <a:spLocks noChangeArrowheads="1"/>
            </p:cNvSpPr>
            <p:nvPr/>
          </p:nvSpPr>
          <p:spPr bwMode="gray">
            <a:xfrm>
              <a:off x="624" y="1579"/>
              <a:ext cx="969" cy="1171"/>
            </a:xfrm>
            <a:prstGeom prst="ellipse">
              <a:avLst/>
            </a:prstGeom>
            <a:gradFill rotWithShape="1">
              <a:gsLst>
                <a:gs pos="0">
                  <a:schemeClr val="folHlink">
                    <a:gamma/>
                    <a:tint val="0"/>
                    <a:invGamma/>
                  </a:schemeClr>
                </a:gs>
                <a:gs pos="50000">
                  <a:schemeClr val="folHlink"/>
                </a:gs>
                <a:gs pos="100000">
                  <a:schemeClr val="folHlink">
                    <a:gamma/>
                    <a:tint val="0"/>
                    <a:invGamma/>
                  </a:schemeClr>
                </a:gs>
              </a:gsLst>
              <a:lin ang="2700000" scaled="1"/>
            </a:gradFill>
            <a:ln w="38100" algn="ctr">
              <a:noFill/>
              <a:round/>
            </a:ln>
            <a:effectLst/>
          </p:spPr>
          <p:txBody>
            <a:bodyPr wrap="none" anchor="ctr">
              <a:spAutoFit/>
            </a:bodyPr>
            <a:lstStyle/>
            <a:p>
              <a:pPr>
                <a:defRPr/>
              </a:pPr>
              <a:endParaRPr lang="zh-CN" altLang="en-US">
                <a:ea typeface="宋体" panose="02010600030101010101" pitchFamily="2" charset="-122"/>
              </a:endParaRPr>
            </a:p>
          </p:txBody>
        </p:sp>
        <p:sp>
          <p:nvSpPr>
            <p:cNvPr id="78" name="Oval 35"/>
            <p:cNvSpPr>
              <a:spLocks noChangeArrowheads="1"/>
            </p:cNvSpPr>
            <p:nvPr/>
          </p:nvSpPr>
          <p:spPr bwMode="gray">
            <a:xfrm>
              <a:off x="624" y="1579"/>
              <a:ext cx="969" cy="1171"/>
            </a:xfrm>
            <a:prstGeom prst="ellipse">
              <a:avLst/>
            </a:prstGeom>
            <a:gradFill rotWithShape="1">
              <a:gsLst>
                <a:gs pos="0">
                  <a:schemeClr val="folHlink">
                    <a:alpha val="32001"/>
                  </a:schemeClr>
                </a:gs>
                <a:gs pos="100000">
                  <a:schemeClr val="folHlink">
                    <a:gamma/>
                    <a:shade val="0"/>
                    <a:invGamma/>
                    <a:alpha val="89999"/>
                  </a:schemeClr>
                </a:gs>
              </a:gsLst>
              <a:lin ang="2700000" scaled="1"/>
            </a:gradFill>
            <a:ln w="38100" algn="ctr">
              <a:noFill/>
              <a:round/>
            </a:ln>
            <a:effectLst/>
          </p:spPr>
          <p:txBody>
            <a:bodyPr wrap="none" anchor="ctr">
              <a:spAutoFit/>
            </a:bodyPr>
            <a:lstStyle/>
            <a:p>
              <a:pPr>
                <a:defRPr/>
              </a:pPr>
              <a:endParaRPr lang="zh-CN" altLang="en-US">
                <a:ea typeface="宋体" panose="02010600030101010101" pitchFamily="2" charset="-122"/>
              </a:endParaRPr>
            </a:p>
          </p:txBody>
        </p:sp>
        <p:sp>
          <p:nvSpPr>
            <p:cNvPr id="79" name="Oval 36"/>
            <p:cNvSpPr>
              <a:spLocks noChangeArrowheads="1"/>
            </p:cNvSpPr>
            <p:nvPr/>
          </p:nvSpPr>
          <p:spPr bwMode="gray">
            <a:xfrm>
              <a:off x="707" y="1603"/>
              <a:ext cx="1084" cy="1122"/>
            </a:xfrm>
            <a:prstGeom prst="ellipse">
              <a:avLst/>
            </a:prstGeom>
            <a:gradFill rotWithShape="1">
              <a:gsLst>
                <a:gs pos="0">
                  <a:schemeClr val="folHlink">
                    <a:gamma/>
                    <a:shade val="54118"/>
                    <a:invGamma/>
                  </a:schemeClr>
                </a:gs>
                <a:gs pos="50000">
                  <a:schemeClr val="folHlink"/>
                </a:gs>
                <a:gs pos="100000">
                  <a:schemeClr val="folHlink">
                    <a:gamma/>
                    <a:shade val="54118"/>
                    <a:invGamma/>
                  </a:schemeClr>
                </a:gs>
              </a:gsLst>
              <a:lin ang="18900000" scaled="1"/>
            </a:gradFill>
            <a:ln w="38100" algn="ctr">
              <a:noFill/>
              <a:round/>
            </a:ln>
            <a:effectLst/>
          </p:spPr>
          <p:txBody>
            <a:bodyPr anchor="ctr">
              <a:spAutoFit/>
            </a:bodyPr>
            <a:lstStyle/>
            <a:p>
              <a:pPr>
                <a:defRPr/>
              </a:pPr>
              <a:endParaRPr lang="zh-CN" altLang="en-US">
                <a:ea typeface="宋体" panose="02010600030101010101" pitchFamily="2" charset="-122"/>
              </a:endParaRPr>
            </a:p>
          </p:txBody>
        </p:sp>
        <p:sp>
          <p:nvSpPr>
            <p:cNvPr id="80" name="Oval 37"/>
            <p:cNvSpPr>
              <a:spLocks noChangeArrowheads="1"/>
            </p:cNvSpPr>
            <p:nvPr/>
          </p:nvSpPr>
          <p:spPr bwMode="gray">
            <a:xfrm>
              <a:off x="707" y="1604"/>
              <a:ext cx="1087" cy="1123"/>
            </a:xfrm>
            <a:prstGeom prst="ellipse">
              <a:avLst/>
            </a:prstGeom>
            <a:gradFill rotWithShape="1">
              <a:gsLst>
                <a:gs pos="0">
                  <a:schemeClr val="folHlink">
                    <a:gamma/>
                    <a:shade val="63529"/>
                    <a:invGamma/>
                  </a:schemeClr>
                </a:gs>
                <a:gs pos="100000">
                  <a:schemeClr val="folHlink">
                    <a:alpha val="0"/>
                  </a:schemeClr>
                </a:gs>
              </a:gsLst>
              <a:lin ang="2700000" scaled="1"/>
            </a:gradFill>
            <a:ln w="38100" algn="ctr">
              <a:noFill/>
              <a:round/>
            </a:ln>
            <a:effectLst/>
          </p:spPr>
          <p:txBody>
            <a:bodyPr anchor="ctr">
              <a:spAutoFit/>
            </a:bodyPr>
            <a:lstStyle/>
            <a:p>
              <a:pPr>
                <a:defRPr/>
              </a:pPr>
              <a:endParaRPr lang="zh-CN" altLang="en-US">
                <a:ea typeface="宋体" panose="02010600030101010101" pitchFamily="2" charset="-122"/>
              </a:endParaRPr>
            </a:p>
          </p:txBody>
        </p:sp>
        <p:sp>
          <p:nvSpPr>
            <p:cNvPr id="6186" name="Oval 38"/>
            <p:cNvSpPr>
              <a:spLocks noChangeArrowheads="1"/>
            </p:cNvSpPr>
            <p:nvPr/>
          </p:nvSpPr>
          <p:spPr bwMode="gray">
            <a:xfrm>
              <a:off x="760" y="1619"/>
              <a:ext cx="979" cy="1091"/>
            </a:xfrm>
            <a:prstGeom prst="ellipse">
              <a:avLst/>
            </a:prstGeom>
            <a:solidFill>
              <a:srgbClr val="333333"/>
            </a:solidFill>
            <a:ln>
              <a:noFill/>
            </a:ln>
            <a:extLst>
              <a:ext uri="{91240B29-F687-4F45-9708-019B960494DF}">
                <a14:hiddenLine xmlns:a14="http://schemas.microsoft.com/office/drawing/2010/main" w="38100">
                  <a:solidFill>
                    <a:srgbClr val="000000"/>
                  </a:solidFill>
                  <a:round/>
                </a14:hiddenLine>
              </a:ext>
            </a:extLst>
          </p:spPr>
          <p:txBody>
            <a:bodyPr anchor="ctr">
              <a:spAutoFit/>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endParaRPr lang="zh-CN" altLang="en-US" sz="1800">
                <a:solidFill>
                  <a:schemeClr val="tx1"/>
                </a:solidFill>
                <a:latin typeface="Tahoma" panose="020B0604030504040204" pitchFamily="34" charset="0"/>
              </a:endParaRPr>
            </a:p>
          </p:txBody>
        </p:sp>
        <p:grpSp>
          <p:nvGrpSpPr>
            <p:cNvPr id="6187" name="Group 39"/>
            <p:cNvGrpSpPr/>
            <p:nvPr/>
          </p:nvGrpSpPr>
          <p:grpSpPr bwMode="auto">
            <a:xfrm>
              <a:off x="776" y="1687"/>
              <a:ext cx="947" cy="952"/>
              <a:chOff x="4166" y="1706"/>
              <a:chExt cx="1252" cy="1252"/>
            </a:xfrm>
          </p:grpSpPr>
          <p:sp>
            <p:nvSpPr>
              <p:cNvPr id="6188" name="Oval 40"/>
              <p:cNvSpPr>
                <a:spLocks noChangeArrowheads="1"/>
              </p:cNvSpPr>
              <p:nvPr/>
            </p:nvSpPr>
            <p:spPr bwMode="gray">
              <a:xfrm>
                <a:off x="4166" y="1706"/>
                <a:ext cx="1252" cy="1252"/>
              </a:xfrm>
              <a:prstGeom prst="ellipse">
                <a:avLst/>
              </a:prstGeom>
              <a:gradFill rotWithShape="1">
                <a:gsLst>
                  <a:gs pos="0">
                    <a:srgbClr val="636869"/>
                  </a:gs>
                  <a:gs pos="100000">
                    <a:srgbClr val="D6E1E2"/>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endParaRPr lang="zh-CN" altLang="en-US" sz="1800">
                  <a:solidFill>
                    <a:schemeClr val="tx1"/>
                  </a:solidFill>
                  <a:latin typeface="Tahoma" panose="020B0604030504040204" pitchFamily="34" charset="0"/>
                </a:endParaRPr>
              </a:p>
            </p:txBody>
          </p:sp>
          <p:sp>
            <p:nvSpPr>
              <p:cNvPr id="6189" name="Oval 41"/>
              <p:cNvSpPr>
                <a:spLocks noChangeArrowheads="1"/>
              </p:cNvSpPr>
              <p:nvPr/>
            </p:nvSpPr>
            <p:spPr bwMode="gray">
              <a:xfrm>
                <a:off x="4182" y="1713"/>
                <a:ext cx="1222" cy="1221"/>
              </a:xfrm>
              <a:prstGeom prst="ellipse">
                <a:avLst/>
              </a:prstGeom>
              <a:gradFill rotWithShape="1">
                <a:gsLst>
                  <a:gs pos="0">
                    <a:srgbClr val="D6E1E2">
                      <a:alpha val="0"/>
                    </a:srgbClr>
                  </a:gs>
                  <a:gs pos="100000">
                    <a:srgbClr val="F1F5F5"/>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endParaRPr lang="zh-CN" altLang="en-US" sz="1800">
                  <a:solidFill>
                    <a:schemeClr val="tx1"/>
                  </a:solidFill>
                  <a:latin typeface="Tahoma" panose="020B0604030504040204" pitchFamily="34" charset="0"/>
                </a:endParaRPr>
              </a:p>
            </p:txBody>
          </p:sp>
          <p:sp>
            <p:nvSpPr>
              <p:cNvPr id="6190" name="Oval 42"/>
              <p:cNvSpPr>
                <a:spLocks noChangeArrowheads="1"/>
              </p:cNvSpPr>
              <p:nvPr/>
            </p:nvSpPr>
            <p:spPr bwMode="gray">
              <a:xfrm>
                <a:off x="4195" y="1725"/>
                <a:ext cx="1162" cy="1141"/>
              </a:xfrm>
              <a:prstGeom prst="ellipse">
                <a:avLst/>
              </a:prstGeom>
              <a:gradFill rotWithShape="1">
                <a:gsLst>
                  <a:gs pos="0">
                    <a:srgbClr val="AAB2B3"/>
                  </a:gs>
                  <a:gs pos="100000">
                    <a:srgbClr val="D6E1E2">
                      <a:alpha val="48000"/>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endParaRPr lang="zh-CN" altLang="en-US" sz="1800">
                  <a:solidFill>
                    <a:schemeClr val="tx1"/>
                  </a:solidFill>
                  <a:latin typeface="Tahoma" panose="020B0604030504040204" pitchFamily="34" charset="0"/>
                </a:endParaRPr>
              </a:p>
            </p:txBody>
          </p:sp>
          <p:sp>
            <p:nvSpPr>
              <p:cNvPr id="6191" name="Oval 43"/>
              <p:cNvSpPr>
                <a:spLocks noChangeArrowheads="1"/>
              </p:cNvSpPr>
              <p:nvPr/>
            </p:nvSpPr>
            <p:spPr bwMode="gray">
              <a:xfrm>
                <a:off x="4263" y="1757"/>
                <a:ext cx="1033" cy="926"/>
              </a:xfrm>
              <a:prstGeom prst="ellipse">
                <a:avLst/>
              </a:prstGeom>
              <a:gradFill rotWithShape="1">
                <a:gsLst>
                  <a:gs pos="0">
                    <a:srgbClr val="FFFFFF"/>
                  </a:gs>
                  <a:gs pos="100000">
                    <a:srgbClr val="D6E1E2">
                      <a:alpha val="37999"/>
                    </a:srgbClr>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vert="eaVert" wrap="none" anchor="ct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endParaRPr lang="zh-CN" altLang="en-US" sz="1800">
                  <a:solidFill>
                    <a:schemeClr val="tx1"/>
                  </a:solidFill>
                  <a:latin typeface="Tahoma" panose="020B0604030504040204" pitchFamily="34" charset="0"/>
                </a:endParaRPr>
              </a:p>
            </p:txBody>
          </p:sp>
        </p:grpSp>
      </p:grpSp>
      <p:sp>
        <p:nvSpPr>
          <p:cNvPr id="6165" name="Text Box 55"/>
          <p:cNvSpPr txBox="1">
            <a:spLocks noChangeArrowheads="1"/>
          </p:cNvSpPr>
          <p:nvPr/>
        </p:nvSpPr>
        <p:spPr bwMode="auto">
          <a:xfrm>
            <a:off x="3140075" y="4889500"/>
            <a:ext cx="3603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algn="ctr" eaLnBrk="1" hangingPunct="1">
              <a:spcBef>
                <a:spcPct val="50000"/>
              </a:spcBef>
              <a:spcAft>
                <a:spcPct val="0"/>
              </a:spcAft>
              <a:buClrTx/>
              <a:buFontTx/>
              <a:buNone/>
            </a:pPr>
            <a:r>
              <a:rPr lang="en-US" altLang="zh-CN" sz="2400" dirty="0">
                <a:solidFill>
                  <a:schemeClr val="tx2"/>
                </a:solidFill>
                <a:latin typeface="Arial" panose="020B0604020202020204" pitchFamily="34" charset="0"/>
              </a:rPr>
              <a:t>5</a:t>
            </a:r>
            <a:endParaRPr lang="en-US" altLang="zh-CN" sz="2400" dirty="0">
              <a:solidFill>
                <a:schemeClr val="tx2"/>
              </a:solidFill>
              <a:latin typeface="Arial" panose="020B0604020202020204" pitchFamily="34" charset="0"/>
            </a:endParaRPr>
          </a:p>
        </p:txBody>
      </p:sp>
      <p:sp>
        <p:nvSpPr>
          <p:cNvPr id="88" name="Rectangle 30"/>
          <p:cNvSpPr>
            <a:spLocks noChangeArrowheads="1"/>
          </p:cNvSpPr>
          <p:nvPr/>
        </p:nvSpPr>
        <p:spPr bwMode="auto">
          <a:xfrm>
            <a:off x="3714750" y="4869339"/>
            <a:ext cx="5365750" cy="3848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0" anchor="ctr">
            <a:spAutoFit/>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r>
              <a:rPr lang="zh-CN" altLang="en-US" sz="2200" dirty="0">
                <a:solidFill>
                  <a:srgbClr val="000000"/>
                </a:solidFill>
                <a:latin typeface="Tahoma" panose="020B0604030504040204" pitchFamily="34" charset="0"/>
                <a:hlinkClick r:id="rId5" action="ppaction://hlinksldjump"/>
              </a:rPr>
              <a:t>海洋数据质量评定</a:t>
            </a:r>
            <a:endParaRPr kumimoji="1" lang="zh-CN" altLang="en-US" sz="2200" dirty="0">
              <a:solidFill>
                <a:schemeClr val="tx1"/>
              </a:solidFill>
              <a:latin typeface="Tahoma" panose="020B0604030504040204" pitchFamily="34" charset="0"/>
            </a:endParaRPr>
          </a:p>
        </p:txBody>
      </p:sp>
      <p:sp>
        <p:nvSpPr>
          <p:cNvPr id="6171" name="Rectangle 3"/>
          <p:cNvSpPr>
            <a:spLocks noChangeArrowheads="1"/>
          </p:cNvSpPr>
          <p:nvPr/>
        </p:nvSpPr>
        <p:spPr bwMode="white">
          <a:xfrm>
            <a:off x="1524000" y="139700"/>
            <a:ext cx="9144000"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algn="ctr" eaLnBrk="1" hangingPunct="1">
              <a:spcBef>
                <a:spcPct val="0"/>
              </a:spcBef>
              <a:spcAft>
                <a:spcPct val="0"/>
              </a:spcAft>
              <a:buClrTx/>
              <a:buFontTx/>
              <a:buNone/>
            </a:pPr>
            <a:r>
              <a:rPr lang="zh-CN" altLang="en-US" sz="3200" dirty="0">
                <a:solidFill>
                  <a:schemeClr val="bg1"/>
                </a:solidFill>
                <a:latin typeface="Tahoma" panose="020B0604030504040204" pitchFamily="34" charset="0"/>
              </a:rPr>
              <a:t>第</a:t>
            </a:r>
            <a:r>
              <a:rPr lang="en-US" altLang="zh-CN" sz="3200" dirty="0">
                <a:solidFill>
                  <a:schemeClr val="bg1"/>
                </a:solidFill>
                <a:latin typeface="Tahoma" panose="020B0604030504040204" pitchFamily="34" charset="0"/>
              </a:rPr>
              <a:t>4</a:t>
            </a:r>
            <a:r>
              <a:rPr lang="zh-CN" altLang="en-US" sz="3200" dirty="0">
                <a:solidFill>
                  <a:schemeClr val="bg1"/>
                </a:solidFill>
                <a:latin typeface="Tahoma" panose="020B0604030504040204" pitchFamily="34" charset="0"/>
              </a:rPr>
              <a:t>讲  海洋数据的获取</a:t>
            </a:r>
            <a:endParaRPr lang="zh-CN" altLang="en-US" sz="3200" dirty="0">
              <a:solidFill>
                <a:schemeClr val="bg1"/>
              </a:solidFill>
              <a:latin typeface="宋体" panose="02010600030101010101" pitchFamily="2" charset="-122"/>
            </a:endParaRP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grpId="0" nodeType="clickEffect">
                                  <p:stCondLst>
                                    <p:cond delay="0"/>
                                  </p:stCondLst>
                                  <p:childTnLst>
                                    <p:animClr clrSpc="rgb" dir="cw">
                                      <p:cBhvr override="childStyle">
                                        <p:cTn id="6" dur="500" fill="hold"/>
                                        <p:tgtEl>
                                          <p:spTgt spid="141341"/>
                                        </p:tgtEl>
                                        <p:attrNameLst>
                                          <p:attrName>style.color</p:attrName>
                                        </p:attrNameLst>
                                      </p:cBhvr>
                                      <p:to>
                                        <a:srgbClr val="FF33CC"/>
                                      </p:to>
                                    </p:animClr>
                                  </p:childTnLst>
                                </p:cTn>
                              </p:par>
                            </p:childTnLst>
                          </p:cTn>
                        </p:par>
                        <p:par>
                          <p:cTn id="7" fill="hold">
                            <p:stCondLst>
                              <p:cond delay="500"/>
                            </p:stCondLst>
                            <p:childTnLst>
                              <p:par>
                                <p:cTn id="8" presetID="3" presetClass="emph" presetSubtype="2" fill="hold" grpId="0" nodeType="afterEffect">
                                  <p:stCondLst>
                                    <p:cond delay="0"/>
                                  </p:stCondLst>
                                  <p:childTnLst>
                                    <p:animClr clrSpc="rgb" dir="cw">
                                      <p:cBhvr override="childStyle">
                                        <p:cTn id="9" dur="500" fill="hold"/>
                                        <p:tgtEl>
                                          <p:spTgt spid="141342"/>
                                        </p:tgtEl>
                                        <p:attrNameLst>
                                          <p:attrName>style.color</p:attrName>
                                        </p:attrNameLst>
                                      </p:cBhvr>
                                      <p:to>
                                        <a:srgbClr val="FF33CC"/>
                                      </p:to>
                                    </p:animClr>
                                  </p:childTnLst>
                                </p:cTn>
                              </p:par>
                            </p:childTnLst>
                          </p:cTn>
                        </p:par>
                        <p:par>
                          <p:cTn id="10" fill="hold">
                            <p:stCondLst>
                              <p:cond delay="1000"/>
                            </p:stCondLst>
                            <p:childTnLst>
                              <p:par>
                                <p:cTn id="11" presetID="3" presetClass="emph" presetSubtype="2" fill="hold" grpId="0" nodeType="afterEffect">
                                  <p:stCondLst>
                                    <p:cond delay="0"/>
                                  </p:stCondLst>
                                  <p:childTnLst>
                                    <p:animClr clrSpc="rgb" dir="cw">
                                      <p:cBhvr override="childStyle">
                                        <p:cTn id="12" dur="500" fill="hold"/>
                                        <p:tgtEl>
                                          <p:spTgt spid="14352"/>
                                        </p:tgtEl>
                                        <p:attrNameLst>
                                          <p:attrName>style.color</p:attrName>
                                        </p:attrNameLst>
                                      </p:cBhvr>
                                      <p:to>
                                        <a:srgbClr val="FF3399"/>
                                      </p:to>
                                    </p:animClr>
                                  </p:childTnLst>
                                </p:cTn>
                              </p:par>
                            </p:childTnLst>
                          </p:cTn>
                        </p:par>
                        <p:par>
                          <p:cTn id="13" fill="hold">
                            <p:stCondLst>
                              <p:cond delay="1500"/>
                            </p:stCondLst>
                            <p:childTnLst>
                              <p:par>
                                <p:cTn id="14" presetID="3" presetClass="emph" presetSubtype="2" fill="hold" grpId="0" nodeType="afterEffect">
                                  <p:stCondLst>
                                    <p:cond delay="0"/>
                                  </p:stCondLst>
                                  <p:childTnLst>
                                    <p:animClr clrSpc="rgb" dir="cw">
                                      <p:cBhvr override="childStyle">
                                        <p:cTn id="15" dur="500" fill="hold"/>
                                        <p:tgtEl>
                                          <p:spTgt spid="74"/>
                                        </p:tgtEl>
                                        <p:attrNameLst>
                                          <p:attrName>style.color</p:attrName>
                                        </p:attrNameLst>
                                      </p:cBhvr>
                                      <p:to>
                                        <a:srgbClr val="FF33CC"/>
                                      </p:to>
                                    </p:animClr>
                                  </p:childTnLst>
                                </p:cTn>
                              </p:par>
                            </p:childTnLst>
                          </p:cTn>
                        </p:par>
                        <p:par>
                          <p:cTn id="16" fill="hold">
                            <p:stCondLst>
                              <p:cond delay="2000"/>
                            </p:stCondLst>
                            <p:childTnLst>
                              <p:par>
                                <p:cTn id="17" presetID="3" presetClass="emph" presetSubtype="2" fill="hold" grpId="0" nodeType="afterEffect">
                                  <p:stCondLst>
                                    <p:cond delay="0"/>
                                  </p:stCondLst>
                                  <p:childTnLst>
                                    <p:animClr clrSpc="rgb" dir="cw">
                                      <p:cBhvr override="childStyle">
                                        <p:cTn id="18" dur="500" fill="hold"/>
                                        <p:tgtEl>
                                          <p:spTgt spid="88"/>
                                        </p:tgtEl>
                                        <p:attrNameLst>
                                          <p:attrName>style.color</p:attrName>
                                        </p:attrNameLst>
                                      </p:cBhvr>
                                      <p:to>
                                        <a:srgbClr val="FF33CC"/>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41" grpId="0"/>
      <p:bldP spid="141342" grpId="0"/>
      <p:bldP spid="14352" grpId="0"/>
      <p:bldP spid="74" grpId="0"/>
      <p:bldP spid="8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8AD69854-DFF6-4B6E-BD4E-16433C94ED84}"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142338" name="AutoShape 2"/>
          <p:cNvSpPr>
            <a:spLocks noGrp="1" noChangeArrowheads="1"/>
          </p:cNvSpPr>
          <p:nvPr>
            <p:ph type="title"/>
          </p:nvPr>
        </p:nvSpPr>
        <p:spPr>
          <a:xfrm>
            <a:off x="3430588" y="2060575"/>
            <a:ext cx="5618162" cy="2447925"/>
          </a:xfrm>
          <a:prstGeom prst="horizontalScroll">
            <a:avLst>
              <a:gd name="adj" fmla="val 12500"/>
            </a:avLst>
          </a:prstGeom>
          <a:solidFill>
            <a:srgbClr val="FF99CC"/>
          </a:solidFill>
          <a:ln w="19050">
            <a:solidFill>
              <a:schemeClr val="tx1"/>
            </a:solidFill>
            <a:round/>
            <a:headEnd type="none" w="med" len="med"/>
            <a:tailEnd type="none" w="med" len="med"/>
          </a:ln>
        </p:spPr>
        <p:txBody>
          <a:bodyPr tIns="0" bIns="0"/>
          <a:lstStyle/>
          <a:p>
            <a:pPr marL="952500" indent="-952500" eaLnBrk="1" hangingPunct="1"/>
            <a:r>
              <a:rPr lang="en-US" altLang="zh-CN" sz="2800" dirty="0">
                <a:solidFill>
                  <a:srgbClr val="3333CC"/>
                </a:solidFill>
                <a:ea typeface="黑体" panose="02010609060101010101" pitchFamily="2" charset="-122"/>
                <a:cs typeface="Times New Roman" panose="02020603050405020304" pitchFamily="18" charset="0"/>
              </a:rPr>
              <a:t>§4.1 </a:t>
            </a:r>
            <a:r>
              <a:rPr lang="zh-CN" altLang="en-US" sz="2800" dirty="0">
                <a:solidFill>
                  <a:srgbClr val="3333CC"/>
                </a:solidFill>
                <a:ea typeface="黑体" panose="02010609060101010101" pitchFamily="2" charset="-122"/>
                <a:cs typeface="Times New Roman" panose="02020603050405020304" pitchFamily="18" charset="0"/>
              </a:rPr>
              <a:t>海洋时空尺度</a:t>
            </a:r>
            <a:endParaRPr lang="zh-CN" altLang="en-US" sz="2800" dirty="0">
              <a:solidFill>
                <a:srgbClr val="3333CC"/>
              </a:solidFill>
              <a:ea typeface="黑体" panose="02010609060101010101" pitchFamily="2" charset="-122"/>
              <a:cs typeface="Times New Roman" panose="02020603050405020304" pitchFamily="18" charset="0"/>
            </a:endParaRPr>
          </a:p>
        </p:txBody>
      </p:sp>
      <p:sp>
        <p:nvSpPr>
          <p:cNvPr id="7172" name="Rectangle 3"/>
          <p:cNvSpPr>
            <a:spLocks noChangeArrowheads="1"/>
          </p:cNvSpPr>
          <p:nvPr/>
        </p:nvSpPr>
        <p:spPr bwMode="white">
          <a:xfrm>
            <a:off x="1524000" y="139700"/>
            <a:ext cx="9144000"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algn="ctr" eaLnBrk="1" hangingPunct="1">
              <a:spcBef>
                <a:spcPct val="0"/>
              </a:spcBef>
              <a:spcAft>
                <a:spcPct val="0"/>
              </a:spcAft>
              <a:buClrTx/>
              <a:buFontTx/>
              <a:buNone/>
            </a:pPr>
            <a:r>
              <a:rPr lang="zh-CN" altLang="en-US" sz="3200" dirty="0">
                <a:solidFill>
                  <a:schemeClr val="bg1"/>
                </a:solidFill>
                <a:latin typeface="Tahoma" panose="020B0604030504040204" pitchFamily="34" charset="0"/>
              </a:rPr>
              <a:t>第</a:t>
            </a:r>
            <a:r>
              <a:rPr lang="en-US" altLang="zh-CN" sz="3200" dirty="0">
                <a:solidFill>
                  <a:schemeClr val="bg1"/>
                </a:solidFill>
                <a:latin typeface="Tahoma" panose="020B0604030504040204" pitchFamily="34" charset="0"/>
              </a:rPr>
              <a:t>4</a:t>
            </a:r>
            <a:r>
              <a:rPr lang="zh-CN" altLang="en-US" sz="3200" dirty="0">
                <a:solidFill>
                  <a:schemeClr val="bg1"/>
                </a:solidFill>
                <a:latin typeface="Tahoma" panose="020B0604030504040204" pitchFamily="34" charset="0"/>
              </a:rPr>
              <a:t>讲  海洋数据的获取</a:t>
            </a:r>
            <a:endParaRPr lang="zh-CN" altLang="en-US" sz="3200" dirty="0">
              <a:solidFill>
                <a:schemeClr val="bg1"/>
              </a:solidFill>
              <a:latin typeface="宋体" panose="02010600030101010101" pitchFamily="2" charset="-122"/>
            </a:endParaRPr>
          </a:p>
        </p:txBody>
      </p:sp>
      <p:sp>
        <p:nvSpPr>
          <p:cNvPr id="5" name="AutoShape 4">
            <a:hlinkClick r:id="rId1" action="ppaction://hlinksldjump" highlightClick="1"/>
          </p:cNvPr>
          <p:cNvSpPr>
            <a:spLocks noChangeArrowheads="1"/>
          </p:cNvSpPr>
          <p:nvPr/>
        </p:nvSpPr>
        <p:spPr bwMode="auto">
          <a:xfrm>
            <a:off x="8975725" y="5931218"/>
            <a:ext cx="306069" cy="323214"/>
          </a:xfrm>
          <a:prstGeom prst="actionButtonBackPrevious">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0" anchor="ctr">
            <a:spAutoFit/>
          </a:bodyPr>
          <a:lstStyle/>
          <a:p>
            <a:endParaRPr lang="zh-CN" alt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2338"/>
                                        </p:tgtEl>
                                        <p:attrNameLst>
                                          <p:attrName>style.visibility</p:attrName>
                                        </p:attrNameLst>
                                      </p:cBhvr>
                                      <p:to>
                                        <p:strVal val="visible"/>
                                      </p:to>
                                    </p:set>
                                    <p:animEffect transition="in" filter="wipe(left)">
                                      <p:cBhvr>
                                        <p:cTn id="7" dur="1000"/>
                                        <p:tgtEl>
                                          <p:spTgt spid="142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8"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C9BFC311-5B41-4AFE-A900-39B7CF1AE501}"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dirty="0">
              <a:solidFill>
                <a:srgbClr val="993300"/>
              </a:solidFill>
              <a:latin typeface="Arial" panose="020B0604020202020204" pitchFamily="34" charset="0"/>
              <a:ea typeface="宋体" panose="02010600030101010101" pitchFamily="2" charset="-122"/>
            </a:endParaRPr>
          </a:p>
        </p:txBody>
      </p:sp>
      <p:sp>
        <p:nvSpPr>
          <p:cNvPr id="8195" name="Rectangle 2"/>
          <p:cNvSpPr>
            <a:spLocks noGrp="1" noChangeArrowheads="1"/>
          </p:cNvSpPr>
          <p:nvPr>
            <p:ph type="body" idx="4294967295"/>
          </p:nvPr>
        </p:nvSpPr>
        <p:spPr>
          <a:xfrm>
            <a:off x="916940" y="1102995"/>
            <a:ext cx="10278110" cy="5182870"/>
          </a:xfrm>
          <a:prstGeom prst="rect">
            <a:avLst/>
          </a:prstGeom>
        </p:spPr>
        <p:txBody>
          <a:bodyPr/>
          <a:lstStyle/>
          <a:p>
            <a:pPr marL="363855" indent="-363855" eaLnBrk="1" hangingPunct="1"/>
            <a:r>
              <a:rPr lang="zh-CN" altLang="en-US" dirty="0">
                <a:latin typeface="微软雅黑" panose="020B0503020204020204" charset="-122"/>
                <a:ea typeface="微软雅黑" panose="020B0503020204020204" charset="-122"/>
              </a:rPr>
              <a:t>尺度内涵</a:t>
            </a:r>
            <a:endParaRPr lang="en-US" altLang="zh-CN" dirty="0">
              <a:latin typeface="微软雅黑" panose="020B0503020204020204" charset="-122"/>
              <a:ea typeface="微软雅黑" panose="020B0503020204020204" charset="-122"/>
            </a:endParaRPr>
          </a:p>
          <a:p>
            <a:pPr marL="828675" lvl="1" eaLnBrk="1" hangingPunct="1"/>
            <a:r>
              <a:rPr lang="zh-CN" altLang="en-US" b="0" u="sng" dirty="0">
                <a:solidFill>
                  <a:srgbClr val="FF0000"/>
                </a:solidFill>
                <a:latin typeface="微软雅黑" panose="020B0503020204020204" charset="-122"/>
                <a:ea typeface="微软雅黑" panose="020B0503020204020204" charset="-122"/>
              </a:rPr>
              <a:t>海洋时空尺度</a:t>
            </a:r>
            <a:r>
              <a:rPr lang="zh-CN" altLang="en-US" b="0" dirty="0">
                <a:latin typeface="微软雅黑" panose="020B0503020204020204" charset="-122"/>
                <a:ea typeface="微软雅黑" panose="020B0503020204020204" charset="-122"/>
              </a:rPr>
              <a:t>是指海洋要素和现象</a:t>
            </a:r>
            <a:r>
              <a:rPr lang="zh-CN" altLang="zh-CN" b="0" dirty="0">
                <a:latin typeface="微软雅黑" panose="020B0503020204020204" charset="-122"/>
                <a:ea typeface="微软雅黑" panose="020B0503020204020204" charset="-122"/>
              </a:rPr>
              <a:t>在空间上的分布和在时间上的</a:t>
            </a:r>
            <a:r>
              <a:rPr lang="zh-CN" altLang="en-US" b="0" dirty="0">
                <a:latin typeface="微软雅黑" panose="020B0503020204020204" charset="-122"/>
                <a:ea typeface="微软雅黑" panose="020B0503020204020204" charset="-122"/>
              </a:rPr>
              <a:t>持续</a:t>
            </a:r>
            <a:r>
              <a:rPr lang="zh-CN" altLang="zh-CN" b="0" dirty="0">
                <a:latin typeface="微软雅黑" panose="020B0503020204020204" charset="-122"/>
                <a:ea typeface="微软雅黑" panose="020B0503020204020204" charset="-122"/>
              </a:rPr>
              <a:t>都具有一定的尺度。同时，海洋信息所包含的</a:t>
            </a:r>
            <a:r>
              <a:rPr lang="zh-CN" altLang="zh-CN" b="0" u="sng" dirty="0">
                <a:solidFill>
                  <a:srgbClr val="FF0000"/>
                </a:solidFill>
                <a:latin typeface="微软雅黑" panose="020B0503020204020204" charset="-122"/>
                <a:ea typeface="微软雅黑" panose="020B0503020204020204" charset="-122"/>
              </a:rPr>
              <a:t>空间数据和非空间属性数据</a:t>
            </a:r>
            <a:r>
              <a:rPr lang="zh-CN" altLang="zh-CN" b="0" dirty="0">
                <a:latin typeface="微软雅黑" panose="020B0503020204020204" charset="-122"/>
                <a:ea typeface="微软雅黑" panose="020B0503020204020204" charset="-122"/>
              </a:rPr>
              <a:t>都依赖于</a:t>
            </a:r>
            <a:r>
              <a:rPr lang="zh-CN" altLang="zh-CN" b="0" u="sng" dirty="0">
                <a:solidFill>
                  <a:srgbClr val="FF0000"/>
                </a:solidFill>
                <a:latin typeface="微软雅黑" panose="020B0503020204020204" charset="-122"/>
                <a:ea typeface="微软雅黑" panose="020B0503020204020204" charset="-122"/>
              </a:rPr>
              <a:t>一定的时空尺度</a:t>
            </a:r>
            <a:r>
              <a:rPr lang="zh-CN" altLang="zh-CN" b="0" dirty="0">
                <a:latin typeface="微软雅黑" panose="020B0503020204020204" charset="-122"/>
                <a:ea typeface="微软雅黑" panose="020B0503020204020204" charset="-122"/>
              </a:rPr>
              <a:t>，在不同的尺度下描述信息所表达的信息密度不同。</a:t>
            </a:r>
            <a:endParaRPr lang="en-US" altLang="zh-CN" b="0" dirty="0">
              <a:latin typeface="微软雅黑" panose="020B0503020204020204" charset="-122"/>
              <a:ea typeface="微软雅黑" panose="020B0503020204020204" charset="-122"/>
            </a:endParaRPr>
          </a:p>
          <a:p>
            <a:pPr marL="828675" lvl="1" eaLnBrk="1" hangingPunct="1"/>
            <a:r>
              <a:rPr lang="zh-CN" altLang="zh-CN" b="0" dirty="0">
                <a:latin typeface="微软雅黑" panose="020B0503020204020204" charset="-122"/>
                <a:ea typeface="微软雅黑" panose="020B0503020204020204" charset="-122"/>
              </a:rPr>
              <a:t>从研究者的角度，尺度可以理解成研究某一海洋现象时所采用的</a:t>
            </a:r>
            <a:r>
              <a:rPr lang="zh-CN" altLang="zh-CN" b="0" dirty="0">
                <a:solidFill>
                  <a:srgbClr val="FF0000"/>
                </a:solidFill>
                <a:latin typeface="微软雅黑" panose="020B0503020204020204" charset="-122"/>
                <a:ea typeface="微软雅黑" panose="020B0503020204020204" charset="-122"/>
              </a:rPr>
              <a:t>时空单位</a:t>
            </a:r>
            <a:r>
              <a:rPr lang="zh-CN" altLang="zh-CN" b="0" dirty="0">
                <a:latin typeface="微软雅黑" panose="020B0503020204020204" charset="-122"/>
                <a:ea typeface="微软雅黑" panose="020B0503020204020204" charset="-122"/>
              </a:rPr>
              <a:t>（比例尺、空间分辨率等）</a:t>
            </a:r>
            <a:r>
              <a:rPr lang="zh-CN" altLang="en-US" b="0" dirty="0">
                <a:latin typeface="微软雅黑" panose="020B0503020204020204" charset="-122"/>
                <a:ea typeface="微软雅黑" panose="020B0503020204020204" charset="-122"/>
              </a:rPr>
              <a:t>；</a:t>
            </a:r>
            <a:endParaRPr lang="en-US" altLang="zh-CN" b="0" dirty="0">
              <a:latin typeface="微软雅黑" panose="020B0503020204020204" charset="-122"/>
              <a:ea typeface="微软雅黑" panose="020B0503020204020204" charset="-122"/>
            </a:endParaRPr>
          </a:p>
          <a:p>
            <a:pPr marL="828675" lvl="1" eaLnBrk="1" hangingPunct="1"/>
            <a:r>
              <a:rPr lang="zh-CN" altLang="zh-CN" b="0" dirty="0">
                <a:latin typeface="微软雅黑" panose="020B0503020204020204" charset="-122"/>
                <a:ea typeface="微软雅黑" panose="020B0503020204020204" charset="-122"/>
              </a:rPr>
              <a:t>从过程的角度分析，尺度可以看成是某一过程或现象在空间和时间上所涉及的</a:t>
            </a:r>
            <a:r>
              <a:rPr lang="zh-CN" altLang="zh-CN" b="0" dirty="0">
                <a:solidFill>
                  <a:srgbClr val="FF0000"/>
                </a:solidFill>
                <a:latin typeface="微软雅黑" panose="020B0503020204020204" charset="-122"/>
                <a:ea typeface="微软雅黑" panose="020B0503020204020204" charset="-122"/>
              </a:rPr>
              <a:t>范围和发生的频率</a:t>
            </a:r>
            <a:r>
              <a:rPr lang="zh-CN" altLang="en-US" b="0" dirty="0">
                <a:latin typeface="微软雅黑" panose="020B0503020204020204" charset="-122"/>
                <a:ea typeface="微软雅黑" panose="020B0503020204020204" charset="-122"/>
              </a:rPr>
              <a:t>。</a:t>
            </a:r>
            <a:endParaRPr lang="zh-CN" altLang="en-US" b="0" dirty="0">
              <a:latin typeface="微软雅黑" panose="020B0503020204020204" charset="-122"/>
              <a:ea typeface="微软雅黑" panose="020B0503020204020204" charset="-122"/>
            </a:endParaRPr>
          </a:p>
        </p:txBody>
      </p:sp>
      <p:sp>
        <p:nvSpPr>
          <p:cNvPr id="8196" name="Rectangle 4"/>
          <p:cNvSpPr>
            <a:spLocks noGrp="1" noChangeArrowheads="1"/>
          </p:cNvSpPr>
          <p:nvPr>
            <p:ph type="title"/>
          </p:nvPr>
        </p:nvSpPr>
        <p:spPr>
          <a:xfrm>
            <a:off x="1524000" y="139700"/>
            <a:ext cx="9144000" cy="593725"/>
          </a:xfrm>
        </p:spPr>
        <p:txBody>
          <a:bodyPr/>
          <a:lstStyle/>
          <a:p>
            <a:pPr eaLnBrk="1" hangingPunct="1"/>
            <a:r>
              <a:rPr lang="en-US" altLang="zh-CN" dirty="0"/>
              <a:t>§4.1 </a:t>
            </a:r>
            <a:r>
              <a:rPr lang="zh-CN" altLang="en-US" dirty="0"/>
              <a:t>海洋时空尺度</a:t>
            </a:r>
            <a:endParaRPr lang="zh-CN" altLang="en-US" dirty="0"/>
          </a:p>
        </p:txBody>
      </p:sp>
    </p:spTree>
  </p:cSld>
  <p:clrMapOvr>
    <a:masterClrMapping/>
  </p:clrMapOvr>
  <p:transition spd="med">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E7B46153-3D0D-429A-A47B-DDF15DD2E192}"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9219" name="Rectangle 2"/>
          <p:cNvSpPr>
            <a:spLocks noGrp="1" noChangeArrowheads="1"/>
          </p:cNvSpPr>
          <p:nvPr>
            <p:ph type="body" idx="4294967295"/>
          </p:nvPr>
        </p:nvSpPr>
        <p:spPr>
          <a:xfrm>
            <a:off x="1078865" y="1103630"/>
            <a:ext cx="10260330" cy="5399405"/>
          </a:xfrm>
          <a:prstGeom prst="rect">
            <a:avLst/>
          </a:prstGeom>
        </p:spPr>
        <p:txBody>
          <a:bodyPr/>
          <a:lstStyle/>
          <a:p>
            <a:pPr marL="363855" indent="-363855" eaLnBrk="1" hangingPunct="1">
              <a:lnSpc>
                <a:spcPct val="110000"/>
              </a:lnSpc>
              <a:spcBef>
                <a:spcPct val="0"/>
              </a:spcBef>
            </a:pPr>
            <a:r>
              <a:rPr lang="zh-CN" altLang="en-US" dirty="0">
                <a:ea typeface="宋体" panose="02010600030101010101" pitchFamily="2" charset="-122"/>
              </a:rPr>
              <a:t>尺度内涵</a:t>
            </a:r>
            <a:endParaRPr lang="en-US" altLang="zh-CN" dirty="0">
              <a:latin typeface="Arial" panose="020B0604020202020204" pitchFamily="34" charset="0"/>
              <a:ea typeface="宋体" panose="02010600030101010101" pitchFamily="2" charset="-122"/>
            </a:endParaRPr>
          </a:p>
          <a:p>
            <a:pPr marL="903605" lvl="1" indent="-360680" eaLnBrk="1" hangingPunct="1">
              <a:lnSpc>
                <a:spcPct val="110000"/>
              </a:lnSpc>
              <a:spcBef>
                <a:spcPct val="0"/>
              </a:spcBef>
              <a:buFont typeface="Wingdings" panose="05000000000000000000" pitchFamily="2" charset="2"/>
              <a:buAutoNum type="arabicPeriod"/>
            </a:pPr>
            <a:r>
              <a:rPr lang="zh-CN" altLang="en-US" sz="2600" b="0" dirty="0">
                <a:latin typeface="微软雅黑" panose="020B0503020204020204" charset="-122"/>
                <a:ea typeface="微软雅黑" panose="020B0503020204020204" charset="-122"/>
                <a:cs typeface="微软雅黑" panose="020B0503020204020204" charset="-122"/>
              </a:rPr>
              <a:t>空间尺度</a:t>
            </a:r>
            <a:endParaRPr lang="en-US" altLang="zh-CN" sz="2600" b="0" dirty="0">
              <a:latin typeface="微软雅黑" panose="020B0503020204020204" charset="-122"/>
              <a:ea typeface="微软雅黑" panose="020B0503020204020204" charset="-122"/>
              <a:cs typeface="微软雅黑" panose="020B0503020204020204" charset="-122"/>
            </a:endParaRPr>
          </a:p>
          <a:p>
            <a:pPr marL="542925" lvl="1" indent="0" eaLnBrk="1" hangingPunct="1">
              <a:lnSpc>
                <a:spcPct val="110000"/>
              </a:lnSpc>
              <a:spcBef>
                <a:spcPct val="0"/>
              </a:spcBef>
              <a:buFont typeface="Wingdings" panose="05000000000000000000" pitchFamily="2" charset="2"/>
              <a:buNone/>
            </a:pPr>
            <a:endParaRPr lang="en-US" altLang="zh-CN" sz="2600" b="0" dirty="0">
              <a:latin typeface="微软雅黑" panose="020B0503020204020204" charset="-122"/>
              <a:ea typeface="微软雅黑" panose="020B0503020204020204" charset="-122"/>
              <a:cs typeface="微软雅黑" panose="020B0503020204020204" charset="-122"/>
            </a:endParaRPr>
          </a:p>
          <a:p>
            <a:pPr marL="542925" lvl="1" indent="0" algn="just" eaLnBrk="1" hangingPunct="1">
              <a:lnSpc>
                <a:spcPct val="110000"/>
              </a:lnSpc>
              <a:spcBef>
                <a:spcPct val="0"/>
              </a:spcBef>
              <a:buNone/>
            </a:pPr>
            <a:r>
              <a:rPr lang="zh-CN" altLang="en-US" sz="2600" b="0" dirty="0">
                <a:latin typeface="微软雅黑" panose="020B0503020204020204" charset="-122"/>
                <a:ea typeface="微软雅黑" panose="020B0503020204020204" charset="-122"/>
                <a:cs typeface="微软雅黑" panose="020B0503020204020204" charset="-122"/>
              </a:rPr>
              <a:t>海洋</a:t>
            </a:r>
            <a:r>
              <a:rPr lang="en-US" altLang="zh-CN" sz="2600" b="0" dirty="0">
                <a:latin typeface="微软雅黑" panose="020B0503020204020204" charset="-122"/>
                <a:ea typeface="微软雅黑" panose="020B0503020204020204" charset="-122"/>
                <a:cs typeface="微软雅黑" panose="020B0503020204020204" charset="-122"/>
              </a:rPr>
              <a:t>GIS</a:t>
            </a:r>
            <a:r>
              <a:rPr lang="zh-CN" altLang="en-US" sz="2600" b="0" dirty="0">
                <a:latin typeface="微软雅黑" panose="020B0503020204020204" charset="-122"/>
                <a:ea typeface="微软雅黑" panose="020B0503020204020204" charset="-122"/>
                <a:cs typeface="微软雅黑" panose="020B0503020204020204" charset="-122"/>
              </a:rPr>
              <a:t>空间尺度是指海洋</a:t>
            </a:r>
            <a:r>
              <a:rPr lang="en-US" altLang="zh-CN" sz="2600" b="0" dirty="0">
                <a:latin typeface="微软雅黑" panose="020B0503020204020204" charset="-122"/>
                <a:ea typeface="微软雅黑" panose="020B0503020204020204" charset="-122"/>
                <a:cs typeface="微软雅黑" panose="020B0503020204020204" charset="-122"/>
              </a:rPr>
              <a:t>GIS</a:t>
            </a:r>
            <a:r>
              <a:rPr lang="zh-CN" altLang="en-US" sz="2600" b="0" dirty="0">
                <a:latin typeface="微软雅黑" panose="020B0503020204020204" charset="-122"/>
                <a:ea typeface="微软雅黑" panose="020B0503020204020204" charset="-122"/>
                <a:cs typeface="微软雅黑" panose="020B0503020204020204" charset="-122"/>
              </a:rPr>
              <a:t>中的研究对象或研究数据所涉及的</a:t>
            </a:r>
            <a:r>
              <a:rPr lang="zh-CN" altLang="en-US" sz="2600" b="0" u="sng" dirty="0">
                <a:solidFill>
                  <a:srgbClr val="FF0000"/>
                </a:solidFill>
                <a:latin typeface="微软雅黑" panose="020B0503020204020204" charset="-122"/>
                <a:ea typeface="微软雅黑" panose="020B0503020204020204" charset="-122"/>
                <a:cs typeface="微软雅黑" panose="020B0503020204020204" charset="-122"/>
              </a:rPr>
              <a:t>空间范围的大小</a:t>
            </a:r>
            <a:r>
              <a:rPr lang="zh-CN" altLang="en-US" sz="2600" b="0" dirty="0">
                <a:latin typeface="微软雅黑" panose="020B0503020204020204" charset="-122"/>
                <a:ea typeface="微软雅黑" panose="020B0503020204020204" charset="-122"/>
                <a:cs typeface="微软雅黑" panose="020B0503020204020204" charset="-122"/>
              </a:rPr>
              <a:t>。例如，海洋水色可以分为</a:t>
            </a:r>
            <a:r>
              <a:rPr lang="zh-CN" altLang="en-US" sz="2600" b="0" u="sng" dirty="0">
                <a:solidFill>
                  <a:srgbClr val="FF0000"/>
                </a:solidFill>
                <a:latin typeface="微软雅黑" panose="020B0503020204020204" charset="-122"/>
                <a:ea typeface="微软雅黑" panose="020B0503020204020204" charset="-122"/>
                <a:cs typeface="微软雅黑" panose="020B0503020204020204" charset="-122"/>
              </a:rPr>
              <a:t>全球</a:t>
            </a:r>
            <a:r>
              <a:rPr lang="zh-CN" altLang="en-US" sz="2600" b="0" dirty="0">
                <a:latin typeface="微软雅黑" panose="020B0503020204020204" charset="-122"/>
                <a:ea typeface="微软雅黑" panose="020B0503020204020204" charset="-122"/>
                <a:cs typeface="微软雅黑" panose="020B0503020204020204" charset="-122"/>
              </a:rPr>
              <a:t>整个海域的海洋水色数据、</a:t>
            </a:r>
            <a:r>
              <a:rPr lang="zh-CN" altLang="en-US" sz="2600" b="0" u="sng" dirty="0">
                <a:solidFill>
                  <a:srgbClr val="FF0000"/>
                </a:solidFill>
                <a:latin typeface="微软雅黑" panose="020B0503020204020204" charset="-122"/>
                <a:ea typeface="微软雅黑" panose="020B0503020204020204" charset="-122"/>
                <a:cs typeface="微软雅黑" panose="020B0503020204020204" charset="-122"/>
              </a:rPr>
              <a:t>区域</a:t>
            </a:r>
            <a:r>
              <a:rPr lang="zh-CN" altLang="en-US" sz="2600" b="0" dirty="0">
                <a:latin typeface="微软雅黑" panose="020B0503020204020204" charset="-122"/>
                <a:ea typeface="微软雅黑" panose="020B0503020204020204" charset="-122"/>
                <a:cs typeface="微软雅黑" panose="020B0503020204020204" charset="-122"/>
              </a:rPr>
              <a:t>大洋海洋水色数据（如太平洋）、</a:t>
            </a:r>
            <a:r>
              <a:rPr lang="zh-CN" altLang="en-US" sz="2600" b="0" u="sng" dirty="0">
                <a:solidFill>
                  <a:srgbClr val="FF0000"/>
                </a:solidFill>
                <a:latin typeface="微软雅黑" panose="020B0503020204020204" charset="-122"/>
                <a:ea typeface="微软雅黑" panose="020B0503020204020204" charset="-122"/>
                <a:cs typeface="微软雅黑" panose="020B0503020204020204" charset="-122"/>
              </a:rPr>
              <a:t>局部</a:t>
            </a:r>
            <a:r>
              <a:rPr lang="zh-CN" altLang="en-US" sz="2600" b="0" dirty="0">
                <a:latin typeface="微软雅黑" panose="020B0503020204020204" charset="-122"/>
                <a:ea typeface="微软雅黑" panose="020B0503020204020204" charset="-122"/>
                <a:cs typeface="微软雅黑" panose="020B0503020204020204" charset="-122"/>
              </a:rPr>
              <a:t>海域（如深圳湾）海洋水色数据和</a:t>
            </a:r>
            <a:r>
              <a:rPr lang="zh-CN" altLang="en-US" sz="2600" b="0" u="sng" dirty="0">
                <a:solidFill>
                  <a:srgbClr val="FF0000"/>
                </a:solidFill>
                <a:latin typeface="微软雅黑" panose="020B0503020204020204" charset="-122"/>
                <a:ea typeface="微软雅黑" panose="020B0503020204020204" charset="-122"/>
                <a:cs typeface="微软雅黑" panose="020B0503020204020204" charset="-122"/>
              </a:rPr>
              <a:t>特定局部小区域</a:t>
            </a:r>
            <a:r>
              <a:rPr lang="zh-CN" altLang="en-US" sz="2600" b="0" dirty="0">
                <a:latin typeface="微软雅黑" panose="020B0503020204020204" charset="-122"/>
                <a:ea typeface="微软雅黑" panose="020B0503020204020204" charset="-122"/>
                <a:cs typeface="微软雅黑" panose="020B0503020204020204" charset="-122"/>
              </a:rPr>
              <a:t>（如深圳湾入海口</a:t>
            </a:r>
            <a:r>
              <a:rPr lang="en-US" altLang="zh-CN" sz="2600" b="0" dirty="0">
                <a:latin typeface="微软雅黑" panose="020B0503020204020204" charset="-122"/>
                <a:ea typeface="微软雅黑" panose="020B0503020204020204" charset="-122"/>
                <a:cs typeface="微软雅黑" panose="020B0503020204020204" charset="-122"/>
              </a:rPr>
              <a:t>5</a:t>
            </a:r>
            <a:r>
              <a:rPr lang="zh-CN" altLang="en-US" sz="2600" b="0" dirty="0">
                <a:latin typeface="微软雅黑" panose="020B0503020204020204" charset="-122"/>
                <a:ea typeface="微软雅黑" panose="020B0503020204020204" charset="-122"/>
                <a:cs typeface="微软雅黑" panose="020B0503020204020204" charset="-122"/>
              </a:rPr>
              <a:t>公里范围内）海洋水色数据</a:t>
            </a:r>
            <a:r>
              <a:rPr lang="en-US" altLang="zh-CN" sz="2600" b="0" dirty="0">
                <a:latin typeface="微软雅黑" panose="020B0503020204020204" charset="-122"/>
                <a:ea typeface="微软雅黑" panose="020B0503020204020204" charset="-122"/>
                <a:cs typeface="微软雅黑" panose="020B0503020204020204" charset="-122"/>
              </a:rPr>
              <a:t>4</a:t>
            </a:r>
            <a:r>
              <a:rPr lang="zh-CN" altLang="en-US" sz="2600" b="0" dirty="0">
                <a:latin typeface="微软雅黑" panose="020B0503020204020204" charset="-122"/>
                <a:ea typeface="微软雅黑" panose="020B0503020204020204" charset="-122"/>
                <a:cs typeface="微软雅黑" panose="020B0503020204020204" charset="-122"/>
              </a:rPr>
              <a:t>个不同空间尺度。</a:t>
            </a:r>
            <a:endParaRPr lang="en-US" altLang="zh-CN" sz="2600" b="0" dirty="0">
              <a:latin typeface="微软雅黑" panose="020B0503020204020204" charset="-122"/>
              <a:ea typeface="微软雅黑" panose="020B0503020204020204" charset="-122"/>
              <a:cs typeface="微软雅黑" panose="020B0503020204020204" charset="-122"/>
            </a:endParaRPr>
          </a:p>
        </p:txBody>
      </p:sp>
      <p:sp>
        <p:nvSpPr>
          <p:cNvPr id="9220" name="Rectangle 4"/>
          <p:cNvSpPr>
            <a:spLocks noGrp="1" noChangeArrowheads="1"/>
          </p:cNvSpPr>
          <p:nvPr>
            <p:ph type="title"/>
          </p:nvPr>
        </p:nvSpPr>
        <p:spPr>
          <a:xfrm>
            <a:off x="1524000" y="139700"/>
            <a:ext cx="9144000" cy="593725"/>
          </a:xfrm>
        </p:spPr>
        <p:txBody>
          <a:bodyPr/>
          <a:lstStyle/>
          <a:p>
            <a:pPr eaLnBrk="1" hangingPunct="1"/>
            <a:r>
              <a:rPr lang="en-US" altLang="zh-CN" dirty="0"/>
              <a:t>§4.1 </a:t>
            </a:r>
            <a:r>
              <a:rPr lang="zh-CN" altLang="en-US" dirty="0"/>
              <a:t>海洋时空尺度</a:t>
            </a:r>
            <a:endParaRPr lang="zh-CN" altLang="en-US" dirty="0"/>
          </a:p>
        </p:txBody>
      </p:sp>
    </p:spTree>
  </p:cSld>
  <p:clrMapOvr>
    <a:masterClrMapping/>
  </p:clrMapOvr>
  <p:transition spd="med">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0E0BA948-15E8-4E63-8201-853B2F06C92F}"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10243" name="Rectangle 2"/>
          <p:cNvSpPr>
            <a:spLocks noGrp="1" noChangeArrowheads="1"/>
          </p:cNvSpPr>
          <p:nvPr>
            <p:ph type="body" idx="4294967295"/>
          </p:nvPr>
        </p:nvSpPr>
        <p:spPr>
          <a:xfrm>
            <a:off x="962025" y="981710"/>
            <a:ext cx="10114915" cy="5543550"/>
          </a:xfrm>
          <a:prstGeom prst="rect">
            <a:avLst/>
          </a:prstGeom>
        </p:spPr>
        <p:txBody>
          <a:bodyPr/>
          <a:lstStyle/>
          <a:p>
            <a:pPr marL="363855" indent="-363855" eaLnBrk="1" hangingPunct="1">
              <a:lnSpc>
                <a:spcPct val="110000"/>
              </a:lnSpc>
              <a:spcBef>
                <a:spcPct val="0"/>
              </a:spcBef>
            </a:pPr>
            <a:r>
              <a:rPr lang="zh-CN" altLang="en-US" b="0" dirty="0">
                <a:latin typeface="微软雅黑" panose="020B0503020204020204" charset="-122"/>
                <a:ea typeface="微软雅黑" panose="020B0503020204020204" charset="-122"/>
                <a:cs typeface="微软雅黑" panose="020B0503020204020204" charset="-122"/>
              </a:rPr>
              <a:t>尺度内涵</a:t>
            </a:r>
            <a:endParaRPr lang="en-US" altLang="zh-CN" b="0" dirty="0">
              <a:latin typeface="微软雅黑" panose="020B0503020204020204" charset="-122"/>
              <a:ea typeface="微软雅黑" panose="020B0503020204020204" charset="-122"/>
              <a:cs typeface="微软雅黑" panose="020B0503020204020204" charset="-122"/>
            </a:endParaRPr>
          </a:p>
          <a:p>
            <a:pPr marL="903605" lvl="1" indent="-360680" eaLnBrk="1" hangingPunct="1">
              <a:lnSpc>
                <a:spcPct val="110000"/>
              </a:lnSpc>
              <a:spcBef>
                <a:spcPct val="0"/>
              </a:spcBef>
              <a:buFont typeface="Wingdings" panose="05000000000000000000" pitchFamily="2" charset="2"/>
              <a:buAutoNum type="arabicPeriod" startAt="2"/>
            </a:pPr>
            <a:r>
              <a:rPr lang="zh-CN" altLang="en-US" sz="2600" b="0" dirty="0">
                <a:latin typeface="微软雅黑" panose="020B0503020204020204" charset="-122"/>
                <a:ea typeface="微软雅黑" panose="020B0503020204020204" charset="-122"/>
                <a:cs typeface="微软雅黑" panose="020B0503020204020204" charset="-122"/>
              </a:rPr>
              <a:t>时间尺度</a:t>
            </a:r>
            <a:endParaRPr lang="en-US" altLang="zh-CN" sz="2600" b="0" dirty="0">
              <a:latin typeface="微软雅黑" panose="020B0503020204020204" charset="-122"/>
              <a:ea typeface="微软雅黑" panose="020B0503020204020204" charset="-122"/>
              <a:cs typeface="微软雅黑" panose="020B0503020204020204" charset="-122"/>
            </a:endParaRPr>
          </a:p>
          <a:p>
            <a:pPr marL="903605" lvl="1" indent="-360680" eaLnBrk="1" hangingPunct="1">
              <a:lnSpc>
                <a:spcPct val="110000"/>
              </a:lnSpc>
              <a:spcBef>
                <a:spcPct val="0"/>
              </a:spcBef>
            </a:pPr>
            <a:r>
              <a:rPr lang="zh-CN" altLang="zh-CN" sz="2000" b="0" dirty="0">
                <a:latin typeface="微软雅黑" panose="020B0503020204020204" charset="-122"/>
                <a:ea typeface="微软雅黑" panose="020B0503020204020204" charset="-122"/>
                <a:cs typeface="微软雅黑" panose="020B0503020204020204" charset="-122"/>
              </a:rPr>
              <a:t>时间尺度是指数据表示的时间周期及数据形成周期有不同的长短。从一定意义上分析，时间尺度与空间尺度有一定的联系，</a:t>
            </a:r>
            <a:r>
              <a:rPr lang="zh-CN" altLang="zh-CN" sz="2000" b="0" u="sng" dirty="0">
                <a:solidFill>
                  <a:srgbClr val="FF0000"/>
                </a:solidFill>
                <a:latin typeface="微软雅黑" panose="020B0503020204020204" charset="-122"/>
                <a:ea typeface="微软雅黑" panose="020B0503020204020204" charset="-122"/>
                <a:cs typeface="微软雅黑" panose="020B0503020204020204" charset="-122"/>
              </a:rPr>
              <a:t>即较大空间尺度对应于较长的时间周期，较小的空间尺度对应于较短的时间周期</a:t>
            </a:r>
            <a:r>
              <a:rPr lang="zh-CN" altLang="en-US" sz="2000" b="0" dirty="0">
                <a:latin typeface="微软雅黑" panose="020B0503020204020204" charset="-122"/>
                <a:ea typeface="微软雅黑" panose="020B0503020204020204" charset="-122"/>
                <a:cs typeface="微软雅黑" panose="020B0503020204020204" charset="-122"/>
              </a:rPr>
              <a:t>。</a:t>
            </a:r>
            <a:endParaRPr lang="zh-CN" altLang="en-US" sz="2000" b="0" dirty="0">
              <a:latin typeface="微软雅黑" panose="020B0503020204020204" charset="-122"/>
              <a:ea typeface="微软雅黑" panose="020B0503020204020204" charset="-122"/>
              <a:cs typeface="微软雅黑" panose="020B0503020204020204" charset="-122"/>
            </a:endParaRPr>
          </a:p>
          <a:p>
            <a:pPr marL="903605" lvl="1" indent="-360680" eaLnBrk="1" hangingPunct="1">
              <a:lnSpc>
                <a:spcPct val="110000"/>
              </a:lnSpc>
              <a:spcBef>
                <a:spcPct val="0"/>
              </a:spcBef>
            </a:pPr>
            <a:endParaRPr lang="en-US" altLang="zh-CN" sz="2000" b="0" dirty="0">
              <a:latin typeface="微软雅黑" panose="020B0503020204020204" charset="-122"/>
              <a:ea typeface="微软雅黑" panose="020B0503020204020204" charset="-122"/>
              <a:cs typeface="微软雅黑" panose="020B0503020204020204" charset="-122"/>
            </a:endParaRPr>
          </a:p>
          <a:p>
            <a:pPr marL="903605" lvl="1" indent="-360680" eaLnBrk="1" hangingPunct="1">
              <a:lnSpc>
                <a:spcPct val="110000"/>
              </a:lnSpc>
              <a:spcBef>
                <a:spcPct val="0"/>
              </a:spcBef>
            </a:pPr>
            <a:r>
              <a:rPr lang="zh-CN" altLang="zh-CN" sz="2000" b="0" dirty="0">
                <a:latin typeface="微软雅黑" panose="020B0503020204020204" charset="-122"/>
                <a:ea typeface="微软雅黑" panose="020B0503020204020204" charset="-122"/>
                <a:cs typeface="微软雅黑" panose="020B0503020204020204" charset="-122"/>
              </a:rPr>
              <a:t>比如全球范围内的厄尔尼诺现象时间可以持续半年至</a:t>
            </a:r>
            <a:r>
              <a:rPr lang="en-US" altLang="zh-CN" sz="2000" b="0" dirty="0">
                <a:latin typeface="微软雅黑" panose="020B0503020204020204" charset="-122"/>
                <a:ea typeface="微软雅黑" panose="020B0503020204020204" charset="-122"/>
                <a:cs typeface="微软雅黑" panose="020B0503020204020204" charset="-122"/>
              </a:rPr>
              <a:t>1</a:t>
            </a:r>
            <a:r>
              <a:rPr lang="zh-CN" altLang="zh-CN" sz="2000" b="0" dirty="0">
                <a:latin typeface="微软雅黑" panose="020B0503020204020204" charset="-122"/>
                <a:ea typeface="微软雅黑" panose="020B0503020204020204" charset="-122"/>
                <a:cs typeface="微软雅黑" panose="020B0503020204020204" charset="-122"/>
              </a:rPr>
              <a:t>年以上，中等尺度的</a:t>
            </a:r>
            <a:r>
              <a:rPr lang="zh-CN" altLang="zh-CN" sz="2000" b="0" u="sng" dirty="0">
                <a:latin typeface="微软雅黑" panose="020B0503020204020204" charset="-122"/>
                <a:ea typeface="微软雅黑" panose="020B0503020204020204" charset="-122"/>
                <a:cs typeface="微软雅黑" panose="020B0503020204020204" charset="-122"/>
              </a:rPr>
              <a:t>海洋锋</a:t>
            </a:r>
            <a:r>
              <a:rPr lang="zh-CN" altLang="zh-CN" sz="2000" b="0" dirty="0">
                <a:latin typeface="微软雅黑" panose="020B0503020204020204" charset="-122"/>
                <a:ea typeface="微软雅黑" panose="020B0503020204020204" charset="-122"/>
                <a:cs typeface="微软雅黑" panose="020B0503020204020204" charset="-122"/>
              </a:rPr>
              <a:t>（</a:t>
            </a:r>
            <a:r>
              <a:rPr lang="zh-CN" altLang="zh-CN" sz="1600" b="0" i="1" dirty="0">
                <a:latin typeface="微软雅黑" panose="020B0503020204020204" charset="-122"/>
                <a:ea typeface="微软雅黑" panose="020B0503020204020204" charset="-122"/>
                <a:cs typeface="微软雅黑" panose="020B0503020204020204" charset="-122"/>
              </a:rPr>
              <a:t>特性明显不同的两种或几种水体之间的狭窄过渡带</a:t>
            </a:r>
            <a:r>
              <a:rPr lang="zh-CN" altLang="zh-CN" sz="2000" b="0" dirty="0">
                <a:latin typeface="微软雅黑" panose="020B0503020204020204" charset="-122"/>
                <a:ea typeface="微软雅黑" panose="020B0503020204020204" charset="-122"/>
                <a:cs typeface="微软雅黑" panose="020B0503020204020204" charset="-122"/>
              </a:rPr>
              <a:t>）活动周期一般在几周至一两个月内，而小尺度的</a:t>
            </a:r>
            <a:r>
              <a:rPr lang="zh-CN" altLang="zh-CN" sz="2000" b="0" u="sng" dirty="0">
                <a:latin typeface="微软雅黑" panose="020B0503020204020204" charset="-122"/>
                <a:ea typeface="微软雅黑" panose="020B0503020204020204" charset="-122"/>
                <a:cs typeface="微软雅黑" panose="020B0503020204020204" charset="-122"/>
              </a:rPr>
              <a:t>内波</a:t>
            </a:r>
            <a:r>
              <a:rPr lang="zh-CN" altLang="zh-CN" sz="2000" b="0" dirty="0">
                <a:latin typeface="微软雅黑" panose="020B0503020204020204" charset="-122"/>
                <a:ea typeface="微软雅黑" panose="020B0503020204020204" charset="-122"/>
                <a:cs typeface="微软雅黑" panose="020B0503020204020204" charset="-122"/>
              </a:rPr>
              <a:t>（</a:t>
            </a:r>
            <a:r>
              <a:rPr lang="zh-CN" altLang="zh-CN" sz="1600" b="0" i="1" dirty="0">
                <a:latin typeface="微软雅黑" panose="020B0503020204020204" charset="-122"/>
                <a:ea typeface="微软雅黑" panose="020B0503020204020204" charset="-122"/>
                <a:cs typeface="微软雅黑" panose="020B0503020204020204" charset="-122"/>
              </a:rPr>
              <a:t>内波是一种重要的海水运动，它将海洋上层的能量传至深层，又把深层较冷的海水连同营养物带到较暖的浅层，促进生物的生息繁衍</a:t>
            </a:r>
            <a:r>
              <a:rPr lang="zh-CN" altLang="zh-CN" sz="2000" b="0" dirty="0">
                <a:latin typeface="微软雅黑" panose="020B0503020204020204" charset="-122"/>
                <a:ea typeface="微软雅黑" panose="020B0503020204020204" charset="-122"/>
                <a:cs typeface="微软雅黑" panose="020B0503020204020204" charset="-122"/>
              </a:rPr>
              <a:t>）持续时间在几小时内。</a:t>
            </a:r>
            <a:endParaRPr lang="zh-CN" altLang="zh-CN" sz="2000" b="0" dirty="0">
              <a:latin typeface="微软雅黑" panose="020B0503020204020204" charset="-122"/>
              <a:ea typeface="微软雅黑" panose="020B0503020204020204" charset="-122"/>
              <a:cs typeface="微软雅黑" panose="020B0503020204020204" charset="-122"/>
            </a:endParaRPr>
          </a:p>
          <a:p>
            <a:pPr marL="903605" lvl="1" indent="-360680" eaLnBrk="1" hangingPunct="1">
              <a:lnSpc>
                <a:spcPct val="110000"/>
              </a:lnSpc>
              <a:spcBef>
                <a:spcPct val="0"/>
              </a:spcBef>
            </a:pPr>
            <a:endParaRPr lang="en-US" altLang="zh-CN" sz="2000" b="0" dirty="0">
              <a:latin typeface="微软雅黑" panose="020B0503020204020204" charset="-122"/>
              <a:ea typeface="微软雅黑" panose="020B0503020204020204" charset="-122"/>
              <a:cs typeface="微软雅黑" panose="020B0503020204020204" charset="-122"/>
            </a:endParaRPr>
          </a:p>
          <a:p>
            <a:pPr marL="903605" lvl="1" indent="-360680" eaLnBrk="1" hangingPunct="1">
              <a:lnSpc>
                <a:spcPct val="110000"/>
              </a:lnSpc>
              <a:spcBef>
                <a:spcPct val="0"/>
              </a:spcBef>
            </a:pPr>
            <a:r>
              <a:rPr lang="zh-CN" altLang="zh-CN" sz="2000" b="0" dirty="0">
                <a:latin typeface="微软雅黑" panose="020B0503020204020204" charset="-122"/>
                <a:ea typeface="微软雅黑" panose="020B0503020204020204" charset="-122"/>
                <a:cs typeface="微软雅黑" panose="020B0503020204020204" charset="-122"/>
              </a:rPr>
              <a:t>正是由于特征和过程有一定的自然节律性，才导致</a:t>
            </a:r>
            <a:r>
              <a:rPr lang="zh-CN" altLang="zh-CN" sz="2000" b="0" u="sng" dirty="0">
                <a:solidFill>
                  <a:srgbClr val="FF0000"/>
                </a:solidFill>
                <a:latin typeface="微软雅黑" panose="020B0503020204020204" charset="-122"/>
                <a:ea typeface="微软雅黑" panose="020B0503020204020204" charset="-122"/>
                <a:cs typeface="微软雅黑" panose="020B0503020204020204" charset="-122"/>
              </a:rPr>
              <a:t>空间数据具有多尺度特征</a:t>
            </a:r>
            <a:r>
              <a:rPr lang="zh-CN" altLang="zh-CN" sz="2000" b="0" dirty="0">
                <a:solidFill>
                  <a:srgbClr val="FF0000"/>
                </a:solidFill>
                <a:latin typeface="微软雅黑" panose="020B0503020204020204" charset="-122"/>
                <a:ea typeface="微软雅黑" panose="020B0503020204020204" charset="-122"/>
                <a:cs typeface="微软雅黑" panose="020B0503020204020204" charset="-122"/>
              </a:rPr>
              <a:t>。</a:t>
            </a:r>
            <a:endParaRPr lang="zh-CN" altLang="zh-CN" sz="2000" b="0" dirty="0">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0244" name="Rectangle 4"/>
          <p:cNvSpPr>
            <a:spLocks noGrp="1" noChangeArrowheads="1"/>
          </p:cNvSpPr>
          <p:nvPr>
            <p:ph type="title"/>
          </p:nvPr>
        </p:nvSpPr>
        <p:spPr>
          <a:xfrm>
            <a:off x="1524000" y="139700"/>
            <a:ext cx="9144000" cy="593725"/>
          </a:xfrm>
        </p:spPr>
        <p:txBody>
          <a:bodyPr/>
          <a:lstStyle/>
          <a:p>
            <a:pPr eaLnBrk="1" hangingPunct="1"/>
            <a:r>
              <a:rPr lang="en-US" altLang="zh-CN" dirty="0"/>
              <a:t>§4.1 </a:t>
            </a:r>
            <a:r>
              <a:rPr lang="zh-CN" altLang="en-US" dirty="0"/>
              <a:t>海洋时空尺度</a:t>
            </a:r>
            <a:endParaRPr lang="zh-CN" altLang="en-US" dirty="0"/>
          </a:p>
        </p:txBody>
      </p:sp>
    </p:spTree>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16046BBA-78BE-4F1F-A29F-F70B589DD83F}"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11267" name="Rectangle 2"/>
          <p:cNvSpPr>
            <a:spLocks noGrp="1" noChangeArrowheads="1"/>
          </p:cNvSpPr>
          <p:nvPr>
            <p:ph type="body" idx="4294967295"/>
          </p:nvPr>
        </p:nvSpPr>
        <p:spPr>
          <a:xfrm>
            <a:off x="772795" y="1113790"/>
            <a:ext cx="10604500" cy="5471795"/>
          </a:xfrm>
          <a:prstGeom prst="rect">
            <a:avLst/>
          </a:prstGeom>
        </p:spPr>
        <p:txBody>
          <a:bodyPr/>
          <a:lstStyle/>
          <a:p>
            <a:pPr marL="363855" indent="-363855" eaLnBrk="1" hangingPunct="1">
              <a:lnSpc>
                <a:spcPct val="110000"/>
              </a:lnSpc>
              <a:spcBef>
                <a:spcPct val="0"/>
              </a:spcBef>
            </a:pPr>
            <a:r>
              <a:rPr lang="zh-CN" altLang="en-US" b="0" dirty="0">
                <a:latin typeface="微软雅黑" panose="020B0503020204020204" charset="-122"/>
                <a:ea typeface="微软雅黑" panose="020B0503020204020204" charset="-122"/>
              </a:rPr>
              <a:t>尺度内涵</a:t>
            </a:r>
            <a:endParaRPr lang="en-US" altLang="zh-CN" b="0" dirty="0">
              <a:latin typeface="微软雅黑" panose="020B0503020204020204" charset="-122"/>
              <a:ea typeface="微软雅黑" panose="020B0503020204020204" charset="-122"/>
            </a:endParaRPr>
          </a:p>
          <a:p>
            <a:pPr marL="903605" lvl="1" indent="-360680" eaLnBrk="1" hangingPunct="1">
              <a:lnSpc>
                <a:spcPct val="110000"/>
              </a:lnSpc>
              <a:spcBef>
                <a:spcPct val="0"/>
              </a:spcBef>
              <a:buFont typeface="Wingdings" panose="05000000000000000000" pitchFamily="2" charset="2"/>
              <a:buAutoNum type="arabicPeriod" startAt="3"/>
            </a:pPr>
            <a:r>
              <a:rPr lang="zh-CN" altLang="en-US" sz="2600" b="0" dirty="0">
                <a:latin typeface="微软雅黑" panose="020B0503020204020204" charset="-122"/>
                <a:ea typeface="微软雅黑" panose="020B0503020204020204" charset="-122"/>
              </a:rPr>
              <a:t>语义尺度</a:t>
            </a:r>
            <a:endParaRPr lang="en-US" altLang="zh-CN" sz="2600" b="0" dirty="0">
              <a:latin typeface="微软雅黑" panose="020B0503020204020204" charset="-122"/>
              <a:ea typeface="微软雅黑" panose="020B0503020204020204" charset="-122"/>
            </a:endParaRPr>
          </a:p>
          <a:p>
            <a:pPr marL="903605" lvl="1" indent="-360680" eaLnBrk="1" hangingPunct="1">
              <a:lnSpc>
                <a:spcPct val="110000"/>
              </a:lnSpc>
              <a:spcBef>
                <a:spcPct val="0"/>
              </a:spcBef>
            </a:pPr>
            <a:r>
              <a:rPr lang="zh-CN" altLang="zh-CN" b="0" dirty="0">
                <a:latin typeface="微软雅黑" panose="020B0503020204020204" charset="-122"/>
                <a:ea typeface="微软雅黑" panose="020B0503020204020204" charset="-122"/>
              </a:rPr>
              <a:t>语义尺度是描述</a:t>
            </a:r>
            <a:r>
              <a:rPr lang="zh-CN" altLang="zh-CN" b="0" u="sng" dirty="0">
                <a:solidFill>
                  <a:srgbClr val="FF0000"/>
                </a:solidFill>
                <a:latin typeface="微软雅黑" panose="020B0503020204020204" charset="-122"/>
                <a:ea typeface="微软雅黑" panose="020B0503020204020204" charset="-122"/>
              </a:rPr>
              <a:t>海洋形态语义变化的强弱幅度以及属性内容的层次性的概念</a:t>
            </a:r>
            <a:r>
              <a:rPr lang="zh-CN" altLang="zh-CN" b="0" dirty="0">
                <a:latin typeface="微软雅黑" panose="020B0503020204020204" charset="-122"/>
                <a:ea typeface="微软雅黑" panose="020B0503020204020204" charset="-122"/>
              </a:rPr>
              <a:t>。</a:t>
            </a:r>
            <a:endParaRPr lang="en-US" altLang="zh-CN" b="0" dirty="0">
              <a:latin typeface="微软雅黑" panose="020B0503020204020204" charset="-122"/>
              <a:ea typeface="微软雅黑" panose="020B0503020204020204" charset="-122"/>
            </a:endParaRPr>
          </a:p>
          <a:p>
            <a:pPr marL="903605" lvl="1" indent="-360680" eaLnBrk="1" hangingPunct="1">
              <a:lnSpc>
                <a:spcPct val="110000"/>
              </a:lnSpc>
              <a:spcBef>
                <a:spcPct val="0"/>
              </a:spcBef>
            </a:pPr>
            <a:r>
              <a:rPr lang="zh-CN" altLang="zh-CN" b="0" dirty="0">
                <a:latin typeface="微软雅黑" panose="020B0503020204020204" charset="-122"/>
                <a:ea typeface="微软雅黑" panose="020B0503020204020204" charset="-122"/>
              </a:rPr>
              <a:t>强弱幅度可以</a:t>
            </a:r>
            <a:r>
              <a:rPr lang="zh-CN" altLang="en-US" b="0" dirty="0">
                <a:latin typeface="微软雅黑" panose="020B0503020204020204" charset="-122"/>
                <a:ea typeface="微软雅黑" panose="020B0503020204020204" charset="-122"/>
              </a:rPr>
              <a:t>由</a:t>
            </a:r>
            <a:r>
              <a:rPr lang="zh-CN" altLang="zh-CN" b="0" dirty="0">
                <a:latin typeface="微软雅黑" panose="020B0503020204020204" charset="-122"/>
                <a:ea typeface="微软雅黑" panose="020B0503020204020204" charset="-122"/>
              </a:rPr>
              <a:t>单位时间内或者单位距离内</a:t>
            </a:r>
            <a:r>
              <a:rPr lang="zh-CN" altLang="zh-CN" b="0" u="sng" dirty="0">
                <a:latin typeface="微软雅黑" panose="020B0503020204020204" charset="-122"/>
                <a:ea typeface="微软雅黑" panose="020B0503020204020204" charset="-122"/>
              </a:rPr>
              <a:t>属性特征</a:t>
            </a:r>
            <a:r>
              <a:rPr lang="zh-CN" altLang="zh-CN" b="0" dirty="0">
                <a:latin typeface="微软雅黑" panose="020B0503020204020204" charset="-122"/>
                <a:ea typeface="微软雅黑" panose="020B0503020204020204" charset="-122"/>
              </a:rPr>
              <a:t>值的变化幅度值来表示</a:t>
            </a:r>
            <a:r>
              <a:rPr lang="zh-CN" altLang="en-US" b="0" dirty="0">
                <a:latin typeface="微软雅黑" panose="020B0503020204020204" charset="-122"/>
                <a:ea typeface="微软雅黑" panose="020B0503020204020204" charset="-122"/>
              </a:rPr>
              <a:t>。</a:t>
            </a:r>
            <a:endParaRPr lang="en-US" altLang="zh-CN" b="0" dirty="0">
              <a:latin typeface="微软雅黑" panose="020B0503020204020204" charset="-122"/>
              <a:ea typeface="微软雅黑" panose="020B0503020204020204" charset="-122"/>
            </a:endParaRPr>
          </a:p>
          <a:p>
            <a:pPr marL="903605" lvl="1" indent="-360680" eaLnBrk="1" hangingPunct="1">
              <a:lnSpc>
                <a:spcPct val="110000"/>
              </a:lnSpc>
              <a:spcBef>
                <a:spcPct val="0"/>
              </a:spcBef>
            </a:pPr>
            <a:r>
              <a:rPr lang="zh-CN" altLang="zh-CN" b="0" dirty="0">
                <a:latin typeface="微软雅黑" panose="020B0503020204020204" charset="-122"/>
                <a:ea typeface="微软雅黑" panose="020B0503020204020204" charset="-122"/>
              </a:rPr>
              <a:t>属性内容的层次性是属性描述中的</a:t>
            </a:r>
            <a:r>
              <a:rPr lang="zh-CN" altLang="zh-CN" b="0" u="sng" dirty="0">
                <a:solidFill>
                  <a:srgbClr val="FF0000"/>
                </a:solidFill>
                <a:latin typeface="微软雅黑" panose="020B0503020204020204" charset="-122"/>
                <a:ea typeface="微软雅黑" panose="020B0503020204020204" charset="-122"/>
              </a:rPr>
              <a:t>类别和等级</a:t>
            </a:r>
            <a:r>
              <a:rPr lang="zh-CN" altLang="zh-CN" b="0" dirty="0">
                <a:latin typeface="微软雅黑" panose="020B0503020204020204" charset="-122"/>
                <a:ea typeface="微软雅黑" panose="020B0503020204020204" charset="-122"/>
              </a:rPr>
              <a:t>，是语义实体的包含关系。</a:t>
            </a:r>
            <a:endParaRPr lang="zh-CN" altLang="en-US" b="0" dirty="0">
              <a:latin typeface="微软雅黑" panose="020B0503020204020204" charset="-122"/>
              <a:ea typeface="微软雅黑" panose="020B0503020204020204" charset="-122"/>
            </a:endParaRPr>
          </a:p>
          <a:p>
            <a:pPr marL="903605" lvl="1" indent="-360680" eaLnBrk="1" hangingPunct="1">
              <a:lnSpc>
                <a:spcPct val="110000"/>
              </a:lnSpc>
              <a:spcBef>
                <a:spcPct val="0"/>
              </a:spcBef>
            </a:pPr>
            <a:r>
              <a:rPr lang="zh-CN" altLang="zh-CN" b="0" dirty="0">
                <a:latin typeface="微软雅黑" panose="020B0503020204020204" charset="-122"/>
                <a:ea typeface="微软雅黑" panose="020B0503020204020204" charset="-122"/>
              </a:rPr>
              <a:t>语义尺度在一定意义上同时空尺度存在密切的联系。</a:t>
            </a:r>
            <a:r>
              <a:rPr lang="zh-CN" altLang="zh-CN" b="0" u="sng" dirty="0">
                <a:solidFill>
                  <a:srgbClr val="FF0000"/>
                </a:solidFill>
                <a:latin typeface="微软雅黑" panose="020B0503020204020204" charset="-122"/>
                <a:ea typeface="微软雅黑" panose="020B0503020204020204" charset="-122"/>
              </a:rPr>
              <a:t>较大的时空尺度下所具有的语义尺度具有较高的抽象概括能力，而较低的语义尺度往往和较小的时空尺度相联系</a:t>
            </a:r>
            <a:r>
              <a:rPr lang="zh-CN" altLang="zh-CN" b="0" dirty="0">
                <a:latin typeface="微软雅黑" panose="020B0503020204020204" charset="-122"/>
                <a:ea typeface="微软雅黑" panose="020B0503020204020204" charset="-122"/>
              </a:rPr>
              <a:t>。</a:t>
            </a:r>
            <a:endParaRPr lang="zh-CN" altLang="en-US" b="0" dirty="0">
              <a:latin typeface="微软雅黑" panose="020B0503020204020204" charset="-122"/>
              <a:ea typeface="微软雅黑" panose="020B0503020204020204" charset="-122"/>
            </a:endParaRPr>
          </a:p>
        </p:txBody>
      </p:sp>
      <p:sp>
        <p:nvSpPr>
          <p:cNvPr id="11268" name="Rectangle 4"/>
          <p:cNvSpPr>
            <a:spLocks noGrp="1" noChangeArrowheads="1"/>
          </p:cNvSpPr>
          <p:nvPr>
            <p:ph type="title"/>
          </p:nvPr>
        </p:nvSpPr>
        <p:spPr>
          <a:xfrm>
            <a:off x="1524000" y="139700"/>
            <a:ext cx="9144000" cy="593725"/>
          </a:xfrm>
        </p:spPr>
        <p:txBody>
          <a:bodyPr/>
          <a:lstStyle/>
          <a:p>
            <a:pPr eaLnBrk="1" hangingPunct="1"/>
            <a:r>
              <a:rPr lang="en-US" altLang="zh-CN" dirty="0"/>
              <a:t>§4.1 </a:t>
            </a:r>
            <a:r>
              <a:rPr lang="zh-CN" altLang="en-US" dirty="0"/>
              <a:t>海洋时空尺度</a:t>
            </a:r>
            <a:endParaRPr lang="zh-CN" altLang="en-US" dirty="0"/>
          </a:p>
        </p:txBody>
      </p:sp>
    </p:spTree>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FA37ED3E-5B6B-4277-A9DC-25EF9FC00471}"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12291" name="Rectangle 6"/>
          <p:cNvSpPr>
            <a:spLocks noChangeArrowheads="1"/>
          </p:cNvSpPr>
          <p:nvPr/>
        </p:nvSpPr>
        <p:spPr bwMode="auto">
          <a:xfrm>
            <a:off x="2057400" y="1125538"/>
            <a:ext cx="8153400" cy="460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endParaRPr lang="en-US" altLang="zh-CN" sz="2400">
              <a:solidFill>
                <a:schemeClr val="tx2"/>
              </a:solidFill>
              <a:latin typeface="Arial" panose="020B0604020202020204" pitchFamily="34" charset="0"/>
            </a:endParaRPr>
          </a:p>
        </p:txBody>
      </p:sp>
      <p:sp>
        <p:nvSpPr>
          <p:cNvPr id="12292" name="TextBox 6"/>
          <p:cNvSpPr txBox="1">
            <a:spLocks noChangeArrowheads="1"/>
          </p:cNvSpPr>
          <p:nvPr/>
        </p:nvSpPr>
        <p:spPr bwMode="auto">
          <a:xfrm>
            <a:off x="4226560" y="6068060"/>
            <a:ext cx="38147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algn="ctr" eaLnBrk="1" hangingPunct="1">
              <a:spcBef>
                <a:spcPct val="0"/>
              </a:spcBef>
              <a:spcAft>
                <a:spcPct val="0"/>
              </a:spcAft>
              <a:buClrTx/>
              <a:buFontTx/>
              <a:buNone/>
            </a:pPr>
            <a:r>
              <a:rPr lang="zh-CN" altLang="en-US" sz="2400">
                <a:solidFill>
                  <a:srgbClr val="0033CC"/>
                </a:solidFill>
                <a:latin typeface="宋体" panose="02010600030101010101" pitchFamily="2" charset="-122"/>
              </a:rPr>
              <a:t>海洋现象</a:t>
            </a:r>
            <a:r>
              <a:rPr lang="en-US" altLang="zh-CN" sz="2400">
                <a:solidFill>
                  <a:srgbClr val="0033CC"/>
                </a:solidFill>
                <a:latin typeface="宋体" panose="02010600030101010101" pitchFamily="2" charset="-122"/>
              </a:rPr>
              <a:t>4</a:t>
            </a:r>
            <a:r>
              <a:rPr lang="zh-CN" altLang="en-US" sz="2400">
                <a:solidFill>
                  <a:srgbClr val="0033CC"/>
                </a:solidFill>
                <a:latin typeface="宋体" panose="02010600030101010101" pitchFamily="2" charset="-122"/>
              </a:rPr>
              <a:t>级语义尺度</a:t>
            </a:r>
            <a:endParaRPr lang="zh-CN" altLang="en-US" sz="2400">
              <a:solidFill>
                <a:srgbClr val="0033CC"/>
              </a:solidFill>
              <a:latin typeface="宋体" panose="02010600030101010101" pitchFamily="2" charset="-122"/>
            </a:endParaRPr>
          </a:p>
        </p:txBody>
      </p:sp>
      <p:sp>
        <p:nvSpPr>
          <p:cNvPr id="12294" name="Rectangle 4"/>
          <p:cNvSpPr>
            <a:spLocks noChangeArrowheads="1"/>
          </p:cNvSpPr>
          <p:nvPr/>
        </p:nvSpPr>
        <p:spPr bwMode="white">
          <a:xfrm>
            <a:off x="1524000" y="139700"/>
            <a:ext cx="9144000"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algn="ctr" eaLnBrk="1" hangingPunct="1">
              <a:spcBef>
                <a:spcPct val="0"/>
              </a:spcBef>
              <a:spcAft>
                <a:spcPct val="0"/>
              </a:spcAft>
              <a:buClrTx/>
              <a:buFontTx/>
              <a:buNone/>
            </a:pPr>
            <a:r>
              <a:rPr lang="en-US" altLang="zh-CN" sz="3200" dirty="0">
                <a:solidFill>
                  <a:schemeClr val="bg1"/>
                </a:solidFill>
                <a:latin typeface="宋体" panose="02010600030101010101" pitchFamily="2" charset="-122"/>
              </a:rPr>
              <a:t>§4.1 </a:t>
            </a:r>
            <a:r>
              <a:rPr lang="zh-CN" altLang="en-US" sz="3200" dirty="0">
                <a:solidFill>
                  <a:schemeClr val="bg1"/>
                </a:solidFill>
                <a:latin typeface="宋体" panose="02010600030101010101" pitchFamily="2" charset="-122"/>
              </a:rPr>
              <a:t>海洋时空尺度</a:t>
            </a:r>
            <a:endParaRPr lang="zh-CN" altLang="en-US" sz="3200" dirty="0">
              <a:solidFill>
                <a:schemeClr val="bg1"/>
              </a:solidFill>
              <a:latin typeface="宋体" panose="02010600030101010101" pitchFamily="2" charset="-122"/>
            </a:endParaRPr>
          </a:p>
        </p:txBody>
      </p:sp>
      <p:sp>
        <p:nvSpPr>
          <p:cNvPr id="2" name="文本框 1"/>
          <p:cNvSpPr txBox="1"/>
          <p:nvPr/>
        </p:nvSpPr>
        <p:spPr>
          <a:xfrm>
            <a:off x="2057400" y="1004570"/>
            <a:ext cx="7484745" cy="337185"/>
          </a:xfrm>
          <a:prstGeom prst="rect">
            <a:avLst/>
          </a:prstGeom>
          <a:noFill/>
        </p:spPr>
        <p:txBody>
          <a:bodyPr wrap="square" rtlCol="0" anchor="t">
            <a:spAutoFit/>
          </a:bodyPr>
          <a:p>
            <a:r>
              <a:rPr lang="zh-CN" altLang="en-US" sz="1600" i="1"/>
              <a:t>海流：又称洋流，是海水因热辐射、蒸发、降水、冷缩等而形成密度不同的水团。</a:t>
            </a:r>
            <a:endParaRPr lang="zh-CN" altLang="en-US" sz="1600" i="1"/>
          </a:p>
        </p:txBody>
      </p:sp>
      <p:sp>
        <p:nvSpPr>
          <p:cNvPr id="3" name="文本框 2"/>
          <p:cNvSpPr txBox="1"/>
          <p:nvPr/>
        </p:nvSpPr>
        <p:spPr>
          <a:xfrm>
            <a:off x="2057400" y="1452880"/>
            <a:ext cx="8514080" cy="337185"/>
          </a:xfrm>
          <a:prstGeom prst="rect">
            <a:avLst/>
          </a:prstGeom>
          <a:noFill/>
        </p:spPr>
        <p:txBody>
          <a:bodyPr wrap="square" rtlCol="0" anchor="t">
            <a:spAutoFit/>
          </a:bodyPr>
          <a:p>
            <a:r>
              <a:rPr lang="zh-CN" altLang="en-US" sz="1600" i="1"/>
              <a:t>涡旋：由于两股或多股海洋洋流和海上季风在地球自转力度影响下相互碰撞形成的螺旋运动。</a:t>
            </a:r>
            <a:endParaRPr lang="zh-CN" altLang="en-US" sz="1600" i="1"/>
          </a:p>
        </p:txBody>
      </p:sp>
      <p:sp>
        <p:nvSpPr>
          <p:cNvPr id="4" name="文本框 3"/>
          <p:cNvSpPr txBox="1"/>
          <p:nvPr/>
        </p:nvSpPr>
        <p:spPr>
          <a:xfrm>
            <a:off x="2057400" y="1962785"/>
            <a:ext cx="8312150" cy="337185"/>
          </a:xfrm>
          <a:prstGeom prst="rect">
            <a:avLst/>
          </a:prstGeom>
          <a:noFill/>
        </p:spPr>
        <p:txBody>
          <a:bodyPr wrap="square" rtlCol="0" anchor="t">
            <a:spAutoFit/>
          </a:bodyPr>
          <a:p>
            <a:r>
              <a:rPr lang="zh-CN" altLang="en-US" sz="1600" i="1"/>
              <a:t>跃层：海水的温度、盐度、密度或声速随深度变化最显著的水层。</a:t>
            </a:r>
            <a:endParaRPr lang="zh-CN" altLang="en-US" sz="1600" i="1"/>
          </a:p>
        </p:txBody>
      </p:sp>
      <p:pic>
        <p:nvPicPr>
          <p:cNvPr id="5" name="图片 4"/>
          <p:cNvPicPr>
            <a:picLocks noChangeAspect="1"/>
          </p:cNvPicPr>
          <p:nvPr/>
        </p:nvPicPr>
        <p:blipFill>
          <a:blip r:embed="rId1"/>
          <a:stretch>
            <a:fillRect/>
          </a:stretch>
        </p:blipFill>
        <p:spPr>
          <a:xfrm>
            <a:off x="2536825" y="2472690"/>
            <a:ext cx="7555230" cy="3334385"/>
          </a:xfrm>
          <a:prstGeom prst="rect">
            <a:avLst/>
          </a:prstGeom>
        </p:spPr>
      </p:pic>
    </p:spTree>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3B032D83-C03B-4E3D-A5A4-B306D79C98B6}"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14339" name="Rectangle 2"/>
          <p:cNvSpPr>
            <a:spLocks noGrp="1" noChangeArrowheads="1"/>
          </p:cNvSpPr>
          <p:nvPr>
            <p:ph type="body" idx="4294967295"/>
          </p:nvPr>
        </p:nvSpPr>
        <p:spPr>
          <a:xfrm>
            <a:off x="753110" y="1103630"/>
            <a:ext cx="10398760" cy="5182870"/>
          </a:xfrm>
          <a:prstGeom prst="rect">
            <a:avLst/>
          </a:prstGeom>
        </p:spPr>
        <p:txBody>
          <a:bodyPr/>
          <a:lstStyle/>
          <a:p>
            <a:pPr marL="363855" indent="-363855" eaLnBrk="1" hangingPunct="1">
              <a:lnSpc>
                <a:spcPct val="110000"/>
              </a:lnSpc>
              <a:spcBef>
                <a:spcPct val="0"/>
              </a:spcBef>
            </a:pPr>
            <a:r>
              <a:rPr lang="zh-CN" altLang="en-US" b="0" dirty="0">
                <a:latin typeface="微软雅黑" panose="020B0503020204020204" charset="-122"/>
                <a:ea typeface="微软雅黑" panose="020B0503020204020204" charset="-122"/>
                <a:cs typeface="微软雅黑" panose="020B0503020204020204" charset="-122"/>
              </a:rPr>
              <a:t>空间分辨率</a:t>
            </a:r>
            <a:endParaRPr lang="en-US" altLang="zh-CN" b="0" dirty="0">
              <a:latin typeface="微软雅黑" panose="020B0503020204020204" charset="-122"/>
              <a:ea typeface="微软雅黑" panose="020B0503020204020204" charset="-122"/>
              <a:cs typeface="微软雅黑" panose="020B0503020204020204" charset="-122"/>
            </a:endParaRPr>
          </a:p>
          <a:p>
            <a:pPr marL="903605" lvl="1" indent="-360680" eaLnBrk="1" hangingPunct="1">
              <a:lnSpc>
                <a:spcPct val="110000"/>
              </a:lnSpc>
              <a:spcBef>
                <a:spcPct val="0"/>
              </a:spcBef>
            </a:pPr>
            <a:r>
              <a:rPr lang="zh-CN" altLang="zh-CN" b="0" dirty="0">
                <a:latin typeface="微软雅黑" panose="020B0503020204020204" charset="-122"/>
                <a:ea typeface="微软雅黑" panose="020B0503020204020204" charset="-122"/>
                <a:cs typeface="微软雅黑" panose="020B0503020204020204" charset="-122"/>
              </a:rPr>
              <a:t>空间分辨率与空间尺度存在着对应关系</a:t>
            </a:r>
            <a:r>
              <a:rPr lang="zh-CN" altLang="en-US" b="0" dirty="0">
                <a:latin typeface="微软雅黑" panose="020B0503020204020204" charset="-122"/>
                <a:ea typeface="微软雅黑" panose="020B0503020204020204" charset="-122"/>
                <a:cs typeface="微软雅黑" panose="020B0503020204020204" charset="-122"/>
              </a:rPr>
              <a:t>。</a:t>
            </a:r>
            <a:endParaRPr lang="zh-CN" altLang="en-US" b="0" dirty="0">
              <a:latin typeface="微软雅黑" panose="020B0503020204020204" charset="-122"/>
              <a:ea typeface="微软雅黑" panose="020B0503020204020204" charset="-122"/>
              <a:cs typeface="微软雅黑" panose="020B0503020204020204" charset="-122"/>
            </a:endParaRPr>
          </a:p>
          <a:p>
            <a:pPr marL="903605" lvl="1" indent="-360680" eaLnBrk="1" hangingPunct="1">
              <a:lnSpc>
                <a:spcPct val="110000"/>
              </a:lnSpc>
              <a:spcBef>
                <a:spcPct val="0"/>
              </a:spcBef>
            </a:pPr>
            <a:endParaRPr lang="en-US" altLang="zh-CN" b="0" dirty="0">
              <a:latin typeface="微软雅黑" panose="020B0503020204020204" charset="-122"/>
              <a:ea typeface="微软雅黑" panose="020B0503020204020204" charset="-122"/>
              <a:cs typeface="微软雅黑" panose="020B0503020204020204" charset="-122"/>
            </a:endParaRPr>
          </a:p>
          <a:p>
            <a:pPr marL="903605" lvl="1" indent="-360680" eaLnBrk="1" hangingPunct="1">
              <a:lnSpc>
                <a:spcPct val="110000"/>
              </a:lnSpc>
              <a:spcBef>
                <a:spcPct val="0"/>
              </a:spcBef>
            </a:pPr>
            <a:r>
              <a:rPr lang="zh-CN" altLang="zh-CN" b="0" u="sng" dirty="0">
                <a:latin typeface="微软雅黑" panose="020B0503020204020204" charset="-122"/>
                <a:ea typeface="微软雅黑" panose="020B0503020204020204" charset="-122"/>
                <a:cs typeface="微软雅黑" panose="020B0503020204020204" charset="-122"/>
              </a:rPr>
              <a:t>大的空间尺度海洋现象对应着</a:t>
            </a:r>
            <a:r>
              <a:rPr lang="zh-CN" altLang="en-US" b="0" u="sng" dirty="0">
                <a:latin typeface="微软雅黑" panose="020B0503020204020204" charset="-122"/>
                <a:ea typeface="微软雅黑" panose="020B0503020204020204" charset="-122"/>
                <a:cs typeface="微软雅黑" panose="020B0503020204020204" charset="-122"/>
              </a:rPr>
              <a:t>低</a:t>
            </a:r>
            <a:r>
              <a:rPr lang="zh-CN" altLang="zh-CN" b="0" u="sng" dirty="0">
                <a:latin typeface="微软雅黑" panose="020B0503020204020204" charset="-122"/>
                <a:ea typeface="微软雅黑" panose="020B0503020204020204" charset="-122"/>
                <a:cs typeface="微软雅黑" panose="020B0503020204020204" charset="-122"/>
              </a:rPr>
              <a:t>空间分辨率</a:t>
            </a:r>
            <a:r>
              <a:rPr lang="zh-CN" altLang="zh-CN" b="0" dirty="0">
                <a:latin typeface="微软雅黑" panose="020B0503020204020204" charset="-122"/>
                <a:ea typeface="微软雅黑" panose="020B0503020204020204" charset="-122"/>
                <a:cs typeface="微软雅黑" panose="020B0503020204020204" charset="-122"/>
              </a:rPr>
              <a:t>，对海洋形态特征的综合与抽象的能力更强，更能反映出信息的</a:t>
            </a:r>
            <a:r>
              <a:rPr lang="zh-CN" altLang="zh-CN" b="0" u="sng" dirty="0">
                <a:latin typeface="微软雅黑" panose="020B0503020204020204" charset="-122"/>
                <a:ea typeface="微软雅黑" panose="020B0503020204020204" charset="-122"/>
                <a:cs typeface="微软雅黑" panose="020B0503020204020204" charset="-122"/>
              </a:rPr>
              <a:t>总体趋势</a:t>
            </a:r>
            <a:r>
              <a:rPr lang="zh-CN" altLang="en-US" b="0" dirty="0">
                <a:latin typeface="微软雅黑" panose="020B0503020204020204" charset="-122"/>
                <a:ea typeface="微软雅黑" panose="020B0503020204020204" charset="-122"/>
                <a:cs typeface="微软雅黑" panose="020B0503020204020204" charset="-122"/>
              </a:rPr>
              <a:t>。</a:t>
            </a:r>
            <a:endParaRPr lang="zh-CN" altLang="en-US" b="0" dirty="0">
              <a:latin typeface="微软雅黑" panose="020B0503020204020204" charset="-122"/>
              <a:ea typeface="微软雅黑" panose="020B0503020204020204" charset="-122"/>
              <a:cs typeface="微软雅黑" panose="020B0503020204020204" charset="-122"/>
            </a:endParaRPr>
          </a:p>
          <a:p>
            <a:pPr marL="903605" lvl="1" indent="-360680" eaLnBrk="1" hangingPunct="1">
              <a:lnSpc>
                <a:spcPct val="110000"/>
              </a:lnSpc>
              <a:spcBef>
                <a:spcPct val="0"/>
              </a:spcBef>
            </a:pPr>
            <a:endParaRPr lang="en-US" altLang="zh-CN" b="0" dirty="0">
              <a:latin typeface="微软雅黑" panose="020B0503020204020204" charset="-122"/>
              <a:ea typeface="微软雅黑" panose="020B0503020204020204" charset="-122"/>
              <a:cs typeface="微软雅黑" panose="020B0503020204020204" charset="-122"/>
            </a:endParaRPr>
          </a:p>
          <a:p>
            <a:pPr marL="903605" lvl="1" indent="-360680" eaLnBrk="1" hangingPunct="1">
              <a:lnSpc>
                <a:spcPct val="110000"/>
              </a:lnSpc>
              <a:spcBef>
                <a:spcPct val="0"/>
              </a:spcBef>
            </a:pPr>
            <a:r>
              <a:rPr lang="zh-CN" altLang="zh-CN" b="0" dirty="0">
                <a:latin typeface="微软雅黑" panose="020B0503020204020204" charset="-122"/>
                <a:ea typeface="微软雅黑" panose="020B0503020204020204" charset="-122"/>
                <a:cs typeface="微软雅黑" panose="020B0503020204020204" charset="-122"/>
              </a:rPr>
              <a:t>反之，在研究小尺度现象时往往采用</a:t>
            </a:r>
            <a:r>
              <a:rPr lang="zh-CN" altLang="en-US" b="0" dirty="0">
                <a:latin typeface="微软雅黑" panose="020B0503020204020204" charset="-122"/>
                <a:ea typeface="微软雅黑" panose="020B0503020204020204" charset="-122"/>
                <a:cs typeface="微软雅黑" panose="020B0503020204020204" charset="-122"/>
              </a:rPr>
              <a:t>高</a:t>
            </a:r>
            <a:r>
              <a:rPr lang="zh-CN" altLang="zh-CN" b="0" dirty="0">
                <a:latin typeface="微软雅黑" panose="020B0503020204020204" charset="-122"/>
                <a:ea typeface="微软雅黑" panose="020B0503020204020204" charset="-122"/>
                <a:cs typeface="微软雅黑" panose="020B0503020204020204" charset="-122"/>
              </a:rPr>
              <a:t>空间分辨率，能够更为详细地描述信息的细节信息。</a:t>
            </a:r>
            <a:r>
              <a:rPr lang="zh-CN" altLang="zh-CN" b="0" u="sng" dirty="0">
                <a:solidFill>
                  <a:srgbClr val="FF0000"/>
                </a:solidFill>
                <a:latin typeface="微软雅黑" panose="020B0503020204020204" charset="-122"/>
                <a:ea typeface="微软雅黑" panose="020B0503020204020204" charset="-122"/>
                <a:cs typeface="微软雅黑" panose="020B0503020204020204" charset="-122"/>
              </a:rPr>
              <a:t>空间分辨率选取的大小与研究区域和研究目标有着密切的关系</a:t>
            </a:r>
            <a:r>
              <a:rPr lang="zh-CN" altLang="en-US" b="0" u="sng" dirty="0">
                <a:solidFill>
                  <a:srgbClr val="FF0000"/>
                </a:solidFill>
                <a:latin typeface="微软雅黑" panose="020B0503020204020204" charset="-122"/>
                <a:ea typeface="微软雅黑" panose="020B0503020204020204" charset="-122"/>
                <a:cs typeface="微软雅黑" panose="020B0503020204020204" charset="-122"/>
              </a:rPr>
              <a:t>。</a:t>
            </a:r>
            <a:endParaRPr lang="zh-CN" altLang="en-US" b="0" u="sng" dirty="0">
              <a:solidFill>
                <a:srgbClr val="FF0000"/>
              </a:solidFill>
              <a:latin typeface="微软雅黑" panose="020B0503020204020204" charset="-122"/>
              <a:ea typeface="微软雅黑" panose="020B0503020204020204" charset="-122"/>
              <a:cs typeface="微软雅黑" panose="020B0503020204020204" charset="-122"/>
            </a:endParaRPr>
          </a:p>
          <a:p>
            <a:pPr marL="0" indent="0" eaLnBrk="1" hangingPunct="1">
              <a:buNone/>
            </a:pPr>
            <a:endParaRPr lang="zh-CN" altLang="en-US" sz="1600" b="0" i="1" dirty="0">
              <a:latin typeface="微软雅黑" panose="020B0503020204020204" charset="-122"/>
              <a:ea typeface="微软雅黑" panose="020B0503020204020204" charset="-122"/>
              <a:cs typeface="微软雅黑" panose="020B0503020204020204" charset="-122"/>
              <a:sym typeface="+mn-ea"/>
            </a:endParaRPr>
          </a:p>
          <a:p>
            <a:pPr marL="0" indent="0" eaLnBrk="1" hangingPunct="1">
              <a:buNone/>
            </a:pPr>
            <a:r>
              <a:rPr lang="zh-CN" altLang="en-US" sz="1600" b="0" i="1" dirty="0">
                <a:solidFill>
                  <a:schemeClr val="accent6"/>
                </a:solidFill>
                <a:latin typeface="微软雅黑" panose="020B0503020204020204" charset="-122"/>
                <a:ea typeface="微软雅黑" panose="020B0503020204020204" charset="-122"/>
                <a:cs typeface="微软雅黑" panose="020B0503020204020204" charset="-122"/>
                <a:sym typeface="+mn-ea"/>
              </a:rPr>
              <a:t>例如，</a:t>
            </a:r>
            <a:r>
              <a:rPr lang="zh-CN" altLang="zh-CN" sz="1600" b="0" i="1" dirty="0">
                <a:solidFill>
                  <a:schemeClr val="accent6"/>
                </a:solidFill>
                <a:latin typeface="微软雅黑" panose="020B0503020204020204" charset="-122"/>
                <a:ea typeface="微软雅黑" panose="020B0503020204020204" charset="-122"/>
                <a:cs typeface="微软雅黑" panose="020B0503020204020204" charset="-122"/>
                <a:sym typeface="+mn-ea"/>
              </a:rPr>
              <a:t>研究全球性的天气情况和海流运动</a:t>
            </a:r>
            <a:r>
              <a:rPr lang="zh-CN" altLang="en-US" sz="1600" b="0" i="1" dirty="0">
                <a:solidFill>
                  <a:schemeClr val="accent6"/>
                </a:solidFill>
                <a:latin typeface="微软雅黑" panose="020B0503020204020204" charset="-122"/>
                <a:ea typeface="微软雅黑" panose="020B0503020204020204" charset="-122"/>
                <a:cs typeface="微软雅黑" panose="020B0503020204020204" charset="-122"/>
                <a:sym typeface="+mn-ea"/>
              </a:rPr>
              <a:t>，</a:t>
            </a:r>
            <a:r>
              <a:rPr lang="zh-CN" altLang="zh-CN" sz="1600" b="0" i="1" dirty="0">
                <a:solidFill>
                  <a:schemeClr val="accent6"/>
                </a:solidFill>
                <a:latin typeface="微软雅黑" panose="020B0503020204020204" charset="-122"/>
                <a:ea typeface="微软雅黑" panose="020B0503020204020204" charset="-122"/>
                <a:cs typeface="微软雅黑" panose="020B0503020204020204" charset="-122"/>
                <a:sym typeface="+mn-ea"/>
              </a:rPr>
              <a:t>采用</a:t>
            </a:r>
            <a:r>
              <a:rPr lang="en-US" altLang="zh-CN" sz="1600" b="0" i="1" dirty="0">
                <a:solidFill>
                  <a:schemeClr val="accent6"/>
                </a:solidFill>
                <a:latin typeface="微软雅黑" panose="020B0503020204020204" charset="-122"/>
                <a:ea typeface="微软雅黑" panose="020B0503020204020204" charset="-122"/>
                <a:cs typeface="微软雅黑" panose="020B0503020204020204" charset="-122"/>
                <a:sym typeface="+mn-ea"/>
              </a:rPr>
              <a:t>1km</a:t>
            </a:r>
            <a:r>
              <a:rPr lang="zh-CN" altLang="zh-CN" sz="1600" b="0" i="1" dirty="0">
                <a:solidFill>
                  <a:schemeClr val="accent6"/>
                </a:solidFill>
                <a:latin typeface="微软雅黑" panose="020B0503020204020204" charset="-122"/>
                <a:ea typeface="微软雅黑" panose="020B0503020204020204" charset="-122"/>
                <a:cs typeface="微软雅黑" panose="020B0503020204020204" charset="-122"/>
                <a:sym typeface="+mn-ea"/>
              </a:rPr>
              <a:t>甚至十几千米的空间分辨率图像就能满足要求</a:t>
            </a:r>
            <a:r>
              <a:rPr lang="zh-CN" altLang="en-US" sz="1600" b="0" i="1" dirty="0">
                <a:solidFill>
                  <a:schemeClr val="accent6"/>
                </a:solidFill>
                <a:latin typeface="微软雅黑" panose="020B0503020204020204" charset="-122"/>
                <a:ea typeface="微软雅黑" panose="020B0503020204020204" charset="-122"/>
                <a:cs typeface="微软雅黑" panose="020B0503020204020204" charset="-122"/>
                <a:sym typeface="+mn-ea"/>
              </a:rPr>
              <a:t>；</a:t>
            </a:r>
            <a:r>
              <a:rPr lang="zh-CN" altLang="zh-CN" sz="1600" b="0" i="1" dirty="0">
                <a:solidFill>
                  <a:schemeClr val="accent6"/>
                </a:solidFill>
                <a:latin typeface="微软雅黑" panose="020B0503020204020204" charset="-122"/>
                <a:ea typeface="微软雅黑" panose="020B0503020204020204" charset="-122"/>
                <a:cs typeface="微软雅黑" panose="020B0503020204020204" charset="-122"/>
                <a:sym typeface="+mn-ea"/>
              </a:rPr>
              <a:t>在研究一个区域河口的水色锋时，采用的空间分辨率就要相应地提高。</a:t>
            </a:r>
            <a:endParaRPr lang="en-US" altLang="zh-CN" sz="1600" b="0" i="1" dirty="0">
              <a:solidFill>
                <a:schemeClr val="accent6"/>
              </a:solidFill>
              <a:latin typeface="微软雅黑" panose="020B0503020204020204" charset="-122"/>
              <a:ea typeface="微软雅黑" panose="020B0503020204020204" charset="-122"/>
              <a:cs typeface="微软雅黑" panose="020B0503020204020204" charset="-122"/>
            </a:endParaRPr>
          </a:p>
          <a:p>
            <a:pPr eaLnBrk="1" hangingPunct="1"/>
            <a:endParaRPr lang="zh-CN" altLang="zh-CN" sz="2400" b="0" dirty="0">
              <a:latin typeface="微软雅黑" panose="020B0503020204020204" charset="-122"/>
              <a:ea typeface="微软雅黑" panose="020B0503020204020204" charset="-122"/>
              <a:cs typeface="微软雅黑" panose="020B0503020204020204" charset="-122"/>
            </a:endParaRPr>
          </a:p>
          <a:p>
            <a:pPr marL="542925" lvl="1" indent="0" eaLnBrk="1" hangingPunct="1">
              <a:lnSpc>
                <a:spcPct val="110000"/>
              </a:lnSpc>
              <a:spcBef>
                <a:spcPct val="0"/>
              </a:spcBef>
              <a:buNone/>
            </a:pPr>
            <a:endParaRPr lang="zh-CN" altLang="en-US" b="0" u="sng" dirty="0">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4340" name="Rectangle 4"/>
          <p:cNvSpPr>
            <a:spLocks noGrp="1" noChangeArrowheads="1"/>
          </p:cNvSpPr>
          <p:nvPr>
            <p:ph type="title"/>
          </p:nvPr>
        </p:nvSpPr>
        <p:spPr>
          <a:xfrm>
            <a:off x="1524000" y="139700"/>
            <a:ext cx="9144000" cy="593725"/>
          </a:xfrm>
        </p:spPr>
        <p:txBody>
          <a:bodyPr/>
          <a:lstStyle/>
          <a:p>
            <a:pPr eaLnBrk="1" hangingPunct="1"/>
            <a:r>
              <a:rPr lang="en-US" altLang="zh-CN" dirty="0"/>
              <a:t>§4.1 </a:t>
            </a:r>
            <a:r>
              <a:rPr lang="zh-CN" altLang="en-US" dirty="0"/>
              <a:t>海洋时空尺度</a:t>
            </a:r>
            <a:endParaRPr lang="zh-CN" altLang="en-US" dirty="0"/>
          </a:p>
        </p:txBody>
      </p:sp>
    </p:spTree>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C964D0FD-B1E5-4AF0-8E1F-E6381977F497}"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17411" name="Rectangle 2"/>
          <p:cNvSpPr>
            <a:spLocks noGrp="1" noChangeArrowheads="1"/>
          </p:cNvSpPr>
          <p:nvPr>
            <p:ph type="body" idx="4294967295"/>
          </p:nvPr>
        </p:nvSpPr>
        <p:spPr>
          <a:xfrm>
            <a:off x="647065" y="1109345"/>
            <a:ext cx="10629900" cy="5183505"/>
          </a:xfrm>
          <a:prstGeom prst="rect">
            <a:avLst/>
          </a:prstGeom>
        </p:spPr>
        <p:txBody>
          <a:bodyPr/>
          <a:lstStyle/>
          <a:p>
            <a:pPr marL="363855" indent="-363855" eaLnBrk="1" hangingPunct="1">
              <a:lnSpc>
                <a:spcPct val="110000"/>
              </a:lnSpc>
              <a:spcBef>
                <a:spcPct val="0"/>
              </a:spcBef>
            </a:pPr>
            <a:r>
              <a:rPr lang="zh-CN" altLang="en-US" b="0" dirty="0">
                <a:latin typeface="微软雅黑" panose="020B0503020204020204" charset="-122"/>
                <a:ea typeface="微软雅黑" panose="020B0503020204020204" charset="-122"/>
                <a:cs typeface="微软雅黑" panose="020B0503020204020204" charset="-122"/>
              </a:rPr>
              <a:t>时间分辨率</a:t>
            </a:r>
            <a:endParaRPr lang="en-US" altLang="zh-CN" b="0" dirty="0">
              <a:latin typeface="微软雅黑" panose="020B0503020204020204" charset="-122"/>
              <a:ea typeface="微软雅黑" panose="020B0503020204020204" charset="-122"/>
              <a:cs typeface="微软雅黑" panose="020B0503020204020204" charset="-122"/>
            </a:endParaRPr>
          </a:p>
          <a:p>
            <a:pPr marL="0" indent="0" eaLnBrk="1" hangingPunct="1">
              <a:lnSpc>
                <a:spcPct val="110000"/>
              </a:lnSpc>
              <a:spcBef>
                <a:spcPct val="0"/>
              </a:spcBef>
              <a:buNone/>
            </a:pPr>
            <a:endParaRPr lang="en-US" altLang="zh-CN" b="0" dirty="0">
              <a:latin typeface="微软雅黑" panose="020B0503020204020204" charset="-122"/>
              <a:ea typeface="微软雅黑" panose="020B0503020204020204" charset="-122"/>
              <a:cs typeface="微软雅黑" panose="020B0503020204020204" charset="-122"/>
            </a:endParaRPr>
          </a:p>
          <a:p>
            <a:pPr marL="0" indent="0" eaLnBrk="1" hangingPunct="1">
              <a:lnSpc>
                <a:spcPct val="110000"/>
              </a:lnSpc>
              <a:spcBef>
                <a:spcPct val="0"/>
              </a:spcBef>
              <a:buNone/>
            </a:pPr>
            <a:r>
              <a:rPr lang="zh-CN" altLang="en-US" b="0" dirty="0">
                <a:latin typeface="微软雅黑" panose="020B0503020204020204" charset="-122"/>
                <a:ea typeface="微软雅黑" panose="020B0503020204020204" charset="-122"/>
                <a:cs typeface="微软雅黑" panose="020B0503020204020204" charset="-122"/>
              </a:rPr>
              <a:t>海洋</a:t>
            </a:r>
            <a:r>
              <a:rPr lang="en-US" altLang="zh-CN" b="0" dirty="0">
                <a:latin typeface="微软雅黑" panose="020B0503020204020204" charset="-122"/>
                <a:ea typeface="微软雅黑" panose="020B0503020204020204" charset="-122"/>
                <a:cs typeface="微软雅黑" panose="020B0503020204020204" charset="-122"/>
              </a:rPr>
              <a:t>GIS</a:t>
            </a:r>
            <a:r>
              <a:rPr lang="zh-CN" altLang="en-US" b="0" dirty="0">
                <a:latin typeface="微软雅黑" panose="020B0503020204020204" charset="-122"/>
                <a:ea typeface="微软雅黑" panose="020B0503020204020204" charset="-122"/>
                <a:cs typeface="微软雅黑" panose="020B0503020204020204" charset="-122"/>
              </a:rPr>
              <a:t>中的时间分辨率就是研究海洋现象所选用的时间粒度。</a:t>
            </a:r>
            <a:endParaRPr lang="en-US" altLang="zh-CN" b="0" dirty="0">
              <a:latin typeface="微软雅黑" panose="020B0503020204020204" charset="-122"/>
              <a:ea typeface="微软雅黑" panose="020B0503020204020204" charset="-122"/>
              <a:cs typeface="微软雅黑" panose="020B0503020204020204" charset="-122"/>
            </a:endParaRPr>
          </a:p>
          <a:p>
            <a:pPr marL="0" indent="0" eaLnBrk="1" hangingPunct="1">
              <a:lnSpc>
                <a:spcPct val="110000"/>
              </a:lnSpc>
              <a:spcBef>
                <a:spcPct val="0"/>
              </a:spcBef>
              <a:buNone/>
            </a:pPr>
            <a:endParaRPr lang="en-US" altLang="zh-CN" b="0" dirty="0">
              <a:latin typeface="微软雅黑" panose="020B0503020204020204" charset="-122"/>
              <a:ea typeface="微软雅黑" panose="020B0503020204020204" charset="-122"/>
              <a:cs typeface="微软雅黑" panose="020B0503020204020204" charset="-122"/>
            </a:endParaRPr>
          </a:p>
          <a:p>
            <a:pPr marL="0" indent="0" eaLnBrk="1" hangingPunct="1">
              <a:lnSpc>
                <a:spcPct val="110000"/>
              </a:lnSpc>
              <a:spcBef>
                <a:spcPct val="0"/>
              </a:spcBef>
              <a:buNone/>
            </a:pPr>
            <a:r>
              <a:rPr lang="zh-CN" altLang="en-US" sz="2400" b="0" dirty="0">
                <a:solidFill>
                  <a:schemeClr val="tx2"/>
                </a:solidFill>
                <a:latin typeface="微软雅黑" panose="020B0503020204020204" charset="-122"/>
                <a:ea typeface="微软雅黑" panose="020B0503020204020204" charset="-122"/>
                <a:cs typeface="微软雅黑" panose="020B0503020204020204" charset="-122"/>
              </a:rPr>
              <a:t>按照时间尺度和时间分辨率可以将海洋现象分为</a:t>
            </a:r>
            <a:r>
              <a:rPr lang="en-US" altLang="zh-CN" sz="2400" b="0" dirty="0">
                <a:solidFill>
                  <a:schemeClr val="tx2"/>
                </a:solidFill>
                <a:latin typeface="微软雅黑" panose="020B0503020204020204" charset="-122"/>
                <a:ea typeface="微软雅黑" panose="020B0503020204020204" charset="-122"/>
                <a:cs typeface="微软雅黑" panose="020B0503020204020204" charset="-122"/>
              </a:rPr>
              <a:t>4</a:t>
            </a:r>
            <a:r>
              <a:rPr lang="zh-CN" altLang="en-US" sz="2400" b="0" dirty="0">
                <a:solidFill>
                  <a:schemeClr val="tx2"/>
                </a:solidFill>
                <a:latin typeface="微软雅黑" panose="020B0503020204020204" charset="-122"/>
                <a:ea typeface="微软雅黑" panose="020B0503020204020204" charset="-122"/>
                <a:cs typeface="微软雅黑" panose="020B0503020204020204" charset="-122"/>
              </a:rPr>
              <a:t>类：</a:t>
            </a:r>
            <a:r>
              <a:rPr lang="zh-CN" altLang="en-US" sz="2400" b="0" u="sng" dirty="0">
                <a:solidFill>
                  <a:srgbClr val="FF0000"/>
                </a:solidFill>
                <a:latin typeface="微软雅黑" panose="020B0503020204020204" charset="-122"/>
                <a:ea typeface="微软雅黑" panose="020B0503020204020204" charset="-122"/>
                <a:cs typeface="微软雅黑" panose="020B0503020204020204" charset="-122"/>
              </a:rPr>
              <a:t>短期海洋现象</a:t>
            </a:r>
            <a:r>
              <a:rPr lang="zh-CN" altLang="en-US" sz="2400" b="0" dirty="0">
                <a:solidFill>
                  <a:schemeClr val="tx2"/>
                </a:solidFill>
                <a:latin typeface="微软雅黑" panose="020B0503020204020204" charset="-122"/>
                <a:ea typeface="微软雅黑" panose="020B0503020204020204" charset="-122"/>
                <a:cs typeface="微软雅黑" panose="020B0503020204020204" charset="-122"/>
              </a:rPr>
              <a:t>，如海浪、风暴潮；</a:t>
            </a:r>
            <a:r>
              <a:rPr lang="zh-CN" altLang="en-US" sz="2400" b="0" u="sng" dirty="0">
                <a:solidFill>
                  <a:srgbClr val="FF0000"/>
                </a:solidFill>
                <a:latin typeface="微软雅黑" panose="020B0503020204020204" charset="-122"/>
                <a:ea typeface="微软雅黑" panose="020B0503020204020204" charset="-122"/>
                <a:cs typeface="微软雅黑" panose="020B0503020204020204" charset="-122"/>
              </a:rPr>
              <a:t>中期海洋现象</a:t>
            </a:r>
            <a:r>
              <a:rPr lang="zh-CN" altLang="en-US" sz="2400" b="0" dirty="0">
                <a:solidFill>
                  <a:schemeClr val="tx2"/>
                </a:solidFill>
                <a:latin typeface="微软雅黑" panose="020B0503020204020204" charset="-122"/>
                <a:ea typeface="微软雅黑" panose="020B0503020204020204" charset="-122"/>
                <a:cs typeface="微软雅黑" panose="020B0503020204020204" charset="-122"/>
              </a:rPr>
              <a:t>，如海洋水团、海洋温度按月份变化情况等；</a:t>
            </a:r>
            <a:r>
              <a:rPr lang="zh-CN" altLang="en-US" sz="2400" b="0" u="sng" dirty="0">
                <a:solidFill>
                  <a:srgbClr val="FF0000"/>
                </a:solidFill>
                <a:latin typeface="微软雅黑" panose="020B0503020204020204" charset="-122"/>
                <a:ea typeface="微软雅黑" panose="020B0503020204020204" charset="-122"/>
                <a:cs typeface="微软雅黑" panose="020B0503020204020204" charset="-122"/>
              </a:rPr>
              <a:t>长期海洋现象</a:t>
            </a:r>
            <a:r>
              <a:rPr lang="zh-CN" altLang="en-US" sz="2400" b="0" dirty="0">
                <a:solidFill>
                  <a:schemeClr val="tx2"/>
                </a:solidFill>
                <a:latin typeface="微软雅黑" panose="020B0503020204020204" charset="-122"/>
                <a:ea typeface="微软雅黑" panose="020B0503020204020204" charset="-122"/>
                <a:cs typeface="微软雅黑" panose="020B0503020204020204" charset="-122"/>
              </a:rPr>
              <a:t>，如厄尔尼诺现象；</a:t>
            </a:r>
            <a:r>
              <a:rPr lang="zh-CN" altLang="en-US" sz="2400" b="0" u="sng" dirty="0">
                <a:solidFill>
                  <a:srgbClr val="FF0000"/>
                </a:solidFill>
                <a:latin typeface="微软雅黑" panose="020B0503020204020204" charset="-122"/>
                <a:ea typeface="微软雅黑" panose="020B0503020204020204" charset="-122"/>
                <a:cs typeface="微软雅黑" panose="020B0503020204020204" charset="-122"/>
              </a:rPr>
              <a:t>超长期海洋现象</a:t>
            </a:r>
            <a:r>
              <a:rPr lang="zh-CN" altLang="en-US" sz="2400" b="0" dirty="0">
                <a:solidFill>
                  <a:schemeClr val="tx2"/>
                </a:solidFill>
                <a:latin typeface="微软雅黑" panose="020B0503020204020204" charset="-122"/>
                <a:ea typeface="微软雅黑" panose="020B0503020204020204" charset="-122"/>
                <a:cs typeface="微软雅黑" panose="020B0503020204020204" charset="-122"/>
              </a:rPr>
              <a:t>，如海洋古生物的发展变化等。</a:t>
            </a:r>
            <a:endParaRPr lang="zh-CN" altLang="en-US" sz="2400" b="0" dirty="0">
              <a:solidFill>
                <a:schemeClr val="tx2"/>
              </a:solidFill>
              <a:latin typeface="微软雅黑" panose="020B0503020204020204" charset="-122"/>
              <a:ea typeface="微软雅黑" panose="020B0503020204020204" charset="-122"/>
              <a:cs typeface="微软雅黑" panose="020B0503020204020204" charset="-122"/>
            </a:endParaRPr>
          </a:p>
          <a:p>
            <a:pPr marL="0" indent="0" eaLnBrk="1" hangingPunct="1">
              <a:lnSpc>
                <a:spcPct val="110000"/>
              </a:lnSpc>
              <a:spcBef>
                <a:spcPct val="0"/>
              </a:spcBef>
              <a:buNone/>
            </a:pPr>
            <a:endParaRPr lang="en-US" altLang="zh-CN" sz="2400" b="0" dirty="0">
              <a:solidFill>
                <a:schemeClr val="tx2"/>
              </a:solidFill>
              <a:latin typeface="微软雅黑" panose="020B0503020204020204" charset="-122"/>
              <a:ea typeface="微软雅黑" panose="020B0503020204020204" charset="-122"/>
              <a:cs typeface="微软雅黑" panose="020B0503020204020204" charset="-122"/>
            </a:endParaRPr>
          </a:p>
          <a:p>
            <a:pPr marL="0" indent="0" eaLnBrk="1" hangingPunct="1">
              <a:lnSpc>
                <a:spcPct val="110000"/>
              </a:lnSpc>
              <a:spcBef>
                <a:spcPct val="0"/>
              </a:spcBef>
              <a:buNone/>
            </a:pPr>
            <a:endParaRPr lang="zh-CN" altLang="en-US" sz="2400" b="0" i="1" u="sng" dirty="0">
              <a:solidFill>
                <a:schemeClr val="accent1">
                  <a:lumMod val="75000"/>
                </a:schemeClr>
              </a:solidFill>
              <a:latin typeface="微软雅黑" panose="020B0503020204020204" charset="-122"/>
              <a:ea typeface="微软雅黑" panose="020B0503020204020204" charset="-122"/>
              <a:cs typeface="微软雅黑" panose="020B0503020204020204" charset="-122"/>
            </a:endParaRPr>
          </a:p>
        </p:txBody>
      </p:sp>
      <p:sp>
        <p:nvSpPr>
          <p:cNvPr id="17412" name="Rectangle 4"/>
          <p:cNvSpPr>
            <a:spLocks noGrp="1" noChangeArrowheads="1"/>
          </p:cNvSpPr>
          <p:nvPr>
            <p:ph type="title"/>
          </p:nvPr>
        </p:nvSpPr>
        <p:spPr>
          <a:xfrm>
            <a:off x="1524000" y="139700"/>
            <a:ext cx="9144000" cy="593725"/>
          </a:xfrm>
        </p:spPr>
        <p:txBody>
          <a:bodyPr/>
          <a:lstStyle/>
          <a:p>
            <a:pPr eaLnBrk="1" hangingPunct="1"/>
            <a:r>
              <a:rPr lang="en-US" altLang="zh-CN" dirty="0"/>
              <a:t>§4.1 </a:t>
            </a:r>
            <a:r>
              <a:rPr lang="zh-CN" altLang="en-US" dirty="0"/>
              <a:t>海洋时空尺度</a:t>
            </a:r>
            <a:endParaRPr lang="zh-CN" altLang="en-US" dirty="0"/>
          </a:p>
        </p:txBody>
      </p:sp>
      <p:sp>
        <p:nvSpPr>
          <p:cNvPr id="2" name="文本框 1"/>
          <p:cNvSpPr txBox="1"/>
          <p:nvPr/>
        </p:nvSpPr>
        <p:spPr>
          <a:xfrm>
            <a:off x="2912110" y="5897245"/>
            <a:ext cx="5095875" cy="700405"/>
          </a:xfrm>
          <a:prstGeom prst="rect">
            <a:avLst/>
          </a:prstGeom>
          <a:noFill/>
        </p:spPr>
        <p:txBody>
          <a:bodyPr wrap="none" rtlCol="0" anchor="t">
            <a:spAutoFit/>
          </a:bodyPr>
          <a:p>
            <a:pPr marL="0" indent="0" eaLnBrk="1" hangingPunct="1">
              <a:lnSpc>
                <a:spcPct val="110000"/>
              </a:lnSpc>
              <a:spcBef>
                <a:spcPct val="0"/>
              </a:spcBef>
              <a:buNone/>
            </a:pPr>
            <a:r>
              <a:rPr lang="zh-CN" altLang="en-US" i="1" u="sng" dirty="0">
                <a:solidFill>
                  <a:schemeClr val="accent1">
                    <a:lumMod val="75000"/>
                  </a:schemeClr>
                </a:solidFill>
                <a:latin typeface="微软雅黑 Light" panose="020B0502040204020203" pitchFamily="34" charset="-122"/>
                <a:ea typeface="微软雅黑 Light" panose="020B0502040204020203" pitchFamily="34" charset="-122"/>
                <a:sym typeface="+mn-ea"/>
              </a:rPr>
              <a:t>（拓展</a:t>
            </a:r>
            <a:r>
              <a:rPr lang="en-US" altLang="zh-CN" i="1" u="sng" dirty="0">
                <a:solidFill>
                  <a:schemeClr val="accent1">
                    <a:lumMod val="75000"/>
                  </a:schemeClr>
                </a:solidFill>
                <a:latin typeface="微软雅黑 Light" panose="020B0502040204020203" pitchFamily="34" charset="-122"/>
                <a:ea typeface="微软雅黑 Light" panose="020B0502040204020203" pitchFamily="34" charset="-122"/>
                <a:sym typeface="+mn-ea"/>
              </a:rPr>
              <a:t>-</a:t>
            </a:r>
            <a:r>
              <a:rPr lang="zh-CN" altLang="en-US" i="1" u="sng" dirty="0">
                <a:solidFill>
                  <a:schemeClr val="accent1">
                    <a:lumMod val="75000"/>
                  </a:schemeClr>
                </a:solidFill>
                <a:latin typeface="微软雅黑 Light" panose="020B0502040204020203" pitchFamily="34" charset="-122"/>
                <a:ea typeface="微软雅黑 Light" panose="020B0502040204020203" pitchFamily="34" charset="-122"/>
                <a:sym typeface="+mn-ea"/>
              </a:rPr>
              <a:t>海洋尺度效应问题：时间与空间尺度效应</a:t>
            </a:r>
            <a:endParaRPr lang="zh-CN" altLang="en-US" i="1" u="sng" dirty="0">
              <a:solidFill>
                <a:schemeClr val="accent1">
                  <a:lumMod val="75000"/>
                </a:schemeClr>
              </a:solidFill>
              <a:latin typeface="微软雅黑 Light" panose="020B0502040204020203" pitchFamily="34" charset="-122"/>
              <a:ea typeface="微软雅黑 Light" panose="020B0502040204020203" pitchFamily="34" charset="-122"/>
              <a:sym typeface="+mn-ea"/>
            </a:endParaRPr>
          </a:p>
          <a:p>
            <a:pPr marL="0" indent="0" eaLnBrk="1" hangingPunct="1">
              <a:lnSpc>
                <a:spcPct val="110000"/>
              </a:lnSpc>
              <a:spcBef>
                <a:spcPct val="0"/>
              </a:spcBef>
              <a:buNone/>
            </a:pPr>
            <a:r>
              <a:rPr lang="zh-CN" altLang="en-US" i="1" u="sng" dirty="0">
                <a:solidFill>
                  <a:schemeClr val="accent1">
                    <a:lumMod val="75000"/>
                  </a:schemeClr>
                </a:solidFill>
                <a:latin typeface="微软雅黑 Light" panose="020B0502040204020203" pitchFamily="34" charset="-122"/>
                <a:ea typeface="微软雅黑 Light" panose="020B0502040204020203" pitchFamily="34" charset="-122"/>
                <a:sym typeface="+mn-ea"/>
              </a:rPr>
              <a:t>海洋生态抵抗力与恢复力问题：长期）</a:t>
            </a:r>
            <a:endParaRPr lang="zh-CN" altLang="en-US"/>
          </a:p>
        </p:txBody>
      </p:sp>
    </p:spTree>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C924F12D-0C6B-4269-B848-72A2759295A9}"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142338" name="AutoShape 2"/>
          <p:cNvSpPr>
            <a:spLocks noGrp="1" noChangeArrowheads="1"/>
          </p:cNvSpPr>
          <p:nvPr>
            <p:ph type="title"/>
          </p:nvPr>
        </p:nvSpPr>
        <p:spPr>
          <a:xfrm>
            <a:off x="3430588" y="2060575"/>
            <a:ext cx="5618162" cy="2447925"/>
          </a:xfrm>
          <a:prstGeom prst="horizontalScroll">
            <a:avLst>
              <a:gd name="adj" fmla="val 12500"/>
            </a:avLst>
          </a:prstGeom>
          <a:solidFill>
            <a:srgbClr val="FF99CC"/>
          </a:solidFill>
          <a:ln w="19050">
            <a:solidFill>
              <a:schemeClr val="tx1"/>
            </a:solidFill>
            <a:round/>
            <a:headEnd type="none" w="med" len="med"/>
            <a:tailEnd type="none" w="med" len="med"/>
          </a:ln>
        </p:spPr>
        <p:txBody>
          <a:bodyPr tIns="0" bIns="0"/>
          <a:lstStyle/>
          <a:p>
            <a:pPr marL="952500" indent="-952500" eaLnBrk="1" hangingPunct="1"/>
            <a:r>
              <a:rPr lang="en-US" altLang="zh-CN" sz="2800" dirty="0">
                <a:solidFill>
                  <a:srgbClr val="3333CC"/>
                </a:solidFill>
                <a:ea typeface="黑体" panose="02010609060101010101" pitchFamily="2" charset="-122"/>
                <a:cs typeface="Times New Roman" panose="02020603050405020304" pitchFamily="18" charset="0"/>
              </a:rPr>
              <a:t>§4.2 </a:t>
            </a:r>
            <a:r>
              <a:rPr lang="zh-CN" altLang="en-US" sz="2800" dirty="0">
                <a:solidFill>
                  <a:srgbClr val="3333CC"/>
                </a:solidFill>
                <a:ea typeface="黑体" panose="02010609060101010101" pitchFamily="2" charset="-122"/>
                <a:cs typeface="Times New Roman" panose="02020603050405020304" pitchFamily="18" charset="0"/>
              </a:rPr>
              <a:t>海洋数据基准</a:t>
            </a:r>
            <a:endParaRPr lang="zh-CN" altLang="en-US" sz="2800" dirty="0">
              <a:solidFill>
                <a:srgbClr val="3333CC"/>
              </a:solidFill>
              <a:ea typeface="黑体" panose="02010609060101010101" pitchFamily="2" charset="-122"/>
              <a:cs typeface="Times New Roman" panose="02020603050405020304" pitchFamily="18" charset="0"/>
            </a:endParaRPr>
          </a:p>
        </p:txBody>
      </p:sp>
      <p:sp>
        <p:nvSpPr>
          <p:cNvPr id="18436" name="Rectangle 3"/>
          <p:cNvSpPr>
            <a:spLocks noChangeArrowheads="1"/>
          </p:cNvSpPr>
          <p:nvPr/>
        </p:nvSpPr>
        <p:spPr bwMode="white">
          <a:xfrm>
            <a:off x="1524000" y="139700"/>
            <a:ext cx="9144000"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algn="ctr" eaLnBrk="1" hangingPunct="1">
              <a:spcBef>
                <a:spcPct val="0"/>
              </a:spcBef>
              <a:spcAft>
                <a:spcPct val="0"/>
              </a:spcAft>
              <a:buClrTx/>
              <a:buFontTx/>
              <a:buNone/>
            </a:pPr>
            <a:r>
              <a:rPr lang="zh-CN" altLang="en-US" sz="3200" dirty="0">
                <a:solidFill>
                  <a:schemeClr val="bg1"/>
                </a:solidFill>
                <a:latin typeface="Tahoma" panose="020B0604030504040204" pitchFamily="34" charset="0"/>
              </a:rPr>
              <a:t>第</a:t>
            </a:r>
            <a:r>
              <a:rPr lang="en-US" altLang="zh-CN" sz="3200" dirty="0">
                <a:solidFill>
                  <a:schemeClr val="bg1"/>
                </a:solidFill>
                <a:latin typeface="Tahoma" panose="020B0604030504040204" pitchFamily="34" charset="0"/>
              </a:rPr>
              <a:t>4</a:t>
            </a:r>
            <a:r>
              <a:rPr lang="zh-CN" altLang="en-US" sz="3200" dirty="0">
                <a:solidFill>
                  <a:schemeClr val="bg1"/>
                </a:solidFill>
                <a:latin typeface="Tahoma" panose="020B0604030504040204" pitchFamily="34" charset="0"/>
              </a:rPr>
              <a:t>讲 海洋数据的获取</a:t>
            </a:r>
            <a:endParaRPr lang="zh-CN" altLang="en-US" sz="3200" dirty="0">
              <a:solidFill>
                <a:schemeClr val="bg1"/>
              </a:solidFill>
              <a:latin typeface="宋体" panose="02010600030101010101" pitchFamily="2" charset="-122"/>
            </a:endParaRPr>
          </a:p>
        </p:txBody>
      </p:sp>
      <p:sp>
        <p:nvSpPr>
          <p:cNvPr id="5" name="AutoShape 4">
            <a:hlinkClick r:id="rId1" action="ppaction://hlinksldjump" highlightClick="1"/>
          </p:cNvPr>
          <p:cNvSpPr>
            <a:spLocks noChangeArrowheads="1"/>
          </p:cNvSpPr>
          <p:nvPr/>
        </p:nvSpPr>
        <p:spPr bwMode="auto">
          <a:xfrm>
            <a:off x="8975725" y="5931218"/>
            <a:ext cx="306069" cy="323214"/>
          </a:xfrm>
          <a:prstGeom prst="actionButtonBackPrevious">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0" anchor="ctr">
            <a:spAutoFit/>
          </a:bodyPr>
          <a:lstStyle/>
          <a:p>
            <a:endParaRPr lang="zh-CN" alt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2338"/>
                                        </p:tgtEl>
                                        <p:attrNameLst>
                                          <p:attrName>style.visibility</p:attrName>
                                        </p:attrNameLst>
                                      </p:cBhvr>
                                      <p:to>
                                        <p:strVal val="visible"/>
                                      </p:to>
                                    </p:set>
                                    <p:animEffect transition="in" filter="wipe(left)">
                                      <p:cBhvr>
                                        <p:cTn id="7" dur="1000"/>
                                        <p:tgtEl>
                                          <p:spTgt spid="142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8"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E290BDCD-31C2-472B-9EAA-278942552D98}"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19459" name="Rectangle 2"/>
          <p:cNvSpPr>
            <a:spLocks noGrp="1" noChangeArrowheads="1"/>
          </p:cNvSpPr>
          <p:nvPr>
            <p:ph type="body" idx="4294967295"/>
          </p:nvPr>
        </p:nvSpPr>
        <p:spPr>
          <a:xfrm>
            <a:off x="666115" y="1102995"/>
            <a:ext cx="10807700" cy="5182870"/>
          </a:xfrm>
          <a:prstGeom prst="rect">
            <a:avLst/>
          </a:prstGeom>
        </p:spPr>
        <p:txBody>
          <a:bodyPr/>
          <a:lstStyle/>
          <a:p>
            <a:pPr marL="363855" indent="-363855" eaLnBrk="1" hangingPunct="1">
              <a:lnSpc>
                <a:spcPct val="110000"/>
              </a:lnSpc>
              <a:spcBef>
                <a:spcPct val="0"/>
              </a:spcBef>
            </a:pPr>
            <a:r>
              <a:rPr lang="zh-CN" altLang="en-US" b="0" dirty="0">
                <a:latin typeface="微软雅黑" panose="020B0503020204020204" charset="-122"/>
                <a:ea typeface="微软雅黑" panose="020B0503020204020204" charset="-122"/>
                <a:cs typeface="微软雅黑" panose="020B0503020204020204" charset="-122"/>
              </a:rPr>
              <a:t>海洋测绘基准</a:t>
            </a:r>
            <a:endParaRPr lang="en-US" altLang="zh-CN" b="0" dirty="0">
              <a:latin typeface="微软雅黑" panose="020B0503020204020204" charset="-122"/>
              <a:ea typeface="微软雅黑" panose="020B0503020204020204" charset="-122"/>
              <a:cs typeface="微软雅黑" panose="020B0503020204020204" charset="-122"/>
            </a:endParaRPr>
          </a:p>
          <a:p>
            <a:pPr lvl="1" eaLnBrk="1" hangingPunct="1"/>
            <a:r>
              <a:rPr lang="zh-CN" altLang="en-US" b="0" dirty="0">
                <a:latin typeface="微软雅黑" panose="020B0503020204020204" charset="-122"/>
                <a:ea typeface="微软雅黑" panose="020B0503020204020204" charset="-122"/>
                <a:cs typeface="微软雅黑" panose="020B0503020204020204" charset="-122"/>
              </a:rPr>
              <a:t>基准是指在测量工作中用作起始尺度的标准。</a:t>
            </a:r>
            <a:endParaRPr lang="en-US" altLang="zh-CN" b="0" dirty="0">
              <a:latin typeface="微软雅黑" panose="020B0503020204020204" charset="-122"/>
              <a:ea typeface="微软雅黑" panose="020B0503020204020204" charset="-122"/>
              <a:cs typeface="微软雅黑" panose="020B0503020204020204" charset="-122"/>
            </a:endParaRPr>
          </a:p>
          <a:p>
            <a:pPr lvl="1" eaLnBrk="1" hangingPunct="1"/>
            <a:r>
              <a:rPr lang="zh-CN" altLang="zh-CN" b="0" dirty="0">
                <a:latin typeface="微软雅黑" panose="020B0503020204020204" charset="-122"/>
                <a:ea typeface="微软雅黑" panose="020B0503020204020204" charset="-122"/>
                <a:cs typeface="微软雅黑" panose="020B0503020204020204" charset="-122"/>
              </a:rPr>
              <a:t>海洋测绘信息表达的基准是大地测量基准在海洋及其他水域的扩展</a:t>
            </a:r>
            <a:r>
              <a:rPr lang="en-US" altLang="zh-CN" b="0" dirty="0">
                <a:latin typeface="微软雅黑" panose="020B0503020204020204" charset="-122"/>
                <a:ea typeface="微软雅黑" panose="020B0503020204020204" charset="-122"/>
                <a:cs typeface="微软雅黑" panose="020B0503020204020204" charset="-122"/>
              </a:rPr>
              <a:t>, </a:t>
            </a:r>
            <a:r>
              <a:rPr lang="zh-CN" altLang="zh-CN" b="0" dirty="0">
                <a:latin typeface="微软雅黑" panose="020B0503020204020204" charset="-122"/>
                <a:ea typeface="微软雅黑" panose="020B0503020204020204" charset="-122"/>
                <a:cs typeface="微软雅黑" panose="020B0503020204020204" charset="-122"/>
              </a:rPr>
              <a:t>是大地测量基准的重要组成部分</a:t>
            </a:r>
            <a:r>
              <a:rPr lang="en-US" altLang="zh-CN" b="0" dirty="0">
                <a:latin typeface="微软雅黑" panose="020B0503020204020204" charset="-122"/>
                <a:ea typeface="微软雅黑" panose="020B0503020204020204" charset="-122"/>
                <a:cs typeface="微软雅黑" panose="020B0503020204020204" charset="-122"/>
              </a:rPr>
              <a:t>, </a:t>
            </a:r>
            <a:r>
              <a:rPr lang="zh-CN" altLang="zh-CN" b="0" dirty="0">
                <a:latin typeface="微软雅黑" panose="020B0503020204020204" charset="-122"/>
                <a:ea typeface="微软雅黑" panose="020B0503020204020204" charset="-122"/>
                <a:cs typeface="微软雅黑" panose="020B0503020204020204" charset="-122"/>
              </a:rPr>
              <a:t>分为</a:t>
            </a:r>
            <a:r>
              <a:rPr lang="zh-CN" altLang="zh-CN" b="0" dirty="0">
                <a:solidFill>
                  <a:srgbClr val="FF0000"/>
                </a:solidFill>
                <a:latin typeface="微软雅黑" panose="020B0503020204020204" charset="-122"/>
                <a:ea typeface="微软雅黑" panose="020B0503020204020204" charset="-122"/>
                <a:cs typeface="微软雅黑" panose="020B0503020204020204" charset="-122"/>
              </a:rPr>
              <a:t>空间位置信息的水平基准和垂直基准</a:t>
            </a:r>
            <a:r>
              <a:rPr lang="en-US" altLang="zh-CN" b="0" dirty="0">
                <a:solidFill>
                  <a:srgbClr val="FF0000"/>
                </a:solidFill>
                <a:latin typeface="微软雅黑" panose="020B0503020204020204" charset="-122"/>
                <a:ea typeface="微软雅黑" panose="020B0503020204020204" charset="-122"/>
                <a:cs typeface="微软雅黑" panose="020B0503020204020204" charset="-122"/>
              </a:rPr>
              <a:t>, </a:t>
            </a:r>
            <a:r>
              <a:rPr lang="zh-CN" altLang="zh-CN" b="0" dirty="0">
                <a:solidFill>
                  <a:srgbClr val="FF0000"/>
                </a:solidFill>
                <a:latin typeface="微软雅黑" panose="020B0503020204020204" charset="-122"/>
                <a:ea typeface="微软雅黑" panose="020B0503020204020204" charset="-122"/>
                <a:cs typeface="微软雅黑" panose="020B0503020204020204" charset="-122"/>
              </a:rPr>
              <a:t>以及地球物理测量信息的重力基准和磁力基准</a:t>
            </a:r>
            <a:r>
              <a:rPr lang="en-US" altLang="zh-CN" b="0" dirty="0">
                <a:latin typeface="微软雅黑" panose="020B0503020204020204" charset="-122"/>
                <a:ea typeface="微软雅黑" panose="020B0503020204020204" charset="-122"/>
                <a:cs typeface="微软雅黑" panose="020B0503020204020204" charset="-122"/>
              </a:rPr>
              <a:t>, </a:t>
            </a:r>
            <a:r>
              <a:rPr lang="zh-CN" altLang="zh-CN" b="0" dirty="0">
                <a:latin typeface="微软雅黑" panose="020B0503020204020204" charset="-122"/>
                <a:ea typeface="微软雅黑" panose="020B0503020204020204" charset="-122"/>
                <a:cs typeface="微软雅黑" panose="020B0503020204020204" charset="-122"/>
              </a:rPr>
              <a:t>上述各类基准共同构成现代海洋测绘建设的基础设施。</a:t>
            </a:r>
            <a:endParaRPr lang="en-US" altLang="zh-CN" b="0" dirty="0">
              <a:latin typeface="微软雅黑" panose="020B0503020204020204" charset="-122"/>
              <a:ea typeface="微软雅黑" panose="020B0503020204020204" charset="-122"/>
              <a:cs typeface="微软雅黑" panose="020B0503020204020204" charset="-122"/>
            </a:endParaRPr>
          </a:p>
          <a:p>
            <a:pPr lvl="1" eaLnBrk="1" hangingPunct="1"/>
            <a:r>
              <a:rPr lang="zh-CN" altLang="zh-CN" b="0" dirty="0">
                <a:latin typeface="微软雅黑" panose="020B0503020204020204" charset="-122"/>
                <a:ea typeface="微软雅黑" panose="020B0503020204020204" charset="-122"/>
                <a:cs typeface="微软雅黑" panose="020B0503020204020204" charset="-122"/>
              </a:rPr>
              <a:t>在高精度空间技术快速发展的背景下</a:t>
            </a:r>
            <a:r>
              <a:rPr lang="en-US" altLang="zh-CN" b="0" dirty="0">
                <a:latin typeface="微软雅黑" panose="020B0503020204020204" charset="-122"/>
                <a:ea typeface="微软雅黑" panose="020B0503020204020204" charset="-122"/>
                <a:cs typeface="微软雅黑" panose="020B0503020204020204" charset="-122"/>
              </a:rPr>
              <a:t>, </a:t>
            </a:r>
            <a:r>
              <a:rPr lang="zh-CN" altLang="zh-CN" b="0" dirty="0">
                <a:latin typeface="微软雅黑" panose="020B0503020204020204" charset="-122"/>
                <a:ea typeface="微软雅黑" panose="020B0503020204020204" charset="-122"/>
                <a:cs typeface="微软雅黑" panose="020B0503020204020204" charset="-122"/>
              </a:rPr>
              <a:t>海洋测绘基准的建设、维持与精化日益成为重点攻关课题。</a:t>
            </a:r>
            <a:endParaRPr lang="zh-CN" altLang="en-US" b="0" dirty="0">
              <a:latin typeface="微软雅黑" panose="020B0503020204020204" charset="-122"/>
              <a:ea typeface="微软雅黑" panose="020B0503020204020204" charset="-122"/>
              <a:cs typeface="微软雅黑" panose="020B0503020204020204" charset="-122"/>
            </a:endParaRPr>
          </a:p>
        </p:txBody>
      </p:sp>
      <p:sp>
        <p:nvSpPr>
          <p:cNvPr id="19460" name="Rectangle 4"/>
          <p:cNvSpPr>
            <a:spLocks noGrp="1" noChangeArrowheads="1"/>
          </p:cNvSpPr>
          <p:nvPr>
            <p:ph type="title"/>
          </p:nvPr>
        </p:nvSpPr>
        <p:spPr>
          <a:xfrm>
            <a:off x="1524000" y="139700"/>
            <a:ext cx="9144000" cy="593725"/>
          </a:xfrm>
        </p:spPr>
        <p:txBody>
          <a:bodyPr/>
          <a:lstStyle/>
          <a:p>
            <a:pPr eaLnBrk="1" hangingPunct="1"/>
            <a:r>
              <a:rPr lang="en-US" altLang="zh-CN" dirty="0"/>
              <a:t>§4.2 </a:t>
            </a:r>
            <a:r>
              <a:rPr lang="zh-CN" altLang="en-US" dirty="0"/>
              <a:t>海洋数据基准</a:t>
            </a:r>
            <a:endParaRPr lang="zh-CN" altLang="en-US" dirty="0"/>
          </a:p>
        </p:txBody>
      </p:sp>
    </p:spTree>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E290BDCD-31C2-472B-9EAA-278942552D98}"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19459" name="Rectangle 2"/>
          <p:cNvSpPr>
            <a:spLocks noGrp="1" noChangeArrowheads="1"/>
          </p:cNvSpPr>
          <p:nvPr>
            <p:ph type="body" idx="4294967295"/>
          </p:nvPr>
        </p:nvSpPr>
        <p:spPr>
          <a:xfrm>
            <a:off x="2057400" y="1102678"/>
            <a:ext cx="8153400" cy="5183187"/>
          </a:xfrm>
          <a:prstGeom prst="rect">
            <a:avLst/>
          </a:prstGeom>
        </p:spPr>
        <p:txBody>
          <a:bodyPr/>
          <a:lstStyle/>
          <a:p>
            <a:pPr marL="363855" indent="-363855" eaLnBrk="1" hangingPunct="1">
              <a:lnSpc>
                <a:spcPct val="110000"/>
              </a:lnSpc>
              <a:spcBef>
                <a:spcPct val="0"/>
              </a:spcBef>
            </a:pPr>
            <a:r>
              <a:rPr lang="zh-CN" altLang="en-US" b="0" dirty="0">
                <a:latin typeface="微软雅黑" panose="020B0503020204020204" charset="-122"/>
                <a:ea typeface="微软雅黑" panose="020B0503020204020204" charset="-122"/>
                <a:cs typeface="微软雅黑" panose="020B0503020204020204" charset="-122"/>
              </a:rPr>
              <a:t>海洋测绘基准需求</a:t>
            </a:r>
            <a:endParaRPr lang="en-US" altLang="zh-CN" b="0" dirty="0">
              <a:latin typeface="微软雅黑" panose="020B0503020204020204" charset="-122"/>
              <a:ea typeface="微软雅黑" panose="020B0503020204020204" charset="-122"/>
              <a:cs typeface="微软雅黑" panose="020B0503020204020204" charset="-122"/>
            </a:endParaRPr>
          </a:p>
          <a:p>
            <a:pPr lvl="1" eaLnBrk="1" hangingPunct="1"/>
            <a:endParaRPr lang="zh-CN" altLang="en-US" b="0" dirty="0">
              <a:latin typeface="微软雅黑" panose="020B0503020204020204" charset="-122"/>
              <a:ea typeface="微软雅黑" panose="020B0503020204020204" charset="-122"/>
              <a:cs typeface="微软雅黑" panose="020B0503020204020204" charset="-122"/>
            </a:endParaRPr>
          </a:p>
        </p:txBody>
      </p:sp>
      <p:sp>
        <p:nvSpPr>
          <p:cNvPr id="19460" name="Rectangle 4"/>
          <p:cNvSpPr>
            <a:spLocks noGrp="1" noChangeArrowheads="1"/>
          </p:cNvSpPr>
          <p:nvPr>
            <p:ph type="title"/>
          </p:nvPr>
        </p:nvSpPr>
        <p:spPr>
          <a:xfrm>
            <a:off x="1524000" y="139700"/>
            <a:ext cx="9144000" cy="593725"/>
          </a:xfrm>
        </p:spPr>
        <p:txBody>
          <a:bodyPr/>
          <a:lstStyle/>
          <a:p>
            <a:pPr eaLnBrk="1" hangingPunct="1"/>
            <a:r>
              <a:rPr lang="en-US" altLang="zh-CN" dirty="0"/>
              <a:t>§4.2 </a:t>
            </a:r>
            <a:r>
              <a:rPr lang="zh-CN" altLang="en-US" dirty="0"/>
              <a:t>海洋数据基准</a:t>
            </a:r>
            <a:endParaRPr lang="zh-CN" altLang="en-US" dirty="0"/>
          </a:p>
        </p:txBody>
      </p:sp>
      <p:sp>
        <p:nvSpPr>
          <p:cNvPr id="2" name="文本框 1"/>
          <p:cNvSpPr txBox="1"/>
          <p:nvPr/>
        </p:nvSpPr>
        <p:spPr>
          <a:xfrm>
            <a:off x="745490" y="1772920"/>
            <a:ext cx="10634980" cy="4707890"/>
          </a:xfrm>
          <a:prstGeom prst="rect">
            <a:avLst/>
          </a:prstGeom>
          <a:noFill/>
        </p:spPr>
        <p:txBody>
          <a:bodyPr wrap="square" rtlCol="0" anchor="t">
            <a:spAutoFit/>
          </a:bodyPr>
          <a:p>
            <a:endParaRPr lang="zh-CN" altLang="en-US" sz="2000">
              <a:latin typeface="微软雅黑" panose="020B0503020204020204" charset="-122"/>
              <a:ea typeface="微软雅黑" panose="020B0503020204020204" charset="-122"/>
            </a:endParaRPr>
          </a:p>
          <a:p>
            <a:r>
              <a:rPr lang="zh-CN" altLang="en-US" sz="2000">
                <a:solidFill>
                  <a:srgbClr val="FF0000"/>
                </a:solidFill>
                <a:latin typeface="微软雅黑" panose="020B0503020204020204" charset="-122"/>
                <a:ea typeface="微软雅黑" panose="020B0503020204020204" charset="-122"/>
              </a:rPr>
              <a:t>⒈海洋开发</a:t>
            </a:r>
            <a:endParaRPr lang="zh-CN" altLang="en-US" sz="2000">
              <a:solidFill>
                <a:srgbClr val="FF0000"/>
              </a:solidFill>
              <a:latin typeface="微软雅黑" panose="020B0503020204020204" charset="-122"/>
              <a:ea typeface="微软雅黑" panose="020B0503020204020204" charset="-122"/>
            </a:endParaRPr>
          </a:p>
          <a:p>
            <a:endParaRPr lang="zh-CN" altLang="en-US" sz="2000" b="0">
              <a:latin typeface="微软雅黑" panose="020B0503020204020204" charset="-122"/>
              <a:ea typeface="微软雅黑" panose="020B0503020204020204" charset="-122"/>
            </a:endParaRPr>
          </a:p>
          <a:p>
            <a:r>
              <a:rPr lang="zh-CN" altLang="en-US" sz="2000" b="0">
                <a:solidFill>
                  <a:srgbClr val="FF0000"/>
                </a:solidFill>
                <a:latin typeface="微软雅黑" panose="020B0503020204020204" charset="-122"/>
                <a:ea typeface="微软雅黑" panose="020B0503020204020204" charset="-122"/>
              </a:rPr>
              <a:t>人类在海洋上开展渔业、航行、海洋工程等活动时，均要对水深、水下地形以及水文要素等有清楚地了解</a:t>
            </a:r>
            <a:r>
              <a:rPr lang="zh-CN" altLang="en-US" sz="2000" b="0">
                <a:latin typeface="微软雅黑" panose="020B0503020204020204" charset="-122"/>
                <a:ea typeface="微软雅黑" panose="020B0503020204020204" charset="-122"/>
              </a:rPr>
              <a:t>，需要进行海洋测绘工作，而测绘前必须确立一个基准。与陆地测绘类似，海洋中的岛屿也应当建立从某个面计算的高程，且高程要尽量贴近陆地表示法，这就要求相关测绘人员探索一套传递岛屿高程的方法</a:t>
            </a:r>
            <a:r>
              <a:rPr lang="zh-CN" altLang="en-US" sz="2000">
                <a:latin typeface="微软雅黑" panose="020B0503020204020204" charset="-122"/>
                <a:ea typeface="微软雅黑" panose="020B0503020204020204" charset="-122"/>
              </a:rPr>
              <a:t>。</a:t>
            </a:r>
            <a:endParaRPr lang="zh-CN" altLang="en-US" sz="2000">
              <a:latin typeface="微软雅黑" panose="020B0503020204020204" charset="-122"/>
              <a:ea typeface="微软雅黑" panose="020B0503020204020204" charset="-122"/>
            </a:endParaRPr>
          </a:p>
          <a:p>
            <a:endParaRPr lang="zh-CN" altLang="en-US" sz="2000">
              <a:latin typeface="微软雅黑" panose="020B0503020204020204" charset="-122"/>
              <a:ea typeface="微软雅黑" panose="020B0503020204020204" charset="-122"/>
            </a:endParaRPr>
          </a:p>
          <a:p>
            <a:endParaRPr lang="zh-CN" altLang="en-US" sz="2000">
              <a:solidFill>
                <a:srgbClr val="FF0000"/>
              </a:solidFill>
              <a:latin typeface="微软雅黑" panose="020B0503020204020204" charset="-122"/>
              <a:ea typeface="微软雅黑" panose="020B0503020204020204" charset="-122"/>
            </a:endParaRPr>
          </a:p>
          <a:p>
            <a:r>
              <a:rPr lang="zh-CN" altLang="en-US" sz="2000">
                <a:solidFill>
                  <a:srgbClr val="FF0000"/>
                </a:solidFill>
                <a:latin typeface="微软雅黑" panose="020B0503020204020204" charset="-122"/>
                <a:ea typeface="微软雅黑" panose="020B0503020204020204" charset="-122"/>
              </a:rPr>
              <a:t>⒉维护国家主权</a:t>
            </a:r>
            <a:endParaRPr lang="zh-CN" altLang="en-US" sz="2000">
              <a:solidFill>
                <a:srgbClr val="FF0000"/>
              </a:solidFill>
              <a:latin typeface="微软雅黑" panose="020B0503020204020204" charset="-122"/>
              <a:ea typeface="微软雅黑" panose="020B0503020204020204" charset="-122"/>
            </a:endParaRPr>
          </a:p>
          <a:p>
            <a:endParaRPr lang="zh-CN" altLang="en-US" sz="2000" b="0">
              <a:latin typeface="微软雅黑" panose="020B0503020204020204" charset="-122"/>
              <a:ea typeface="微软雅黑" panose="020B0503020204020204" charset="-122"/>
            </a:endParaRPr>
          </a:p>
          <a:p>
            <a:r>
              <a:rPr lang="zh-CN" altLang="en-US" sz="2000" b="0">
                <a:latin typeface="微软雅黑" panose="020B0503020204020204" charset="-122"/>
                <a:ea typeface="微软雅黑" panose="020B0503020204020204" charset="-122"/>
              </a:rPr>
              <a:t>海洋是资源丰富的宝藏。近年来，世界各国政府均将发展的目标从陆地逐渐转向海洋。</a:t>
            </a:r>
            <a:r>
              <a:rPr lang="zh-CN" altLang="en-US" sz="2000" b="0">
                <a:solidFill>
                  <a:srgbClr val="FF0000"/>
                </a:solidFill>
                <a:latin typeface="微软雅黑" panose="020B0503020204020204" charset="-122"/>
                <a:ea typeface="微软雅黑" panose="020B0503020204020204" charset="-122"/>
              </a:rPr>
              <a:t>我国与相关国家的海洋界限问题依然没有完全解决</a:t>
            </a:r>
            <a:r>
              <a:rPr lang="zh-CN" altLang="en-US" sz="2000" b="0">
                <a:latin typeface="微软雅黑" panose="020B0503020204020204" charset="-122"/>
                <a:ea typeface="微软雅黑" panose="020B0503020204020204" charset="-122"/>
              </a:rPr>
              <a:t>，我国大部分海域已经公布了领海基线，但</a:t>
            </a:r>
            <a:r>
              <a:rPr lang="zh-CN" altLang="en-US" sz="2000" b="0">
                <a:solidFill>
                  <a:srgbClr val="FF0000"/>
                </a:solidFill>
                <a:latin typeface="微软雅黑" panose="020B0503020204020204" charset="-122"/>
                <a:ea typeface="微软雅黑" panose="020B0503020204020204" charset="-122"/>
              </a:rPr>
              <a:t>与朝鲜相邻的辽东半岛以及与越南相邻的北部湾沿岸，仍有部分领海基线没有全部公布</a:t>
            </a:r>
            <a:r>
              <a:rPr lang="zh-CN" altLang="en-US" sz="2000" b="0">
                <a:latin typeface="微软雅黑" panose="020B0503020204020204" charset="-122"/>
                <a:ea typeface="微软雅黑" panose="020B0503020204020204" charset="-122"/>
              </a:rPr>
              <a:t>。为了维护国家海洋合法权益，必须依托于先进的海洋测绘技术，而这项工作要在科学的基准框架下展开。</a:t>
            </a:r>
            <a:endParaRPr lang="zh-CN" altLang="en-US" sz="2000" b="0">
              <a:latin typeface="微软雅黑" panose="020B0503020204020204" charset="-122"/>
              <a:ea typeface="微软雅黑" panose="020B0503020204020204" charset="-122"/>
            </a:endParaRPr>
          </a:p>
        </p:txBody>
      </p:sp>
    </p:spTree>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E290BDCD-31C2-472B-9EAA-278942552D98}"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19459" name="Rectangle 2"/>
          <p:cNvSpPr>
            <a:spLocks noGrp="1" noChangeArrowheads="1"/>
          </p:cNvSpPr>
          <p:nvPr>
            <p:ph type="body" idx="4294967295"/>
          </p:nvPr>
        </p:nvSpPr>
        <p:spPr>
          <a:xfrm>
            <a:off x="2057400" y="1102678"/>
            <a:ext cx="8153400" cy="5183187"/>
          </a:xfrm>
          <a:prstGeom prst="rect">
            <a:avLst/>
          </a:prstGeom>
        </p:spPr>
        <p:txBody>
          <a:bodyPr/>
          <a:lstStyle/>
          <a:p>
            <a:pPr marL="363855" indent="-363855" eaLnBrk="1" hangingPunct="1">
              <a:lnSpc>
                <a:spcPct val="110000"/>
              </a:lnSpc>
              <a:spcBef>
                <a:spcPct val="0"/>
              </a:spcBef>
            </a:pPr>
            <a:r>
              <a:rPr lang="zh-CN" altLang="en-US" b="0" dirty="0">
                <a:latin typeface="微软雅黑" panose="020B0503020204020204" charset="-122"/>
                <a:ea typeface="微软雅黑" panose="020B0503020204020204" charset="-122"/>
                <a:cs typeface="微软雅黑" panose="020B0503020204020204" charset="-122"/>
              </a:rPr>
              <a:t>海洋测绘基准需求</a:t>
            </a:r>
            <a:endParaRPr lang="en-US" altLang="zh-CN" b="0" dirty="0">
              <a:latin typeface="微软雅黑" panose="020B0503020204020204" charset="-122"/>
              <a:ea typeface="微软雅黑" panose="020B0503020204020204" charset="-122"/>
              <a:cs typeface="微软雅黑" panose="020B0503020204020204" charset="-122"/>
            </a:endParaRPr>
          </a:p>
          <a:p>
            <a:pPr lvl="1" eaLnBrk="1" hangingPunct="1"/>
            <a:endParaRPr lang="zh-CN" altLang="en-US" b="0" dirty="0">
              <a:latin typeface="微软雅黑" panose="020B0503020204020204" charset="-122"/>
              <a:ea typeface="微软雅黑" panose="020B0503020204020204" charset="-122"/>
              <a:cs typeface="微软雅黑" panose="020B0503020204020204" charset="-122"/>
            </a:endParaRPr>
          </a:p>
        </p:txBody>
      </p:sp>
      <p:sp>
        <p:nvSpPr>
          <p:cNvPr id="19460" name="Rectangle 4"/>
          <p:cNvSpPr>
            <a:spLocks noGrp="1" noChangeArrowheads="1"/>
          </p:cNvSpPr>
          <p:nvPr>
            <p:ph type="title"/>
          </p:nvPr>
        </p:nvSpPr>
        <p:spPr>
          <a:xfrm>
            <a:off x="1524000" y="139700"/>
            <a:ext cx="9144000" cy="593725"/>
          </a:xfrm>
        </p:spPr>
        <p:txBody>
          <a:bodyPr/>
          <a:lstStyle/>
          <a:p>
            <a:pPr eaLnBrk="1" hangingPunct="1"/>
            <a:r>
              <a:rPr lang="en-US" altLang="zh-CN" dirty="0"/>
              <a:t>§4.2 </a:t>
            </a:r>
            <a:r>
              <a:rPr lang="zh-CN" altLang="en-US" dirty="0"/>
              <a:t>海洋数据基准</a:t>
            </a:r>
            <a:endParaRPr lang="zh-CN" altLang="en-US" dirty="0"/>
          </a:p>
        </p:txBody>
      </p:sp>
      <p:sp>
        <p:nvSpPr>
          <p:cNvPr id="2" name="文本框 1"/>
          <p:cNvSpPr txBox="1"/>
          <p:nvPr/>
        </p:nvSpPr>
        <p:spPr>
          <a:xfrm>
            <a:off x="582930" y="1577975"/>
            <a:ext cx="10616565" cy="4246245"/>
          </a:xfrm>
          <a:prstGeom prst="rect">
            <a:avLst/>
          </a:prstGeom>
          <a:noFill/>
        </p:spPr>
        <p:txBody>
          <a:bodyPr wrap="square" rtlCol="0" anchor="t">
            <a:spAutoFit/>
          </a:bodyPr>
          <a:p>
            <a:endParaRPr lang="zh-CN" altLang="en-US" sz="1800">
              <a:latin typeface="微软雅黑" panose="020B0503020204020204" charset="-122"/>
              <a:ea typeface="微软雅黑" panose="020B0503020204020204" charset="-122"/>
            </a:endParaRPr>
          </a:p>
          <a:p>
            <a:r>
              <a:rPr lang="zh-CN" altLang="en-US" sz="1800">
                <a:solidFill>
                  <a:srgbClr val="FF0000"/>
                </a:solidFill>
                <a:latin typeface="微软雅黑" panose="020B0503020204020204" charset="-122"/>
                <a:ea typeface="微软雅黑" panose="020B0503020204020204" charset="-122"/>
              </a:rPr>
              <a:t>⒊军事需要</a:t>
            </a:r>
            <a:endParaRPr lang="zh-CN" altLang="en-US" sz="1800">
              <a:solidFill>
                <a:srgbClr val="FF0000"/>
              </a:solidFill>
              <a:latin typeface="微软雅黑" panose="020B0503020204020204" charset="-122"/>
              <a:ea typeface="微软雅黑" panose="020B0503020204020204" charset="-122"/>
            </a:endParaRPr>
          </a:p>
          <a:p>
            <a:endParaRPr lang="zh-CN" altLang="en-US" sz="1800">
              <a:solidFill>
                <a:srgbClr val="FF0000"/>
              </a:solidFill>
              <a:latin typeface="微软雅黑" panose="020B0503020204020204" charset="-122"/>
              <a:ea typeface="微软雅黑" panose="020B0503020204020204" charset="-122"/>
            </a:endParaRPr>
          </a:p>
          <a:p>
            <a:r>
              <a:rPr lang="zh-CN" altLang="en-US" sz="1800" b="0">
                <a:solidFill>
                  <a:schemeClr val="tx1"/>
                </a:solidFill>
                <a:latin typeface="微软雅黑" panose="020B0503020204020204" charset="-122"/>
                <a:ea typeface="微软雅黑" panose="020B0503020204020204" charset="-122"/>
              </a:rPr>
              <a:t>维护祖国领土完整是我国军事部门职责所在。为了提升我国远程设备发射的命中率，</a:t>
            </a:r>
            <a:r>
              <a:rPr lang="zh-CN" altLang="en-US" sz="1800" b="0">
                <a:solidFill>
                  <a:srgbClr val="FF0000"/>
                </a:solidFill>
                <a:latin typeface="微软雅黑" panose="020B0503020204020204" charset="-122"/>
                <a:ea typeface="微软雅黑" panose="020B0503020204020204" charset="-122"/>
              </a:rPr>
              <a:t>需要获取全面的高程、水深、高精密的海洋重力场的数据信息</a:t>
            </a:r>
            <a:r>
              <a:rPr lang="zh-CN" altLang="en-US" sz="1800" b="0">
                <a:solidFill>
                  <a:schemeClr val="tx1"/>
                </a:solidFill>
                <a:latin typeface="微软雅黑" panose="020B0503020204020204" charset="-122"/>
                <a:ea typeface="微软雅黑" panose="020B0503020204020204" charset="-122"/>
              </a:rPr>
              <a:t>。登陆与抵抗登陆也需要更好地掌握地区的海岸地形条件，以及岛屿、滩涂的变化规律，这些均要依托于高精度的高程、水深等测量数据。</a:t>
            </a:r>
            <a:endParaRPr lang="zh-CN" altLang="en-US" sz="1800" b="0">
              <a:solidFill>
                <a:schemeClr val="tx1"/>
              </a:solidFill>
              <a:latin typeface="微软雅黑" panose="020B0503020204020204" charset="-122"/>
              <a:ea typeface="微软雅黑" panose="020B0503020204020204" charset="-122"/>
            </a:endParaRPr>
          </a:p>
          <a:p>
            <a:endParaRPr lang="zh-CN" altLang="en-US" sz="1800">
              <a:solidFill>
                <a:srgbClr val="FF0000"/>
              </a:solidFill>
              <a:latin typeface="微软雅黑" panose="020B0503020204020204" charset="-122"/>
              <a:ea typeface="微软雅黑" panose="020B0503020204020204" charset="-122"/>
            </a:endParaRPr>
          </a:p>
          <a:p>
            <a:r>
              <a:rPr lang="zh-CN" altLang="en-US" sz="1800">
                <a:solidFill>
                  <a:srgbClr val="FF0000"/>
                </a:solidFill>
                <a:latin typeface="微软雅黑" panose="020B0503020204020204" charset="-122"/>
                <a:ea typeface="微软雅黑" panose="020B0503020204020204" charset="-122"/>
              </a:rPr>
              <a:t>⒋经济建设</a:t>
            </a:r>
            <a:endParaRPr lang="zh-CN" altLang="en-US" sz="1800">
              <a:solidFill>
                <a:srgbClr val="FF0000"/>
              </a:solidFill>
              <a:latin typeface="微软雅黑" panose="020B0503020204020204" charset="-122"/>
              <a:ea typeface="微软雅黑" panose="020B0503020204020204" charset="-122"/>
            </a:endParaRPr>
          </a:p>
          <a:p>
            <a:endParaRPr lang="zh-CN" altLang="en-US" sz="1800" b="0">
              <a:latin typeface="微软雅黑" panose="020B0503020204020204" charset="-122"/>
              <a:ea typeface="微软雅黑" panose="020B0503020204020204" charset="-122"/>
            </a:endParaRPr>
          </a:p>
          <a:p>
            <a:r>
              <a:rPr lang="zh-CN" altLang="en-US" sz="1800" b="0">
                <a:latin typeface="微软雅黑" panose="020B0503020204020204" charset="-122"/>
                <a:ea typeface="微软雅黑" panose="020B0503020204020204" charset="-122"/>
              </a:rPr>
              <a:t>海底世界蕴藏丰富的自然资源，党的十九大提出了陆海统筹、推进海洋强国建设的发展战略。山东半岛蓝色经济区以及全国14个海洋经济示范区等以海洋经济为主题的经济区的建设，均体现了政府在海洋经济发展中倾注的心血。</a:t>
            </a:r>
            <a:endParaRPr lang="zh-CN" altLang="en-US" sz="1800" b="0">
              <a:latin typeface="微软雅黑" panose="020B0503020204020204" charset="-122"/>
              <a:ea typeface="微软雅黑" panose="020B0503020204020204" charset="-122"/>
            </a:endParaRPr>
          </a:p>
          <a:p>
            <a:endParaRPr lang="zh-CN" altLang="en-US" sz="1800" b="0">
              <a:latin typeface="微软雅黑" panose="020B0503020204020204" charset="-122"/>
              <a:ea typeface="微软雅黑" panose="020B0503020204020204" charset="-122"/>
            </a:endParaRPr>
          </a:p>
          <a:p>
            <a:r>
              <a:rPr lang="zh-CN" altLang="en-US" sz="1800" b="0">
                <a:latin typeface="微软雅黑" panose="020B0503020204020204" charset="-122"/>
                <a:ea typeface="微软雅黑" panose="020B0503020204020204" charset="-122"/>
              </a:rPr>
              <a:t>探索和了解海洋是开发利用、维护海洋的重要前提，</a:t>
            </a:r>
            <a:r>
              <a:rPr lang="zh-CN" altLang="en-US" sz="1800">
                <a:solidFill>
                  <a:srgbClr val="FF0000"/>
                </a:solidFill>
                <a:latin typeface="微软雅黑" panose="020B0503020204020204" charset="-122"/>
                <a:ea typeface="微软雅黑" panose="020B0503020204020204" charset="-122"/>
              </a:rPr>
              <a:t>为了及时、便捷、精准地履行政府赋予的管理职能，必须依靠一个标准的坐标系统</a:t>
            </a:r>
            <a:r>
              <a:rPr lang="zh-CN" altLang="en-US" sz="1800" b="0">
                <a:latin typeface="微软雅黑" panose="020B0503020204020204" charset="-122"/>
                <a:ea typeface="微软雅黑" panose="020B0503020204020204" charset="-122"/>
              </a:rPr>
              <a:t>。</a:t>
            </a:r>
            <a:endParaRPr lang="zh-CN" altLang="en-US" sz="1800" b="0">
              <a:latin typeface="微软雅黑" panose="020B0503020204020204" charset="-122"/>
              <a:ea typeface="微软雅黑" panose="020B0503020204020204" charset="-122"/>
            </a:endParaRPr>
          </a:p>
        </p:txBody>
      </p:sp>
    </p:spTree>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E290BDCD-31C2-472B-9EAA-278942552D98}"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19459" name="Rectangle 2"/>
          <p:cNvSpPr>
            <a:spLocks noGrp="1" noChangeArrowheads="1"/>
          </p:cNvSpPr>
          <p:nvPr>
            <p:ph type="body" idx="4294967295"/>
          </p:nvPr>
        </p:nvSpPr>
        <p:spPr>
          <a:xfrm>
            <a:off x="2057400" y="1102678"/>
            <a:ext cx="8153400" cy="5183187"/>
          </a:xfrm>
          <a:prstGeom prst="rect">
            <a:avLst/>
          </a:prstGeom>
        </p:spPr>
        <p:txBody>
          <a:bodyPr/>
          <a:lstStyle/>
          <a:p>
            <a:pPr marL="363855" indent="-363855" eaLnBrk="1" hangingPunct="1">
              <a:lnSpc>
                <a:spcPct val="110000"/>
              </a:lnSpc>
              <a:spcBef>
                <a:spcPct val="0"/>
              </a:spcBef>
            </a:pPr>
            <a:r>
              <a:rPr lang="zh-CN" altLang="en-US" b="0" dirty="0">
                <a:latin typeface="微软雅黑" panose="020B0503020204020204" charset="-122"/>
                <a:ea typeface="微软雅黑" panose="020B0503020204020204" charset="-122"/>
                <a:cs typeface="微软雅黑" panose="020B0503020204020204" charset="-122"/>
              </a:rPr>
              <a:t>海洋测绘基准需求</a:t>
            </a:r>
            <a:endParaRPr lang="en-US" altLang="zh-CN" b="0" dirty="0">
              <a:latin typeface="微软雅黑" panose="020B0503020204020204" charset="-122"/>
              <a:ea typeface="微软雅黑" panose="020B0503020204020204" charset="-122"/>
              <a:cs typeface="微软雅黑" panose="020B0503020204020204" charset="-122"/>
            </a:endParaRPr>
          </a:p>
          <a:p>
            <a:pPr marL="457200" lvl="1" indent="0" eaLnBrk="1" hangingPunct="1">
              <a:buNone/>
            </a:pPr>
            <a:endParaRPr lang="zh-CN" altLang="en-US" b="0" dirty="0">
              <a:latin typeface="微软雅黑" panose="020B0503020204020204" charset="-122"/>
              <a:ea typeface="微软雅黑" panose="020B0503020204020204" charset="-122"/>
              <a:cs typeface="微软雅黑" panose="020B0503020204020204" charset="-122"/>
            </a:endParaRPr>
          </a:p>
        </p:txBody>
      </p:sp>
      <p:sp>
        <p:nvSpPr>
          <p:cNvPr id="19460" name="Rectangle 4"/>
          <p:cNvSpPr>
            <a:spLocks noGrp="1" noChangeArrowheads="1"/>
          </p:cNvSpPr>
          <p:nvPr>
            <p:ph type="title"/>
          </p:nvPr>
        </p:nvSpPr>
        <p:spPr>
          <a:xfrm>
            <a:off x="1524000" y="139700"/>
            <a:ext cx="9144000" cy="593725"/>
          </a:xfrm>
        </p:spPr>
        <p:txBody>
          <a:bodyPr/>
          <a:lstStyle/>
          <a:p>
            <a:pPr eaLnBrk="1" hangingPunct="1"/>
            <a:r>
              <a:rPr lang="en-US" altLang="zh-CN" dirty="0"/>
              <a:t>§4.2 </a:t>
            </a:r>
            <a:r>
              <a:rPr lang="zh-CN" altLang="en-US" dirty="0"/>
              <a:t>海洋数据基准</a:t>
            </a:r>
            <a:endParaRPr lang="zh-CN" altLang="en-US" dirty="0"/>
          </a:p>
        </p:txBody>
      </p:sp>
      <p:sp>
        <p:nvSpPr>
          <p:cNvPr id="2" name="文本框 1"/>
          <p:cNvSpPr txBox="1"/>
          <p:nvPr/>
        </p:nvSpPr>
        <p:spPr>
          <a:xfrm>
            <a:off x="1199515" y="1124585"/>
            <a:ext cx="9790430" cy="2861310"/>
          </a:xfrm>
          <a:prstGeom prst="rect">
            <a:avLst/>
          </a:prstGeom>
          <a:noFill/>
        </p:spPr>
        <p:txBody>
          <a:bodyPr wrap="square" rtlCol="0" anchor="t">
            <a:spAutoFit/>
          </a:bodyPr>
          <a:p>
            <a:endParaRPr lang="zh-CN" altLang="en-US" sz="2000">
              <a:latin typeface="微软雅黑" panose="020B0503020204020204" charset="-122"/>
              <a:ea typeface="微软雅黑" panose="020B0503020204020204" charset="-122"/>
            </a:endParaRPr>
          </a:p>
          <a:p>
            <a:endParaRPr lang="zh-CN" altLang="en-US" sz="2000">
              <a:solidFill>
                <a:srgbClr val="FF0000"/>
              </a:solidFill>
              <a:latin typeface="微软雅黑" panose="020B0503020204020204" charset="-122"/>
              <a:ea typeface="微软雅黑" panose="020B0503020204020204" charset="-122"/>
            </a:endParaRPr>
          </a:p>
          <a:p>
            <a:r>
              <a:rPr lang="zh-CN" altLang="en-US" sz="2000">
                <a:solidFill>
                  <a:srgbClr val="FF0000"/>
                </a:solidFill>
                <a:latin typeface="微软雅黑" panose="020B0503020204020204" charset="-122"/>
                <a:ea typeface="微软雅黑" panose="020B0503020204020204" charset="-122"/>
              </a:rPr>
              <a:t>⒌国家空间设施建设</a:t>
            </a:r>
            <a:endParaRPr lang="zh-CN" altLang="en-US" sz="2000">
              <a:solidFill>
                <a:srgbClr val="FF0000"/>
              </a:solidFill>
              <a:latin typeface="微软雅黑" panose="020B0503020204020204" charset="-122"/>
              <a:ea typeface="微软雅黑" panose="020B0503020204020204" charset="-122"/>
            </a:endParaRPr>
          </a:p>
          <a:p>
            <a:endParaRPr lang="zh-CN" altLang="en-US" sz="2000" b="0">
              <a:latin typeface="微软雅黑" panose="020B0503020204020204" charset="-122"/>
              <a:ea typeface="微软雅黑" panose="020B0503020204020204" charset="-122"/>
            </a:endParaRPr>
          </a:p>
          <a:p>
            <a:r>
              <a:rPr lang="zh-CN" altLang="en-US" sz="2000" b="0">
                <a:latin typeface="微软雅黑" panose="020B0503020204020204" charset="-122"/>
                <a:ea typeface="微软雅黑" panose="020B0503020204020204" charset="-122"/>
              </a:rPr>
              <a:t>在“数字地球”背景下，我国加快了空间数据基础性设施的建设。目前，2000 国家大地坐标、北斗卫星定位、1985国家高程基准等系统诸多测绘工作基础性设施的投入使用，让我国陆地基准步入世界领先行列，而我国在建设海洋垂直基准上却相形见绌。为了进一步推动国家空间数据设施的有序发展，必须</a:t>
            </a:r>
            <a:r>
              <a:rPr lang="zh-CN" altLang="en-US" sz="2000">
                <a:solidFill>
                  <a:srgbClr val="FF0000"/>
                </a:solidFill>
                <a:latin typeface="微软雅黑" panose="020B0503020204020204" charset="-122"/>
                <a:ea typeface="微软雅黑" panose="020B0503020204020204" charset="-122"/>
              </a:rPr>
              <a:t>建立大地测量基准下可覆盖整个国土的海陆空大地测量控制网络</a:t>
            </a:r>
            <a:r>
              <a:rPr lang="zh-CN" altLang="en-US" sz="2000" b="0">
                <a:latin typeface="微软雅黑" panose="020B0503020204020204" charset="-122"/>
                <a:ea typeface="微软雅黑" panose="020B0503020204020204" charset="-122"/>
              </a:rPr>
              <a:t>。</a:t>
            </a:r>
            <a:endParaRPr lang="zh-CN" altLang="en-US" sz="2000" b="0">
              <a:latin typeface="微软雅黑" panose="020B0503020204020204" charset="-122"/>
              <a:ea typeface="微软雅黑" panose="020B0503020204020204" charset="-122"/>
            </a:endParaRPr>
          </a:p>
        </p:txBody>
      </p:sp>
      <p:graphicFrame>
        <p:nvGraphicFramePr>
          <p:cNvPr id="3" name="表格 2"/>
          <p:cNvGraphicFramePr/>
          <p:nvPr/>
        </p:nvGraphicFramePr>
        <p:xfrm>
          <a:off x="982980" y="4006215"/>
          <a:ext cx="10485120" cy="2637155"/>
        </p:xfrm>
        <a:graphic>
          <a:graphicData uri="http://schemas.openxmlformats.org/drawingml/2006/table">
            <a:tbl>
              <a:tblPr firstRow="1" bandRow="1">
                <a:tableStyleId>{E8EB8DD1-92A7-4878-921C-D2829FB49BA0}</a:tableStyleId>
              </a:tblPr>
              <a:tblGrid>
                <a:gridCol w="2138045"/>
                <a:gridCol w="4852035"/>
                <a:gridCol w="3495040"/>
              </a:tblGrid>
              <a:tr h="560070">
                <a:tc>
                  <a:txBody>
                    <a:bodyPr/>
                    <a:p>
                      <a:pPr algn="l"/>
                      <a:r>
                        <a:rPr lang="zh-CN" altLang="en-US" sz="1800"/>
                        <a:t>特性</a:t>
                      </a:r>
                      <a:endParaRPr lang="zh-CN" altLang="en-US" sz="1800"/>
                    </a:p>
                  </a:txBody>
                  <a:tcPr marL="0" marR="0" marT="0" marB="0" anchor="ctr" anchorCtr="0"/>
                </a:tc>
                <a:tc>
                  <a:txBody>
                    <a:bodyPr/>
                    <a:p>
                      <a:pPr algn="l"/>
                      <a:r>
                        <a:rPr lang="en-US" altLang="zh-CN" sz="1800"/>
                        <a:t>2000</a:t>
                      </a:r>
                      <a:r>
                        <a:rPr lang="zh-CN" altLang="en-US" sz="1800"/>
                        <a:t>国家大地坐标系 </a:t>
                      </a:r>
                      <a:r>
                        <a:rPr lang="en-US" altLang="zh-CN" sz="1800"/>
                        <a:t>(CGCS2000)</a:t>
                      </a:r>
                      <a:endParaRPr lang="en-US" altLang="zh-CN" sz="1800"/>
                    </a:p>
                  </a:txBody>
                  <a:tcPr marL="0" marR="0" marT="0" marB="0" anchor="ctr" anchorCtr="0"/>
                </a:tc>
                <a:tc>
                  <a:txBody>
                    <a:bodyPr/>
                    <a:p>
                      <a:pPr algn="l"/>
                      <a:r>
                        <a:rPr lang="en-US" altLang="zh-CN" sz="1800"/>
                        <a:t>1985</a:t>
                      </a:r>
                      <a:r>
                        <a:rPr lang="zh-CN" altLang="en-US" sz="1800"/>
                        <a:t>国家高程基准</a:t>
                      </a:r>
                      <a:endParaRPr lang="zh-CN" altLang="en-US" sz="1800"/>
                    </a:p>
                  </a:txBody>
                  <a:tcPr marL="0" marR="0" marT="0" marB="0" anchor="ctr" anchorCtr="0"/>
                </a:tc>
              </a:tr>
              <a:tr h="346075">
                <a:tc>
                  <a:txBody>
                    <a:bodyPr/>
                    <a:p>
                      <a:pPr algn="l"/>
                      <a:r>
                        <a:rPr lang="zh-CN" altLang="en-US" sz="1800"/>
                        <a:t>维度</a:t>
                      </a:r>
                      <a:endParaRPr lang="zh-CN" altLang="en-US" sz="1800"/>
                    </a:p>
                  </a:txBody>
                  <a:tcPr marL="0" marR="0" marT="0" marB="0" anchor="ctr" anchorCtr="0"/>
                </a:tc>
                <a:tc>
                  <a:txBody>
                    <a:bodyPr/>
                    <a:p>
                      <a:pPr algn="l"/>
                      <a:r>
                        <a:rPr lang="zh-CN" altLang="en-US" sz="1800"/>
                        <a:t>三维空间（经度、纬度、大地高）</a:t>
                      </a:r>
                      <a:endParaRPr lang="zh-CN" altLang="en-US" sz="1800"/>
                    </a:p>
                  </a:txBody>
                  <a:tcPr marL="0" marR="0" marT="0" marB="0" anchor="ctr" anchorCtr="0"/>
                </a:tc>
                <a:tc>
                  <a:txBody>
                    <a:bodyPr/>
                    <a:p>
                      <a:pPr algn="l"/>
                      <a:r>
                        <a:rPr lang="zh-CN" altLang="en-US" sz="1800"/>
                        <a:t>一维垂直高度（海拔）</a:t>
                      </a:r>
                      <a:endParaRPr lang="zh-CN" altLang="en-US" sz="1800"/>
                    </a:p>
                  </a:txBody>
                  <a:tcPr marL="0" marR="0" marT="0" marB="0" anchor="ctr" anchorCtr="0"/>
                </a:tc>
              </a:tr>
              <a:tr h="346075">
                <a:tc>
                  <a:txBody>
                    <a:bodyPr/>
                    <a:p>
                      <a:pPr algn="l"/>
                      <a:r>
                        <a:rPr lang="zh-CN" altLang="en-US" sz="1800"/>
                        <a:t>核心参数</a:t>
                      </a:r>
                      <a:endParaRPr lang="zh-CN" altLang="en-US" sz="1800"/>
                    </a:p>
                  </a:txBody>
                  <a:tcPr marL="0" marR="0" marT="0" marB="0" anchor="ctr" anchorCtr="0"/>
                </a:tc>
                <a:tc>
                  <a:txBody>
                    <a:bodyPr/>
                    <a:p>
                      <a:pPr algn="l"/>
                      <a:r>
                        <a:rPr lang="zh-CN" altLang="en-US" sz="1800"/>
                        <a:t>定义点的平面位置和大地高</a:t>
                      </a:r>
                      <a:endParaRPr lang="zh-CN" altLang="en-US" sz="1800"/>
                    </a:p>
                  </a:txBody>
                  <a:tcPr marL="0" marR="0" marT="0" marB="0" anchor="ctr" anchorCtr="0"/>
                </a:tc>
                <a:tc>
                  <a:txBody>
                    <a:bodyPr/>
                    <a:p>
                      <a:pPr algn="l"/>
                      <a:r>
                        <a:rPr lang="zh-CN" altLang="en-US" sz="1800"/>
                        <a:t>定义点的海拔高度</a:t>
                      </a:r>
                      <a:endParaRPr lang="zh-CN" altLang="en-US" sz="1800"/>
                    </a:p>
                  </a:txBody>
                  <a:tcPr marL="0" marR="0" marT="0" marB="0" anchor="ctr" anchorCtr="0"/>
                </a:tc>
              </a:tr>
              <a:tr h="346710">
                <a:tc>
                  <a:txBody>
                    <a:bodyPr/>
                    <a:p>
                      <a:pPr algn="l"/>
                      <a:r>
                        <a:rPr lang="zh-CN" altLang="en-US" sz="1800"/>
                        <a:t>原点</a:t>
                      </a:r>
                      <a:endParaRPr lang="zh-CN" altLang="en-US" sz="1800"/>
                    </a:p>
                  </a:txBody>
                  <a:tcPr marL="0" marR="0" marT="0" marB="0" anchor="ctr" anchorCtr="0"/>
                </a:tc>
                <a:tc>
                  <a:txBody>
                    <a:bodyPr/>
                    <a:p>
                      <a:pPr algn="l"/>
                      <a:r>
                        <a:rPr lang="zh-CN" altLang="en-US" sz="1800"/>
                        <a:t>地球质心</a:t>
                      </a:r>
                      <a:endParaRPr lang="zh-CN" altLang="en-US" sz="1800"/>
                    </a:p>
                  </a:txBody>
                  <a:tcPr marL="0" marR="0" marT="0" marB="0" anchor="ctr" anchorCtr="0"/>
                </a:tc>
                <a:tc>
                  <a:txBody>
                    <a:bodyPr/>
                    <a:p>
                      <a:pPr algn="l"/>
                      <a:r>
                        <a:rPr lang="zh-CN" altLang="en-US" sz="1800"/>
                        <a:t>青岛水准原点 </a:t>
                      </a:r>
                      <a:r>
                        <a:rPr lang="en-US" altLang="zh-CN" sz="1800"/>
                        <a:t>(72.2604</a:t>
                      </a:r>
                      <a:r>
                        <a:rPr lang="zh-CN" altLang="en-US" sz="1800"/>
                        <a:t>米</a:t>
                      </a:r>
                      <a:r>
                        <a:rPr lang="en-US" altLang="zh-CN" sz="1800"/>
                        <a:t>)</a:t>
                      </a:r>
                      <a:endParaRPr lang="en-US" altLang="zh-CN" sz="1800"/>
                    </a:p>
                  </a:txBody>
                  <a:tcPr marL="0" marR="0" marT="0" marB="0" anchor="ctr" anchorCtr="0"/>
                </a:tc>
              </a:tr>
              <a:tr h="1038225">
                <a:tc>
                  <a:txBody>
                    <a:bodyPr/>
                    <a:p>
                      <a:pPr algn="l"/>
                      <a:r>
                        <a:rPr lang="zh-CN" altLang="en-US" sz="1800"/>
                        <a:t>关联</a:t>
                      </a:r>
                      <a:endParaRPr lang="zh-CN" altLang="en-US" sz="1800"/>
                    </a:p>
                  </a:txBody>
                  <a:tcPr marL="0" marR="0" marT="0" marB="0" anchor="ctr" anchorCtr="0"/>
                </a:tc>
                <a:tc>
                  <a:txBody>
                    <a:bodyPr/>
                    <a:p>
                      <a:pPr algn="l"/>
                      <a:r>
                        <a:rPr lang="en-US" altLang="zh-CN" sz="1800"/>
                        <a:t>CGCS2000</a:t>
                      </a:r>
                      <a:r>
                        <a:rPr lang="zh-CN" altLang="en-US" sz="1800"/>
                        <a:t>坐标包含一个“大地高”，它与</a:t>
                      </a:r>
                      <a:r>
                        <a:rPr lang="en-US" altLang="zh-CN" sz="1800"/>
                        <a:t>1985</a:t>
                      </a:r>
                      <a:r>
                        <a:rPr lang="zh-CN" altLang="en-US" sz="1800"/>
                        <a:t>高程基准的“海拔高”是不同的概念。两者之间通过“高程异常”（大地水准面差距）进行转换。</a:t>
                      </a:r>
                      <a:endParaRPr lang="zh-CN" altLang="en-US" sz="1800"/>
                    </a:p>
                  </a:txBody>
                  <a:tcPr marL="0" marR="0" marT="0" marB="0" anchor="ctr" anchorCtr="0"/>
                </a:tc>
                <a:tc>
                  <a:txBody>
                    <a:bodyPr/>
                    <a:p>
                      <a:pPr algn="l"/>
                      <a:endParaRPr sz="1800"/>
                    </a:p>
                  </a:txBody>
                  <a:tcPr marL="0" marR="0" marT="0" marB="0" anchor="ctr" anchorCtr="0"/>
                </a:tc>
              </a:tr>
            </a:tbl>
          </a:graphicData>
        </a:graphic>
      </p:graphicFrame>
    </p:spTree>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98405F2B-6D95-4EAA-A155-C902E844E635}"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20483" name="Rectangle 2"/>
          <p:cNvSpPr>
            <a:spLocks noGrp="1" noChangeArrowheads="1"/>
          </p:cNvSpPr>
          <p:nvPr>
            <p:ph type="body" idx="4294967295"/>
          </p:nvPr>
        </p:nvSpPr>
        <p:spPr>
          <a:xfrm>
            <a:off x="588010" y="1113155"/>
            <a:ext cx="10434320" cy="5182870"/>
          </a:xfrm>
          <a:prstGeom prst="rect">
            <a:avLst/>
          </a:prstGeom>
        </p:spPr>
        <p:txBody>
          <a:bodyPr/>
          <a:lstStyle/>
          <a:p>
            <a:pPr marL="363855" indent="-363855" eaLnBrk="1" hangingPunct="1">
              <a:lnSpc>
                <a:spcPct val="110000"/>
              </a:lnSpc>
              <a:spcBef>
                <a:spcPct val="0"/>
              </a:spcBef>
            </a:pPr>
            <a:r>
              <a:rPr lang="zh-CN" altLang="en-US" dirty="0">
                <a:latin typeface="微软雅黑" panose="020B0503020204020204" charset="-122"/>
                <a:ea typeface="微软雅黑" panose="020B0503020204020204" charset="-122"/>
                <a:cs typeface="微软雅黑" panose="020B0503020204020204" charset="-122"/>
              </a:rPr>
              <a:t>水平基准</a:t>
            </a:r>
            <a:endParaRPr lang="en-US" altLang="zh-CN" dirty="0">
              <a:latin typeface="微软雅黑" panose="020B0503020204020204" charset="-122"/>
              <a:ea typeface="微软雅黑" panose="020B0503020204020204" charset="-122"/>
              <a:cs typeface="微软雅黑" panose="020B0503020204020204" charset="-122"/>
            </a:endParaRPr>
          </a:p>
          <a:p>
            <a:pPr lvl="1" eaLnBrk="1" hangingPunct="1">
              <a:lnSpc>
                <a:spcPct val="110000"/>
              </a:lnSpc>
            </a:pPr>
            <a:r>
              <a:rPr lang="zh-CN" altLang="en-US" sz="2000" dirty="0">
                <a:latin typeface="微软雅黑" panose="020B0503020204020204" charset="-122"/>
                <a:ea typeface="微软雅黑" panose="020B0503020204020204" charset="-122"/>
                <a:cs typeface="微软雅黑" panose="020B0503020204020204" charset="-122"/>
              </a:rPr>
              <a:t>在海上，人们无法利用</a:t>
            </a:r>
            <a:r>
              <a:rPr lang="zh-CN" altLang="en-US" sz="2000" u="sng" dirty="0">
                <a:latin typeface="微软雅黑" panose="020B0503020204020204" charset="-122"/>
                <a:ea typeface="微软雅黑" panose="020B0503020204020204" charset="-122"/>
                <a:cs typeface="微软雅黑" panose="020B0503020204020204" charset="-122"/>
              </a:rPr>
              <a:t>传统的大地测量方法均匀布设高精度的大地测量控制点</a:t>
            </a:r>
            <a:r>
              <a:rPr lang="zh-CN" altLang="en-US" sz="2000" dirty="0">
                <a:latin typeface="微软雅黑" panose="020B0503020204020204" charset="-122"/>
                <a:ea typeface="微软雅黑" panose="020B0503020204020204" charset="-122"/>
                <a:cs typeface="微软雅黑" panose="020B0503020204020204" charset="-122"/>
              </a:rPr>
              <a:t>，只能通过附加测量手段将陆地测量基准扩展到海滨沿岸，以形成能够满足各种海洋定位要求的基准体系。</a:t>
            </a:r>
            <a:endParaRPr lang="en-US" altLang="zh-CN" sz="2000" dirty="0">
              <a:latin typeface="微软雅黑" panose="020B0503020204020204" charset="-122"/>
              <a:ea typeface="微软雅黑" panose="020B0503020204020204" charset="-122"/>
              <a:cs typeface="微软雅黑" panose="020B0503020204020204" charset="-122"/>
            </a:endParaRPr>
          </a:p>
          <a:p>
            <a:pPr lvl="1" eaLnBrk="1" hangingPunct="1">
              <a:lnSpc>
                <a:spcPct val="110000"/>
              </a:lnSpc>
            </a:pPr>
            <a:r>
              <a:rPr lang="zh-CN" altLang="en-US" sz="2000" dirty="0">
                <a:latin typeface="微软雅黑" panose="020B0503020204020204" charset="-122"/>
                <a:ea typeface="微软雅黑" panose="020B0503020204020204" charset="-122"/>
                <a:cs typeface="微软雅黑" panose="020B0503020204020204" charset="-122"/>
              </a:rPr>
              <a:t>平面定位基准包括</a:t>
            </a:r>
            <a:r>
              <a:rPr lang="zh-CN" altLang="en-US" sz="2000" dirty="0">
                <a:solidFill>
                  <a:srgbClr val="FF0000"/>
                </a:solidFill>
                <a:latin typeface="微软雅黑" panose="020B0503020204020204" charset="-122"/>
                <a:ea typeface="微软雅黑" panose="020B0503020204020204" charset="-122"/>
                <a:cs typeface="微软雅黑" panose="020B0503020204020204" charset="-122"/>
              </a:rPr>
              <a:t>参心坐标系</a:t>
            </a:r>
            <a:r>
              <a:rPr lang="zh-CN" altLang="en-US" sz="2000" dirty="0">
                <a:latin typeface="微软雅黑" panose="020B0503020204020204" charset="-122"/>
                <a:ea typeface="微软雅黑" panose="020B0503020204020204" charset="-122"/>
                <a:cs typeface="微软雅黑" panose="020B0503020204020204" charset="-122"/>
              </a:rPr>
              <a:t>（如我国</a:t>
            </a:r>
            <a:r>
              <a:rPr lang="en-US" altLang="zh-CN" sz="2000" dirty="0">
                <a:latin typeface="微软雅黑" panose="020B0503020204020204" charset="-122"/>
                <a:ea typeface="微软雅黑" panose="020B0503020204020204" charset="-122"/>
                <a:cs typeface="微软雅黑" panose="020B0503020204020204" charset="-122"/>
              </a:rPr>
              <a:t>1954</a:t>
            </a:r>
            <a:r>
              <a:rPr lang="zh-CN" altLang="en-US" sz="2000" dirty="0">
                <a:latin typeface="微软雅黑" panose="020B0503020204020204" charset="-122"/>
                <a:ea typeface="微软雅黑" panose="020B0503020204020204" charset="-122"/>
                <a:cs typeface="微软雅黑" panose="020B0503020204020204" charset="-122"/>
              </a:rPr>
              <a:t>北京坐标系和</a:t>
            </a:r>
            <a:r>
              <a:rPr lang="en-US" altLang="zh-CN" sz="2000" dirty="0">
                <a:latin typeface="微软雅黑" panose="020B0503020204020204" charset="-122"/>
                <a:ea typeface="微软雅黑" panose="020B0503020204020204" charset="-122"/>
                <a:cs typeface="微软雅黑" panose="020B0503020204020204" charset="-122"/>
              </a:rPr>
              <a:t>1980</a:t>
            </a:r>
            <a:r>
              <a:rPr lang="zh-CN" altLang="en-US" sz="2000" dirty="0">
                <a:latin typeface="微软雅黑" panose="020B0503020204020204" charset="-122"/>
                <a:ea typeface="微软雅黑" panose="020B0503020204020204" charset="-122"/>
                <a:cs typeface="微软雅黑" panose="020B0503020204020204" charset="-122"/>
              </a:rPr>
              <a:t>西安坐标系，在一定的测量范围内与该地区的大地球体能较好的吻合）以及</a:t>
            </a:r>
            <a:r>
              <a:rPr lang="zh-CN" altLang="en-US" sz="2000" dirty="0">
                <a:solidFill>
                  <a:srgbClr val="FF0000"/>
                </a:solidFill>
                <a:latin typeface="微软雅黑" panose="020B0503020204020204" charset="-122"/>
                <a:ea typeface="微软雅黑" panose="020B0503020204020204" charset="-122"/>
                <a:cs typeface="微软雅黑" panose="020B0503020204020204" charset="-122"/>
              </a:rPr>
              <a:t>地心坐标系</a:t>
            </a:r>
            <a:r>
              <a:rPr lang="zh-CN" altLang="en-US" sz="2000" dirty="0">
                <a:latin typeface="微软雅黑" panose="020B0503020204020204" charset="-122"/>
                <a:ea typeface="微软雅黑" panose="020B0503020204020204" charset="-122"/>
                <a:cs typeface="微软雅黑" panose="020B0503020204020204" charset="-122"/>
              </a:rPr>
              <a:t>（主要参数能最恰当表达地球的形状和大小）</a:t>
            </a:r>
            <a:endParaRPr lang="en-US" altLang="zh-CN" sz="2000" dirty="0">
              <a:latin typeface="微软雅黑" panose="020B0503020204020204" charset="-122"/>
              <a:ea typeface="微软雅黑" panose="020B0503020204020204" charset="-122"/>
              <a:cs typeface="微软雅黑" panose="020B0503020204020204" charset="-122"/>
            </a:endParaRPr>
          </a:p>
          <a:p>
            <a:pPr lvl="1" eaLnBrk="1" hangingPunct="1">
              <a:lnSpc>
                <a:spcPct val="110000"/>
              </a:lnSpc>
            </a:pPr>
            <a:r>
              <a:rPr lang="zh-CN" altLang="en-US" sz="2000" dirty="0">
                <a:latin typeface="微软雅黑" panose="020B0503020204020204" charset="-122"/>
                <a:ea typeface="微软雅黑" panose="020B0503020204020204" charset="-122"/>
                <a:cs typeface="微软雅黑" panose="020B0503020204020204" charset="-122"/>
              </a:rPr>
              <a:t>一般，</a:t>
            </a:r>
            <a:r>
              <a:rPr lang="zh-CN" altLang="en-US" sz="2000" u="sng" dirty="0">
                <a:solidFill>
                  <a:srgbClr val="FF0000"/>
                </a:solidFill>
                <a:latin typeface="微软雅黑" panose="020B0503020204020204" charset="-122"/>
                <a:ea typeface="微软雅黑" panose="020B0503020204020204" charset="-122"/>
                <a:cs typeface="微软雅黑" panose="020B0503020204020204" charset="-122"/>
              </a:rPr>
              <a:t>水平基准采用全球统一定位基准</a:t>
            </a:r>
            <a:r>
              <a:rPr lang="en-US" altLang="zh-CN" sz="2000" u="sng" dirty="0">
                <a:solidFill>
                  <a:srgbClr val="FF0000"/>
                </a:solidFill>
                <a:latin typeface="微软雅黑" panose="020B0503020204020204" charset="-122"/>
                <a:ea typeface="微软雅黑" panose="020B0503020204020204" charset="-122"/>
                <a:cs typeface="微软雅黑" panose="020B0503020204020204" charset="-122"/>
              </a:rPr>
              <a:t>WGS-84</a:t>
            </a:r>
            <a:r>
              <a:rPr lang="zh-CN" altLang="en-US" sz="2000" u="sng" dirty="0">
                <a:solidFill>
                  <a:srgbClr val="FF0000"/>
                </a:solidFill>
                <a:latin typeface="微软雅黑" panose="020B0503020204020204" charset="-122"/>
                <a:ea typeface="微软雅黑" panose="020B0503020204020204" charset="-122"/>
                <a:cs typeface="微软雅黑" panose="020B0503020204020204" charset="-122"/>
              </a:rPr>
              <a:t>世界大地坐标系，属于地心坐标系。</a:t>
            </a:r>
            <a:endParaRPr lang="en-US" altLang="zh-CN" sz="2000" dirty="0">
              <a:latin typeface="微软雅黑" panose="020B0503020204020204" charset="-122"/>
              <a:ea typeface="微软雅黑" panose="020B0503020204020204" charset="-122"/>
              <a:cs typeface="微软雅黑" panose="020B0503020204020204" charset="-122"/>
            </a:endParaRPr>
          </a:p>
        </p:txBody>
      </p:sp>
      <p:sp>
        <p:nvSpPr>
          <p:cNvPr id="20484" name="Rectangle 4"/>
          <p:cNvSpPr>
            <a:spLocks noGrp="1" noChangeArrowheads="1"/>
          </p:cNvSpPr>
          <p:nvPr>
            <p:ph type="title"/>
          </p:nvPr>
        </p:nvSpPr>
        <p:spPr>
          <a:xfrm>
            <a:off x="1524000" y="139700"/>
            <a:ext cx="9144000" cy="593725"/>
          </a:xfrm>
        </p:spPr>
        <p:txBody>
          <a:bodyPr/>
          <a:lstStyle/>
          <a:p>
            <a:pPr eaLnBrk="1" hangingPunct="1"/>
            <a:r>
              <a:rPr lang="en-US" altLang="zh-CN" dirty="0"/>
              <a:t>§4.2 </a:t>
            </a:r>
            <a:r>
              <a:rPr lang="zh-CN" altLang="en-US" dirty="0"/>
              <a:t>海洋数据基准</a:t>
            </a:r>
            <a:endParaRPr lang="zh-CN" altLang="en-US" dirty="0"/>
          </a:p>
        </p:txBody>
      </p:sp>
      <p:sp>
        <p:nvSpPr>
          <p:cNvPr id="3" name="文本框 2"/>
          <p:cNvSpPr txBox="1"/>
          <p:nvPr/>
        </p:nvSpPr>
        <p:spPr>
          <a:xfrm>
            <a:off x="1262380" y="5691505"/>
            <a:ext cx="8711565" cy="922020"/>
          </a:xfrm>
          <a:prstGeom prst="rect">
            <a:avLst/>
          </a:prstGeom>
          <a:noFill/>
        </p:spPr>
        <p:txBody>
          <a:bodyPr wrap="square" rtlCol="0">
            <a:spAutoFit/>
          </a:bodyPr>
          <a:p>
            <a:r>
              <a:rPr lang="zh-CN" altLang="en-US"/>
              <a:t>WGS84坐标系是1984世界大地坐标系(World Geodetic System)的简称。它是美国国防制图局于1984年建立的，是GPS卫星星历的参考基准，也是协议地球参考系的一种。</a:t>
            </a:r>
            <a:endParaRPr lang="zh-CN" altLang="en-US"/>
          </a:p>
        </p:txBody>
      </p:sp>
    </p:spTree>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98405F2B-6D95-4EAA-A155-C902E844E635}"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20484" name="Rectangle 4"/>
          <p:cNvSpPr>
            <a:spLocks noGrp="1" noChangeArrowheads="1"/>
          </p:cNvSpPr>
          <p:nvPr>
            <p:ph type="title"/>
          </p:nvPr>
        </p:nvSpPr>
        <p:spPr>
          <a:xfrm>
            <a:off x="1524000" y="139700"/>
            <a:ext cx="9144000" cy="593725"/>
          </a:xfrm>
        </p:spPr>
        <p:txBody>
          <a:bodyPr/>
          <a:lstStyle/>
          <a:p>
            <a:pPr eaLnBrk="1" hangingPunct="1"/>
            <a:r>
              <a:rPr lang="en-US" altLang="zh-CN" dirty="0"/>
              <a:t>§4.2 </a:t>
            </a:r>
            <a:r>
              <a:rPr lang="zh-CN" altLang="en-US" dirty="0"/>
              <a:t>海洋数据基准</a:t>
            </a:r>
            <a:endParaRPr lang="zh-CN" altLang="en-US" dirty="0"/>
          </a:p>
        </p:txBody>
      </p:sp>
      <p:pic>
        <p:nvPicPr>
          <p:cNvPr id="2" name="图片 1" descr="大地基准面的由来"/>
          <p:cNvPicPr>
            <a:picLocks noChangeAspect="1"/>
          </p:cNvPicPr>
          <p:nvPr>
            <p:custDataLst>
              <p:tags r:id="rId1"/>
            </p:custDataLst>
          </p:nvPr>
        </p:nvPicPr>
        <p:blipFill>
          <a:blip r:embed="rId2"/>
          <a:srcRect t="25146" b="6533"/>
          <a:stretch>
            <a:fillRect/>
          </a:stretch>
        </p:blipFill>
        <p:spPr>
          <a:xfrm>
            <a:off x="2011045" y="1149350"/>
            <a:ext cx="8169910" cy="1188720"/>
          </a:xfrm>
          <a:prstGeom prst="rect">
            <a:avLst/>
          </a:prstGeom>
        </p:spPr>
      </p:pic>
      <p:pic>
        <p:nvPicPr>
          <p:cNvPr id="3" name="图片 2"/>
          <p:cNvPicPr>
            <a:picLocks noChangeAspect="1"/>
          </p:cNvPicPr>
          <p:nvPr/>
        </p:nvPicPr>
        <p:blipFill>
          <a:blip r:embed="rId3"/>
          <a:stretch>
            <a:fillRect/>
          </a:stretch>
        </p:blipFill>
        <p:spPr>
          <a:xfrm>
            <a:off x="2279650" y="2277110"/>
            <a:ext cx="4270375" cy="2950210"/>
          </a:xfrm>
          <a:prstGeom prst="rect">
            <a:avLst/>
          </a:prstGeom>
        </p:spPr>
      </p:pic>
      <p:pic>
        <p:nvPicPr>
          <p:cNvPr id="4" name="图片 3"/>
          <p:cNvPicPr>
            <a:picLocks noChangeAspect="1"/>
          </p:cNvPicPr>
          <p:nvPr/>
        </p:nvPicPr>
        <p:blipFill>
          <a:blip r:embed="rId4"/>
          <a:srcRect t="15216" b="7708"/>
          <a:stretch>
            <a:fillRect/>
          </a:stretch>
        </p:blipFill>
        <p:spPr>
          <a:xfrm>
            <a:off x="1946275" y="5156835"/>
            <a:ext cx="7879080" cy="1720850"/>
          </a:xfrm>
          <a:prstGeom prst="rect">
            <a:avLst/>
          </a:prstGeom>
        </p:spPr>
      </p:pic>
      <p:pic>
        <p:nvPicPr>
          <p:cNvPr id="100" name="图片 99"/>
          <p:cNvPicPr/>
          <p:nvPr/>
        </p:nvPicPr>
        <p:blipFill>
          <a:blip r:embed="rId5"/>
          <a:stretch>
            <a:fillRect/>
          </a:stretch>
        </p:blipFill>
        <p:spPr>
          <a:xfrm>
            <a:off x="6671945" y="2702560"/>
            <a:ext cx="3232150" cy="2454275"/>
          </a:xfrm>
          <a:prstGeom prst="rect">
            <a:avLst/>
          </a:prstGeom>
          <a:noFill/>
          <a:ln w="9525">
            <a:noFill/>
          </a:ln>
        </p:spPr>
      </p:pic>
    </p:spTree>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98405F2B-6D95-4EAA-A155-C902E844E635}"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20483" name="Rectangle 2"/>
          <p:cNvSpPr>
            <a:spLocks noGrp="1" noChangeArrowheads="1"/>
          </p:cNvSpPr>
          <p:nvPr>
            <p:ph type="body" idx="4294967295"/>
          </p:nvPr>
        </p:nvSpPr>
        <p:spPr>
          <a:xfrm>
            <a:off x="750570" y="1038225"/>
            <a:ext cx="10352405" cy="5182870"/>
          </a:xfrm>
          <a:prstGeom prst="rect">
            <a:avLst/>
          </a:prstGeom>
        </p:spPr>
        <p:txBody>
          <a:bodyPr/>
          <a:lstStyle/>
          <a:p>
            <a:pPr marL="363855" indent="-363855" eaLnBrk="1" hangingPunct="1">
              <a:lnSpc>
                <a:spcPct val="110000"/>
              </a:lnSpc>
              <a:spcBef>
                <a:spcPct val="0"/>
              </a:spcBef>
            </a:pPr>
            <a:r>
              <a:rPr lang="zh-CN" altLang="en-US" dirty="0">
                <a:latin typeface="微软雅黑" panose="020B0503020204020204" charset="-122"/>
                <a:ea typeface="微软雅黑" panose="020B0503020204020204" charset="-122"/>
                <a:cs typeface="微软雅黑" panose="020B0503020204020204" charset="-122"/>
              </a:rPr>
              <a:t>水平基准</a:t>
            </a:r>
            <a:endParaRPr lang="en-US" altLang="zh-CN" dirty="0">
              <a:latin typeface="微软雅黑" panose="020B0503020204020204" charset="-122"/>
              <a:ea typeface="微软雅黑" panose="020B0503020204020204" charset="-122"/>
              <a:cs typeface="微软雅黑" panose="020B0503020204020204" charset="-122"/>
            </a:endParaRPr>
          </a:p>
          <a:p>
            <a:pPr lvl="1" eaLnBrk="1" hangingPunct="1">
              <a:lnSpc>
                <a:spcPct val="110000"/>
              </a:lnSpc>
            </a:pPr>
            <a:r>
              <a:rPr lang="zh-CN" altLang="en-US" b="0" dirty="0">
                <a:latin typeface="微软雅黑" panose="020B0503020204020204" charset="-122"/>
                <a:ea typeface="微软雅黑" panose="020B0503020204020204" charset="-122"/>
                <a:cs typeface="微软雅黑" panose="020B0503020204020204" charset="-122"/>
              </a:rPr>
              <a:t>为了构建海洋测量平面控制基础，同时考虑到我国海洋测量实际需求的具体情况，利用国家高精度</a:t>
            </a:r>
            <a:r>
              <a:rPr lang="en-US" altLang="zh-CN" b="0" dirty="0">
                <a:latin typeface="微软雅黑" panose="020B0503020204020204" charset="-122"/>
                <a:ea typeface="微软雅黑" panose="020B0503020204020204" charset="-122"/>
                <a:cs typeface="微软雅黑" panose="020B0503020204020204" charset="-122"/>
              </a:rPr>
              <a:t>GPS</a:t>
            </a:r>
            <a:r>
              <a:rPr lang="zh-CN" altLang="en-US" b="0" dirty="0">
                <a:latin typeface="微软雅黑" panose="020B0503020204020204" charset="-122"/>
                <a:ea typeface="微软雅黑" panose="020B0503020204020204" charset="-122"/>
                <a:cs typeface="微软雅黑" panose="020B0503020204020204" charset="-122"/>
              </a:rPr>
              <a:t>大地控制网的数据资料，建立起初步的由现代空间大地测量技术支撑的</a:t>
            </a:r>
            <a:r>
              <a:rPr lang="zh-CN" altLang="en-US" b="0" u="sng" dirty="0">
                <a:solidFill>
                  <a:srgbClr val="FF0000"/>
                </a:solidFill>
                <a:latin typeface="微软雅黑" panose="020B0503020204020204" charset="-122"/>
                <a:ea typeface="微软雅黑" panose="020B0503020204020204" charset="-122"/>
                <a:cs typeface="微软雅黑" panose="020B0503020204020204" charset="-122"/>
              </a:rPr>
              <a:t>海洋测量平面控制网</a:t>
            </a:r>
            <a:r>
              <a:rPr lang="zh-CN" altLang="en-US" b="0" dirty="0">
                <a:latin typeface="微软雅黑" panose="020B0503020204020204" charset="-122"/>
                <a:ea typeface="微软雅黑" panose="020B0503020204020204" charset="-122"/>
                <a:cs typeface="微软雅黑" panose="020B0503020204020204" charset="-122"/>
              </a:rPr>
              <a:t>。</a:t>
            </a:r>
            <a:endParaRPr lang="en-US" altLang="zh-CN" dirty="0">
              <a:latin typeface="微软雅黑" panose="020B0503020204020204" charset="-122"/>
              <a:ea typeface="微软雅黑" panose="020B0503020204020204" charset="-122"/>
              <a:cs typeface="微软雅黑" panose="020B0503020204020204" charset="-122"/>
            </a:endParaRPr>
          </a:p>
          <a:p>
            <a:pPr lvl="1" eaLnBrk="1" hangingPunct="1">
              <a:lnSpc>
                <a:spcPct val="110000"/>
              </a:lnSpc>
            </a:pPr>
            <a:r>
              <a:rPr lang="zh-CN" altLang="en-US" b="0" dirty="0">
                <a:latin typeface="微软雅黑" panose="020B0503020204020204" charset="-122"/>
                <a:ea typeface="微软雅黑" panose="020B0503020204020204" charset="-122"/>
                <a:cs typeface="微软雅黑" panose="020B0503020204020204" charset="-122"/>
              </a:rPr>
              <a:t>该控制网由分布于我国及部分岛屿上的</a:t>
            </a:r>
            <a:r>
              <a:rPr lang="en-US" altLang="zh-CN" b="0" dirty="0">
                <a:latin typeface="微软雅黑" panose="020B0503020204020204" charset="-122"/>
                <a:ea typeface="微软雅黑" panose="020B0503020204020204" charset="-122"/>
                <a:cs typeface="微软雅黑" panose="020B0503020204020204" charset="-122"/>
              </a:rPr>
              <a:t>285</a:t>
            </a:r>
            <a:r>
              <a:rPr lang="zh-CN" altLang="en-US" b="0" dirty="0">
                <a:latin typeface="微软雅黑" panose="020B0503020204020204" charset="-122"/>
                <a:ea typeface="微软雅黑" panose="020B0503020204020204" charset="-122"/>
                <a:cs typeface="微软雅黑" panose="020B0503020204020204" charset="-122"/>
              </a:rPr>
              <a:t>个国家</a:t>
            </a:r>
            <a:r>
              <a:rPr lang="en-US" altLang="zh-CN" b="0" i="1" dirty="0">
                <a:latin typeface="微软雅黑" panose="020B0503020204020204" charset="-122"/>
                <a:ea typeface="微软雅黑" panose="020B0503020204020204" charset="-122"/>
                <a:cs typeface="微软雅黑" panose="020B0503020204020204" charset="-122"/>
              </a:rPr>
              <a:t>B</a:t>
            </a:r>
            <a:r>
              <a:rPr lang="zh-CN" altLang="en-US" b="0" i="1" dirty="0">
                <a:latin typeface="微软雅黑" panose="020B0503020204020204" charset="-122"/>
                <a:ea typeface="微软雅黑" panose="020B0503020204020204" charset="-122"/>
                <a:cs typeface="微软雅黑" panose="020B0503020204020204" charset="-122"/>
              </a:rPr>
              <a:t>级</a:t>
            </a:r>
            <a:r>
              <a:rPr lang="en-US" altLang="zh-CN" b="0" i="1" dirty="0">
                <a:latin typeface="微软雅黑" panose="020B0503020204020204" charset="-122"/>
                <a:ea typeface="微软雅黑" panose="020B0503020204020204" charset="-122"/>
                <a:cs typeface="微软雅黑" panose="020B0503020204020204" charset="-122"/>
              </a:rPr>
              <a:t>GPS</a:t>
            </a:r>
            <a:r>
              <a:rPr lang="zh-CN" altLang="en-US" b="0" i="1" dirty="0">
                <a:latin typeface="微软雅黑" panose="020B0503020204020204" charset="-122"/>
                <a:ea typeface="微软雅黑" panose="020B0503020204020204" charset="-122"/>
                <a:cs typeface="微软雅黑" panose="020B0503020204020204" charset="-122"/>
              </a:rPr>
              <a:t>测点（全国共</a:t>
            </a:r>
            <a:r>
              <a:rPr lang="en-US" altLang="zh-CN" b="0" i="1" dirty="0">
                <a:latin typeface="微软雅黑" panose="020B0503020204020204" charset="-122"/>
                <a:ea typeface="微软雅黑" panose="020B0503020204020204" charset="-122"/>
                <a:cs typeface="微软雅黑" panose="020B0503020204020204" charset="-122"/>
              </a:rPr>
              <a:t>800</a:t>
            </a:r>
            <a:r>
              <a:rPr lang="zh-CN" altLang="en-US" b="0" i="1" dirty="0">
                <a:latin typeface="微软雅黑" panose="020B0503020204020204" charset="-122"/>
                <a:ea typeface="微软雅黑" panose="020B0503020204020204" charset="-122"/>
                <a:cs typeface="微软雅黑" panose="020B0503020204020204" charset="-122"/>
              </a:rPr>
              <a:t>个</a:t>
            </a:r>
            <a:r>
              <a:rPr lang="en-US" altLang="zh-CN" b="0" i="1" dirty="0">
                <a:latin typeface="微软雅黑" panose="020B0503020204020204" charset="-122"/>
                <a:ea typeface="微软雅黑" panose="020B0503020204020204" charset="-122"/>
                <a:cs typeface="微软雅黑" panose="020B0503020204020204" charset="-122"/>
              </a:rPr>
              <a:t>B</a:t>
            </a:r>
            <a:r>
              <a:rPr lang="zh-CN" altLang="en-US" b="0" i="1" dirty="0">
                <a:latin typeface="微软雅黑" panose="020B0503020204020204" charset="-122"/>
                <a:ea typeface="微软雅黑" panose="020B0503020204020204" charset="-122"/>
                <a:cs typeface="微软雅黑" panose="020B0503020204020204" charset="-122"/>
              </a:rPr>
              <a:t>级点，</a:t>
            </a:r>
            <a:r>
              <a:rPr lang="en-US" altLang="zh-CN" b="0" i="1" dirty="0">
                <a:latin typeface="微软雅黑" panose="020B0503020204020204" charset="-122"/>
                <a:ea typeface="微软雅黑" panose="020B0503020204020204" charset="-122"/>
                <a:cs typeface="微软雅黑" panose="020B0503020204020204" charset="-122"/>
              </a:rPr>
              <a:t>B</a:t>
            </a:r>
            <a:r>
              <a:rPr lang="zh-CN" altLang="en-US" b="0" i="1" dirty="0">
                <a:latin typeface="微软雅黑" panose="020B0503020204020204" charset="-122"/>
                <a:ea typeface="微软雅黑" panose="020B0503020204020204" charset="-122"/>
                <a:cs typeface="微软雅黑" panose="020B0503020204020204" charset="-122"/>
              </a:rPr>
              <a:t>级网的平均边长为</a:t>
            </a:r>
            <a:r>
              <a:rPr lang="en-US" altLang="zh-CN" b="0" i="1" dirty="0">
                <a:latin typeface="微软雅黑" panose="020B0503020204020204" charset="-122"/>
                <a:ea typeface="微软雅黑" panose="020B0503020204020204" charset="-122"/>
                <a:cs typeface="微软雅黑" panose="020B0503020204020204" charset="-122"/>
              </a:rPr>
              <a:t>150km</a:t>
            </a:r>
            <a:r>
              <a:rPr lang="zh-CN" altLang="en-US" b="0" i="1" dirty="0">
                <a:latin typeface="微软雅黑" panose="020B0503020204020204" charset="-122"/>
                <a:ea typeface="微软雅黑" panose="020B0503020204020204" charset="-122"/>
                <a:cs typeface="微软雅黑" panose="020B0503020204020204" charset="-122"/>
              </a:rPr>
              <a:t>）</a:t>
            </a:r>
            <a:r>
              <a:rPr lang="zh-CN" altLang="en-US" b="0" dirty="0">
                <a:latin typeface="微软雅黑" panose="020B0503020204020204" charset="-122"/>
                <a:ea typeface="微软雅黑" panose="020B0503020204020204" charset="-122"/>
                <a:cs typeface="微软雅黑" panose="020B0503020204020204" charset="-122"/>
              </a:rPr>
              <a:t>组成，</a:t>
            </a:r>
            <a:r>
              <a:rPr lang="zh-CN" altLang="en-US" b="0" u="sng" dirty="0">
                <a:solidFill>
                  <a:srgbClr val="FF0000"/>
                </a:solidFill>
                <a:latin typeface="微软雅黑" panose="020B0503020204020204" charset="-122"/>
                <a:ea typeface="微软雅黑" panose="020B0503020204020204" charset="-122"/>
                <a:cs typeface="微软雅黑" panose="020B0503020204020204" charset="-122"/>
              </a:rPr>
              <a:t>三分之二以上的测点都集中在我国沿海</a:t>
            </a:r>
            <a:r>
              <a:rPr lang="en-US" altLang="zh-CN" b="0" u="sng" dirty="0">
                <a:solidFill>
                  <a:srgbClr val="FF0000"/>
                </a:solidFill>
                <a:latin typeface="微软雅黑" panose="020B0503020204020204" charset="-122"/>
                <a:ea typeface="微软雅黑" panose="020B0503020204020204" charset="-122"/>
                <a:cs typeface="微软雅黑" panose="020B0503020204020204" charset="-122"/>
              </a:rPr>
              <a:t>200</a:t>
            </a:r>
            <a:r>
              <a:rPr lang="zh-CN" altLang="en-US" b="0" u="sng" dirty="0">
                <a:solidFill>
                  <a:srgbClr val="FF0000"/>
                </a:solidFill>
                <a:latin typeface="微软雅黑" panose="020B0503020204020204" charset="-122"/>
                <a:ea typeface="微软雅黑" panose="020B0503020204020204" charset="-122"/>
                <a:cs typeface="微软雅黑" panose="020B0503020204020204" charset="-122"/>
              </a:rPr>
              <a:t>公里左右的带宽内</a:t>
            </a:r>
            <a:r>
              <a:rPr lang="zh-CN" altLang="en-US" b="0" dirty="0">
                <a:latin typeface="微软雅黑" panose="020B0503020204020204" charset="-122"/>
                <a:ea typeface="微软雅黑" panose="020B0503020204020204" charset="-122"/>
                <a:cs typeface="微软雅黑" panose="020B0503020204020204" charset="-122"/>
              </a:rPr>
              <a:t>。测点类型包括多普勒点（天文测量法所确定的地面点）、</a:t>
            </a:r>
            <a:r>
              <a:rPr lang="zh-CN" altLang="en-US" b="0" u="sng" dirty="0">
                <a:latin typeface="微软雅黑" panose="020B0503020204020204" charset="-122"/>
                <a:ea typeface="微软雅黑" panose="020B0503020204020204" charset="-122"/>
                <a:cs typeface="微软雅黑" panose="020B0503020204020204" charset="-122"/>
              </a:rPr>
              <a:t>水准点（用水准测定高程的点）、形变点（一般布设在活动断裂带上以监视断层活动）、海岛点和验潮站点（了解</a:t>
            </a:r>
            <a:r>
              <a:rPr lang="zh-CN" altLang="en-US" b="0" u="sng" dirty="0">
                <a:latin typeface="微软雅黑" panose="020B0503020204020204" charset="-122"/>
                <a:ea typeface="微软雅黑" panose="020B0503020204020204" charset="-122"/>
                <a:cs typeface="微软雅黑" panose="020B0503020204020204" charset="-122"/>
              </a:rPr>
              <a:t>海区的潮汐变化规律的观测站）</a:t>
            </a:r>
            <a:r>
              <a:rPr lang="zh-CN" altLang="en-US" b="0" dirty="0">
                <a:latin typeface="微软雅黑" panose="020B0503020204020204" charset="-122"/>
                <a:ea typeface="微软雅黑" panose="020B0503020204020204" charset="-122"/>
                <a:cs typeface="微软雅黑" panose="020B0503020204020204" charset="-122"/>
              </a:rPr>
              <a:t>。</a:t>
            </a:r>
            <a:endParaRPr lang="en-US" altLang="zh-CN" b="0" dirty="0">
              <a:latin typeface="微软雅黑" panose="020B0503020204020204" charset="-122"/>
              <a:ea typeface="微软雅黑" panose="020B0503020204020204" charset="-122"/>
              <a:cs typeface="微软雅黑" panose="020B0503020204020204" charset="-122"/>
            </a:endParaRPr>
          </a:p>
        </p:txBody>
      </p:sp>
      <p:sp>
        <p:nvSpPr>
          <p:cNvPr id="20484" name="Rectangle 4"/>
          <p:cNvSpPr>
            <a:spLocks noGrp="1" noChangeArrowheads="1"/>
          </p:cNvSpPr>
          <p:nvPr>
            <p:ph type="title"/>
          </p:nvPr>
        </p:nvSpPr>
        <p:spPr>
          <a:xfrm>
            <a:off x="1524000" y="139700"/>
            <a:ext cx="9144000" cy="593725"/>
          </a:xfrm>
        </p:spPr>
        <p:txBody>
          <a:bodyPr/>
          <a:lstStyle/>
          <a:p>
            <a:pPr eaLnBrk="1" hangingPunct="1"/>
            <a:r>
              <a:rPr lang="en-US" altLang="zh-CN" dirty="0"/>
              <a:t>§4.2 </a:t>
            </a:r>
            <a:r>
              <a:rPr lang="zh-CN" altLang="en-US" dirty="0"/>
              <a:t>海洋数据基准</a:t>
            </a:r>
            <a:endParaRPr lang="zh-CN" altLang="en-US" dirty="0"/>
          </a:p>
        </p:txBody>
      </p:sp>
    </p:spTree>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98405F2B-6D95-4EAA-A155-C902E844E635}"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20484" name="Rectangle 4"/>
          <p:cNvSpPr>
            <a:spLocks noGrp="1" noChangeArrowheads="1"/>
          </p:cNvSpPr>
          <p:nvPr>
            <p:ph type="title"/>
          </p:nvPr>
        </p:nvSpPr>
        <p:spPr>
          <a:xfrm>
            <a:off x="1524000" y="139700"/>
            <a:ext cx="9144000" cy="593725"/>
          </a:xfrm>
        </p:spPr>
        <p:txBody>
          <a:bodyPr/>
          <a:lstStyle/>
          <a:p>
            <a:pPr eaLnBrk="1" hangingPunct="1"/>
            <a:r>
              <a:rPr lang="en-US" altLang="zh-CN" dirty="0"/>
              <a:t>§4.2 </a:t>
            </a:r>
            <a:r>
              <a:rPr lang="zh-CN" altLang="en-US" dirty="0"/>
              <a:t>海洋数据基准</a:t>
            </a:r>
            <a:endParaRPr lang="zh-CN" altLang="en-US" dirty="0"/>
          </a:p>
        </p:txBody>
      </p:sp>
      <p:graphicFrame>
        <p:nvGraphicFramePr>
          <p:cNvPr id="2" name="表格 1"/>
          <p:cNvGraphicFramePr/>
          <p:nvPr/>
        </p:nvGraphicFramePr>
        <p:xfrm>
          <a:off x="767080" y="976630"/>
          <a:ext cx="11259185" cy="5681345"/>
        </p:xfrm>
        <a:graphic>
          <a:graphicData uri="http://schemas.openxmlformats.org/drawingml/2006/table">
            <a:tbl>
              <a:tblPr firstRow="1">
                <a:tableStyleId>{DA7C510E-7793-42D9-8D48-03DC0F914C03}</a:tableStyleId>
              </a:tblPr>
              <a:tblGrid>
                <a:gridCol w="2096770"/>
                <a:gridCol w="1698625"/>
                <a:gridCol w="2494915"/>
                <a:gridCol w="2096770"/>
                <a:gridCol w="2872105"/>
              </a:tblGrid>
              <a:tr h="813435">
                <a:tc>
                  <a:txBody>
                    <a:bodyPr/>
                    <a:p>
                      <a:pPr algn="l"/>
                      <a:r>
                        <a:rPr lang="zh-CN" altLang="en-US" sz="1800"/>
                        <a:t>测点类型</a:t>
                      </a:r>
                      <a:endParaRPr lang="zh-CN" altLang="en-US" sz="1800"/>
                    </a:p>
                  </a:txBody>
                  <a:tcPr marL="0" marR="0" marT="0" marB="0" anchor="ctr" anchorCtr="0"/>
                </a:tc>
                <a:tc>
                  <a:txBody>
                    <a:bodyPr/>
                    <a:p>
                      <a:pPr algn="l"/>
                      <a:r>
                        <a:rPr lang="zh-CN" altLang="en-US" sz="1800"/>
                        <a:t>核心功能</a:t>
                      </a:r>
                      <a:endParaRPr lang="zh-CN" altLang="en-US" sz="1800"/>
                    </a:p>
                  </a:txBody>
                  <a:tcPr marL="0" marR="0" marT="0" marB="0" anchor="ctr" anchorCtr="0"/>
                </a:tc>
                <a:tc>
                  <a:txBody>
                    <a:bodyPr/>
                    <a:p>
                      <a:pPr algn="l"/>
                      <a:r>
                        <a:rPr lang="zh-CN" altLang="en-US" sz="1800"/>
                        <a:t>测量手段</a:t>
                      </a:r>
                      <a:r>
                        <a:rPr lang="en-US" altLang="zh-CN" sz="1800"/>
                        <a:t>/</a:t>
                      </a:r>
                      <a:r>
                        <a:rPr lang="zh-CN" altLang="en-US" sz="1800"/>
                        <a:t>依据</a:t>
                      </a:r>
                      <a:endParaRPr lang="zh-CN" altLang="en-US" sz="1800"/>
                    </a:p>
                  </a:txBody>
                  <a:tcPr marL="0" marR="0" marT="0" marB="0" anchor="ctr" anchorCtr="0"/>
                </a:tc>
                <a:tc>
                  <a:txBody>
                    <a:bodyPr/>
                    <a:p>
                      <a:pPr algn="l"/>
                      <a:r>
                        <a:rPr lang="zh-CN" altLang="en-US" sz="1800"/>
                        <a:t>关键应用领域</a:t>
                      </a:r>
                      <a:endParaRPr lang="zh-CN" altLang="en-US" sz="1800"/>
                    </a:p>
                  </a:txBody>
                  <a:tcPr marL="0" marR="0" marT="0" marB="0" anchor="ctr" anchorCtr="0"/>
                </a:tc>
                <a:tc>
                  <a:txBody>
                    <a:bodyPr/>
                    <a:p>
                      <a:pPr algn="l"/>
                      <a:r>
                        <a:rPr lang="zh-CN" altLang="en-US" sz="1800"/>
                        <a:t>稳定性要求</a:t>
                      </a:r>
                      <a:endParaRPr lang="zh-CN" altLang="en-US" sz="1800"/>
                    </a:p>
                  </a:txBody>
                  <a:tcPr marL="0" marR="0" marT="0" marB="0" anchor="ctr" anchorCtr="0"/>
                </a:tc>
              </a:tr>
              <a:tr h="973455">
                <a:tc>
                  <a:txBody>
                    <a:bodyPr/>
                    <a:p>
                      <a:pPr algn="l"/>
                      <a:r>
                        <a:rPr lang="zh-CN" altLang="en-US" sz="1800"/>
                        <a:t>水准点</a:t>
                      </a:r>
                      <a:endParaRPr lang="zh-CN" altLang="en-US" sz="1800"/>
                    </a:p>
                  </a:txBody>
                  <a:tcPr marL="0" marR="0" marT="0" marB="0" anchor="ctr" anchorCtr="0"/>
                </a:tc>
                <a:tc>
                  <a:txBody>
                    <a:bodyPr/>
                    <a:p>
                      <a:pPr algn="l"/>
                      <a:r>
                        <a:rPr lang="zh-CN" altLang="en-US" sz="1800"/>
                        <a:t>传递高程</a:t>
                      </a:r>
                      <a:endParaRPr lang="zh-CN" altLang="en-US" sz="1800"/>
                    </a:p>
                  </a:txBody>
                  <a:tcPr marL="0" marR="0" marT="0" marB="0" anchor="ctr" anchorCtr="0"/>
                </a:tc>
                <a:tc>
                  <a:txBody>
                    <a:bodyPr/>
                    <a:p>
                      <a:pPr algn="l"/>
                      <a:r>
                        <a:rPr lang="zh-CN" altLang="en-US" sz="1800"/>
                        <a:t>几何水准测量（从原点逐级传递）</a:t>
                      </a:r>
                      <a:endParaRPr lang="zh-CN" altLang="en-US" sz="1800"/>
                    </a:p>
                  </a:txBody>
                  <a:tcPr marL="0" marR="0" marT="0" marB="0" anchor="ctr" anchorCtr="0"/>
                </a:tc>
                <a:tc>
                  <a:txBody>
                    <a:bodyPr/>
                    <a:p>
                      <a:pPr algn="l"/>
                      <a:r>
                        <a:rPr lang="zh-CN" altLang="en-US" sz="1800"/>
                        <a:t>地形图测绘、工程建设、海拔标定</a:t>
                      </a:r>
                      <a:endParaRPr lang="zh-CN" altLang="en-US" sz="1800"/>
                    </a:p>
                  </a:txBody>
                  <a:tcPr marL="0" marR="0" marT="0" marB="0" anchor="ctr" anchorCtr="0"/>
                </a:tc>
                <a:tc>
                  <a:txBody>
                    <a:bodyPr/>
                    <a:p>
                      <a:pPr algn="l"/>
                      <a:r>
                        <a:rPr lang="zh-CN" altLang="en-US" sz="1800"/>
                        <a:t>极高 </a:t>
                      </a:r>
                      <a:r>
                        <a:rPr lang="en-US" altLang="zh-CN" sz="1800"/>
                        <a:t>(</a:t>
                      </a:r>
                      <a:r>
                        <a:rPr lang="zh-CN" altLang="en-US" sz="1800"/>
                        <a:t>需长期稳固</a:t>
                      </a:r>
                      <a:r>
                        <a:rPr lang="en-US" altLang="zh-CN" sz="1800"/>
                        <a:t>)</a:t>
                      </a:r>
                      <a:endParaRPr lang="en-US" altLang="zh-CN" sz="1800"/>
                    </a:p>
                  </a:txBody>
                  <a:tcPr marL="0" marR="0" marT="0" marB="0" anchor="ctr" anchorCtr="0"/>
                </a:tc>
              </a:tr>
              <a:tr h="973455">
                <a:tc>
                  <a:txBody>
                    <a:bodyPr/>
                    <a:p>
                      <a:pPr algn="l"/>
                      <a:r>
                        <a:rPr lang="zh-CN" altLang="en-US" sz="1800"/>
                        <a:t>验潮站点</a:t>
                      </a:r>
                      <a:endParaRPr lang="zh-CN" altLang="en-US" sz="1800"/>
                    </a:p>
                  </a:txBody>
                  <a:tcPr marL="0" marR="0" marT="0" marB="0" anchor="ctr" anchorCtr="0"/>
                </a:tc>
                <a:tc>
                  <a:txBody>
                    <a:bodyPr/>
                    <a:p>
                      <a:pPr algn="l"/>
                      <a:r>
                        <a:rPr lang="zh-CN" altLang="en-US" sz="1800"/>
                        <a:t>定义基准</a:t>
                      </a:r>
                      <a:endParaRPr lang="zh-CN" altLang="en-US" sz="1800"/>
                    </a:p>
                  </a:txBody>
                  <a:tcPr marL="0" marR="0" marT="0" marB="0" anchor="ctr" anchorCtr="0"/>
                </a:tc>
                <a:tc>
                  <a:txBody>
                    <a:bodyPr/>
                    <a:p>
                      <a:pPr algn="l"/>
                      <a:r>
                        <a:rPr lang="zh-CN" altLang="en-US" sz="1800"/>
                        <a:t>长期水位观测（求平均海平面）</a:t>
                      </a:r>
                      <a:endParaRPr lang="zh-CN" altLang="en-US" sz="1800"/>
                    </a:p>
                  </a:txBody>
                  <a:tcPr marL="0" marR="0" marT="0" marB="0" anchor="ctr" anchorCtr="0"/>
                </a:tc>
                <a:tc>
                  <a:txBody>
                    <a:bodyPr/>
                    <a:p>
                      <a:pPr algn="l"/>
                      <a:r>
                        <a:rPr lang="zh-CN" altLang="en-US" sz="1800"/>
                        <a:t>确立国家高程基准、潮汐预报</a:t>
                      </a:r>
                      <a:endParaRPr lang="zh-CN" altLang="en-US" sz="1800"/>
                    </a:p>
                  </a:txBody>
                  <a:tcPr marL="0" marR="0" marT="0" marB="0" anchor="ctr" anchorCtr="0"/>
                </a:tc>
                <a:tc>
                  <a:txBody>
                    <a:bodyPr/>
                    <a:p>
                      <a:pPr algn="l"/>
                      <a:r>
                        <a:rPr lang="zh-CN" altLang="en-US" sz="1800"/>
                        <a:t>高 </a:t>
                      </a:r>
                      <a:r>
                        <a:rPr lang="en-US" altLang="zh-CN" sz="1800"/>
                        <a:t>(</a:t>
                      </a:r>
                      <a:r>
                        <a:rPr lang="zh-CN" altLang="en-US" sz="1800"/>
                        <a:t>需长期连续记录</a:t>
                      </a:r>
                      <a:r>
                        <a:rPr lang="en-US" altLang="zh-CN" sz="1800"/>
                        <a:t>)</a:t>
                      </a:r>
                      <a:endParaRPr lang="en-US" altLang="zh-CN" sz="1800"/>
                    </a:p>
                  </a:txBody>
                  <a:tcPr marL="0" marR="0" marT="0" marB="0" anchor="ctr" anchorCtr="0"/>
                </a:tc>
              </a:tr>
              <a:tr h="974090">
                <a:tc>
                  <a:txBody>
                    <a:bodyPr/>
                    <a:p>
                      <a:pPr algn="l"/>
                      <a:r>
                        <a:rPr lang="zh-CN" altLang="en-US" sz="1800"/>
                        <a:t>多普勒点</a:t>
                      </a:r>
                      <a:endParaRPr lang="zh-CN" altLang="en-US" sz="1800"/>
                    </a:p>
                  </a:txBody>
                  <a:tcPr marL="0" marR="0" marT="0" marB="0" anchor="ctr" anchorCtr="0"/>
                </a:tc>
                <a:tc>
                  <a:txBody>
                    <a:bodyPr/>
                    <a:p>
                      <a:pPr algn="l"/>
                      <a:r>
                        <a:rPr lang="zh-CN" altLang="en-US" sz="1800"/>
                        <a:t>空间定位</a:t>
                      </a:r>
                      <a:endParaRPr lang="zh-CN" altLang="en-US" sz="1800"/>
                    </a:p>
                  </a:txBody>
                  <a:tcPr marL="0" marR="0" marT="0" marB="0" anchor="ctr" anchorCtr="0"/>
                </a:tc>
                <a:tc>
                  <a:txBody>
                    <a:bodyPr/>
                    <a:p>
                      <a:pPr algn="l"/>
                      <a:r>
                        <a:rPr lang="zh-CN" altLang="en-US" sz="1800"/>
                        <a:t>卫星多普勒观测（确定三维坐标）</a:t>
                      </a:r>
                      <a:endParaRPr lang="zh-CN" altLang="en-US" sz="1800"/>
                    </a:p>
                  </a:txBody>
                  <a:tcPr marL="0" marR="0" marT="0" marB="0" anchor="ctr" anchorCtr="0"/>
                </a:tc>
                <a:tc>
                  <a:txBody>
                    <a:bodyPr/>
                    <a:p>
                      <a:pPr algn="l"/>
                      <a:r>
                        <a:rPr lang="zh-CN" altLang="en-US" sz="1800"/>
                        <a:t>大地控制网建立、卫星定轨</a:t>
                      </a:r>
                      <a:endParaRPr lang="zh-CN" altLang="en-US" sz="1800"/>
                    </a:p>
                  </a:txBody>
                  <a:tcPr marL="0" marR="0" marT="0" marB="0" anchor="ctr" anchorCtr="0"/>
                </a:tc>
                <a:tc>
                  <a:txBody>
                    <a:bodyPr/>
                    <a:p>
                      <a:pPr algn="l"/>
                      <a:r>
                        <a:rPr lang="zh-CN" altLang="en-US" sz="1800"/>
                        <a:t>中</a:t>
                      </a:r>
                      <a:r>
                        <a:rPr lang="en-US" altLang="zh-CN" sz="1800"/>
                        <a:t>/</a:t>
                      </a:r>
                      <a:r>
                        <a:rPr lang="zh-CN" altLang="en-US" sz="1800"/>
                        <a:t>高 </a:t>
                      </a:r>
                      <a:r>
                        <a:rPr lang="en-US" altLang="zh-CN" sz="1800"/>
                        <a:t>(</a:t>
                      </a:r>
                      <a:r>
                        <a:rPr lang="zh-CN" altLang="en-US" sz="1800"/>
                        <a:t>视项目而定</a:t>
                      </a:r>
                      <a:r>
                        <a:rPr lang="en-US" altLang="zh-CN" sz="1800"/>
                        <a:t>)</a:t>
                      </a:r>
                      <a:endParaRPr lang="en-US" altLang="zh-CN" sz="1800"/>
                    </a:p>
                  </a:txBody>
                  <a:tcPr marL="0" marR="0" marT="0" marB="0" anchor="ctr" anchorCtr="0"/>
                </a:tc>
              </a:tr>
              <a:tr h="973455">
                <a:tc>
                  <a:txBody>
                    <a:bodyPr/>
                    <a:p>
                      <a:pPr algn="l"/>
                      <a:r>
                        <a:rPr lang="zh-CN" altLang="en-US" sz="1800"/>
                        <a:t>海岛点</a:t>
                      </a:r>
                      <a:endParaRPr lang="zh-CN" altLang="en-US" sz="1800"/>
                    </a:p>
                  </a:txBody>
                  <a:tcPr marL="0" marR="0" marT="0" marB="0" anchor="ctr" anchorCtr="0"/>
                </a:tc>
                <a:tc>
                  <a:txBody>
                    <a:bodyPr/>
                    <a:p>
                      <a:pPr algn="l"/>
                      <a:r>
                        <a:rPr lang="zh-CN" altLang="en-US" sz="1800"/>
                        <a:t>疆域界定</a:t>
                      </a:r>
                      <a:endParaRPr lang="zh-CN" altLang="en-US" sz="1800"/>
                    </a:p>
                  </a:txBody>
                  <a:tcPr marL="0" marR="0" marT="0" marB="0" anchor="ctr" anchorCtr="0"/>
                </a:tc>
                <a:tc>
                  <a:txBody>
                    <a:bodyPr/>
                    <a:p>
                      <a:pPr algn="l"/>
                      <a:r>
                        <a:rPr lang="zh-CN" altLang="en-US" sz="1800"/>
                        <a:t>卫星定位、海岛测绘</a:t>
                      </a:r>
                      <a:endParaRPr lang="zh-CN" altLang="en-US" sz="1800"/>
                    </a:p>
                  </a:txBody>
                  <a:tcPr marL="0" marR="0" marT="0" marB="0" anchor="ctr" anchorCtr="0"/>
                </a:tc>
                <a:tc>
                  <a:txBody>
                    <a:bodyPr/>
                    <a:p>
                      <a:pPr algn="l"/>
                      <a:r>
                        <a:rPr lang="zh-CN" altLang="en-US" sz="1800"/>
                        <a:t>海洋权益、海图绘制、岛礁建设</a:t>
                      </a:r>
                      <a:endParaRPr lang="zh-CN" altLang="en-US" sz="1800"/>
                    </a:p>
                  </a:txBody>
                  <a:tcPr marL="0" marR="0" marT="0" marB="0" anchor="ctr" anchorCtr="0"/>
                </a:tc>
                <a:tc>
                  <a:txBody>
                    <a:bodyPr/>
                    <a:p>
                      <a:pPr algn="l"/>
                      <a:r>
                        <a:rPr lang="zh-CN" altLang="en-US" sz="1800"/>
                        <a:t>中 </a:t>
                      </a:r>
                      <a:r>
                        <a:rPr lang="en-US" altLang="zh-CN" sz="1800"/>
                        <a:t>(</a:t>
                      </a:r>
                      <a:r>
                        <a:rPr lang="zh-CN" altLang="en-US" sz="1800"/>
                        <a:t>受海岛地质影响</a:t>
                      </a:r>
                      <a:r>
                        <a:rPr lang="en-US" altLang="zh-CN" sz="1800"/>
                        <a:t>)</a:t>
                      </a:r>
                      <a:endParaRPr lang="en-US" altLang="zh-CN" sz="1800"/>
                    </a:p>
                  </a:txBody>
                  <a:tcPr marL="0" marR="0" marT="0" marB="0" anchor="ctr" anchorCtr="0"/>
                </a:tc>
              </a:tr>
              <a:tr h="973455">
                <a:tc>
                  <a:txBody>
                    <a:bodyPr/>
                    <a:p>
                      <a:pPr algn="l"/>
                      <a:r>
                        <a:rPr lang="zh-CN" altLang="en-US" sz="1800"/>
                        <a:t>形变点</a:t>
                      </a:r>
                      <a:endParaRPr lang="zh-CN" altLang="en-US" sz="1800"/>
                    </a:p>
                  </a:txBody>
                  <a:tcPr marL="0" marR="0" marT="0" marB="0" anchor="ctr" anchorCtr="0"/>
                </a:tc>
                <a:tc>
                  <a:txBody>
                    <a:bodyPr/>
                    <a:p>
                      <a:pPr algn="l"/>
                      <a:r>
                        <a:rPr lang="zh-CN" altLang="en-US" sz="1800"/>
                        <a:t>监测变化</a:t>
                      </a:r>
                      <a:endParaRPr lang="zh-CN" altLang="en-US" sz="1800"/>
                    </a:p>
                  </a:txBody>
                  <a:tcPr marL="0" marR="0" marT="0" marB="0" anchor="ctr" anchorCtr="0"/>
                </a:tc>
                <a:tc>
                  <a:txBody>
                    <a:bodyPr/>
                    <a:p>
                      <a:pPr algn="l"/>
                      <a:r>
                        <a:rPr lang="zh-CN" altLang="en-US" sz="1800"/>
                        <a:t>高精度复测（</a:t>
                      </a:r>
                      <a:r>
                        <a:rPr lang="en-US" altLang="zh-CN" sz="1800"/>
                        <a:t>GPS</a:t>
                      </a:r>
                      <a:r>
                        <a:rPr lang="zh-CN" altLang="en-US" sz="1800"/>
                        <a:t>、水准、</a:t>
                      </a:r>
                      <a:r>
                        <a:rPr lang="en-US" altLang="zh-CN" sz="1800"/>
                        <a:t>InSAR</a:t>
                      </a:r>
                      <a:r>
                        <a:rPr lang="zh-CN" altLang="en-US" sz="1800"/>
                        <a:t>）</a:t>
                      </a:r>
                      <a:endParaRPr lang="zh-CN" altLang="en-US" sz="1800"/>
                    </a:p>
                  </a:txBody>
                  <a:tcPr marL="0" marR="0" marT="0" marB="0" anchor="ctr" anchorCtr="0"/>
                </a:tc>
                <a:tc>
                  <a:txBody>
                    <a:bodyPr/>
                    <a:p>
                      <a:pPr algn="l"/>
                      <a:r>
                        <a:rPr lang="zh-CN" altLang="en-US" sz="1800"/>
                        <a:t>地震监测、断层活动分析、大坝安全</a:t>
                      </a:r>
                      <a:endParaRPr lang="zh-CN" altLang="en-US" sz="1800"/>
                    </a:p>
                  </a:txBody>
                  <a:tcPr marL="0" marR="0" marT="0" marB="0" anchor="ctr" anchorCtr="0"/>
                </a:tc>
                <a:tc>
                  <a:txBody>
                    <a:bodyPr/>
                    <a:p>
                      <a:pPr algn="l"/>
                      <a:r>
                        <a:rPr lang="zh-CN" altLang="en-US" sz="1800"/>
                        <a:t>动态 </a:t>
                      </a:r>
                      <a:r>
                        <a:rPr lang="en-US" altLang="zh-CN" sz="1800"/>
                        <a:t>(</a:t>
                      </a:r>
                      <a:r>
                        <a:rPr lang="zh-CN" altLang="en-US" sz="1800"/>
                        <a:t>本身就在移动</a:t>
                      </a:r>
                      <a:r>
                        <a:rPr lang="en-US" altLang="zh-CN" sz="1800"/>
                        <a:t>)</a:t>
                      </a:r>
                      <a:endParaRPr lang="en-US" altLang="zh-CN" sz="1800"/>
                    </a:p>
                  </a:txBody>
                  <a:tcPr marL="0" marR="0" marT="0" marB="0" anchor="ctr" anchorCtr="0"/>
                </a:tc>
              </a:tr>
            </a:tbl>
          </a:graphicData>
        </a:graphic>
      </p:graphicFrame>
    </p:spTree>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362233D7-8BDB-474D-9402-993CC64A1FB0}"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21507" name="Rectangle 2"/>
          <p:cNvSpPr>
            <a:spLocks noGrp="1" noChangeArrowheads="1"/>
          </p:cNvSpPr>
          <p:nvPr>
            <p:ph type="body" idx="4294967295"/>
          </p:nvPr>
        </p:nvSpPr>
        <p:spPr>
          <a:xfrm>
            <a:off x="634365" y="1102995"/>
            <a:ext cx="10229850" cy="5182870"/>
          </a:xfrm>
          <a:prstGeom prst="rect">
            <a:avLst/>
          </a:prstGeom>
        </p:spPr>
        <p:txBody>
          <a:bodyPr/>
          <a:lstStyle/>
          <a:p>
            <a:pPr marL="363855" indent="-363855" eaLnBrk="1" hangingPunct="1">
              <a:lnSpc>
                <a:spcPct val="110000"/>
              </a:lnSpc>
              <a:spcBef>
                <a:spcPct val="0"/>
              </a:spcBef>
            </a:pPr>
            <a:r>
              <a:rPr lang="zh-CN" altLang="en-US" dirty="0">
                <a:ea typeface="宋体" panose="02010600030101010101" pitchFamily="2" charset="-122"/>
              </a:rPr>
              <a:t>垂直基准</a:t>
            </a:r>
            <a:endParaRPr lang="en-US" altLang="zh-CN" dirty="0">
              <a:ea typeface="宋体" panose="02010600030101010101" pitchFamily="2" charset="-122"/>
            </a:endParaRPr>
          </a:p>
          <a:p>
            <a:pPr lvl="1" eaLnBrk="1" hangingPunct="1"/>
            <a:r>
              <a:rPr lang="zh-CN" altLang="zh-CN" dirty="0">
                <a:latin typeface="Arial" panose="020B0604020202020204" pitchFamily="34" charset="0"/>
              </a:rPr>
              <a:t>垂直基准作为海洋测绘基准的分支体系</a:t>
            </a:r>
            <a:r>
              <a:rPr lang="en-US" altLang="zh-CN" dirty="0">
                <a:latin typeface="Arial" panose="020B0604020202020204" pitchFamily="34" charset="0"/>
              </a:rPr>
              <a:t>, </a:t>
            </a:r>
            <a:r>
              <a:rPr lang="zh-CN" altLang="zh-CN" dirty="0">
                <a:latin typeface="Arial" panose="020B0604020202020204" pitchFamily="34" charset="0"/>
              </a:rPr>
              <a:t>在现代海洋测绘基准建设中具有突出的地位</a:t>
            </a:r>
            <a:r>
              <a:rPr lang="en-US" altLang="zh-CN" dirty="0">
                <a:latin typeface="Arial" panose="020B0604020202020204" pitchFamily="34" charset="0"/>
              </a:rPr>
              <a:t>, </a:t>
            </a:r>
            <a:r>
              <a:rPr lang="zh-CN" altLang="zh-CN" dirty="0">
                <a:latin typeface="Arial" panose="020B0604020202020204" pitchFamily="34" charset="0"/>
              </a:rPr>
              <a:t>与</a:t>
            </a:r>
            <a:r>
              <a:rPr lang="zh-CN" altLang="zh-CN" u="sng" dirty="0">
                <a:solidFill>
                  <a:schemeClr val="accent6"/>
                </a:solidFill>
                <a:latin typeface="Arial" panose="020B0604020202020204" pitchFamily="34" charset="0"/>
              </a:rPr>
              <a:t>陆地垂直基准</a:t>
            </a:r>
            <a:r>
              <a:rPr lang="en-US" altLang="zh-CN" u="sng" dirty="0">
                <a:solidFill>
                  <a:schemeClr val="accent6"/>
                </a:solidFill>
                <a:latin typeface="Arial" panose="020B0604020202020204" pitchFamily="34" charset="0"/>
              </a:rPr>
              <a:t>---</a:t>
            </a:r>
            <a:r>
              <a:rPr lang="zh-CN" altLang="zh-CN" u="sng" dirty="0">
                <a:solidFill>
                  <a:schemeClr val="accent6"/>
                </a:solidFill>
                <a:latin typeface="Arial" panose="020B0604020202020204" pitchFamily="34" charset="0"/>
              </a:rPr>
              <a:t>高程基准</a:t>
            </a:r>
            <a:r>
              <a:rPr lang="zh-CN" altLang="zh-CN" dirty="0">
                <a:latin typeface="Arial" panose="020B0604020202020204" pitchFamily="34" charset="0"/>
              </a:rPr>
              <a:t>相比</a:t>
            </a:r>
            <a:r>
              <a:rPr lang="en-US" altLang="zh-CN" dirty="0">
                <a:latin typeface="Arial" panose="020B0604020202020204" pitchFamily="34" charset="0"/>
              </a:rPr>
              <a:t>, </a:t>
            </a:r>
            <a:r>
              <a:rPr lang="zh-CN" altLang="zh-CN" dirty="0">
                <a:latin typeface="Arial" panose="020B0604020202020204" pitchFamily="34" charset="0"/>
              </a:rPr>
              <a:t>具有更明显的特殊性以及概念和构建与维持方法的扩展性。</a:t>
            </a:r>
            <a:endParaRPr lang="en-US" altLang="zh-CN" dirty="0">
              <a:latin typeface="Arial" panose="020B0604020202020204" pitchFamily="34" charset="0"/>
            </a:endParaRPr>
          </a:p>
          <a:p>
            <a:pPr lvl="1" eaLnBrk="1" hangingPunct="1"/>
            <a:r>
              <a:rPr lang="zh-CN" altLang="zh-CN" dirty="0">
                <a:latin typeface="Arial" panose="020B0604020202020204" pitchFamily="34" charset="0"/>
              </a:rPr>
              <a:t>现代海洋测绘垂直基准体系整体架构的确定和发展</a:t>
            </a:r>
            <a:r>
              <a:rPr lang="en-US" altLang="zh-CN" dirty="0">
                <a:latin typeface="Arial" panose="020B0604020202020204" pitchFamily="34" charset="0"/>
              </a:rPr>
              <a:t>, </a:t>
            </a:r>
            <a:r>
              <a:rPr lang="zh-CN" altLang="zh-CN" dirty="0">
                <a:latin typeface="Arial" panose="020B0604020202020204" pitchFamily="34" charset="0"/>
              </a:rPr>
              <a:t>对海道测量作业和海洋空间信息产品生产具有越来越重要的理论和现实意义。</a:t>
            </a:r>
            <a:endParaRPr lang="en-US" altLang="zh-CN" dirty="0">
              <a:latin typeface="Arial" panose="020B0604020202020204" pitchFamily="34" charset="0"/>
            </a:endParaRPr>
          </a:p>
        </p:txBody>
      </p:sp>
      <p:sp>
        <p:nvSpPr>
          <p:cNvPr id="21508" name="Rectangle 4"/>
          <p:cNvSpPr>
            <a:spLocks noGrp="1" noChangeArrowheads="1"/>
          </p:cNvSpPr>
          <p:nvPr>
            <p:ph type="title"/>
          </p:nvPr>
        </p:nvSpPr>
        <p:spPr>
          <a:xfrm>
            <a:off x="1524000" y="139700"/>
            <a:ext cx="9144000" cy="593725"/>
          </a:xfrm>
        </p:spPr>
        <p:txBody>
          <a:bodyPr/>
          <a:lstStyle/>
          <a:p>
            <a:pPr eaLnBrk="1" hangingPunct="1"/>
            <a:r>
              <a:rPr lang="en-US" altLang="zh-CN" dirty="0"/>
              <a:t>§4.2 </a:t>
            </a:r>
            <a:r>
              <a:rPr lang="zh-CN" altLang="en-US" dirty="0"/>
              <a:t>海洋数据基准</a:t>
            </a:r>
            <a:endParaRPr lang="zh-CN" altLang="en-US" dirty="0"/>
          </a:p>
        </p:txBody>
      </p:sp>
      <p:sp>
        <p:nvSpPr>
          <p:cNvPr id="2" name="文本框 1"/>
          <p:cNvSpPr txBox="1"/>
          <p:nvPr/>
        </p:nvSpPr>
        <p:spPr>
          <a:xfrm>
            <a:off x="1415415" y="4725035"/>
            <a:ext cx="9979660" cy="1076325"/>
          </a:xfrm>
          <a:prstGeom prst="rect">
            <a:avLst/>
          </a:prstGeom>
        </p:spPr>
        <p:txBody>
          <a:bodyPr wrap="square">
            <a:spAutoFit/>
          </a:bodyPr>
          <a:p>
            <a:pPr marL="0" indent="0" algn="l"/>
            <a:r>
              <a:rPr lang="zh-CN" altLang="en-US" sz="1600" b="0" i="0">
                <a:solidFill>
                  <a:srgbClr val="060A26"/>
                </a:solidFill>
                <a:latin typeface="微软雅黑" panose="020B0503020204020204" charset="-122"/>
                <a:ea typeface="微软雅黑" panose="020B0503020204020204" charset="-122"/>
                <a:cs typeface="微软雅黑" panose="020B0503020204020204" charset="-122"/>
              </a:rPr>
              <a:t>海洋上的深度称为“水深”。它的起算面（深度基准面）通常不是平均海平面，而是理论最低潮面。</a:t>
            </a:r>
            <a:endParaRPr lang="zh-CN" altLang="en-US" sz="1600" b="0" i="0">
              <a:solidFill>
                <a:srgbClr val="060A26"/>
              </a:solidFill>
              <a:latin typeface="微软雅黑" panose="020B0503020204020204" charset="-122"/>
              <a:ea typeface="微软雅黑" panose="020B0503020204020204" charset="-122"/>
              <a:cs typeface="微软雅黑" panose="020B0503020204020204" charset="-122"/>
            </a:endParaRPr>
          </a:p>
          <a:p>
            <a:pPr marL="0" indent="0" algn="l"/>
            <a:endParaRPr lang="zh-CN" altLang="en-US" sz="1600" b="0" i="0">
              <a:solidFill>
                <a:srgbClr val="060A26"/>
              </a:solidFill>
              <a:latin typeface="微软雅黑" panose="020B0503020204020204" charset="-122"/>
              <a:ea typeface="微软雅黑" panose="020B0503020204020204" charset="-122"/>
              <a:cs typeface="微软雅黑" panose="020B0503020204020204" charset="-122"/>
            </a:endParaRPr>
          </a:p>
          <a:p>
            <a:pPr marL="0" indent="0" algn="l"/>
            <a:r>
              <a:rPr lang="zh-CN" altLang="en-US" sz="1600" b="0" i="0">
                <a:solidFill>
                  <a:srgbClr val="060A26"/>
                </a:solidFill>
                <a:latin typeface="微软雅黑" panose="020B0503020204020204" charset="-122"/>
                <a:ea typeface="微软雅黑" panose="020B0503020204020204" charset="-122"/>
                <a:cs typeface="微软雅黑" panose="020B0503020204020204" charset="-122"/>
              </a:rPr>
              <a:t>陆地上的高度通常称为“海拔”或“高程”。它的起算面是多年平均海平面。我国目前统一使用1985国家高程基准。它是以青岛验潮站1952年至1979年的验潮数据计算出的黄海平均海平面作为零点。</a:t>
            </a:r>
            <a:endParaRPr lang="zh-CN" altLang="en-US" sz="1600" b="0" i="0">
              <a:solidFill>
                <a:srgbClr val="060A26"/>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spd="med">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48A924F7-3EC9-4886-88FC-6139D566796E}"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34819" name="Rectangle 2"/>
          <p:cNvSpPr>
            <a:spLocks noGrp="1" noChangeArrowheads="1"/>
          </p:cNvSpPr>
          <p:nvPr>
            <p:ph type="body" idx="4294967295"/>
          </p:nvPr>
        </p:nvSpPr>
        <p:spPr>
          <a:xfrm>
            <a:off x="1692275" y="976630"/>
            <a:ext cx="8843645" cy="5184775"/>
          </a:xfrm>
          <a:prstGeom prst="rect">
            <a:avLst/>
          </a:prstGeom>
        </p:spPr>
        <p:txBody>
          <a:bodyPr/>
          <a:lstStyle/>
          <a:p>
            <a:pPr marL="363855" indent="-363855" eaLnBrk="1" hangingPunct="1">
              <a:lnSpc>
                <a:spcPct val="110000"/>
              </a:lnSpc>
              <a:spcBef>
                <a:spcPct val="0"/>
              </a:spcBef>
            </a:pPr>
            <a:r>
              <a:rPr lang="zh-CN" altLang="en-US" dirty="0">
                <a:ea typeface="宋体" panose="02010600030101010101" pitchFamily="2" charset="-122"/>
              </a:rPr>
              <a:t>海洋区域垂直基准在描述海洋空间信息中的作用</a:t>
            </a:r>
            <a:endParaRPr lang="en-US" altLang="zh-CN" dirty="0">
              <a:ea typeface="宋体" panose="02010600030101010101" pitchFamily="2" charset="-122"/>
            </a:endParaRPr>
          </a:p>
          <a:p>
            <a:pPr lvl="1" eaLnBrk="1" hangingPunct="1">
              <a:spcBef>
                <a:spcPct val="0"/>
              </a:spcBef>
              <a:spcAft>
                <a:spcPct val="0"/>
              </a:spcAft>
            </a:pPr>
            <a:r>
              <a:rPr lang="zh-CN" altLang="zh-CN" dirty="0">
                <a:latin typeface="Arial" panose="020B0604020202020204" pitchFamily="34" charset="0"/>
              </a:rPr>
              <a:t>为了表示</a:t>
            </a:r>
            <a:r>
              <a:rPr lang="zh-CN" altLang="zh-CN" u="sng" dirty="0">
                <a:solidFill>
                  <a:srgbClr val="FF0000"/>
                </a:solidFill>
                <a:latin typeface="Arial" panose="020B0604020202020204" pitchFamily="34" charset="0"/>
              </a:rPr>
              <a:t>灯塔等导航标志</a:t>
            </a:r>
            <a:r>
              <a:rPr lang="zh-CN" altLang="zh-CN" dirty="0">
                <a:latin typeface="Arial" panose="020B0604020202020204" pitchFamily="34" charset="0"/>
              </a:rPr>
              <a:t>的保守高度以及海上桥梁的净空高度</a:t>
            </a:r>
            <a:r>
              <a:rPr lang="en-US" altLang="zh-CN" dirty="0">
                <a:latin typeface="Arial" panose="020B0604020202020204" pitchFamily="34" charset="0"/>
              </a:rPr>
              <a:t>, </a:t>
            </a:r>
            <a:r>
              <a:rPr lang="zh-CN" altLang="zh-CN" dirty="0">
                <a:latin typeface="Arial" panose="020B0604020202020204" pitchFamily="34" charset="0"/>
              </a:rPr>
              <a:t>其</a:t>
            </a:r>
            <a:r>
              <a:rPr lang="zh-CN" altLang="zh-CN" u="sng" dirty="0">
                <a:solidFill>
                  <a:srgbClr val="FF0000"/>
                </a:solidFill>
                <a:latin typeface="Arial" panose="020B0604020202020204" pitchFamily="34" charset="0"/>
              </a:rPr>
              <a:t>高度信息的起算面为所在地点的平均大潮高潮面（</a:t>
            </a:r>
            <a:r>
              <a:rPr lang="zh-CN" altLang="zh-CN" sz="1600" i="1" u="sng" dirty="0">
                <a:solidFill>
                  <a:schemeClr val="tx2"/>
                </a:solidFill>
                <a:latin typeface="Arial" panose="020B0604020202020204" pitchFamily="34" charset="0"/>
              </a:rPr>
              <a:t>一定期间内各次大潮高潮水位之平均值</a:t>
            </a:r>
            <a:r>
              <a:rPr lang="zh-CN" altLang="zh-CN" u="sng" dirty="0">
                <a:solidFill>
                  <a:srgbClr val="FF0000"/>
                </a:solidFill>
                <a:latin typeface="Arial" panose="020B0604020202020204" pitchFamily="34" charset="0"/>
              </a:rPr>
              <a:t>）</a:t>
            </a:r>
            <a:r>
              <a:rPr lang="zh-CN" altLang="zh-CN" dirty="0">
                <a:latin typeface="Arial" panose="020B0604020202020204" pitchFamily="34" charset="0"/>
              </a:rPr>
              <a:t>。当以有关的测量技术测定了这些特征高程点到瞬时海面或国家高程基准的相对高度后</a:t>
            </a:r>
            <a:r>
              <a:rPr lang="en-US" altLang="zh-CN" dirty="0">
                <a:latin typeface="Arial" panose="020B0604020202020204" pitchFamily="34" charset="0"/>
              </a:rPr>
              <a:t>, </a:t>
            </a:r>
            <a:r>
              <a:rPr lang="zh-CN" altLang="zh-CN" dirty="0">
                <a:latin typeface="Arial" panose="020B0604020202020204" pitchFamily="34" charset="0"/>
              </a:rPr>
              <a:t>通过以平均海面为参考的瞬时海面水位改正或当地的海面地形改正后</a:t>
            </a:r>
            <a:r>
              <a:rPr lang="en-US" altLang="zh-CN" dirty="0">
                <a:latin typeface="Arial" panose="020B0604020202020204" pitchFamily="34" charset="0"/>
              </a:rPr>
              <a:t>, </a:t>
            </a:r>
            <a:r>
              <a:rPr lang="zh-CN" altLang="zh-CN" dirty="0">
                <a:latin typeface="Arial" panose="020B0604020202020204" pitchFamily="34" charset="0"/>
              </a:rPr>
              <a:t>借助平均大潮高潮面的数值计算实现其保守高度确定。</a:t>
            </a:r>
            <a:endParaRPr lang="en-US" altLang="zh-CN" dirty="0">
              <a:latin typeface="Arial" panose="020B0604020202020204" pitchFamily="34" charset="0"/>
            </a:endParaRPr>
          </a:p>
          <a:p>
            <a:pPr lvl="1" eaLnBrk="1" hangingPunct="1">
              <a:spcBef>
                <a:spcPct val="0"/>
              </a:spcBef>
              <a:spcAft>
                <a:spcPct val="0"/>
              </a:spcAft>
            </a:pPr>
            <a:endParaRPr lang="zh-CN" altLang="en-US" sz="2000" b="0" i="1" u="sng" dirty="0"/>
          </a:p>
          <a:p>
            <a:pPr lvl="1" eaLnBrk="1" hangingPunct="1">
              <a:spcBef>
                <a:spcPct val="0"/>
              </a:spcBef>
              <a:spcAft>
                <a:spcPct val="0"/>
              </a:spcAft>
            </a:pPr>
            <a:r>
              <a:rPr lang="zh-CN" altLang="en-US" sz="2000" b="0" i="1" u="sng" dirty="0"/>
              <a:t>实际的海岸线应该是高低潮间无数条海陆分界线的集合，它在空间上是一条带，而不是一条地理位置固定的线。</a:t>
            </a:r>
            <a:endParaRPr lang="zh-CN" altLang="en-US" sz="2000" b="0" i="1" dirty="0"/>
          </a:p>
          <a:p>
            <a:pPr lvl="1" eaLnBrk="1" hangingPunct="1">
              <a:spcBef>
                <a:spcPct val="0"/>
              </a:spcBef>
              <a:spcAft>
                <a:spcPct val="0"/>
              </a:spcAft>
            </a:pPr>
            <a:r>
              <a:rPr lang="zh-CN" altLang="en-US" sz="2000" b="0" i="1" u="sng" dirty="0">
                <a:latin typeface="Arial" panose="020B0604020202020204" pitchFamily="34" charset="0"/>
              </a:rPr>
              <a:t>潮间带，即 平均大潮高潮线 与平均大潮低潮线之间的潮汐作用带，一般宽数公里至十余公里。</a:t>
            </a:r>
            <a:endParaRPr lang="zh-CN" altLang="en-US" sz="2000" b="0" i="1" u="sng" dirty="0">
              <a:latin typeface="Arial" panose="020B0604020202020204" pitchFamily="34" charset="0"/>
            </a:endParaRPr>
          </a:p>
        </p:txBody>
      </p:sp>
      <p:sp>
        <p:nvSpPr>
          <p:cNvPr id="34820" name="Rectangle 17"/>
          <p:cNvSpPr>
            <a:spLocks noGrp="1" noChangeArrowheads="1"/>
          </p:cNvSpPr>
          <p:nvPr>
            <p:ph type="title"/>
          </p:nvPr>
        </p:nvSpPr>
        <p:spPr>
          <a:xfrm>
            <a:off x="1524000" y="139700"/>
            <a:ext cx="9144000" cy="593725"/>
          </a:xfrm>
        </p:spPr>
        <p:txBody>
          <a:bodyPr/>
          <a:lstStyle/>
          <a:p>
            <a:pPr eaLnBrk="1" hangingPunct="1"/>
            <a:r>
              <a:rPr lang="en-US" altLang="zh-CN" dirty="0"/>
              <a:t>§4.2 </a:t>
            </a:r>
            <a:r>
              <a:rPr lang="zh-CN" altLang="en-US" dirty="0"/>
              <a:t>海洋数据基准</a:t>
            </a:r>
            <a:endParaRPr lang="zh-CN" altLang="en-US" dirty="0"/>
          </a:p>
        </p:txBody>
      </p:sp>
    </p:spTree>
  </p:cSld>
  <p:clrMapOvr>
    <a:masterClrMapping/>
  </p:clrMapOvr>
  <p:transition spd="med">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C58F1E6C-C42E-4D8E-A33B-768569B20700}"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142338" name="AutoShape 2"/>
          <p:cNvSpPr>
            <a:spLocks noGrp="1" noChangeArrowheads="1"/>
          </p:cNvSpPr>
          <p:nvPr>
            <p:ph type="title"/>
          </p:nvPr>
        </p:nvSpPr>
        <p:spPr>
          <a:xfrm>
            <a:off x="3430588" y="2060575"/>
            <a:ext cx="6022998" cy="2447925"/>
          </a:xfrm>
          <a:prstGeom prst="horizontalScroll">
            <a:avLst>
              <a:gd name="adj" fmla="val 12500"/>
            </a:avLst>
          </a:prstGeom>
          <a:solidFill>
            <a:srgbClr val="FF99CC"/>
          </a:solidFill>
          <a:ln w="19050">
            <a:solidFill>
              <a:schemeClr val="tx1"/>
            </a:solidFill>
            <a:round/>
            <a:headEnd type="none" w="med" len="med"/>
            <a:tailEnd type="none" w="med" len="med"/>
          </a:ln>
        </p:spPr>
        <p:txBody>
          <a:bodyPr tIns="0" bIns="0"/>
          <a:lstStyle/>
          <a:p>
            <a:pPr marL="952500" indent="-952500" eaLnBrk="1" hangingPunct="1"/>
            <a:r>
              <a:rPr lang="en-US" altLang="zh-CN" sz="2800" dirty="0">
                <a:solidFill>
                  <a:srgbClr val="3333CC"/>
                </a:solidFill>
                <a:ea typeface="黑体" panose="02010609060101010101" pitchFamily="2" charset="-122"/>
                <a:cs typeface="Times New Roman" panose="02020603050405020304" pitchFamily="18" charset="0"/>
              </a:rPr>
              <a:t>§4.3 </a:t>
            </a:r>
            <a:r>
              <a:rPr lang="zh-CN" altLang="en-US" sz="2800" dirty="0">
                <a:solidFill>
                  <a:srgbClr val="3333CC"/>
                </a:solidFill>
                <a:ea typeface="黑体" panose="02010609060101010101" pitchFamily="2" charset="-122"/>
                <a:cs typeface="Times New Roman" panose="02020603050405020304" pitchFamily="18" charset="0"/>
              </a:rPr>
              <a:t>海洋数据获取手段</a:t>
            </a:r>
            <a:endParaRPr lang="zh-CN" altLang="en-US" sz="2800" dirty="0">
              <a:solidFill>
                <a:srgbClr val="3333CC"/>
              </a:solidFill>
              <a:ea typeface="黑体" panose="02010609060101010101" pitchFamily="2" charset="-122"/>
              <a:cs typeface="Times New Roman" panose="02020603050405020304" pitchFamily="18" charset="0"/>
            </a:endParaRPr>
          </a:p>
        </p:txBody>
      </p:sp>
      <p:sp>
        <p:nvSpPr>
          <p:cNvPr id="37892" name="Rectangle 3"/>
          <p:cNvSpPr>
            <a:spLocks noChangeArrowheads="1"/>
          </p:cNvSpPr>
          <p:nvPr/>
        </p:nvSpPr>
        <p:spPr bwMode="white">
          <a:xfrm>
            <a:off x="1524000" y="139700"/>
            <a:ext cx="9144000"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algn="ctr" eaLnBrk="1" hangingPunct="1">
              <a:spcBef>
                <a:spcPct val="0"/>
              </a:spcBef>
              <a:spcAft>
                <a:spcPct val="0"/>
              </a:spcAft>
              <a:buClrTx/>
              <a:buFontTx/>
              <a:buNone/>
            </a:pPr>
            <a:r>
              <a:rPr lang="zh-CN" altLang="en-US" sz="3200" dirty="0">
                <a:solidFill>
                  <a:schemeClr val="bg1"/>
                </a:solidFill>
                <a:latin typeface="Tahoma" panose="020B0604030504040204" pitchFamily="34" charset="0"/>
              </a:rPr>
              <a:t>第</a:t>
            </a:r>
            <a:r>
              <a:rPr lang="en-US" altLang="zh-CN" sz="3200" dirty="0">
                <a:solidFill>
                  <a:schemeClr val="bg1"/>
                </a:solidFill>
                <a:latin typeface="Tahoma" panose="020B0604030504040204" pitchFamily="34" charset="0"/>
              </a:rPr>
              <a:t>4</a:t>
            </a:r>
            <a:r>
              <a:rPr lang="zh-CN" altLang="en-US" sz="3200" dirty="0">
                <a:solidFill>
                  <a:schemeClr val="bg1"/>
                </a:solidFill>
                <a:latin typeface="Tahoma" panose="020B0604030504040204" pitchFamily="34" charset="0"/>
              </a:rPr>
              <a:t>讲 海洋数据的获取</a:t>
            </a:r>
            <a:endParaRPr lang="zh-CN" altLang="en-US" sz="3200" dirty="0">
              <a:solidFill>
                <a:schemeClr val="bg1"/>
              </a:solidFill>
              <a:latin typeface="宋体" panose="02010600030101010101" pitchFamily="2" charset="-122"/>
            </a:endParaRPr>
          </a:p>
        </p:txBody>
      </p:sp>
      <p:sp>
        <p:nvSpPr>
          <p:cNvPr id="5" name="AutoShape 4">
            <a:hlinkClick r:id="rId1" action="ppaction://hlinksldjump" highlightClick="1"/>
          </p:cNvPr>
          <p:cNvSpPr>
            <a:spLocks noChangeArrowheads="1"/>
          </p:cNvSpPr>
          <p:nvPr/>
        </p:nvSpPr>
        <p:spPr bwMode="auto">
          <a:xfrm>
            <a:off x="8975725" y="5931218"/>
            <a:ext cx="306069" cy="323214"/>
          </a:xfrm>
          <a:prstGeom prst="actionButtonBackPrevious">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0" anchor="ctr">
            <a:spAutoFit/>
          </a:bodyPr>
          <a:lstStyle/>
          <a:p>
            <a:endParaRPr lang="zh-CN" alt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2338"/>
                                        </p:tgtEl>
                                        <p:attrNameLst>
                                          <p:attrName>style.visibility</p:attrName>
                                        </p:attrNameLst>
                                      </p:cBhvr>
                                      <p:to>
                                        <p:strVal val="visible"/>
                                      </p:to>
                                    </p:set>
                                    <p:animEffect transition="in" filter="wipe(left)">
                                      <p:cBhvr>
                                        <p:cTn id="7" dur="1000"/>
                                        <p:tgtEl>
                                          <p:spTgt spid="142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8"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728A52AD-D31F-41C5-891C-AFEA97F3922C}"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38915" name="Rectangle 2"/>
          <p:cNvSpPr>
            <a:spLocks noGrp="1" noChangeArrowheads="1"/>
          </p:cNvSpPr>
          <p:nvPr>
            <p:ph type="body" idx="4294967295"/>
          </p:nvPr>
        </p:nvSpPr>
        <p:spPr>
          <a:xfrm>
            <a:off x="2057400" y="1125538"/>
            <a:ext cx="8153400" cy="5183187"/>
          </a:xfrm>
          <a:prstGeom prst="rect">
            <a:avLst/>
          </a:prstGeom>
        </p:spPr>
        <p:txBody>
          <a:bodyPr/>
          <a:lstStyle/>
          <a:p>
            <a:pPr eaLnBrk="1" hangingPunct="1"/>
            <a:r>
              <a:rPr lang="zh-CN" altLang="en-US" dirty="0">
                <a:ea typeface="宋体" panose="02010600030101010101" pitchFamily="2" charset="-122"/>
              </a:rPr>
              <a:t>海洋数据获取</a:t>
            </a:r>
            <a:endParaRPr lang="en-US" altLang="zh-CN" dirty="0">
              <a:ea typeface="宋体" panose="02010600030101010101" pitchFamily="2" charset="-122"/>
            </a:endParaRPr>
          </a:p>
          <a:p>
            <a:pPr lvl="1" eaLnBrk="1" hangingPunct="1"/>
            <a:r>
              <a:rPr lang="zh-CN" altLang="zh-CN" dirty="0">
                <a:latin typeface="Arial" panose="020B0604020202020204" pitchFamily="34" charset="0"/>
              </a:rPr>
              <a:t>海洋观测实质上就是对</a:t>
            </a:r>
            <a:r>
              <a:rPr lang="zh-CN" altLang="zh-CN" u="sng" dirty="0">
                <a:solidFill>
                  <a:srgbClr val="FF0000"/>
                </a:solidFill>
                <a:latin typeface="Arial" panose="020B0604020202020204" pitchFamily="34" charset="0"/>
              </a:rPr>
              <a:t>发生在海洋中的各种过程以一定的时空间隔进行数据采样</a:t>
            </a:r>
            <a:r>
              <a:rPr lang="zh-CN" altLang="zh-CN" dirty="0">
                <a:latin typeface="Arial" panose="020B0604020202020204" pitchFamily="34" charset="0"/>
              </a:rPr>
              <a:t>，以便获取对海洋原过程进行解析、统计或其它描述性研究的基础数据，是研究海洋、开发海洋、利用海洋的基础。</a:t>
            </a:r>
            <a:endParaRPr lang="en-US" altLang="zh-CN" dirty="0">
              <a:latin typeface="Arial" panose="020B0604020202020204" pitchFamily="34" charset="0"/>
            </a:endParaRPr>
          </a:p>
          <a:p>
            <a:pPr lvl="1" eaLnBrk="1" hangingPunct="1"/>
            <a:r>
              <a:rPr lang="zh-CN" altLang="zh-CN" dirty="0">
                <a:latin typeface="Arial" panose="020B0604020202020204" pitchFamily="34" charset="0"/>
              </a:rPr>
              <a:t>海洋观测技术包括</a:t>
            </a:r>
            <a:r>
              <a:rPr lang="zh-CN" altLang="zh-CN" u="sng" dirty="0">
                <a:solidFill>
                  <a:srgbClr val="FF0000"/>
                </a:solidFill>
                <a:latin typeface="Arial" panose="020B0604020202020204" pitchFamily="34" charset="0"/>
              </a:rPr>
              <a:t>海洋遥感遥测、自动观测和声探测技术，以卫星、飞机、船舶、潜器、浮标、平台及岸站为观测平台</a:t>
            </a:r>
            <a:r>
              <a:rPr lang="zh-CN" altLang="zh-CN" dirty="0">
                <a:latin typeface="Arial" panose="020B0604020202020204" pitchFamily="34" charset="0"/>
              </a:rPr>
              <a:t>，实现了对海洋的立体观测和对海洋资源的快速探查</a:t>
            </a:r>
            <a:r>
              <a:rPr lang="zh-CN" altLang="en-US" dirty="0">
                <a:latin typeface="Arial" panose="020B0604020202020204" pitchFamily="34" charset="0"/>
              </a:rPr>
              <a:t>。</a:t>
            </a:r>
            <a:endParaRPr lang="zh-CN" altLang="en-US" dirty="0">
              <a:latin typeface="Arial" panose="020B0604020202020204" pitchFamily="34" charset="0"/>
            </a:endParaRPr>
          </a:p>
        </p:txBody>
      </p:sp>
      <p:sp>
        <p:nvSpPr>
          <p:cNvPr id="38916" name="Rectangle 4"/>
          <p:cNvSpPr>
            <a:spLocks noGrp="1" noChangeArrowheads="1"/>
          </p:cNvSpPr>
          <p:nvPr>
            <p:ph type="title"/>
          </p:nvPr>
        </p:nvSpPr>
        <p:spPr>
          <a:xfrm>
            <a:off x="1524000" y="139700"/>
            <a:ext cx="9144000" cy="593725"/>
          </a:xfrm>
        </p:spPr>
        <p:txBody>
          <a:bodyPr/>
          <a:lstStyle/>
          <a:p>
            <a:pPr eaLnBrk="1" hangingPunct="1"/>
            <a:r>
              <a:rPr lang="en-US" altLang="zh-CN" dirty="0"/>
              <a:t>§4.3 </a:t>
            </a:r>
            <a:r>
              <a:rPr lang="zh-CN" altLang="en-US" dirty="0"/>
              <a:t>海洋数据获取手段</a:t>
            </a:r>
            <a:endParaRPr lang="zh-CN" altLang="en-US" dirty="0"/>
          </a:p>
        </p:txBody>
      </p:sp>
    </p:spTree>
  </p:cSld>
  <p:clrMapOvr>
    <a:masterClrMapping/>
  </p:clrMapOvr>
  <p:transition spd="med">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8965D906-E8C1-46DA-BD4C-CD248576E9C1}"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40963" name="Rectangle 2"/>
          <p:cNvSpPr>
            <a:spLocks noGrp="1" noChangeArrowheads="1"/>
          </p:cNvSpPr>
          <p:nvPr>
            <p:ph type="body" idx="4294967295"/>
          </p:nvPr>
        </p:nvSpPr>
        <p:spPr>
          <a:xfrm>
            <a:off x="2057400" y="1125538"/>
            <a:ext cx="8153400" cy="5183187"/>
          </a:xfrm>
          <a:prstGeom prst="rect">
            <a:avLst/>
          </a:prstGeom>
        </p:spPr>
        <p:txBody>
          <a:bodyPr/>
          <a:lstStyle/>
          <a:p>
            <a:pPr eaLnBrk="1" hangingPunct="1"/>
            <a:r>
              <a:rPr lang="zh-CN" altLang="en-US" dirty="0">
                <a:ea typeface="宋体" panose="02010600030101010101" pitchFamily="2" charset="-122"/>
              </a:rPr>
              <a:t>海洋卫星遥感</a:t>
            </a:r>
            <a:endParaRPr lang="en-US" altLang="zh-CN" dirty="0">
              <a:ea typeface="宋体" panose="02010600030101010101" pitchFamily="2" charset="-122"/>
            </a:endParaRPr>
          </a:p>
          <a:p>
            <a:pPr lvl="1" eaLnBrk="1" hangingPunct="1"/>
            <a:r>
              <a:rPr lang="zh-CN" altLang="en-US" dirty="0">
                <a:solidFill>
                  <a:schemeClr val="accent1"/>
                </a:solidFill>
                <a:latin typeface="Verdana" panose="020B0604030504040204" pitchFamily="34" charset="0"/>
              </a:rPr>
              <a:t>雷达散射计</a:t>
            </a:r>
            <a:endParaRPr lang="en-US" altLang="zh-CN" dirty="0">
              <a:solidFill>
                <a:schemeClr val="accent1"/>
              </a:solidFill>
              <a:latin typeface="Verdana" panose="020B0604030504040204" pitchFamily="34" charset="0"/>
            </a:endParaRPr>
          </a:p>
          <a:p>
            <a:pPr lvl="1" eaLnBrk="1" hangingPunct="1"/>
            <a:r>
              <a:rPr lang="zh-CN" altLang="zh-CN" dirty="0">
                <a:latin typeface="Arial" panose="020B0604020202020204" pitchFamily="34" charset="0"/>
              </a:rPr>
              <a:t>雷达散射计是一种</a:t>
            </a:r>
            <a:r>
              <a:rPr lang="zh-CN" altLang="zh-CN" u="sng" dirty="0">
                <a:solidFill>
                  <a:srgbClr val="FF0000"/>
                </a:solidFill>
                <a:latin typeface="Arial" panose="020B0604020202020204" pitchFamily="34" charset="0"/>
              </a:rPr>
              <a:t>主动式斜视观测的微波装置</a:t>
            </a:r>
            <a:r>
              <a:rPr lang="zh-CN" altLang="zh-CN" dirty="0">
                <a:latin typeface="Arial" panose="020B0604020202020204" pitchFamily="34" charset="0"/>
              </a:rPr>
              <a:t>。利用</a:t>
            </a:r>
            <a:r>
              <a:rPr lang="zh-CN" altLang="zh-CN" dirty="0">
                <a:solidFill>
                  <a:schemeClr val="tx2"/>
                </a:solidFill>
                <a:latin typeface="Arial" panose="020B0604020202020204" pitchFamily="34" charset="0"/>
              </a:rPr>
              <a:t>特定频率的雷达波脉冲照射到粗糙海面后产生的</a:t>
            </a:r>
            <a:r>
              <a:rPr lang="zh-CN" altLang="en-US" dirty="0">
                <a:solidFill>
                  <a:schemeClr val="tx2"/>
                </a:solidFill>
                <a:latin typeface="Arial" panose="020B0604020202020204" pitchFamily="34" charset="0"/>
              </a:rPr>
              <a:t>布拉格</a:t>
            </a:r>
            <a:r>
              <a:rPr lang="zh-CN" altLang="zh-CN" u="sng" dirty="0">
                <a:solidFill>
                  <a:srgbClr val="FF0000"/>
                </a:solidFill>
                <a:latin typeface="Arial" panose="020B0604020202020204" pitchFamily="34" charset="0"/>
              </a:rPr>
              <a:t>后向散射回波信号，可以反演出海面风速、风向和风应力以及海面波浪场</a:t>
            </a:r>
            <a:r>
              <a:rPr lang="zh-CN" altLang="zh-CN" dirty="0">
                <a:latin typeface="Arial" panose="020B0604020202020204" pitchFamily="34" charset="0"/>
              </a:rPr>
              <a:t>。利用散射计测得的风浪场资料，为海况预报提供了丰富可靠的依据。积累的历史资料将为海岸和近海工程设计提供科学的设计标准。</a:t>
            </a:r>
            <a:endParaRPr lang="zh-CN" altLang="zh-CN" dirty="0">
              <a:latin typeface="Arial" panose="020B0604020202020204" pitchFamily="34" charset="0"/>
            </a:endParaRPr>
          </a:p>
          <a:p>
            <a:pPr lvl="1" eaLnBrk="1" hangingPunct="1"/>
            <a:endParaRPr lang="en-US" altLang="zh-CN" dirty="0">
              <a:latin typeface="Arial" panose="020B0604020202020204" pitchFamily="34" charset="0"/>
            </a:endParaRPr>
          </a:p>
        </p:txBody>
      </p:sp>
      <p:sp>
        <p:nvSpPr>
          <p:cNvPr id="40964" name="Rectangle 4"/>
          <p:cNvSpPr>
            <a:spLocks noGrp="1" noChangeArrowheads="1"/>
          </p:cNvSpPr>
          <p:nvPr>
            <p:ph type="title"/>
          </p:nvPr>
        </p:nvSpPr>
        <p:spPr>
          <a:xfrm>
            <a:off x="1524000" y="139700"/>
            <a:ext cx="9144000" cy="593725"/>
          </a:xfrm>
        </p:spPr>
        <p:txBody>
          <a:bodyPr/>
          <a:lstStyle/>
          <a:p>
            <a:pPr eaLnBrk="1" hangingPunct="1"/>
            <a:r>
              <a:rPr lang="en-US" altLang="zh-CN" dirty="0"/>
              <a:t>§4.3 </a:t>
            </a:r>
            <a:r>
              <a:rPr lang="zh-CN" altLang="en-US" dirty="0"/>
              <a:t>海洋数据获取手段</a:t>
            </a:r>
            <a:endParaRPr lang="zh-CN" altLang="en-US" dirty="0"/>
          </a:p>
        </p:txBody>
      </p:sp>
    </p:spTree>
  </p:cSld>
  <p:clrMapOvr>
    <a:masterClrMapping/>
  </p:clrMapOvr>
  <p:transition spd="med">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8965D906-E8C1-46DA-BD4C-CD248576E9C1}"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40963" name="Rectangle 2"/>
          <p:cNvSpPr>
            <a:spLocks noGrp="1" noChangeArrowheads="1"/>
          </p:cNvSpPr>
          <p:nvPr>
            <p:ph type="body" idx="4294967295"/>
          </p:nvPr>
        </p:nvSpPr>
        <p:spPr>
          <a:xfrm>
            <a:off x="2057400" y="1125538"/>
            <a:ext cx="8153400" cy="5183187"/>
          </a:xfrm>
          <a:prstGeom prst="rect">
            <a:avLst/>
          </a:prstGeom>
        </p:spPr>
        <p:txBody>
          <a:bodyPr/>
          <a:lstStyle/>
          <a:p>
            <a:pPr eaLnBrk="1" hangingPunct="1"/>
            <a:r>
              <a:rPr lang="zh-CN" altLang="en-US" dirty="0">
                <a:ea typeface="宋体" panose="02010600030101010101" pitchFamily="2" charset="-122"/>
              </a:rPr>
              <a:t>海洋卫星遥感</a:t>
            </a:r>
            <a:endParaRPr lang="en-US" altLang="zh-CN" dirty="0">
              <a:ea typeface="宋体" panose="02010600030101010101" pitchFamily="2" charset="-122"/>
            </a:endParaRPr>
          </a:p>
          <a:p>
            <a:pPr lvl="1" eaLnBrk="1" hangingPunct="1"/>
            <a:r>
              <a:rPr lang="zh-CN" altLang="en-US" dirty="0">
                <a:solidFill>
                  <a:schemeClr val="accent1"/>
                </a:solidFill>
                <a:latin typeface="Verdana" panose="020B0604030504040204" pitchFamily="34" charset="0"/>
              </a:rPr>
              <a:t>雷达散射计</a:t>
            </a:r>
            <a:endParaRPr lang="en-US" altLang="zh-CN" dirty="0">
              <a:solidFill>
                <a:schemeClr val="accent1"/>
              </a:solidFill>
              <a:latin typeface="Verdana" panose="020B0604030504040204" pitchFamily="34" charset="0"/>
            </a:endParaRPr>
          </a:p>
          <a:p>
            <a:pPr lvl="1" eaLnBrk="1" hangingPunct="1"/>
            <a:endParaRPr lang="en-US" altLang="zh-CN" dirty="0">
              <a:latin typeface="Arial" panose="020B0604020202020204" pitchFamily="34" charset="0"/>
            </a:endParaRPr>
          </a:p>
        </p:txBody>
      </p:sp>
      <p:sp>
        <p:nvSpPr>
          <p:cNvPr id="40964" name="Rectangle 4"/>
          <p:cNvSpPr>
            <a:spLocks noGrp="1" noChangeArrowheads="1"/>
          </p:cNvSpPr>
          <p:nvPr>
            <p:ph type="title"/>
          </p:nvPr>
        </p:nvSpPr>
        <p:spPr>
          <a:xfrm>
            <a:off x="1524000" y="139700"/>
            <a:ext cx="9144000" cy="593725"/>
          </a:xfrm>
        </p:spPr>
        <p:txBody>
          <a:bodyPr/>
          <a:lstStyle/>
          <a:p>
            <a:pPr eaLnBrk="1" hangingPunct="1"/>
            <a:r>
              <a:rPr lang="en-US" altLang="zh-CN" dirty="0"/>
              <a:t>§4.3 </a:t>
            </a:r>
            <a:r>
              <a:rPr lang="zh-CN" altLang="en-US" dirty="0"/>
              <a:t>海洋数据获取手段</a:t>
            </a:r>
            <a:endParaRPr lang="zh-CN" altLang="en-US" dirty="0"/>
          </a:p>
        </p:txBody>
      </p:sp>
      <p:pic>
        <p:nvPicPr>
          <p:cNvPr id="2" name="图片 1"/>
          <p:cNvPicPr>
            <a:picLocks noChangeAspect="1"/>
          </p:cNvPicPr>
          <p:nvPr/>
        </p:nvPicPr>
        <p:blipFill>
          <a:blip r:embed="rId1"/>
          <a:stretch>
            <a:fillRect/>
          </a:stretch>
        </p:blipFill>
        <p:spPr>
          <a:xfrm>
            <a:off x="1847528" y="2492896"/>
            <a:ext cx="3497883" cy="3078747"/>
          </a:xfrm>
          <a:prstGeom prst="rect">
            <a:avLst/>
          </a:prstGeom>
        </p:spPr>
      </p:pic>
      <p:pic>
        <p:nvPicPr>
          <p:cNvPr id="3" name="图片 2"/>
          <p:cNvPicPr>
            <a:picLocks noChangeAspect="1"/>
          </p:cNvPicPr>
          <p:nvPr/>
        </p:nvPicPr>
        <p:blipFill>
          <a:blip r:embed="rId2"/>
          <a:stretch>
            <a:fillRect/>
          </a:stretch>
        </p:blipFill>
        <p:spPr>
          <a:xfrm>
            <a:off x="5555283" y="2636912"/>
            <a:ext cx="3528366" cy="2644369"/>
          </a:xfrm>
          <a:prstGeom prst="rect">
            <a:avLst/>
          </a:prstGeom>
        </p:spPr>
      </p:pic>
    </p:spTree>
  </p:cSld>
  <p:clrMapOvr>
    <a:masterClrMapping/>
  </p:clrMapOvr>
  <p:transition spd="med">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70DFCC48-095B-428A-9878-5B11CC0E55A8}"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43011" name="Rectangle 2"/>
          <p:cNvSpPr>
            <a:spLocks noGrp="1" noChangeArrowheads="1"/>
          </p:cNvSpPr>
          <p:nvPr>
            <p:ph type="body" idx="4294967295"/>
          </p:nvPr>
        </p:nvSpPr>
        <p:spPr>
          <a:xfrm>
            <a:off x="645160" y="1125855"/>
            <a:ext cx="10341610" cy="5182870"/>
          </a:xfrm>
          <a:prstGeom prst="rect">
            <a:avLst/>
          </a:prstGeom>
        </p:spPr>
        <p:txBody>
          <a:bodyPr/>
          <a:lstStyle/>
          <a:p>
            <a:pPr eaLnBrk="1" hangingPunct="1"/>
            <a:r>
              <a:rPr lang="zh-CN" altLang="en-US" dirty="0">
                <a:ea typeface="宋体" panose="02010600030101010101" pitchFamily="2" charset="-122"/>
              </a:rPr>
              <a:t>海洋卫星遥感</a:t>
            </a:r>
            <a:endParaRPr lang="en-US" altLang="zh-CN" dirty="0">
              <a:ea typeface="宋体" panose="02010600030101010101" pitchFamily="2" charset="-122"/>
            </a:endParaRPr>
          </a:p>
          <a:p>
            <a:pPr lvl="1" eaLnBrk="1" hangingPunct="1"/>
            <a:r>
              <a:rPr lang="zh-CN" altLang="en-US" dirty="0">
                <a:solidFill>
                  <a:schemeClr val="accent1"/>
                </a:solidFill>
                <a:latin typeface="Verdana" panose="020B0604030504040204" pitchFamily="34" charset="0"/>
              </a:rPr>
              <a:t>合成孔径雷达</a:t>
            </a:r>
            <a:endParaRPr lang="en-US" altLang="zh-CN" dirty="0">
              <a:solidFill>
                <a:schemeClr val="accent1"/>
              </a:solidFill>
              <a:latin typeface="Verdana" panose="020B0604030504040204" pitchFamily="34" charset="0"/>
            </a:endParaRPr>
          </a:p>
          <a:p>
            <a:pPr lvl="1" eaLnBrk="1" hangingPunct="1"/>
            <a:r>
              <a:rPr lang="zh-CN" altLang="zh-CN" dirty="0">
                <a:latin typeface="Arial" panose="020B0604020202020204" pitchFamily="34" charset="0"/>
              </a:rPr>
              <a:t>合成孔径雷达（</a:t>
            </a:r>
            <a:r>
              <a:rPr lang="en-US" altLang="zh-CN" dirty="0">
                <a:latin typeface="Arial" panose="020B0604020202020204" pitchFamily="34" charset="0"/>
              </a:rPr>
              <a:t>Synthetic Aperture Radar</a:t>
            </a:r>
            <a:r>
              <a:rPr lang="zh-CN" altLang="en-US" dirty="0">
                <a:latin typeface="Arial" panose="020B0604020202020204" pitchFamily="34" charset="0"/>
              </a:rPr>
              <a:t>，</a:t>
            </a:r>
            <a:r>
              <a:rPr lang="en-US" altLang="zh-CN" dirty="0">
                <a:latin typeface="Arial" panose="020B0604020202020204" pitchFamily="34" charset="0"/>
              </a:rPr>
              <a:t>SAR</a:t>
            </a:r>
            <a:r>
              <a:rPr lang="zh-CN" altLang="zh-CN" dirty="0">
                <a:latin typeface="Arial" panose="020B0604020202020204" pitchFamily="34" charset="0"/>
              </a:rPr>
              <a:t>）是一种高方位分辨率的相干成像雷达。它</a:t>
            </a:r>
            <a:r>
              <a:rPr lang="zh-CN" altLang="zh-CN" u="sng" dirty="0">
                <a:solidFill>
                  <a:srgbClr val="FF0000"/>
                </a:solidFill>
                <a:latin typeface="Arial" panose="020B0604020202020204" pitchFamily="34" charset="0"/>
              </a:rPr>
              <a:t>利用了相位和振幅信息，是一种准全息系统，可分为侧视、斜视、多普勒锐化和聚束测绘等工作方式</a:t>
            </a:r>
            <a:r>
              <a:rPr lang="zh-CN" altLang="zh-CN" dirty="0">
                <a:latin typeface="Arial" panose="020B0604020202020204" pitchFamily="34" charset="0"/>
              </a:rPr>
              <a:t>。它利用合成天线技术获取良好的方位分辨率，利用脉冲压缩技术获得良好的距离分辨率。通过对</a:t>
            </a:r>
            <a:r>
              <a:rPr lang="en-US" altLang="zh-CN" dirty="0">
                <a:latin typeface="Arial" panose="020B0604020202020204" pitchFamily="34" charset="0"/>
              </a:rPr>
              <a:t>SAR</a:t>
            </a:r>
            <a:r>
              <a:rPr lang="zh-CN" altLang="zh-CN" dirty="0">
                <a:latin typeface="Arial" panose="020B0604020202020204" pitchFamily="34" charset="0"/>
              </a:rPr>
              <a:t>图像作快速傅里叶变换，可确定二维的海浪谱及海表面波的波长、波向和内波。</a:t>
            </a:r>
            <a:r>
              <a:rPr lang="zh-CN" altLang="zh-CN" dirty="0">
                <a:solidFill>
                  <a:srgbClr val="FF0000"/>
                </a:solidFill>
                <a:latin typeface="Arial" panose="020B0604020202020204" pitchFamily="34" charset="0"/>
              </a:rPr>
              <a:t>根据</a:t>
            </a:r>
            <a:r>
              <a:rPr lang="en-US" altLang="zh-CN" dirty="0">
                <a:solidFill>
                  <a:srgbClr val="FF0000"/>
                </a:solidFill>
                <a:latin typeface="Arial" panose="020B0604020202020204" pitchFamily="34" charset="0"/>
              </a:rPr>
              <a:t>SAR</a:t>
            </a:r>
            <a:r>
              <a:rPr lang="zh-CN" altLang="zh-CN" dirty="0">
                <a:solidFill>
                  <a:srgbClr val="FF0000"/>
                </a:solidFill>
                <a:latin typeface="Arial" panose="020B0604020202020204" pitchFamily="34" charset="0"/>
              </a:rPr>
              <a:t>图像亮暗分布的差异</a:t>
            </a:r>
            <a:r>
              <a:rPr lang="zh-CN" altLang="zh-CN" dirty="0">
                <a:latin typeface="Arial" panose="020B0604020202020204" pitchFamily="34" charset="0"/>
              </a:rPr>
              <a:t>，可以提取到</a:t>
            </a:r>
            <a:r>
              <a:rPr lang="zh-CN" altLang="zh-CN" u="sng" dirty="0">
                <a:latin typeface="Arial" panose="020B0604020202020204" pitchFamily="34" charset="0"/>
              </a:rPr>
              <a:t>海冰的冰岭、厚度、分布、水一冰边界、冰山高度</a:t>
            </a:r>
            <a:r>
              <a:rPr lang="zh-CN" altLang="zh-CN" dirty="0">
                <a:latin typeface="Arial" panose="020B0604020202020204" pitchFamily="34" charset="0"/>
              </a:rPr>
              <a:t>等重要信息。</a:t>
            </a:r>
            <a:endParaRPr lang="zh-CN" altLang="zh-CN" dirty="0">
              <a:latin typeface="Arial" panose="020B0604020202020204" pitchFamily="34" charset="0"/>
            </a:endParaRPr>
          </a:p>
          <a:p>
            <a:pPr lvl="1" eaLnBrk="1" hangingPunct="1"/>
            <a:endParaRPr lang="en-US" altLang="zh-CN" dirty="0">
              <a:latin typeface="Arial" panose="020B0604020202020204" pitchFamily="34" charset="0"/>
            </a:endParaRPr>
          </a:p>
        </p:txBody>
      </p:sp>
      <p:sp>
        <p:nvSpPr>
          <p:cNvPr id="43012" name="Rectangle 4"/>
          <p:cNvSpPr>
            <a:spLocks noGrp="1" noChangeArrowheads="1"/>
          </p:cNvSpPr>
          <p:nvPr>
            <p:ph type="title"/>
          </p:nvPr>
        </p:nvSpPr>
        <p:spPr>
          <a:xfrm>
            <a:off x="1524000" y="139700"/>
            <a:ext cx="9144000" cy="593725"/>
          </a:xfrm>
        </p:spPr>
        <p:txBody>
          <a:bodyPr/>
          <a:lstStyle/>
          <a:p>
            <a:pPr eaLnBrk="1" hangingPunct="1"/>
            <a:r>
              <a:rPr lang="en-US" altLang="zh-CN" dirty="0"/>
              <a:t>§4.3 </a:t>
            </a:r>
            <a:r>
              <a:rPr lang="zh-CN" altLang="en-US" dirty="0"/>
              <a:t>海洋数据获取手段</a:t>
            </a:r>
            <a:endParaRPr lang="zh-CN" altLang="en-US" dirty="0"/>
          </a:p>
        </p:txBody>
      </p:sp>
    </p:spTree>
  </p:cSld>
  <p:clrMapOvr>
    <a:masterClrMapping/>
  </p:clrMapOvr>
  <p:transition spd="med">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758E1596-4FE1-4A16-A154-E593AE61A752}"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44035" name="Rectangle 2"/>
          <p:cNvSpPr>
            <a:spLocks noGrp="1" noChangeArrowheads="1"/>
          </p:cNvSpPr>
          <p:nvPr>
            <p:ph type="body" idx="4294967295"/>
          </p:nvPr>
        </p:nvSpPr>
        <p:spPr>
          <a:xfrm>
            <a:off x="2057400" y="1125538"/>
            <a:ext cx="8153400" cy="5183187"/>
          </a:xfrm>
          <a:prstGeom prst="rect">
            <a:avLst/>
          </a:prstGeom>
        </p:spPr>
        <p:txBody>
          <a:bodyPr/>
          <a:lstStyle/>
          <a:p>
            <a:pPr eaLnBrk="1" hangingPunct="1"/>
            <a:r>
              <a:rPr lang="zh-CN" altLang="en-US" dirty="0">
                <a:ea typeface="宋体" panose="02010600030101010101" pitchFamily="2" charset="-122"/>
              </a:rPr>
              <a:t>海洋卫星遥感</a:t>
            </a:r>
            <a:endParaRPr lang="en-US" altLang="zh-CN" dirty="0">
              <a:ea typeface="宋体" panose="02010600030101010101" pitchFamily="2" charset="-122"/>
            </a:endParaRPr>
          </a:p>
          <a:p>
            <a:pPr lvl="1" eaLnBrk="1" hangingPunct="1"/>
            <a:r>
              <a:rPr lang="zh-CN" altLang="en-US" dirty="0">
                <a:solidFill>
                  <a:schemeClr val="accent1"/>
                </a:solidFill>
                <a:latin typeface="Verdana" panose="020B0604030504040204" pitchFamily="34" charset="0"/>
              </a:rPr>
              <a:t>合成孔径雷达</a:t>
            </a:r>
            <a:endParaRPr lang="en-US" altLang="zh-CN" dirty="0">
              <a:solidFill>
                <a:schemeClr val="accent1"/>
              </a:solidFill>
              <a:latin typeface="Verdana" panose="020B0604030504040204" pitchFamily="34" charset="0"/>
            </a:endParaRPr>
          </a:p>
          <a:p>
            <a:pPr lvl="1" eaLnBrk="1" hangingPunct="1"/>
            <a:r>
              <a:rPr lang="zh-CN" altLang="zh-CN" dirty="0">
                <a:latin typeface="Arial" panose="020B0604020202020204" pitchFamily="34" charset="0"/>
              </a:rPr>
              <a:t>利用</a:t>
            </a:r>
            <a:r>
              <a:rPr lang="en-US" altLang="zh-CN" dirty="0">
                <a:latin typeface="Arial" panose="020B0604020202020204" pitchFamily="34" charset="0"/>
              </a:rPr>
              <a:t>SAR</a:t>
            </a:r>
            <a:r>
              <a:rPr lang="zh-CN" altLang="zh-CN" dirty="0">
                <a:latin typeface="Arial" panose="020B0604020202020204" pitchFamily="34" charset="0"/>
              </a:rPr>
              <a:t>图像不仅可及时发现海洋中较大面积的石油污染，而且可以监测突发性污染事件。</a:t>
            </a:r>
            <a:r>
              <a:rPr lang="zh-CN" altLang="zh-CN" u="sng" dirty="0">
                <a:solidFill>
                  <a:srgbClr val="FF0000"/>
                </a:solidFill>
                <a:latin typeface="Arial" panose="020B0604020202020204" pitchFamily="34" charset="0"/>
              </a:rPr>
              <a:t>由于</a:t>
            </a:r>
            <a:r>
              <a:rPr lang="en-US" altLang="zh-CN" u="sng" dirty="0">
                <a:solidFill>
                  <a:srgbClr val="FF0000"/>
                </a:solidFill>
                <a:latin typeface="Arial" panose="020B0604020202020204" pitchFamily="34" charset="0"/>
              </a:rPr>
              <a:t>SAR</a:t>
            </a:r>
            <a:r>
              <a:rPr lang="zh-CN" altLang="zh-CN" u="sng" dirty="0">
                <a:solidFill>
                  <a:srgbClr val="FF0000"/>
                </a:solidFill>
                <a:latin typeface="Arial" panose="020B0604020202020204" pitchFamily="34" charset="0"/>
              </a:rPr>
              <a:t>图像上的亮暗分布与海底地形、地貌有一种直接相关性，在一定的风浪条件下，可以进行浅海水深</a:t>
            </a:r>
            <a:r>
              <a:rPr lang="zh-CN" altLang="en-US" u="sng" dirty="0">
                <a:solidFill>
                  <a:srgbClr val="FF0000"/>
                </a:solidFill>
                <a:latin typeface="Arial" panose="020B0604020202020204" pitchFamily="34" charset="0"/>
              </a:rPr>
              <a:t>、</a:t>
            </a:r>
            <a:r>
              <a:rPr lang="zh-CN" altLang="zh-CN" u="sng" dirty="0">
                <a:solidFill>
                  <a:srgbClr val="FF0000"/>
                </a:solidFill>
                <a:latin typeface="Arial" panose="020B0604020202020204" pitchFamily="34" charset="0"/>
              </a:rPr>
              <a:t>水下地形测绘，为专属经济区的勘查与划界提供科学依据</a:t>
            </a:r>
            <a:r>
              <a:rPr lang="zh-CN" altLang="zh-CN" dirty="0">
                <a:latin typeface="Arial" panose="020B0604020202020204" pitchFamily="34" charset="0"/>
              </a:rPr>
              <a:t>。</a:t>
            </a:r>
            <a:endParaRPr lang="en-US" altLang="zh-CN" dirty="0">
              <a:latin typeface="Arial" panose="020B0604020202020204" pitchFamily="34" charset="0"/>
            </a:endParaRPr>
          </a:p>
        </p:txBody>
      </p:sp>
      <p:sp>
        <p:nvSpPr>
          <p:cNvPr id="44036" name="Rectangle 4"/>
          <p:cNvSpPr>
            <a:spLocks noGrp="1" noChangeArrowheads="1"/>
          </p:cNvSpPr>
          <p:nvPr>
            <p:ph type="title"/>
          </p:nvPr>
        </p:nvSpPr>
        <p:spPr>
          <a:xfrm>
            <a:off x="1524000" y="139700"/>
            <a:ext cx="9144000" cy="593725"/>
          </a:xfrm>
        </p:spPr>
        <p:txBody>
          <a:bodyPr/>
          <a:lstStyle/>
          <a:p>
            <a:pPr eaLnBrk="1" hangingPunct="1"/>
            <a:r>
              <a:rPr lang="en-US" altLang="zh-CN" dirty="0"/>
              <a:t>§4.3 </a:t>
            </a:r>
            <a:r>
              <a:rPr lang="zh-CN" altLang="en-US" dirty="0"/>
              <a:t>海洋数据获取手段</a:t>
            </a:r>
            <a:endParaRPr lang="zh-CN" altLang="en-US" dirty="0"/>
          </a:p>
        </p:txBody>
      </p:sp>
    </p:spTree>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74B42E77-F808-4428-8942-531B230764A3}"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45059" name="Rectangle 2"/>
          <p:cNvSpPr>
            <a:spLocks noGrp="1" noChangeArrowheads="1"/>
          </p:cNvSpPr>
          <p:nvPr>
            <p:ph type="body" idx="4294967295"/>
          </p:nvPr>
        </p:nvSpPr>
        <p:spPr>
          <a:xfrm>
            <a:off x="2057400" y="1125538"/>
            <a:ext cx="8153400" cy="5183187"/>
          </a:xfrm>
          <a:prstGeom prst="rect">
            <a:avLst/>
          </a:prstGeom>
        </p:spPr>
        <p:txBody>
          <a:bodyPr/>
          <a:lstStyle/>
          <a:p>
            <a:pPr eaLnBrk="1" hangingPunct="1"/>
            <a:r>
              <a:rPr lang="zh-CN" altLang="en-US" dirty="0">
                <a:ea typeface="宋体" panose="02010600030101010101" pitchFamily="2" charset="-122"/>
              </a:rPr>
              <a:t>海洋卫星遥感</a:t>
            </a:r>
            <a:endParaRPr lang="en-US" altLang="zh-CN" dirty="0">
              <a:ea typeface="宋体" panose="02010600030101010101" pitchFamily="2" charset="-122"/>
            </a:endParaRPr>
          </a:p>
          <a:p>
            <a:pPr lvl="1" eaLnBrk="1" hangingPunct="1"/>
            <a:r>
              <a:rPr lang="zh-CN" altLang="en-US" dirty="0">
                <a:solidFill>
                  <a:schemeClr val="accent1"/>
                </a:solidFill>
                <a:latin typeface="Verdana" panose="020B0604030504040204" pitchFamily="34" charset="0"/>
              </a:rPr>
              <a:t>微波辐射计</a:t>
            </a:r>
            <a:endParaRPr lang="en-US" altLang="zh-CN" dirty="0">
              <a:solidFill>
                <a:schemeClr val="accent1"/>
              </a:solidFill>
              <a:latin typeface="Verdana" panose="020B0604030504040204" pitchFamily="34" charset="0"/>
            </a:endParaRPr>
          </a:p>
          <a:p>
            <a:pPr lvl="1" eaLnBrk="1" hangingPunct="1"/>
            <a:r>
              <a:rPr lang="zh-CN" altLang="zh-CN" dirty="0">
                <a:latin typeface="Arial" panose="020B0604020202020204" pitchFamily="34" charset="0"/>
              </a:rPr>
              <a:t>海面温度（</a:t>
            </a:r>
            <a:r>
              <a:rPr lang="en-US" altLang="zh-CN" dirty="0">
                <a:latin typeface="Arial" panose="020B0604020202020204" pitchFamily="34" charset="0"/>
              </a:rPr>
              <a:t>Sea Surface Temperature</a:t>
            </a:r>
            <a:r>
              <a:rPr lang="zh-CN" altLang="en-US" dirty="0">
                <a:latin typeface="Arial" panose="020B0604020202020204" pitchFamily="34" charset="0"/>
              </a:rPr>
              <a:t>，</a:t>
            </a:r>
            <a:r>
              <a:rPr lang="en-US" altLang="zh-CN" dirty="0">
                <a:latin typeface="Arial" panose="020B0604020202020204" pitchFamily="34" charset="0"/>
              </a:rPr>
              <a:t>SST</a:t>
            </a:r>
            <a:r>
              <a:rPr lang="zh-CN" altLang="zh-CN" dirty="0">
                <a:latin typeface="Arial" panose="020B0604020202020204" pitchFamily="34" charset="0"/>
              </a:rPr>
              <a:t>）是海洋学研究必测的最基本参数之一，水温是划分水团的主要依据之一，还被用于分析海洋锋和流系。</a:t>
            </a:r>
            <a:r>
              <a:rPr lang="zh-CN" altLang="zh-CN" u="sng" dirty="0">
                <a:solidFill>
                  <a:srgbClr val="FF0000"/>
                </a:solidFill>
                <a:latin typeface="Arial" panose="020B0604020202020204" pitchFamily="34" charset="0"/>
              </a:rPr>
              <a:t>水温是控制生物种群分布及其洄游和繁殖过程的基本量，因而在海洋渔场渔情分析预报中占有重要</a:t>
            </a:r>
            <a:r>
              <a:rPr lang="zh-CN" altLang="zh-CN" dirty="0">
                <a:solidFill>
                  <a:srgbClr val="FF0000"/>
                </a:solidFill>
                <a:latin typeface="Arial" panose="020B0604020202020204" pitchFamily="34" charset="0"/>
              </a:rPr>
              <a:t>地位</a:t>
            </a:r>
            <a:r>
              <a:rPr lang="zh-CN" altLang="zh-CN" dirty="0">
                <a:latin typeface="Arial" panose="020B0604020202020204" pitchFamily="34" charset="0"/>
              </a:rPr>
              <a:t>。</a:t>
            </a:r>
            <a:endParaRPr lang="en-US" altLang="zh-CN" dirty="0">
              <a:latin typeface="Arial" panose="020B0604020202020204" pitchFamily="34" charset="0"/>
            </a:endParaRPr>
          </a:p>
          <a:p>
            <a:pPr lvl="1" eaLnBrk="1" hangingPunct="1"/>
            <a:endParaRPr lang="zh-CN" altLang="zh-CN" dirty="0">
              <a:latin typeface="Arial" panose="020B0604020202020204" pitchFamily="34" charset="0"/>
            </a:endParaRPr>
          </a:p>
          <a:p>
            <a:pPr lvl="1" eaLnBrk="1" hangingPunct="1"/>
            <a:endParaRPr lang="en-US" altLang="zh-CN" dirty="0">
              <a:latin typeface="Arial" panose="020B0604020202020204" pitchFamily="34" charset="0"/>
            </a:endParaRPr>
          </a:p>
        </p:txBody>
      </p:sp>
      <p:sp>
        <p:nvSpPr>
          <p:cNvPr id="45060" name="Rectangle 4"/>
          <p:cNvSpPr>
            <a:spLocks noGrp="1" noChangeArrowheads="1"/>
          </p:cNvSpPr>
          <p:nvPr>
            <p:ph type="title"/>
          </p:nvPr>
        </p:nvSpPr>
        <p:spPr>
          <a:xfrm>
            <a:off x="1524000" y="139700"/>
            <a:ext cx="9144000" cy="593725"/>
          </a:xfrm>
        </p:spPr>
        <p:txBody>
          <a:bodyPr/>
          <a:lstStyle/>
          <a:p>
            <a:pPr eaLnBrk="1" hangingPunct="1"/>
            <a:r>
              <a:rPr lang="en-US" altLang="zh-CN" dirty="0"/>
              <a:t>§4.3 </a:t>
            </a:r>
            <a:r>
              <a:rPr lang="zh-CN" altLang="en-US" dirty="0"/>
              <a:t>海洋数据获取手段</a:t>
            </a:r>
            <a:endParaRPr lang="zh-CN" altLang="en-US" dirty="0"/>
          </a:p>
        </p:txBody>
      </p:sp>
    </p:spTree>
  </p:cSld>
  <p:clrMapOvr>
    <a:masterClrMapping/>
  </p:clrMapOvr>
  <p:transition spd="med">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B32DE7E6-C2CB-42DD-98DB-7ABDFAC431FF}"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47107" name="Rectangle 2"/>
          <p:cNvSpPr>
            <a:spLocks noGrp="1" noChangeArrowheads="1"/>
          </p:cNvSpPr>
          <p:nvPr>
            <p:ph type="body" idx="4294967295"/>
          </p:nvPr>
        </p:nvSpPr>
        <p:spPr>
          <a:xfrm>
            <a:off x="2057400" y="1125538"/>
            <a:ext cx="8153400" cy="5183187"/>
          </a:xfrm>
          <a:prstGeom prst="rect">
            <a:avLst/>
          </a:prstGeom>
        </p:spPr>
        <p:txBody>
          <a:bodyPr/>
          <a:lstStyle/>
          <a:p>
            <a:pPr eaLnBrk="1" hangingPunct="1"/>
            <a:r>
              <a:rPr lang="zh-CN" altLang="en-US" dirty="0">
                <a:ea typeface="宋体" panose="02010600030101010101" pitchFamily="2" charset="-122"/>
              </a:rPr>
              <a:t>海洋卫星遥感</a:t>
            </a:r>
            <a:endParaRPr lang="en-US" altLang="zh-CN" dirty="0">
              <a:ea typeface="宋体" panose="02010600030101010101" pitchFamily="2" charset="-122"/>
            </a:endParaRPr>
          </a:p>
          <a:p>
            <a:pPr lvl="1" eaLnBrk="1" hangingPunct="1"/>
            <a:r>
              <a:rPr lang="zh-CN" altLang="en-US" dirty="0">
                <a:solidFill>
                  <a:schemeClr val="accent1"/>
                </a:solidFill>
                <a:latin typeface="Verdana" panose="020B0604030504040204" pitchFamily="34" charset="0"/>
              </a:rPr>
              <a:t>可见光</a:t>
            </a:r>
            <a:r>
              <a:rPr lang="en-US" altLang="zh-CN" dirty="0">
                <a:solidFill>
                  <a:schemeClr val="accent1"/>
                </a:solidFill>
                <a:latin typeface="Verdana" panose="020B0604030504040204" pitchFamily="34" charset="0"/>
              </a:rPr>
              <a:t>/</a:t>
            </a:r>
            <a:r>
              <a:rPr lang="zh-CN" altLang="en-US" dirty="0">
                <a:solidFill>
                  <a:schemeClr val="accent1"/>
                </a:solidFill>
                <a:latin typeface="Verdana" panose="020B0604030504040204" pitchFamily="34" charset="0"/>
              </a:rPr>
              <a:t>红外辐射计、海洋水色扫描仪</a:t>
            </a:r>
            <a:endParaRPr lang="en-US" altLang="zh-CN" dirty="0">
              <a:solidFill>
                <a:schemeClr val="accent1"/>
              </a:solidFill>
              <a:latin typeface="Verdana" panose="020B0604030504040204" pitchFamily="34" charset="0"/>
            </a:endParaRPr>
          </a:p>
          <a:p>
            <a:pPr lvl="1" eaLnBrk="1" hangingPunct="1"/>
            <a:r>
              <a:rPr lang="zh-CN" altLang="zh-CN" dirty="0">
                <a:latin typeface="Arial" panose="020B0604020202020204" pitchFamily="34" charset="0"/>
              </a:rPr>
              <a:t>可见光</a:t>
            </a:r>
            <a:r>
              <a:rPr lang="en-US" altLang="zh-CN" dirty="0">
                <a:latin typeface="Arial" panose="020B0604020202020204" pitchFamily="34" charset="0"/>
              </a:rPr>
              <a:t>/</a:t>
            </a:r>
            <a:r>
              <a:rPr lang="zh-CN" altLang="zh-CN" dirty="0">
                <a:latin typeface="Arial" panose="020B0604020202020204" pitchFamily="34" charset="0"/>
              </a:rPr>
              <a:t>近红外波段中的多光谱扫描仪（</a:t>
            </a:r>
            <a:r>
              <a:rPr lang="en-US" altLang="zh-CN" dirty="0">
                <a:latin typeface="Arial" panose="020B0604020202020204" pitchFamily="34" charset="0"/>
              </a:rPr>
              <a:t>MSS</a:t>
            </a:r>
            <a:r>
              <a:rPr lang="zh-CN" altLang="zh-CN" dirty="0">
                <a:latin typeface="Arial" panose="020B0604020202020204" pitchFamily="34" charset="0"/>
              </a:rPr>
              <a:t>，</a:t>
            </a:r>
            <a:r>
              <a:rPr lang="en-US" altLang="zh-CN" dirty="0">
                <a:latin typeface="Arial" panose="020B0604020202020204" pitchFamily="34" charset="0"/>
              </a:rPr>
              <a:t>TM</a:t>
            </a:r>
            <a:r>
              <a:rPr lang="zh-CN" altLang="zh-CN" dirty="0">
                <a:latin typeface="Arial" panose="020B0604020202020204" pitchFamily="34" charset="0"/>
              </a:rPr>
              <a:t>）和海岸带水色扫描仪（</a:t>
            </a:r>
            <a:r>
              <a:rPr lang="en-US" altLang="zh-CN" dirty="0">
                <a:latin typeface="Arial" panose="020B0604020202020204" pitchFamily="34" charset="0"/>
              </a:rPr>
              <a:t>CZCS</a:t>
            </a:r>
            <a:r>
              <a:rPr lang="zh-CN" altLang="zh-CN" dirty="0">
                <a:latin typeface="Arial" panose="020B0604020202020204" pitchFamily="34" charset="0"/>
              </a:rPr>
              <a:t>）均为被动式传感器。它能测量海洋水色、悬浮泥沙、水质等。</a:t>
            </a:r>
            <a:endParaRPr lang="en-US" altLang="zh-CN" dirty="0">
              <a:latin typeface="Arial" panose="020B0604020202020204" pitchFamily="34" charset="0"/>
            </a:endParaRPr>
          </a:p>
          <a:p>
            <a:pPr lvl="1" eaLnBrk="1" hangingPunct="1"/>
            <a:r>
              <a:rPr lang="zh-CN" altLang="zh-CN" dirty="0">
                <a:latin typeface="Arial" panose="020B0604020202020204" pitchFamily="34" charset="0"/>
              </a:rPr>
              <a:t>在海洋渔业方面，由于海洋浮游植物是有机物的初级生产者和能量的主要转换者。它的数量变化直接影响海洋中鱼虾等生物资源的数量变化。</a:t>
            </a:r>
            <a:r>
              <a:rPr lang="zh-CN" altLang="zh-CN" u="sng" dirty="0">
                <a:solidFill>
                  <a:srgbClr val="FF0000"/>
                </a:solidFill>
                <a:latin typeface="Arial" panose="020B0604020202020204" pitchFamily="34" charset="0"/>
              </a:rPr>
              <a:t>通常以叶绿素浓度（即水色）来表示浮游植物的含量</a:t>
            </a:r>
            <a:r>
              <a:rPr lang="zh-CN" altLang="zh-CN" dirty="0">
                <a:latin typeface="Arial" panose="020B0604020202020204" pitchFamily="34" charset="0"/>
              </a:rPr>
              <a:t>。在中心波段</a:t>
            </a:r>
            <a:r>
              <a:rPr lang="en-US" altLang="zh-CN" dirty="0">
                <a:latin typeface="Arial" panose="020B0604020202020204" pitchFamily="34" charset="0"/>
              </a:rPr>
              <a:t>0.443</a:t>
            </a:r>
            <a:r>
              <a:rPr lang="zh-CN" altLang="zh-CN" dirty="0">
                <a:latin typeface="Arial" panose="020B0604020202020204" pitchFamily="34" charset="0"/>
              </a:rPr>
              <a:t>，</a:t>
            </a:r>
            <a:r>
              <a:rPr lang="en-US" altLang="zh-CN" dirty="0">
                <a:latin typeface="Arial" panose="020B0604020202020204" pitchFamily="34" charset="0"/>
              </a:rPr>
              <a:t>0.52</a:t>
            </a:r>
            <a:r>
              <a:rPr lang="zh-CN" altLang="zh-CN" dirty="0">
                <a:latin typeface="Arial" panose="020B0604020202020204" pitchFamily="34" charset="0"/>
              </a:rPr>
              <a:t>和</a:t>
            </a:r>
            <a:r>
              <a:rPr lang="en-US" altLang="zh-CN" dirty="0">
                <a:latin typeface="Arial" panose="020B0604020202020204" pitchFamily="34" charset="0"/>
              </a:rPr>
              <a:t>0.55</a:t>
            </a:r>
            <a:r>
              <a:rPr lang="zh-CN" altLang="zh-CN" dirty="0">
                <a:latin typeface="Arial" panose="020B0604020202020204" pitchFamily="34" charset="0"/>
              </a:rPr>
              <a:t>μｍ上可以遥感出海面叶绿素的浓度，并绘制出专题图。</a:t>
            </a:r>
            <a:endParaRPr lang="en-US" altLang="zh-CN" dirty="0">
              <a:latin typeface="Arial" panose="020B0604020202020204" pitchFamily="34" charset="0"/>
            </a:endParaRPr>
          </a:p>
        </p:txBody>
      </p:sp>
      <p:sp>
        <p:nvSpPr>
          <p:cNvPr id="47108" name="Rectangle 4"/>
          <p:cNvSpPr>
            <a:spLocks noGrp="1" noChangeArrowheads="1"/>
          </p:cNvSpPr>
          <p:nvPr>
            <p:ph type="title"/>
          </p:nvPr>
        </p:nvSpPr>
        <p:spPr>
          <a:xfrm>
            <a:off x="1524000" y="139700"/>
            <a:ext cx="9144000" cy="593725"/>
          </a:xfrm>
        </p:spPr>
        <p:txBody>
          <a:bodyPr/>
          <a:lstStyle/>
          <a:p>
            <a:pPr eaLnBrk="1" hangingPunct="1"/>
            <a:r>
              <a:rPr lang="en-US" altLang="zh-CN" dirty="0"/>
              <a:t>§4.3 </a:t>
            </a:r>
            <a:r>
              <a:rPr lang="zh-CN" altLang="en-US" dirty="0"/>
              <a:t>海洋数据获取手段</a:t>
            </a:r>
            <a:endParaRPr lang="zh-CN" altLang="en-US" dirty="0"/>
          </a:p>
        </p:txBody>
      </p:sp>
    </p:spTree>
  </p:cSld>
  <p:clrMapOvr>
    <a:masterClrMapping/>
  </p:clrMapOvr>
  <p:transition spd="med">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D84106D7-E667-4C0B-AF28-3F120B64D6FC}"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58371" name="Rectangle 2"/>
          <p:cNvSpPr>
            <a:spLocks noGrp="1" noChangeArrowheads="1"/>
          </p:cNvSpPr>
          <p:nvPr>
            <p:ph type="body" idx="4294967295"/>
          </p:nvPr>
        </p:nvSpPr>
        <p:spPr>
          <a:xfrm>
            <a:off x="2057400" y="1125538"/>
            <a:ext cx="8153400" cy="5183187"/>
          </a:xfrm>
          <a:prstGeom prst="rect">
            <a:avLst/>
          </a:prstGeom>
        </p:spPr>
        <p:txBody>
          <a:bodyPr/>
          <a:lstStyle/>
          <a:p>
            <a:pPr eaLnBrk="1" hangingPunct="1"/>
            <a:r>
              <a:rPr lang="zh-CN" altLang="en-US" dirty="0">
                <a:ea typeface="宋体" panose="02010600030101010101" pitchFamily="2" charset="-122"/>
              </a:rPr>
              <a:t>海洋自动观测</a:t>
            </a:r>
            <a:endParaRPr lang="en-US" altLang="zh-CN" dirty="0">
              <a:ea typeface="宋体" panose="02010600030101010101" pitchFamily="2" charset="-122"/>
            </a:endParaRPr>
          </a:p>
          <a:p>
            <a:pPr lvl="1" eaLnBrk="1" hangingPunct="1"/>
            <a:r>
              <a:rPr lang="zh-CN" altLang="en-US" dirty="0">
                <a:solidFill>
                  <a:schemeClr val="accent1"/>
                </a:solidFill>
                <a:latin typeface="Verdana" panose="020B0604030504040204" pitchFamily="34" charset="0"/>
              </a:rPr>
              <a:t>水下自航式海洋观测平台</a:t>
            </a:r>
            <a:r>
              <a:rPr lang="en-US" altLang="zh-CN" dirty="0">
                <a:latin typeface="Arial" panose="020B0604020202020204" pitchFamily="34" charset="0"/>
              </a:rPr>
              <a:t>	</a:t>
            </a:r>
            <a:endParaRPr lang="en-US" altLang="zh-CN" dirty="0">
              <a:latin typeface="Arial" panose="020B0604020202020204" pitchFamily="34" charset="0"/>
            </a:endParaRPr>
          </a:p>
          <a:p>
            <a:pPr lvl="1" eaLnBrk="1" hangingPunct="1"/>
            <a:r>
              <a:rPr lang="zh-CN" altLang="zh-CN" dirty="0">
                <a:latin typeface="Arial" panose="020B0604020202020204" pitchFamily="34" charset="0"/>
              </a:rPr>
              <a:t>水下自航式海洋观测平台是上个世纪</a:t>
            </a:r>
            <a:r>
              <a:rPr lang="en-US" altLang="zh-CN" dirty="0">
                <a:latin typeface="Arial" panose="020B0604020202020204" pitchFamily="34" charset="0"/>
              </a:rPr>
              <a:t>80</a:t>
            </a:r>
            <a:r>
              <a:rPr lang="zh-CN" altLang="zh-CN" dirty="0">
                <a:latin typeface="Arial" panose="020B0604020202020204" pitchFamily="34" charset="0"/>
              </a:rPr>
              <a:t>年代末</a:t>
            </a:r>
            <a:r>
              <a:rPr lang="en-US" altLang="zh-CN" dirty="0">
                <a:latin typeface="Arial" panose="020B0604020202020204" pitchFamily="34" charset="0"/>
              </a:rPr>
              <a:t>90</a:t>
            </a:r>
            <a:r>
              <a:rPr lang="zh-CN" altLang="zh-CN" dirty="0">
                <a:latin typeface="Arial" panose="020B0604020202020204" pitchFamily="34" charset="0"/>
              </a:rPr>
              <a:t>年代初期在载人潜器和无人有缆遥控潜器</a:t>
            </a:r>
            <a:r>
              <a:rPr lang="en-US" altLang="zh-CN" dirty="0">
                <a:latin typeface="Arial" panose="020B0604020202020204" pitchFamily="34" charset="0"/>
              </a:rPr>
              <a:t>(ROV)</a:t>
            </a:r>
            <a:r>
              <a:rPr lang="zh-CN" altLang="zh-CN" dirty="0">
                <a:latin typeface="Arial" panose="020B0604020202020204" pitchFamily="34" charset="0"/>
              </a:rPr>
              <a:t>的技术基础上迅速发展起来的一种新型海洋观测平台。</a:t>
            </a:r>
            <a:endParaRPr lang="en-US" altLang="zh-CN" dirty="0">
              <a:latin typeface="Arial" panose="020B0604020202020204" pitchFamily="34" charset="0"/>
            </a:endParaRPr>
          </a:p>
          <a:p>
            <a:pPr lvl="1" eaLnBrk="1" hangingPunct="1"/>
            <a:r>
              <a:rPr lang="zh-CN" altLang="zh-CN" u="sng" dirty="0">
                <a:latin typeface="Arial" panose="020B0604020202020204" pitchFamily="34" charset="0"/>
              </a:rPr>
              <a:t>主要用于无人、大范围、长时间水下环境监测</a:t>
            </a:r>
            <a:r>
              <a:rPr lang="zh-CN" altLang="zh-CN" dirty="0">
                <a:latin typeface="Arial" panose="020B0604020202020204" pitchFamily="34" charset="0"/>
              </a:rPr>
              <a:t>，包括物理学参数、海洋地质学和地球物理学参数、海洋化学参数、海洋生物学参数及海洋工程方面的现场接近观测。</a:t>
            </a:r>
            <a:endParaRPr lang="en-US" altLang="zh-CN" dirty="0">
              <a:latin typeface="Arial" panose="020B0604020202020204" pitchFamily="34" charset="0"/>
            </a:endParaRPr>
          </a:p>
        </p:txBody>
      </p:sp>
      <p:sp>
        <p:nvSpPr>
          <p:cNvPr id="58372" name="Rectangle 4"/>
          <p:cNvSpPr>
            <a:spLocks noGrp="1" noChangeArrowheads="1"/>
          </p:cNvSpPr>
          <p:nvPr>
            <p:ph type="title"/>
          </p:nvPr>
        </p:nvSpPr>
        <p:spPr>
          <a:xfrm>
            <a:off x="1524000" y="139700"/>
            <a:ext cx="9144000" cy="593725"/>
          </a:xfrm>
        </p:spPr>
        <p:txBody>
          <a:bodyPr/>
          <a:lstStyle/>
          <a:p>
            <a:pPr eaLnBrk="1" hangingPunct="1"/>
            <a:r>
              <a:rPr lang="en-US" altLang="zh-CN"/>
              <a:t>§4.3 </a:t>
            </a:r>
            <a:r>
              <a:rPr lang="zh-CN" altLang="en-US" dirty="0"/>
              <a:t>海洋数据获取手段</a:t>
            </a:r>
            <a:endParaRPr lang="zh-CN" altLang="en-US" dirty="0"/>
          </a:p>
        </p:txBody>
      </p:sp>
    </p:spTree>
  </p:cSld>
  <p:clrMapOvr>
    <a:masterClrMapping/>
  </p:clrMapOvr>
  <p:transition spd="med">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A934ADEF-DCB0-4922-8543-7BD925309CD8}"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59395" name="Rectangle 2"/>
          <p:cNvSpPr>
            <a:spLocks noGrp="1" noChangeArrowheads="1"/>
          </p:cNvSpPr>
          <p:nvPr>
            <p:ph type="body" idx="4294967295"/>
          </p:nvPr>
        </p:nvSpPr>
        <p:spPr>
          <a:xfrm>
            <a:off x="2057400" y="1125538"/>
            <a:ext cx="8153400" cy="5183187"/>
          </a:xfrm>
          <a:prstGeom prst="rect">
            <a:avLst/>
          </a:prstGeom>
        </p:spPr>
        <p:txBody>
          <a:bodyPr/>
          <a:lstStyle/>
          <a:p>
            <a:pPr eaLnBrk="1" hangingPunct="1"/>
            <a:r>
              <a:rPr lang="zh-CN" altLang="en-US" dirty="0">
                <a:ea typeface="宋体" panose="02010600030101010101" pitchFamily="2" charset="-122"/>
              </a:rPr>
              <a:t>海洋自动观测</a:t>
            </a:r>
            <a:endParaRPr lang="en-US" altLang="zh-CN" dirty="0">
              <a:ea typeface="宋体" panose="02010600030101010101" pitchFamily="2" charset="-122"/>
            </a:endParaRPr>
          </a:p>
          <a:p>
            <a:pPr lvl="1" eaLnBrk="1" hangingPunct="1"/>
            <a:r>
              <a:rPr lang="zh-CN" altLang="en-US" dirty="0">
                <a:solidFill>
                  <a:schemeClr val="accent1"/>
                </a:solidFill>
                <a:latin typeface="Verdana" panose="020B0604030504040204" pitchFamily="34" charset="0"/>
              </a:rPr>
              <a:t>水下自航式海洋观测平台</a:t>
            </a:r>
            <a:r>
              <a:rPr lang="en-US" altLang="zh-CN" dirty="0">
                <a:latin typeface="Arial" panose="020B0604020202020204" pitchFamily="34" charset="0"/>
              </a:rPr>
              <a:t>	</a:t>
            </a:r>
            <a:endParaRPr lang="en-US" altLang="zh-CN" dirty="0">
              <a:latin typeface="Arial" panose="020B0604020202020204" pitchFamily="34" charset="0"/>
            </a:endParaRPr>
          </a:p>
          <a:p>
            <a:pPr lvl="1" eaLnBrk="1" hangingPunct="1"/>
            <a:r>
              <a:rPr lang="zh-CN" altLang="zh-CN" dirty="0">
                <a:latin typeface="Arial" panose="020B0604020202020204" pitchFamily="34" charset="0"/>
              </a:rPr>
              <a:t>其特点是</a:t>
            </a:r>
            <a:r>
              <a:rPr lang="zh-CN" altLang="zh-CN" u="sng" dirty="0">
                <a:solidFill>
                  <a:srgbClr val="FF0000"/>
                </a:solidFill>
                <a:latin typeface="Arial" panose="020B0604020202020204" pitchFamily="34" charset="0"/>
              </a:rPr>
              <a:t>成本低、环境适应性强，可冲破人工潜水极限而进入现场进行接近观测</a:t>
            </a:r>
            <a:r>
              <a:rPr lang="zh-CN" altLang="zh-CN" dirty="0">
                <a:latin typeface="Arial" panose="020B0604020202020204" pitchFamily="34" charset="0"/>
              </a:rPr>
              <a:t>，免除了</a:t>
            </a:r>
            <a:r>
              <a:rPr lang="en-US" altLang="zh-CN" dirty="0">
                <a:latin typeface="Arial" panose="020B0604020202020204" pitchFamily="34" charset="0"/>
              </a:rPr>
              <a:t>ROV</a:t>
            </a:r>
            <a:r>
              <a:rPr lang="zh-CN" altLang="zh-CN" dirty="0">
                <a:latin typeface="Arial" panose="020B0604020202020204" pitchFamily="34" charset="0"/>
              </a:rPr>
              <a:t>需要水面支援母船的累赘，减少作业经费</a:t>
            </a:r>
            <a:r>
              <a:rPr lang="zh-CN" altLang="en-US" dirty="0">
                <a:latin typeface="Arial" panose="020B0604020202020204" pitchFamily="34" charset="0"/>
              </a:rPr>
              <a:t>；</a:t>
            </a:r>
            <a:r>
              <a:rPr lang="zh-CN" altLang="zh-CN" dirty="0">
                <a:latin typeface="Arial" panose="020B0604020202020204" pitchFamily="34" charset="0"/>
              </a:rPr>
              <a:t>体积小，使用方便，水下便于布放回收</a:t>
            </a:r>
            <a:r>
              <a:rPr lang="zh-CN" altLang="en-US" dirty="0">
                <a:latin typeface="Arial" panose="020B0604020202020204" pitchFamily="34" charset="0"/>
              </a:rPr>
              <a:t>；</a:t>
            </a:r>
            <a:r>
              <a:rPr lang="zh-CN" altLang="zh-CN" dirty="0">
                <a:latin typeface="Arial" panose="020B0604020202020204" pitchFamily="34" charset="0"/>
              </a:rPr>
              <a:t>可根据水声信号遥控或预置程序控制，按要求进行相关项目观测</a:t>
            </a:r>
            <a:r>
              <a:rPr lang="en-US" altLang="zh-CN" dirty="0">
                <a:latin typeface="Arial" panose="020B0604020202020204" pitchFamily="34" charset="0"/>
              </a:rPr>
              <a:t>;</a:t>
            </a:r>
            <a:r>
              <a:rPr lang="zh-CN" altLang="zh-CN" dirty="0">
                <a:latin typeface="Arial" panose="020B0604020202020204" pitchFamily="34" charset="0"/>
              </a:rPr>
              <a:t>有自主动力，水下运行时间相对较长，有源噪声低，可进行隐蔽观测。</a:t>
            </a:r>
            <a:endParaRPr lang="en-US" altLang="zh-CN" dirty="0">
              <a:latin typeface="Arial" panose="020B0604020202020204" pitchFamily="34" charset="0"/>
            </a:endParaRPr>
          </a:p>
        </p:txBody>
      </p:sp>
      <p:sp>
        <p:nvSpPr>
          <p:cNvPr id="59396" name="Rectangle 4"/>
          <p:cNvSpPr>
            <a:spLocks noGrp="1" noChangeArrowheads="1"/>
          </p:cNvSpPr>
          <p:nvPr>
            <p:ph type="title"/>
          </p:nvPr>
        </p:nvSpPr>
        <p:spPr>
          <a:xfrm>
            <a:off x="1524000" y="139700"/>
            <a:ext cx="9144000" cy="593725"/>
          </a:xfrm>
        </p:spPr>
        <p:txBody>
          <a:bodyPr/>
          <a:lstStyle/>
          <a:p>
            <a:pPr eaLnBrk="1" hangingPunct="1"/>
            <a:r>
              <a:rPr lang="en-US" altLang="zh-CN" dirty="0"/>
              <a:t>§4.3 </a:t>
            </a:r>
            <a:r>
              <a:rPr lang="zh-CN" altLang="en-US" dirty="0"/>
              <a:t>海洋数据获取手段</a:t>
            </a:r>
            <a:endParaRPr lang="zh-CN" altLang="en-US" dirty="0"/>
          </a:p>
        </p:txBody>
      </p:sp>
    </p:spTree>
  </p:cSld>
  <p:clrMapOvr>
    <a:masterClrMapping/>
  </p:clrMapOvr>
  <p:transition spd="med">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27143A26-6B0C-40A5-9171-AFE6FDD6692C}"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50179" name="Rectangle 2"/>
          <p:cNvSpPr>
            <a:spLocks noGrp="1" noChangeArrowheads="1"/>
          </p:cNvSpPr>
          <p:nvPr>
            <p:ph type="body" idx="4294967295"/>
          </p:nvPr>
        </p:nvSpPr>
        <p:spPr>
          <a:xfrm>
            <a:off x="2057400" y="1125538"/>
            <a:ext cx="8153400" cy="5183187"/>
          </a:xfrm>
          <a:prstGeom prst="rect">
            <a:avLst/>
          </a:prstGeom>
        </p:spPr>
        <p:txBody>
          <a:bodyPr/>
          <a:lstStyle/>
          <a:p>
            <a:pPr eaLnBrk="1" hangingPunct="1"/>
            <a:r>
              <a:rPr lang="zh-CN" altLang="en-US" dirty="0">
                <a:ea typeface="宋体" panose="02010600030101010101" pitchFamily="2" charset="-122"/>
              </a:rPr>
              <a:t>海洋自动观测</a:t>
            </a:r>
            <a:r>
              <a:rPr lang="en-US" altLang="zh-CN" dirty="0">
                <a:ea typeface="宋体" panose="02010600030101010101" pitchFamily="2" charset="-122"/>
              </a:rPr>
              <a:t>	</a:t>
            </a:r>
            <a:endParaRPr lang="en-US" altLang="zh-CN" dirty="0">
              <a:ea typeface="宋体" panose="02010600030101010101" pitchFamily="2" charset="-122"/>
            </a:endParaRPr>
          </a:p>
          <a:p>
            <a:pPr lvl="1" eaLnBrk="1" hangingPunct="1"/>
            <a:r>
              <a:rPr lang="zh-CN" altLang="en-US" dirty="0">
                <a:solidFill>
                  <a:schemeClr val="accent1"/>
                </a:solidFill>
                <a:latin typeface="Verdana" panose="020B0604030504040204" pitchFamily="34" charset="0"/>
              </a:rPr>
              <a:t>浮标观测</a:t>
            </a:r>
            <a:r>
              <a:rPr lang="en-US" altLang="zh-CN" dirty="0">
                <a:latin typeface="Arial" panose="020B0604020202020204" pitchFamily="34" charset="0"/>
              </a:rPr>
              <a:t>	</a:t>
            </a:r>
            <a:endParaRPr lang="en-US" altLang="zh-CN" dirty="0">
              <a:latin typeface="Arial" panose="020B0604020202020204" pitchFamily="34" charset="0"/>
            </a:endParaRPr>
          </a:p>
          <a:p>
            <a:pPr lvl="1" eaLnBrk="1" hangingPunct="1"/>
            <a:r>
              <a:rPr lang="zh-CN" altLang="zh-CN" dirty="0">
                <a:latin typeface="Arial" panose="020B0604020202020204" pitchFamily="34" charset="0"/>
              </a:rPr>
              <a:t>微电子技术、计算机技术、传感器技术及卫星通讯和定位技术的发展，推动了</a:t>
            </a:r>
            <a:r>
              <a:rPr lang="zh-CN" altLang="en-US" dirty="0">
                <a:solidFill>
                  <a:srgbClr val="FF0000"/>
                </a:solidFill>
                <a:latin typeface="Arial" panose="020B0604020202020204" pitchFamily="34" charset="0"/>
              </a:rPr>
              <a:t>资料</a:t>
            </a:r>
            <a:r>
              <a:rPr lang="zh-CN" altLang="zh-CN" dirty="0">
                <a:solidFill>
                  <a:srgbClr val="FF0000"/>
                </a:solidFill>
                <a:latin typeface="Arial" panose="020B0604020202020204" pitchFamily="34" charset="0"/>
              </a:rPr>
              <a:t>浮标和沿岸台站</a:t>
            </a:r>
            <a:r>
              <a:rPr lang="zh-CN" altLang="zh-CN" dirty="0">
                <a:latin typeface="Arial" panose="020B0604020202020204" pitchFamily="34" charset="0"/>
              </a:rPr>
              <a:t>海洋观测技术的发展。</a:t>
            </a:r>
            <a:endParaRPr lang="en-US" altLang="zh-CN" dirty="0">
              <a:latin typeface="Arial" panose="020B0604020202020204" pitchFamily="34" charset="0"/>
            </a:endParaRPr>
          </a:p>
          <a:p>
            <a:pPr lvl="1" eaLnBrk="1" hangingPunct="1"/>
            <a:r>
              <a:rPr lang="zh-CN" altLang="zh-CN" dirty="0">
                <a:latin typeface="Arial" panose="020B0604020202020204" pitchFamily="34" charset="0"/>
              </a:rPr>
              <a:t>海上各项活动都将从浮标所获得的数据中受益。随着海洋科学领域的研究和发展，从</a:t>
            </a:r>
            <a:r>
              <a:rPr lang="en-US" altLang="zh-CN" dirty="0">
                <a:latin typeface="Arial" panose="020B0604020202020204" pitchFamily="34" charset="0"/>
              </a:rPr>
              <a:t>1990</a:t>
            </a:r>
            <a:r>
              <a:rPr lang="zh-CN" altLang="zh-CN" dirty="0">
                <a:latin typeface="Arial" panose="020B0604020202020204" pitchFamily="34" charset="0"/>
              </a:rPr>
              <a:t>年开始了应用浮标、飞机和卫星遥感技术对海洋进行观测。</a:t>
            </a:r>
            <a:endParaRPr lang="en-US" altLang="zh-CN" dirty="0">
              <a:latin typeface="Arial" panose="020B0604020202020204" pitchFamily="34" charset="0"/>
            </a:endParaRPr>
          </a:p>
          <a:p>
            <a:pPr lvl="1" eaLnBrk="1" hangingPunct="1"/>
            <a:r>
              <a:rPr lang="zh-CN" altLang="en-US" u="sng" dirty="0">
                <a:solidFill>
                  <a:srgbClr val="FF0000"/>
                </a:solidFill>
                <a:latin typeface="Arial" panose="020B0604020202020204" pitchFamily="34" charset="0"/>
              </a:rPr>
              <a:t>浮标分为漂流浮标（包括卫星跟踪漂流浮标、船舶跟踪漂流浮标和海上溢油跟踪浮标）和锚系浮标（包括气象资料浮标、海水水质监测浮标、波浪浮标等）</a:t>
            </a:r>
            <a:r>
              <a:rPr lang="zh-CN" altLang="en-US" dirty="0">
                <a:latin typeface="Arial" panose="020B0604020202020204" pitchFamily="34" charset="0"/>
              </a:rPr>
              <a:t>。</a:t>
            </a:r>
            <a:endParaRPr lang="en-US" altLang="zh-CN" dirty="0">
              <a:latin typeface="Arial" panose="020B0604020202020204" pitchFamily="34" charset="0"/>
            </a:endParaRPr>
          </a:p>
        </p:txBody>
      </p:sp>
      <p:sp>
        <p:nvSpPr>
          <p:cNvPr id="50180" name="Rectangle 4"/>
          <p:cNvSpPr>
            <a:spLocks noGrp="1" noChangeArrowheads="1"/>
          </p:cNvSpPr>
          <p:nvPr>
            <p:ph type="title"/>
          </p:nvPr>
        </p:nvSpPr>
        <p:spPr>
          <a:xfrm>
            <a:off x="1524000" y="139700"/>
            <a:ext cx="9144000" cy="593725"/>
          </a:xfrm>
        </p:spPr>
        <p:txBody>
          <a:bodyPr/>
          <a:lstStyle/>
          <a:p>
            <a:pPr eaLnBrk="1" hangingPunct="1"/>
            <a:r>
              <a:rPr lang="en-US" altLang="zh-CN" dirty="0"/>
              <a:t>§4.3 </a:t>
            </a:r>
            <a:r>
              <a:rPr lang="zh-CN" altLang="en-US" dirty="0"/>
              <a:t>海洋数据获取手段</a:t>
            </a:r>
            <a:endParaRPr lang="zh-CN" altLang="en-US" dirty="0"/>
          </a:p>
        </p:txBody>
      </p:sp>
    </p:spTree>
  </p:cSld>
  <p:clrMapOvr>
    <a:masterClrMapping/>
  </p:clrMapOvr>
  <p:transition spd="med">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A720B08D-6F87-4686-BD4A-6D28342C6453}"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61443" name="Rectangle 2"/>
          <p:cNvSpPr>
            <a:spLocks noGrp="1" noChangeArrowheads="1"/>
          </p:cNvSpPr>
          <p:nvPr>
            <p:ph type="body" idx="4294967295"/>
          </p:nvPr>
        </p:nvSpPr>
        <p:spPr>
          <a:xfrm>
            <a:off x="2057400" y="1125538"/>
            <a:ext cx="8153400" cy="5183187"/>
          </a:xfrm>
          <a:prstGeom prst="rect">
            <a:avLst/>
          </a:prstGeom>
        </p:spPr>
        <p:txBody>
          <a:bodyPr/>
          <a:lstStyle/>
          <a:p>
            <a:pPr eaLnBrk="1" hangingPunct="1"/>
            <a:r>
              <a:rPr lang="zh-CN" altLang="en-US" dirty="0">
                <a:ea typeface="宋体" panose="02010600030101010101" pitchFamily="2" charset="-122"/>
              </a:rPr>
              <a:t>海洋自动观测</a:t>
            </a:r>
            <a:endParaRPr lang="en-US" altLang="zh-CN" dirty="0">
              <a:ea typeface="宋体" panose="02010600030101010101" pitchFamily="2" charset="-122"/>
            </a:endParaRPr>
          </a:p>
          <a:p>
            <a:pPr lvl="1" eaLnBrk="1" hangingPunct="1"/>
            <a:r>
              <a:rPr lang="zh-CN" altLang="en-US" dirty="0">
                <a:solidFill>
                  <a:schemeClr val="accent1"/>
                </a:solidFill>
                <a:latin typeface="Verdana" panose="020B0604030504040204" pitchFamily="34" charset="0"/>
              </a:rPr>
              <a:t>浮标观测</a:t>
            </a:r>
            <a:endParaRPr lang="en-US" altLang="zh-CN" dirty="0">
              <a:latin typeface="Arial" panose="020B0604020202020204" pitchFamily="34" charset="0"/>
            </a:endParaRPr>
          </a:p>
        </p:txBody>
      </p:sp>
      <p:sp>
        <p:nvSpPr>
          <p:cNvPr id="61444" name="Rectangle 4"/>
          <p:cNvSpPr>
            <a:spLocks noGrp="1" noChangeArrowheads="1"/>
          </p:cNvSpPr>
          <p:nvPr>
            <p:ph type="title"/>
          </p:nvPr>
        </p:nvSpPr>
        <p:spPr>
          <a:xfrm>
            <a:off x="1524000" y="139700"/>
            <a:ext cx="9144000" cy="593725"/>
          </a:xfrm>
        </p:spPr>
        <p:txBody>
          <a:bodyPr/>
          <a:lstStyle/>
          <a:p>
            <a:pPr eaLnBrk="1" hangingPunct="1"/>
            <a:r>
              <a:rPr lang="en-US" altLang="zh-CN" dirty="0"/>
              <a:t>§4.3 </a:t>
            </a:r>
            <a:r>
              <a:rPr lang="zh-CN" altLang="en-US" dirty="0"/>
              <a:t>海洋数据获取手段</a:t>
            </a:r>
            <a:endParaRPr lang="zh-CN" altLang="en-US" dirty="0"/>
          </a:p>
        </p:txBody>
      </p:sp>
      <p:pic>
        <p:nvPicPr>
          <p:cNvPr id="549890" name="changeTheId-img-2" descr="气象浮标">
            <a:hlinkClick r:id="rId1" tooltip="&quot;气象浮标&quot;"/>
          </p:cNvPr>
          <p:cNvPicPr>
            <a:picLocks noChangeAspect="1" noChangeArrowheads="1"/>
          </p:cNvPicPr>
          <p:nvPr/>
        </p:nvPicPr>
        <p:blipFill>
          <a:blip r:embed="rId2" r:link="rId3" cstate="print"/>
          <a:srcRect l="19467" r="7466"/>
          <a:stretch>
            <a:fillRect/>
          </a:stretch>
        </p:blipFill>
        <p:spPr bwMode="auto">
          <a:xfrm>
            <a:off x="1893981" y="2786058"/>
            <a:ext cx="2095500" cy="2163763"/>
          </a:xfrm>
          <a:prstGeom prst="rect">
            <a:avLst/>
          </a:prstGeom>
          <a:noFill/>
        </p:spPr>
      </p:pic>
      <p:pic>
        <p:nvPicPr>
          <p:cNvPr id="549889" name="Picture 1"/>
          <p:cNvPicPr>
            <a:picLocks noChangeAspect="1" noChangeArrowheads="1"/>
          </p:cNvPicPr>
          <p:nvPr/>
        </p:nvPicPr>
        <p:blipFill>
          <a:blip r:embed="rId4" cstate="print"/>
          <a:srcRect b="2956"/>
          <a:stretch>
            <a:fillRect/>
          </a:stretch>
        </p:blipFill>
        <p:spPr bwMode="auto">
          <a:xfrm>
            <a:off x="4190620" y="2786058"/>
            <a:ext cx="1943100" cy="2163762"/>
          </a:xfrm>
          <a:prstGeom prst="rect">
            <a:avLst/>
          </a:prstGeom>
          <a:noFill/>
        </p:spPr>
      </p:pic>
      <p:sp>
        <p:nvSpPr>
          <p:cNvPr id="549891" name="Rectangle 3"/>
          <p:cNvSpPr>
            <a:spLocks noChangeArrowheads="1"/>
          </p:cNvSpPr>
          <p:nvPr/>
        </p:nvSpPr>
        <p:spPr bwMode="auto">
          <a:xfrm>
            <a:off x="1524000" y="44450"/>
            <a:ext cx="309880" cy="3683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549892" name="Rectangle 4"/>
          <p:cNvSpPr>
            <a:spLocks noChangeArrowheads="1"/>
          </p:cNvSpPr>
          <p:nvPr/>
        </p:nvSpPr>
        <p:spPr bwMode="auto">
          <a:xfrm>
            <a:off x="5876925" y="2483168"/>
            <a:ext cx="438150" cy="27559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Arial" panose="020B0604020202020204" pitchFamily="34" charset="0"/>
              </a:rPr>
              <a:t>      </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49893" name="Rectangle 5"/>
          <p:cNvSpPr>
            <a:spLocks noChangeArrowheads="1"/>
          </p:cNvSpPr>
          <p:nvPr/>
        </p:nvSpPr>
        <p:spPr bwMode="auto">
          <a:xfrm>
            <a:off x="2095472" y="5077037"/>
            <a:ext cx="1785950" cy="645160"/>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Arial" panose="020B0604020202020204" pitchFamily="34" charset="0"/>
              </a:rPr>
              <a:t>海洋气象浮标（锚系浮标） </a:t>
            </a:r>
            <a:endParaRPr kumimoji="0" lang="zh-CN" altLang="en-US" i="0" u="none" strike="noStrike" cap="none" normalizeH="0" baseline="0" dirty="0">
              <a:ln>
                <a:noFill/>
              </a:ln>
              <a:solidFill>
                <a:srgbClr val="000000"/>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0" name="Rectangle 5"/>
          <p:cNvSpPr>
            <a:spLocks noChangeArrowheads="1"/>
          </p:cNvSpPr>
          <p:nvPr/>
        </p:nvSpPr>
        <p:spPr bwMode="auto">
          <a:xfrm>
            <a:off x="4095736" y="5144098"/>
            <a:ext cx="2357454" cy="645160"/>
          </a:xfrm>
          <a:prstGeom prst="rect">
            <a:avLst/>
          </a:prstGeom>
          <a:noFill/>
          <a:ln w="9525">
            <a:noFill/>
            <a:miter lim="800000"/>
          </a:ln>
          <a:effectLst/>
        </p:spPr>
        <p:txBody>
          <a:bodyPr vert="horz" wrap="square" lIns="91440" tIns="45720" rIns="91440" bIns="45720" numCol="1" anchor="ctr" anchorCtr="0" compatLnSpc="1">
            <a:spAutoFit/>
          </a:bodyPr>
          <a:lstStyle/>
          <a:p>
            <a:pPr algn="ctr"/>
            <a:r>
              <a:rPr lang="zh-CN" altLang="en-US" dirty="0">
                <a:solidFill>
                  <a:srgbClr val="000000"/>
                </a:solidFill>
                <a:latin typeface="Arial" panose="020B0604020202020204" pitchFamily="34" charset="0"/>
                <a:ea typeface="宋体" panose="02010600030101010101" pitchFamily="2" charset="-122"/>
                <a:cs typeface="Arial" panose="020B0604020202020204" pitchFamily="34" charset="0"/>
              </a:rPr>
              <a:t>海洋波浪浮标</a:t>
            </a:r>
            <a:endParaRPr lang="en-US" altLang="zh-CN" dirty="0">
              <a:solidFill>
                <a:srgbClr val="000000"/>
              </a:solidFill>
              <a:latin typeface="Arial" panose="020B0604020202020204" pitchFamily="34" charset="0"/>
              <a:ea typeface="宋体" panose="02010600030101010101" pitchFamily="2" charset="-122"/>
              <a:cs typeface="Arial" panose="020B0604020202020204" pitchFamily="34" charset="0"/>
            </a:endParaRPr>
          </a:p>
          <a:p>
            <a:pPr algn="ctr"/>
            <a:r>
              <a:rPr lang="zh-CN" altLang="en-US" dirty="0">
                <a:solidFill>
                  <a:srgbClr val="000000"/>
                </a:solidFill>
                <a:latin typeface="Arial" panose="020B0604020202020204" pitchFamily="34" charset="0"/>
                <a:ea typeface="宋体" panose="02010600030101010101" pitchFamily="2" charset="-122"/>
                <a:cs typeface="Arial" panose="020B0604020202020204" pitchFamily="34" charset="0"/>
              </a:rPr>
              <a:t>（锚系浮标）</a:t>
            </a:r>
            <a:endParaRPr lang="zh-CN" altLang="en-US" dirty="0">
              <a:solidFill>
                <a:srgbClr val="000000"/>
              </a:solidFill>
              <a:latin typeface="Arial" panose="020B0604020202020204" pitchFamily="34" charset="0"/>
              <a:ea typeface="宋体" panose="02010600030101010101" pitchFamily="2" charset="-122"/>
              <a:cs typeface="Arial" panose="020B0604020202020204" pitchFamily="34" charset="0"/>
            </a:endParaRPr>
          </a:p>
        </p:txBody>
      </p:sp>
      <p:pic>
        <p:nvPicPr>
          <p:cNvPr id="549895" name="Picture 7"/>
          <p:cNvPicPr>
            <a:picLocks noChangeAspect="1" noChangeArrowheads="1"/>
          </p:cNvPicPr>
          <p:nvPr/>
        </p:nvPicPr>
        <p:blipFill>
          <a:blip r:embed="rId5" cstate="print"/>
          <a:srcRect l="10022" t="3355" r="12642" b="5034"/>
          <a:stretch>
            <a:fillRect/>
          </a:stretch>
        </p:blipFill>
        <p:spPr bwMode="auto">
          <a:xfrm>
            <a:off x="6323137" y="2786058"/>
            <a:ext cx="1989648" cy="2160000"/>
          </a:xfrm>
          <a:prstGeom prst="rect">
            <a:avLst/>
          </a:prstGeom>
          <a:noFill/>
        </p:spPr>
      </p:pic>
      <p:pic>
        <p:nvPicPr>
          <p:cNvPr id="549894" name="Picture 6"/>
          <p:cNvPicPr>
            <a:picLocks noChangeAspect="1" noChangeArrowheads="1"/>
          </p:cNvPicPr>
          <p:nvPr/>
        </p:nvPicPr>
        <p:blipFill>
          <a:blip r:embed="rId6" cstate="print"/>
          <a:srcRect/>
          <a:stretch>
            <a:fillRect/>
          </a:stretch>
        </p:blipFill>
        <p:spPr bwMode="auto">
          <a:xfrm>
            <a:off x="8489723" y="2809504"/>
            <a:ext cx="1936552" cy="2160000"/>
          </a:xfrm>
          <a:prstGeom prst="rect">
            <a:avLst/>
          </a:prstGeom>
          <a:noFill/>
        </p:spPr>
      </p:pic>
      <p:sp>
        <p:nvSpPr>
          <p:cNvPr id="549896" name="Rectangle 8"/>
          <p:cNvSpPr>
            <a:spLocks noChangeArrowheads="1"/>
          </p:cNvSpPr>
          <p:nvPr/>
        </p:nvSpPr>
        <p:spPr bwMode="auto">
          <a:xfrm>
            <a:off x="1524000" y="44450"/>
            <a:ext cx="309880" cy="3683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sp>
        <p:nvSpPr>
          <p:cNvPr id="549897" name="Rectangle 9"/>
          <p:cNvSpPr>
            <a:spLocks noChangeArrowheads="1"/>
          </p:cNvSpPr>
          <p:nvPr/>
        </p:nvSpPr>
        <p:spPr bwMode="auto">
          <a:xfrm>
            <a:off x="5890260" y="2392680"/>
            <a:ext cx="411480" cy="275590"/>
          </a:xfrm>
          <a:prstGeom prst="rect">
            <a:avLst/>
          </a:prstGeom>
          <a:noFill/>
          <a:ln w="9525">
            <a:noFill/>
            <a:miter lim="800000"/>
          </a:ln>
          <a:effec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49898" name="Rectangle 10"/>
          <p:cNvSpPr>
            <a:spLocks noChangeArrowheads="1"/>
          </p:cNvSpPr>
          <p:nvPr/>
        </p:nvSpPr>
        <p:spPr bwMode="auto">
          <a:xfrm>
            <a:off x="8667800" y="5286904"/>
            <a:ext cx="1785918" cy="368300"/>
          </a:xfrm>
          <a:prstGeom prst="rect">
            <a:avLst/>
          </a:prstGeom>
          <a:noFill/>
          <a:ln w="9525">
            <a:noFill/>
            <a:miter lim="800000"/>
          </a:ln>
          <a:effectLst/>
        </p:spPr>
        <p:txBody>
          <a:bodyPr vert="horz" wrap="square" lIns="91440" tIns="45720" rIns="91440" bIns="45720" numCol="1" anchor="ctr" anchorCtr="0" compatLnSpc="1">
            <a:spAutoFit/>
          </a:bodyPr>
          <a:lstStyle/>
          <a:p>
            <a:pPr algn="ctr"/>
            <a:r>
              <a:rPr lang="zh-CN" altLang="en-US" dirty="0">
                <a:solidFill>
                  <a:srgbClr val="000000"/>
                </a:solidFill>
                <a:latin typeface="Arial" panose="020B0604020202020204" pitchFamily="34" charset="0"/>
                <a:ea typeface="宋体" panose="02010600030101010101" pitchFamily="2" charset="-122"/>
                <a:cs typeface="Arial" panose="020B0604020202020204" pitchFamily="34" charset="0"/>
              </a:rPr>
              <a:t>卫星漂流浮标</a:t>
            </a:r>
            <a:endParaRPr lang="zh-CN" altLang="en-US" dirty="0">
              <a:solidFill>
                <a:srgbClr val="000000"/>
              </a:solidFill>
              <a:latin typeface="Arial" panose="020B0604020202020204" pitchFamily="34" charset="0"/>
              <a:ea typeface="宋体" panose="02010600030101010101" pitchFamily="2" charset="-122"/>
              <a:cs typeface="Arial" panose="020B0604020202020204" pitchFamily="34" charset="0"/>
            </a:endParaRPr>
          </a:p>
        </p:txBody>
      </p:sp>
      <p:sp>
        <p:nvSpPr>
          <p:cNvPr id="16" name="Rectangle 5"/>
          <p:cNvSpPr>
            <a:spLocks noChangeArrowheads="1"/>
          </p:cNvSpPr>
          <p:nvPr/>
        </p:nvSpPr>
        <p:spPr bwMode="auto">
          <a:xfrm>
            <a:off x="6524628" y="5238981"/>
            <a:ext cx="1785950" cy="645160"/>
          </a:xfrm>
          <a:prstGeom prst="rect">
            <a:avLst/>
          </a:prstGeom>
          <a:noFill/>
          <a:ln w="9525">
            <a:noFill/>
            <a:miter lim="800000"/>
          </a:ln>
          <a:effectLst/>
        </p:spPr>
        <p:txBody>
          <a:bodyPr vert="horz" wrap="square" lIns="91440" tIns="45720" rIns="91440" bIns="45720" numCol="1" anchor="ctr" anchorCtr="0" compatLnSpc="1">
            <a:spAutoFit/>
          </a:bodyPr>
          <a:lstStyle/>
          <a:p>
            <a:pPr lvl="0" algn="ctr"/>
            <a:r>
              <a:rPr lang="en-US" altLang="zh-CN" dirty="0">
                <a:solidFill>
                  <a:srgbClr val="000000"/>
                </a:solidFill>
                <a:latin typeface="Arial" panose="020B0604020202020204" pitchFamily="34" charset="0"/>
                <a:ea typeface="宋体" panose="02010600030101010101" pitchFamily="2" charset="-122"/>
                <a:cs typeface="Arial" panose="020B0604020202020204" pitchFamily="34" charset="0"/>
              </a:rPr>
              <a:t>WT-2S</a:t>
            </a:r>
            <a:r>
              <a:rPr lang="zh-CN" altLang="en-US" dirty="0">
                <a:solidFill>
                  <a:srgbClr val="000000"/>
                </a:solidFill>
                <a:latin typeface="Arial" panose="020B0604020202020204" pitchFamily="34" charset="0"/>
                <a:ea typeface="宋体" panose="02010600030101010101" pitchFamily="2" charset="-122"/>
                <a:cs typeface="Arial" panose="020B0604020202020204" pitchFamily="34" charset="0"/>
              </a:rPr>
              <a:t>表层漂移浮标 </a:t>
            </a:r>
            <a:endParaRPr lang="zh-CN" altLang="en-US" dirty="0">
              <a:solidFill>
                <a:srgbClr val="000000"/>
              </a:solidFill>
              <a:latin typeface="Arial" panose="020B0604020202020204" pitchFamily="34" charset="0"/>
              <a:ea typeface="宋体" panose="02010600030101010101" pitchFamily="2" charset="-122"/>
              <a:cs typeface="Arial" panose="020B0604020202020204" pitchFamily="34" charset="0"/>
            </a:endParaRPr>
          </a:p>
        </p:txBody>
      </p:sp>
    </p:spTree>
  </p:cSld>
  <p:clrMapOvr>
    <a:masterClrMapping/>
  </p:clrMapOvr>
  <p:transition spd="med">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38D2E133-E664-48F7-9465-494854728E18}"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64515" name="Rectangle 2"/>
          <p:cNvSpPr>
            <a:spLocks noGrp="1" noChangeArrowheads="1"/>
          </p:cNvSpPr>
          <p:nvPr>
            <p:ph type="body" idx="4294967295"/>
          </p:nvPr>
        </p:nvSpPr>
        <p:spPr>
          <a:xfrm>
            <a:off x="2057400" y="1125538"/>
            <a:ext cx="8153400" cy="5183187"/>
          </a:xfrm>
          <a:prstGeom prst="rect">
            <a:avLst/>
          </a:prstGeom>
        </p:spPr>
        <p:txBody>
          <a:bodyPr/>
          <a:lstStyle/>
          <a:p>
            <a:pPr eaLnBrk="1" hangingPunct="1"/>
            <a:r>
              <a:rPr lang="zh-CN" altLang="en-US" dirty="0">
                <a:ea typeface="宋体" panose="02010600030101010101" pitchFamily="2" charset="-122"/>
              </a:rPr>
              <a:t>海洋声探测</a:t>
            </a:r>
            <a:endParaRPr lang="en-US" altLang="zh-CN" dirty="0">
              <a:ea typeface="宋体" panose="02010600030101010101" pitchFamily="2" charset="-122"/>
            </a:endParaRPr>
          </a:p>
          <a:p>
            <a:pPr lvl="1" eaLnBrk="1" hangingPunct="1"/>
            <a:r>
              <a:rPr lang="zh-CN" altLang="zh-CN" dirty="0">
                <a:solidFill>
                  <a:srgbClr val="FF0000"/>
                </a:solidFill>
                <a:latin typeface="Arial" panose="020B0604020202020204" pitchFamily="34" charset="0"/>
              </a:rPr>
              <a:t>水声探测技术</a:t>
            </a:r>
            <a:r>
              <a:rPr lang="zh-CN" altLang="zh-CN" dirty="0">
                <a:latin typeface="Arial" panose="020B0604020202020204" pitchFamily="34" charset="0"/>
              </a:rPr>
              <a:t>在海洋观测和水下目标探测中占有很重要的地位，是实现水下目标遥测的主要手段。</a:t>
            </a:r>
            <a:endParaRPr lang="en-US" altLang="zh-CN" dirty="0">
              <a:latin typeface="Arial" panose="020B0604020202020204" pitchFamily="34" charset="0"/>
            </a:endParaRPr>
          </a:p>
          <a:p>
            <a:pPr lvl="1" eaLnBrk="1" hangingPunct="1"/>
            <a:r>
              <a:rPr lang="zh-CN" altLang="zh-CN" dirty="0">
                <a:latin typeface="Arial" panose="020B0604020202020204" pitchFamily="34" charset="0"/>
              </a:rPr>
              <a:t>目前，国际上比较成熟的海洋声探测技术</a:t>
            </a:r>
            <a:r>
              <a:rPr lang="zh-CN" altLang="zh-CN" dirty="0">
                <a:solidFill>
                  <a:srgbClr val="FF0000"/>
                </a:solidFill>
                <a:latin typeface="Arial" panose="020B0604020202020204" pitchFamily="34" charset="0"/>
              </a:rPr>
              <a:t>海洋剖面测量技术、声成像技术、鱼群探测技术、声层析技术、声学多波束测深技术及声通讯技术</a:t>
            </a:r>
            <a:r>
              <a:rPr lang="zh-CN" altLang="zh-CN" dirty="0">
                <a:latin typeface="Arial" panose="020B0604020202020204" pitchFamily="34" charset="0"/>
              </a:rPr>
              <a:t>。</a:t>
            </a:r>
            <a:endParaRPr lang="en-US" altLang="zh-CN" dirty="0">
              <a:latin typeface="Arial" panose="020B0604020202020204" pitchFamily="34" charset="0"/>
            </a:endParaRPr>
          </a:p>
          <a:p>
            <a:pPr lvl="1" eaLnBrk="1" hangingPunct="1"/>
            <a:r>
              <a:rPr lang="zh-CN" altLang="zh-CN" dirty="0">
                <a:latin typeface="Arial" panose="020B0604020202020204" pitchFamily="34" charset="0"/>
              </a:rPr>
              <a:t>合成孔径</a:t>
            </a:r>
            <a:r>
              <a:rPr lang="zh-CN" altLang="zh-CN" u="sng" dirty="0">
                <a:solidFill>
                  <a:srgbClr val="FF0000"/>
                </a:solidFill>
                <a:latin typeface="Arial" panose="020B0604020202020204" pitchFamily="34" charset="0"/>
              </a:rPr>
              <a:t>声呐（影响动物健康）</a:t>
            </a:r>
            <a:r>
              <a:rPr lang="zh-CN" altLang="zh-CN" dirty="0">
                <a:latin typeface="Arial" panose="020B0604020202020204" pitchFamily="34" charset="0"/>
              </a:rPr>
              <a:t>是利用接收基阵在拖曳过程中对海洋中目标反射信号的时间采样，经延时补偿构成目标的空间图像，它以小孔径的基阵获得大孔径基阵才具有的分辨率。</a:t>
            </a:r>
            <a:endParaRPr lang="en-US" altLang="zh-CN" dirty="0">
              <a:latin typeface="Arial" panose="020B0604020202020204" pitchFamily="34" charset="0"/>
            </a:endParaRPr>
          </a:p>
        </p:txBody>
      </p:sp>
      <p:sp>
        <p:nvSpPr>
          <p:cNvPr id="64516" name="Rectangle 4"/>
          <p:cNvSpPr>
            <a:spLocks noGrp="1" noChangeArrowheads="1"/>
          </p:cNvSpPr>
          <p:nvPr>
            <p:ph type="title"/>
          </p:nvPr>
        </p:nvSpPr>
        <p:spPr>
          <a:xfrm>
            <a:off x="1524000" y="139700"/>
            <a:ext cx="9144000" cy="593725"/>
          </a:xfrm>
        </p:spPr>
        <p:txBody>
          <a:bodyPr/>
          <a:lstStyle/>
          <a:p>
            <a:pPr eaLnBrk="1" hangingPunct="1"/>
            <a:r>
              <a:rPr lang="en-US" altLang="zh-CN" dirty="0"/>
              <a:t>§4.3 </a:t>
            </a:r>
            <a:r>
              <a:rPr lang="zh-CN" altLang="en-US" dirty="0"/>
              <a:t>海洋数据获取手段</a:t>
            </a:r>
            <a:endParaRPr lang="zh-CN" altLang="en-US" dirty="0"/>
          </a:p>
        </p:txBody>
      </p:sp>
    </p:spTree>
  </p:cSld>
  <p:clrMapOvr>
    <a:masterClrMapping/>
  </p:clrMapOvr>
  <p:transition spd="med">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ACA5E184-6AD2-4835-B080-A655AFCC33A0}"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65539" name="Rectangle 2"/>
          <p:cNvSpPr>
            <a:spLocks noGrp="1" noChangeArrowheads="1"/>
          </p:cNvSpPr>
          <p:nvPr>
            <p:ph type="body" idx="4294967295"/>
          </p:nvPr>
        </p:nvSpPr>
        <p:spPr>
          <a:xfrm>
            <a:off x="2067793" y="1125538"/>
            <a:ext cx="8153400" cy="5181600"/>
          </a:xfrm>
          <a:prstGeom prst="rect">
            <a:avLst/>
          </a:prstGeom>
        </p:spPr>
        <p:txBody>
          <a:bodyPr/>
          <a:lstStyle/>
          <a:p>
            <a:pPr eaLnBrk="1" hangingPunct="1"/>
            <a:r>
              <a:rPr lang="zh-CN" altLang="en-US" dirty="0">
                <a:ea typeface="宋体" panose="02010600030101010101" pitchFamily="2" charset="-122"/>
              </a:rPr>
              <a:t>海洋声探测</a:t>
            </a:r>
            <a:endParaRPr lang="en-US" altLang="zh-CN" dirty="0">
              <a:ea typeface="宋体" panose="02010600030101010101" pitchFamily="2" charset="-122"/>
            </a:endParaRPr>
          </a:p>
          <a:p>
            <a:pPr lvl="1" eaLnBrk="1" hangingPunct="1"/>
            <a:r>
              <a:rPr lang="zh-CN" altLang="zh-CN" dirty="0">
                <a:latin typeface="Arial" panose="020B0604020202020204" pitchFamily="34" charset="0"/>
              </a:rPr>
              <a:t>声相关海流剖面测量</a:t>
            </a:r>
            <a:r>
              <a:rPr lang="en-US" altLang="zh-CN" dirty="0">
                <a:latin typeface="Arial" panose="020B0604020202020204" pitchFamily="34" charset="0"/>
              </a:rPr>
              <a:t>(ACCP)</a:t>
            </a:r>
            <a:r>
              <a:rPr lang="zh-CN" altLang="zh-CN" dirty="0">
                <a:latin typeface="Arial" panose="020B0604020202020204" pitchFamily="34" charset="0"/>
              </a:rPr>
              <a:t>技术测得的海流剖面深度已经达到</a:t>
            </a:r>
            <a:r>
              <a:rPr lang="en-US" altLang="zh-CN" dirty="0">
                <a:latin typeface="Arial" panose="020B0604020202020204" pitchFamily="34" charset="0"/>
              </a:rPr>
              <a:t>1200m</a:t>
            </a:r>
            <a:r>
              <a:rPr lang="zh-CN" altLang="zh-CN" dirty="0">
                <a:latin typeface="Arial" panose="020B0604020202020204" pitchFamily="34" charset="0"/>
              </a:rPr>
              <a:t>，对底深度已达</a:t>
            </a:r>
            <a:r>
              <a:rPr lang="en-US" altLang="zh-CN" dirty="0">
                <a:latin typeface="Arial" panose="020B0604020202020204" pitchFamily="34" charset="0"/>
              </a:rPr>
              <a:t>5000m</a:t>
            </a:r>
            <a:r>
              <a:rPr lang="zh-CN" altLang="zh-CN" dirty="0">
                <a:latin typeface="Arial" panose="020B0604020202020204" pitchFamily="34" charset="0"/>
              </a:rPr>
              <a:t>。</a:t>
            </a:r>
            <a:endParaRPr lang="en-US" altLang="zh-CN" dirty="0">
              <a:latin typeface="Arial" panose="020B0604020202020204" pitchFamily="34" charset="0"/>
            </a:endParaRPr>
          </a:p>
          <a:p>
            <a:pPr lvl="1" eaLnBrk="1" hangingPunct="1"/>
            <a:r>
              <a:rPr lang="zh-CN" altLang="zh-CN" dirty="0">
                <a:latin typeface="Arial" panose="020B0604020202020204" pitchFamily="34" charset="0"/>
              </a:rPr>
              <a:t>声层析技术通过测量声速传播的时间来计算传播路径上的平均温度，通过测量声在双声线传播的时间差来测量上升流、通量、涡流等动力参数。</a:t>
            </a:r>
            <a:endParaRPr lang="en-US" altLang="zh-CN" dirty="0">
              <a:latin typeface="Arial" panose="020B0604020202020204" pitchFamily="34" charset="0"/>
            </a:endParaRPr>
          </a:p>
          <a:p>
            <a:pPr lvl="1" eaLnBrk="1" hangingPunct="1"/>
            <a:r>
              <a:rPr lang="zh-CN" altLang="zh-CN" dirty="0">
                <a:solidFill>
                  <a:srgbClr val="FF0000"/>
                </a:solidFill>
                <a:latin typeface="Arial" panose="020B0604020202020204" pitchFamily="34" charset="0"/>
              </a:rPr>
              <a:t>水声探测鱼群和渔资源评估技术，通过探测鱼群的群体和个体回波信息，经过积分处理，可以得到鱼群总量及分类鱼量</a:t>
            </a:r>
            <a:r>
              <a:rPr lang="zh-CN" altLang="zh-CN" dirty="0">
                <a:latin typeface="Arial" panose="020B0604020202020204" pitchFamily="34" charset="0"/>
              </a:rPr>
              <a:t>，在船走航时作业，可探测</a:t>
            </a:r>
            <a:r>
              <a:rPr lang="en-US" altLang="zh-CN" dirty="0">
                <a:latin typeface="Arial" panose="020B0604020202020204" pitchFamily="34" charset="0"/>
              </a:rPr>
              <a:t>1</a:t>
            </a:r>
            <a:r>
              <a:rPr lang="zh-CN" altLang="zh-CN" dirty="0">
                <a:latin typeface="Arial" panose="020B0604020202020204" pitchFamily="34" charset="0"/>
              </a:rPr>
              <a:t>至</a:t>
            </a:r>
            <a:r>
              <a:rPr lang="en-US" altLang="zh-CN" dirty="0">
                <a:latin typeface="Arial" panose="020B0604020202020204" pitchFamily="34" charset="0"/>
              </a:rPr>
              <a:t>11000</a:t>
            </a:r>
            <a:r>
              <a:rPr lang="zh-CN" altLang="zh-CN" dirty="0">
                <a:latin typeface="Arial" panose="020B0604020202020204" pitchFamily="34" charset="0"/>
              </a:rPr>
              <a:t>米水深，在渔业资源评估中起到重要作用。</a:t>
            </a:r>
            <a:endParaRPr lang="en-US" altLang="zh-CN" dirty="0">
              <a:latin typeface="Arial" panose="020B0604020202020204" pitchFamily="34" charset="0"/>
            </a:endParaRPr>
          </a:p>
        </p:txBody>
      </p:sp>
      <p:sp>
        <p:nvSpPr>
          <p:cNvPr id="65540" name="Rectangle 4"/>
          <p:cNvSpPr>
            <a:spLocks noGrp="1" noChangeArrowheads="1"/>
          </p:cNvSpPr>
          <p:nvPr>
            <p:ph type="title"/>
          </p:nvPr>
        </p:nvSpPr>
        <p:spPr>
          <a:xfrm>
            <a:off x="1524000" y="139700"/>
            <a:ext cx="9144000" cy="593725"/>
          </a:xfrm>
        </p:spPr>
        <p:txBody>
          <a:bodyPr/>
          <a:lstStyle/>
          <a:p>
            <a:pPr eaLnBrk="1" hangingPunct="1"/>
            <a:r>
              <a:rPr lang="en-US" altLang="zh-CN" dirty="0"/>
              <a:t>§4.3 </a:t>
            </a:r>
            <a:r>
              <a:rPr lang="zh-CN" altLang="en-US" dirty="0"/>
              <a:t>海洋数据获取手段</a:t>
            </a:r>
            <a:endParaRPr lang="zh-CN" altLang="en-US" dirty="0"/>
          </a:p>
        </p:txBody>
      </p:sp>
    </p:spTree>
  </p:cSld>
  <p:clrMapOvr>
    <a:masterClrMapping/>
  </p:clrMapOvr>
  <p:transition spd="med">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3386186A-A08C-4C15-B722-45DD1BDD9465}"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66563" name="Rectangle 2"/>
          <p:cNvSpPr>
            <a:spLocks noGrp="1" noChangeArrowheads="1"/>
          </p:cNvSpPr>
          <p:nvPr>
            <p:ph type="body" idx="4294967295"/>
          </p:nvPr>
        </p:nvSpPr>
        <p:spPr>
          <a:xfrm>
            <a:off x="2057400" y="1125538"/>
            <a:ext cx="8153400" cy="5183187"/>
          </a:xfrm>
          <a:prstGeom prst="rect">
            <a:avLst/>
          </a:prstGeom>
        </p:spPr>
        <p:txBody>
          <a:bodyPr/>
          <a:lstStyle/>
          <a:p>
            <a:pPr eaLnBrk="1" hangingPunct="1"/>
            <a:r>
              <a:rPr lang="zh-CN" altLang="en-US" dirty="0">
                <a:ea typeface="宋体" panose="02010600030101010101" pitchFamily="2" charset="-122"/>
              </a:rPr>
              <a:t>海洋声探测</a:t>
            </a:r>
            <a:endParaRPr lang="en-US" altLang="zh-CN" dirty="0">
              <a:ea typeface="宋体" panose="02010600030101010101" pitchFamily="2" charset="-122"/>
            </a:endParaRPr>
          </a:p>
          <a:p>
            <a:pPr lvl="1" eaLnBrk="1" hangingPunct="1"/>
            <a:r>
              <a:rPr lang="zh-CN" altLang="zh-CN" dirty="0">
                <a:solidFill>
                  <a:srgbClr val="FF0000"/>
                </a:solidFill>
                <a:latin typeface="Arial" panose="020B0604020202020204" pitchFamily="34" charset="0"/>
              </a:rPr>
              <a:t>多波束测深技术</a:t>
            </a:r>
            <a:r>
              <a:rPr lang="zh-CN" altLang="zh-CN" dirty="0">
                <a:latin typeface="Arial" panose="020B0604020202020204" pitchFamily="34" charset="0"/>
              </a:rPr>
              <a:t>主要由多波束测深声呐、卫星导航、成图计算机和若干外设组成，可以形成多达</a:t>
            </a:r>
            <a:r>
              <a:rPr lang="en-US" altLang="zh-CN" dirty="0">
                <a:latin typeface="Arial" panose="020B0604020202020204" pitchFamily="34" charset="0"/>
              </a:rPr>
              <a:t>151</a:t>
            </a:r>
            <a:r>
              <a:rPr lang="zh-CN" altLang="zh-CN" dirty="0">
                <a:latin typeface="Arial" panose="020B0604020202020204" pitchFamily="34" charset="0"/>
              </a:rPr>
              <a:t>个</a:t>
            </a:r>
            <a:r>
              <a:rPr lang="en-US" altLang="zh-CN" dirty="0">
                <a:latin typeface="Arial" panose="020B0604020202020204" pitchFamily="34" charset="0"/>
              </a:rPr>
              <a:t>20x20 </a:t>
            </a:r>
            <a:r>
              <a:rPr lang="zh-CN" altLang="zh-CN" dirty="0">
                <a:latin typeface="Arial" panose="020B0604020202020204" pitchFamily="34" charset="0"/>
              </a:rPr>
              <a:t>窄波束，在航行过程中实时获取海底丰富信息，提供多种表示海底地形地貌的图件，用于海底地形地貌的高精度绘制。</a:t>
            </a:r>
            <a:endParaRPr lang="en-US" altLang="zh-CN" dirty="0">
              <a:latin typeface="Arial" panose="020B0604020202020204" pitchFamily="34" charset="0"/>
            </a:endParaRPr>
          </a:p>
          <a:p>
            <a:pPr lvl="1" eaLnBrk="1" hangingPunct="1"/>
            <a:r>
              <a:rPr lang="zh-CN" altLang="zh-CN" dirty="0">
                <a:latin typeface="Arial" panose="020B0604020202020204" pitchFamily="34" charset="0"/>
              </a:rPr>
              <a:t>水下声多媒体通讯技术在水下图像、数据及语音通讯中有重要应用价值。</a:t>
            </a:r>
            <a:endParaRPr lang="zh-CN" altLang="zh-CN" dirty="0">
              <a:latin typeface="Arial" panose="020B0604020202020204" pitchFamily="34" charset="0"/>
            </a:endParaRPr>
          </a:p>
          <a:p>
            <a:pPr lvl="1" eaLnBrk="1" hangingPunct="1"/>
            <a:endParaRPr lang="en-US" altLang="zh-CN" dirty="0">
              <a:latin typeface="Arial" panose="020B0604020202020204" pitchFamily="34" charset="0"/>
            </a:endParaRPr>
          </a:p>
        </p:txBody>
      </p:sp>
      <p:sp>
        <p:nvSpPr>
          <p:cNvPr id="66564" name="Rectangle 4"/>
          <p:cNvSpPr>
            <a:spLocks noGrp="1" noChangeArrowheads="1"/>
          </p:cNvSpPr>
          <p:nvPr>
            <p:ph type="title"/>
          </p:nvPr>
        </p:nvSpPr>
        <p:spPr>
          <a:xfrm>
            <a:off x="1524000" y="139700"/>
            <a:ext cx="9144000" cy="593725"/>
          </a:xfrm>
        </p:spPr>
        <p:txBody>
          <a:bodyPr/>
          <a:lstStyle/>
          <a:p>
            <a:pPr eaLnBrk="1" hangingPunct="1"/>
            <a:r>
              <a:rPr lang="en-US" altLang="zh-CN" dirty="0"/>
              <a:t>§4.3 </a:t>
            </a:r>
            <a:r>
              <a:rPr lang="zh-CN" altLang="en-US" dirty="0"/>
              <a:t>海洋数据获取手段</a:t>
            </a:r>
            <a:endParaRPr lang="zh-CN" altLang="en-US" dirty="0"/>
          </a:p>
        </p:txBody>
      </p:sp>
    </p:spTree>
  </p:cSld>
  <p:clrMapOvr>
    <a:masterClrMapping/>
  </p:clrMapOvr>
  <p:transition spd="med">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24C2A557-A199-4F52-A96F-244001DC939B}"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142338" name="AutoShape 2"/>
          <p:cNvSpPr>
            <a:spLocks noGrp="1" noChangeArrowheads="1"/>
          </p:cNvSpPr>
          <p:nvPr>
            <p:ph type="title"/>
          </p:nvPr>
        </p:nvSpPr>
        <p:spPr>
          <a:xfrm>
            <a:off x="3430588" y="2060575"/>
            <a:ext cx="5618162" cy="2447925"/>
          </a:xfrm>
          <a:prstGeom prst="horizontalScroll">
            <a:avLst>
              <a:gd name="adj" fmla="val 12500"/>
            </a:avLst>
          </a:prstGeom>
          <a:solidFill>
            <a:srgbClr val="FF99CC"/>
          </a:solidFill>
          <a:ln w="19050">
            <a:solidFill>
              <a:schemeClr val="tx1"/>
            </a:solidFill>
            <a:round/>
            <a:headEnd type="none" w="med" len="med"/>
            <a:tailEnd type="none" w="med" len="med"/>
          </a:ln>
        </p:spPr>
        <p:txBody>
          <a:bodyPr tIns="0" bIns="0"/>
          <a:lstStyle/>
          <a:p>
            <a:pPr marL="952500" indent="-952500" eaLnBrk="1" hangingPunct="1"/>
            <a:r>
              <a:rPr lang="en-US" altLang="zh-CN" sz="2800" dirty="0">
                <a:solidFill>
                  <a:srgbClr val="3333CC"/>
                </a:solidFill>
                <a:ea typeface="黑体" panose="02010609060101010101" pitchFamily="2" charset="-122"/>
                <a:cs typeface="Times New Roman" panose="02020603050405020304" pitchFamily="18" charset="0"/>
              </a:rPr>
              <a:t>§4.4 </a:t>
            </a:r>
            <a:r>
              <a:rPr lang="zh-CN" altLang="en-US" sz="2800" dirty="0">
                <a:solidFill>
                  <a:srgbClr val="3333CC"/>
                </a:solidFill>
                <a:ea typeface="黑体" panose="02010609060101010101" pitchFamily="2" charset="-122"/>
                <a:cs typeface="Times New Roman" panose="02020603050405020304" pitchFamily="18" charset="0"/>
              </a:rPr>
              <a:t>海洋数据格式</a:t>
            </a:r>
            <a:endParaRPr lang="zh-CN" altLang="en-US" sz="2800" dirty="0">
              <a:solidFill>
                <a:srgbClr val="3333CC"/>
              </a:solidFill>
              <a:ea typeface="黑体" panose="02010609060101010101" pitchFamily="2" charset="-122"/>
              <a:cs typeface="Times New Roman" panose="02020603050405020304" pitchFamily="18" charset="0"/>
            </a:endParaRPr>
          </a:p>
        </p:txBody>
      </p:sp>
      <p:sp>
        <p:nvSpPr>
          <p:cNvPr id="82948" name="Rectangle 3"/>
          <p:cNvSpPr>
            <a:spLocks noChangeArrowheads="1"/>
          </p:cNvSpPr>
          <p:nvPr/>
        </p:nvSpPr>
        <p:spPr bwMode="white">
          <a:xfrm>
            <a:off x="1524000" y="139700"/>
            <a:ext cx="9144000"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algn="ctr" eaLnBrk="1" hangingPunct="1">
              <a:spcBef>
                <a:spcPct val="0"/>
              </a:spcBef>
              <a:spcAft>
                <a:spcPct val="0"/>
              </a:spcAft>
              <a:buClrTx/>
              <a:buFontTx/>
              <a:buNone/>
            </a:pPr>
            <a:r>
              <a:rPr lang="zh-CN" altLang="en-US" sz="3200" dirty="0">
                <a:solidFill>
                  <a:schemeClr val="bg1"/>
                </a:solidFill>
                <a:latin typeface="Tahoma" panose="020B0604030504040204" pitchFamily="34" charset="0"/>
              </a:rPr>
              <a:t>第</a:t>
            </a:r>
            <a:r>
              <a:rPr lang="en-US" altLang="zh-CN" sz="3200" dirty="0">
                <a:solidFill>
                  <a:schemeClr val="bg1"/>
                </a:solidFill>
                <a:latin typeface="Tahoma" panose="020B0604030504040204" pitchFamily="34" charset="0"/>
              </a:rPr>
              <a:t>4</a:t>
            </a:r>
            <a:r>
              <a:rPr lang="zh-CN" altLang="en-US" sz="3200" dirty="0">
                <a:solidFill>
                  <a:schemeClr val="bg1"/>
                </a:solidFill>
                <a:latin typeface="Tahoma" panose="020B0604030504040204" pitchFamily="34" charset="0"/>
              </a:rPr>
              <a:t>讲 海洋数据的获取</a:t>
            </a:r>
            <a:endParaRPr lang="zh-CN" altLang="en-US" sz="3200" dirty="0">
              <a:solidFill>
                <a:schemeClr val="bg1"/>
              </a:solidFill>
              <a:latin typeface="宋体" panose="02010600030101010101" pitchFamily="2" charset="-122"/>
            </a:endParaRPr>
          </a:p>
        </p:txBody>
      </p:sp>
      <p:sp>
        <p:nvSpPr>
          <p:cNvPr id="5" name="AutoShape 4">
            <a:hlinkClick r:id="rId1" action="ppaction://hlinksldjump" highlightClick="1"/>
          </p:cNvPr>
          <p:cNvSpPr>
            <a:spLocks noChangeArrowheads="1"/>
          </p:cNvSpPr>
          <p:nvPr/>
        </p:nvSpPr>
        <p:spPr bwMode="auto">
          <a:xfrm>
            <a:off x="8975725" y="5931218"/>
            <a:ext cx="306069" cy="323214"/>
          </a:xfrm>
          <a:prstGeom prst="actionButtonBackPrevious">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0" anchor="ctr">
            <a:spAutoFit/>
          </a:bodyPr>
          <a:lstStyle/>
          <a:p>
            <a:endParaRPr lang="zh-CN" alt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2338"/>
                                        </p:tgtEl>
                                        <p:attrNameLst>
                                          <p:attrName>style.visibility</p:attrName>
                                        </p:attrNameLst>
                                      </p:cBhvr>
                                      <p:to>
                                        <p:strVal val="visible"/>
                                      </p:to>
                                    </p:set>
                                    <p:animEffect transition="in" filter="wipe(left)">
                                      <p:cBhvr>
                                        <p:cTn id="7" dur="1000"/>
                                        <p:tgtEl>
                                          <p:spTgt spid="142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8" grpId="0" bldLvl="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2E4E5F0B-C106-4826-B082-64135527D6ED}"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56324" name="Rectangle 2"/>
          <p:cNvSpPr>
            <a:spLocks noGrp="1" noChangeArrowheads="1"/>
          </p:cNvSpPr>
          <p:nvPr>
            <p:ph type="body" idx="4294967295"/>
          </p:nvPr>
        </p:nvSpPr>
        <p:spPr>
          <a:xfrm>
            <a:off x="2057400" y="1125538"/>
            <a:ext cx="8153400" cy="5183187"/>
          </a:xfrm>
          <a:prstGeom prst="rect">
            <a:avLst/>
          </a:prstGeom>
        </p:spPr>
        <p:txBody>
          <a:bodyPr/>
          <a:lstStyle/>
          <a:p>
            <a:pPr eaLnBrk="1" hangingPunct="1">
              <a:defRPr/>
            </a:pPr>
            <a:r>
              <a:rPr lang="zh-CN" altLang="en-US" dirty="0">
                <a:ea typeface="宋体" panose="02010600030101010101" pitchFamily="2" charset="-122"/>
              </a:rPr>
              <a:t>海洋数据格式</a:t>
            </a:r>
            <a:endParaRPr lang="en-US" altLang="zh-CN" dirty="0">
              <a:ea typeface="宋体" panose="02010600030101010101" pitchFamily="2" charset="-122"/>
            </a:endParaRPr>
          </a:p>
          <a:p>
            <a:pPr lvl="1" eaLnBrk="1" hangingPunct="1">
              <a:defRPr/>
            </a:pPr>
            <a:r>
              <a:rPr lang="zh-CN" altLang="en-US" dirty="0">
                <a:solidFill>
                  <a:schemeClr val="accent1"/>
                </a:solidFill>
                <a:latin typeface="+mn-lt"/>
                <a:cs typeface="+mn-cs"/>
              </a:rPr>
              <a:t>通用</a:t>
            </a:r>
            <a:r>
              <a:rPr lang="en-US" altLang="zh-CN" dirty="0">
                <a:solidFill>
                  <a:schemeClr val="accent1"/>
                </a:solidFill>
                <a:latin typeface="+mn-lt"/>
                <a:cs typeface="+mn-cs"/>
              </a:rPr>
              <a:t>GIS</a:t>
            </a:r>
            <a:r>
              <a:rPr lang="zh-CN" altLang="en-US" dirty="0">
                <a:solidFill>
                  <a:schemeClr val="accent1"/>
                </a:solidFill>
                <a:latin typeface="+mn-lt"/>
                <a:cs typeface="+mn-cs"/>
              </a:rPr>
              <a:t>格式（如</a:t>
            </a:r>
            <a:r>
              <a:rPr lang="en-US" altLang="zh-CN" dirty="0" err="1">
                <a:solidFill>
                  <a:schemeClr val="accent1"/>
                </a:solidFill>
                <a:latin typeface="+mn-lt"/>
                <a:cs typeface="+mn-cs"/>
              </a:rPr>
              <a:t>ArcInfo</a:t>
            </a:r>
            <a:r>
              <a:rPr lang="en-US" altLang="zh-CN" dirty="0">
                <a:solidFill>
                  <a:schemeClr val="accent1"/>
                </a:solidFill>
                <a:latin typeface="+mn-lt"/>
                <a:cs typeface="+mn-cs"/>
              </a:rPr>
              <a:t> </a:t>
            </a:r>
            <a:r>
              <a:rPr lang="en-US" altLang="zh-CN" dirty="0" err="1">
                <a:solidFill>
                  <a:schemeClr val="accent1"/>
                </a:solidFill>
                <a:latin typeface="+mn-lt"/>
                <a:cs typeface="+mn-cs"/>
              </a:rPr>
              <a:t>Shp</a:t>
            </a:r>
            <a:r>
              <a:rPr lang="zh-CN" altLang="en-US" dirty="0" err="1">
                <a:solidFill>
                  <a:schemeClr val="accent1"/>
                </a:solidFill>
                <a:latin typeface="+mn-lt"/>
                <a:cs typeface="+mn-cs"/>
              </a:rPr>
              <a:t>，矢量数据</a:t>
            </a:r>
            <a:r>
              <a:rPr lang="en-US" altLang="zh-CN" dirty="0">
                <a:solidFill>
                  <a:schemeClr val="accent1"/>
                </a:solidFill>
                <a:latin typeface="+mn-lt"/>
                <a:cs typeface="+mn-cs"/>
              </a:rPr>
              <a:t> </a:t>
            </a:r>
            <a:r>
              <a:rPr lang="zh-CN" altLang="en-US" dirty="0">
                <a:solidFill>
                  <a:schemeClr val="accent1"/>
                </a:solidFill>
                <a:latin typeface="+mn-lt"/>
                <a:cs typeface="+mn-cs"/>
              </a:rPr>
              <a:t>）</a:t>
            </a:r>
            <a:endParaRPr lang="en-US" altLang="zh-CN" dirty="0">
              <a:solidFill>
                <a:schemeClr val="accent1"/>
              </a:solidFill>
              <a:latin typeface="+mn-lt"/>
              <a:cs typeface="+mn-cs"/>
            </a:endParaRPr>
          </a:p>
          <a:p>
            <a:pPr lvl="1" eaLnBrk="1" hangingPunct="1">
              <a:defRPr/>
            </a:pPr>
            <a:r>
              <a:rPr lang="en-US" altLang="zh-CN" sz="2000" dirty="0"/>
              <a:t>ESRI</a:t>
            </a:r>
            <a:r>
              <a:rPr lang="zh-CN" altLang="en-US" sz="2000" dirty="0"/>
              <a:t>公司的</a:t>
            </a:r>
            <a:r>
              <a:rPr lang="en-US" altLang="zh-CN" sz="2000" dirty="0" err="1"/>
              <a:t>Shapefile</a:t>
            </a:r>
            <a:r>
              <a:rPr lang="zh-CN" altLang="en-US" sz="2000" dirty="0"/>
              <a:t>文件是描述空间数据的几何和属性特征的非拓扑实体矢量数据结构的一种格式。一个</a:t>
            </a:r>
            <a:r>
              <a:rPr lang="en-US" altLang="zh-CN" sz="2000" dirty="0" err="1"/>
              <a:t>Shapefile</a:t>
            </a:r>
            <a:r>
              <a:rPr lang="zh-CN" altLang="en-US" sz="2000" dirty="0"/>
              <a:t>文件包括一个主文件（*</a:t>
            </a:r>
            <a:r>
              <a:rPr lang="en-US" altLang="zh-CN" sz="2000" dirty="0"/>
              <a:t>.</a:t>
            </a:r>
            <a:r>
              <a:rPr lang="en-US" altLang="zh-CN" sz="2000" dirty="0" err="1"/>
              <a:t>shp</a:t>
            </a:r>
            <a:r>
              <a:rPr lang="zh-CN" altLang="en-US" sz="2000" dirty="0"/>
              <a:t>）</a:t>
            </a:r>
            <a:r>
              <a:rPr lang="en-US" altLang="zh-CN" sz="2000" dirty="0"/>
              <a:t>,</a:t>
            </a:r>
            <a:r>
              <a:rPr lang="zh-CN" altLang="en-US" sz="2000" dirty="0"/>
              <a:t>一个索引文件（*</a:t>
            </a:r>
            <a:r>
              <a:rPr lang="en-US" altLang="zh-CN" sz="2000" dirty="0"/>
              <a:t>.</a:t>
            </a:r>
            <a:r>
              <a:rPr lang="en-US" altLang="zh-CN" sz="2000" dirty="0" err="1"/>
              <a:t>shx</a:t>
            </a:r>
            <a:r>
              <a:rPr lang="zh-CN" altLang="en-US" sz="2000" dirty="0"/>
              <a:t>）和一个</a:t>
            </a:r>
            <a:r>
              <a:rPr lang="en-US" altLang="zh-CN" sz="2000" dirty="0" err="1"/>
              <a:t>dBASE</a:t>
            </a:r>
            <a:r>
              <a:rPr lang="zh-CN" altLang="en-US" sz="2000" dirty="0"/>
              <a:t>表文件（*</a:t>
            </a:r>
            <a:r>
              <a:rPr lang="en-US" altLang="zh-CN" sz="2000" dirty="0"/>
              <a:t>.dbf</a:t>
            </a:r>
            <a:r>
              <a:rPr lang="zh-CN" altLang="en-US" sz="2000" dirty="0"/>
              <a:t>）。</a:t>
            </a:r>
            <a:endParaRPr lang="en-US" altLang="zh-CN" sz="2000" dirty="0"/>
          </a:p>
        </p:txBody>
      </p:sp>
      <p:sp>
        <p:nvSpPr>
          <p:cNvPr id="83972" name="Rectangle 4"/>
          <p:cNvSpPr>
            <a:spLocks noGrp="1" noChangeArrowheads="1"/>
          </p:cNvSpPr>
          <p:nvPr>
            <p:ph type="title"/>
          </p:nvPr>
        </p:nvSpPr>
        <p:spPr>
          <a:xfrm>
            <a:off x="1524000" y="139700"/>
            <a:ext cx="9144000" cy="593725"/>
          </a:xfrm>
        </p:spPr>
        <p:txBody>
          <a:bodyPr/>
          <a:lstStyle/>
          <a:p>
            <a:pPr eaLnBrk="1" hangingPunct="1"/>
            <a:r>
              <a:rPr lang="en-US" altLang="zh-CN" dirty="0"/>
              <a:t>§4.4 </a:t>
            </a:r>
            <a:r>
              <a:rPr lang="zh-CN" altLang="en-US" dirty="0"/>
              <a:t>海洋数据格式</a:t>
            </a:r>
            <a:endParaRPr lang="zh-CN" altLang="en-US" dirty="0"/>
          </a:p>
        </p:txBody>
      </p:sp>
      <p:pic>
        <p:nvPicPr>
          <p:cNvPr id="2" name="图片 1"/>
          <p:cNvPicPr>
            <a:picLocks noChangeAspect="1"/>
          </p:cNvPicPr>
          <p:nvPr>
            <p:custDataLst>
              <p:tags r:id="rId1"/>
            </p:custDataLst>
          </p:nvPr>
        </p:nvPicPr>
        <p:blipFill>
          <a:blip r:embed="rId2"/>
          <a:stretch>
            <a:fillRect/>
          </a:stretch>
        </p:blipFill>
        <p:spPr>
          <a:xfrm>
            <a:off x="1609725" y="3832860"/>
            <a:ext cx="4328160" cy="3025140"/>
          </a:xfrm>
          <a:prstGeom prst="rect">
            <a:avLst/>
          </a:prstGeom>
        </p:spPr>
      </p:pic>
    </p:spTree>
  </p:cSld>
  <p:clrMapOvr>
    <a:masterClrMapping/>
  </p:clrMapOvr>
  <p:transition spd="med">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2E4E5F0B-C106-4826-B082-64135527D6ED}"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56324" name="Rectangle 2"/>
          <p:cNvSpPr>
            <a:spLocks noGrp="1" noChangeArrowheads="1"/>
          </p:cNvSpPr>
          <p:nvPr>
            <p:ph type="body" idx="4294967295"/>
          </p:nvPr>
        </p:nvSpPr>
        <p:spPr>
          <a:xfrm>
            <a:off x="1097915" y="1125855"/>
            <a:ext cx="9837420" cy="5182870"/>
          </a:xfrm>
          <a:prstGeom prst="rect">
            <a:avLst/>
          </a:prstGeom>
        </p:spPr>
        <p:txBody>
          <a:bodyPr/>
          <a:lstStyle/>
          <a:p>
            <a:pPr eaLnBrk="1" hangingPunct="1">
              <a:defRPr/>
            </a:pPr>
            <a:r>
              <a:rPr lang="zh-CN" altLang="en-US" dirty="0">
                <a:ea typeface="宋体" panose="02010600030101010101" pitchFamily="2" charset="-122"/>
              </a:rPr>
              <a:t>海洋数据格式</a:t>
            </a:r>
            <a:endParaRPr lang="en-US" altLang="zh-CN" dirty="0">
              <a:ea typeface="宋体" panose="02010600030101010101" pitchFamily="2" charset="-122"/>
            </a:endParaRPr>
          </a:p>
          <a:p>
            <a:pPr lvl="1" eaLnBrk="1" hangingPunct="1">
              <a:defRPr/>
            </a:pPr>
            <a:r>
              <a:rPr lang="zh-CN" altLang="en-US" dirty="0">
                <a:solidFill>
                  <a:schemeClr val="accent1"/>
                </a:solidFill>
                <a:latin typeface="+mn-lt"/>
                <a:cs typeface="+mn-cs"/>
              </a:rPr>
              <a:t>通用</a:t>
            </a:r>
            <a:r>
              <a:rPr lang="en-US" altLang="zh-CN" dirty="0">
                <a:solidFill>
                  <a:schemeClr val="accent1"/>
                </a:solidFill>
                <a:latin typeface="+mn-lt"/>
                <a:cs typeface="+mn-cs"/>
              </a:rPr>
              <a:t>GIS</a:t>
            </a:r>
            <a:r>
              <a:rPr lang="zh-CN" altLang="en-US" dirty="0">
                <a:solidFill>
                  <a:schemeClr val="accent1"/>
                </a:solidFill>
                <a:latin typeface="+mn-lt"/>
                <a:cs typeface="+mn-cs"/>
              </a:rPr>
              <a:t>格式（如</a:t>
            </a:r>
            <a:r>
              <a:rPr lang="en-US" altLang="zh-CN" dirty="0" err="1">
                <a:solidFill>
                  <a:schemeClr val="accent1"/>
                </a:solidFill>
                <a:latin typeface="+mn-lt"/>
                <a:cs typeface="+mn-cs"/>
              </a:rPr>
              <a:t>ArcInfo</a:t>
            </a:r>
            <a:r>
              <a:rPr lang="en-US" altLang="zh-CN" dirty="0">
                <a:solidFill>
                  <a:schemeClr val="accent1"/>
                </a:solidFill>
                <a:latin typeface="+mn-lt"/>
                <a:cs typeface="+mn-cs"/>
              </a:rPr>
              <a:t> </a:t>
            </a:r>
            <a:r>
              <a:rPr lang="en-US" altLang="zh-CN" dirty="0" err="1">
                <a:solidFill>
                  <a:schemeClr val="accent1"/>
                </a:solidFill>
                <a:latin typeface="+mn-lt"/>
                <a:cs typeface="+mn-cs"/>
              </a:rPr>
              <a:t>Shp</a:t>
            </a:r>
            <a:r>
              <a:rPr lang="en-US" altLang="zh-CN" dirty="0">
                <a:solidFill>
                  <a:schemeClr val="accent1"/>
                </a:solidFill>
                <a:latin typeface="+mn-lt"/>
                <a:cs typeface="+mn-cs"/>
              </a:rPr>
              <a:t> </a:t>
            </a:r>
            <a:r>
              <a:rPr lang="zh-CN" altLang="en-US" dirty="0">
                <a:solidFill>
                  <a:schemeClr val="accent1"/>
                </a:solidFill>
                <a:latin typeface="+mn-lt"/>
                <a:cs typeface="+mn-cs"/>
              </a:rPr>
              <a:t>）</a:t>
            </a:r>
            <a:endParaRPr lang="en-US" altLang="zh-CN" dirty="0">
              <a:solidFill>
                <a:schemeClr val="accent1"/>
              </a:solidFill>
              <a:latin typeface="+mn-lt"/>
              <a:cs typeface="+mn-cs"/>
            </a:endParaRPr>
          </a:p>
          <a:p>
            <a:pPr lvl="1" eaLnBrk="1" hangingPunct="1">
              <a:spcBef>
                <a:spcPct val="0"/>
              </a:spcBef>
            </a:pPr>
            <a:r>
              <a:rPr lang="zh-CN" altLang="en-US" dirty="0">
                <a:latin typeface="Arial" panose="020B0604020202020204" pitchFamily="34" charset="0"/>
              </a:rPr>
              <a:t>主文件是一个直接存取，变长记录的文件，其中每个记录描述一个实体的数据，称为</a:t>
            </a:r>
            <a:r>
              <a:rPr lang="en-US" altLang="zh-CN" dirty="0">
                <a:latin typeface="Arial" panose="020B0604020202020204" pitchFamily="34" charset="0"/>
              </a:rPr>
              <a:t>shape</a:t>
            </a:r>
            <a:r>
              <a:rPr lang="zh-CN" altLang="en-US" dirty="0">
                <a:latin typeface="Arial" panose="020B0604020202020204" pitchFamily="34" charset="0"/>
              </a:rPr>
              <a:t>。在索引文件中，每个记录包含对应主文件记录离主文件头开始的偏移量。</a:t>
            </a:r>
            <a:r>
              <a:rPr lang="en-US" altLang="zh-CN" dirty="0" err="1">
                <a:latin typeface="Arial" panose="020B0604020202020204" pitchFamily="34" charset="0"/>
              </a:rPr>
              <a:t>dBASE</a:t>
            </a:r>
            <a:r>
              <a:rPr lang="zh-CN" altLang="en-US" dirty="0">
                <a:latin typeface="Arial" panose="020B0604020202020204" pitchFamily="34" charset="0"/>
              </a:rPr>
              <a:t>表文件包含各个实体的属性特征记录。几何和属性间的一一对应关系是基于一个不重复的记录顺序代码来实现的，在</a:t>
            </a:r>
            <a:r>
              <a:rPr lang="en-US" altLang="zh-CN" dirty="0" err="1">
                <a:latin typeface="Arial" panose="020B0604020202020204" pitchFamily="34" charset="0"/>
              </a:rPr>
              <a:t>dBASE</a:t>
            </a:r>
            <a:r>
              <a:rPr lang="zh-CN" altLang="en-US" dirty="0">
                <a:latin typeface="Arial" panose="020B0604020202020204" pitchFamily="34" charset="0"/>
              </a:rPr>
              <a:t>表文件中的属性记录和主文件中的记录是相同顺序的。</a:t>
            </a:r>
            <a:endParaRPr lang="en-US" altLang="zh-CN" dirty="0">
              <a:latin typeface="Arial" panose="020B0604020202020204" pitchFamily="34" charset="0"/>
            </a:endParaRPr>
          </a:p>
          <a:p>
            <a:pPr lvl="1" eaLnBrk="1" hangingPunct="1">
              <a:spcBef>
                <a:spcPct val="0"/>
              </a:spcBef>
            </a:pPr>
            <a:r>
              <a:rPr lang="zh-CN" altLang="en-US" dirty="0">
                <a:latin typeface="Arial" panose="020B0604020202020204" pitchFamily="34" charset="0"/>
              </a:rPr>
              <a:t>可以用来描述</a:t>
            </a:r>
            <a:r>
              <a:rPr lang="zh-CN" altLang="en-US" u="sng" dirty="0">
                <a:solidFill>
                  <a:srgbClr val="FF0000"/>
                </a:solidFill>
                <a:latin typeface="Arial" panose="020B0604020202020204" pitchFamily="34" charset="0"/>
              </a:rPr>
              <a:t>海洋矢量数据，如海岸线、岛屿边界、行政边界、海区边界；还有等温线、等高线、等深线等。</a:t>
            </a:r>
            <a:endParaRPr lang="zh-CN" altLang="en-US" u="sng" dirty="0">
              <a:solidFill>
                <a:srgbClr val="FF0000"/>
              </a:solidFill>
              <a:latin typeface="Arial" panose="020B0604020202020204" pitchFamily="34" charset="0"/>
            </a:endParaRPr>
          </a:p>
        </p:txBody>
      </p:sp>
      <p:sp>
        <p:nvSpPr>
          <p:cNvPr id="83972" name="Rectangle 4"/>
          <p:cNvSpPr>
            <a:spLocks noGrp="1" noChangeArrowheads="1"/>
          </p:cNvSpPr>
          <p:nvPr>
            <p:ph type="title"/>
          </p:nvPr>
        </p:nvSpPr>
        <p:spPr>
          <a:xfrm>
            <a:off x="1524000" y="139700"/>
            <a:ext cx="9144000" cy="593725"/>
          </a:xfrm>
        </p:spPr>
        <p:txBody>
          <a:bodyPr/>
          <a:lstStyle/>
          <a:p>
            <a:pPr eaLnBrk="1" hangingPunct="1"/>
            <a:r>
              <a:rPr lang="en-US" altLang="zh-CN" dirty="0"/>
              <a:t>§4.4 </a:t>
            </a:r>
            <a:r>
              <a:rPr lang="zh-CN" altLang="en-US" dirty="0"/>
              <a:t>海洋数据格式</a:t>
            </a:r>
            <a:endParaRPr lang="zh-CN" altLang="en-US" dirty="0"/>
          </a:p>
        </p:txBody>
      </p:sp>
    </p:spTree>
  </p:cSld>
  <p:clrMapOvr>
    <a:masterClrMapping/>
  </p:clrMapOvr>
  <p:transition spd="med">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EC853385-1E70-450F-AACC-3D8E58D00D84}"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56324" name="Rectangle 2"/>
          <p:cNvSpPr>
            <a:spLocks noGrp="1" noChangeArrowheads="1"/>
          </p:cNvSpPr>
          <p:nvPr>
            <p:ph type="body" idx="4294967295"/>
          </p:nvPr>
        </p:nvSpPr>
        <p:spPr>
          <a:xfrm>
            <a:off x="2057400" y="1125538"/>
            <a:ext cx="8153400" cy="5183187"/>
          </a:xfrm>
          <a:prstGeom prst="rect">
            <a:avLst/>
          </a:prstGeom>
        </p:spPr>
        <p:txBody>
          <a:bodyPr/>
          <a:lstStyle/>
          <a:p>
            <a:pPr eaLnBrk="1" hangingPunct="1">
              <a:defRPr/>
            </a:pPr>
            <a:r>
              <a:rPr lang="zh-CN" altLang="en-US" dirty="0">
                <a:ea typeface="宋体" panose="02010600030101010101" pitchFamily="2" charset="-122"/>
              </a:rPr>
              <a:t>海洋数据格式</a:t>
            </a:r>
            <a:endParaRPr lang="en-US" altLang="zh-CN" dirty="0">
              <a:ea typeface="宋体" panose="02010600030101010101" pitchFamily="2" charset="-122"/>
            </a:endParaRPr>
          </a:p>
          <a:p>
            <a:pPr lvl="1" eaLnBrk="1" hangingPunct="1">
              <a:defRPr/>
            </a:pPr>
            <a:r>
              <a:rPr lang="zh-CN" altLang="en-US" dirty="0">
                <a:solidFill>
                  <a:schemeClr val="accent1"/>
                </a:solidFill>
                <a:latin typeface="+mn-lt"/>
                <a:cs typeface="+mn-cs"/>
              </a:rPr>
              <a:t>通用</a:t>
            </a:r>
            <a:r>
              <a:rPr lang="en-US" altLang="zh-CN" dirty="0">
                <a:solidFill>
                  <a:schemeClr val="accent1"/>
                </a:solidFill>
                <a:latin typeface="+mn-lt"/>
                <a:cs typeface="+mn-cs"/>
              </a:rPr>
              <a:t>GIS</a:t>
            </a:r>
            <a:r>
              <a:rPr lang="zh-CN" altLang="en-US" dirty="0">
                <a:solidFill>
                  <a:schemeClr val="accent1"/>
                </a:solidFill>
                <a:latin typeface="+mn-lt"/>
                <a:cs typeface="+mn-cs"/>
              </a:rPr>
              <a:t>格式（</a:t>
            </a:r>
            <a:r>
              <a:rPr lang="en-US" altLang="zh-CN" dirty="0">
                <a:solidFill>
                  <a:schemeClr val="accent1"/>
                </a:solidFill>
                <a:latin typeface="+mn-lt"/>
                <a:cs typeface="+mn-cs"/>
              </a:rPr>
              <a:t>Grid</a:t>
            </a:r>
            <a:r>
              <a:rPr lang="zh-CN" altLang="en-US" dirty="0">
                <a:solidFill>
                  <a:schemeClr val="accent1"/>
                </a:solidFill>
                <a:latin typeface="+mn-lt"/>
                <a:cs typeface="+mn-cs"/>
              </a:rPr>
              <a:t>，栅格数据</a:t>
            </a:r>
            <a:r>
              <a:rPr lang="zh-CN" altLang="en-US" dirty="0">
                <a:solidFill>
                  <a:schemeClr val="accent1"/>
                </a:solidFill>
                <a:latin typeface="+mn-lt"/>
                <a:cs typeface="+mn-cs"/>
              </a:rPr>
              <a:t>）</a:t>
            </a:r>
            <a:r>
              <a:rPr lang="en-US" altLang="zh-CN" dirty="0"/>
              <a:t>	</a:t>
            </a:r>
            <a:endParaRPr lang="en-US" altLang="zh-CN" dirty="0"/>
          </a:p>
          <a:p>
            <a:pPr lvl="1" eaLnBrk="1" hangingPunct="1">
              <a:defRPr/>
            </a:pPr>
            <a:r>
              <a:rPr lang="en-US" altLang="zh-CN" dirty="0">
                <a:solidFill>
                  <a:srgbClr val="FF0000"/>
                </a:solidFill>
              </a:rPr>
              <a:t>Grid</a:t>
            </a:r>
            <a:r>
              <a:rPr lang="zh-CN" altLang="en-US" dirty="0">
                <a:solidFill>
                  <a:srgbClr val="FF0000"/>
                </a:solidFill>
              </a:rPr>
              <a:t>是以高程值为属性的栅格数据</a:t>
            </a:r>
            <a:r>
              <a:rPr lang="zh-CN" altLang="en-US" dirty="0"/>
              <a:t>，是构成</a:t>
            </a:r>
            <a:r>
              <a:rPr lang="en-US" altLang="zh-CN" dirty="0"/>
              <a:t>DEM</a:t>
            </a:r>
            <a:r>
              <a:rPr lang="zh-CN" altLang="en-US" dirty="0"/>
              <a:t>（数字高程模型）的一种数据结构。</a:t>
            </a:r>
            <a:endParaRPr lang="en-US" altLang="zh-CN" dirty="0"/>
          </a:p>
          <a:p>
            <a:pPr lvl="1" eaLnBrk="1" hangingPunct="1">
              <a:defRPr/>
            </a:pPr>
            <a:r>
              <a:rPr lang="zh-CN" altLang="en-US" dirty="0"/>
              <a:t>它可以用来描述海洋栅格数据，如</a:t>
            </a:r>
            <a:r>
              <a:rPr lang="zh-CN" altLang="en-US" u="sng" dirty="0"/>
              <a:t>海岸带地形数据、海底地形数据</a:t>
            </a:r>
            <a:r>
              <a:rPr lang="zh-CN" altLang="en-US" dirty="0"/>
              <a:t>。</a:t>
            </a:r>
            <a:endParaRPr lang="en-US" altLang="zh-CN" dirty="0"/>
          </a:p>
          <a:p>
            <a:pPr lvl="1" eaLnBrk="1" hangingPunct="1">
              <a:defRPr/>
            </a:pPr>
            <a:endParaRPr lang="zh-CN" altLang="zh-CN" dirty="0"/>
          </a:p>
          <a:p>
            <a:pPr lvl="1" eaLnBrk="1" hangingPunct="1">
              <a:defRPr/>
            </a:pPr>
            <a:endParaRPr lang="zh-CN" altLang="en-US" dirty="0">
              <a:latin typeface="Arial" panose="020B0604020202020204" pitchFamily="34" charset="0"/>
            </a:endParaRPr>
          </a:p>
        </p:txBody>
      </p:sp>
      <p:sp>
        <p:nvSpPr>
          <p:cNvPr id="86020" name="Rectangle 4"/>
          <p:cNvSpPr>
            <a:spLocks noGrp="1" noChangeArrowheads="1"/>
          </p:cNvSpPr>
          <p:nvPr>
            <p:ph type="title"/>
          </p:nvPr>
        </p:nvSpPr>
        <p:spPr>
          <a:xfrm>
            <a:off x="1524000" y="139700"/>
            <a:ext cx="9144000" cy="593725"/>
          </a:xfrm>
        </p:spPr>
        <p:txBody>
          <a:bodyPr/>
          <a:lstStyle/>
          <a:p>
            <a:pPr eaLnBrk="1" hangingPunct="1"/>
            <a:r>
              <a:rPr lang="en-US" altLang="zh-CN" dirty="0"/>
              <a:t>§4.4 </a:t>
            </a:r>
            <a:r>
              <a:rPr lang="zh-CN" altLang="en-US" dirty="0"/>
              <a:t>海洋数据的异构性</a:t>
            </a:r>
            <a:endParaRPr lang="zh-CN" altLang="en-US" dirty="0"/>
          </a:p>
        </p:txBody>
      </p:sp>
    </p:spTree>
  </p:cSld>
  <p:clrMapOvr>
    <a:masterClrMapping/>
  </p:clrMapOvr>
  <p:transition spd="med">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57E392E1-C807-4452-A204-1F2EF44EE99A}"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56324" name="Rectangle 2"/>
          <p:cNvSpPr>
            <a:spLocks noGrp="1" noChangeArrowheads="1"/>
          </p:cNvSpPr>
          <p:nvPr>
            <p:ph type="body" idx="4294967295"/>
          </p:nvPr>
        </p:nvSpPr>
        <p:spPr>
          <a:xfrm>
            <a:off x="2057400" y="1125538"/>
            <a:ext cx="8153400" cy="5183187"/>
          </a:xfrm>
          <a:prstGeom prst="rect">
            <a:avLst/>
          </a:prstGeom>
        </p:spPr>
        <p:txBody>
          <a:bodyPr/>
          <a:lstStyle/>
          <a:p>
            <a:pPr eaLnBrk="1" hangingPunct="1">
              <a:defRPr/>
            </a:pPr>
            <a:r>
              <a:rPr lang="zh-CN" altLang="en-US" dirty="0">
                <a:ea typeface="宋体" panose="02010600030101010101" pitchFamily="2" charset="-122"/>
              </a:rPr>
              <a:t>海洋数据格式</a:t>
            </a:r>
            <a:endParaRPr lang="en-US" altLang="zh-CN" dirty="0">
              <a:ea typeface="宋体" panose="02010600030101010101" pitchFamily="2" charset="-122"/>
            </a:endParaRPr>
          </a:p>
          <a:p>
            <a:pPr lvl="1" eaLnBrk="1" hangingPunct="1">
              <a:defRPr/>
            </a:pPr>
            <a:r>
              <a:rPr lang="zh-CN" altLang="en-US" dirty="0">
                <a:solidFill>
                  <a:schemeClr val="accent1"/>
                </a:solidFill>
                <a:latin typeface="+mn-lt"/>
                <a:cs typeface="+mn-cs"/>
              </a:rPr>
              <a:t>通用遥感图像数据格式（</a:t>
            </a:r>
            <a:r>
              <a:rPr lang="en-US" altLang="zh-CN" dirty="0">
                <a:solidFill>
                  <a:schemeClr val="accent1"/>
                </a:solidFill>
                <a:latin typeface="+mn-lt"/>
                <a:cs typeface="+mn-cs"/>
              </a:rPr>
              <a:t>TIF</a:t>
            </a:r>
            <a:r>
              <a:rPr lang="zh-CN" altLang="en-US" dirty="0">
                <a:solidFill>
                  <a:schemeClr val="accent1"/>
                </a:solidFill>
                <a:latin typeface="+mn-lt"/>
                <a:cs typeface="+mn-cs"/>
              </a:rPr>
              <a:t>、</a:t>
            </a:r>
            <a:r>
              <a:rPr lang="en-US" altLang="zh-CN" dirty="0">
                <a:solidFill>
                  <a:schemeClr val="accent1"/>
                </a:solidFill>
                <a:latin typeface="+mn-lt"/>
                <a:cs typeface="+mn-cs"/>
              </a:rPr>
              <a:t>BSQ</a:t>
            </a:r>
            <a:r>
              <a:rPr lang="zh-CN" altLang="en-US" dirty="0">
                <a:solidFill>
                  <a:schemeClr val="accent1"/>
                </a:solidFill>
                <a:latin typeface="+mn-lt"/>
                <a:cs typeface="+mn-cs"/>
              </a:rPr>
              <a:t>、</a:t>
            </a:r>
            <a:r>
              <a:rPr lang="en-US" altLang="zh-CN" dirty="0">
                <a:solidFill>
                  <a:schemeClr val="accent1"/>
                </a:solidFill>
                <a:latin typeface="+mn-lt"/>
                <a:cs typeface="+mn-cs"/>
              </a:rPr>
              <a:t>IMG</a:t>
            </a:r>
            <a:r>
              <a:rPr lang="zh-CN" altLang="en-US" dirty="0">
                <a:solidFill>
                  <a:schemeClr val="accent1"/>
                </a:solidFill>
                <a:latin typeface="+mn-lt"/>
                <a:cs typeface="+mn-cs"/>
              </a:rPr>
              <a:t>、</a:t>
            </a:r>
            <a:r>
              <a:rPr lang="en-US" altLang="zh-CN" dirty="0">
                <a:solidFill>
                  <a:schemeClr val="accent1"/>
                </a:solidFill>
                <a:latin typeface="+mn-lt"/>
                <a:cs typeface="+mn-cs"/>
              </a:rPr>
              <a:t>BMP</a:t>
            </a:r>
            <a:r>
              <a:rPr lang="zh-CN" altLang="en-US" dirty="0">
                <a:solidFill>
                  <a:schemeClr val="accent1"/>
                </a:solidFill>
                <a:latin typeface="+mn-lt"/>
                <a:cs typeface="+mn-cs"/>
              </a:rPr>
              <a:t>）</a:t>
            </a:r>
            <a:endParaRPr lang="en-US" altLang="zh-CN" dirty="0"/>
          </a:p>
          <a:p>
            <a:pPr lvl="1" eaLnBrk="1" hangingPunct="1">
              <a:defRPr/>
            </a:pPr>
            <a:r>
              <a:rPr lang="en-US" altLang="zh-CN" dirty="0"/>
              <a:t>TIF</a:t>
            </a:r>
            <a:r>
              <a:rPr lang="zh-CN" altLang="en-US" dirty="0"/>
              <a:t> 是最复杂的一种位图文件格式，是基于标记的文件格式。 </a:t>
            </a:r>
            <a:r>
              <a:rPr lang="en-US" altLang="zh-CN" dirty="0"/>
              <a:t>TIFF</a:t>
            </a:r>
            <a:r>
              <a:rPr lang="zh-CN" altLang="en-US" dirty="0"/>
              <a:t>文件以</a:t>
            </a:r>
            <a:r>
              <a:rPr lang="en-US" altLang="zh-CN" dirty="0"/>
              <a:t>.</a:t>
            </a:r>
            <a:r>
              <a:rPr lang="en-US" altLang="zh-CN" dirty="0" err="1"/>
              <a:t>tif</a:t>
            </a:r>
            <a:r>
              <a:rPr lang="zh-CN" altLang="en-US" dirty="0"/>
              <a:t>为扩展名，其数据格式是一种</a:t>
            </a:r>
            <a:r>
              <a:rPr lang="en-US" altLang="zh-CN" dirty="0"/>
              <a:t>3</a:t>
            </a:r>
            <a:r>
              <a:rPr lang="zh-CN" altLang="en-US" dirty="0"/>
              <a:t>级体系结构，从高到低依次为：文件头、一个或多个称为</a:t>
            </a:r>
            <a:r>
              <a:rPr lang="en-US" altLang="zh-CN" dirty="0"/>
              <a:t>IFD</a:t>
            </a:r>
            <a:r>
              <a:rPr lang="zh-CN" altLang="en-US" dirty="0"/>
              <a:t>的包含标记指针的目录和数据。</a:t>
            </a:r>
            <a:endParaRPr lang="en-US" altLang="zh-CN" dirty="0"/>
          </a:p>
          <a:p>
            <a:pPr lvl="1" eaLnBrk="1" hangingPunct="1">
              <a:defRPr/>
            </a:pPr>
            <a:r>
              <a:rPr lang="en-US" altLang="zh-CN" dirty="0"/>
              <a:t>BSQ</a:t>
            </a:r>
            <a:r>
              <a:rPr lang="zh-CN" altLang="en-US" dirty="0"/>
              <a:t>是遥感中指按照波段序列存贮，即各波段的二维图像数据按波段顺序排列。 </a:t>
            </a:r>
            <a:endParaRPr lang="en-US" altLang="zh-CN" dirty="0"/>
          </a:p>
          <a:p>
            <a:pPr lvl="1" eaLnBrk="1" hangingPunct="1">
              <a:defRPr/>
            </a:pPr>
            <a:r>
              <a:rPr lang="zh-CN" altLang="en-US" u="sng" dirty="0"/>
              <a:t>遥感图像数据格式</a:t>
            </a:r>
            <a:r>
              <a:rPr lang="zh-CN" altLang="en-US" dirty="0"/>
              <a:t>可以用来描述海洋栅格数据，如海岸带地形数据、海底地形数据。</a:t>
            </a:r>
            <a:endParaRPr lang="en-US" altLang="zh-CN" dirty="0"/>
          </a:p>
          <a:p>
            <a:pPr lvl="1" eaLnBrk="1" hangingPunct="1">
              <a:defRPr/>
            </a:pPr>
            <a:endParaRPr lang="zh-CN" altLang="zh-CN" dirty="0"/>
          </a:p>
          <a:p>
            <a:pPr lvl="1" eaLnBrk="1" hangingPunct="1">
              <a:defRPr/>
            </a:pPr>
            <a:endParaRPr lang="zh-CN" altLang="en-US" dirty="0">
              <a:latin typeface="Arial" panose="020B0604020202020204" pitchFamily="34" charset="0"/>
            </a:endParaRPr>
          </a:p>
        </p:txBody>
      </p:sp>
      <p:sp>
        <p:nvSpPr>
          <p:cNvPr id="87044" name="Rectangle 4"/>
          <p:cNvSpPr>
            <a:spLocks noGrp="1" noChangeArrowheads="1"/>
          </p:cNvSpPr>
          <p:nvPr>
            <p:ph type="title"/>
          </p:nvPr>
        </p:nvSpPr>
        <p:spPr>
          <a:xfrm>
            <a:off x="1524000" y="139700"/>
            <a:ext cx="9144000" cy="593725"/>
          </a:xfrm>
        </p:spPr>
        <p:txBody>
          <a:bodyPr/>
          <a:lstStyle/>
          <a:p>
            <a:pPr eaLnBrk="1" hangingPunct="1"/>
            <a:r>
              <a:rPr lang="en-US" altLang="zh-CN" dirty="0"/>
              <a:t>§4.4 </a:t>
            </a:r>
            <a:r>
              <a:rPr lang="zh-CN" altLang="en-US" dirty="0"/>
              <a:t>海洋数据格式</a:t>
            </a:r>
            <a:endParaRPr lang="zh-CN" altLang="en-US" dirty="0"/>
          </a:p>
        </p:txBody>
      </p:sp>
    </p:spTree>
  </p:cSld>
  <p:clrMapOvr>
    <a:masterClrMapping/>
  </p:clrMapOvr>
  <p:transition spd="med">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57E392E1-C807-4452-A204-1F2EF44EE99A}"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56324" name="Rectangle 2"/>
          <p:cNvSpPr>
            <a:spLocks noGrp="1" noChangeArrowheads="1"/>
          </p:cNvSpPr>
          <p:nvPr>
            <p:ph type="body" idx="4294967295"/>
          </p:nvPr>
        </p:nvSpPr>
        <p:spPr>
          <a:xfrm>
            <a:off x="2057400" y="1125538"/>
            <a:ext cx="8153400" cy="5183187"/>
          </a:xfrm>
          <a:prstGeom prst="rect">
            <a:avLst/>
          </a:prstGeom>
        </p:spPr>
        <p:txBody>
          <a:bodyPr/>
          <a:lstStyle/>
          <a:p>
            <a:pPr eaLnBrk="1" hangingPunct="1">
              <a:defRPr/>
            </a:pPr>
            <a:r>
              <a:rPr lang="zh-CN" altLang="en-US" dirty="0">
                <a:ea typeface="宋体" panose="02010600030101010101" pitchFamily="2" charset="-122"/>
              </a:rPr>
              <a:t>海洋数据格式</a:t>
            </a:r>
            <a:endParaRPr lang="en-US" altLang="zh-CN" dirty="0">
              <a:ea typeface="宋体" panose="02010600030101010101" pitchFamily="2" charset="-122"/>
            </a:endParaRPr>
          </a:p>
          <a:p>
            <a:pPr lvl="1" eaLnBrk="1" hangingPunct="1">
              <a:defRPr/>
            </a:pPr>
            <a:r>
              <a:rPr lang="zh-CN" altLang="en-US" dirty="0">
                <a:solidFill>
                  <a:schemeClr val="accent1"/>
                </a:solidFill>
                <a:latin typeface="+mn-lt"/>
                <a:cs typeface="+mn-cs"/>
              </a:rPr>
              <a:t>通用遥感图像数据格式（</a:t>
            </a:r>
            <a:r>
              <a:rPr lang="en-US" altLang="zh-CN" dirty="0">
                <a:solidFill>
                  <a:schemeClr val="accent1"/>
                </a:solidFill>
                <a:latin typeface="+mn-lt"/>
                <a:cs typeface="+mn-cs"/>
              </a:rPr>
              <a:t>TIF</a:t>
            </a:r>
            <a:r>
              <a:rPr lang="zh-CN" altLang="en-US" dirty="0">
                <a:solidFill>
                  <a:schemeClr val="accent1"/>
                </a:solidFill>
                <a:latin typeface="+mn-lt"/>
                <a:cs typeface="+mn-cs"/>
              </a:rPr>
              <a:t>、</a:t>
            </a:r>
            <a:r>
              <a:rPr lang="en-US" altLang="zh-CN" dirty="0">
                <a:solidFill>
                  <a:schemeClr val="accent1"/>
                </a:solidFill>
                <a:latin typeface="+mn-lt"/>
                <a:cs typeface="+mn-cs"/>
              </a:rPr>
              <a:t>BSQ</a:t>
            </a:r>
            <a:r>
              <a:rPr lang="zh-CN" altLang="en-US" dirty="0">
                <a:solidFill>
                  <a:schemeClr val="accent1"/>
                </a:solidFill>
                <a:latin typeface="+mn-lt"/>
                <a:cs typeface="+mn-cs"/>
              </a:rPr>
              <a:t>、</a:t>
            </a:r>
            <a:r>
              <a:rPr lang="en-US" altLang="zh-CN" dirty="0">
                <a:solidFill>
                  <a:schemeClr val="accent1"/>
                </a:solidFill>
                <a:latin typeface="+mn-lt"/>
                <a:cs typeface="+mn-cs"/>
              </a:rPr>
              <a:t>IMG</a:t>
            </a:r>
            <a:r>
              <a:rPr lang="zh-CN" altLang="en-US" dirty="0">
                <a:solidFill>
                  <a:schemeClr val="accent1"/>
                </a:solidFill>
                <a:latin typeface="+mn-lt"/>
                <a:cs typeface="+mn-cs"/>
              </a:rPr>
              <a:t>、</a:t>
            </a:r>
            <a:r>
              <a:rPr lang="en-US" altLang="zh-CN" dirty="0">
                <a:solidFill>
                  <a:schemeClr val="accent1"/>
                </a:solidFill>
                <a:latin typeface="+mn-lt"/>
                <a:cs typeface="+mn-cs"/>
              </a:rPr>
              <a:t>BMP</a:t>
            </a:r>
            <a:r>
              <a:rPr lang="zh-CN" altLang="en-US" dirty="0">
                <a:solidFill>
                  <a:schemeClr val="accent1"/>
                </a:solidFill>
                <a:latin typeface="+mn-lt"/>
                <a:cs typeface="+mn-cs"/>
              </a:rPr>
              <a:t>）</a:t>
            </a:r>
            <a:endParaRPr lang="en-US" altLang="zh-CN" dirty="0"/>
          </a:p>
          <a:p>
            <a:pPr lvl="1" eaLnBrk="1" hangingPunct="1">
              <a:defRPr/>
            </a:pPr>
            <a:endParaRPr lang="zh-CN" altLang="zh-CN" dirty="0"/>
          </a:p>
          <a:p>
            <a:pPr lvl="1" eaLnBrk="1" hangingPunct="1">
              <a:defRPr/>
            </a:pPr>
            <a:endParaRPr lang="zh-CN" altLang="en-US" dirty="0">
              <a:latin typeface="Arial" panose="020B0604020202020204" pitchFamily="34" charset="0"/>
            </a:endParaRPr>
          </a:p>
        </p:txBody>
      </p:sp>
      <p:sp>
        <p:nvSpPr>
          <p:cNvPr id="87044" name="Rectangle 4"/>
          <p:cNvSpPr>
            <a:spLocks noGrp="1" noChangeArrowheads="1"/>
          </p:cNvSpPr>
          <p:nvPr>
            <p:ph type="title"/>
          </p:nvPr>
        </p:nvSpPr>
        <p:spPr>
          <a:xfrm>
            <a:off x="1524000" y="139700"/>
            <a:ext cx="9144000" cy="593725"/>
          </a:xfrm>
        </p:spPr>
        <p:txBody>
          <a:bodyPr/>
          <a:lstStyle/>
          <a:p>
            <a:pPr eaLnBrk="1" hangingPunct="1"/>
            <a:r>
              <a:rPr lang="en-US" altLang="zh-CN" dirty="0"/>
              <a:t>§4.4 </a:t>
            </a:r>
            <a:r>
              <a:rPr lang="zh-CN" altLang="en-US" dirty="0"/>
              <a:t>海洋数据格式</a:t>
            </a:r>
            <a:endParaRPr lang="zh-CN" altLang="en-US" dirty="0"/>
          </a:p>
        </p:txBody>
      </p:sp>
      <p:pic>
        <p:nvPicPr>
          <p:cNvPr id="2" name="图片 1"/>
          <p:cNvPicPr>
            <a:picLocks noChangeAspect="1"/>
          </p:cNvPicPr>
          <p:nvPr/>
        </p:nvPicPr>
        <p:blipFill>
          <a:blip r:embed="rId1"/>
          <a:stretch>
            <a:fillRect/>
          </a:stretch>
        </p:blipFill>
        <p:spPr>
          <a:xfrm>
            <a:off x="1672590" y="2630805"/>
            <a:ext cx="4328160" cy="3070860"/>
          </a:xfrm>
          <a:prstGeom prst="rect">
            <a:avLst/>
          </a:prstGeom>
        </p:spPr>
      </p:pic>
      <p:pic>
        <p:nvPicPr>
          <p:cNvPr id="3" name="图片 2"/>
          <p:cNvPicPr>
            <a:picLocks noChangeAspect="1"/>
          </p:cNvPicPr>
          <p:nvPr/>
        </p:nvPicPr>
        <p:blipFill>
          <a:blip r:embed="rId2"/>
          <a:stretch>
            <a:fillRect/>
          </a:stretch>
        </p:blipFill>
        <p:spPr>
          <a:xfrm>
            <a:off x="6228715" y="2412365"/>
            <a:ext cx="3713480" cy="4281170"/>
          </a:xfrm>
          <a:prstGeom prst="rect">
            <a:avLst/>
          </a:prstGeom>
        </p:spPr>
      </p:pic>
    </p:spTree>
  </p:cSld>
  <p:clrMapOvr>
    <a:masterClrMapping/>
  </p:clrMapOvr>
  <p:transition spd="med">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2076FFEB-ED79-4EA9-B202-734E6E739870}"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142338" name="AutoShape 2"/>
          <p:cNvSpPr>
            <a:spLocks noGrp="1" noChangeArrowheads="1"/>
          </p:cNvSpPr>
          <p:nvPr>
            <p:ph type="title"/>
          </p:nvPr>
        </p:nvSpPr>
        <p:spPr>
          <a:xfrm>
            <a:off x="3430588" y="2060575"/>
            <a:ext cx="5618162" cy="2447925"/>
          </a:xfrm>
          <a:prstGeom prst="horizontalScroll">
            <a:avLst>
              <a:gd name="adj" fmla="val 12500"/>
            </a:avLst>
          </a:prstGeom>
          <a:solidFill>
            <a:srgbClr val="FF99CC"/>
          </a:solidFill>
          <a:ln w="19050">
            <a:solidFill>
              <a:schemeClr val="tx1"/>
            </a:solidFill>
            <a:round/>
            <a:headEnd type="none" w="med" len="med"/>
            <a:tailEnd type="none" w="med" len="med"/>
          </a:ln>
        </p:spPr>
        <p:txBody>
          <a:bodyPr tIns="0" bIns="0"/>
          <a:lstStyle/>
          <a:p>
            <a:pPr marL="952500" indent="-952500" eaLnBrk="1" hangingPunct="1"/>
            <a:r>
              <a:rPr lang="en-US" altLang="zh-CN" sz="2800" dirty="0">
                <a:solidFill>
                  <a:srgbClr val="3333CC"/>
                </a:solidFill>
                <a:ea typeface="黑体" panose="02010609060101010101" pitchFamily="2" charset="-122"/>
                <a:cs typeface="Times New Roman" panose="02020603050405020304" pitchFamily="18" charset="0"/>
              </a:rPr>
              <a:t>§4.5 </a:t>
            </a:r>
            <a:r>
              <a:rPr lang="zh-CN" altLang="zh-CN" sz="2800" dirty="0">
                <a:solidFill>
                  <a:srgbClr val="3333CC"/>
                </a:solidFill>
                <a:ea typeface="黑体" panose="02010609060101010101" pitchFamily="2" charset="-122"/>
                <a:cs typeface="Times New Roman" panose="02020603050405020304" pitchFamily="18" charset="0"/>
              </a:rPr>
              <a:t>海洋数据质量评定</a:t>
            </a:r>
            <a:endParaRPr lang="zh-CN" altLang="en-US" sz="2800" dirty="0">
              <a:solidFill>
                <a:srgbClr val="3333CC"/>
              </a:solidFill>
              <a:ea typeface="黑体" panose="02010609060101010101" pitchFamily="2" charset="-122"/>
              <a:cs typeface="Times New Roman" panose="02020603050405020304" pitchFamily="18" charset="0"/>
            </a:endParaRPr>
          </a:p>
        </p:txBody>
      </p:sp>
      <p:sp>
        <p:nvSpPr>
          <p:cNvPr id="133124" name="Rectangle 3"/>
          <p:cNvSpPr>
            <a:spLocks noChangeArrowheads="1"/>
          </p:cNvSpPr>
          <p:nvPr/>
        </p:nvSpPr>
        <p:spPr bwMode="white">
          <a:xfrm>
            <a:off x="1524000" y="139700"/>
            <a:ext cx="9144000"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algn="ctr" eaLnBrk="1" hangingPunct="1">
              <a:spcBef>
                <a:spcPct val="0"/>
              </a:spcBef>
              <a:spcAft>
                <a:spcPct val="0"/>
              </a:spcAft>
              <a:buClrTx/>
              <a:buFontTx/>
              <a:buNone/>
            </a:pPr>
            <a:r>
              <a:rPr lang="zh-CN" altLang="en-US" sz="3200" dirty="0">
                <a:solidFill>
                  <a:schemeClr val="bg1"/>
                </a:solidFill>
                <a:latin typeface="Tahoma" panose="020B0604030504040204" pitchFamily="34" charset="0"/>
              </a:rPr>
              <a:t>第</a:t>
            </a:r>
            <a:r>
              <a:rPr lang="en-US" altLang="zh-CN" sz="3200" dirty="0">
                <a:solidFill>
                  <a:schemeClr val="bg1"/>
                </a:solidFill>
                <a:latin typeface="Tahoma" panose="020B0604030504040204" pitchFamily="34" charset="0"/>
              </a:rPr>
              <a:t>4</a:t>
            </a:r>
            <a:r>
              <a:rPr lang="zh-CN" altLang="en-US" sz="3200" dirty="0">
                <a:solidFill>
                  <a:schemeClr val="bg1"/>
                </a:solidFill>
                <a:latin typeface="Tahoma" panose="020B0604030504040204" pitchFamily="34" charset="0"/>
              </a:rPr>
              <a:t>讲 海洋数据的获取</a:t>
            </a:r>
            <a:endParaRPr lang="zh-CN" altLang="en-US" sz="3200" dirty="0">
              <a:solidFill>
                <a:schemeClr val="bg1"/>
              </a:solidFill>
              <a:latin typeface="宋体" panose="02010600030101010101" pitchFamily="2" charset="-122"/>
            </a:endParaRPr>
          </a:p>
        </p:txBody>
      </p:sp>
      <p:sp>
        <p:nvSpPr>
          <p:cNvPr id="5" name="AutoShape 4">
            <a:hlinkClick r:id="rId1" action="ppaction://hlinksldjump" highlightClick="1"/>
          </p:cNvPr>
          <p:cNvSpPr>
            <a:spLocks noChangeArrowheads="1"/>
          </p:cNvSpPr>
          <p:nvPr/>
        </p:nvSpPr>
        <p:spPr bwMode="auto">
          <a:xfrm>
            <a:off x="8975725" y="5931218"/>
            <a:ext cx="306069" cy="323214"/>
          </a:xfrm>
          <a:prstGeom prst="actionButtonBackPrevious">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0" anchor="ctr">
            <a:spAutoFit/>
          </a:bodyPr>
          <a:lstStyle/>
          <a:p>
            <a:endParaRPr lang="zh-CN" alt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42338"/>
                                        </p:tgtEl>
                                        <p:attrNameLst>
                                          <p:attrName>style.visibility</p:attrName>
                                        </p:attrNameLst>
                                      </p:cBhvr>
                                      <p:to>
                                        <p:strVal val="visible"/>
                                      </p:to>
                                    </p:set>
                                    <p:animEffect transition="in" filter="wipe(left)">
                                      <p:cBhvr>
                                        <p:cTn id="7" dur="1000"/>
                                        <p:tgtEl>
                                          <p:spTgt spid="142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8" grpId="0" bldLvl="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741B90F9-A520-4E74-A729-9745B4164CD8}"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135171" name="Rectangle 2"/>
          <p:cNvSpPr>
            <a:spLocks noGrp="1" noChangeArrowheads="1"/>
          </p:cNvSpPr>
          <p:nvPr>
            <p:ph type="body" idx="4294967295"/>
          </p:nvPr>
        </p:nvSpPr>
        <p:spPr>
          <a:xfrm>
            <a:off x="2057400" y="1125538"/>
            <a:ext cx="8153400" cy="5183187"/>
          </a:xfrm>
          <a:prstGeom prst="rect">
            <a:avLst/>
          </a:prstGeom>
        </p:spPr>
        <p:txBody>
          <a:bodyPr/>
          <a:lstStyle/>
          <a:p>
            <a:pPr eaLnBrk="1" hangingPunct="1"/>
            <a:r>
              <a:rPr lang="zh-CN" altLang="en-US" dirty="0">
                <a:ea typeface="宋体" panose="02010600030101010101" pitchFamily="2" charset="-122"/>
              </a:rPr>
              <a:t>海洋数据质量控制的内容</a:t>
            </a:r>
            <a:endParaRPr lang="en-US" altLang="zh-CN" sz="2400" dirty="0">
              <a:ea typeface="宋体" panose="02010600030101010101" pitchFamily="2" charset="-122"/>
            </a:endParaRPr>
          </a:p>
          <a:p>
            <a:pPr lvl="1" eaLnBrk="1" hangingPunct="1"/>
            <a:r>
              <a:rPr lang="zh-CN" altLang="en-US" dirty="0">
                <a:latin typeface="Arial" panose="020B0604020202020204" pitchFamily="34" charset="0"/>
              </a:rPr>
              <a:t>海洋观测的目的之一就是为了获取高质量可靠的观测数据，高质量的观测数据应具有</a:t>
            </a:r>
            <a:r>
              <a:rPr lang="zh-CN" altLang="en-US" dirty="0">
                <a:solidFill>
                  <a:srgbClr val="FF0000"/>
                </a:solidFill>
                <a:latin typeface="Arial" panose="020B0604020202020204" pitchFamily="34" charset="0"/>
              </a:rPr>
              <a:t>准确性、精密性、代表性、完整性及可比性</a:t>
            </a:r>
            <a:r>
              <a:rPr lang="zh-CN" altLang="en-US" dirty="0">
                <a:latin typeface="Arial" panose="020B0604020202020204" pitchFamily="34" charset="0"/>
              </a:rPr>
              <a:t>，这五个特性也是观测数据质量控制的内容。</a:t>
            </a:r>
            <a:endParaRPr lang="en-US" altLang="zh-CN" dirty="0">
              <a:latin typeface="Arial" panose="020B0604020202020204" pitchFamily="34" charset="0"/>
            </a:endParaRPr>
          </a:p>
          <a:p>
            <a:pPr lvl="1" eaLnBrk="1" hangingPunct="1"/>
            <a:endParaRPr lang="zh-CN" altLang="zh-CN" dirty="0">
              <a:latin typeface="Arial" panose="020B0604020202020204" pitchFamily="34" charset="0"/>
            </a:endParaRPr>
          </a:p>
          <a:p>
            <a:pPr lvl="1" eaLnBrk="1" hangingPunct="1"/>
            <a:endParaRPr lang="zh-CN" altLang="en-US" dirty="0">
              <a:latin typeface="Arial" panose="020B0604020202020204" pitchFamily="34" charset="0"/>
            </a:endParaRPr>
          </a:p>
        </p:txBody>
      </p:sp>
      <p:sp>
        <p:nvSpPr>
          <p:cNvPr id="135172" name="Rectangle 4"/>
          <p:cNvSpPr>
            <a:spLocks noGrp="1" noChangeArrowheads="1"/>
          </p:cNvSpPr>
          <p:nvPr>
            <p:ph type="title"/>
          </p:nvPr>
        </p:nvSpPr>
        <p:spPr>
          <a:xfrm>
            <a:off x="1524000" y="139700"/>
            <a:ext cx="9144000" cy="593725"/>
          </a:xfrm>
        </p:spPr>
        <p:txBody>
          <a:bodyPr/>
          <a:lstStyle/>
          <a:p>
            <a:pPr eaLnBrk="1" hangingPunct="1"/>
            <a:r>
              <a:rPr lang="en-US" altLang="zh-CN" dirty="0"/>
              <a:t>§4.5 </a:t>
            </a:r>
            <a:r>
              <a:rPr lang="zh-CN" altLang="en-US" dirty="0"/>
              <a:t>海洋数据质量评定</a:t>
            </a:r>
            <a:endParaRPr lang="zh-CN" altLang="en-US" dirty="0"/>
          </a:p>
        </p:txBody>
      </p:sp>
    </p:spTree>
  </p:cSld>
  <p:clrMapOvr>
    <a:masterClrMapping/>
  </p:clrMapOvr>
  <p:transition spd="med">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92D74A33-B525-4383-858D-1D04940B4FB1}"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136195" name="Rectangle 2"/>
          <p:cNvSpPr>
            <a:spLocks noGrp="1" noChangeArrowheads="1"/>
          </p:cNvSpPr>
          <p:nvPr>
            <p:ph type="body" idx="4294967295"/>
          </p:nvPr>
        </p:nvSpPr>
        <p:spPr>
          <a:xfrm>
            <a:off x="2057400" y="1125538"/>
            <a:ext cx="8153400" cy="5183187"/>
          </a:xfrm>
          <a:prstGeom prst="rect">
            <a:avLst/>
          </a:prstGeom>
        </p:spPr>
        <p:txBody>
          <a:bodyPr/>
          <a:lstStyle/>
          <a:p>
            <a:pPr eaLnBrk="1" hangingPunct="1"/>
            <a:r>
              <a:rPr lang="zh-CN" altLang="en-US" dirty="0">
                <a:ea typeface="宋体" panose="02010600030101010101" pitchFamily="2" charset="-122"/>
              </a:rPr>
              <a:t>海洋数据质量控制的内容</a:t>
            </a:r>
            <a:endParaRPr lang="en-US" altLang="zh-CN" dirty="0">
              <a:ea typeface="宋体" panose="02010600030101010101" pitchFamily="2" charset="-122"/>
            </a:endParaRPr>
          </a:p>
          <a:p>
            <a:pPr eaLnBrk="1" hangingPunct="1"/>
            <a:r>
              <a:rPr lang="zh-CN" altLang="en-US" sz="2400" dirty="0">
                <a:ea typeface="宋体" panose="02010600030101010101" pitchFamily="2" charset="-122"/>
              </a:rPr>
              <a:t>准确性和精密性审查</a:t>
            </a:r>
            <a:endParaRPr lang="en-US" altLang="zh-CN" sz="2400" dirty="0">
              <a:ea typeface="宋体" panose="02010600030101010101" pitchFamily="2" charset="-122"/>
            </a:endParaRPr>
          </a:p>
          <a:p>
            <a:pPr lvl="1" eaLnBrk="1" hangingPunct="1"/>
            <a:r>
              <a:rPr lang="zh-CN" altLang="en-US" dirty="0">
                <a:latin typeface="Arial" panose="020B0604020202020204" pitchFamily="34" charset="0"/>
              </a:rPr>
              <a:t>准确性表示</a:t>
            </a:r>
            <a:r>
              <a:rPr lang="zh-CN" altLang="en-US" dirty="0">
                <a:solidFill>
                  <a:srgbClr val="FF0000"/>
                </a:solidFill>
                <a:latin typeface="Arial" panose="020B0604020202020204" pitchFamily="34" charset="0"/>
              </a:rPr>
              <a:t>测量值与真实值的一致程度，精密性表示多次测定同一重复样品的分散程度</a:t>
            </a:r>
            <a:r>
              <a:rPr lang="zh-CN" altLang="en-US" dirty="0">
                <a:latin typeface="Arial" panose="020B0604020202020204" pitchFamily="34" charset="0"/>
              </a:rPr>
              <a:t>。对海洋环境观测数据的准确性和精密性的审查主要表现为判别观测数据的合理性，即审查是否含有因过失误差而造成的异常值。发展和判别异常数据，对观测数据进行合理性分析是数据质量控制的重要内容。</a:t>
            </a:r>
            <a:endParaRPr lang="zh-CN" altLang="zh-CN" dirty="0">
              <a:latin typeface="Arial" panose="020B0604020202020204" pitchFamily="34" charset="0"/>
            </a:endParaRPr>
          </a:p>
          <a:p>
            <a:pPr lvl="1" eaLnBrk="1" hangingPunct="1"/>
            <a:endParaRPr lang="zh-CN" altLang="en-US" dirty="0">
              <a:latin typeface="Arial" panose="020B0604020202020204" pitchFamily="34" charset="0"/>
            </a:endParaRPr>
          </a:p>
        </p:txBody>
      </p:sp>
      <p:sp>
        <p:nvSpPr>
          <p:cNvPr id="136196" name="Rectangle 4"/>
          <p:cNvSpPr>
            <a:spLocks noGrp="1" noChangeArrowheads="1"/>
          </p:cNvSpPr>
          <p:nvPr>
            <p:ph type="title"/>
          </p:nvPr>
        </p:nvSpPr>
        <p:spPr>
          <a:xfrm>
            <a:off x="1524000" y="139700"/>
            <a:ext cx="9144000" cy="593725"/>
          </a:xfrm>
        </p:spPr>
        <p:txBody>
          <a:bodyPr/>
          <a:lstStyle/>
          <a:p>
            <a:pPr eaLnBrk="1" hangingPunct="1"/>
            <a:r>
              <a:rPr lang="en-US" altLang="zh-CN" dirty="0"/>
              <a:t>§4.5 </a:t>
            </a:r>
            <a:r>
              <a:rPr lang="zh-CN" altLang="en-US" dirty="0"/>
              <a:t>海洋数据质量评定</a:t>
            </a:r>
            <a:endParaRPr lang="zh-CN" altLang="en-US" dirty="0"/>
          </a:p>
        </p:txBody>
      </p:sp>
    </p:spTree>
  </p:cSld>
  <p:clrMapOvr>
    <a:masterClrMapping/>
  </p:clrMapOvr>
  <p:transition spd="med">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FC493E6F-E6FB-48CD-87E9-D48A9716D1BF}"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137219" name="Rectangle 2"/>
          <p:cNvSpPr>
            <a:spLocks noGrp="1" noChangeArrowheads="1"/>
          </p:cNvSpPr>
          <p:nvPr>
            <p:ph type="body" idx="4294967295"/>
          </p:nvPr>
        </p:nvSpPr>
        <p:spPr>
          <a:xfrm>
            <a:off x="2057400" y="1125538"/>
            <a:ext cx="8153400" cy="5183187"/>
          </a:xfrm>
          <a:prstGeom prst="rect">
            <a:avLst/>
          </a:prstGeom>
        </p:spPr>
        <p:txBody>
          <a:bodyPr/>
          <a:lstStyle/>
          <a:p>
            <a:pPr eaLnBrk="1" hangingPunct="1"/>
            <a:r>
              <a:rPr lang="zh-CN" altLang="en-US" dirty="0">
                <a:ea typeface="宋体" panose="02010600030101010101" pitchFamily="2" charset="-122"/>
              </a:rPr>
              <a:t>海洋数据质量控制的内容</a:t>
            </a:r>
            <a:endParaRPr lang="en-US" altLang="zh-CN" dirty="0">
              <a:ea typeface="宋体" panose="02010600030101010101" pitchFamily="2" charset="-122"/>
            </a:endParaRPr>
          </a:p>
          <a:p>
            <a:pPr eaLnBrk="1" hangingPunct="1"/>
            <a:r>
              <a:rPr lang="zh-CN" altLang="en-US" sz="2400" dirty="0">
                <a:ea typeface="宋体" panose="02010600030101010101" pitchFamily="2" charset="-122"/>
              </a:rPr>
              <a:t>完整性审查</a:t>
            </a:r>
            <a:endParaRPr lang="en-US" altLang="zh-CN" sz="2400" dirty="0">
              <a:ea typeface="宋体" panose="02010600030101010101" pitchFamily="2" charset="-122"/>
            </a:endParaRPr>
          </a:p>
          <a:p>
            <a:pPr lvl="1" eaLnBrk="1" hangingPunct="1"/>
            <a:r>
              <a:rPr lang="zh-CN" altLang="en-US" u="sng" dirty="0">
                <a:latin typeface="Arial" panose="020B0604020202020204" pitchFamily="34" charset="0"/>
              </a:rPr>
              <a:t>完整性</a:t>
            </a:r>
            <a:r>
              <a:rPr lang="zh-CN" altLang="en-US" dirty="0">
                <a:latin typeface="Arial" panose="020B0604020202020204" pitchFamily="34" charset="0"/>
              </a:rPr>
              <a:t>是指获得有效观测数据的总量是否满足预期的要求。主要表现在监测项目是否齐全、观测频次是否达到要求，其它必需的数据项是否有漏测漏报等。</a:t>
            </a:r>
            <a:endParaRPr lang="zh-CN" altLang="zh-CN" dirty="0">
              <a:latin typeface="Arial" panose="020B0604020202020204" pitchFamily="34" charset="0"/>
            </a:endParaRPr>
          </a:p>
          <a:p>
            <a:pPr lvl="1" eaLnBrk="1" hangingPunct="1"/>
            <a:endParaRPr lang="zh-CN" altLang="en-US" dirty="0">
              <a:latin typeface="Arial" panose="020B0604020202020204" pitchFamily="34" charset="0"/>
            </a:endParaRPr>
          </a:p>
        </p:txBody>
      </p:sp>
      <p:sp>
        <p:nvSpPr>
          <p:cNvPr id="137220" name="Rectangle 4"/>
          <p:cNvSpPr>
            <a:spLocks noGrp="1" noChangeArrowheads="1"/>
          </p:cNvSpPr>
          <p:nvPr>
            <p:ph type="title"/>
          </p:nvPr>
        </p:nvSpPr>
        <p:spPr>
          <a:xfrm>
            <a:off x="1524000" y="139700"/>
            <a:ext cx="9144000" cy="593725"/>
          </a:xfrm>
        </p:spPr>
        <p:txBody>
          <a:bodyPr/>
          <a:lstStyle/>
          <a:p>
            <a:pPr eaLnBrk="1" hangingPunct="1"/>
            <a:r>
              <a:rPr lang="en-US" altLang="zh-CN" dirty="0"/>
              <a:t>§4.5 </a:t>
            </a:r>
            <a:r>
              <a:rPr lang="zh-CN" altLang="en-US" dirty="0"/>
              <a:t>海洋数据质量评定</a:t>
            </a:r>
            <a:endParaRPr lang="zh-CN" altLang="en-US" dirty="0"/>
          </a:p>
        </p:txBody>
      </p:sp>
    </p:spTree>
  </p:cSld>
  <p:clrMapOvr>
    <a:masterClrMapping/>
  </p:clrMapOvr>
  <p:transition spd="med">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BD265F95-AA1C-4FEC-9AB4-1997B8826EF1}"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138243" name="Rectangle 2"/>
          <p:cNvSpPr>
            <a:spLocks noGrp="1" noChangeArrowheads="1"/>
          </p:cNvSpPr>
          <p:nvPr>
            <p:ph type="body" idx="4294967295"/>
          </p:nvPr>
        </p:nvSpPr>
        <p:spPr>
          <a:xfrm>
            <a:off x="2057400" y="1125538"/>
            <a:ext cx="8153400" cy="5183187"/>
          </a:xfrm>
          <a:prstGeom prst="rect">
            <a:avLst/>
          </a:prstGeom>
        </p:spPr>
        <p:txBody>
          <a:bodyPr/>
          <a:lstStyle/>
          <a:p>
            <a:pPr eaLnBrk="1" hangingPunct="1"/>
            <a:r>
              <a:rPr lang="zh-CN" altLang="en-US" dirty="0">
                <a:ea typeface="宋体" panose="02010600030101010101" pitchFamily="2" charset="-122"/>
              </a:rPr>
              <a:t>海洋数据质量控制的内容</a:t>
            </a:r>
            <a:endParaRPr lang="en-US" altLang="zh-CN" dirty="0">
              <a:ea typeface="宋体" panose="02010600030101010101" pitchFamily="2" charset="-122"/>
            </a:endParaRPr>
          </a:p>
          <a:p>
            <a:pPr eaLnBrk="1" hangingPunct="1"/>
            <a:r>
              <a:rPr lang="zh-CN" altLang="en-US" sz="2400" dirty="0">
                <a:ea typeface="宋体" panose="02010600030101010101" pitchFamily="2" charset="-122"/>
              </a:rPr>
              <a:t>代表性审查</a:t>
            </a:r>
            <a:endParaRPr lang="en-US" altLang="zh-CN" sz="2400" dirty="0">
              <a:ea typeface="宋体" panose="02010600030101010101" pitchFamily="2" charset="-122"/>
            </a:endParaRPr>
          </a:p>
          <a:p>
            <a:pPr lvl="1" eaLnBrk="1" hangingPunct="1"/>
            <a:r>
              <a:rPr lang="zh-CN" altLang="en-US" dirty="0">
                <a:latin typeface="Arial" panose="020B0604020202020204" pitchFamily="34" charset="0"/>
              </a:rPr>
              <a:t>代表性是</a:t>
            </a:r>
            <a:r>
              <a:rPr lang="zh-CN" altLang="en-US" dirty="0">
                <a:solidFill>
                  <a:srgbClr val="FF0000"/>
                </a:solidFill>
                <a:latin typeface="Arial" panose="020B0604020202020204" pitchFamily="34" charset="0"/>
              </a:rPr>
              <a:t>指数据能否客观地反应观测海区的海洋要素的时间、空间变化特征</a:t>
            </a:r>
            <a:r>
              <a:rPr lang="zh-CN" altLang="en-US" dirty="0">
                <a:latin typeface="Arial" panose="020B0604020202020204" pitchFamily="34" charset="0"/>
              </a:rPr>
              <a:t>。在进行观测数据的代表性审查时，需要审查观测站位、观测频率和观测时间是否符合海洋环境观测工作方案的要求，同时注意审查海洋环境观测数据是否与观测日期及站位相对应。</a:t>
            </a:r>
            <a:endParaRPr lang="zh-CN" altLang="zh-CN" dirty="0">
              <a:latin typeface="Arial" panose="020B0604020202020204" pitchFamily="34" charset="0"/>
            </a:endParaRPr>
          </a:p>
          <a:p>
            <a:pPr lvl="1" eaLnBrk="1" hangingPunct="1"/>
            <a:endParaRPr lang="zh-CN" altLang="en-US" dirty="0">
              <a:latin typeface="Arial" panose="020B0604020202020204" pitchFamily="34" charset="0"/>
            </a:endParaRPr>
          </a:p>
        </p:txBody>
      </p:sp>
      <p:sp>
        <p:nvSpPr>
          <p:cNvPr id="138244" name="Rectangle 4"/>
          <p:cNvSpPr>
            <a:spLocks noGrp="1" noChangeArrowheads="1"/>
          </p:cNvSpPr>
          <p:nvPr>
            <p:ph type="title"/>
          </p:nvPr>
        </p:nvSpPr>
        <p:spPr>
          <a:xfrm>
            <a:off x="1524000" y="139700"/>
            <a:ext cx="9144000" cy="593725"/>
          </a:xfrm>
        </p:spPr>
        <p:txBody>
          <a:bodyPr/>
          <a:lstStyle/>
          <a:p>
            <a:pPr eaLnBrk="1" hangingPunct="1"/>
            <a:r>
              <a:rPr lang="en-US" altLang="zh-CN" dirty="0"/>
              <a:t>§4.5 </a:t>
            </a:r>
            <a:r>
              <a:rPr lang="zh-CN" altLang="en-US" dirty="0"/>
              <a:t>海洋数据质量评定</a:t>
            </a:r>
            <a:endParaRPr lang="zh-CN" altLang="en-US" dirty="0"/>
          </a:p>
        </p:txBody>
      </p:sp>
    </p:spTree>
  </p:cSld>
  <p:clrMapOvr>
    <a:masterClrMapping/>
  </p:clrMapOvr>
  <p:transition spd="med">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7C967876-40CD-4F63-8F9A-16A9D609F1D8}"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139267" name="Rectangle 2"/>
          <p:cNvSpPr>
            <a:spLocks noGrp="1" noChangeArrowheads="1"/>
          </p:cNvSpPr>
          <p:nvPr>
            <p:ph type="body" idx="4294967295"/>
          </p:nvPr>
        </p:nvSpPr>
        <p:spPr>
          <a:xfrm>
            <a:off x="1562735" y="1125855"/>
            <a:ext cx="8648065" cy="5182870"/>
          </a:xfrm>
          <a:prstGeom prst="rect">
            <a:avLst/>
          </a:prstGeom>
        </p:spPr>
        <p:txBody>
          <a:bodyPr/>
          <a:lstStyle/>
          <a:p>
            <a:pPr eaLnBrk="1" hangingPunct="1"/>
            <a:r>
              <a:rPr lang="zh-CN" altLang="en-US" dirty="0">
                <a:ea typeface="宋体" panose="02010600030101010101" pitchFamily="2" charset="-122"/>
              </a:rPr>
              <a:t>海洋数据质量控制的内容</a:t>
            </a:r>
            <a:endParaRPr lang="en-US" altLang="zh-CN" dirty="0">
              <a:ea typeface="宋体" panose="02010600030101010101" pitchFamily="2" charset="-122"/>
            </a:endParaRPr>
          </a:p>
          <a:p>
            <a:pPr eaLnBrk="1" hangingPunct="1"/>
            <a:r>
              <a:rPr lang="zh-CN" altLang="en-US" sz="2400" dirty="0">
                <a:ea typeface="宋体" panose="02010600030101010101" pitchFamily="2" charset="-122"/>
              </a:rPr>
              <a:t>可比性审查</a:t>
            </a:r>
            <a:endParaRPr lang="en-US" altLang="zh-CN" sz="2400" dirty="0">
              <a:ea typeface="宋体" panose="02010600030101010101" pitchFamily="2" charset="-122"/>
            </a:endParaRPr>
          </a:p>
          <a:p>
            <a:pPr lvl="1" eaLnBrk="1" hangingPunct="1"/>
            <a:r>
              <a:rPr lang="zh-CN" altLang="en-US" dirty="0">
                <a:latin typeface="Arial" panose="020B0604020202020204" pitchFamily="34" charset="0"/>
              </a:rPr>
              <a:t>可比性是指</a:t>
            </a:r>
            <a:r>
              <a:rPr lang="zh-CN" altLang="en-US" dirty="0">
                <a:solidFill>
                  <a:srgbClr val="FF0000"/>
                </a:solidFill>
                <a:latin typeface="Arial" panose="020B0604020202020204" pitchFamily="34" charset="0"/>
              </a:rPr>
              <a:t>在环境条件、</a:t>
            </a:r>
            <a:r>
              <a:rPr lang="en-US" altLang="zh-CN" dirty="0">
                <a:solidFill>
                  <a:srgbClr val="FF0000"/>
                </a:solidFill>
                <a:latin typeface="Arial" panose="020B0604020202020204" pitchFamily="34" charset="0"/>
              </a:rPr>
              <a:t> </a:t>
            </a:r>
            <a:r>
              <a:rPr lang="zh-CN" altLang="en-US" dirty="0">
                <a:solidFill>
                  <a:srgbClr val="FF0000"/>
                </a:solidFill>
                <a:latin typeface="Arial" panose="020B0604020202020204" pitchFamily="34" charset="0"/>
              </a:rPr>
              <a:t>观测方法、数据表达等可比条件下所获数据的一致程度</a:t>
            </a:r>
            <a:r>
              <a:rPr lang="zh-CN" altLang="en-US" dirty="0">
                <a:latin typeface="Arial" panose="020B0604020202020204" pitchFamily="34" charset="0"/>
              </a:rPr>
              <a:t>。在对观测数据时空上的可比性进行审核时，需要考虑获取数据所使用的规范、标准、仪器、分析方法等因素，若出现不合理的变化趋势，应有比较合理的污染分析。同时，需要对海洋环境观测数据来源、</a:t>
            </a:r>
            <a:r>
              <a:rPr lang="en-US" altLang="zh-CN" dirty="0">
                <a:latin typeface="Arial" panose="020B0604020202020204" pitchFamily="34" charset="0"/>
              </a:rPr>
              <a:t> </a:t>
            </a:r>
            <a:r>
              <a:rPr lang="zh-CN" altLang="en-US" dirty="0">
                <a:latin typeface="Arial" panose="020B0604020202020204" pitchFamily="34" charset="0"/>
              </a:rPr>
              <a:t>观测条件、分析处理方法及数据质量作出评估，方便在使用不同类型观测数据时区别对待。</a:t>
            </a:r>
            <a:endParaRPr lang="zh-CN" altLang="zh-CN" dirty="0">
              <a:latin typeface="Arial" panose="020B0604020202020204" pitchFamily="34" charset="0"/>
            </a:endParaRPr>
          </a:p>
          <a:p>
            <a:pPr lvl="1" eaLnBrk="1" hangingPunct="1"/>
            <a:endParaRPr lang="zh-CN" altLang="en-US" dirty="0">
              <a:latin typeface="Arial" panose="020B0604020202020204" pitchFamily="34" charset="0"/>
            </a:endParaRPr>
          </a:p>
        </p:txBody>
      </p:sp>
      <p:sp>
        <p:nvSpPr>
          <p:cNvPr id="139268" name="Rectangle 4"/>
          <p:cNvSpPr>
            <a:spLocks noGrp="1" noChangeArrowheads="1"/>
          </p:cNvSpPr>
          <p:nvPr>
            <p:ph type="title"/>
          </p:nvPr>
        </p:nvSpPr>
        <p:spPr>
          <a:xfrm>
            <a:off x="1524000" y="139700"/>
            <a:ext cx="9144000" cy="593725"/>
          </a:xfrm>
        </p:spPr>
        <p:txBody>
          <a:bodyPr/>
          <a:lstStyle/>
          <a:p>
            <a:pPr eaLnBrk="1" hangingPunct="1"/>
            <a:r>
              <a:rPr lang="en-US" altLang="zh-CN" dirty="0"/>
              <a:t>§4.5 </a:t>
            </a:r>
            <a:r>
              <a:rPr lang="zh-CN" altLang="en-US" dirty="0"/>
              <a:t>海洋数据质量评定</a:t>
            </a:r>
            <a:endParaRPr lang="zh-CN" altLang="en-US" dirty="0"/>
          </a:p>
        </p:txBody>
      </p:sp>
    </p:spTree>
  </p:cSld>
  <p:clrMapOvr>
    <a:masterClrMapping/>
  </p:clrMapOvr>
  <p:transition spd="med">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7C967876-40CD-4F63-8F9A-16A9D609F1D8}"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139267" name="Rectangle 2"/>
          <p:cNvSpPr>
            <a:spLocks noGrp="1" noChangeArrowheads="1"/>
          </p:cNvSpPr>
          <p:nvPr>
            <p:ph type="body" idx="4294967295"/>
          </p:nvPr>
        </p:nvSpPr>
        <p:spPr>
          <a:xfrm>
            <a:off x="2057400" y="1125538"/>
            <a:ext cx="8153400" cy="5183187"/>
          </a:xfrm>
          <a:prstGeom prst="rect">
            <a:avLst/>
          </a:prstGeom>
        </p:spPr>
        <p:txBody>
          <a:bodyPr/>
          <a:lstStyle/>
          <a:p>
            <a:pPr eaLnBrk="1" hangingPunct="1"/>
            <a:r>
              <a:rPr lang="zh-CN" altLang="en-US" sz="2400" dirty="0">
                <a:ea typeface="宋体" panose="02010600030101010101" pitchFamily="2" charset="-122"/>
              </a:rPr>
              <a:t>海洋遥感数据质量评定</a:t>
            </a:r>
            <a:endParaRPr lang="en-US" altLang="zh-CN" sz="2400" dirty="0">
              <a:ea typeface="宋体" panose="02010600030101010101" pitchFamily="2" charset="-122"/>
            </a:endParaRPr>
          </a:p>
          <a:p>
            <a:pPr lvl="1" eaLnBrk="1" hangingPunct="1"/>
            <a:r>
              <a:rPr lang="zh-CN" altLang="en-US" u="sng" dirty="0">
                <a:latin typeface="Arial" panose="020B0604020202020204" pitchFamily="34" charset="0"/>
              </a:rPr>
              <a:t>遥感数据质量评定主要从图像噪声、信息容量、清晰度、波段信息冗余、空间分辨率、几何纠正精度、波段配准精度等方面进行质量评定</a:t>
            </a:r>
            <a:r>
              <a:rPr lang="zh-CN" altLang="en-US" dirty="0">
                <a:latin typeface="Arial" panose="020B0604020202020204" pitchFamily="34" charset="0"/>
              </a:rPr>
              <a:t>。</a:t>
            </a:r>
            <a:endParaRPr lang="en-US" altLang="zh-CN" dirty="0">
              <a:latin typeface="Arial" panose="020B0604020202020204" pitchFamily="34" charset="0"/>
            </a:endParaRPr>
          </a:p>
        </p:txBody>
      </p:sp>
      <p:sp>
        <p:nvSpPr>
          <p:cNvPr id="139268" name="Rectangle 4"/>
          <p:cNvSpPr>
            <a:spLocks noGrp="1" noChangeArrowheads="1"/>
          </p:cNvSpPr>
          <p:nvPr>
            <p:ph type="title"/>
          </p:nvPr>
        </p:nvSpPr>
        <p:spPr>
          <a:xfrm>
            <a:off x="1524000" y="139700"/>
            <a:ext cx="9144000" cy="593725"/>
          </a:xfrm>
        </p:spPr>
        <p:txBody>
          <a:bodyPr/>
          <a:lstStyle/>
          <a:p>
            <a:pPr eaLnBrk="1" hangingPunct="1"/>
            <a:r>
              <a:rPr lang="en-US" altLang="zh-CN" dirty="0"/>
              <a:t>§4.5 </a:t>
            </a:r>
            <a:r>
              <a:rPr lang="zh-CN" altLang="en-US" dirty="0"/>
              <a:t>海洋数据质量评定</a:t>
            </a:r>
            <a:endParaRPr lang="zh-CN" altLang="en-US" dirty="0"/>
          </a:p>
        </p:txBody>
      </p:sp>
    </p:spTree>
  </p:cSld>
  <p:clrMapOvr>
    <a:masterClrMapping/>
  </p:clrMapOvr>
  <p:transition spd="med">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7C967876-40CD-4F63-8F9A-16A9D609F1D8}"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139267" name="Rectangle 2"/>
          <p:cNvSpPr>
            <a:spLocks noGrp="1" noChangeArrowheads="1"/>
          </p:cNvSpPr>
          <p:nvPr>
            <p:ph type="body" idx="4294967295"/>
          </p:nvPr>
        </p:nvSpPr>
        <p:spPr>
          <a:xfrm>
            <a:off x="2057400" y="1125538"/>
            <a:ext cx="8153400" cy="5183187"/>
          </a:xfrm>
          <a:prstGeom prst="rect">
            <a:avLst/>
          </a:prstGeom>
        </p:spPr>
        <p:txBody>
          <a:bodyPr/>
          <a:lstStyle/>
          <a:p>
            <a:pPr eaLnBrk="1" hangingPunct="1"/>
            <a:r>
              <a:rPr lang="zh-CN" altLang="en-US" sz="2400" dirty="0">
                <a:ea typeface="宋体" panose="02010600030101010101" pitchFamily="2" charset="-122"/>
              </a:rPr>
              <a:t>海洋数值产品质量评定</a:t>
            </a:r>
            <a:endParaRPr lang="en-US" altLang="zh-CN" sz="2400" dirty="0">
              <a:ea typeface="宋体" panose="02010600030101010101" pitchFamily="2" charset="-122"/>
            </a:endParaRPr>
          </a:p>
          <a:p>
            <a:pPr lvl="1" eaLnBrk="1" hangingPunct="1"/>
            <a:r>
              <a:rPr lang="zh-CN" altLang="en-US" dirty="0">
                <a:latin typeface="Arial" panose="020B0604020202020204" pitchFamily="34" charset="0"/>
              </a:rPr>
              <a:t>选用</a:t>
            </a:r>
            <a:r>
              <a:rPr lang="zh-CN" altLang="en-US" u="sng" dirty="0">
                <a:solidFill>
                  <a:srgbClr val="FF0000"/>
                </a:solidFill>
                <a:latin typeface="Arial" panose="020B0604020202020204" pitchFamily="34" charset="0"/>
              </a:rPr>
              <a:t>实测数据</a:t>
            </a:r>
            <a:r>
              <a:rPr lang="zh-CN" altLang="en-US" dirty="0">
                <a:latin typeface="Arial" panose="020B0604020202020204" pitchFamily="34" charset="0"/>
              </a:rPr>
              <a:t>作为海洋数值产品质量评价的验证数据，对验证数据进行二次质量控制。通过完整性检查获取</a:t>
            </a:r>
            <a:r>
              <a:rPr lang="zh-CN" altLang="en-US" u="sng" dirty="0">
                <a:latin typeface="Arial" panose="020B0604020202020204" pitchFamily="34" charset="0"/>
              </a:rPr>
              <a:t>缺失字段的相关记录并进行剔除；对原始数据进行阈值设定、粗差检验和过滤处理；将各遥感产品与验证数据进行时空一致性匹配生成匹配数据集</a:t>
            </a:r>
            <a:r>
              <a:rPr lang="zh-CN" altLang="en-US" dirty="0">
                <a:latin typeface="Arial" panose="020B0604020202020204" pitchFamily="34" charset="0"/>
              </a:rPr>
              <a:t>。</a:t>
            </a:r>
            <a:endParaRPr lang="en-US" altLang="zh-CN" dirty="0">
              <a:latin typeface="Arial" panose="020B0604020202020204" pitchFamily="34" charset="0"/>
            </a:endParaRPr>
          </a:p>
          <a:p>
            <a:pPr lvl="1" eaLnBrk="1" hangingPunct="1"/>
            <a:endParaRPr lang="en-US" altLang="zh-CN" dirty="0">
              <a:latin typeface="Arial" panose="020B0604020202020204" pitchFamily="34" charset="0"/>
            </a:endParaRPr>
          </a:p>
          <a:p>
            <a:pPr lvl="1" eaLnBrk="1" hangingPunct="1"/>
            <a:r>
              <a:rPr lang="zh-CN" altLang="en-US" dirty="0">
                <a:latin typeface="Arial" panose="020B0604020202020204" pitchFamily="34" charset="0"/>
              </a:rPr>
              <a:t>数据质量评定方法包括采用绝对偏差、均方根误差、温度绝对偏差分级占比、中值等参量对海洋数值产品进行质量评价。</a:t>
            </a:r>
            <a:endParaRPr lang="en-US" altLang="zh-CN" dirty="0">
              <a:latin typeface="Arial" panose="020B0604020202020204" pitchFamily="34" charset="0"/>
            </a:endParaRPr>
          </a:p>
        </p:txBody>
      </p:sp>
      <p:sp>
        <p:nvSpPr>
          <p:cNvPr id="139268" name="Rectangle 4"/>
          <p:cNvSpPr>
            <a:spLocks noGrp="1" noChangeArrowheads="1"/>
          </p:cNvSpPr>
          <p:nvPr>
            <p:ph type="title"/>
          </p:nvPr>
        </p:nvSpPr>
        <p:spPr>
          <a:xfrm>
            <a:off x="1524000" y="139700"/>
            <a:ext cx="9144000" cy="593725"/>
          </a:xfrm>
        </p:spPr>
        <p:txBody>
          <a:bodyPr/>
          <a:lstStyle/>
          <a:p>
            <a:pPr eaLnBrk="1" hangingPunct="1"/>
            <a:r>
              <a:rPr lang="en-US" altLang="zh-CN" dirty="0"/>
              <a:t>§4.5 </a:t>
            </a:r>
            <a:r>
              <a:rPr lang="zh-CN" altLang="en-US" dirty="0"/>
              <a:t>海洋数据质量评定</a:t>
            </a:r>
            <a:endParaRPr lang="zh-CN" altLang="en-US" dirty="0"/>
          </a:p>
        </p:txBody>
      </p:sp>
    </p:spTree>
  </p:cSld>
  <p:clrMapOvr>
    <a:masterClrMapping/>
  </p:clrMapOvr>
  <p:transition spd="med">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页脚占位符 5"/>
          <p:cNvSpPr>
            <a:spLocks noGrp="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spcAft>
                <a:spcPct val="20000"/>
              </a:spcAft>
              <a:buClr>
                <a:schemeClr val="accent1"/>
              </a:buClr>
              <a:buFont typeface="Wingdings" panose="05000000000000000000" pitchFamily="2" charset="2"/>
              <a:buChar char="Ü"/>
              <a:defRPr sz="2800" b="1">
                <a:solidFill>
                  <a:schemeClr val="accent1"/>
                </a:solidFill>
                <a:latin typeface="Verdana" panose="020B0604030504040204" pitchFamily="34" charset="0"/>
              </a:defRPr>
            </a:lvl1pPr>
            <a:lvl2pPr marL="742950" indent="-28575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2pPr>
            <a:lvl3pPr marL="1143000" indent="-228600" eaLnBrk="0" hangingPunct="0">
              <a:lnSpc>
                <a:spcPct val="120000"/>
              </a:lnSpc>
              <a:spcBef>
                <a:spcPct val="20000"/>
              </a:spcBef>
              <a:spcAft>
                <a:spcPct val="20000"/>
              </a:spcAft>
              <a:buClr>
                <a:srgbClr val="FF33CC"/>
              </a:buClr>
              <a:buFont typeface="Wingdings" panose="05000000000000000000" pitchFamily="2" charset="2"/>
              <a:buChar char="u"/>
              <a:defRPr sz="2400" b="1">
                <a:solidFill>
                  <a:schemeClr val="tx2"/>
                </a:solidFill>
                <a:latin typeface="Arial" panose="020B0604020202020204" pitchFamily="34" charset="0"/>
                <a:ea typeface="宋体" panose="02010600030101010101" pitchFamily="2" charset="-122"/>
              </a:defRPr>
            </a:lvl3pPr>
            <a:lvl4pPr marL="16002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4pPr>
            <a:lvl5pPr marL="2057400" indent="-228600" eaLnBrk="0"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5pPr>
            <a:lvl6pPr marL="25146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6pPr>
            <a:lvl7pPr marL="29718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7pPr>
            <a:lvl8pPr marL="34290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8pPr>
            <a:lvl9pPr marL="3886200" indent="-228600" eaLnBrk="0" fontAlgn="base" hangingPunct="0">
              <a:lnSpc>
                <a:spcPct val="120000"/>
              </a:lnSpc>
              <a:spcBef>
                <a:spcPct val="20000"/>
              </a:spcBef>
              <a:spcAft>
                <a:spcPct val="20000"/>
              </a:spcAft>
              <a:buClr>
                <a:srgbClr val="FF33CC"/>
              </a:buClr>
              <a:buFont typeface="Wingdings" panose="05000000000000000000" pitchFamily="2" charset="2"/>
              <a:buChar char="u"/>
              <a:defRPr sz="2000" b="1">
                <a:solidFill>
                  <a:schemeClr val="tx2"/>
                </a:solidFill>
                <a:latin typeface="Arial" panose="020B0604020202020204" pitchFamily="34" charset="0"/>
                <a:ea typeface="宋体" panose="02010600030101010101" pitchFamily="2" charset="-122"/>
              </a:defRPr>
            </a:lvl9pPr>
          </a:lstStyle>
          <a:p>
            <a:pPr eaLnBrk="1" hangingPunct="1">
              <a:spcBef>
                <a:spcPct val="0"/>
              </a:spcBef>
              <a:spcAft>
                <a:spcPct val="0"/>
              </a:spcAft>
              <a:buClrTx/>
              <a:buFontTx/>
              <a:buNone/>
            </a:pPr>
            <a:fld id="{7C967876-40CD-4F63-8F9A-16A9D609F1D8}" type="slidenum">
              <a:rPr lang="en-US" altLang="zh-CN" sz="1400" b="0" smtClean="0">
                <a:solidFill>
                  <a:srgbClr val="993300"/>
                </a:solidFill>
                <a:latin typeface="Arial" panose="020B0604020202020204" pitchFamily="34" charset="0"/>
                <a:ea typeface="宋体" panose="02010600030101010101" pitchFamily="2" charset="-122"/>
              </a:rPr>
            </a:fld>
            <a:endParaRPr lang="en-US" altLang="zh-CN" sz="1400" b="0">
              <a:solidFill>
                <a:srgbClr val="993300"/>
              </a:solidFill>
              <a:latin typeface="Arial" panose="020B0604020202020204" pitchFamily="34" charset="0"/>
              <a:ea typeface="宋体" panose="02010600030101010101" pitchFamily="2" charset="-122"/>
            </a:endParaRPr>
          </a:p>
        </p:txBody>
      </p:sp>
      <p:sp>
        <p:nvSpPr>
          <p:cNvPr id="139267" name="Rectangle 2"/>
          <p:cNvSpPr>
            <a:spLocks noGrp="1" noChangeArrowheads="1"/>
          </p:cNvSpPr>
          <p:nvPr>
            <p:ph type="body" idx="4294967295"/>
          </p:nvPr>
        </p:nvSpPr>
        <p:spPr>
          <a:xfrm>
            <a:off x="2057400" y="1125538"/>
            <a:ext cx="8153400" cy="5183187"/>
          </a:xfrm>
          <a:prstGeom prst="rect">
            <a:avLst/>
          </a:prstGeom>
        </p:spPr>
        <p:txBody>
          <a:bodyPr/>
          <a:lstStyle/>
          <a:p>
            <a:pPr eaLnBrk="1" hangingPunct="1"/>
            <a:r>
              <a:rPr lang="zh-CN" altLang="en-US" sz="2400" dirty="0">
                <a:ea typeface="宋体" panose="02010600030101010101" pitchFamily="2" charset="-122"/>
              </a:rPr>
              <a:t>海图数据质量评定</a:t>
            </a:r>
            <a:endParaRPr lang="en-US" altLang="zh-CN" sz="2400" dirty="0">
              <a:ea typeface="宋体" panose="02010600030101010101" pitchFamily="2" charset="-122"/>
            </a:endParaRPr>
          </a:p>
          <a:p>
            <a:pPr lvl="1" eaLnBrk="1" hangingPunct="1"/>
            <a:r>
              <a:rPr lang="zh-CN" altLang="en-US" u="sng" dirty="0">
                <a:latin typeface="Arial" panose="020B0604020202020204" pitchFamily="34" charset="0"/>
              </a:rPr>
              <a:t>海图的质量评</a:t>
            </a:r>
            <a:r>
              <a:rPr lang="zh-CN" altLang="en-US" dirty="0">
                <a:latin typeface="Arial" panose="020B0604020202020204" pitchFamily="34" charset="0"/>
              </a:rPr>
              <a:t>定一般以图幅为单位，对图幅的编辑设计、数学基础、数据精度、数据完整性、制图综合、错漏与工艺、数字化前的预处理、</a:t>
            </a:r>
            <a:r>
              <a:rPr lang="zh-CN" altLang="en-US" u="sng" dirty="0">
                <a:latin typeface="Arial" panose="020B0604020202020204" pitchFamily="34" charset="0"/>
              </a:rPr>
              <a:t>纸张变形、扫描数字化的分辨率</a:t>
            </a:r>
            <a:r>
              <a:rPr lang="zh-CN" altLang="en-US" dirty="0">
                <a:latin typeface="Arial" panose="020B0604020202020204" pitchFamily="34" charset="0"/>
              </a:rPr>
              <a:t>等方面进行质量评定。</a:t>
            </a:r>
            <a:endParaRPr lang="en-US" altLang="zh-CN" dirty="0">
              <a:latin typeface="Arial" panose="020B0604020202020204" pitchFamily="34" charset="0"/>
            </a:endParaRPr>
          </a:p>
        </p:txBody>
      </p:sp>
      <p:sp>
        <p:nvSpPr>
          <p:cNvPr id="139268" name="Rectangle 4"/>
          <p:cNvSpPr>
            <a:spLocks noGrp="1" noChangeArrowheads="1"/>
          </p:cNvSpPr>
          <p:nvPr>
            <p:ph type="title"/>
          </p:nvPr>
        </p:nvSpPr>
        <p:spPr>
          <a:xfrm>
            <a:off x="1524000" y="139700"/>
            <a:ext cx="9144000" cy="593725"/>
          </a:xfrm>
        </p:spPr>
        <p:txBody>
          <a:bodyPr/>
          <a:lstStyle/>
          <a:p>
            <a:pPr eaLnBrk="1" hangingPunct="1"/>
            <a:r>
              <a:rPr lang="en-US" altLang="zh-CN" dirty="0"/>
              <a:t>§4.5 </a:t>
            </a:r>
            <a:r>
              <a:rPr lang="zh-CN" altLang="en-US" dirty="0"/>
              <a:t>海洋数据质量评定</a:t>
            </a:r>
            <a:endParaRPr lang="zh-CN" altLang="en-US" dirty="0"/>
          </a:p>
        </p:txBody>
      </p:sp>
    </p:spTree>
  </p:cSld>
  <p:clrMapOvr>
    <a:masterClrMapping/>
  </p:clrMapOvr>
  <p:transition spd="med">
    <p:wipe dir="r"/>
  </p:transition>
</p:sld>
</file>

<file path=ppt/tags/tag1.xml><?xml version="1.0" encoding="utf-8"?>
<p:tagLst xmlns:p="http://schemas.openxmlformats.org/presentationml/2006/main">
  <p:tag name="REFSHAPE" val="871248908"/>
</p:tagLst>
</file>

<file path=ppt/tags/tag2.xml><?xml version="1.0" encoding="utf-8"?>
<p:tagLst xmlns:p="http://schemas.openxmlformats.org/presentationml/2006/main">
  <p:tag name="REFSHAPE" val="919306460"/>
  <p:tag name="KSO_WM_UNIT_PLACING_PICTURE_USER_VIEWPORT" val="{&quot;height&quot;:4764,&quot;width&quot;:6816}"/>
</p:tagLst>
</file>

<file path=ppt/tags/tag3.xml><?xml version="1.0" encoding="utf-8"?>
<p:tagLst xmlns:p="http://schemas.openxmlformats.org/presentationml/2006/main">
  <p:tag name="KSO_WPP_MARK_KEY" val="eaebc25b-13c4-498d-9376-3bb788af84f5"/>
  <p:tag name="COMMONDATA" val="eyJoZGlkIjoiOGZjNTAwMDNjMDg3ZmEyYTIyN2U2YTE3ZTk4YzQzYWQifQ=="/>
  <p:tag name="resource_record_key" val="{&quot;29&quot;:[50000031,50000076]}"/>
</p:tagLst>
</file>

<file path=ppt/theme/theme1.xml><?xml version="1.0" encoding="utf-8"?>
<a:theme xmlns:a="http://schemas.openxmlformats.org/drawingml/2006/main" name="F044TGp">
  <a:themeElements>
    <a:clrScheme name="F044TGp 1">
      <a:dk1>
        <a:srgbClr val="163794"/>
      </a:dk1>
      <a:lt1>
        <a:srgbClr val="FFFFFF"/>
      </a:lt1>
      <a:dk2>
        <a:srgbClr val="000000"/>
      </a:dk2>
      <a:lt2>
        <a:srgbClr val="DDDDDD"/>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fontScheme name="F044TGp">
      <a:majorFont>
        <a:latin typeface="宋体"/>
        <a:ea typeface="宋体"/>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0000" tIns="46800" rIns="90000" bIns="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0000" tIns="46800" rIns="90000" bIns="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F044TGp 1">
        <a:dk1>
          <a:srgbClr val="163794"/>
        </a:dk1>
        <a:lt1>
          <a:srgbClr val="FFFFFF"/>
        </a:lt1>
        <a:dk2>
          <a:srgbClr val="000000"/>
        </a:dk2>
        <a:lt2>
          <a:srgbClr val="DDDDDD"/>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clrMap bg1="lt1" tx1="dk1" bg2="lt2" tx2="dk2" accent1="accent1" accent2="accent2" accent3="accent3" accent4="accent4" accent5="accent5" accent6="accent6" hlink="hlink" folHlink="folHlink"/>
    </a:extraClrScheme>
    <a:extraClrScheme>
      <a:clrScheme name="F044TGp 2">
        <a:dk1>
          <a:srgbClr val="1D528D"/>
        </a:dk1>
        <a:lt1>
          <a:srgbClr val="FFFFFF"/>
        </a:lt1>
        <a:dk2>
          <a:srgbClr val="000000"/>
        </a:dk2>
        <a:lt2>
          <a:srgbClr val="DDDDDD"/>
        </a:lt2>
        <a:accent1>
          <a:srgbClr val="0099CC"/>
        </a:accent1>
        <a:accent2>
          <a:srgbClr val="FF9900"/>
        </a:accent2>
        <a:accent3>
          <a:srgbClr val="FFFFFF"/>
        </a:accent3>
        <a:accent4>
          <a:srgbClr val="174578"/>
        </a:accent4>
        <a:accent5>
          <a:srgbClr val="AACAE2"/>
        </a:accent5>
        <a:accent6>
          <a:srgbClr val="E78A00"/>
        </a:accent6>
        <a:hlink>
          <a:srgbClr val="9999FF"/>
        </a:hlink>
        <a:folHlink>
          <a:srgbClr val="969696"/>
        </a:folHlink>
      </a:clrScheme>
      <a:clrMap bg1="lt1" tx1="dk1" bg2="lt2" tx2="dk2" accent1="accent1" accent2="accent2" accent3="accent3" accent4="accent4" accent5="accent5" accent6="accent6" hlink="hlink" folHlink="folHlink"/>
    </a:extraClrScheme>
    <a:extraClrScheme>
      <a:clrScheme name="F044TGp 3">
        <a:dk1>
          <a:srgbClr val="29698D"/>
        </a:dk1>
        <a:lt1>
          <a:srgbClr val="FFFFFF"/>
        </a:lt1>
        <a:dk2>
          <a:srgbClr val="000000"/>
        </a:dk2>
        <a:lt2>
          <a:srgbClr val="D6E1E2"/>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F044TGp">
  <a:themeElements>
    <a:clrScheme name="F044TGp 1">
      <a:dk1>
        <a:srgbClr val="163794"/>
      </a:dk1>
      <a:lt1>
        <a:srgbClr val="FFFFFF"/>
      </a:lt1>
      <a:dk2>
        <a:srgbClr val="000000"/>
      </a:dk2>
      <a:lt2>
        <a:srgbClr val="DDDDDD"/>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fontScheme name="F044TGp">
      <a:majorFont>
        <a:latin typeface="Arial"/>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0000" tIns="46800" rIns="90000" bIns="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0000" tIns="46800" rIns="90000" bIns="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F044TGp 1">
        <a:dk1>
          <a:srgbClr val="163794"/>
        </a:dk1>
        <a:lt1>
          <a:srgbClr val="FFFFFF"/>
        </a:lt1>
        <a:dk2>
          <a:srgbClr val="000000"/>
        </a:dk2>
        <a:lt2>
          <a:srgbClr val="DDDDDD"/>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clrMap bg1="lt1" tx1="dk1" bg2="lt2" tx2="dk2" accent1="accent1" accent2="accent2" accent3="accent3" accent4="accent4" accent5="accent5" accent6="accent6" hlink="hlink" folHlink="folHlink"/>
    </a:extraClrScheme>
    <a:extraClrScheme>
      <a:clrScheme name="F044TGp 2">
        <a:dk1>
          <a:srgbClr val="1D528D"/>
        </a:dk1>
        <a:lt1>
          <a:srgbClr val="FFFFFF"/>
        </a:lt1>
        <a:dk2>
          <a:srgbClr val="000000"/>
        </a:dk2>
        <a:lt2>
          <a:srgbClr val="DDDDDD"/>
        </a:lt2>
        <a:accent1>
          <a:srgbClr val="0099CC"/>
        </a:accent1>
        <a:accent2>
          <a:srgbClr val="FF9900"/>
        </a:accent2>
        <a:accent3>
          <a:srgbClr val="FFFFFF"/>
        </a:accent3>
        <a:accent4>
          <a:srgbClr val="174578"/>
        </a:accent4>
        <a:accent5>
          <a:srgbClr val="AACAE2"/>
        </a:accent5>
        <a:accent6>
          <a:srgbClr val="E78A00"/>
        </a:accent6>
        <a:hlink>
          <a:srgbClr val="9999FF"/>
        </a:hlink>
        <a:folHlink>
          <a:srgbClr val="969696"/>
        </a:folHlink>
      </a:clrScheme>
      <a:clrMap bg1="lt1" tx1="dk1" bg2="lt2" tx2="dk2" accent1="accent1" accent2="accent2" accent3="accent3" accent4="accent4" accent5="accent5" accent6="accent6" hlink="hlink" folHlink="folHlink"/>
    </a:extraClrScheme>
    <a:extraClrScheme>
      <a:clrScheme name="F044TGp 3">
        <a:dk1>
          <a:srgbClr val="29698D"/>
        </a:dk1>
        <a:lt1>
          <a:srgbClr val="FFFFFF"/>
        </a:lt1>
        <a:dk2>
          <a:srgbClr val="000000"/>
        </a:dk2>
        <a:lt2>
          <a:srgbClr val="D6E1E2"/>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F044TGp">
  <a:themeElements>
    <a:clrScheme name="F044TGp 1">
      <a:dk1>
        <a:srgbClr val="163794"/>
      </a:dk1>
      <a:lt1>
        <a:srgbClr val="FFFFFF"/>
      </a:lt1>
      <a:dk2>
        <a:srgbClr val="000000"/>
      </a:dk2>
      <a:lt2>
        <a:srgbClr val="DDDDDD"/>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fontScheme name="F044TGp">
      <a:majorFont>
        <a:latin typeface="宋体"/>
        <a:ea typeface="宋体"/>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0000" tIns="46800" rIns="90000" bIns="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0000" tIns="46800" rIns="90000" bIns="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F044TGp 1">
        <a:dk1>
          <a:srgbClr val="163794"/>
        </a:dk1>
        <a:lt1>
          <a:srgbClr val="FFFFFF"/>
        </a:lt1>
        <a:dk2>
          <a:srgbClr val="000000"/>
        </a:dk2>
        <a:lt2>
          <a:srgbClr val="DDDDDD"/>
        </a:lt2>
        <a:accent1>
          <a:srgbClr val="009999"/>
        </a:accent1>
        <a:accent2>
          <a:srgbClr val="990000"/>
        </a:accent2>
        <a:accent3>
          <a:srgbClr val="FFFFFF"/>
        </a:accent3>
        <a:accent4>
          <a:srgbClr val="112D7E"/>
        </a:accent4>
        <a:accent5>
          <a:srgbClr val="AACACA"/>
        </a:accent5>
        <a:accent6>
          <a:srgbClr val="8A0000"/>
        </a:accent6>
        <a:hlink>
          <a:srgbClr val="6699FF"/>
        </a:hlink>
        <a:folHlink>
          <a:srgbClr val="969696"/>
        </a:folHlink>
      </a:clrScheme>
      <a:clrMap bg1="lt1" tx1="dk1" bg2="lt2" tx2="dk2" accent1="accent1" accent2="accent2" accent3="accent3" accent4="accent4" accent5="accent5" accent6="accent6" hlink="hlink" folHlink="folHlink"/>
    </a:extraClrScheme>
    <a:extraClrScheme>
      <a:clrScheme name="F044TGp 2">
        <a:dk1>
          <a:srgbClr val="1D528D"/>
        </a:dk1>
        <a:lt1>
          <a:srgbClr val="FFFFFF"/>
        </a:lt1>
        <a:dk2>
          <a:srgbClr val="000000"/>
        </a:dk2>
        <a:lt2>
          <a:srgbClr val="DDDDDD"/>
        </a:lt2>
        <a:accent1>
          <a:srgbClr val="0099CC"/>
        </a:accent1>
        <a:accent2>
          <a:srgbClr val="FF9900"/>
        </a:accent2>
        <a:accent3>
          <a:srgbClr val="FFFFFF"/>
        </a:accent3>
        <a:accent4>
          <a:srgbClr val="174578"/>
        </a:accent4>
        <a:accent5>
          <a:srgbClr val="AACAE2"/>
        </a:accent5>
        <a:accent6>
          <a:srgbClr val="E78A00"/>
        </a:accent6>
        <a:hlink>
          <a:srgbClr val="9999FF"/>
        </a:hlink>
        <a:folHlink>
          <a:srgbClr val="969696"/>
        </a:folHlink>
      </a:clrScheme>
      <a:clrMap bg1="lt1" tx1="dk1" bg2="lt2" tx2="dk2" accent1="accent1" accent2="accent2" accent3="accent3" accent4="accent4" accent5="accent5" accent6="accent6" hlink="hlink" folHlink="folHlink"/>
    </a:extraClrScheme>
    <a:extraClrScheme>
      <a:clrScheme name="F044TGp 3">
        <a:dk1>
          <a:srgbClr val="29698D"/>
        </a:dk1>
        <a:lt1>
          <a:srgbClr val="FFFFFF"/>
        </a:lt1>
        <a:dk2>
          <a:srgbClr val="000000"/>
        </a:dk2>
        <a:lt2>
          <a:srgbClr val="D6E1E2"/>
        </a:lt2>
        <a:accent1>
          <a:srgbClr val="FF5050"/>
        </a:accent1>
        <a:accent2>
          <a:srgbClr val="FF9933"/>
        </a:accent2>
        <a:accent3>
          <a:srgbClr val="FFFFFF"/>
        </a:accent3>
        <a:accent4>
          <a:srgbClr val="215978"/>
        </a:accent4>
        <a:accent5>
          <a:srgbClr val="FFB3B3"/>
        </a:accent5>
        <a:accent6>
          <a:srgbClr val="E78A2D"/>
        </a:accent6>
        <a:hlink>
          <a:srgbClr val="00CC99"/>
        </a:hlink>
        <a:folHlink>
          <a:srgbClr val="83A6A7"/>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 GIS概述</Template>
  <TotalTime>0</TotalTime>
  <Words>8545</Words>
  <Application>WPS 演示</Application>
  <PresentationFormat>全屏显示(4:3)</PresentationFormat>
  <Paragraphs>588</Paragraphs>
  <Slides>51</Slides>
  <Notes>91</Notes>
  <HiddenSlides>0</HiddenSlides>
  <MMClips>0</MMClips>
  <ScaleCrop>false</ScaleCrop>
  <HeadingPairs>
    <vt:vector size="8" baseType="variant">
      <vt:variant>
        <vt:lpstr>已用的字体</vt:lpstr>
      </vt:variant>
      <vt:variant>
        <vt:i4>11</vt:i4>
      </vt:variant>
      <vt:variant>
        <vt:lpstr>主题</vt:lpstr>
      </vt:variant>
      <vt:variant>
        <vt:i4>3</vt:i4>
      </vt:variant>
      <vt:variant>
        <vt:lpstr>嵌入 OLE 服务器</vt:lpstr>
      </vt:variant>
      <vt:variant>
        <vt:i4>0</vt:i4>
      </vt:variant>
      <vt:variant>
        <vt:lpstr>幻灯片标题</vt:lpstr>
      </vt:variant>
      <vt:variant>
        <vt:i4>51</vt:i4>
      </vt:variant>
    </vt:vector>
  </HeadingPairs>
  <TitlesOfParts>
    <vt:vector size="65" baseType="lpstr">
      <vt:lpstr>Arial</vt:lpstr>
      <vt:lpstr>宋体</vt:lpstr>
      <vt:lpstr>Wingdings</vt:lpstr>
      <vt:lpstr>Tahoma</vt:lpstr>
      <vt:lpstr>Times New Roman</vt:lpstr>
      <vt:lpstr>Verdana</vt:lpstr>
      <vt:lpstr>华文隶书</vt:lpstr>
      <vt:lpstr>微软雅黑</vt:lpstr>
      <vt:lpstr>Arial Unicode MS</vt:lpstr>
      <vt:lpstr>黑体</vt:lpstr>
      <vt:lpstr>微软雅黑 Light</vt:lpstr>
      <vt:lpstr>F044TGp</vt:lpstr>
      <vt:lpstr>1_F044TGp</vt:lpstr>
      <vt:lpstr>2_F044TGp</vt:lpstr>
      <vt:lpstr>海洋地理信息系统 Marine Geographical Information System</vt:lpstr>
      <vt:lpstr>PowerPoint 演示文稿</vt:lpstr>
      <vt:lpstr>§4.1 海洋时空尺度</vt:lpstr>
      <vt:lpstr>§4.1 海洋时空尺度</vt:lpstr>
      <vt:lpstr>§4.1 海洋时空尺度</vt:lpstr>
      <vt:lpstr>§4.1 海洋时空尺度</vt:lpstr>
      <vt:lpstr>§4.1 海洋时空尺度</vt:lpstr>
      <vt:lpstr>PowerPoint 演示文稿</vt:lpstr>
      <vt:lpstr>§4.1 海洋时空尺度</vt:lpstr>
      <vt:lpstr>§4.1 海洋时空尺度</vt:lpstr>
      <vt:lpstr>§4.2 海洋数据基准</vt:lpstr>
      <vt:lpstr>§4.2 海洋数据基准</vt:lpstr>
      <vt:lpstr>§4.2 海洋数据基准</vt:lpstr>
      <vt:lpstr>§4.2 海洋数据基准</vt:lpstr>
      <vt:lpstr>§4.2 海洋数据基准</vt:lpstr>
      <vt:lpstr>§4.2 海洋数据基准</vt:lpstr>
      <vt:lpstr>§4.2 海洋数据基准</vt:lpstr>
      <vt:lpstr>§4.2 海洋数据基准</vt:lpstr>
      <vt:lpstr>§4.2 海洋数据基准</vt:lpstr>
      <vt:lpstr>§4.2 海洋数据基准</vt:lpstr>
      <vt:lpstr>§4.2 海洋数据基准</vt:lpstr>
      <vt:lpstr>§4.3 海洋数据获取手段</vt:lpstr>
      <vt:lpstr>§4.3 海洋数据获取手段</vt:lpstr>
      <vt:lpstr>§4.3 海洋数据获取手段</vt:lpstr>
      <vt:lpstr>§4.3 海洋数据获取手段</vt:lpstr>
      <vt:lpstr>§4.3 海洋数据获取手段</vt:lpstr>
      <vt:lpstr>§4.3 海洋数据获取手段</vt:lpstr>
      <vt:lpstr>§4.3 海洋数据获取手段</vt:lpstr>
      <vt:lpstr>§4.3 海洋数据获取手段</vt:lpstr>
      <vt:lpstr>§4.3 海洋数据获取手段</vt:lpstr>
      <vt:lpstr>§4.3 海洋数据获取手段</vt:lpstr>
      <vt:lpstr>§4.3 海洋数据获取手段</vt:lpstr>
      <vt:lpstr>§4.3 海洋数据获取手段</vt:lpstr>
      <vt:lpstr>§4.3 海洋数据获取手段</vt:lpstr>
      <vt:lpstr>§4.3 海洋数据获取手段</vt:lpstr>
      <vt:lpstr>§4.3 海洋数据获取手段</vt:lpstr>
      <vt:lpstr>§4.4 海洋数据格式</vt:lpstr>
      <vt:lpstr>§4.4 海洋数据格式</vt:lpstr>
      <vt:lpstr>§4.4 海洋数据格式</vt:lpstr>
      <vt:lpstr>§4.4 海洋数据的异构性</vt:lpstr>
      <vt:lpstr>§4.4 海洋数据格式</vt:lpstr>
      <vt:lpstr>§4.4 海洋数据格式</vt:lpstr>
      <vt:lpstr>§4.5 海洋数据质量评定</vt:lpstr>
      <vt:lpstr>§4.5 海洋数据质量评定</vt:lpstr>
      <vt:lpstr>§4.5 海洋数据质量评定</vt:lpstr>
      <vt:lpstr>§4.5 海洋数据质量评定</vt:lpstr>
      <vt:lpstr>§4.5 海洋数据质量评定</vt:lpstr>
      <vt:lpstr>§4.5 海洋数据质量评定</vt:lpstr>
      <vt:lpstr>§4.5 海洋数据质量评定</vt:lpstr>
      <vt:lpstr>§4.5 海洋数据质量评定</vt:lpstr>
      <vt:lpstr>§4.5 海洋数据质量评定</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海洋GIS</dc:title>
  <dc:creator>wjj</dc:creator>
  <cp:lastModifiedBy>WJJ</cp:lastModifiedBy>
  <cp:revision>1058</cp:revision>
  <dcterms:created xsi:type="dcterms:W3CDTF">2005-02-02T10:13:00Z</dcterms:created>
  <dcterms:modified xsi:type="dcterms:W3CDTF">2026-06-22T00:27:43Z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D4A833B950D5462E8E0F6E71AE647578_13</vt:lpwstr>
  </property>
</Properties>
</file>